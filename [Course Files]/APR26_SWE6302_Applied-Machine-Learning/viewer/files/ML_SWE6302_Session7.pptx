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51" r:id="rId5"/>
    <p:sldMasterId id="2147483653" r:id="rId6"/>
    <p:sldMasterId id="2147483656" r:id="rId7"/>
    <p:sldMasterId id="2147483658" r:id="rId8"/>
  </p:sldMasterIdLst>
  <p:notesMasterIdLst>
    <p:notesMasterId r:id="rId19"/>
  </p:notesMasterIdLst>
  <p:sldIdLst>
    <p:sldId id="261" r:id="rId9"/>
    <p:sldId id="257" r:id="rId10"/>
    <p:sldId id="265" r:id="rId11"/>
    <p:sldId id="306" r:id="rId12"/>
    <p:sldId id="311" r:id="rId13"/>
    <p:sldId id="317" r:id="rId14"/>
    <p:sldId id="318" r:id="rId15"/>
    <p:sldId id="319" r:id="rId16"/>
    <p:sldId id="320" r:id="rId17"/>
    <p:sldId id="32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 autoAdjust="0"/>
    <p:restoredTop sz="73061" autoAdjust="0"/>
  </p:normalViewPr>
  <p:slideViewPr>
    <p:cSldViewPr snapToGrid="0">
      <p:cViewPr varScale="1">
        <p:scale>
          <a:sx n="41" d="100"/>
          <a:sy n="41" d="100"/>
        </p:scale>
        <p:origin x="944" y="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2.svg"/><Relationship Id="rId5" Type="http://schemas.openxmlformats.org/officeDocument/2006/relationships/image" Target="../media/image6.png"/><Relationship Id="rId4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768350" y="269561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193460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261433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3938189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233" y="927488"/>
            <a:ext cx="2495310" cy="1152049"/>
          </a:xfrm>
          <a:prstGeom prst="rect">
            <a:avLst/>
          </a:prstGeom>
        </p:spPr>
      </p:pic>
      <p:pic>
        <p:nvPicPr>
          <p:cNvPr id="14" name="Graphic 1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9667" y="1033477"/>
            <a:ext cx="3314700" cy="723931"/>
          </a:xfrm>
          <a:prstGeom prst="rect">
            <a:avLst/>
          </a:prstGeom>
        </p:spPr>
      </p:pic>
      <p:sp>
        <p:nvSpPr>
          <p:cNvPr id="2" name="Isosceles Triangle 1"/>
          <p:cNvSpPr/>
          <p:nvPr userDrawn="1"/>
        </p:nvSpPr>
        <p:spPr>
          <a:xfrm rot="5400000">
            <a:off x="1747328" y="5566954"/>
            <a:ext cx="155700" cy="9988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65">
              <a:ln>
                <a:noFill/>
              </a:ln>
            </a:endParaRPr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3106" y="5538064"/>
            <a:ext cx="1371600" cy="1809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56512" y="5065192"/>
            <a:ext cx="1451310" cy="43337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2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091" y="651936"/>
            <a:ext cx="1835181" cy="8472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22171" y="5895580"/>
            <a:ext cx="1451310" cy="4333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3" name="Picture 2" descr="A picture containing text, sign, clipart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063" y="677074"/>
            <a:ext cx="1559570" cy="72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48624" y="5611775"/>
            <a:ext cx="1328009" cy="396539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942F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35747" y="6603728"/>
            <a:ext cx="1371600" cy="180975"/>
          </a:xfrm>
          <a:prstGeom prst="rect">
            <a:avLst/>
          </a:prstGeom>
        </p:spPr>
      </p:pic>
      <p:sp>
        <p:nvSpPr>
          <p:cNvPr id="8" name="Isosceles Triangle 7"/>
          <p:cNvSpPr/>
          <p:nvPr userDrawn="1"/>
        </p:nvSpPr>
        <p:spPr>
          <a:xfrm rot="5400000">
            <a:off x="10297085" y="6626156"/>
            <a:ext cx="144000" cy="108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</a:ln>
              <a:noFill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942F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35747" y="6603728"/>
            <a:ext cx="1371600" cy="180975"/>
          </a:xfrm>
          <a:prstGeom prst="rect">
            <a:avLst/>
          </a:prstGeom>
        </p:spPr>
      </p:pic>
      <p:sp>
        <p:nvSpPr>
          <p:cNvPr id="8" name="Isosceles Triangle 7"/>
          <p:cNvSpPr/>
          <p:nvPr userDrawn="1"/>
        </p:nvSpPr>
        <p:spPr>
          <a:xfrm rot="5400000">
            <a:off x="10297085" y="6626156"/>
            <a:ext cx="144000" cy="108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</a:ln>
              <a:noFill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48624" y="5611775"/>
            <a:ext cx="1328009" cy="396539"/>
          </a:xfrm>
          <a:prstGeom prst="rect">
            <a:avLst/>
          </a:prstGeom>
        </p:spPr>
      </p:pic>
      <p:pic>
        <p:nvPicPr>
          <p:cNvPr id="4" name="Picture 3" descr="A picture containing text, sign, clipart&#10;&#10;Description automatically generated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063" y="677074"/>
            <a:ext cx="1559570" cy="72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3" name="Picture 2" descr="A picture containing text, sign, clipart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063" y="677074"/>
            <a:ext cx="1559570" cy="72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48624" y="5611775"/>
            <a:ext cx="1328009" cy="396539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942F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Graphic 5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35747" y="6603728"/>
            <a:ext cx="1371600" cy="180975"/>
          </a:xfrm>
          <a:prstGeom prst="rect">
            <a:avLst/>
          </a:prstGeom>
        </p:spPr>
      </p:pic>
      <p:sp>
        <p:nvSpPr>
          <p:cNvPr id="8" name="Isosceles Triangle 7"/>
          <p:cNvSpPr/>
          <p:nvPr userDrawn="1"/>
        </p:nvSpPr>
        <p:spPr>
          <a:xfrm rot="5400000">
            <a:off x="10297085" y="6626156"/>
            <a:ext cx="144000" cy="108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</a:ln>
              <a:noFill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29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845820" rtl="0" eaLnBrk="1" latinLnBrk="0" hangingPunct="1">
        <a:lnSpc>
          <a:spcPct val="90000"/>
        </a:lnSpc>
        <a:spcBef>
          <a:spcPct val="0"/>
        </a:spcBef>
        <a:buNone/>
        <a:defRPr sz="40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455" indent="-211455" algn="l" defTabSz="845820" rtl="0" eaLnBrk="1" latinLnBrk="0" hangingPunct="1">
        <a:lnSpc>
          <a:spcPct val="90000"/>
        </a:lnSpc>
        <a:spcBef>
          <a:spcPts val="925"/>
        </a:spcBef>
        <a:buFont typeface="Arial" panose="020B0604020202020204" pitchFamily="34" charset="0"/>
        <a:buChar char="•"/>
        <a:defRPr sz="2590" kern="1200">
          <a:solidFill>
            <a:schemeClr val="tx1"/>
          </a:solidFill>
          <a:latin typeface="+mn-lt"/>
          <a:ea typeface="+mn-ea"/>
          <a:cs typeface="+mn-cs"/>
        </a:defRPr>
      </a:lvl1pPr>
      <a:lvl2pPr marL="63436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2pPr>
      <a:lvl3pPr marL="105727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48018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90309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32600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74891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3171190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594100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1pPr>
      <a:lvl2pPr marL="42291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2pPr>
      <a:lvl3pPr marL="84582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3pPr>
      <a:lvl4pPr marL="126873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69164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11455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53746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2959735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382645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ITIFTsivN8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Applied 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SWE6302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Applied 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SWE6302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Applied Machine learning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281356" y="2782252"/>
            <a:ext cx="5491361" cy="3845503"/>
          </a:xfrm>
        </p:spPr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MULTIVARIATE REGRESSION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43" y="1867256"/>
            <a:ext cx="6551188" cy="39584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Multi variate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Multivariate Regression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Multivariate regression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1616" y="1604919"/>
            <a:ext cx="11601300" cy="1678950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if more than one variable influences the one, you’re interested in?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Example: predicting a price for a car based on its many attributes (body style, brand, mileage, etc.)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471616" y="129160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534373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77image182377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377" y="2701583"/>
            <a:ext cx="4279645" cy="285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Still uses least square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just end up with coefficients for each factor.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For example, 𝑝𝑟𝑖𝑐𝑒 = 𝛼 + 𝛽1 mileage + 𝛽2age + 𝛽3doors 123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These coefficients imply how important each factor is (if the 	data is all normalized!)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Get rid of ones that don’t matter!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still measure fit with r-squared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Need to assume the different factors are not themselves dependent on each other.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Python coding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667114" y="2274608"/>
            <a:ext cx="73974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Let’s dive into an example.</a:t>
            </a:r>
          </a:p>
          <a:p>
            <a:br>
              <a:rPr lang="en-GB" sz="3200" dirty="0"/>
            </a:br>
            <a:r>
              <a:rPr lang="en-GB" sz="3200" dirty="0"/>
              <a:t>• The </a:t>
            </a:r>
            <a:r>
              <a:rPr lang="en-GB" sz="3200" dirty="0" err="1"/>
              <a:t>statsmodel</a:t>
            </a:r>
            <a:r>
              <a:rPr lang="en-GB" sz="3200" dirty="0"/>
              <a:t> package makes it easy.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quiz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Watch the you tube video on Multivariate regression (Multiple regression)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https://www.youtube.com/watch?v=zITIFTsivN8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(6 minutes)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Question – Why we use Multivariate regression to Linear Regression?</a:t>
            </a: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390017C-53C4-44A0-8BE5-543810B81638}">
  <ds:schemaRefs/>
</ds:datastoreItem>
</file>

<file path=customXml/itemProps2.xml><?xml version="1.0" encoding="utf-8"?>
<ds:datastoreItem xmlns:ds="http://schemas.openxmlformats.org/officeDocument/2006/customXml" ds:itemID="{2F101326-A77F-4581-B852-F1BEEE836B56}">
  <ds:schemaRefs/>
</ds:datastoreItem>
</file>

<file path=customXml/itemProps3.xml><?xml version="1.0" encoding="utf-8"?>
<ds:datastoreItem xmlns:ds="http://schemas.openxmlformats.org/officeDocument/2006/customXml" ds:itemID="{00AC7CDC-C40E-4CAA-9A43-5045B362938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0</TotalTime>
  <Words>204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Light blue-Cover</vt:lpstr>
      <vt:lpstr>Pearson slide</vt:lpstr>
      <vt:lpstr>Light blue-inside slide</vt:lpstr>
      <vt:lpstr>With picture</vt:lpstr>
      <vt:lpstr>1_Back cover</vt:lpstr>
      <vt:lpstr>Applied Machine learning</vt:lpstr>
      <vt:lpstr>Applied Machine learning </vt:lpstr>
      <vt:lpstr>Applied Machine learning</vt:lpstr>
      <vt:lpstr>PowerPoint Presentation</vt:lpstr>
      <vt:lpstr>Learning objectives</vt:lpstr>
      <vt:lpstr>Multivariate regression</vt:lpstr>
      <vt:lpstr>Still uses least square</vt:lpstr>
      <vt:lpstr>Python coding</vt:lpstr>
      <vt:lpstr>quiz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Somdip Dey</cp:lastModifiedBy>
  <cp:revision>51</cp:revision>
  <dcterms:created xsi:type="dcterms:W3CDTF">2021-07-24T10:34:00Z</dcterms:created>
  <dcterms:modified xsi:type="dcterms:W3CDTF">2026-02-15T14:35:18Z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  <property fmtid="{D5CDD505-2E9C-101B-9397-08002B2CF9AE}" pid="3" name="ICV">
    <vt:lpwstr>A2124D6C9CFA444A95FB9EE4EB1475A1_13</vt:lpwstr>
  </property>
  <property fmtid="{D5CDD505-2E9C-101B-9397-08002B2CF9AE}" pid="4" name="KSOProductBuildVer">
    <vt:lpwstr>1033-12.2.0.22549</vt:lpwstr>
  </property>
</Properties>
</file>