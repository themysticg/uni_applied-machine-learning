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3.xml" ContentType="application/vnd.openxmlformats-officedocument.theme+xml"/>
  <Override PartName="/ppt/slideLayouts/slideLayout6.xml" ContentType="application/vnd.openxmlformats-officedocument.presentationml.slideLayout+xml"/>
  <Override PartName="/ppt/theme/theme4.xml" ContentType="application/vnd.openxmlformats-officedocument.theme+xml"/>
  <Override PartName="/ppt/slideLayouts/slideLayout7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4"/>
    <p:sldMasterId id="2147483732" r:id="rId5"/>
    <p:sldMasterId id="2147483658" r:id="rId6"/>
    <p:sldMasterId id="2147483710" r:id="rId7"/>
    <p:sldMasterId id="2147483706" r:id="rId8"/>
  </p:sldMasterIdLst>
  <p:notesMasterIdLst>
    <p:notesMasterId r:id="rId31"/>
  </p:notesMasterIdLst>
  <p:sldIdLst>
    <p:sldId id="261" r:id="rId9"/>
    <p:sldId id="257" r:id="rId10"/>
    <p:sldId id="265" r:id="rId11"/>
    <p:sldId id="306" r:id="rId12"/>
    <p:sldId id="311" r:id="rId13"/>
    <p:sldId id="374" r:id="rId14"/>
    <p:sldId id="375" r:id="rId15"/>
    <p:sldId id="376" r:id="rId16"/>
    <p:sldId id="313" r:id="rId17"/>
    <p:sldId id="314" r:id="rId18"/>
    <p:sldId id="315" r:id="rId19"/>
    <p:sldId id="371" r:id="rId20"/>
    <p:sldId id="316" r:id="rId21"/>
    <p:sldId id="317" r:id="rId22"/>
    <p:sldId id="318" r:id="rId23"/>
    <p:sldId id="366" r:id="rId24"/>
    <p:sldId id="370" r:id="rId25"/>
    <p:sldId id="367" r:id="rId26"/>
    <p:sldId id="368" r:id="rId27"/>
    <p:sldId id="369" r:id="rId28"/>
    <p:sldId id="373" r:id="rId29"/>
    <p:sldId id="263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Tharindu" initials="T" lastIdx="2" clrIdx="0">
    <p:extLst>
      <p:ext uri="{19B8F6BF-5375-455C-9EA6-DF929625EA0E}">
        <p15:presenceInfo xmlns:p15="http://schemas.microsoft.com/office/powerpoint/2012/main" userId="Tharindu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56768"/>
    <a:srgbClr val="0D3E63"/>
    <a:srgbClr val="942D6D"/>
    <a:srgbClr val="232C58"/>
    <a:srgbClr val="942F6D"/>
    <a:srgbClr val="6FC8F0"/>
    <a:srgbClr val="B0E1F7"/>
    <a:srgbClr val="71C5E8"/>
    <a:srgbClr val="093E62"/>
    <a:srgbClr val="1665A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940" autoAdjust="0"/>
    <p:restoredTop sz="94038" autoAdjust="0"/>
  </p:normalViewPr>
  <p:slideViewPr>
    <p:cSldViewPr snapToGrid="0">
      <p:cViewPr varScale="1">
        <p:scale>
          <a:sx n="105" d="100"/>
          <a:sy n="105" d="100"/>
        </p:scale>
        <p:origin x="492" y="10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26" Type="http://schemas.openxmlformats.org/officeDocument/2006/relationships/slide" Target="slides/slide18.xml"/><Relationship Id="rId3" Type="http://schemas.openxmlformats.org/officeDocument/2006/relationships/customXml" Target="../customXml/item3.xml"/><Relationship Id="rId21" Type="http://schemas.openxmlformats.org/officeDocument/2006/relationships/slide" Target="slides/slide13.xml"/><Relationship Id="rId34" Type="http://schemas.openxmlformats.org/officeDocument/2006/relationships/viewProps" Target="viewProps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slide" Target="slides/slide17.xml"/><Relationship Id="rId33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8.xml"/><Relationship Id="rId20" Type="http://schemas.openxmlformats.org/officeDocument/2006/relationships/slide" Target="slides/slide12.xml"/><Relationship Id="rId29" Type="http://schemas.openxmlformats.org/officeDocument/2006/relationships/slide" Target="slides/slide2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3.xml"/><Relationship Id="rId24" Type="http://schemas.openxmlformats.org/officeDocument/2006/relationships/slide" Target="slides/slide16.xml"/><Relationship Id="rId32" Type="http://schemas.openxmlformats.org/officeDocument/2006/relationships/commentAuthors" Target="commentAuthor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7.xml"/><Relationship Id="rId23" Type="http://schemas.openxmlformats.org/officeDocument/2006/relationships/slide" Target="slides/slide15.xml"/><Relationship Id="rId28" Type="http://schemas.openxmlformats.org/officeDocument/2006/relationships/slide" Target="slides/slide20.xml"/><Relationship Id="rId36" Type="http://schemas.openxmlformats.org/officeDocument/2006/relationships/tableStyles" Target="tableStyles.xml"/><Relationship Id="rId10" Type="http://schemas.openxmlformats.org/officeDocument/2006/relationships/slide" Target="slides/slide2.xml"/><Relationship Id="rId19" Type="http://schemas.openxmlformats.org/officeDocument/2006/relationships/slide" Target="slides/slide11.xml"/><Relationship Id="rId31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slide" Target="slides/slide14.xml"/><Relationship Id="rId27" Type="http://schemas.openxmlformats.org/officeDocument/2006/relationships/slide" Target="slides/slide19.xml"/><Relationship Id="rId30" Type="http://schemas.openxmlformats.org/officeDocument/2006/relationships/slide" Target="slides/slide22.xml"/><Relationship Id="rId35" Type="http://schemas.openxmlformats.org/officeDocument/2006/relationships/theme" Target="theme/theme1.xml"/><Relationship Id="rId8" Type="http://schemas.openxmlformats.org/officeDocument/2006/relationships/slideMaster" Target="slideMasters/slideMaster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9218DF-9495-47FB-843C-0D1FCB3E09C9}" type="datetimeFigureOut">
              <a:rPr lang="en-US" smtClean="0"/>
              <a:t>10/20/2024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ACCC11-19A3-4E27-AB70-5FB3E1779C6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12549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rishisid.medium.com/?source=post_page-----8b334a3dab09-----------------------------------" TargetMode="External"/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https://www.mygreatlearning.com/blog/linear-regression-in-machine-learning/</a:t>
            </a:r>
            <a:endParaRPr lang="en-GB" b="0" i="0" dirty="0">
              <a:solidFill>
                <a:srgbClr val="222222"/>
              </a:solidFill>
              <a:effectLst/>
              <a:latin typeface="Poppins" panose="00000500000000000000" pitchFamily="2" charset="0"/>
            </a:endParaRPr>
          </a:p>
          <a:p>
            <a:endParaRPr lang="en-GB" b="0" i="0" dirty="0">
              <a:solidFill>
                <a:srgbClr val="222222"/>
              </a:solidFill>
              <a:effectLst/>
              <a:latin typeface="Poppins" panose="00000500000000000000" pitchFamily="2" charset="0"/>
            </a:endParaRPr>
          </a:p>
          <a:p>
            <a:pPr algn="l"/>
            <a:r>
              <a:rPr lang="en-GB" b="0" i="0" dirty="0">
                <a:solidFill>
                  <a:srgbClr val="222222"/>
                </a:solidFill>
                <a:effectLst/>
                <a:latin typeface="Poppins" panose="00000500000000000000" pitchFamily="2" charset="0"/>
              </a:rPr>
              <a:t>Regression method tries to find the best fit line which shows the relationship between the dependent variable and predictors with least error. </a:t>
            </a:r>
          </a:p>
          <a:p>
            <a:pPr algn="l"/>
            <a:r>
              <a:rPr lang="en-GB" b="0" i="0" dirty="0">
                <a:solidFill>
                  <a:srgbClr val="222222"/>
                </a:solidFill>
                <a:effectLst/>
                <a:latin typeface="Poppins" panose="00000500000000000000" pitchFamily="2" charset="0"/>
              </a:rPr>
              <a:t>In regression, the output/dependent variable is the function of an independent variable and the coefficient and the error term.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ACCC11-19A3-4E27-AB70-5FB3E1779C6E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44342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b="0" i="0" dirty="0">
              <a:solidFill>
                <a:srgbClr val="222222"/>
              </a:solidFill>
              <a:effectLst/>
              <a:latin typeface="Poppins" panose="00000500000000000000" pitchFamily="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ACCC11-19A3-4E27-AB70-5FB3E1779C6E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28125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b="0" i="0" dirty="0">
              <a:solidFill>
                <a:srgbClr val="222222"/>
              </a:solidFill>
              <a:effectLst/>
              <a:latin typeface="Poppins" panose="00000500000000000000" pitchFamily="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ACCC11-19A3-4E27-AB70-5FB3E1779C6E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83692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ACCC11-19A3-4E27-AB70-5FB3E1779C6E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41043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ACCC11-19A3-4E27-AB70-5FB3E1779C6E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46983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ACCC11-19A3-4E27-AB70-5FB3E1779C6E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84802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ACCC11-19A3-4E27-AB70-5FB3E1779C6E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722034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2E104D-C80E-6B44-82FA-6DDCE0FDA00F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75618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can place the line "by eye": try to have the line as close as possible to all points, and a similar number of points above and below the line. </a:t>
            </a:r>
            <a:endParaRPr lang="en-GB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ACCC11-19A3-4E27-AB70-5FB3E1779C6E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428282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u="none" strike="noStrike" dirty="0">
              <a:effectLst/>
              <a:latin typeface="inherit"/>
              <a:hlinkClick r:id="rId3"/>
            </a:endParaRPr>
          </a:p>
          <a:p>
            <a:endParaRPr lang="en-GB" u="none" strike="noStrike" dirty="0">
              <a:effectLst/>
              <a:latin typeface="inherit"/>
              <a:hlinkClick r:id="rId3"/>
            </a:endParaRPr>
          </a:p>
          <a:p>
            <a:r>
              <a:rPr lang="en-GB" b="0" u="none" strike="noStrike" dirty="0">
                <a:solidFill>
                  <a:srgbClr val="292929"/>
                </a:solidFill>
                <a:effectLst/>
                <a:latin typeface="inherit"/>
                <a:hlinkClick r:id="rId3"/>
              </a:rPr>
              <a:t>Rishi Sidhu</a:t>
            </a:r>
            <a:endParaRPr lang="en-GB" b="0" dirty="0">
              <a:solidFill>
                <a:srgbClr val="292929"/>
              </a:solidFill>
              <a:effectLst/>
              <a:latin typeface="sohne"/>
            </a:endParaRPr>
          </a:p>
          <a:p>
            <a:r>
              <a:rPr lang="en-GB" b="0" dirty="0">
                <a:solidFill>
                  <a:srgbClr val="757575"/>
                </a:solidFill>
                <a:effectLst/>
                <a:latin typeface="sohne"/>
              </a:rPr>
              <a:t>Jun 5, 2019</a:t>
            </a:r>
          </a:p>
          <a:p>
            <a:r>
              <a:rPr lang="en-GB" b="0" dirty="0">
                <a:solidFill>
                  <a:srgbClr val="757575"/>
                </a:solidFill>
                <a:effectLst/>
                <a:latin typeface="sohne"/>
              </a:rPr>
              <a:t>·</a:t>
            </a:r>
            <a:endParaRPr lang="en-GB" dirty="0">
              <a:effectLst/>
            </a:endParaRPr>
          </a:p>
          <a:p>
            <a:r>
              <a:rPr lang="en-GB" b="0" dirty="0">
                <a:solidFill>
                  <a:srgbClr val="757575"/>
                </a:solidFill>
                <a:effectLst/>
                <a:latin typeface="sohne"/>
              </a:rPr>
              <a:t> </a:t>
            </a:r>
          </a:p>
          <a:p>
            <a:r>
              <a:rPr lang="en-GB" b="0" dirty="0">
                <a:solidFill>
                  <a:srgbClr val="757575"/>
                </a:solidFill>
                <a:effectLst/>
                <a:latin typeface="sohne"/>
              </a:rPr>
              <a:t>·</a:t>
            </a:r>
            <a:endParaRPr lang="en-GB" dirty="0">
              <a:effectLst/>
            </a:endParaRPr>
          </a:p>
          <a:p>
            <a:r>
              <a:rPr lang="en-GB" b="0" dirty="0">
                <a:solidFill>
                  <a:srgbClr val="668AAA"/>
                </a:solidFill>
                <a:effectLst/>
                <a:latin typeface="sohne"/>
              </a:rPr>
              <a:t>Listen</a:t>
            </a:r>
          </a:p>
          <a:p>
            <a:r>
              <a:rPr lang="en-GB" b="1" i="0" dirty="0">
                <a:solidFill>
                  <a:srgbClr val="292929"/>
                </a:solidFill>
                <a:effectLst/>
                <a:latin typeface="sohne"/>
              </a:rPr>
              <a:t>Layman’s Introduction to Linear Regression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ACCC11-19A3-4E27-AB70-5FB3E1779C6E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93050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blue-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>
          <a:xfrm>
            <a:off x="838200" y="3136307"/>
            <a:ext cx="10515600" cy="1186075"/>
          </a:xfrm>
          <a:prstGeom prst="rect">
            <a:avLst/>
          </a:prstGeom>
        </p:spPr>
        <p:txBody>
          <a:bodyPr anchor="b"/>
          <a:lstStyle>
            <a:lvl1pPr algn="ctr">
              <a:lnSpc>
                <a:spcPts val="4500"/>
              </a:lnSpc>
              <a:defRPr sz="5200" b="1" cap="all" spc="-50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Click to edit title  </a:t>
            </a:r>
            <a:endParaRPr lang="en-GB" dirty="0"/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838200" y="4495085"/>
            <a:ext cx="10515600" cy="129041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800" spc="-5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230882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earson slide with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>
          <a:xfrm>
            <a:off x="838200" y="3136307"/>
            <a:ext cx="10515600" cy="1186075"/>
          </a:xfrm>
          <a:prstGeom prst="rect">
            <a:avLst/>
          </a:prstGeom>
        </p:spPr>
        <p:txBody>
          <a:bodyPr anchor="b"/>
          <a:lstStyle>
            <a:lvl1pPr algn="ctr">
              <a:lnSpc>
                <a:spcPts val="4500"/>
              </a:lnSpc>
              <a:defRPr sz="5200" b="1" cap="all" spc="-50" baseline="0">
                <a:solidFill>
                  <a:srgbClr val="942F6D"/>
                </a:solidFill>
                <a:latin typeface="+mn-lt"/>
              </a:defRPr>
            </a:lvl1pPr>
          </a:lstStyle>
          <a:p>
            <a:r>
              <a:rPr lang="en-US" dirty="0"/>
              <a:t>Click to edit title </a:t>
            </a:r>
            <a:endParaRPr lang="en-GB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838200" y="4495084"/>
            <a:ext cx="10515600" cy="182025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800" spc="-50" baseline="0">
                <a:solidFill>
                  <a:srgbClr val="656768"/>
                </a:solidFill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304560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blue-slide with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601791" y="555478"/>
            <a:ext cx="9097686" cy="106822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>
                <a:solidFill>
                  <a:srgbClr val="942F6D"/>
                </a:solidFill>
              </a:defRPr>
            </a:lvl1pPr>
          </a:lstStyle>
          <a:p>
            <a:r>
              <a:rPr lang="en-US" dirty="0"/>
              <a:t>Click to edit title </a:t>
            </a:r>
            <a:endParaRPr lang="en-GB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0" hasCustomPrompt="1"/>
          </p:nvPr>
        </p:nvSpPr>
        <p:spPr>
          <a:xfrm>
            <a:off x="601791" y="1811976"/>
            <a:ext cx="10994852" cy="4033348"/>
          </a:xfrm>
          <a:prstGeom prst="rect">
            <a:avLst/>
          </a:prstGeom>
        </p:spPr>
        <p:txBody>
          <a:bodyPr/>
          <a:lstStyle>
            <a:lvl1pPr>
              <a:buClr>
                <a:srgbClr val="942F6D"/>
              </a:buClr>
              <a:defRPr baseline="0">
                <a:solidFill>
                  <a:srgbClr val="656768"/>
                </a:solidFill>
              </a:defRPr>
            </a:lvl1pPr>
            <a:lvl2pPr>
              <a:buClr>
                <a:srgbClr val="942F6D"/>
              </a:buClr>
              <a:defRPr>
                <a:solidFill>
                  <a:srgbClr val="656768"/>
                </a:solidFill>
              </a:defRPr>
            </a:lvl2pPr>
            <a:lvl3pPr>
              <a:buClr>
                <a:srgbClr val="942F6D"/>
              </a:buClr>
              <a:defRPr>
                <a:solidFill>
                  <a:srgbClr val="656768"/>
                </a:solidFill>
              </a:defRPr>
            </a:lvl3pPr>
            <a:lvl4pPr>
              <a:buClr>
                <a:srgbClr val="942F6D"/>
              </a:buClr>
              <a:defRPr>
                <a:solidFill>
                  <a:srgbClr val="656768"/>
                </a:solidFill>
              </a:defRPr>
            </a:lvl4pPr>
            <a:lvl5pPr>
              <a:buClr>
                <a:srgbClr val="942F6D"/>
              </a:buClr>
              <a:defRPr>
                <a:solidFill>
                  <a:srgbClr val="656768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161093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75110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F0324-914A-964A-9804-CEE5E14C61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064A1C-B966-2A49-9104-678C3FAF2A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1351DC-8943-8644-A339-8FC8098652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10/20/2024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A46BE7-F85D-E646-AB8C-E26CABBCF1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4D89FD-808A-0D41-BCB1-C155998F3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11789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0" hasCustomPrompt="1"/>
          </p:nvPr>
        </p:nvSpPr>
        <p:spPr>
          <a:xfrm>
            <a:off x="6281159" y="0"/>
            <a:ext cx="5910840" cy="6858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lnSpc>
                <a:spcPct val="150000"/>
              </a:lnSpc>
              <a:buNone/>
              <a:defRPr sz="2800" baseline="0"/>
            </a:lvl1pPr>
          </a:lstStyle>
          <a:p>
            <a:r>
              <a:rPr lang="en-GB" dirty="0"/>
              <a:t>Click to add picture </a:t>
            </a:r>
          </a:p>
        </p:txBody>
      </p:sp>
      <p:sp>
        <p:nvSpPr>
          <p:cNvPr id="8" name="Title Placeholder 1"/>
          <p:cNvSpPr>
            <a:spLocks noGrp="1"/>
          </p:cNvSpPr>
          <p:nvPr>
            <p:ph type="title"/>
          </p:nvPr>
        </p:nvSpPr>
        <p:spPr>
          <a:xfrm>
            <a:off x="601791" y="555478"/>
            <a:ext cx="5491361" cy="106822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>
                <a:solidFill>
                  <a:srgbClr val="942F6D"/>
                </a:solidFill>
              </a:defRPr>
            </a:lvl1pPr>
          </a:lstStyle>
          <a:p>
            <a:r>
              <a:rPr lang="en-US" dirty="0"/>
              <a:t>Click to edit title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 hasCustomPrompt="1"/>
          </p:nvPr>
        </p:nvSpPr>
        <p:spPr>
          <a:xfrm>
            <a:off x="601791" y="1760537"/>
            <a:ext cx="5491361" cy="3845503"/>
          </a:xfrm>
          <a:prstGeom prst="rect">
            <a:avLst/>
          </a:prstGeom>
        </p:spPr>
        <p:txBody>
          <a:bodyPr/>
          <a:lstStyle>
            <a:lvl1pPr marL="0" indent="0">
              <a:buClr>
                <a:srgbClr val="6FC8F0"/>
              </a:buClr>
              <a:buNone/>
              <a:defRPr baseline="0">
                <a:solidFill>
                  <a:srgbClr val="656768"/>
                </a:solidFill>
              </a:defRPr>
            </a:lvl1pPr>
            <a:lvl2pPr marL="457200" indent="0">
              <a:buClr>
                <a:srgbClr val="6FC8F0"/>
              </a:buClr>
              <a:buNone/>
              <a:defRPr>
                <a:solidFill>
                  <a:srgbClr val="656768"/>
                </a:solidFill>
              </a:defRPr>
            </a:lvl2pPr>
            <a:lvl3pPr marL="914400" indent="0">
              <a:buClr>
                <a:srgbClr val="6FC8F0"/>
              </a:buClr>
              <a:buNone/>
              <a:defRPr>
                <a:solidFill>
                  <a:srgbClr val="656768"/>
                </a:solidFill>
              </a:defRPr>
            </a:lvl3pPr>
            <a:lvl4pPr marL="1371600" indent="0">
              <a:buClr>
                <a:srgbClr val="6FC8F0"/>
              </a:buClr>
              <a:buNone/>
              <a:defRPr>
                <a:solidFill>
                  <a:srgbClr val="656768"/>
                </a:solidFill>
              </a:defRPr>
            </a:lvl4pPr>
            <a:lvl5pPr marL="1828800" indent="0">
              <a:buClr>
                <a:srgbClr val="6FC8F0"/>
              </a:buClr>
              <a:buNone/>
              <a:defRPr>
                <a:solidFill>
                  <a:srgbClr val="656768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343643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333065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7.png"/><Relationship Id="rId4" Type="http://schemas.openxmlformats.org/officeDocument/2006/relationships/image" Target="../media/image9.pn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942F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6FC8F0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243868" y="839558"/>
            <a:ext cx="2149506" cy="106596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5238" y="789413"/>
            <a:ext cx="3468947" cy="161999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6000" y="5835495"/>
            <a:ext cx="1400000" cy="25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4679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3113" y="3228975"/>
            <a:ext cx="8105775" cy="362902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7702" y="788182"/>
            <a:ext cx="3466926" cy="1620000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260456" y="843742"/>
            <a:ext cx="2149506" cy="1065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78940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4230" y="536045"/>
            <a:ext cx="1605949" cy="720000"/>
          </a:xfrm>
          <a:prstGeom prst="rect">
            <a:avLst/>
          </a:prstGeom>
        </p:spPr>
      </p:pic>
      <p:sp>
        <p:nvSpPr>
          <p:cNvPr id="2" name="Rectangle 1"/>
          <p:cNvSpPr/>
          <p:nvPr userDrawn="1"/>
        </p:nvSpPr>
        <p:spPr>
          <a:xfrm>
            <a:off x="0" y="5982061"/>
            <a:ext cx="12192000" cy="875939"/>
          </a:xfrm>
          <a:prstGeom prst="rect">
            <a:avLst/>
          </a:prstGeom>
          <a:solidFill>
            <a:srgbClr val="942F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353239" y="6092032"/>
            <a:ext cx="1253879" cy="621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7907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04" r:id="rId2"/>
    <p:sldLayoutId id="2147483734" r:id="rId3"/>
  </p:sldLayoutIdLst>
  <p:txStyles>
    <p:titleStyle>
      <a:lvl1pPr algn="l" defTabSz="914400" rtl="0" eaLnBrk="1" latinLnBrk="0" hangingPunct="1">
        <a:lnSpc>
          <a:spcPts val="3200"/>
        </a:lnSpc>
        <a:spcBef>
          <a:spcPct val="0"/>
        </a:spcBef>
        <a:buNone/>
        <a:defRPr sz="4200" b="1" kern="1200" cap="all" spc="-50" baseline="0">
          <a:solidFill>
            <a:srgbClr val="942F6D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942F6D"/>
        </a:buClr>
        <a:buFont typeface="Arial" panose="020B0604020202020204" pitchFamily="34" charset="0"/>
        <a:buChar char="•"/>
        <a:defRPr sz="2800" kern="1200">
          <a:solidFill>
            <a:srgbClr val="0D3E63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942F6D"/>
        </a:buClr>
        <a:buFont typeface="Arial" panose="020B0604020202020204" pitchFamily="34" charset="0"/>
        <a:buChar char="•"/>
        <a:defRPr sz="2400" kern="1200">
          <a:solidFill>
            <a:srgbClr val="0D3E63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942F6D"/>
        </a:buClr>
        <a:buFont typeface="Arial" panose="020B0604020202020204" pitchFamily="34" charset="0"/>
        <a:buChar char="•"/>
        <a:defRPr sz="2000" kern="1200">
          <a:solidFill>
            <a:srgbClr val="0D3E63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942F6D"/>
        </a:buClr>
        <a:buFont typeface="Arial" panose="020B0604020202020204" pitchFamily="34" charset="0"/>
        <a:buChar char="•"/>
        <a:defRPr sz="1800" kern="1200">
          <a:solidFill>
            <a:srgbClr val="0D3E63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942F6D"/>
        </a:buClr>
        <a:buFont typeface="Arial" panose="020B0604020202020204" pitchFamily="34" charset="0"/>
        <a:buChar char="•"/>
        <a:defRPr sz="1800" kern="1200">
          <a:solidFill>
            <a:srgbClr val="0D3E63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3113" y="3228975"/>
            <a:ext cx="8105775" cy="3629025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1791" y="555478"/>
            <a:ext cx="5491361" cy="106822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title</a:t>
            </a:r>
            <a:endParaRPr lang="en-GB" dirty="0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880564" y="5569783"/>
            <a:ext cx="1433004" cy="71064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791" y="5568969"/>
            <a:ext cx="1605950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24626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</p:sldLayoutIdLst>
  <p:txStyles>
    <p:titleStyle>
      <a:lvl1pPr algn="l" defTabSz="914400" rtl="0" eaLnBrk="1" latinLnBrk="0" hangingPunct="1">
        <a:lnSpc>
          <a:spcPts val="3500"/>
        </a:lnSpc>
        <a:spcBef>
          <a:spcPct val="0"/>
        </a:spcBef>
        <a:buNone/>
        <a:defRPr sz="4200" b="1" kern="1200" cap="all" spc="-50" baseline="0">
          <a:solidFill>
            <a:srgbClr val="0D3E63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942F6D"/>
        </a:buClr>
        <a:buFont typeface="Arial" panose="020B0604020202020204" pitchFamily="34" charset="0"/>
        <a:buChar char="•"/>
        <a:defRPr sz="2800" kern="1200">
          <a:solidFill>
            <a:srgbClr val="0D3E63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942F6D"/>
        </a:buClr>
        <a:buFont typeface="Arial" panose="020B0604020202020204" pitchFamily="34" charset="0"/>
        <a:buChar char="•"/>
        <a:defRPr sz="2400" kern="1200">
          <a:solidFill>
            <a:srgbClr val="0D3E63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942F6D"/>
        </a:buClr>
        <a:buFont typeface="Arial" panose="020B0604020202020204" pitchFamily="34" charset="0"/>
        <a:buChar char="•"/>
        <a:defRPr sz="2000" kern="1200">
          <a:solidFill>
            <a:srgbClr val="0D3E63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942F6D"/>
        </a:buClr>
        <a:buFont typeface="Arial" panose="020B0604020202020204" pitchFamily="34" charset="0"/>
        <a:buChar char="•"/>
        <a:defRPr sz="1800" kern="1200">
          <a:solidFill>
            <a:srgbClr val="0D3E63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942F6D"/>
        </a:buClr>
        <a:buFont typeface="Arial" panose="020B0604020202020204" pitchFamily="34" charset="0"/>
        <a:buChar char="•"/>
        <a:defRPr sz="1800" kern="1200">
          <a:solidFill>
            <a:srgbClr val="0D3E63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3E6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334"/>
          <a:stretch/>
        </p:blipFill>
        <p:spPr>
          <a:xfrm>
            <a:off x="1814513" y="3016664"/>
            <a:ext cx="8562975" cy="384133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3160" y="1067668"/>
            <a:ext cx="3854386" cy="18000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979792" y="4898051"/>
            <a:ext cx="1433004" cy="71064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5707" y="5412938"/>
            <a:ext cx="1400000" cy="25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00310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towardsdatascience.com/laymans-introduction-to-linear-regression-8b334a3dab09#:~:text=Linear%20regression%20attempts%20to%20model,variable%20(e.g.%20your%20expenses)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rishisid.medium.com/?source=post_page-----8b334a3dab09-----------------------------------" TargetMode="Externa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Machine learning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Regent College London</a:t>
            </a:r>
          </a:p>
          <a:p>
            <a:r>
              <a:rPr lang="en-GB" dirty="0"/>
              <a:t>SWE6204</a:t>
            </a:r>
          </a:p>
        </p:txBody>
      </p:sp>
    </p:spTree>
    <p:extLst>
      <p:ext uri="{BB962C8B-B14F-4D97-AF65-F5344CB8AC3E}">
        <p14:creationId xmlns:p14="http://schemas.microsoft.com/office/powerpoint/2010/main" val="14580450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Machine learning 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SWE6204</a:t>
            </a:r>
          </a:p>
        </p:txBody>
      </p:sp>
    </p:spTree>
    <p:extLst>
      <p:ext uri="{BB962C8B-B14F-4D97-AF65-F5344CB8AC3E}">
        <p14:creationId xmlns:p14="http://schemas.microsoft.com/office/powerpoint/2010/main" val="23651916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18D52EB-A3E0-3F4C-9EBC-AC778DE37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Machine learning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FEF0A4-9481-7245-BC4A-7DDD704352D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 dirty="0"/>
          </a:p>
          <a:p>
            <a:r>
              <a:rPr lang="en-GB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</a:rPr>
              <a:t>REGRESSION METHODS</a:t>
            </a:r>
            <a:endParaRPr lang="en-GB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2C6E8E5-BE8D-1A44-B2E2-3F645E098C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0768" y="1704061"/>
            <a:ext cx="6551188" cy="3958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76277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2BA340-02CC-904F-8C88-B5AA849D9854}"/>
              </a:ext>
            </a:extLst>
          </p:cNvPr>
          <p:cNvSpPr txBox="1">
            <a:spLocks/>
          </p:cNvSpPr>
          <p:nvPr/>
        </p:nvSpPr>
        <p:spPr>
          <a:xfrm>
            <a:off x="1591827" y="2985581"/>
            <a:ext cx="10515600" cy="11860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ts val="3200"/>
              </a:lnSpc>
              <a:spcBef>
                <a:spcPct val="0"/>
              </a:spcBef>
              <a:buNone/>
              <a:defRPr sz="4200" b="1" kern="1200" cap="all" spc="-50" baseline="0">
                <a:solidFill>
                  <a:srgbClr val="942F6D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GB"/>
              <a:t>Module  </a:t>
            </a:r>
            <a:r>
              <a:rPr lang="en-GB" dirty="0"/>
              <a:t>– LINEAR REGRESSION</a:t>
            </a:r>
          </a:p>
        </p:txBody>
      </p:sp>
    </p:spTree>
    <p:extLst>
      <p:ext uri="{BB962C8B-B14F-4D97-AF65-F5344CB8AC3E}">
        <p14:creationId xmlns:p14="http://schemas.microsoft.com/office/powerpoint/2010/main" val="17418291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08F55-98AD-8544-9EDC-97F2BF248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942D6D"/>
                </a:solidFill>
              </a:rPr>
              <a:t>Learning objectives</a:t>
            </a:r>
            <a:endParaRPr lang="en-US" dirty="0">
              <a:solidFill>
                <a:srgbClr val="942D6D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912611-42E7-6849-885B-99D97037DE6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77821" y="1521449"/>
            <a:ext cx="10712388" cy="3815101"/>
          </a:xfrm>
        </p:spPr>
        <p:txBody>
          <a:bodyPr/>
          <a:lstStyle/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Understand the Linear Regression </a:t>
            </a:r>
          </a:p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Understand the the Linear Regression Loss</a:t>
            </a:r>
          </a:p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Understand R-Squared Error</a:t>
            </a:r>
          </a:p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Linear Regression Python example</a:t>
            </a:r>
          </a:p>
          <a:p>
            <a:endParaRPr 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9D4463B-68D3-6346-A353-3FDE2BAA7999}"/>
              </a:ext>
            </a:extLst>
          </p:cNvPr>
          <p:cNvCxnSpPr>
            <a:cxnSpLocks/>
          </p:cNvCxnSpPr>
          <p:nvPr/>
        </p:nvCxnSpPr>
        <p:spPr>
          <a:xfrm flipH="1">
            <a:off x="601791" y="1070621"/>
            <a:ext cx="8161323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4195D4-2AFD-5546-B93D-E8BB18FECD81}"/>
              </a:ext>
            </a:extLst>
          </p:cNvPr>
          <p:cNvCxnSpPr>
            <a:cxnSpLocks/>
          </p:cNvCxnSpPr>
          <p:nvPr/>
        </p:nvCxnSpPr>
        <p:spPr>
          <a:xfrm flipV="1">
            <a:off x="472083" y="423248"/>
            <a:ext cx="0" cy="555277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ABFCEE7-FEA4-734D-B602-47B04ECB3644}"/>
              </a:ext>
            </a:extLst>
          </p:cNvPr>
          <p:cNvCxnSpPr>
            <a:cxnSpLocks/>
          </p:cNvCxnSpPr>
          <p:nvPr/>
        </p:nvCxnSpPr>
        <p:spPr>
          <a:xfrm flipH="1" flipV="1">
            <a:off x="470171" y="1089589"/>
            <a:ext cx="1912" cy="4298063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29939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08F55-98AD-8544-9EDC-97F2BF248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942D6D"/>
                </a:solidFill>
              </a:rPr>
              <a:t>REGRESSION</a:t>
            </a:r>
            <a:endParaRPr lang="en-US" dirty="0">
              <a:solidFill>
                <a:srgbClr val="942D6D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912611-42E7-6849-885B-99D97037DE6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77821" y="1521449"/>
            <a:ext cx="10712388" cy="3815101"/>
          </a:xfrm>
        </p:spPr>
        <p:txBody>
          <a:bodyPr/>
          <a:lstStyle/>
          <a:p>
            <a:r>
              <a:rPr lang="en-GB" sz="2000" b="0" i="0" dirty="0">
                <a:solidFill>
                  <a:srgbClr val="222222"/>
                </a:solidFill>
                <a:effectLst/>
                <a:latin typeface="Poppins" panose="00000500000000000000" pitchFamily="2" charset="0"/>
              </a:rPr>
              <a:t>Regression is a method of </a:t>
            </a:r>
            <a:r>
              <a:rPr lang="en-GB" sz="2000" b="0" i="0" dirty="0" err="1">
                <a:solidFill>
                  <a:srgbClr val="222222"/>
                </a:solidFill>
                <a:effectLst/>
                <a:latin typeface="Poppins" panose="00000500000000000000" pitchFamily="2" charset="0"/>
              </a:rPr>
              <a:t>modeling</a:t>
            </a:r>
            <a:r>
              <a:rPr lang="en-GB" sz="2000" b="0" i="0" dirty="0">
                <a:solidFill>
                  <a:srgbClr val="222222"/>
                </a:solidFill>
                <a:effectLst/>
                <a:latin typeface="Poppins" panose="00000500000000000000" pitchFamily="2" charset="0"/>
              </a:rPr>
              <a:t> a target value based on independent predictors</a:t>
            </a:r>
          </a:p>
          <a:p>
            <a:r>
              <a:rPr lang="en-GB" sz="2000" b="0" i="0" dirty="0">
                <a:solidFill>
                  <a:srgbClr val="222222"/>
                </a:solidFill>
                <a:effectLst/>
                <a:latin typeface="Poppins" panose="00000500000000000000" pitchFamily="2" charset="0"/>
              </a:rPr>
              <a:t>It is a statistical tool which is used to find out the relationship between the outcome variable also known as the dependent variable, and one or more variable often called as independent variables</a:t>
            </a:r>
          </a:p>
          <a:p>
            <a:r>
              <a:rPr lang="en-GB" sz="2000" b="0" i="0" dirty="0">
                <a:solidFill>
                  <a:srgbClr val="222222"/>
                </a:solidFill>
                <a:effectLst/>
                <a:latin typeface="Poppins" panose="00000500000000000000" pitchFamily="2" charset="0"/>
              </a:rPr>
              <a:t>This method is mostly used for forecasting and finding out cause-and-effect relationships between variables</a:t>
            </a:r>
          </a:p>
          <a:p>
            <a:r>
              <a:rPr lang="en-GB" sz="2000" b="0" i="0" dirty="0">
                <a:solidFill>
                  <a:srgbClr val="222222"/>
                </a:solidFill>
                <a:effectLst/>
                <a:latin typeface="Poppins" panose="00000500000000000000" pitchFamily="2" charset="0"/>
              </a:rPr>
              <a:t>Regression techniques mostly differ based on the number of independent variables and the type of relationship between the independent and dependent variables. </a:t>
            </a:r>
            <a:endParaRPr lang="en-GB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endParaRPr lang="en-US" sz="2000" dirty="0">
              <a:solidFill>
                <a:schemeClr val="bg2">
                  <a:lumMod val="25000"/>
                </a:schemeClr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9D4463B-68D3-6346-A353-3FDE2BAA7999}"/>
              </a:ext>
            </a:extLst>
          </p:cNvPr>
          <p:cNvCxnSpPr>
            <a:cxnSpLocks/>
          </p:cNvCxnSpPr>
          <p:nvPr/>
        </p:nvCxnSpPr>
        <p:spPr>
          <a:xfrm flipH="1">
            <a:off x="601791" y="1070621"/>
            <a:ext cx="8161323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4195D4-2AFD-5546-B93D-E8BB18FECD81}"/>
              </a:ext>
            </a:extLst>
          </p:cNvPr>
          <p:cNvCxnSpPr>
            <a:cxnSpLocks/>
          </p:cNvCxnSpPr>
          <p:nvPr/>
        </p:nvCxnSpPr>
        <p:spPr>
          <a:xfrm flipV="1">
            <a:off x="472083" y="423248"/>
            <a:ext cx="0" cy="555277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ABFCEE7-FEA4-734D-B602-47B04ECB3644}"/>
              </a:ext>
            </a:extLst>
          </p:cNvPr>
          <p:cNvCxnSpPr>
            <a:cxnSpLocks/>
          </p:cNvCxnSpPr>
          <p:nvPr/>
        </p:nvCxnSpPr>
        <p:spPr>
          <a:xfrm flipH="1" flipV="1">
            <a:off x="470171" y="1089589"/>
            <a:ext cx="1912" cy="4298063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96771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08F55-98AD-8544-9EDC-97F2BF248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942D6D"/>
                </a:solidFill>
              </a:rPr>
              <a:t>REGRESSION</a:t>
            </a:r>
            <a:endParaRPr lang="en-US" dirty="0">
              <a:solidFill>
                <a:srgbClr val="942D6D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912611-42E7-6849-885B-99D97037DE6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39806" y="1283324"/>
            <a:ext cx="10712388" cy="4265923"/>
          </a:xfrm>
        </p:spPr>
        <p:txBody>
          <a:bodyPr/>
          <a:lstStyle/>
          <a:p>
            <a:pPr algn="l"/>
            <a:r>
              <a:rPr lang="en-GB" sz="2400" b="0" i="0" dirty="0">
                <a:solidFill>
                  <a:srgbClr val="222222"/>
                </a:solidFill>
                <a:effectLst/>
                <a:latin typeface="Poppins" panose="00000500000000000000" pitchFamily="2" charset="0"/>
              </a:rPr>
              <a:t>Regression method tries to find the best fit line which shows the relationship between the dependent variable and predictors with least error. </a:t>
            </a:r>
          </a:p>
          <a:p>
            <a:pPr algn="l"/>
            <a:r>
              <a:rPr lang="en-GB" sz="2400" b="0" i="0" dirty="0">
                <a:solidFill>
                  <a:srgbClr val="222222"/>
                </a:solidFill>
                <a:effectLst/>
                <a:latin typeface="Poppins" panose="00000500000000000000" pitchFamily="2" charset="0"/>
              </a:rPr>
              <a:t>In regression, the output/dependent variable is the function of an independent variable and the coefficient and the error term.</a:t>
            </a:r>
          </a:p>
          <a:p>
            <a:r>
              <a:rPr lang="en-GB" sz="2400" b="0" i="0" dirty="0">
                <a:solidFill>
                  <a:srgbClr val="222222"/>
                </a:solidFill>
                <a:effectLst/>
                <a:latin typeface="Poppins" panose="00000500000000000000" pitchFamily="2" charset="0"/>
              </a:rPr>
              <a:t>Linear Regression is the basic form of regression analysis. It assumes that there is a linear relationship between the dependent variable and the predictor(s). </a:t>
            </a:r>
          </a:p>
          <a:p>
            <a:r>
              <a:rPr lang="en-GB" sz="2400" b="0" i="0" dirty="0">
                <a:solidFill>
                  <a:srgbClr val="222222"/>
                </a:solidFill>
                <a:effectLst/>
                <a:latin typeface="Poppins" panose="00000500000000000000" pitchFamily="2" charset="0"/>
              </a:rPr>
              <a:t> </a:t>
            </a:r>
            <a:endParaRPr lang="en-US" sz="2400" dirty="0">
              <a:solidFill>
                <a:schemeClr val="bg2">
                  <a:lumMod val="25000"/>
                </a:schemeClr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9D4463B-68D3-6346-A353-3FDE2BAA7999}"/>
              </a:ext>
            </a:extLst>
          </p:cNvPr>
          <p:cNvCxnSpPr>
            <a:cxnSpLocks/>
          </p:cNvCxnSpPr>
          <p:nvPr/>
        </p:nvCxnSpPr>
        <p:spPr>
          <a:xfrm flipH="1">
            <a:off x="601791" y="1070621"/>
            <a:ext cx="8161323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4195D4-2AFD-5546-B93D-E8BB18FECD81}"/>
              </a:ext>
            </a:extLst>
          </p:cNvPr>
          <p:cNvCxnSpPr>
            <a:cxnSpLocks/>
          </p:cNvCxnSpPr>
          <p:nvPr/>
        </p:nvCxnSpPr>
        <p:spPr>
          <a:xfrm flipV="1">
            <a:off x="472083" y="423248"/>
            <a:ext cx="0" cy="555277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ABFCEE7-FEA4-734D-B602-47B04ECB3644}"/>
              </a:ext>
            </a:extLst>
          </p:cNvPr>
          <p:cNvCxnSpPr>
            <a:cxnSpLocks/>
          </p:cNvCxnSpPr>
          <p:nvPr/>
        </p:nvCxnSpPr>
        <p:spPr>
          <a:xfrm flipH="1" flipV="1">
            <a:off x="470171" y="1089589"/>
            <a:ext cx="1912" cy="4298063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794089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08F55-98AD-8544-9EDC-97F2BF248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942D6D"/>
                </a:solidFill>
              </a:rPr>
              <a:t>REGRESSION</a:t>
            </a:r>
            <a:endParaRPr lang="en-US" dirty="0">
              <a:solidFill>
                <a:srgbClr val="942D6D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912611-42E7-6849-885B-99D97037DE6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77821" y="1521450"/>
            <a:ext cx="10712388" cy="2698858"/>
          </a:xfrm>
        </p:spPr>
        <p:txBody>
          <a:bodyPr/>
          <a:lstStyle/>
          <a:p>
            <a:r>
              <a:rPr lang="en-GB" b="0" i="0" dirty="0">
                <a:solidFill>
                  <a:srgbClr val="222222"/>
                </a:solidFill>
                <a:effectLst/>
                <a:latin typeface="Poppins" panose="00000500000000000000" pitchFamily="2" charset="0"/>
              </a:rPr>
              <a:t>Through the best fit line, we can describe the impact of change in independent variables on the dependent variable. </a:t>
            </a:r>
          </a:p>
          <a:p>
            <a:pPr algn="l"/>
            <a:endParaRPr lang="en-GB" b="0" i="0" dirty="0">
              <a:solidFill>
                <a:srgbClr val="222222"/>
              </a:solidFill>
              <a:effectLst/>
              <a:latin typeface="Poppins" panose="00000500000000000000" pitchFamily="2" charset="0"/>
            </a:endParaRPr>
          </a:p>
          <a:p>
            <a:r>
              <a:rPr lang="en-GB" b="0" i="0" dirty="0">
                <a:solidFill>
                  <a:srgbClr val="222222"/>
                </a:solidFill>
                <a:effectLst/>
                <a:latin typeface="Poppins" panose="00000500000000000000" pitchFamily="2" charset="0"/>
              </a:rPr>
              <a:t> </a:t>
            </a:r>
            <a:endParaRPr lang="en-GB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endParaRPr 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9D4463B-68D3-6346-A353-3FDE2BAA7999}"/>
              </a:ext>
            </a:extLst>
          </p:cNvPr>
          <p:cNvCxnSpPr>
            <a:cxnSpLocks/>
          </p:cNvCxnSpPr>
          <p:nvPr/>
        </p:nvCxnSpPr>
        <p:spPr>
          <a:xfrm flipH="1">
            <a:off x="601791" y="1070621"/>
            <a:ext cx="8161323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4195D4-2AFD-5546-B93D-E8BB18FECD81}"/>
              </a:ext>
            </a:extLst>
          </p:cNvPr>
          <p:cNvCxnSpPr>
            <a:cxnSpLocks/>
          </p:cNvCxnSpPr>
          <p:nvPr/>
        </p:nvCxnSpPr>
        <p:spPr>
          <a:xfrm flipV="1">
            <a:off x="472083" y="423248"/>
            <a:ext cx="0" cy="555277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ABFCEE7-FEA4-734D-B602-47B04ECB3644}"/>
              </a:ext>
            </a:extLst>
          </p:cNvPr>
          <p:cNvCxnSpPr>
            <a:cxnSpLocks/>
          </p:cNvCxnSpPr>
          <p:nvPr/>
        </p:nvCxnSpPr>
        <p:spPr>
          <a:xfrm flipH="1" flipV="1">
            <a:off x="470171" y="1089589"/>
            <a:ext cx="1912" cy="4298063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030" name="Picture 6">
            <a:extLst>
              <a:ext uri="{FF2B5EF4-FFF2-40B4-BE49-F238E27FC236}">
                <a16:creationId xmlns:a16="http://schemas.microsoft.com/office/drawing/2014/main" id="{D2145C99-DA40-47CD-8DC6-6C289E0AB6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7539" y="3244645"/>
            <a:ext cx="4838700" cy="12400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EF6CC599-8E99-4CA1-93A1-805F8C90B3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8113" y="2933525"/>
            <a:ext cx="6121198" cy="26441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034830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08F55-98AD-8544-9EDC-97F2BF248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942D6D"/>
                </a:solidFill>
              </a:rPr>
              <a:t>REGRESSION</a:t>
            </a:r>
            <a:endParaRPr lang="en-US" dirty="0">
              <a:solidFill>
                <a:srgbClr val="942D6D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912611-42E7-6849-885B-99D97037DE6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77821" y="1521449"/>
            <a:ext cx="10712388" cy="3815101"/>
          </a:xfrm>
        </p:spPr>
        <p:txBody>
          <a:bodyPr/>
          <a:lstStyle/>
          <a:p>
            <a:pPr marL="342900" indent="-342900">
              <a:buFont typeface="Wingdings" pitchFamily="2" charset="2"/>
              <a:buChar char="§"/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Fit a line to a data set of observations </a:t>
            </a:r>
          </a:p>
          <a:p>
            <a:pPr marL="342900" indent="-342900">
              <a:buFont typeface="Wingdings" pitchFamily="2" charset="2"/>
              <a:buChar char="§"/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Use this line to predict unobserved values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9D4463B-68D3-6346-A353-3FDE2BAA7999}"/>
              </a:ext>
            </a:extLst>
          </p:cNvPr>
          <p:cNvCxnSpPr>
            <a:cxnSpLocks/>
          </p:cNvCxnSpPr>
          <p:nvPr/>
        </p:nvCxnSpPr>
        <p:spPr>
          <a:xfrm flipH="1">
            <a:off x="601791" y="1070621"/>
            <a:ext cx="8161323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4195D4-2AFD-5546-B93D-E8BB18FECD81}"/>
              </a:ext>
            </a:extLst>
          </p:cNvPr>
          <p:cNvCxnSpPr>
            <a:cxnSpLocks/>
          </p:cNvCxnSpPr>
          <p:nvPr/>
        </p:nvCxnSpPr>
        <p:spPr>
          <a:xfrm flipV="1">
            <a:off x="472083" y="423248"/>
            <a:ext cx="0" cy="555277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ABFCEE7-FEA4-734D-B602-47B04ECB3644}"/>
              </a:ext>
            </a:extLst>
          </p:cNvPr>
          <p:cNvCxnSpPr>
            <a:cxnSpLocks/>
          </p:cNvCxnSpPr>
          <p:nvPr/>
        </p:nvCxnSpPr>
        <p:spPr>
          <a:xfrm flipH="1" flipV="1">
            <a:off x="470171" y="1089589"/>
            <a:ext cx="1912" cy="4298063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8" name="Picture 1" descr="page63image1795104">
            <a:extLst>
              <a:ext uri="{FF2B5EF4-FFF2-40B4-BE49-F238E27FC236}">
                <a16:creationId xmlns:a16="http://schemas.microsoft.com/office/drawing/2014/main" id="{41E94E0A-9135-1D4A-A33A-951ADAB0CD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0058" y="2660994"/>
            <a:ext cx="5363056" cy="32271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075578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08F55-98AD-8544-9EDC-97F2BF248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942D6D"/>
                </a:solidFill>
              </a:rPr>
              <a:t>Minimise the loss</a:t>
            </a:r>
            <a:endParaRPr lang="en-US" dirty="0">
              <a:solidFill>
                <a:srgbClr val="942D6D"/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9D4463B-68D3-6346-A353-3FDE2BAA7999}"/>
              </a:ext>
            </a:extLst>
          </p:cNvPr>
          <p:cNvCxnSpPr>
            <a:cxnSpLocks/>
          </p:cNvCxnSpPr>
          <p:nvPr/>
        </p:nvCxnSpPr>
        <p:spPr>
          <a:xfrm flipH="1">
            <a:off x="601791" y="1070621"/>
            <a:ext cx="8161323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4195D4-2AFD-5546-B93D-E8BB18FECD81}"/>
              </a:ext>
            </a:extLst>
          </p:cNvPr>
          <p:cNvCxnSpPr>
            <a:cxnSpLocks/>
          </p:cNvCxnSpPr>
          <p:nvPr/>
        </p:nvCxnSpPr>
        <p:spPr>
          <a:xfrm flipV="1">
            <a:off x="472083" y="423248"/>
            <a:ext cx="0" cy="555277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ABFCEE7-FEA4-734D-B602-47B04ECB3644}"/>
              </a:ext>
            </a:extLst>
          </p:cNvPr>
          <p:cNvCxnSpPr>
            <a:cxnSpLocks/>
          </p:cNvCxnSpPr>
          <p:nvPr/>
        </p:nvCxnSpPr>
        <p:spPr>
          <a:xfrm flipH="1" flipV="1">
            <a:off x="470171" y="1089589"/>
            <a:ext cx="1912" cy="4298063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1EB74FC7-9CD3-9541-8239-A88F548F4B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2523" y="1357978"/>
            <a:ext cx="6472189" cy="5167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95125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08F55-98AD-8544-9EDC-97F2BF248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942D6D"/>
                </a:solidFill>
              </a:rPr>
              <a:t>Linear regression technique </a:t>
            </a:r>
            <a:r>
              <a:rPr lang="en-GB" dirty="0" err="1">
                <a:solidFill>
                  <a:srgbClr val="942D6D"/>
                </a:solidFill>
              </a:rPr>
              <a:t>i</a:t>
            </a:r>
            <a:endParaRPr lang="en-US" dirty="0">
              <a:solidFill>
                <a:srgbClr val="942D6D"/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9D4463B-68D3-6346-A353-3FDE2BAA7999}"/>
              </a:ext>
            </a:extLst>
          </p:cNvPr>
          <p:cNvCxnSpPr>
            <a:cxnSpLocks/>
          </p:cNvCxnSpPr>
          <p:nvPr/>
        </p:nvCxnSpPr>
        <p:spPr>
          <a:xfrm flipH="1">
            <a:off x="601791" y="1070621"/>
            <a:ext cx="8161323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4195D4-2AFD-5546-B93D-E8BB18FECD81}"/>
              </a:ext>
            </a:extLst>
          </p:cNvPr>
          <p:cNvCxnSpPr>
            <a:cxnSpLocks/>
          </p:cNvCxnSpPr>
          <p:nvPr/>
        </p:nvCxnSpPr>
        <p:spPr>
          <a:xfrm flipV="1">
            <a:off x="472083" y="423248"/>
            <a:ext cx="0" cy="555277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ABFCEE7-FEA4-734D-B602-47B04ECB3644}"/>
              </a:ext>
            </a:extLst>
          </p:cNvPr>
          <p:cNvCxnSpPr>
            <a:cxnSpLocks/>
          </p:cNvCxnSpPr>
          <p:nvPr/>
        </p:nvCxnSpPr>
        <p:spPr>
          <a:xfrm flipH="1" flipV="1">
            <a:off x="470171" y="1089589"/>
            <a:ext cx="1912" cy="4298063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15C23D07-63B0-0541-861F-E4BB448D0E6C}"/>
              </a:ext>
            </a:extLst>
          </p:cNvPr>
          <p:cNvSpPr/>
          <p:nvPr/>
        </p:nvSpPr>
        <p:spPr>
          <a:xfrm>
            <a:off x="470171" y="1299401"/>
            <a:ext cx="7820929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rgbClr val="942F6D"/>
              </a:buClr>
              <a:buFont typeface="Wingdings" pitchFamily="2" charset="2"/>
              <a:buChar char="§"/>
            </a:pPr>
            <a:r>
              <a:rPr lang="en-GB" sz="2800" dirty="0"/>
              <a:t>Usually using “least squares” </a:t>
            </a:r>
          </a:p>
          <a:p>
            <a:pPr marL="342900" indent="-342900">
              <a:buClr>
                <a:srgbClr val="942F6D"/>
              </a:buClr>
              <a:buFont typeface="Wingdings" pitchFamily="2" charset="2"/>
              <a:buChar char="§"/>
            </a:pPr>
            <a:r>
              <a:rPr lang="en-GB" sz="2800" dirty="0"/>
              <a:t>Minimizes the squared-error between each point and the line </a:t>
            </a:r>
          </a:p>
          <a:p>
            <a:pPr marL="342900" indent="-342900">
              <a:buClr>
                <a:srgbClr val="942F6D"/>
              </a:buClr>
              <a:buFont typeface="Wingdings" pitchFamily="2" charset="2"/>
              <a:buChar char="§"/>
            </a:pPr>
            <a:r>
              <a:rPr lang="en-GB" sz="2800" dirty="0"/>
              <a:t>Remember the slope-intercept equation of a line? y=</a:t>
            </a:r>
            <a:r>
              <a:rPr lang="en-GB" sz="2800" dirty="0" err="1"/>
              <a:t>mx+b</a:t>
            </a:r>
            <a:r>
              <a:rPr lang="en-GB" sz="2800" dirty="0"/>
              <a:t> </a:t>
            </a:r>
          </a:p>
          <a:p>
            <a:pPr marL="342900" indent="-342900">
              <a:buClr>
                <a:srgbClr val="942F6D"/>
              </a:buClr>
              <a:buFont typeface="Wingdings" pitchFamily="2" charset="2"/>
              <a:buChar char="§"/>
            </a:pPr>
            <a:r>
              <a:rPr lang="en-GB" sz="2800" dirty="0"/>
              <a:t>The slope is the correlation between the two variables times the standard deviation in Y, all divided by the standard deviation in X. </a:t>
            </a:r>
          </a:p>
        </p:txBody>
      </p:sp>
      <p:pic>
        <p:nvPicPr>
          <p:cNvPr id="8" name="Picture 1" descr="page64image1806080">
            <a:extLst>
              <a:ext uri="{FF2B5EF4-FFF2-40B4-BE49-F238E27FC236}">
                <a16:creationId xmlns:a16="http://schemas.microsoft.com/office/drawing/2014/main" id="{835E6528-F09F-834D-8437-3F67D153B6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93675" y="2356787"/>
            <a:ext cx="3628153" cy="2717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457812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08F55-98AD-8544-9EDC-97F2BF248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942D6D"/>
                </a:solidFill>
              </a:rPr>
              <a:t>Linear regression technique ii</a:t>
            </a:r>
            <a:endParaRPr lang="en-US" dirty="0">
              <a:solidFill>
                <a:srgbClr val="942D6D"/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9D4463B-68D3-6346-A353-3FDE2BAA7999}"/>
              </a:ext>
            </a:extLst>
          </p:cNvPr>
          <p:cNvCxnSpPr>
            <a:cxnSpLocks/>
          </p:cNvCxnSpPr>
          <p:nvPr/>
        </p:nvCxnSpPr>
        <p:spPr>
          <a:xfrm flipH="1">
            <a:off x="601791" y="1070621"/>
            <a:ext cx="8161323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4195D4-2AFD-5546-B93D-E8BB18FECD81}"/>
              </a:ext>
            </a:extLst>
          </p:cNvPr>
          <p:cNvCxnSpPr>
            <a:cxnSpLocks/>
          </p:cNvCxnSpPr>
          <p:nvPr/>
        </p:nvCxnSpPr>
        <p:spPr>
          <a:xfrm flipV="1">
            <a:off x="472083" y="423248"/>
            <a:ext cx="0" cy="555277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ABFCEE7-FEA4-734D-B602-47B04ECB3644}"/>
              </a:ext>
            </a:extLst>
          </p:cNvPr>
          <p:cNvCxnSpPr>
            <a:cxnSpLocks/>
          </p:cNvCxnSpPr>
          <p:nvPr/>
        </p:nvCxnSpPr>
        <p:spPr>
          <a:xfrm flipH="1" flipV="1">
            <a:off x="470171" y="1089589"/>
            <a:ext cx="1912" cy="4298063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15C23D07-63B0-0541-861F-E4BB448D0E6C}"/>
              </a:ext>
            </a:extLst>
          </p:cNvPr>
          <p:cNvSpPr/>
          <p:nvPr/>
        </p:nvSpPr>
        <p:spPr>
          <a:xfrm>
            <a:off x="470171" y="1553908"/>
            <a:ext cx="8564341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rgbClr val="942F6D"/>
              </a:buClr>
              <a:buFont typeface="Wingdings" pitchFamily="2" charset="2"/>
              <a:buChar char="§"/>
            </a:pPr>
            <a:r>
              <a:rPr lang="en-GB" sz="2800" dirty="0"/>
              <a:t>Neat how standard deviation how some real mathematical meaning, eh? </a:t>
            </a:r>
          </a:p>
          <a:p>
            <a:pPr marL="342900" indent="-342900">
              <a:buClr>
                <a:srgbClr val="942F6D"/>
              </a:buClr>
              <a:buFont typeface="Wingdings" pitchFamily="2" charset="2"/>
              <a:buChar char="§"/>
            </a:pPr>
            <a:r>
              <a:rPr lang="en-GB" sz="2800" dirty="0"/>
              <a:t>The intercept is the mean of Y minus the slope </a:t>
            </a:r>
            <a:r>
              <a:rPr lang="en-GB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times the mean of X </a:t>
            </a:r>
          </a:p>
          <a:p>
            <a:pPr marL="342900" indent="-342900">
              <a:buClr>
                <a:srgbClr val="942F6D"/>
              </a:buClr>
              <a:buFont typeface="Wingdings" pitchFamily="2" charset="2"/>
              <a:buChar char="§"/>
            </a:pPr>
            <a:r>
              <a:rPr lang="en-GB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But Python will do all that for you</a:t>
            </a:r>
            <a:r>
              <a:rPr lang="en-GB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</a:rPr>
              <a:t>. </a:t>
            </a:r>
            <a:endParaRPr lang="en-GB" sz="2800" dirty="0">
              <a:solidFill>
                <a:schemeClr val="tx1">
                  <a:lumMod val="75000"/>
                  <a:lumOff val="25000"/>
                </a:schemeClr>
              </a:solidFill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17761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08F55-98AD-8544-9EDC-97F2BF248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942D6D"/>
                </a:solidFill>
              </a:rPr>
              <a:t>How does it work</a:t>
            </a:r>
            <a:endParaRPr lang="en-US" dirty="0">
              <a:solidFill>
                <a:srgbClr val="942D6D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912611-42E7-6849-885B-99D97037DE6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77821" y="1521449"/>
            <a:ext cx="10712388" cy="3815101"/>
          </a:xfrm>
        </p:spPr>
        <p:txBody>
          <a:bodyPr/>
          <a:lstStyle/>
          <a:p>
            <a:pPr marL="342900" indent="-342900">
              <a:buFont typeface="Wingdings" pitchFamily="2" charset="2"/>
              <a:buChar char="§"/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Least squares minimizes the sum of squared errors. </a:t>
            </a:r>
          </a:p>
          <a:p>
            <a:pPr marL="342900" indent="-342900">
              <a:buFont typeface="Wingdings" pitchFamily="2" charset="2"/>
              <a:buChar char="§"/>
            </a:pPr>
            <a:endParaRPr lang="en-GB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342900" indent="-342900">
              <a:buFont typeface="Wingdings" pitchFamily="2" charset="2"/>
              <a:buChar char="§"/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This is the same as maximizing the likelihood of the observed data if you start thinking of the problem in terms of probabilities and probability distribution functions </a:t>
            </a:r>
          </a:p>
          <a:p>
            <a:pPr marL="342900" indent="-342900">
              <a:buFont typeface="Wingdings" pitchFamily="2" charset="2"/>
              <a:buChar char="§"/>
            </a:pPr>
            <a:endParaRPr lang="en-GB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342900" indent="-342900">
              <a:buFont typeface="Wingdings" pitchFamily="2" charset="2"/>
              <a:buChar char="§"/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This is sometimes called “maximum likelihood estimation” </a:t>
            </a:r>
          </a:p>
          <a:p>
            <a:endParaRPr 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9D4463B-68D3-6346-A353-3FDE2BAA7999}"/>
              </a:ext>
            </a:extLst>
          </p:cNvPr>
          <p:cNvCxnSpPr>
            <a:cxnSpLocks/>
          </p:cNvCxnSpPr>
          <p:nvPr/>
        </p:nvCxnSpPr>
        <p:spPr>
          <a:xfrm flipH="1">
            <a:off x="601791" y="1070621"/>
            <a:ext cx="8161323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4195D4-2AFD-5546-B93D-E8BB18FECD81}"/>
              </a:ext>
            </a:extLst>
          </p:cNvPr>
          <p:cNvCxnSpPr>
            <a:cxnSpLocks/>
          </p:cNvCxnSpPr>
          <p:nvPr/>
        </p:nvCxnSpPr>
        <p:spPr>
          <a:xfrm flipV="1">
            <a:off x="472083" y="423248"/>
            <a:ext cx="0" cy="555277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ABFCEE7-FEA4-734D-B602-47B04ECB3644}"/>
              </a:ext>
            </a:extLst>
          </p:cNvPr>
          <p:cNvCxnSpPr>
            <a:cxnSpLocks/>
          </p:cNvCxnSpPr>
          <p:nvPr/>
        </p:nvCxnSpPr>
        <p:spPr>
          <a:xfrm flipH="1" flipV="1">
            <a:off x="470171" y="1089589"/>
            <a:ext cx="1912" cy="4298063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763436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08F55-98AD-8544-9EDC-97F2BF248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942D6D"/>
                </a:solidFill>
              </a:rPr>
              <a:t>optimiser</a:t>
            </a:r>
            <a:endParaRPr lang="en-US" dirty="0">
              <a:solidFill>
                <a:srgbClr val="942D6D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912611-42E7-6849-885B-99D97037DE6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70171" y="1441443"/>
            <a:ext cx="7763591" cy="3815101"/>
          </a:xfrm>
        </p:spPr>
        <p:txBody>
          <a:bodyPr/>
          <a:lstStyle/>
          <a:p>
            <a:pPr marL="342900" indent="-342900">
              <a:buFont typeface="Wingdings" pitchFamily="2" charset="2"/>
              <a:buChar char="§"/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Gradient Descent is an alternate method to least squares. </a:t>
            </a:r>
          </a:p>
          <a:p>
            <a:pPr marL="342900" indent="-342900">
              <a:buFont typeface="Wingdings" pitchFamily="2" charset="2"/>
              <a:buChar char="§"/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Basically, iterates to find the line that best follows the contours defined by the data. </a:t>
            </a:r>
          </a:p>
          <a:p>
            <a:pPr marL="342900" indent="-342900">
              <a:buFont typeface="Wingdings" pitchFamily="2" charset="2"/>
              <a:buChar char="§"/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Can make sense when dealing with 3D data </a:t>
            </a:r>
          </a:p>
          <a:p>
            <a:pPr marL="342900" indent="-342900">
              <a:buFont typeface="Wingdings" pitchFamily="2" charset="2"/>
              <a:buChar char="§"/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Easy to try in Python and just compare the results to least squares </a:t>
            </a:r>
          </a:p>
          <a:p>
            <a:pPr marL="342900" indent="-342900">
              <a:buFont typeface="Wingdings" pitchFamily="2" charset="2"/>
              <a:buChar char="§"/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But usually, least squares is a perfectly good choice. </a:t>
            </a:r>
          </a:p>
          <a:p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9D4463B-68D3-6346-A353-3FDE2BAA7999}"/>
              </a:ext>
            </a:extLst>
          </p:cNvPr>
          <p:cNvCxnSpPr>
            <a:cxnSpLocks/>
          </p:cNvCxnSpPr>
          <p:nvPr/>
        </p:nvCxnSpPr>
        <p:spPr>
          <a:xfrm flipH="1">
            <a:off x="601791" y="1070621"/>
            <a:ext cx="8161323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4195D4-2AFD-5546-B93D-E8BB18FECD81}"/>
              </a:ext>
            </a:extLst>
          </p:cNvPr>
          <p:cNvCxnSpPr>
            <a:cxnSpLocks/>
          </p:cNvCxnSpPr>
          <p:nvPr/>
        </p:nvCxnSpPr>
        <p:spPr>
          <a:xfrm flipV="1">
            <a:off x="472083" y="423248"/>
            <a:ext cx="0" cy="555277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ABFCEE7-FEA4-734D-B602-47B04ECB3644}"/>
              </a:ext>
            </a:extLst>
          </p:cNvPr>
          <p:cNvCxnSpPr>
            <a:cxnSpLocks/>
          </p:cNvCxnSpPr>
          <p:nvPr/>
        </p:nvCxnSpPr>
        <p:spPr>
          <a:xfrm flipH="1" flipV="1">
            <a:off x="470171" y="1089589"/>
            <a:ext cx="1912" cy="4298063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8" name="Picture 1" descr="page66image1793312">
            <a:extLst>
              <a:ext uri="{FF2B5EF4-FFF2-40B4-BE49-F238E27FC236}">
                <a16:creationId xmlns:a16="http://schemas.microsoft.com/office/drawing/2014/main" id="{1630DBA8-F172-CA40-8E1E-A439B03FD4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8322" y="1623701"/>
            <a:ext cx="4126284" cy="33916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591912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08F55-98AD-8544-9EDC-97F2BF248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1791" y="227812"/>
            <a:ext cx="9097686" cy="1068223"/>
          </a:xfrm>
        </p:spPr>
        <p:txBody>
          <a:bodyPr/>
          <a:lstStyle/>
          <a:p>
            <a:r>
              <a:rPr lang="en-GB" dirty="0">
                <a:solidFill>
                  <a:srgbClr val="942D6D"/>
                </a:solidFill>
              </a:rPr>
              <a:t>Measurement error with r-squared</a:t>
            </a:r>
            <a:endParaRPr lang="en-US" dirty="0">
              <a:solidFill>
                <a:srgbClr val="942D6D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912611-42E7-6849-885B-99D97037DE6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77821" y="1521449"/>
            <a:ext cx="10712388" cy="3815101"/>
          </a:xfrm>
        </p:spPr>
        <p:txBody>
          <a:bodyPr/>
          <a:lstStyle/>
          <a:p>
            <a:pPr marL="342900" indent="-342900">
              <a:buFont typeface="Wingdings" pitchFamily="2" charset="2"/>
              <a:buChar char="§"/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How do we measure how well our line fits our data? </a:t>
            </a:r>
          </a:p>
          <a:p>
            <a:pPr marL="342900" indent="-342900">
              <a:buFont typeface="Wingdings" pitchFamily="2" charset="2"/>
              <a:buChar char="§"/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R-squared (aka coefficient of determination) measures: </a:t>
            </a:r>
          </a:p>
          <a:p>
            <a:pPr marL="342900" indent="-342900">
              <a:buFont typeface="Wingdings" pitchFamily="2" charset="2"/>
              <a:buChar char="§"/>
            </a:pPr>
            <a:endParaRPr lang="en-GB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342900" indent="-342900">
              <a:buClr>
                <a:schemeClr val="accent1"/>
              </a:buClr>
              <a:buFont typeface="Wingdings" pitchFamily="2" charset="2"/>
              <a:buChar char="§"/>
            </a:pPr>
            <a:endParaRPr lang="en-GB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342900" indent="-342900">
              <a:buClr>
                <a:schemeClr val="accent1"/>
              </a:buClr>
              <a:buFont typeface="Wingdings" pitchFamily="2" charset="2"/>
              <a:buChar char="§"/>
            </a:pPr>
            <a:endParaRPr lang="en-GB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342900" indent="-342900">
              <a:buClr>
                <a:schemeClr val="accent1"/>
              </a:buClr>
              <a:buFont typeface="Wingdings" pitchFamily="2" charset="2"/>
              <a:buChar char="§"/>
            </a:pPr>
            <a:endParaRPr lang="en-GB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GB" sz="3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The fraction of the total variation in Y that is captured by the model </a:t>
            </a:r>
          </a:p>
          <a:p>
            <a:endParaRPr 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9D4463B-68D3-6346-A353-3FDE2BAA7999}"/>
              </a:ext>
            </a:extLst>
          </p:cNvPr>
          <p:cNvCxnSpPr>
            <a:cxnSpLocks/>
          </p:cNvCxnSpPr>
          <p:nvPr/>
        </p:nvCxnSpPr>
        <p:spPr>
          <a:xfrm flipH="1">
            <a:off x="601791" y="1070621"/>
            <a:ext cx="8161323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4195D4-2AFD-5546-B93D-E8BB18FECD81}"/>
              </a:ext>
            </a:extLst>
          </p:cNvPr>
          <p:cNvCxnSpPr>
            <a:cxnSpLocks/>
          </p:cNvCxnSpPr>
          <p:nvPr/>
        </p:nvCxnSpPr>
        <p:spPr>
          <a:xfrm flipV="1">
            <a:off x="472083" y="423248"/>
            <a:ext cx="0" cy="555277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ABFCEE7-FEA4-734D-B602-47B04ECB3644}"/>
              </a:ext>
            </a:extLst>
          </p:cNvPr>
          <p:cNvCxnSpPr>
            <a:cxnSpLocks/>
          </p:cNvCxnSpPr>
          <p:nvPr/>
        </p:nvCxnSpPr>
        <p:spPr>
          <a:xfrm flipH="1" flipV="1">
            <a:off x="470171" y="1089589"/>
            <a:ext cx="1912" cy="4298063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07A80526-515E-8146-8626-B0C10771AF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3795" y="2489199"/>
            <a:ext cx="7670800" cy="187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15002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4AF6711-A15A-A94C-944A-54554E6E93B2}"/>
              </a:ext>
            </a:extLst>
          </p:cNvPr>
          <p:cNvSpPr/>
          <p:nvPr/>
        </p:nvSpPr>
        <p:spPr>
          <a:xfrm>
            <a:off x="3412025" y="2628107"/>
            <a:ext cx="5898218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4000">
                <a:latin typeface="Calibri" panose="020F0502020204030204" pitchFamily="34" charset="0"/>
              </a:rPr>
              <a:t>Let’s play with an example. </a:t>
            </a:r>
            <a:endParaRPr lang="en-GB" sz="4000">
              <a:effectLst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26E3451C-7C12-6A4C-B2DE-71BCB41490BD}"/>
              </a:ext>
            </a:extLst>
          </p:cNvPr>
          <p:cNvCxnSpPr>
            <a:cxnSpLocks/>
          </p:cNvCxnSpPr>
          <p:nvPr/>
        </p:nvCxnSpPr>
        <p:spPr>
          <a:xfrm flipH="1">
            <a:off x="451743" y="1527821"/>
            <a:ext cx="8161323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C1F00A5-BF4F-164A-A0FA-CA32DC1ADE11}"/>
              </a:ext>
            </a:extLst>
          </p:cNvPr>
          <p:cNvCxnSpPr>
            <a:cxnSpLocks/>
          </p:cNvCxnSpPr>
          <p:nvPr/>
        </p:nvCxnSpPr>
        <p:spPr>
          <a:xfrm flipV="1">
            <a:off x="451743" y="837588"/>
            <a:ext cx="0" cy="555277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0854936-2C28-7F43-B3CA-B23454B0A91F}"/>
              </a:ext>
            </a:extLst>
          </p:cNvPr>
          <p:cNvCxnSpPr>
            <a:cxnSpLocks/>
          </p:cNvCxnSpPr>
          <p:nvPr/>
        </p:nvCxnSpPr>
        <p:spPr>
          <a:xfrm flipV="1">
            <a:off x="449831" y="1670657"/>
            <a:ext cx="0" cy="4572921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48880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08F55-98AD-8544-9EDC-97F2BF248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942D6D"/>
                </a:solidFill>
              </a:rPr>
              <a:t>Least square regression-example</a:t>
            </a:r>
            <a:endParaRPr lang="en-US" dirty="0">
              <a:solidFill>
                <a:srgbClr val="942D6D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912611-42E7-6849-885B-99D97037DE6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77821" y="1410205"/>
            <a:ext cx="10712388" cy="1457278"/>
          </a:xfrm>
        </p:spPr>
        <p:txBody>
          <a:bodyPr/>
          <a:lstStyle/>
          <a:p>
            <a:r>
              <a:rPr lang="en-GB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Line of Best Fit </a:t>
            </a:r>
            <a:endParaRPr lang="en-GB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Imagine you have some points, and want to have a </a:t>
            </a:r>
            <a:r>
              <a:rPr lang="en-GB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line 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that best fits them like this: </a:t>
            </a:r>
          </a:p>
          <a:p>
            <a:endParaRPr 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9D4463B-68D3-6346-A353-3FDE2BAA7999}"/>
              </a:ext>
            </a:extLst>
          </p:cNvPr>
          <p:cNvCxnSpPr>
            <a:cxnSpLocks/>
          </p:cNvCxnSpPr>
          <p:nvPr/>
        </p:nvCxnSpPr>
        <p:spPr>
          <a:xfrm flipH="1">
            <a:off x="601791" y="1070621"/>
            <a:ext cx="8161323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4195D4-2AFD-5546-B93D-E8BB18FECD81}"/>
              </a:ext>
            </a:extLst>
          </p:cNvPr>
          <p:cNvCxnSpPr>
            <a:cxnSpLocks/>
          </p:cNvCxnSpPr>
          <p:nvPr/>
        </p:nvCxnSpPr>
        <p:spPr>
          <a:xfrm flipV="1">
            <a:off x="472083" y="423248"/>
            <a:ext cx="0" cy="555277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ABFCEE7-FEA4-734D-B602-47B04ECB3644}"/>
              </a:ext>
            </a:extLst>
          </p:cNvPr>
          <p:cNvCxnSpPr>
            <a:cxnSpLocks/>
          </p:cNvCxnSpPr>
          <p:nvPr/>
        </p:nvCxnSpPr>
        <p:spPr>
          <a:xfrm flipH="1" flipV="1">
            <a:off x="470171" y="1089589"/>
            <a:ext cx="1912" cy="4298063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6B1C1ECD-5BD5-B14D-AC01-1DFCDE7550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2427" y="2681003"/>
            <a:ext cx="4920687" cy="2766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98003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08F55-98AD-8544-9EDC-97F2BF248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942D6D"/>
                </a:solidFill>
              </a:rPr>
              <a:t>The line</a:t>
            </a:r>
            <a:endParaRPr lang="en-US" dirty="0">
              <a:solidFill>
                <a:srgbClr val="942D6D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912611-42E7-6849-885B-99D97037DE6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77821" y="1521449"/>
            <a:ext cx="10712388" cy="3815101"/>
          </a:xfrm>
        </p:spPr>
        <p:txBody>
          <a:bodyPr/>
          <a:lstStyle/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Our aim is to calculate the values </a:t>
            </a:r>
            <a:r>
              <a:rPr lang="en-GB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 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(slope) and </a:t>
            </a:r>
            <a:r>
              <a:rPr lang="en-GB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 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(y-intercept) in the equation of a line : y = mx + b </a:t>
            </a:r>
          </a:p>
          <a:p>
            <a:pPr marL="0" indent="0">
              <a:buNone/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Where: </a:t>
            </a:r>
          </a:p>
          <a:p>
            <a:pPr marL="0" indent="0">
              <a:buNone/>
            </a:pPr>
            <a:r>
              <a:rPr lang="en-GB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y 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= how far up</a:t>
            </a:r>
            <a:b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GB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x 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= how far along</a:t>
            </a:r>
            <a:b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GB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 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= Slope or Gradient (how steep the line is)</a:t>
            </a:r>
            <a:b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GB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 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= the Y Intercept (where the line crosses the Y axis) </a:t>
            </a:r>
          </a:p>
          <a:p>
            <a:endParaRPr 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9D4463B-68D3-6346-A353-3FDE2BAA7999}"/>
              </a:ext>
            </a:extLst>
          </p:cNvPr>
          <p:cNvCxnSpPr>
            <a:cxnSpLocks/>
          </p:cNvCxnSpPr>
          <p:nvPr/>
        </p:nvCxnSpPr>
        <p:spPr>
          <a:xfrm flipH="1">
            <a:off x="601791" y="1070621"/>
            <a:ext cx="8161323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4195D4-2AFD-5546-B93D-E8BB18FECD81}"/>
              </a:ext>
            </a:extLst>
          </p:cNvPr>
          <p:cNvCxnSpPr>
            <a:cxnSpLocks/>
          </p:cNvCxnSpPr>
          <p:nvPr/>
        </p:nvCxnSpPr>
        <p:spPr>
          <a:xfrm flipV="1">
            <a:off x="472083" y="423248"/>
            <a:ext cx="0" cy="555277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ABFCEE7-FEA4-734D-B602-47B04ECB3644}"/>
              </a:ext>
            </a:extLst>
          </p:cNvPr>
          <p:cNvCxnSpPr>
            <a:cxnSpLocks/>
          </p:cNvCxnSpPr>
          <p:nvPr/>
        </p:nvCxnSpPr>
        <p:spPr>
          <a:xfrm flipH="1" flipV="1">
            <a:off x="470171" y="1089589"/>
            <a:ext cx="1912" cy="4298063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15783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08F55-98AD-8544-9EDC-97F2BF248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942D6D"/>
                </a:solidFill>
              </a:rPr>
              <a:t>steps</a:t>
            </a:r>
            <a:endParaRPr lang="en-US" dirty="0">
              <a:solidFill>
                <a:srgbClr val="942D6D"/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9D4463B-68D3-6346-A353-3FDE2BAA7999}"/>
              </a:ext>
            </a:extLst>
          </p:cNvPr>
          <p:cNvCxnSpPr>
            <a:cxnSpLocks/>
          </p:cNvCxnSpPr>
          <p:nvPr/>
        </p:nvCxnSpPr>
        <p:spPr>
          <a:xfrm flipH="1">
            <a:off x="601791" y="1070621"/>
            <a:ext cx="8161323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4195D4-2AFD-5546-B93D-E8BB18FECD81}"/>
              </a:ext>
            </a:extLst>
          </p:cNvPr>
          <p:cNvCxnSpPr>
            <a:cxnSpLocks/>
          </p:cNvCxnSpPr>
          <p:nvPr/>
        </p:nvCxnSpPr>
        <p:spPr>
          <a:xfrm flipV="1">
            <a:off x="472083" y="423248"/>
            <a:ext cx="0" cy="555277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ABFCEE7-FEA4-734D-B602-47B04ECB3644}"/>
              </a:ext>
            </a:extLst>
          </p:cNvPr>
          <p:cNvCxnSpPr>
            <a:cxnSpLocks/>
          </p:cNvCxnSpPr>
          <p:nvPr/>
        </p:nvCxnSpPr>
        <p:spPr>
          <a:xfrm flipH="1" flipV="1">
            <a:off x="470171" y="1089589"/>
            <a:ext cx="1912" cy="4298063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1E269650-E250-044C-A2D2-AD9FC2F15B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4712" y="1269978"/>
            <a:ext cx="8354765" cy="4517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4405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08F55-98AD-8544-9EDC-97F2BF248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942D6D"/>
                </a:solidFill>
              </a:rPr>
              <a:t>activity</a:t>
            </a:r>
            <a:endParaRPr lang="en-US" dirty="0">
              <a:solidFill>
                <a:srgbClr val="942D6D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912611-42E7-6849-885B-99D97037DE6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77821" y="1521450"/>
            <a:ext cx="10712388" cy="966256"/>
          </a:xfrm>
        </p:spPr>
        <p:txBody>
          <a:bodyPr/>
          <a:lstStyle/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Example: Sam found how many </a:t>
            </a:r>
            <a:r>
              <a:rPr lang="en-GB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hours of sunshine 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vs how many </a:t>
            </a:r>
            <a:r>
              <a:rPr lang="en-GB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ice creams 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were sold at the shop from Monday to Friday </a:t>
            </a:r>
          </a:p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Calculate Linear regression line using above equation</a:t>
            </a:r>
          </a:p>
          <a:p>
            <a:endParaRPr 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9D4463B-68D3-6346-A353-3FDE2BAA7999}"/>
              </a:ext>
            </a:extLst>
          </p:cNvPr>
          <p:cNvCxnSpPr>
            <a:cxnSpLocks/>
          </p:cNvCxnSpPr>
          <p:nvPr/>
        </p:nvCxnSpPr>
        <p:spPr>
          <a:xfrm flipH="1">
            <a:off x="601791" y="1070621"/>
            <a:ext cx="8161323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4195D4-2AFD-5546-B93D-E8BB18FECD81}"/>
              </a:ext>
            </a:extLst>
          </p:cNvPr>
          <p:cNvCxnSpPr>
            <a:cxnSpLocks/>
          </p:cNvCxnSpPr>
          <p:nvPr/>
        </p:nvCxnSpPr>
        <p:spPr>
          <a:xfrm flipV="1">
            <a:off x="472083" y="423248"/>
            <a:ext cx="0" cy="555277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ABFCEE7-FEA4-734D-B602-47B04ECB3644}"/>
              </a:ext>
            </a:extLst>
          </p:cNvPr>
          <p:cNvCxnSpPr>
            <a:cxnSpLocks/>
          </p:cNvCxnSpPr>
          <p:nvPr/>
        </p:nvCxnSpPr>
        <p:spPr>
          <a:xfrm flipH="1" flipV="1">
            <a:off x="470171" y="1089589"/>
            <a:ext cx="1912" cy="4298063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29E899B8-2A43-0247-BB13-32068DEBDE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3426" y="2856007"/>
            <a:ext cx="3852527" cy="3028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87914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08F55-98AD-8544-9EDC-97F2BF248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942D6D"/>
                </a:solidFill>
              </a:rPr>
              <a:t>REFERENCE</a:t>
            </a:r>
            <a:endParaRPr lang="en-US" dirty="0">
              <a:solidFill>
                <a:srgbClr val="942D6D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912611-42E7-6849-885B-99D97037DE6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77821" y="1521449"/>
            <a:ext cx="10712388" cy="3103303"/>
          </a:xfrm>
        </p:spPr>
        <p:txBody>
          <a:bodyPr/>
          <a:lstStyle/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  <a:hlinkClick r:id="rId3"/>
              </a:rPr>
              <a:t>https://towardsdatascience.com/laymans-introduction-to-linear-regression-8b334a3dab09#:~:text=Linear%20regression%20attempts%20to%20model,variable%20(e.g.%20your%20expenses)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</a:p>
          <a:p>
            <a:r>
              <a:rPr lang="en-GB" u="none" strike="noStrike" dirty="0">
                <a:effectLst/>
                <a:latin typeface="inherit"/>
                <a:hlinkClick r:id="rId4"/>
              </a:rPr>
              <a:t>https://www.mygreatlearning.com/blog/linear-regression-in-machine-learning/</a:t>
            </a:r>
          </a:p>
          <a:p>
            <a:r>
              <a:rPr lang="en-GB" u="none" strike="noStrike" dirty="0">
                <a:effectLst/>
                <a:latin typeface="inherit"/>
                <a:hlinkClick r:id="rId4"/>
              </a:rPr>
              <a:t>https://www.youtube.com/watch?v=JvS2triCgOY</a:t>
            </a:r>
          </a:p>
          <a:p>
            <a:endParaRPr 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9D4463B-68D3-6346-A353-3FDE2BAA7999}"/>
              </a:ext>
            </a:extLst>
          </p:cNvPr>
          <p:cNvCxnSpPr>
            <a:cxnSpLocks/>
          </p:cNvCxnSpPr>
          <p:nvPr/>
        </p:nvCxnSpPr>
        <p:spPr>
          <a:xfrm flipH="1">
            <a:off x="601791" y="1070621"/>
            <a:ext cx="8161323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4195D4-2AFD-5546-B93D-E8BB18FECD81}"/>
              </a:ext>
            </a:extLst>
          </p:cNvPr>
          <p:cNvCxnSpPr>
            <a:cxnSpLocks/>
          </p:cNvCxnSpPr>
          <p:nvPr/>
        </p:nvCxnSpPr>
        <p:spPr>
          <a:xfrm flipV="1">
            <a:off x="472083" y="423248"/>
            <a:ext cx="0" cy="555277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ABFCEE7-FEA4-734D-B602-47B04ECB3644}"/>
              </a:ext>
            </a:extLst>
          </p:cNvPr>
          <p:cNvCxnSpPr>
            <a:cxnSpLocks/>
          </p:cNvCxnSpPr>
          <p:nvPr/>
        </p:nvCxnSpPr>
        <p:spPr>
          <a:xfrm flipH="1" flipV="1">
            <a:off x="470171" y="1089589"/>
            <a:ext cx="1912" cy="4298063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13639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62778" y="1121436"/>
            <a:ext cx="414067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2400" b="1" spc="-50">
                <a:solidFill>
                  <a:schemeClr val="bg1"/>
                </a:solidFill>
              </a:rPr>
              <a:t>+44 (0)207 016 8000</a:t>
            </a:r>
          </a:p>
          <a:p>
            <a:pPr algn="r"/>
            <a:r>
              <a:rPr lang="en-GB" sz="2400" b="1" spc="-50">
                <a:solidFill>
                  <a:schemeClr val="bg1"/>
                </a:solidFill>
              </a:rPr>
              <a:t>info@rcl.ac.uk</a:t>
            </a:r>
          </a:p>
        </p:txBody>
      </p:sp>
    </p:spTree>
    <p:extLst>
      <p:ext uri="{BB962C8B-B14F-4D97-AF65-F5344CB8AC3E}">
        <p14:creationId xmlns:p14="http://schemas.microsoft.com/office/powerpoint/2010/main" val="1381126769"/>
      </p:ext>
    </p:extLst>
  </p:cSld>
  <p:clrMapOvr>
    <a:masterClrMapping/>
  </p:clrMapOvr>
</p:sld>
</file>

<file path=ppt/theme/theme1.xml><?xml version="1.0" encoding="utf-8"?>
<a:theme xmlns:a="http://schemas.openxmlformats.org/drawingml/2006/main" name="Light blue-Cover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6E142963-DA75-4759-9E51-7EC23E61E5F8}" vid="{626083B1-0830-460F-AA05-F809A184AD55}"/>
    </a:ext>
  </a:extLst>
</a:theme>
</file>

<file path=ppt/theme/theme2.xml><?xml version="1.0" encoding="utf-8"?>
<a:theme xmlns:a="http://schemas.openxmlformats.org/drawingml/2006/main" name="Pearson slid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6E142963-DA75-4759-9E51-7EC23E61E5F8}" vid="{72DF3C6F-D641-4496-AE49-B1B2B2E63DA0}"/>
    </a:ext>
  </a:extLst>
</a:theme>
</file>

<file path=ppt/theme/theme3.xml><?xml version="1.0" encoding="utf-8"?>
<a:theme xmlns:a="http://schemas.openxmlformats.org/drawingml/2006/main" name="Light blue-inside slid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6E142963-DA75-4759-9E51-7EC23E61E5F8}" vid="{74F60302-919A-40C2-AA8C-08C631E4BB03}"/>
    </a:ext>
  </a:extLst>
</a:theme>
</file>

<file path=ppt/theme/theme4.xml><?xml version="1.0" encoding="utf-8"?>
<a:theme xmlns:a="http://schemas.openxmlformats.org/drawingml/2006/main" name="With pictur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6E142963-DA75-4759-9E51-7EC23E61E5F8}" vid="{1A762B6E-1460-46E8-A288-DB6DA20E3E72}"/>
    </a:ext>
  </a:extLst>
</a:theme>
</file>

<file path=ppt/theme/theme5.xml><?xml version="1.0" encoding="utf-8"?>
<a:theme xmlns:a="http://schemas.openxmlformats.org/drawingml/2006/main" name="Back cover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6E142963-DA75-4759-9E51-7EC23E61E5F8}" vid="{848B4BB2-990F-4FF4-835D-66EEAC45A093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386AD14CB602547BFCB7D842FEF14EE" ma:contentTypeVersion="12" ma:contentTypeDescription="Create a new document." ma:contentTypeScope="" ma:versionID="7eb5c53f2e1d37f62fa8f0bcfdfd5d6f">
  <xsd:schema xmlns:xsd="http://www.w3.org/2001/XMLSchema" xmlns:xs="http://www.w3.org/2001/XMLSchema" xmlns:p="http://schemas.microsoft.com/office/2006/metadata/properties" xmlns:ns2="6b1a28a2-5857-4321-9bd8-c602fba5c8bc" xmlns:ns3="5086911d-6e48-4cf3-b087-1eb55996afa6" targetNamespace="http://schemas.microsoft.com/office/2006/metadata/properties" ma:root="true" ma:fieldsID="8facba7d21f799de60139a8943772e56" ns2:_="" ns3:_="">
    <xsd:import namespace="6b1a28a2-5857-4321-9bd8-c602fba5c8bc"/>
    <xsd:import namespace="5086911d-6e48-4cf3-b087-1eb55996afa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b1a28a2-5857-4321-9bd8-c602fba5c8b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86911d-6e48-4cf3-b087-1eb55996afa6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8E5CF88-6910-4195-9602-C8257AF22E88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DB6C1C04-28AF-4B6D-B137-6B1F3470F14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b1a28a2-5857-4321-9bd8-c602fba5c8bc"/>
    <ds:schemaRef ds:uri="5086911d-6e48-4cf3-b087-1eb55996afa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1880A6E-B286-43C6-BEC2-2D84CC34882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Light blue-Cover</Template>
  <TotalTime>336</TotalTime>
  <Words>808</Words>
  <Application>Microsoft Office PowerPoint</Application>
  <PresentationFormat>Widescreen</PresentationFormat>
  <Paragraphs>103</Paragraphs>
  <Slides>22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22</vt:i4>
      </vt:variant>
    </vt:vector>
  </HeadingPairs>
  <TitlesOfParts>
    <vt:vector size="34" baseType="lpstr">
      <vt:lpstr>Arial</vt:lpstr>
      <vt:lpstr>Calibri</vt:lpstr>
      <vt:lpstr>Georgia</vt:lpstr>
      <vt:lpstr>inherit</vt:lpstr>
      <vt:lpstr>Poppins</vt:lpstr>
      <vt:lpstr>sohne</vt:lpstr>
      <vt:lpstr>Wingdings</vt:lpstr>
      <vt:lpstr>Light blue-Cover</vt:lpstr>
      <vt:lpstr>Pearson slide</vt:lpstr>
      <vt:lpstr>Light blue-inside slide</vt:lpstr>
      <vt:lpstr>With picture</vt:lpstr>
      <vt:lpstr>Back cover</vt:lpstr>
      <vt:lpstr>Machine learning</vt:lpstr>
      <vt:lpstr>Machine learning </vt:lpstr>
      <vt:lpstr>Machine learning</vt:lpstr>
      <vt:lpstr>PowerPoint Presentation</vt:lpstr>
      <vt:lpstr>Learning objectives</vt:lpstr>
      <vt:lpstr>REGRESSION</vt:lpstr>
      <vt:lpstr>REGRESSION</vt:lpstr>
      <vt:lpstr>REGRESSION</vt:lpstr>
      <vt:lpstr>REGRESSION</vt:lpstr>
      <vt:lpstr>Minimise the loss</vt:lpstr>
      <vt:lpstr>Linear regression technique i</vt:lpstr>
      <vt:lpstr>Linear regression technique ii</vt:lpstr>
      <vt:lpstr>How does it work</vt:lpstr>
      <vt:lpstr>optimiser</vt:lpstr>
      <vt:lpstr>Measurement error with r-squared</vt:lpstr>
      <vt:lpstr>PowerPoint Presentation</vt:lpstr>
      <vt:lpstr>Least square regression-example</vt:lpstr>
      <vt:lpstr>The line</vt:lpstr>
      <vt:lpstr>steps</vt:lpstr>
      <vt:lpstr>activity</vt:lpstr>
      <vt:lpstr>REFERENCE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Bachelor’s degree</dc:title>
  <dc:creator>Nalinda Somasiri</dc:creator>
  <cp:lastModifiedBy>Maksud Mazumder</cp:lastModifiedBy>
  <cp:revision>64</cp:revision>
  <dcterms:created xsi:type="dcterms:W3CDTF">2021-07-24T10:34:01Z</dcterms:created>
  <dcterms:modified xsi:type="dcterms:W3CDTF">2024-10-20T17:21:21Z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0x010100E386AD14CB602547BFCB7D842FEF14EE</vt:lpwstr>
  </property>
</Properties>
</file>