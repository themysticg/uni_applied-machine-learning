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f" ContentType="image/tiff"/>
  <Default Extension="jpg" ContentType="image/jpe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5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1.xml" ContentType="application/vnd.openxmlformats-officedocument.theme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  <p:sldMasterId id="2147483732" r:id="rId2"/>
    <p:sldMasterId id="2147483658" r:id="rId3"/>
    <p:sldMasterId id="2147483710" r:id="rId4"/>
    <p:sldMasterId id="2147483706" r:id="rId5"/>
  </p:sldMasterIdLst>
  <p:notesMasterIdLst>
    <p:notesMasterId r:id="rId18"/>
  </p:notesMasterIdLst>
  <p:sldIdLst>
    <p:sldId id="261" r:id="rId6"/>
    <p:sldId id="257" r:id="rId7"/>
    <p:sldId id="265" r:id="rId8"/>
    <p:sldId id="306" r:id="rId9"/>
    <p:sldId id="311" r:id="rId10"/>
    <p:sldId id="318" r:id="rId11"/>
    <p:sldId id="313" r:id="rId12"/>
    <p:sldId id="314" r:id="rId13"/>
    <p:sldId id="315" r:id="rId14"/>
    <p:sldId id="316" r:id="rId15"/>
    <p:sldId id="317" r:id="rId16"/>
    <p:sldId id="26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harindu" initials="T" lastIdx="2" clrIdx="0">
    <p:extLst>
      <p:ext uri="{19B8F6BF-5375-455C-9EA6-DF929625EA0E}">
        <p15:presenceInfo xmlns:p15="http://schemas.microsoft.com/office/powerpoint/2012/main" userId="Tharindu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56768"/>
    <a:srgbClr val="0D3E63"/>
    <a:srgbClr val="942D6D"/>
    <a:srgbClr val="232C58"/>
    <a:srgbClr val="942F6D"/>
    <a:srgbClr val="6FC8F0"/>
    <a:srgbClr val="B0E1F7"/>
    <a:srgbClr val="71C5E8"/>
    <a:srgbClr val="093E62"/>
    <a:srgbClr val="1665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940" autoAdjust="0"/>
    <p:restoredTop sz="73061" autoAdjust="0"/>
  </p:normalViewPr>
  <p:slideViewPr>
    <p:cSldViewPr snapToGrid="0">
      <p:cViewPr varScale="1">
        <p:scale>
          <a:sx n="92" d="100"/>
          <a:sy n="92" d="100"/>
        </p:scale>
        <p:origin x="1520" y="1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notesMaster" Target="notesMasters/notesMaster1.xml"/><Relationship Id="rId26" Type="http://schemas.openxmlformats.org/officeDocument/2006/relationships/customXml" Target="../customXml/item3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customXml" Target="../customXml/item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customXml" Target="../customXml/item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218DF-9495-47FB-843C-0D1FCB3E09C9}" type="datetimeFigureOut">
              <a:rPr lang="en-US" smtClean="0"/>
              <a:t>12/10/21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ACCC11-19A3-4E27-AB70-5FB3E1779C6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1254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lue-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838200" y="3136307"/>
            <a:ext cx="10515600" cy="1186075"/>
          </a:xfrm>
          <a:prstGeom prst="rect">
            <a:avLst/>
          </a:prstGeom>
        </p:spPr>
        <p:txBody>
          <a:bodyPr anchor="b"/>
          <a:lstStyle>
            <a:lvl1pPr algn="ctr">
              <a:lnSpc>
                <a:spcPts val="4500"/>
              </a:lnSpc>
              <a:defRPr sz="5200" b="1" cap="all" spc="-5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title  </a:t>
            </a:r>
            <a:endParaRPr lang="en-GB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838200" y="4495085"/>
            <a:ext cx="10515600" cy="129041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spc="-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23088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arson slide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838200" y="3136307"/>
            <a:ext cx="10515600" cy="1186075"/>
          </a:xfrm>
          <a:prstGeom prst="rect">
            <a:avLst/>
          </a:prstGeom>
        </p:spPr>
        <p:txBody>
          <a:bodyPr anchor="b"/>
          <a:lstStyle>
            <a:lvl1pPr algn="ctr">
              <a:lnSpc>
                <a:spcPts val="4500"/>
              </a:lnSpc>
              <a:defRPr sz="5200" b="1" cap="all" spc="-50" baseline="0">
                <a:solidFill>
                  <a:srgbClr val="942F6D"/>
                </a:solidFill>
                <a:latin typeface="+mn-lt"/>
              </a:defRPr>
            </a:lvl1pPr>
          </a:lstStyle>
          <a:p>
            <a:r>
              <a:rPr lang="en-US" dirty="0"/>
              <a:t>Click to edit title </a:t>
            </a:r>
            <a:endParaRPr lang="en-GB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838200" y="4495084"/>
            <a:ext cx="10515600" cy="182025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spc="-50" baseline="0">
                <a:solidFill>
                  <a:srgbClr val="656768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30456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lue-slid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601791" y="555478"/>
            <a:ext cx="9097686" cy="106822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>
                <a:solidFill>
                  <a:srgbClr val="942F6D"/>
                </a:solidFill>
              </a:defRPr>
            </a:lvl1pPr>
          </a:lstStyle>
          <a:p>
            <a:r>
              <a:rPr lang="en-US" dirty="0"/>
              <a:t>Click to edit title </a:t>
            </a:r>
            <a:endParaRPr lang="en-GB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1791" y="1811976"/>
            <a:ext cx="10994852" cy="4033348"/>
          </a:xfrm>
          <a:prstGeom prst="rect">
            <a:avLst/>
          </a:prstGeom>
        </p:spPr>
        <p:txBody>
          <a:bodyPr/>
          <a:lstStyle>
            <a:lvl1pPr>
              <a:buClr>
                <a:srgbClr val="942F6D"/>
              </a:buClr>
              <a:defRPr baseline="0">
                <a:solidFill>
                  <a:srgbClr val="656768"/>
                </a:solidFill>
              </a:defRPr>
            </a:lvl1pPr>
            <a:lvl2pPr>
              <a:buClr>
                <a:srgbClr val="942F6D"/>
              </a:buClr>
              <a:defRPr>
                <a:solidFill>
                  <a:srgbClr val="656768"/>
                </a:solidFill>
              </a:defRPr>
            </a:lvl2pPr>
            <a:lvl3pPr>
              <a:buClr>
                <a:srgbClr val="942F6D"/>
              </a:buClr>
              <a:defRPr>
                <a:solidFill>
                  <a:srgbClr val="656768"/>
                </a:solidFill>
              </a:defRPr>
            </a:lvl3pPr>
            <a:lvl4pPr>
              <a:buClr>
                <a:srgbClr val="942F6D"/>
              </a:buClr>
              <a:defRPr>
                <a:solidFill>
                  <a:srgbClr val="656768"/>
                </a:solidFill>
              </a:defRPr>
            </a:lvl4pPr>
            <a:lvl5pPr>
              <a:buClr>
                <a:srgbClr val="942F6D"/>
              </a:buClr>
              <a:defRPr>
                <a:solidFill>
                  <a:srgbClr val="656768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16109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511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 hasCustomPrompt="1"/>
          </p:nvPr>
        </p:nvSpPr>
        <p:spPr>
          <a:xfrm>
            <a:off x="6281159" y="0"/>
            <a:ext cx="5910840" cy="6858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50000"/>
              </a:lnSpc>
              <a:buNone/>
              <a:defRPr sz="2800" baseline="0"/>
            </a:lvl1pPr>
          </a:lstStyle>
          <a:p>
            <a:r>
              <a:rPr lang="en-GB" dirty="0"/>
              <a:t>Click to add picture 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601791" y="555478"/>
            <a:ext cx="5491361" cy="106822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>
                <a:solidFill>
                  <a:srgbClr val="942F6D"/>
                </a:solidFill>
              </a:defRPr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601791" y="1760537"/>
            <a:ext cx="5491361" cy="3845503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6FC8F0"/>
              </a:buClr>
              <a:buNone/>
              <a:defRPr baseline="0">
                <a:solidFill>
                  <a:srgbClr val="656768"/>
                </a:solidFill>
              </a:defRPr>
            </a:lvl1pPr>
            <a:lvl2pPr marL="457200" indent="0">
              <a:buClr>
                <a:srgbClr val="6FC8F0"/>
              </a:buClr>
              <a:buNone/>
              <a:defRPr>
                <a:solidFill>
                  <a:srgbClr val="656768"/>
                </a:solidFill>
              </a:defRPr>
            </a:lvl2pPr>
            <a:lvl3pPr marL="914400" indent="0">
              <a:buClr>
                <a:srgbClr val="6FC8F0"/>
              </a:buClr>
              <a:buNone/>
              <a:defRPr>
                <a:solidFill>
                  <a:srgbClr val="656768"/>
                </a:solidFill>
              </a:defRPr>
            </a:lvl3pPr>
            <a:lvl4pPr marL="1371600" indent="0">
              <a:buClr>
                <a:srgbClr val="6FC8F0"/>
              </a:buClr>
              <a:buNone/>
              <a:defRPr>
                <a:solidFill>
                  <a:srgbClr val="656768"/>
                </a:solidFill>
              </a:defRPr>
            </a:lvl4pPr>
            <a:lvl5pPr marL="1828800" indent="0">
              <a:buClr>
                <a:srgbClr val="6FC8F0"/>
              </a:buClr>
              <a:buNone/>
              <a:defRPr>
                <a:solidFill>
                  <a:srgbClr val="656768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34364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3306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42F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6FC8F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43868" y="839558"/>
            <a:ext cx="2149506" cy="106596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5238" y="789413"/>
            <a:ext cx="3468947" cy="161999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6000" y="5835495"/>
            <a:ext cx="1400000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679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113" y="3228975"/>
            <a:ext cx="8105775" cy="36290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702" y="788182"/>
            <a:ext cx="3466926" cy="16200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60456" y="843742"/>
            <a:ext cx="2149506" cy="1065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894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4230" y="536045"/>
            <a:ext cx="1605949" cy="720000"/>
          </a:xfrm>
          <a:prstGeom prst="rect">
            <a:avLst/>
          </a:prstGeom>
        </p:spPr>
      </p:pic>
      <p:sp>
        <p:nvSpPr>
          <p:cNvPr id="2" name="Rectangle 1"/>
          <p:cNvSpPr/>
          <p:nvPr userDrawn="1"/>
        </p:nvSpPr>
        <p:spPr>
          <a:xfrm>
            <a:off x="0" y="5982061"/>
            <a:ext cx="12192000" cy="875939"/>
          </a:xfrm>
          <a:prstGeom prst="rect">
            <a:avLst/>
          </a:prstGeom>
          <a:solidFill>
            <a:srgbClr val="942F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53239" y="6092032"/>
            <a:ext cx="1253879" cy="621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90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04" r:id="rId2"/>
  </p:sldLayoutIdLst>
  <p:txStyles>
    <p:titleStyle>
      <a:lvl1pPr algn="l" defTabSz="914400" rtl="0" eaLnBrk="1" latinLnBrk="0" hangingPunct="1">
        <a:lnSpc>
          <a:spcPts val="3200"/>
        </a:lnSpc>
        <a:spcBef>
          <a:spcPct val="0"/>
        </a:spcBef>
        <a:buNone/>
        <a:defRPr sz="4200" b="1" kern="1200" cap="all" spc="-50" baseline="0">
          <a:solidFill>
            <a:srgbClr val="942F6D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942F6D"/>
        </a:buClr>
        <a:buFont typeface="Arial" panose="020B0604020202020204" pitchFamily="34" charset="0"/>
        <a:buChar char="•"/>
        <a:defRPr sz="2800" kern="1200">
          <a:solidFill>
            <a:srgbClr val="0D3E63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2400" kern="1200">
          <a:solidFill>
            <a:srgbClr val="0D3E63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2000" kern="1200">
          <a:solidFill>
            <a:srgbClr val="0D3E63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1800" kern="1200">
          <a:solidFill>
            <a:srgbClr val="0D3E63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1800" kern="1200">
          <a:solidFill>
            <a:srgbClr val="0D3E63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113" y="3228975"/>
            <a:ext cx="8105775" cy="3629025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1791" y="555478"/>
            <a:ext cx="5491361" cy="106822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title</a:t>
            </a:r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80564" y="5569783"/>
            <a:ext cx="1433004" cy="71064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791" y="5568969"/>
            <a:ext cx="160595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462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</p:sldLayoutIdLst>
  <p:txStyles>
    <p:titleStyle>
      <a:lvl1pPr algn="l" defTabSz="914400" rtl="0" eaLnBrk="1" latinLnBrk="0" hangingPunct="1">
        <a:lnSpc>
          <a:spcPts val="3500"/>
        </a:lnSpc>
        <a:spcBef>
          <a:spcPct val="0"/>
        </a:spcBef>
        <a:buNone/>
        <a:defRPr sz="4200" b="1" kern="1200" cap="all" spc="-50" baseline="0">
          <a:solidFill>
            <a:srgbClr val="0D3E63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942F6D"/>
        </a:buClr>
        <a:buFont typeface="Arial" panose="020B0604020202020204" pitchFamily="34" charset="0"/>
        <a:buChar char="•"/>
        <a:defRPr sz="2800" kern="1200">
          <a:solidFill>
            <a:srgbClr val="0D3E63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2400" kern="1200">
          <a:solidFill>
            <a:srgbClr val="0D3E63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2000" kern="1200">
          <a:solidFill>
            <a:srgbClr val="0D3E63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1800" kern="1200">
          <a:solidFill>
            <a:srgbClr val="0D3E63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1800" kern="1200">
          <a:solidFill>
            <a:srgbClr val="0D3E63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3E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34"/>
          <a:stretch/>
        </p:blipFill>
        <p:spPr>
          <a:xfrm>
            <a:off x="1814513" y="3016664"/>
            <a:ext cx="8562975" cy="384133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3160" y="1067668"/>
            <a:ext cx="3854386" cy="1800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79792" y="4898051"/>
            <a:ext cx="1433004" cy="71064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5707" y="5412938"/>
            <a:ext cx="1400000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031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kw9R0nD69OU" TargetMode="Externa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tiff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Machine learning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Regent College London</a:t>
            </a:r>
          </a:p>
          <a:p>
            <a:r>
              <a:rPr lang="en-GB" dirty="0"/>
              <a:t>SWE6204</a:t>
            </a:r>
          </a:p>
        </p:txBody>
      </p:sp>
    </p:spTree>
    <p:extLst>
      <p:ext uri="{BB962C8B-B14F-4D97-AF65-F5344CB8AC3E}">
        <p14:creationId xmlns:p14="http://schemas.microsoft.com/office/powerpoint/2010/main" val="1458045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Machine learning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SWE6204</a:t>
            </a:r>
          </a:p>
        </p:txBody>
      </p:sp>
    </p:spTree>
    <p:extLst>
      <p:ext uri="{BB962C8B-B14F-4D97-AF65-F5344CB8AC3E}">
        <p14:creationId xmlns:p14="http://schemas.microsoft.com/office/powerpoint/2010/main" val="23651916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18D52EB-A3E0-3F4C-9EBC-AC778DE37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Machine learning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FEF0A4-9481-7245-BC4A-7DDD704352D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  <a:p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rPr>
              <a:t>PRINCIPAL COMPONENT</a:t>
            </a:r>
          </a:p>
          <a:p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rPr>
              <a:t>ANALYSIS (PCA)</a:t>
            </a:r>
            <a:endParaRPr lang="en-GB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C6E8E5-BE8D-1A44-B2E2-3F645E098C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0768" y="1704061"/>
            <a:ext cx="6551188" cy="3958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627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BA340-02CC-904F-8C88-B5AA849D9854}"/>
              </a:ext>
            </a:extLst>
          </p:cNvPr>
          <p:cNvSpPr txBox="1">
            <a:spLocks/>
          </p:cNvSpPr>
          <p:nvPr/>
        </p:nvSpPr>
        <p:spPr>
          <a:xfrm>
            <a:off x="1591827" y="2985581"/>
            <a:ext cx="10515600" cy="11860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ts val="3200"/>
              </a:lnSpc>
              <a:spcBef>
                <a:spcPct val="0"/>
              </a:spcBef>
              <a:buNone/>
              <a:defRPr sz="4200" b="1" kern="1200" cap="all" spc="-50" baseline="0">
                <a:solidFill>
                  <a:srgbClr val="942F6D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GB" dirty="0"/>
              <a:t>Module 1 – principal component analysis(PCA)</a:t>
            </a:r>
          </a:p>
        </p:txBody>
      </p:sp>
    </p:spTree>
    <p:extLst>
      <p:ext uri="{BB962C8B-B14F-4D97-AF65-F5344CB8AC3E}">
        <p14:creationId xmlns:p14="http://schemas.microsoft.com/office/powerpoint/2010/main" val="1741829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Learning objectives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521449"/>
            <a:ext cx="10712388" cy="3815101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Understand dimensional reduction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Understand the Principal Component Analysis </a:t>
            </a:r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2993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Curse of dimensionality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521449"/>
            <a:ext cx="10712388" cy="3815101"/>
          </a:xfrm>
        </p:spPr>
        <p:txBody>
          <a:bodyPr/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Many problems can be thought of as having a huge number of “dimensions”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For example, in recommending movies, the ratings vector for each movie may represent a dimension – every movie is its own dimension!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That makes your head hurt. It’s tough to visualize. </a:t>
            </a:r>
          </a:p>
          <a:p>
            <a:r>
              <a:rPr lang="en-GB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Dimensionality reduction 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attempts to distil higher-dimensional data down to a smaller number of dimensions, while preserving as much of the variance in the data as possible.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48806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PCA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39276" y="1100894"/>
            <a:ext cx="8278122" cy="3815101"/>
          </a:xfrm>
        </p:spPr>
        <p:txBody>
          <a:bodyPr/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Involves fancy math – but at a high level: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Finds “eigenvectors” in the higher dimensional data </a:t>
            </a:r>
          </a:p>
          <a:p>
            <a:pPr marL="0" indent="0"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▫ These define hyperplanes that split the data 	while 	preserving the most variance in it </a:t>
            </a:r>
          </a:p>
          <a:p>
            <a:pPr marL="0" indent="0"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▫  The data gets projected onto these 	hyperplanes, which represent the lower 	dimensions you want to represent </a:t>
            </a:r>
          </a:p>
          <a:p>
            <a:pPr marL="0" indent="0"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▫  A popular implementation of this is called 	Singular Value Decomposition (SVD)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Also useful for things like image compression and facial recognition 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" name="Picture 1" descr="page158image1815936">
            <a:extLst>
              <a:ext uri="{FF2B5EF4-FFF2-40B4-BE49-F238E27FC236}">
                <a16:creationId xmlns:a16="http://schemas.microsoft.com/office/drawing/2014/main" id="{FCF4EA35-B88D-2046-9202-FB73CF8469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2788" y="2040879"/>
            <a:ext cx="3657600" cy="374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75578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Visualizing 4-D iris flower data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9246" y="1331069"/>
            <a:ext cx="7257955" cy="3815101"/>
          </a:xfrm>
        </p:spPr>
        <p:txBody>
          <a:bodyPr/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“Iris dataset” comes with scikit-learn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 Iris flower has petals and sepals (the lower, supportive part of the flower.)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We know the length and width of the petals and sepals for many Iris specimens </a:t>
            </a:r>
          </a:p>
          <a:p>
            <a:pPr marL="0" indent="0"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▫ That’s four dimensions! Ow.</a:t>
            </a:r>
            <a:b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▫ We also know the subspecies classification of each flower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PCA lets us visualize this in 2 dimensions instead of 4, while still preserving variance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" name="Picture 1" descr="page159image1825120">
            <a:extLst>
              <a:ext uri="{FF2B5EF4-FFF2-40B4-BE49-F238E27FC236}">
                <a16:creationId xmlns:a16="http://schemas.microsoft.com/office/drawing/2014/main" id="{E0BC468C-2742-3046-9D95-9DBD18779D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2936" y="2104898"/>
            <a:ext cx="3937000" cy="295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95125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Python coding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521449"/>
            <a:ext cx="10712388" cy="3815101"/>
          </a:xfrm>
        </p:spPr>
        <p:txBody>
          <a:bodyPr/>
          <a:lstStyle/>
          <a:p>
            <a:pPr marL="0" indent="0">
              <a:buNone/>
            </a:pPr>
            <a:r>
              <a:rPr lang="en-GB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Yet again, scikit-learn makes this complex technique really easy. 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57812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PCA Overview – Video 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521449"/>
            <a:ext cx="10712388" cy="3815101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Please watch video and identify the difference between PCA &amp; SVM.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2">
                    <a:lumMod val="25000"/>
                  </a:schemeClr>
                </a:solidFill>
                <a:hlinkClick r:id="rId2"/>
              </a:rPr>
              <a:t>https://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hlinkClick r:id="rId2"/>
              </a:rPr>
              <a:t>www.youtube.com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hlinkClick r:id="rId2"/>
              </a:rPr>
              <a:t>/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hlinkClick r:id="rId2"/>
              </a:rPr>
              <a:t>watch?v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hlinkClick r:id="rId2"/>
              </a:rPr>
              <a:t>=kw9R0nD69OU</a:t>
            </a:r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63436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K Fold cross validation 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1790" y="1521450"/>
            <a:ext cx="3598520" cy="473606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K Fold cross validation vs Train - test method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A5A4F0BA-46C5-1B4C-8DF3-FBF1D68C39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1264" y="1046671"/>
            <a:ext cx="7568945" cy="5015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1912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62778" y="1121436"/>
            <a:ext cx="41406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400" b="1" spc="-50" dirty="0">
                <a:solidFill>
                  <a:schemeClr val="bg1"/>
                </a:solidFill>
              </a:rPr>
              <a:t>+44 (0)207 016 8000</a:t>
            </a:r>
          </a:p>
          <a:p>
            <a:pPr algn="r"/>
            <a:r>
              <a:rPr lang="en-GB" sz="2400" b="1" spc="-50" dirty="0">
                <a:solidFill>
                  <a:schemeClr val="bg1"/>
                </a:solidFill>
              </a:rPr>
              <a:t>info@rcl.ac.uk</a:t>
            </a:r>
          </a:p>
        </p:txBody>
      </p:sp>
    </p:spTree>
    <p:extLst>
      <p:ext uri="{BB962C8B-B14F-4D97-AF65-F5344CB8AC3E}">
        <p14:creationId xmlns:p14="http://schemas.microsoft.com/office/powerpoint/2010/main" val="1381126769"/>
      </p:ext>
    </p:extLst>
  </p:cSld>
  <p:clrMapOvr>
    <a:masterClrMapping/>
  </p:clrMapOvr>
</p:sld>
</file>

<file path=ppt/theme/theme1.xml><?xml version="1.0" encoding="utf-8"?>
<a:theme xmlns:a="http://schemas.openxmlformats.org/drawingml/2006/main" name="Light blue-Cove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E142963-DA75-4759-9E51-7EC23E61E5F8}" vid="{626083B1-0830-460F-AA05-F809A184AD55}"/>
    </a:ext>
  </a:extLst>
</a:theme>
</file>

<file path=ppt/theme/theme2.xml><?xml version="1.0" encoding="utf-8"?>
<a:theme xmlns:a="http://schemas.openxmlformats.org/drawingml/2006/main" name="Pearson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E142963-DA75-4759-9E51-7EC23E61E5F8}" vid="{72DF3C6F-D641-4496-AE49-B1B2B2E63DA0}"/>
    </a:ext>
  </a:extLst>
</a:theme>
</file>

<file path=ppt/theme/theme3.xml><?xml version="1.0" encoding="utf-8"?>
<a:theme xmlns:a="http://schemas.openxmlformats.org/drawingml/2006/main" name="Light blue-inside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E142963-DA75-4759-9E51-7EC23E61E5F8}" vid="{74F60302-919A-40C2-AA8C-08C631E4BB03}"/>
    </a:ext>
  </a:extLst>
</a:theme>
</file>

<file path=ppt/theme/theme4.xml><?xml version="1.0" encoding="utf-8"?>
<a:theme xmlns:a="http://schemas.openxmlformats.org/drawingml/2006/main" name="With pictur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E142963-DA75-4759-9E51-7EC23E61E5F8}" vid="{1A762B6E-1460-46E8-A288-DB6DA20E3E72}"/>
    </a:ext>
  </a:extLst>
</a:theme>
</file>

<file path=ppt/theme/theme5.xml><?xml version="1.0" encoding="utf-8"?>
<a:theme xmlns:a="http://schemas.openxmlformats.org/drawingml/2006/main" name="Back cove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E142963-DA75-4759-9E51-7EC23E61E5F8}" vid="{848B4BB2-990F-4FF4-835D-66EEAC45A093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386AD14CB602547BFCB7D842FEF14EE" ma:contentTypeVersion="12" ma:contentTypeDescription="Create a new document." ma:contentTypeScope="" ma:versionID="7eb5c53f2e1d37f62fa8f0bcfdfd5d6f">
  <xsd:schema xmlns:xsd="http://www.w3.org/2001/XMLSchema" xmlns:xs="http://www.w3.org/2001/XMLSchema" xmlns:p="http://schemas.microsoft.com/office/2006/metadata/properties" xmlns:ns2="6b1a28a2-5857-4321-9bd8-c602fba5c8bc" xmlns:ns3="5086911d-6e48-4cf3-b087-1eb55996afa6" targetNamespace="http://schemas.microsoft.com/office/2006/metadata/properties" ma:root="true" ma:fieldsID="8facba7d21f799de60139a8943772e56" ns2:_="" ns3:_="">
    <xsd:import namespace="6b1a28a2-5857-4321-9bd8-c602fba5c8bc"/>
    <xsd:import namespace="5086911d-6e48-4cf3-b087-1eb55996afa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1a28a2-5857-4321-9bd8-c602fba5c8b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86911d-6e48-4cf3-b087-1eb55996afa6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2BA5B0A-17F0-4337-AD89-B3998B4992CB}"/>
</file>

<file path=customXml/itemProps2.xml><?xml version="1.0" encoding="utf-8"?>
<ds:datastoreItem xmlns:ds="http://schemas.openxmlformats.org/officeDocument/2006/customXml" ds:itemID="{CB57D524-DA56-4F5B-B6C1-111F7E8765DC}"/>
</file>

<file path=customXml/itemProps3.xml><?xml version="1.0" encoding="utf-8"?>
<ds:datastoreItem xmlns:ds="http://schemas.openxmlformats.org/officeDocument/2006/customXml" ds:itemID="{4BBE00B1-6A3B-4A57-9B62-F08B3AD7E00E}"/>
</file>

<file path=docProps/app.xml><?xml version="1.0" encoding="utf-8"?>
<Properties xmlns="http://schemas.openxmlformats.org/officeDocument/2006/extended-properties" xmlns:vt="http://schemas.openxmlformats.org/officeDocument/2006/docPropsVTypes">
  <Template>Light blue-Cover</Template>
  <TotalTime>276</TotalTime>
  <Words>352</Words>
  <Application>Microsoft Macintosh PowerPoint</Application>
  <PresentationFormat>Widescreen</PresentationFormat>
  <Paragraphs>41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Light blue-Cover</vt:lpstr>
      <vt:lpstr>Pearson slide</vt:lpstr>
      <vt:lpstr>Light blue-inside slide</vt:lpstr>
      <vt:lpstr>With picture</vt:lpstr>
      <vt:lpstr>Back cover</vt:lpstr>
      <vt:lpstr>Machine learning</vt:lpstr>
      <vt:lpstr>Machine learning </vt:lpstr>
      <vt:lpstr>Machine learning</vt:lpstr>
      <vt:lpstr>PowerPoint Presentation</vt:lpstr>
      <vt:lpstr>Learning objectives</vt:lpstr>
      <vt:lpstr>Curse of dimensionality</vt:lpstr>
      <vt:lpstr>PCA</vt:lpstr>
      <vt:lpstr>Visualizing 4-D iris flower data</vt:lpstr>
      <vt:lpstr>Python coding</vt:lpstr>
      <vt:lpstr>PCA Overview – Video </vt:lpstr>
      <vt:lpstr>K Fold cross validation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Bachelor’s degree</dc:title>
  <dc:creator>Nalinda Somasiri</dc:creator>
  <cp:lastModifiedBy>Nalinda Somasiri</cp:lastModifiedBy>
  <cp:revision>48</cp:revision>
  <dcterms:created xsi:type="dcterms:W3CDTF">2021-07-24T10:34:01Z</dcterms:created>
  <dcterms:modified xsi:type="dcterms:W3CDTF">2021-12-10T18:50:08Z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0x010100E386AD14CB602547BFCB7D842FEF14EE</vt:lpwstr>
  </property>
</Properties>
</file>