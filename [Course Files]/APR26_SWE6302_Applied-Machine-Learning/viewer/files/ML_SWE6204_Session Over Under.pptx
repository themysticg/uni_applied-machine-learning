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22"/>
  </p:notesMasterIdLst>
  <p:sldIdLst>
    <p:sldId id="261" r:id="rId9"/>
    <p:sldId id="257" r:id="rId10"/>
    <p:sldId id="265" r:id="rId11"/>
    <p:sldId id="306" r:id="rId12"/>
    <p:sldId id="311" r:id="rId13"/>
    <p:sldId id="313" r:id="rId14"/>
    <p:sldId id="314" r:id="rId15"/>
    <p:sldId id="318" r:id="rId16"/>
    <p:sldId id="319" r:id="rId17"/>
    <p:sldId id="315" r:id="rId18"/>
    <p:sldId id="316" r:id="rId19"/>
    <p:sldId id="317" r:id="rId20"/>
    <p:sldId id="2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0" autoAdjust="0"/>
    <p:restoredTop sz="94061" autoAdjust="0"/>
  </p:normalViewPr>
  <p:slideViewPr>
    <p:cSldViewPr snapToGrid="0">
      <p:cViewPr varScale="1">
        <p:scale>
          <a:sx n="65" d="100"/>
          <a:sy n="65" d="100"/>
        </p:scale>
        <p:origin x="696" y="7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3/23/2022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349584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9</a:t>
            </a:fld>
            <a:endParaRPr lang="en-US" dirty="0"/>
          </a:p>
        </p:txBody>
      </p:sp>
    </p:spTree>
    <p:extLst>
      <p:ext uri="{BB962C8B-B14F-4D97-AF65-F5344CB8AC3E}">
        <p14:creationId xmlns:p14="http://schemas.microsoft.com/office/powerpoint/2010/main" val="890153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extLst>
      <p:ext uri="{BB962C8B-B14F-4D97-AF65-F5344CB8AC3E}">
        <p14:creationId xmlns:p14="http://schemas.microsoft.com/office/powerpoint/2010/main" val="2511623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www.mygreatlearning.com/blog/overfitting-and-underfitting-in-machine-learn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mygreatlearning.com/blog/linear-regression-in-machine-learnin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POLYNOMIAL REGRESSION</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340-02CC-904F-8C88-B5AA849D9854}"/>
              </a:ext>
            </a:extLst>
          </p:cNvPr>
          <p:cNvSpPr txBox="1">
            <a:spLocks/>
          </p:cNvSpPr>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polynomial regression</a:t>
            </a:r>
          </a:p>
        </p:txBody>
      </p:sp>
    </p:spTree>
    <p:extLst>
      <p:ext uri="{BB962C8B-B14F-4D97-AF65-F5344CB8AC3E}">
        <p14:creationId xmlns:p14="http://schemas.microsoft.com/office/powerpoint/2010/main" val="174182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concept of Polynomial Regression</a:t>
            </a:r>
          </a:p>
          <a:p>
            <a:r>
              <a:rPr lang="en-GB" dirty="0">
                <a:solidFill>
                  <a:schemeClr val="tx1">
                    <a:lumMod val="75000"/>
                    <a:lumOff val="25000"/>
                  </a:schemeClr>
                </a:solidFill>
              </a:rPr>
              <a:t>Understand the Overfitting </a:t>
            </a:r>
          </a:p>
          <a:p>
            <a:r>
              <a:rPr lang="en-GB" dirty="0">
                <a:solidFill>
                  <a:schemeClr val="tx1">
                    <a:lumMod val="75000"/>
                    <a:lumOff val="25000"/>
                  </a:schemeClr>
                </a:solidFill>
              </a:rPr>
              <a:t>Understand techniques to overcome Overfitting</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Why limit ourself to straight line</a:t>
            </a:r>
            <a:endParaRPr lang="en-US" dirty="0">
              <a:solidFill>
                <a:srgbClr val="942D6D"/>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0" y="1455830"/>
                <a:ext cx="6946172" cy="3815101"/>
              </a:xfrm>
            </p:spPr>
            <p:txBody>
              <a:bodyPr/>
              <a:lstStyle/>
              <a:p>
                <a:r>
                  <a:rPr lang="en-GB" dirty="0">
                    <a:solidFill>
                      <a:schemeClr val="tx1">
                        <a:lumMod val="75000"/>
                        <a:lumOff val="25000"/>
                      </a:schemeClr>
                    </a:solidFill>
                  </a:rPr>
                  <a:t>Not all relationships are linear. </a:t>
                </a:r>
              </a:p>
              <a:p>
                <a:r>
                  <a:rPr lang="en-GB" dirty="0">
                    <a:solidFill>
                      <a:schemeClr val="tx1">
                        <a:lumMod val="75000"/>
                        <a:lumOff val="25000"/>
                      </a:schemeClr>
                    </a:solidFill>
                  </a:rPr>
                  <a:t>Linear formula: y = mx + b </a:t>
                </a:r>
              </a:p>
              <a:p>
                <a:r>
                  <a:rPr lang="en-GB" dirty="0">
                    <a:solidFill>
                      <a:schemeClr val="tx1">
                        <a:lumMod val="75000"/>
                        <a:lumOff val="25000"/>
                      </a:schemeClr>
                    </a:solidFill>
                  </a:rPr>
                  <a:t>This is a “first order” or “first degree” polynomial, as the power of x is 1 </a:t>
                </a:r>
              </a:p>
              <a:p>
                <a:r>
                  <a:rPr lang="en-GB" dirty="0">
                    <a:solidFill>
                      <a:schemeClr val="tx1">
                        <a:lumMod val="75000"/>
                        <a:lumOff val="25000"/>
                      </a:schemeClr>
                    </a:solidFill>
                  </a:rPr>
                  <a:t>Second order polynomial: </a:t>
                </a:r>
                <a14:m>
                  <m:oMath xmlns:m="http://schemas.openxmlformats.org/officeDocument/2006/math">
                    <m:r>
                      <a:rPr lang="en-GB" i="1">
                        <a:solidFill>
                          <a:schemeClr val="tx1">
                            <a:lumMod val="75000"/>
                            <a:lumOff val="25000"/>
                          </a:schemeClr>
                        </a:solidFill>
                        <a:latin typeface="Cambria Math" panose="02040503050406030204" pitchFamily="18" charset="0"/>
                      </a:rPr>
                      <m:t>𝑦</m:t>
                    </m:r>
                    <m:r>
                      <a:rPr lang="en-GB" i="1">
                        <a:solidFill>
                          <a:schemeClr val="tx1">
                            <a:lumMod val="75000"/>
                            <a:lumOff val="25000"/>
                          </a:schemeClr>
                        </a:solidFill>
                        <a:latin typeface="Cambria Math" panose="02040503050406030204" pitchFamily="18" charset="0"/>
                      </a:rPr>
                      <m:t>=</m:t>
                    </m:r>
                    <m:r>
                      <a:rPr lang="en-GB" i="1">
                        <a:solidFill>
                          <a:schemeClr val="tx1">
                            <a:lumMod val="75000"/>
                            <a:lumOff val="25000"/>
                          </a:schemeClr>
                        </a:solidFill>
                        <a:latin typeface="Cambria Math" panose="02040503050406030204" pitchFamily="18" charset="0"/>
                      </a:rPr>
                      <m:t>𝑎</m:t>
                    </m:r>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2 </m:t>
                        </m:r>
                      </m:sup>
                    </m:sSup>
                  </m:oMath>
                </a14:m>
                <a:r>
                  <a:rPr lang="en-GB" dirty="0">
                    <a:solidFill>
                      <a:schemeClr val="tx1">
                        <a:lumMod val="75000"/>
                        <a:lumOff val="25000"/>
                      </a:schemeClr>
                    </a:solidFill>
                  </a:rPr>
                  <a:t>+ 𝑏𝑥 + 𝑐 </a:t>
                </a:r>
              </a:p>
              <a:p>
                <a:r>
                  <a:rPr lang="en-GB" dirty="0">
                    <a:solidFill>
                      <a:schemeClr val="tx1">
                        <a:lumMod val="75000"/>
                        <a:lumOff val="25000"/>
                      </a:schemeClr>
                    </a:solidFill>
                  </a:rPr>
                  <a:t>Third order: 𝑦= </a:t>
                </a:r>
                <a14:m>
                  <m:oMath xmlns:m="http://schemas.openxmlformats.org/officeDocument/2006/math">
                    <m:r>
                      <a:rPr lang="en-GB" i="1">
                        <a:solidFill>
                          <a:schemeClr val="tx1">
                            <a:lumMod val="75000"/>
                            <a:lumOff val="25000"/>
                          </a:schemeClr>
                        </a:solidFill>
                        <a:latin typeface="Cambria Math" panose="02040503050406030204" pitchFamily="18" charset="0"/>
                      </a:rPr>
                      <m:t>𝑎</m:t>
                    </m:r>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3 </m:t>
                        </m:r>
                      </m:sup>
                    </m:sSup>
                    <m:r>
                      <a:rPr lang="en-GB" i="1">
                        <a:solidFill>
                          <a:schemeClr val="tx1">
                            <a:lumMod val="75000"/>
                            <a:lumOff val="25000"/>
                          </a:schemeClr>
                        </a:solidFill>
                        <a:latin typeface="Cambria Math" panose="02040503050406030204" pitchFamily="18" charset="0"/>
                      </a:rPr>
                      <m:t> </m:t>
                    </m:r>
                  </m:oMath>
                </a14:m>
                <a:r>
                  <a:rPr lang="en-GB" dirty="0">
                    <a:solidFill>
                      <a:schemeClr val="tx1">
                        <a:lumMod val="75000"/>
                        <a:lumOff val="25000"/>
                      </a:schemeClr>
                    </a:solidFill>
                  </a:rPr>
                  <a:t>+ b</a:t>
                </a:r>
                <a14:m>
                  <m:oMath xmlns:m="http://schemas.openxmlformats.org/officeDocument/2006/math">
                    <m:sSup>
                      <m:sSupPr>
                        <m:ctrlPr>
                          <a:rPr lang="en-GB" i="1">
                            <a:solidFill>
                              <a:schemeClr val="tx1">
                                <a:lumMod val="75000"/>
                                <a:lumOff val="25000"/>
                              </a:schemeClr>
                            </a:solidFill>
                            <a:latin typeface="Cambria Math" panose="02040503050406030204" pitchFamily="18" charset="0"/>
                          </a:rPr>
                        </m:ctrlPr>
                      </m:sSupPr>
                      <m:e>
                        <m:r>
                          <a:rPr lang="en-GB" i="1">
                            <a:solidFill>
                              <a:schemeClr val="tx1">
                                <a:lumMod val="75000"/>
                                <a:lumOff val="25000"/>
                              </a:schemeClr>
                            </a:solidFill>
                            <a:latin typeface="Cambria Math" panose="02040503050406030204" pitchFamily="18" charset="0"/>
                          </a:rPr>
                          <m:t>𝑥</m:t>
                        </m:r>
                      </m:e>
                      <m:sup>
                        <m:r>
                          <a:rPr lang="en-GB" i="1">
                            <a:solidFill>
                              <a:schemeClr val="tx1">
                                <a:lumMod val="75000"/>
                                <a:lumOff val="25000"/>
                              </a:schemeClr>
                            </a:solidFill>
                            <a:latin typeface="Cambria Math" panose="02040503050406030204" pitchFamily="18" charset="0"/>
                          </a:rPr>
                          <m:t>2 </m:t>
                        </m:r>
                      </m:sup>
                    </m:sSup>
                  </m:oMath>
                </a14:m>
                <a:r>
                  <a:rPr lang="en-GB" dirty="0">
                    <a:solidFill>
                      <a:schemeClr val="tx1">
                        <a:lumMod val="75000"/>
                        <a:lumOff val="25000"/>
                      </a:schemeClr>
                    </a:solidFill>
                  </a:rPr>
                  <a:t> +𝑐𝑥 + 𝑑 </a:t>
                </a:r>
              </a:p>
              <a:p>
                <a:r>
                  <a:rPr lang="en-GB" dirty="0">
                    <a:solidFill>
                      <a:schemeClr val="tx1">
                        <a:lumMod val="75000"/>
                        <a:lumOff val="25000"/>
                      </a:schemeClr>
                    </a:solidFill>
                  </a:rPr>
                  <a:t>Higher orders produce more complex curves. </a:t>
                </a:r>
              </a:p>
              <a:p>
                <a:pPr>
                  <a:buFont typeface="Wingdings" pitchFamily="2" charset="2"/>
                  <a:buChar char="§"/>
                </a:pPr>
                <a:endParaRPr lang="en-US" dirty="0">
                  <a:solidFill>
                    <a:schemeClr val="bg2">
                      <a:lumMod val="25000"/>
                    </a:schemeClr>
                  </a:solidFill>
                </a:endParaRPr>
              </a:p>
            </p:txBody>
          </p:sp>
        </mc:Choice>
        <mc:Fallback xmlns="">
          <p:sp>
            <p:nvSpPr>
              <p:cNvPr id="3" name="Text Placeholder 2">
                <a:extLst>
                  <a:ext uri="{FF2B5EF4-FFF2-40B4-BE49-F238E27FC236}">
                    <a16:creationId xmlns:a16="http://schemas.microsoft.com/office/drawing/2014/main" id="{03912611-42E7-6849-885B-99D97037DE6F}"/>
                  </a:ext>
                </a:extLst>
              </p:cNvPr>
              <p:cNvSpPr>
                <a:spLocks noGrp="1" noRot="1" noChangeAspect="1" noMove="1" noResize="1" noEditPoints="1" noAdjustHandles="1" noChangeArrowheads="1" noChangeShapeType="1" noTextEdit="1"/>
              </p:cNvSpPr>
              <p:nvPr>
                <p:ph type="body" sz="quarter" idx="10"/>
              </p:nvPr>
            </p:nvSpPr>
            <p:spPr>
              <a:xfrm>
                <a:off x="601790" y="1455830"/>
                <a:ext cx="6946172" cy="3815101"/>
              </a:xfrm>
              <a:blipFill>
                <a:blip r:embed="rId2"/>
                <a:stretch>
                  <a:fillRect l="-1642" t="-2649" r="-2372"/>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1" descr="page73image1799360">
            <a:extLst>
              <a:ext uri="{FF2B5EF4-FFF2-40B4-BE49-F238E27FC236}">
                <a16:creationId xmlns:a16="http://schemas.microsoft.com/office/drawing/2014/main" id="{274AEE6A-B44C-A447-B662-49F15E166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177" y="1712154"/>
            <a:ext cx="480060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557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Beware of overfitting</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0" y="1521449"/>
            <a:ext cx="11314179" cy="3815101"/>
          </a:xfrm>
        </p:spPr>
        <p:txBody>
          <a:bodyPr/>
          <a:lstStyle/>
          <a:p>
            <a:r>
              <a:rPr lang="en-GB" dirty="0">
                <a:solidFill>
                  <a:schemeClr val="tx1">
                    <a:lumMod val="75000"/>
                    <a:lumOff val="25000"/>
                  </a:schemeClr>
                </a:solidFill>
              </a:rPr>
              <a:t>Don’t use more degrees than you need </a:t>
            </a:r>
          </a:p>
          <a:p>
            <a:r>
              <a:rPr lang="en-GB" dirty="0">
                <a:solidFill>
                  <a:schemeClr val="tx1">
                    <a:lumMod val="75000"/>
                    <a:lumOff val="25000"/>
                  </a:schemeClr>
                </a:solidFill>
              </a:rPr>
              <a:t>Visualize your data first to see how complex of a curve there might really be </a:t>
            </a:r>
          </a:p>
          <a:p>
            <a:r>
              <a:rPr lang="en-GB" dirty="0">
                <a:solidFill>
                  <a:schemeClr val="tx1">
                    <a:lumMod val="75000"/>
                    <a:lumOff val="25000"/>
                  </a:schemeClr>
                </a:solidFill>
              </a:rPr>
              <a:t>Visualize the fit – is your curve going out of its way to accommodate outliers? </a:t>
            </a:r>
          </a:p>
          <a:p>
            <a:r>
              <a:rPr lang="en-GB" dirty="0">
                <a:solidFill>
                  <a:schemeClr val="tx1">
                    <a:lumMod val="75000"/>
                    <a:lumOff val="25000"/>
                  </a:schemeClr>
                </a:solidFill>
              </a:rPr>
              <a:t>A high r-squared simply means your curve fits your </a:t>
            </a:r>
            <a:r>
              <a:rPr lang="en-GB" i="1" dirty="0">
                <a:solidFill>
                  <a:schemeClr val="tx1">
                    <a:lumMod val="75000"/>
                    <a:lumOff val="25000"/>
                  </a:schemeClr>
                </a:solidFill>
              </a:rPr>
              <a:t>training data </a:t>
            </a:r>
            <a:r>
              <a:rPr lang="en-GB" dirty="0">
                <a:solidFill>
                  <a:schemeClr val="tx1">
                    <a:lumMod val="75000"/>
                    <a:lumOff val="25000"/>
                  </a:schemeClr>
                </a:solidFill>
              </a:rPr>
              <a:t>well; but it may not be a good predictor. </a:t>
            </a:r>
          </a:p>
          <a:p>
            <a:r>
              <a:rPr lang="en-GB" dirty="0">
                <a:solidFill>
                  <a:schemeClr val="tx1">
                    <a:lumMod val="75000"/>
                    <a:lumOff val="25000"/>
                  </a:schemeClr>
                </a:solidFill>
              </a:rPr>
              <a:t>Later we’ll talk about more principled ways to detect overfitting (train/test) </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0951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Polynomial Regression</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0FDBDB8D-B6C6-5C47-B100-FF6962AC1F7F}"/>
              </a:ext>
            </a:extLst>
          </p:cNvPr>
          <p:cNvSpPr/>
          <p:nvPr/>
        </p:nvSpPr>
        <p:spPr>
          <a:xfrm>
            <a:off x="601790" y="1212401"/>
            <a:ext cx="6096000" cy="2123658"/>
          </a:xfrm>
          <a:prstGeom prst="rect">
            <a:avLst/>
          </a:prstGeom>
        </p:spPr>
        <p:txBody>
          <a:bodyPr>
            <a:spAutoFit/>
          </a:bodyPr>
          <a:lstStyle/>
          <a:p>
            <a:pPr algn="l"/>
            <a:r>
              <a:rPr lang="en-GB" sz="1600" b="1" i="0" dirty="0">
                <a:solidFill>
                  <a:srgbClr val="111111"/>
                </a:solidFill>
                <a:effectLst/>
                <a:latin typeface="Poppins" panose="00000500000000000000" pitchFamily="2" charset="0"/>
              </a:rPr>
              <a:t>Polynomial Regression</a:t>
            </a:r>
            <a:endParaRPr lang="en-GB" sz="1600" b="0" i="0" dirty="0">
              <a:solidFill>
                <a:srgbClr val="111111"/>
              </a:solidFill>
              <a:effectLst/>
              <a:latin typeface="Poppins" panose="00000500000000000000" pitchFamily="2" charset="0"/>
            </a:endParaRPr>
          </a:p>
          <a:p>
            <a:pPr algn="l"/>
            <a:r>
              <a:rPr lang="en-GB" sz="1600" b="0" i="0" dirty="0">
                <a:solidFill>
                  <a:srgbClr val="222222"/>
                </a:solidFill>
                <a:effectLst/>
                <a:latin typeface="Poppins" panose="00000500000000000000" pitchFamily="2" charset="0"/>
              </a:rPr>
              <a:t>Polynomial regression is a non-linear regression. In Polynomial regression, the relationship of the dependent variable is fitted to the nth degree of the independent variable. </a:t>
            </a:r>
          </a:p>
          <a:p>
            <a:pPr algn="l"/>
            <a:r>
              <a:rPr lang="en-GB" sz="1600" b="0" i="0" dirty="0">
                <a:solidFill>
                  <a:srgbClr val="222222"/>
                </a:solidFill>
                <a:effectLst/>
                <a:latin typeface="Poppins" panose="00000500000000000000" pitchFamily="2" charset="0"/>
              </a:rPr>
              <a:t>Equation of polynomial regression: </a:t>
            </a:r>
          </a:p>
          <a:p>
            <a:endParaRPr lang="en-GB" sz="3600" dirty="0">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F60850E0-07A9-4597-B6EC-F79C9E7C1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16" y="4458557"/>
            <a:ext cx="5257800" cy="5238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F964930-EE5E-4A40-988A-9E6A9D21E58F}"/>
              </a:ext>
            </a:extLst>
          </p:cNvPr>
          <p:cNvSpPr txBox="1"/>
          <p:nvPr/>
        </p:nvSpPr>
        <p:spPr>
          <a:xfrm>
            <a:off x="6302086" y="1664060"/>
            <a:ext cx="5669968" cy="3693319"/>
          </a:xfrm>
          <a:prstGeom prst="rect">
            <a:avLst/>
          </a:prstGeom>
          <a:noFill/>
        </p:spPr>
        <p:txBody>
          <a:bodyPr wrap="square">
            <a:spAutoFit/>
          </a:bodyPr>
          <a:lstStyle/>
          <a:p>
            <a:pPr algn="l"/>
            <a:r>
              <a:rPr lang="en-GB" b="1" i="0" dirty="0">
                <a:solidFill>
                  <a:srgbClr val="111111"/>
                </a:solidFill>
                <a:effectLst/>
                <a:latin typeface="Poppins" panose="00000500000000000000" pitchFamily="2" charset="0"/>
              </a:rPr>
              <a:t> Underfitting and Overfitting</a:t>
            </a:r>
            <a:endParaRPr lang="en-GB" b="0" i="0" dirty="0">
              <a:solidFill>
                <a:srgbClr val="111111"/>
              </a:solidFill>
              <a:effectLst/>
              <a:latin typeface="Poppins" panose="00000500000000000000" pitchFamily="2" charset="0"/>
            </a:endParaRPr>
          </a:p>
          <a:p>
            <a:pPr algn="l"/>
            <a:r>
              <a:rPr lang="en-GB" b="0" i="0" dirty="0">
                <a:solidFill>
                  <a:srgbClr val="222222"/>
                </a:solidFill>
                <a:effectLst/>
                <a:latin typeface="Poppins" panose="00000500000000000000" pitchFamily="2" charset="0"/>
              </a:rPr>
              <a:t>When we fit a model, we try to find the optimised, best-fit line, which can describe the impact of the change in the independent variable on the change in the dependent variable by keeping the error term minimum.</a:t>
            </a:r>
          </a:p>
          <a:p>
            <a:pPr algn="l"/>
            <a:endParaRPr lang="en-GB" dirty="0">
              <a:solidFill>
                <a:srgbClr val="222222"/>
              </a:solidFill>
              <a:latin typeface="Poppins" panose="00000500000000000000" pitchFamily="2" charset="0"/>
            </a:endParaRPr>
          </a:p>
          <a:p>
            <a:pPr algn="l"/>
            <a:r>
              <a:rPr lang="en-GB" b="0" i="0" dirty="0">
                <a:solidFill>
                  <a:srgbClr val="222222"/>
                </a:solidFill>
                <a:effectLst/>
                <a:latin typeface="Poppins" panose="00000500000000000000" pitchFamily="2" charset="0"/>
              </a:rPr>
              <a:t>While fitting the model, there can be 2 events which will lead to the bad performance of the model. These events are</a:t>
            </a:r>
          </a:p>
          <a:p>
            <a:pPr algn="l">
              <a:buFont typeface="+mj-lt"/>
              <a:buAutoNum type="arabicPeriod"/>
            </a:pPr>
            <a:r>
              <a:rPr lang="en-GB" b="0" i="0" u="none" strike="noStrike" dirty="0">
                <a:solidFill>
                  <a:srgbClr val="4DB2EC"/>
                </a:solidFill>
                <a:effectLst/>
                <a:latin typeface="Poppins" panose="00000500000000000000" pitchFamily="2" charset="0"/>
                <a:hlinkClick r:id="rId4"/>
              </a:rPr>
              <a:t>Underfitting </a:t>
            </a:r>
            <a:endParaRPr lang="en-GB" b="0" i="0" dirty="0">
              <a:solidFill>
                <a:srgbClr val="222222"/>
              </a:solidFill>
              <a:effectLst/>
              <a:latin typeface="Poppins" panose="00000500000000000000" pitchFamily="2" charset="0"/>
            </a:endParaRPr>
          </a:p>
          <a:p>
            <a:pPr algn="l">
              <a:buFont typeface="+mj-lt"/>
              <a:buAutoNum type="arabicPeriod"/>
            </a:pPr>
            <a:r>
              <a:rPr lang="en-GB" b="0" i="0" u="none" strike="noStrike" dirty="0">
                <a:solidFill>
                  <a:srgbClr val="4DB2EC"/>
                </a:solidFill>
                <a:effectLst/>
                <a:latin typeface="Poppins" panose="00000500000000000000" pitchFamily="2" charset="0"/>
                <a:hlinkClick r:id="rId4"/>
              </a:rPr>
              <a:t>Overfitting</a:t>
            </a:r>
            <a:endParaRPr lang="en-GB" b="0" i="0" dirty="0">
              <a:solidFill>
                <a:srgbClr val="222222"/>
              </a:solidFill>
              <a:effectLst/>
              <a:latin typeface="Poppins" panose="00000500000000000000" pitchFamily="2" charset="0"/>
            </a:endParaRPr>
          </a:p>
          <a:p>
            <a:pPr algn="l"/>
            <a:endParaRPr lang="en-GB" dirty="0"/>
          </a:p>
        </p:txBody>
      </p:sp>
    </p:spTree>
    <p:extLst>
      <p:ext uri="{BB962C8B-B14F-4D97-AF65-F5344CB8AC3E}">
        <p14:creationId xmlns:p14="http://schemas.microsoft.com/office/powerpoint/2010/main" val="1840921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Underfitting</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0FDBDB8D-B6C6-5C47-B100-FF6962AC1F7F}"/>
              </a:ext>
            </a:extLst>
          </p:cNvPr>
          <p:cNvSpPr/>
          <p:nvPr/>
        </p:nvSpPr>
        <p:spPr>
          <a:xfrm>
            <a:off x="601789" y="1212401"/>
            <a:ext cx="10988419" cy="2800767"/>
          </a:xfrm>
          <a:prstGeom prst="rect">
            <a:avLst/>
          </a:prstGeom>
        </p:spPr>
        <p:txBody>
          <a:bodyPr wrap="square">
            <a:spAutoFit/>
          </a:bodyPr>
          <a:lstStyle/>
          <a:p>
            <a:pPr algn="l"/>
            <a:r>
              <a:rPr lang="en-GB" sz="1600" b="0" i="0" dirty="0">
                <a:solidFill>
                  <a:srgbClr val="222222"/>
                </a:solidFill>
                <a:effectLst/>
                <a:latin typeface="Poppins" panose="00000500000000000000" pitchFamily="2" charset="0"/>
              </a:rPr>
              <a:t>Underfitting is the condition where the model could not fit the data well enough. The under-fitted model leads to low accuracy of the model. Therefore, the model is unable to capture the relationship, trend or pattern in the training data. Underfitting of the model could be avoided by using more data, or by optimising the parameters of the model.</a:t>
            </a:r>
            <a:endParaRPr lang="en-GB" sz="1600" dirty="0"/>
          </a:p>
          <a:p>
            <a:endParaRPr lang="en-GB" sz="1600" dirty="0">
              <a:latin typeface="Calibri" panose="020F0502020204030204" pitchFamily="34" charset="0"/>
              <a:cs typeface="Calibri" panose="020F0502020204030204" pitchFamily="34" charset="0"/>
            </a:endParaRPr>
          </a:p>
          <a:p>
            <a:pPr algn="l"/>
            <a:r>
              <a:rPr lang="en-GB" sz="1600" b="1" i="0" dirty="0">
                <a:solidFill>
                  <a:srgbClr val="111111"/>
                </a:solidFill>
                <a:effectLst/>
                <a:latin typeface="Poppins" panose="00000500000000000000" pitchFamily="2" charset="0"/>
              </a:rPr>
              <a:t>Overfitting</a:t>
            </a:r>
            <a:endParaRPr lang="en-GB" sz="1600" b="0" i="0" dirty="0">
              <a:solidFill>
                <a:srgbClr val="111111"/>
              </a:solidFill>
              <a:effectLst/>
              <a:latin typeface="Poppins" panose="00000500000000000000" pitchFamily="2" charset="0"/>
            </a:endParaRPr>
          </a:p>
          <a:p>
            <a:pPr algn="l"/>
            <a:r>
              <a:rPr lang="en-GB" sz="1600" b="0" i="0" dirty="0">
                <a:solidFill>
                  <a:srgbClr val="222222"/>
                </a:solidFill>
                <a:effectLst/>
                <a:latin typeface="Poppins" panose="00000500000000000000" pitchFamily="2" charset="0"/>
              </a:rPr>
              <a:t>Overfitting is the opposite case of underfitting, i.e., when the model predicts very well on training data and is not able to predict well on test data or validation data. The main reason for overfitting could be that the model is memorising the training data and is unable to generalise it on test/unseen dataset. Overfitting can be reduced by doing feature selection or by using regularisation techniques. </a:t>
            </a:r>
          </a:p>
          <a:p>
            <a:endParaRPr lang="en-GB" sz="1600" dirty="0">
              <a:latin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9D5A77AC-1B6F-4FB1-9864-236A8F658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102" y="4013168"/>
            <a:ext cx="6810375"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874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Overfitting</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48F826D5-0711-CF49-A06A-E6CE95849F78}"/>
              </a:ext>
            </a:extLst>
          </p:cNvPr>
          <p:cNvPicPr>
            <a:picLocks noChangeAspect="1"/>
          </p:cNvPicPr>
          <p:nvPr/>
        </p:nvPicPr>
        <p:blipFill>
          <a:blip r:embed="rId2"/>
          <a:stretch>
            <a:fillRect/>
          </a:stretch>
        </p:blipFill>
        <p:spPr>
          <a:xfrm>
            <a:off x="1422730" y="1298563"/>
            <a:ext cx="8940800" cy="4597400"/>
          </a:xfrm>
          <a:prstGeom prst="rect">
            <a:avLst/>
          </a:prstGeom>
        </p:spPr>
      </p:pic>
    </p:spTree>
    <p:extLst>
      <p:ext uri="{BB962C8B-B14F-4D97-AF65-F5344CB8AC3E}">
        <p14:creationId xmlns:p14="http://schemas.microsoft.com/office/powerpoint/2010/main" val="1302093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Python coding</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0FDBDB8D-B6C6-5C47-B100-FF6962AC1F7F}"/>
              </a:ext>
            </a:extLst>
          </p:cNvPr>
          <p:cNvSpPr/>
          <p:nvPr/>
        </p:nvSpPr>
        <p:spPr>
          <a:xfrm>
            <a:off x="1828800" y="2138844"/>
            <a:ext cx="6096000" cy="1754326"/>
          </a:xfrm>
          <a:prstGeom prst="rect">
            <a:avLst/>
          </a:prstGeom>
        </p:spPr>
        <p:txBody>
          <a:bodyPr>
            <a:spAutoFit/>
          </a:bodyPr>
          <a:lstStyle/>
          <a:p>
            <a:r>
              <a:rPr lang="en-GB" sz="3600" dirty="0">
                <a:latin typeface="Calibri" panose="020F0502020204030204" pitchFamily="34" charset="0"/>
              </a:rPr>
              <a:t>Let’s play with an example</a:t>
            </a:r>
          </a:p>
          <a:p>
            <a:r>
              <a:rPr lang="en-GB" sz="3600" dirty="0">
                <a:latin typeface="Calibri" panose="020F0502020204030204" pitchFamily="34" charset="0"/>
              </a:rPr>
              <a:t> </a:t>
            </a:r>
          </a:p>
          <a:p>
            <a:r>
              <a:rPr lang="en-GB" sz="3600" dirty="0">
                <a:latin typeface="Calibri" panose="020F0502020204030204" pitchFamily="34" charset="0"/>
                <a:cs typeface="Calibri" panose="020F0502020204030204" pitchFamily="34" charset="0"/>
              </a:rPr>
              <a:t>• </a:t>
            </a:r>
            <a:r>
              <a:rPr lang="en-GB" sz="3600" dirty="0" err="1">
                <a:latin typeface="Calibri" panose="020F0502020204030204" pitchFamily="34" charset="0"/>
                <a:cs typeface="Calibri" panose="020F0502020204030204" pitchFamily="34" charset="0"/>
              </a:rPr>
              <a:t>numpy.polyfit</a:t>
            </a:r>
            <a:r>
              <a:rPr lang="en-GB" sz="3600" dirty="0">
                <a:latin typeface="Calibri" panose="020F0502020204030204" pitchFamily="34" charset="0"/>
                <a:cs typeface="Calibri" panose="020F0502020204030204" pitchFamily="34" charset="0"/>
              </a:rPr>
              <a:t>() makes it easy. </a:t>
            </a:r>
          </a:p>
        </p:txBody>
      </p:sp>
    </p:spTree>
    <p:extLst>
      <p:ext uri="{BB962C8B-B14F-4D97-AF65-F5344CB8AC3E}">
        <p14:creationId xmlns:p14="http://schemas.microsoft.com/office/powerpoint/2010/main" val="4268229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REFERENCE</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0FDBDB8D-B6C6-5C47-B100-FF6962AC1F7F}"/>
              </a:ext>
            </a:extLst>
          </p:cNvPr>
          <p:cNvSpPr/>
          <p:nvPr/>
        </p:nvSpPr>
        <p:spPr>
          <a:xfrm>
            <a:off x="768927" y="2138844"/>
            <a:ext cx="10409779" cy="2123658"/>
          </a:xfrm>
          <a:prstGeom prst="rect">
            <a:avLst/>
          </a:prstGeom>
        </p:spPr>
        <p:txBody>
          <a:bodyPr wrap="square">
            <a:spAutoFit/>
          </a:bodyPr>
          <a:lstStyle/>
          <a:p>
            <a:r>
              <a:rPr lang="en-GB" sz="2400" dirty="0">
                <a:hlinkClick r:id="rId3"/>
              </a:rPr>
              <a:t>https://www.mygreatlearning.com/blog/linear-regression-in-machine-learning/</a:t>
            </a:r>
            <a:endParaRPr lang="en-GB" sz="2400" dirty="0"/>
          </a:p>
          <a:p>
            <a:endParaRPr lang="en-GB" sz="2400" dirty="0"/>
          </a:p>
          <a:p>
            <a:r>
              <a:rPr lang="en-GB" sz="2400" dirty="0"/>
              <a:t>https://towardsdatascience.com/predicting-house-prices-with-linear-regression-machine-learning-from-scratch-part-ii-47a0238aeac1</a:t>
            </a:r>
          </a:p>
          <a:p>
            <a:endParaRPr lang="en-GB"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7307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2" ma:contentTypeDescription="Create a new document." ma:contentTypeScope="" ma:versionID="7eb5c53f2e1d37f62fa8f0bcfdfd5d6f">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8facba7d21f799de60139a8943772e56"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872A4B-0413-41BB-BAB5-274A7147C18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DB30174-13EE-4287-BAED-D66009C739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E5878B-21DF-4AE6-B858-0CC097AA67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blue-Cover</Template>
  <TotalTime>320</TotalTime>
  <Words>492</Words>
  <Application>Microsoft Office PowerPoint</Application>
  <PresentationFormat>Widescreen</PresentationFormat>
  <Paragraphs>55</Paragraphs>
  <Slides>13</Slides>
  <Notes>3</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13</vt:i4>
      </vt:variant>
    </vt:vector>
  </HeadingPairs>
  <TitlesOfParts>
    <vt:vector size="23" baseType="lpstr">
      <vt:lpstr>Arial</vt:lpstr>
      <vt:lpstr>Calibri</vt:lpstr>
      <vt:lpstr>Cambria Math</vt:lpstr>
      <vt:lpstr>Poppins</vt:lpstr>
      <vt:lpstr>Wingdings</vt:lpstr>
      <vt:lpstr>Light blue-Cover</vt:lpstr>
      <vt:lpstr>Pearson slide</vt:lpstr>
      <vt:lpstr>Light blue-inside slide</vt:lpstr>
      <vt:lpstr>With picture</vt:lpstr>
      <vt:lpstr>Back cover</vt:lpstr>
      <vt:lpstr>Machine learning</vt:lpstr>
      <vt:lpstr>Machine learning </vt:lpstr>
      <vt:lpstr>Machine learning</vt:lpstr>
      <vt:lpstr>PowerPoint Presentation</vt:lpstr>
      <vt:lpstr>Learning objectives</vt:lpstr>
      <vt:lpstr>Why limit ourself to straight line</vt:lpstr>
      <vt:lpstr>Beware of overfitting</vt:lpstr>
      <vt:lpstr>Polynomial Regression</vt:lpstr>
      <vt:lpstr>Underfitting</vt:lpstr>
      <vt:lpstr>Overfitting</vt:lpstr>
      <vt:lpstr>Python coding</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kusumlata Sheoran</cp:lastModifiedBy>
  <cp:revision>56</cp:revision>
  <dcterms:created xsi:type="dcterms:W3CDTF">2021-07-24T10:34:01Z</dcterms:created>
  <dcterms:modified xsi:type="dcterms:W3CDTF">2022-03-23T23:01:31Z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ies>
</file>