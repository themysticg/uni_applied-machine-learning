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media/image14.jpg" ContentType="image/jpg"/>
  <Override PartName="/ppt/notesSlides/notesSlide1.xml" ContentType="application/vnd.openxmlformats-officedocument.presentationml.notesSlide+xml"/>
  <Override PartName="/ppt/media/image15.jpg" ContentType="image/jpg"/>
  <Override PartName="/ppt/media/image16.jpg" ContentType="image/jpg"/>
  <Override PartName="/ppt/media/image17.jpg" ContentType="image/jpg"/>
  <Override PartName="/ppt/notesSlides/notesSlide2.xml" ContentType="application/vnd.openxmlformats-officedocument.presentationml.notesSlide+xml"/>
  <Override PartName="/ppt/media/image18.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4"/>
    <p:sldMasterId id="2147483732" r:id="rId5"/>
    <p:sldMasterId id="2147483658" r:id="rId6"/>
    <p:sldMasterId id="2147483710" r:id="rId7"/>
    <p:sldMasterId id="2147483706" r:id="rId8"/>
  </p:sldMasterIdLst>
  <p:notesMasterIdLst>
    <p:notesMasterId r:id="rId26"/>
  </p:notesMasterIdLst>
  <p:sldIdLst>
    <p:sldId id="261" r:id="rId9"/>
    <p:sldId id="257" r:id="rId10"/>
    <p:sldId id="265" r:id="rId11"/>
    <p:sldId id="306" r:id="rId12"/>
    <p:sldId id="311" r:id="rId13"/>
    <p:sldId id="313" r:id="rId14"/>
    <p:sldId id="314" r:id="rId15"/>
    <p:sldId id="323" r:id="rId16"/>
    <p:sldId id="315" r:id="rId17"/>
    <p:sldId id="324" r:id="rId18"/>
    <p:sldId id="318" r:id="rId19"/>
    <p:sldId id="319" r:id="rId20"/>
    <p:sldId id="320" r:id="rId21"/>
    <p:sldId id="321" r:id="rId22"/>
    <p:sldId id="322" r:id="rId23"/>
    <p:sldId id="325" r:id="rId24"/>
    <p:sldId id="26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rindu" initials="T" lastIdx="2" clrIdx="0">
    <p:extLst>
      <p:ext uri="{19B8F6BF-5375-455C-9EA6-DF929625EA0E}">
        <p15:presenceInfo xmlns:p15="http://schemas.microsoft.com/office/powerpoint/2012/main" userId="Tharind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6768"/>
    <a:srgbClr val="0D3E63"/>
    <a:srgbClr val="942D6D"/>
    <a:srgbClr val="232C58"/>
    <a:srgbClr val="942F6D"/>
    <a:srgbClr val="6FC8F0"/>
    <a:srgbClr val="B0E1F7"/>
    <a:srgbClr val="71C5E8"/>
    <a:srgbClr val="093E62"/>
    <a:srgbClr val="1665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40" autoAdjust="0"/>
    <p:restoredTop sz="73061" autoAdjust="0"/>
  </p:normalViewPr>
  <p:slideViewPr>
    <p:cSldViewPr snapToGrid="0">
      <p:cViewPr varScale="1">
        <p:scale>
          <a:sx n="81" d="100"/>
          <a:sy n="81" d="100"/>
        </p:scale>
        <p:origin x="1410" y="96"/>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presProps" Target="presProp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18DF-9495-47FB-843C-0D1FCB3E09C9}" type="datetimeFigureOut">
              <a:rPr lang="en-US" smtClean="0"/>
              <a:t>7/29/2024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CCC11-19A3-4E27-AB70-5FB3E1779C6E}" type="slidenum">
              <a:rPr lang="en-US" smtClean="0"/>
              <a:t>‹#›</a:t>
            </a:fld>
            <a:endParaRPr lang="en-US" dirty="0"/>
          </a:p>
        </p:txBody>
      </p:sp>
    </p:spTree>
    <p:extLst>
      <p:ext uri="{BB962C8B-B14F-4D97-AF65-F5344CB8AC3E}">
        <p14:creationId xmlns:p14="http://schemas.microsoft.com/office/powerpoint/2010/main" val="2661254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FACCC11-19A3-4E27-AB70-5FB3E1779C6E}" type="slidenum">
              <a:rPr lang="en-US" smtClean="0"/>
              <a:t>8</a:t>
            </a:fld>
            <a:endParaRPr lang="en-US" dirty="0"/>
          </a:p>
        </p:txBody>
      </p:sp>
    </p:spTree>
    <p:extLst>
      <p:ext uri="{BB962C8B-B14F-4D97-AF65-F5344CB8AC3E}">
        <p14:creationId xmlns:p14="http://schemas.microsoft.com/office/powerpoint/2010/main" val="4261663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13</a:t>
            </a:fld>
            <a:endParaRPr lang="en-US" dirty="0"/>
          </a:p>
        </p:txBody>
      </p:sp>
    </p:spTree>
    <p:extLst>
      <p:ext uri="{BB962C8B-B14F-4D97-AF65-F5344CB8AC3E}">
        <p14:creationId xmlns:p14="http://schemas.microsoft.com/office/powerpoint/2010/main" val="1161287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blue-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chemeClr val="bg1"/>
                </a:solidFill>
                <a:latin typeface="+mn-lt"/>
              </a:defRPr>
            </a:lvl1pPr>
          </a:lstStyle>
          <a:p>
            <a:r>
              <a:rPr lang="en-US" dirty="0"/>
              <a:t>Click to edit title  </a:t>
            </a:r>
            <a:endParaRPr lang="en-GB" dirty="0"/>
          </a:p>
        </p:txBody>
      </p:sp>
      <p:sp>
        <p:nvSpPr>
          <p:cNvPr id="5" name="Text Placeholder 5"/>
          <p:cNvSpPr>
            <a:spLocks noGrp="1"/>
          </p:cNvSpPr>
          <p:nvPr>
            <p:ph type="body" sz="quarter" idx="10"/>
          </p:nvPr>
        </p:nvSpPr>
        <p:spPr>
          <a:xfrm>
            <a:off x="838200" y="4495085"/>
            <a:ext cx="10515600" cy="1290414"/>
          </a:xfrm>
          <a:prstGeom prst="rect">
            <a:avLst/>
          </a:prstGeom>
        </p:spPr>
        <p:txBody>
          <a:bodyPr/>
          <a:lstStyle>
            <a:lvl1pPr marL="0" indent="0" algn="ctr">
              <a:buNone/>
              <a:defRPr sz="2800" spc="-50" baseline="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3023088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earson slide with 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rgbClr val="942F6D"/>
                </a:solidFill>
                <a:latin typeface="+mn-lt"/>
              </a:defRPr>
            </a:lvl1pPr>
          </a:lstStyle>
          <a:p>
            <a:r>
              <a:rPr lang="en-US" dirty="0"/>
              <a:t>Click to edit title </a:t>
            </a:r>
            <a:endParaRPr lang="en-GB" dirty="0"/>
          </a:p>
        </p:txBody>
      </p:sp>
      <p:sp>
        <p:nvSpPr>
          <p:cNvPr id="6" name="Text Placeholder 5"/>
          <p:cNvSpPr>
            <a:spLocks noGrp="1"/>
          </p:cNvSpPr>
          <p:nvPr>
            <p:ph type="body" sz="quarter" idx="10"/>
          </p:nvPr>
        </p:nvSpPr>
        <p:spPr>
          <a:xfrm>
            <a:off x="838200" y="4495084"/>
            <a:ext cx="10515600" cy="1820257"/>
          </a:xfrm>
          <a:prstGeom prst="rect">
            <a:avLst/>
          </a:prstGeom>
        </p:spPr>
        <p:txBody>
          <a:bodyPr/>
          <a:lstStyle>
            <a:lvl1pPr marL="0" indent="0" algn="ctr">
              <a:buNone/>
              <a:defRPr sz="2800" spc="-50" baseline="0">
                <a:solidFill>
                  <a:srgbClr val="656768"/>
                </a:solidFill>
              </a:defRPr>
            </a:lvl1pPr>
          </a:lstStyle>
          <a:p>
            <a:pPr lvl="0"/>
            <a:r>
              <a:rPr lang="en-US" dirty="0"/>
              <a:t>Edit Master text styles</a:t>
            </a:r>
          </a:p>
        </p:txBody>
      </p:sp>
    </p:spTree>
    <p:extLst>
      <p:ext uri="{BB962C8B-B14F-4D97-AF65-F5344CB8AC3E}">
        <p14:creationId xmlns:p14="http://schemas.microsoft.com/office/powerpoint/2010/main" val="2630456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ight blue-slide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01791" y="555478"/>
            <a:ext cx="9097686"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 </a:t>
            </a:r>
            <a:endParaRPr lang="en-GB" dirty="0"/>
          </a:p>
        </p:txBody>
      </p:sp>
      <p:sp>
        <p:nvSpPr>
          <p:cNvPr id="9" name="Text Placeholder 8"/>
          <p:cNvSpPr>
            <a:spLocks noGrp="1"/>
          </p:cNvSpPr>
          <p:nvPr>
            <p:ph type="body" sz="quarter" idx="10" hasCustomPrompt="1"/>
          </p:nvPr>
        </p:nvSpPr>
        <p:spPr>
          <a:xfrm>
            <a:off x="601791" y="1811976"/>
            <a:ext cx="10994852" cy="4033348"/>
          </a:xfrm>
          <a:prstGeom prst="rect">
            <a:avLst/>
          </a:prstGeom>
        </p:spPr>
        <p:txBody>
          <a:bodyPr/>
          <a:lstStyle>
            <a:lvl1pPr>
              <a:buClr>
                <a:srgbClr val="942F6D"/>
              </a:buClr>
              <a:defRPr baseline="0">
                <a:solidFill>
                  <a:srgbClr val="656768"/>
                </a:solidFill>
              </a:defRPr>
            </a:lvl1pPr>
            <a:lvl2pPr>
              <a:buClr>
                <a:srgbClr val="942F6D"/>
              </a:buClr>
              <a:defRPr>
                <a:solidFill>
                  <a:srgbClr val="656768"/>
                </a:solidFill>
              </a:defRPr>
            </a:lvl2pPr>
            <a:lvl3pPr>
              <a:buClr>
                <a:srgbClr val="942F6D"/>
              </a:buClr>
              <a:defRPr>
                <a:solidFill>
                  <a:srgbClr val="656768"/>
                </a:solidFill>
              </a:defRPr>
            </a:lvl3pPr>
            <a:lvl4pPr>
              <a:buClr>
                <a:srgbClr val="942F6D"/>
              </a:buClr>
              <a:defRPr>
                <a:solidFill>
                  <a:srgbClr val="656768"/>
                </a:solidFill>
              </a:defRPr>
            </a:lvl4pPr>
            <a:lvl5pPr>
              <a:buClr>
                <a:srgbClr val="942F6D"/>
              </a:buClr>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1610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511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6281159" y="0"/>
            <a:ext cx="5910840" cy="6858000"/>
          </a:xfrm>
          <a:prstGeom prst="rect">
            <a:avLst/>
          </a:prstGeom>
        </p:spPr>
        <p:txBody>
          <a:bodyPr anchor="ctr">
            <a:normAutofit/>
          </a:bodyPr>
          <a:lstStyle>
            <a:lvl1pPr marL="0" indent="0" algn="ctr">
              <a:lnSpc>
                <a:spcPct val="150000"/>
              </a:lnSpc>
              <a:buNone/>
              <a:defRPr sz="2800" baseline="0"/>
            </a:lvl1pPr>
          </a:lstStyle>
          <a:p>
            <a:r>
              <a:rPr lang="en-GB" dirty="0"/>
              <a:t>Click to add picture </a:t>
            </a:r>
          </a:p>
        </p:txBody>
      </p:sp>
      <p:sp>
        <p:nvSpPr>
          <p:cNvPr id="8" name="Title Placeholder 1"/>
          <p:cNvSpPr>
            <a:spLocks noGrp="1"/>
          </p:cNvSpPr>
          <p:nvPr>
            <p:ph type="title"/>
          </p:nvPr>
        </p:nvSpPr>
        <p:spPr>
          <a:xfrm>
            <a:off x="601791" y="555478"/>
            <a:ext cx="5491361"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01791" y="1760537"/>
            <a:ext cx="5491361" cy="3845503"/>
          </a:xfrm>
          <a:prstGeom prst="rect">
            <a:avLst/>
          </a:prstGeom>
        </p:spPr>
        <p:txBody>
          <a:bodyPr/>
          <a:lstStyle>
            <a:lvl1pPr marL="0" indent="0">
              <a:buClr>
                <a:srgbClr val="6FC8F0"/>
              </a:buClr>
              <a:buNone/>
              <a:defRPr baseline="0">
                <a:solidFill>
                  <a:srgbClr val="656768"/>
                </a:solidFill>
              </a:defRPr>
            </a:lvl1pPr>
            <a:lvl2pPr marL="457200" indent="0">
              <a:buClr>
                <a:srgbClr val="6FC8F0"/>
              </a:buClr>
              <a:buNone/>
              <a:defRPr>
                <a:solidFill>
                  <a:srgbClr val="656768"/>
                </a:solidFill>
              </a:defRPr>
            </a:lvl2pPr>
            <a:lvl3pPr marL="914400" indent="0">
              <a:buClr>
                <a:srgbClr val="6FC8F0"/>
              </a:buClr>
              <a:buNone/>
              <a:defRPr>
                <a:solidFill>
                  <a:srgbClr val="656768"/>
                </a:solidFill>
              </a:defRPr>
            </a:lvl3pPr>
            <a:lvl4pPr marL="1371600" indent="0">
              <a:buClr>
                <a:srgbClr val="6FC8F0"/>
              </a:buClr>
              <a:buNone/>
              <a:defRPr>
                <a:solidFill>
                  <a:srgbClr val="656768"/>
                </a:solidFill>
              </a:defRPr>
            </a:lvl4pPr>
            <a:lvl5pPr marL="1828800" indent="0">
              <a:buClr>
                <a:srgbClr val="6FC8F0"/>
              </a:buClr>
              <a:buNone/>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34364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33065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9.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theme" Target="../theme/theme5.xm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6FC8F0"/>
              </a:solidFill>
            </a:endParaRPr>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8243868" y="839558"/>
            <a:ext cx="2149506" cy="1065960"/>
          </a:xfrm>
          <a:prstGeom prst="rect">
            <a:avLst/>
          </a:prstGeom>
        </p:spPr>
      </p:pic>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95238" y="789413"/>
            <a:ext cx="3468947" cy="1619998"/>
          </a:xfrm>
          <a:prstGeom prst="rect">
            <a:avLst/>
          </a:prstGeom>
        </p:spPr>
      </p:pic>
      <p:pic>
        <p:nvPicPr>
          <p:cNvPr id="5" name="Picture 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396000" y="5835495"/>
            <a:ext cx="1400000" cy="252000"/>
          </a:xfrm>
          <a:prstGeom prst="rect">
            <a:avLst/>
          </a:prstGeom>
        </p:spPr>
      </p:pic>
    </p:spTree>
    <p:extLst>
      <p:ext uri="{BB962C8B-B14F-4D97-AF65-F5344CB8AC3E}">
        <p14:creationId xmlns:p14="http://schemas.microsoft.com/office/powerpoint/2010/main" val="1954679641"/>
      </p:ext>
    </p:extLst>
  </p:cSld>
  <p:clrMap bg1="lt1" tx1="dk1" bg2="lt2" tx2="dk2" accent1="accent1" accent2="accent2" accent3="accent3" accent4="accent4" accent5="accent5" accent6="accent6" hlink="hlink" folHlink="folHlink"/>
  <p:sldLayoutIdLst>
    <p:sldLayoutId id="214748373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87702" y="788182"/>
            <a:ext cx="3466926" cy="1620000"/>
          </a:xfrm>
          <a:prstGeom prst="rect">
            <a:avLst/>
          </a:prstGeom>
        </p:spPr>
      </p:pic>
      <p:pic>
        <p:nvPicPr>
          <p:cNvPr id="2" name="Picture 1"/>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260456" y="843742"/>
            <a:ext cx="2149506" cy="1065960"/>
          </a:xfrm>
          <a:prstGeom prst="rect">
            <a:avLst/>
          </a:prstGeom>
        </p:spPr>
      </p:pic>
    </p:spTree>
    <p:extLst>
      <p:ext uri="{BB962C8B-B14F-4D97-AF65-F5344CB8AC3E}">
        <p14:creationId xmlns:p14="http://schemas.microsoft.com/office/powerpoint/2010/main" val="2587894036"/>
      </p:ext>
    </p:extLst>
  </p:cSld>
  <p:clrMap bg1="lt1" tx1="dk1" bg2="lt2" tx2="dk2" accent1="accent1" accent2="accent2" accent3="accent3" accent4="accent4" accent5="accent5" accent6="accent6" hlink="hlink" folHlink="folHlink"/>
  <p:sldLayoutIdLst>
    <p:sldLayoutId id="214748373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04230" y="536045"/>
            <a:ext cx="1605949" cy="720000"/>
          </a:xfrm>
          <a:prstGeom prst="rect">
            <a:avLst/>
          </a:prstGeom>
        </p:spPr>
      </p:pic>
      <p:sp>
        <p:nvSpPr>
          <p:cNvPr id="2" name="Rectangle 1"/>
          <p:cNvSpPr/>
          <p:nvPr userDrawn="1"/>
        </p:nvSpPr>
        <p:spPr>
          <a:xfrm>
            <a:off x="0" y="5982061"/>
            <a:ext cx="12192000" cy="875939"/>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10353239" y="6092032"/>
            <a:ext cx="1253879" cy="621810"/>
          </a:xfrm>
          <a:prstGeom prst="rect">
            <a:avLst/>
          </a:prstGeom>
        </p:spPr>
      </p:pic>
    </p:spTree>
    <p:extLst>
      <p:ext uri="{BB962C8B-B14F-4D97-AF65-F5344CB8AC3E}">
        <p14:creationId xmlns:p14="http://schemas.microsoft.com/office/powerpoint/2010/main" val="426790701"/>
      </p:ext>
    </p:extLst>
  </p:cSld>
  <p:clrMap bg1="lt1" tx1="dk1" bg2="lt2" tx2="dk2" accent1="accent1" accent2="accent2" accent3="accent3" accent4="accent4" accent5="accent5" accent6="accent6" hlink="hlink" folHlink="folHlink"/>
  <p:sldLayoutIdLst>
    <p:sldLayoutId id="2147483715" r:id="rId1"/>
    <p:sldLayoutId id="2147483704" r:id="rId2"/>
  </p:sldLayoutIdLst>
  <p:txStyles>
    <p:title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sp>
        <p:nvSpPr>
          <p:cNvPr id="2" name="Title Placeholder 1"/>
          <p:cNvSpPr>
            <a:spLocks noGrp="1"/>
          </p:cNvSpPr>
          <p:nvPr>
            <p:ph type="title"/>
          </p:nvPr>
        </p:nvSpPr>
        <p:spPr>
          <a:xfrm>
            <a:off x="601791" y="555478"/>
            <a:ext cx="5491361" cy="1068223"/>
          </a:xfrm>
          <a:prstGeom prst="rect">
            <a:avLst/>
          </a:prstGeom>
        </p:spPr>
        <p:txBody>
          <a:bodyPr vert="horz" lIns="91440" tIns="45720" rIns="91440" bIns="45720" rtlCol="0" anchor="t">
            <a:normAutofit/>
          </a:bodyPr>
          <a:lstStyle/>
          <a:p>
            <a:r>
              <a:rPr lang="en-US" dirty="0"/>
              <a:t>Click to edit title</a:t>
            </a:r>
            <a:endParaRPr lang="en-GB" dirty="0"/>
          </a:p>
        </p:txBody>
      </p:sp>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2880564" y="5569783"/>
            <a:ext cx="1433004" cy="710640"/>
          </a:xfrm>
          <a:prstGeom prst="rect">
            <a:avLst/>
          </a:prstGeom>
        </p:spPr>
      </p:pic>
      <p:pic>
        <p:nvPicPr>
          <p:cNvPr id="7" name="Picture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01791" y="5568969"/>
            <a:ext cx="1605950" cy="720000"/>
          </a:xfrm>
          <a:prstGeom prst="rect">
            <a:avLst/>
          </a:prstGeom>
        </p:spPr>
      </p:pic>
    </p:spTree>
    <p:extLst>
      <p:ext uri="{BB962C8B-B14F-4D97-AF65-F5344CB8AC3E}">
        <p14:creationId xmlns:p14="http://schemas.microsoft.com/office/powerpoint/2010/main" val="3132462621"/>
      </p:ext>
    </p:extLst>
  </p:cSld>
  <p:clrMap bg1="lt1" tx1="dk1" bg2="lt2" tx2="dk2" accent1="accent1" accent2="accent2" accent3="accent3" accent4="accent4" accent5="accent5" accent6="accent6" hlink="hlink" folHlink="folHlink"/>
  <p:sldLayoutIdLst>
    <p:sldLayoutId id="2147483712" r:id="rId1"/>
  </p:sldLayoutIdLst>
  <p:txStyles>
    <p:titleStyle>
      <a:lvl1pPr algn="l" defTabSz="914400" rtl="0" eaLnBrk="1" latinLnBrk="0" hangingPunct="1">
        <a:lnSpc>
          <a:spcPts val="3500"/>
        </a:lnSpc>
        <a:spcBef>
          <a:spcPct val="0"/>
        </a:spcBef>
        <a:buNone/>
        <a:defRPr sz="4200" b="1" kern="1200" cap="all" spc="-50" baseline="0">
          <a:solidFill>
            <a:srgbClr val="0D3E63"/>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D3E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t="32334"/>
          <a:stretch/>
        </p:blipFill>
        <p:spPr>
          <a:xfrm>
            <a:off x="1814513" y="3016664"/>
            <a:ext cx="8562975" cy="384133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73160" y="1067668"/>
            <a:ext cx="3854386" cy="180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979792" y="4898051"/>
            <a:ext cx="1433004" cy="710640"/>
          </a:xfrm>
          <a:prstGeom prst="rect">
            <a:avLst/>
          </a:prstGeom>
        </p:spPr>
      </p:pic>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775707" y="5412938"/>
            <a:ext cx="1400000" cy="252000"/>
          </a:xfrm>
          <a:prstGeom prst="rect">
            <a:avLst/>
          </a:prstGeom>
        </p:spPr>
      </p:pic>
    </p:spTree>
    <p:extLst>
      <p:ext uri="{BB962C8B-B14F-4D97-AF65-F5344CB8AC3E}">
        <p14:creationId xmlns:p14="http://schemas.microsoft.com/office/powerpoint/2010/main" val="4170031003"/>
      </p:ext>
    </p:extLst>
  </p:cSld>
  <p:clrMap bg1="lt1" tx1="dk1" bg2="lt2" tx2="dk2" accent1="accent1" accent2="accent2" accent3="accent3" accent4="accent4" accent5="accent5" accent6="accent6" hlink="hlink" folHlink="folHlink"/>
  <p:sldLayoutIdLst>
    <p:sldLayoutId id="214748371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gJo0uNL-5Qw"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hyperlink" Target="https://www.analyticsvidhya.com/blog/2022/02/k-fold-cross-validation-technique-and-its-essentials/#h-what-is-accuracy-of-the-model-and-performanc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prWyZhcktn4" TargetMode="External"/><Relationship Id="rId2" Type="http://schemas.openxmlformats.org/officeDocument/2006/relationships/hyperlink" Target="https://www.geeksforgeeks.org/confusion-matrix-machine-learning/"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towardsdatascience.com/understanding-auc-roc-curve-68b2303cc9c5" TargetMode="External"/><Relationship Id="rId2" Type="http://schemas.openxmlformats.org/officeDocument/2006/relationships/image" Target="../media/image15.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3.xml"/><Relationship Id="rId4" Type="http://schemas.openxmlformats.org/officeDocument/2006/relationships/hyperlink" Target="https://www.youtube.com/watch?v=4jRBRDbJemM"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2osIZ-dSPGE"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hyperlink" Target="https://www.youtube.com/watch?v=4HKqjENq9OU"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Machine learning</a:t>
            </a:r>
          </a:p>
        </p:txBody>
      </p:sp>
      <p:sp>
        <p:nvSpPr>
          <p:cNvPr id="3" name="Text Placeholder 2"/>
          <p:cNvSpPr>
            <a:spLocks noGrp="1"/>
          </p:cNvSpPr>
          <p:nvPr>
            <p:ph type="body" sz="quarter" idx="10"/>
          </p:nvPr>
        </p:nvSpPr>
        <p:spPr/>
        <p:txBody>
          <a:bodyPr/>
          <a:lstStyle/>
          <a:p>
            <a:r>
              <a:rPr lang="en-GB" dirty="0"/>
              <a:t>Regent College London</a:t>
            </a:r>
          </a:p>
          <a:p>
            <a:r>
              <a:rPr lang="en-GB" dirty="0"/>
              <a:t>SWE6204</a:t>
            </a:r>
          </a:p>
        </p:txBody>
      </p:sp>
    </p:spTree>
    <p:extLst>
      <p:ext uri="{BB962C8B-B14F-4D97-AF65-F5344CB8AC3E}">
        <p14:creationId xmlns:p14="http://schemas.microsoft.com/office/powerpoint/2010/main" val="1458045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Machine learning </a:t>
            </a:r>
          </a:p>
        </p:txBody>
      </p:sp>
      <p:sp>
        <p:nvSpPr>
          <p:cNvPr id="3" name="Text Placeholder 2"/>
          <p:cNvSpPr>
            <a:spLocks noGrp="1"/>
          </p:cNvSpPr>
          <p:nvPr>
            <p:ph type="body" sz="quarter" idx="10"/>
          </p:nvPr>
        </p:nvSpPr>
        <p:spPr/>
        <p:txBody>
          <a:bodyPr/>
          <a:lstStyle/>
          <a:p>
            <a:r>
              <a:rPr lang="en-GB" dirty="0"/>
              <a:t>SWE6204</a:t>
            </a:r>
          </a:p>
        </p:txBody>
      </p:sp>
    </p:spTree>
    <p:extLst>
      <p:ext uri="{BB962C8B-B14F-4D97-AF65-F5344CB8AC3E}">
        <p14:creationId xmlns:p14="http://schemas.microsoft.com/office/powerpoint/2010/main" val="2365191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8D52EB-A3E0-3F4C-9EBC-AC778DE37774}"/>
              </a:ext>
            </a:extLst>
          </p:cNvPr>
          <p:cNvSpPr>
            <a:spLocks noGrp="1"/>
          </p:cNvSpPr>
          <p:nvPr>
            <p:ph type="title"/>
          </p:nvPr>
        </p:nvSpPr>
        <p:spPr/>
        <p:txBody>
          <a:bodyPr/>
          <a:lstStyle/>
          <a:p>
            <a:r>
              <a:rPr lang="en-GB" dirty="0"/>
              <a:t>Machine learning</a:t>
            </a:r>
            <a:endParaRPr lang="en-US" dirty="0"/>
          </a:p>
        </p:txBody>
      </p:sp>
      <p:sp>
        <p:nvSpPr>
          <p:cNvPr id="4" name="Text Placeholder 3">
            <a:extLst>
              <a:ext uri="{FF2B5EF4-FFF2-40B4-BE49-F238E27FC236}">
                <a16:creationId xmlns:a16="http://schemas.microsoft.com/office/drawing/2014/main" id="{2CFEF0A4-9481-7245-BC4A-7DDD704352DD}"/>
              </a:ext>
            </a:extLst>
          </p:cNvPr>
          <p:cNvSpPr>
            <a:spLocks noGrp="1"/>
          </p:cNvSpPr>
          <p:nvPr>
            <p:ph type="body" sz="quarter" idx="11"/>
          </p:nvPr>
        </p:nvSpPr>
        <p:spPr/>
        <p:txBody>
          <a:bodyPr/>
          <a:lstStyle/>
          <a:p>
            <a:endParaRPr lang="en-US" dirty="0"/>
          </a:p>
          <a:p>
            <a:r>
              <a:rPr lang="en-GB" dirty="0">
                <a:solidFill>
                  <a:schemeClr val="tx1">
                    <a:lumMod val="65000"/>
                    <a:lumOff val="35000"/>
                  </a:schemeClr>
                </a:solidFill>
                <a:latin typeface="Calibri" panose="020F0502020204030204" pitchFamily="34" charset="0"/>
              </a:rPr>
              <a:t>ML MODEL VALIDATION </a:t>
            </a:r>
          </a:p>
          <a:p>
            <a:r>
              <a:rPr lang="en-GB" dirty="0">
                <a:solidFill>
                  <a:schemeClr val="tx1">
                    <a:lumMod val="65000"/>
                    <a:lumOff val="35000"/>
                  </a:schemeClr>
                </a:solidFill>
                <a:latin typeface="Calibri" panose="020F0502020204030204" pitchFamily="34" charset="0"/>
              </a:rPr>
              <a:t>TECHNIQUE</a:t>
            </a:r>
            <a:endParaRPr lang="en-GB" dirty="0">
              <a:solidFill>
                <a:schemeClr val="tx1">
                  <a:lumMod val="65000"/>
                  <a:lumOff val="35000"/>
                </a:schemeClr>
              </a:solidFill>
            </a:endParaRPr>
          </a:p>
          <a:p>
            <a:endParaRPr lang="en-US" dirty="0"/>
          </a:p>
        </p:txBody>
      </p:sp>
      <p:pic>
        <p:nvPicPr>
          <p:cNvPr id="5" name="Picture 4">
            <a:extLst>
              <a:ext uri="{FF2B5EF4-FFF2-40B4-BE49-F238E27FC236}">
                <a16:creationId xmlns:a16="http://schemas.microsoft.com/office/drawing/2014/main" id="{92C6E8E5-BE8D-1A44-B2E2-3F645E098C65}"/>
              </a:ext>
            </a:extLst>
          </p:cNvPr>
          <p:cNvPicPr>
            <a:picLocks noChangeAspect="1"/>
          </p:cNvPicPr>
          <p:nvPr/>
        </p:nvPicPr>
        <p:blipFill>
          <a:blip r:embed="rId2"/>
          <a:stretch>
            <a:fillRect/>
          </a:stretch>
        </p:blipFill>
        <p:spPr>
          <a:xfrm>
            <a:off x="5190768" y="1704061"/>
            <a:ext cx="6551188" cy="3958454"/>
          </a:xfrm>
          <a:prstGeom prst="rect">
            <a:avLst/>
          </a:prstGeom>
        </p:spPr>
      </p:pic>
    </p:spTree>
    <p:extLst>
      <p:ext uri="{BB962C8B-B14F-4D97-AF65-F5344CB8AC3E}">
        <p14:creationId xmlns:p14="http://schemas.microsoft.com/office/powerpoint/2010/main" val="2177627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BA340-02CC-904F-8C88-B5AA849D9854}"/>
              </a:ext>
            </a:extLst>
          </p:cNvPr>
          <p:cNvSpPr txBox="1">
            <a:spLocks/>
          </p:cNvSpPr>
          <p:nvPr/>
        </p:nvSpPr>
        <p:spPr>
          <a:xfrm>
            <a:off x="1591827" y="2985581"/>
            <a:ext cx="10515600" cy="1186075"/>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GB" dirty="0"/>
              <a:t>Module 1 – MACHINE LEARNING MODEL VALIDATION TECHNIQUE</a:t>
            </a:r>
          </a:p>
        </p:txBody>
      </p:sp>
    </p:spTree>
    <p:extLst>
      <p:ext uri="{BB962C8B-B14F-4D97-AF65-F5344CB8AC3E}">
        <p14:creationId xmlns:p14="http://schemas.microsoft.com/office/powerpoint/2010/main" val="1741829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Learning objectives</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r>
              <a:rPr lang="en-US" dirty="0">
                <a:solidFill>
                  <a:schemeClr val="tx1">
                    <a:lumMod val="75000"/>
                    <a:lumOff val="25000"/>
                  </a:schemeClr>
                </a:solidFill>
              </a:rPr>
              <a:t>Understand ML Evaluation Metrices</a:t>
            </a:r>
          </a:p>
          <a:p>
            <a:r>
              <a:rPr lang="en-GB" dirty="0">
                <a:solidFill>
                  <a:schemeClr val="tx1">
                    <a:lumMod val="75000"/>
                    <a:lumOff val="25000"/>
                  </a:schemeClr>
                </a:solidFill>
              </a:rPr>
              <a:t>Understand the Accuracy</a:t>
            </a:r>
          </a:p>
          <a:p>
            <a:r>
              <a:rPr lang="en-GB" dirty="0">
                <a:solidFill>
                  <a:schemeClr val="tx1">
                    <a:lumMod val="75000"/>
                    <a:lumOff val="25000"/>
                  </a:schemeClr>
                </a:solidFill>
              </a:rPr>
              <a:t>Understand the Confusion Matrix</a:t>
            </a:r>
          </a:p>
          <a:p>
            <a:r>
              <a:rPr lang="en-GB" dirty="0">
                <a:solidFill>
                  <a:schemeClr val="tx1">
                    <a:lumMod val="75000"/>
                    <a:lumOff val="25000"/>
                  </a:schemeClr>
                </a:solidFill>
              </a:rPr>
              <a:t>Understand AUC</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52993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ML evaluation metrices</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794694" y="1331069"/>
            <a:ext cx="11159866" cy="3815101"/>
          </a:xfrm>
        </p:spPr>
        <p:txBody>
          <a:bodyPr/>
          <a:lstStyle/>
          <a:p>
            <a:pPr marL="474133" indent="-457200">
              <a:spcBef>
                <a:spcPts val="2580"/>
              </a:spcBef>
              <a:tabLst>
                <a:tab pos="321725" algn="l"/>
              </a:tabLst>
            </a:pPr>
            <a:r>
              <a:rPr lang="en-GB" dirty="0">
                <a:solidFill>
                  <a:schemeClr val="tx1">
                    <a:lumMod val="75000"/>
                    <a:lumOff val="25000"/>
                  </a:schemeClr>
                </a:solidFill>
                <a:cs typeface="Arial Black"/>
              </a:rPr>
              <a:t>Methods which determine an algorithm’s performance and behaviour</a:t>
            </a:r>
          </a:p>
          <a:p>
            <a:pPr marL="474133" indent="-457200">
              <a:spcBef>
                <a:spcPts val="2560"/>
              </a:spcBef>
              <a:tabLst>
                <a:tab pos="321725" algn="l"/>
              </a:tabLst>
            </a:pPr>
            <a:r>
              <a:rPr lang="en-GB" dirty="0">
                <a:solidFill>
                  <a:schemeClr val="tx1">
                    <a:lumMod val="75000"/>
                    <a:lumOff val="25000"/>
                  </a:schemeClr>
                </a:solidFill>
                <a:cs typeface="Arial Black"/>
              </a:rPr>
              <a:t>Helpful to decide the best model to meet the target performance</a:t>
            </a:r>
          </a:p>
          <a:p>
            <a:pPr marL="473287" marR="193035" indent="-457200">
              <a:lnSpc>
                <a:spcPct val="114999"/>
              </a:lnSpc>
              <a:spcBef>
                <a:spcPts val="2127"/>
              </a:spcBef>
              <a:tabLst>
                <a:tab pos="321725" algn="l"/>
              </a:tabLst>
            </a:pPr>
            <a:r>
              <a:rPr lang="en-GB" dirty="0">
                <a:solidFill>
                  <a:schemeClr val="tx1">
                    <a:lumMod val="75000"/>
                    <a:lumOff val="25000"/>
                  </a:schemeClr>
                </a:solidFill>
                <a:cs typeface="Arial Black"/>
              </a:rPr>
              <a:t>Helpful to parameterize the model in such a way that can offer best  performing algorithm</a:t>
            </a:r>
          </a:p>
          <a:p>
            <a:pPr marL="474133" indent="-457200">
              <a:spcBef>
                <a:spcPts val="560"/>
              </a:spcBef>
              <a:tabLst>
                <a:tab pos="321725" algn="l"/>
              </a:tabLst>
            </a:pPr>
            <a:r>
              <a:rPr lang="en-GB" dirty="0">
                <a:solidFill>
                  <a:schemeClr val="tx1">
                    <a:lumMod val="75000"/>
                    <a:lumOff val="25000"/>
                  </a:schemeClr>
                </a:solidFill>
                <a:cs typeface="Arial Black"/>
              </a:rPr>
              <a:t>Various types of ML Algorithms (classification, regression, ranking, clustering)</a:t>
            </a:r>
          </a:p>
          <a:p>
            <a:pPr marL="474133" indent="-457200">
              <a:spcBef>
                <a:spcPts val="560"/>
              </a:spcBef>
              <a:tabLst>
                <a:tab pos="321725" algn="l"/>
              </a:tabLst>
            </a:pPr>
            <a:r>
              <a:rPr lang="en-GB" dirty="0">
                <a:solidFill>
                  <a:schemeClr val="tx1">
                    <a:lumMod val="75000"/>
                    <a:lumOff val="25000"/>
                  </a:schemeClr>
                </a:solidFill>
                <a:cs typeface="Arial Black"/>
              </a:rPr>
              <a:t>Different types of evaluation metrics for different types of algorithm</a:t>
            </a:r>
          </a:p>
          <a:p>
            <a:pPr marL="474133" indent="-457200">
              <a:spcBef>
                <a:spcPts val="560"/>
              </a:spcBef>
              <a:tabLst>
                <a:tab pos="321725" algn="l"/>
              </a:tabLst>
            </a:pPr>
            <a:r>
              <a:rPr lang="en-GB" dirty="0">
                <a:solidFill>
                  <a:schemeClr val="tx1">
                    <a:lumMod val="75000"/>
                    <a:lumOff val="25000"/>
                  </a:schemeClr>
                </a:solidFill>
                <a:cs typeface="Arial Black"/>
              </a:rPr>
              <a:t>Some metrics can be useful for more than one type of algorithm (Precision - Recall)</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07557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Accuracy </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r>
              <a:rPr lang="en-GB" dirty="0">
                <a:solidFill>
                  <a:schemeClr val="tx1">
                    <a:lumMod val="75000"/>
                    <a:lumOff val="25000"/>
                  </a:schemeClr>
                </a:solidFill>
                <a:cs typeface="Arial Black"/>
              </a:rPr>
              <a:t>Ratio between the number of correct predictions and total number of predictions</a:t>
            </a:r>
          </a:p>
          <a:p>
            <a:endParaRPr lang="en-GB" dirty="0">
              <a:solidFill>
                <a:schemeClr val="tx1">
                  <a:lumMod val="75000"/>
                  <a:lumOff val="25000"/>
                </a:schemeClr>
              </a:solidFill>
              <a:cs typeface="Arial Black"/>
            </a:endParaRPr>
          </a:p>
          <a:p>
            <a:endParaRPr lang="en-GB" dirty="0">
              <a:solidFill>
                <a:schemeClr val="tx1">
                  <a:lumMod val="75000"/>
                  <a:lumOff val="25000"/>
                </a:schemeClr>
              </a:solidFill>
              <a:cs typeface="Arial Black"/>
            </a:endParaRPr>
          </a:p>
          <a:p>
            <a:r>
              <a:rPr lang="en-GB" dirty="0">
                <a:solidFill>
                  <a:schemeClr val="tx1">
                    <a:lumMod val="75000"/>
                    <a:lumOff val="25000"/>
                  </a:schemeClr>
                </a:solidFill>
                <a:cs typeface="Arial Black"/>
              </a:rPr>
              <a:t>Example: Suppose we have 100 examples in the positive class and 200  examples in the negative class. Our model declares 80 out of 100  positives as positive correctly and 195 out of 200 negatives as negative  correctly.</a:t>
            </a:r>
          </a:p>
          <a:p>
            <a:r>
              <a:rPr lang="en-GB" dirty="0">
                <a:solidFill>
                  <a:schemeClr val="tx1">
                    <a:lumMod val="75000"/>
                    <a:lumOff val="25000"/>
                  </a:schemeClr>
                </a:solidFill>
                <a:cs typeface="Arial Black"/>
              </a:rPr>
              <a:t>So, accuracy is = (80 + 195)/(100 + 200) = 91.7%</a:t>
            </a:r>
          </a:p>
          <a:p>
            <a:endParaRPr lang="en-GB" dirty="0">
              <a:solidFill>
                <a:schemeClr val="tx1">
                  <a:lumMod val="75000"/>
                  <a:lumOff val="25000"/>
                </a:schemeClr>
              </a:solidFill>
              <a:cs typeface="Arial Black"/>
            </a:endParaRP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
        <p:nvSpPr>
          <p:cNvPr id="7" name="object 5">
            <a:extLst>
              <a:ext uri="{FF2B5EF4-FFF2-40B4-BE49-F238E27FC236}">
                <a16:creationId xmlns:a16="http://schemas.microsoft.com/office/drawing/2014/main" id="{B39C439D-C4E3-4742-A463-5A72E81C0A03}"/>
              </a:ext>
            </a:extLst>
          </p:cNvPr>
          <p:cNvSpPr/>
          <p:nvPr/>
        </p:nvSpPr>
        <p:spPr>
          <a:xfrm>
            <a:off x="2919498" y="2494606"/>
            <a:ext cx="4462272" cy="985519"/>
          </a:xfrm>
          <a:prstGeom prst="rect">
            <a:avLst/>
          </a:prstGeom>
          <a:blipFill>
            <a:blip r:embed="rId2"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1009512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ML model validation Techniques</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794694" y="1331069"/>
            <a:ext cx="11159866" cy="4749691"/>
          </a:xfrm>
        </p:spPr>
        <p:txBody>
          <a:bodyPr/>
          <a:lstStyle/>
          <a:p>
            <a:r>
              <a:rPr lang="en-US" dirty="0">
                <a:solidFill>
                  <a:schemeClr val="bg2">
                    <a:lumMod val="25000"/>
                  </a:schemeClr>
                </a:solidFill>
                <a:hlinkClick r:id="rId3"/>
              </a:rPr>
              <a:t>https://www.youtube.com/watch?v=gJo0uNL-5Qw</a:t>
            </a:r>
            <a:r>
              <a:rPr lang="en-US" dirty="0">
                <a:solidFill>
                  <a:schemeClr val="bg2">
                    <a:lumMod val="25000"/>
                  </a:schemeClr>
                </a:solidFill>
              </a:rPr>
              <a:t> </a:t>
            </a:r>
          </a:p>
          <a:p>
            <a:r>
              <a:rPr lang="en-US" dirty="0">
                <a:solidFill>
                  <a:schemeClr val="bg2">
                    <a:lumMod val="25000"/>
                  </a:schemeClr>
                </a:solidFill>
                <a:hlinkClick r:id="rId4"/>
              </a:rPr>
              <a:t>https://www.analyticsvidhya.com/blog/2022/02/k-fold-cross-validation-technique-and-its-essentials/#h-what-is-accuracy-of-the-model-and-performance</a:t>
            </a:r>
            <a:r>
              <a:rPr lang="en-US" dirty="0">
                <a:solidFill>
                  <a:schemeClr val="bg2">
                    <a:lumMod val="25000"/>
                  </a:schemeClr>
                </a:solidFill>
              </a:rPr>
              <a:t> </a:t>
            </a: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82506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Confusion matrix </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85765"/>
            <a:ext cx="10712388" cy="4799795"/>
          </a:xfrm>
        </p:spPr>
        <p:txBody>
          <a:bodyPr/>
          <a:lstStyle/>
          <a:p>
            <a:pPr marL="473287" marR="6773" indent="-457200">
              <a:lnSpc>
                <a:spcPct val="114999"/>
              </a:lnSpc>
              <a:spcBef>
                <a:spcPts val="133"/>
              </a:spcBef>
              <a:tabLst>
                <a:tab pos="457189" algn="l"/>
                <a:tab pos="458035" algn="l"/>
              </a:tabLst>
            </a:pPr>
            <a:r>
              <a:rPr lang="en-GB" spc="-260" dirty="0">
                <a:solidFill>
                  <a:schemeClr val="tx1">
                    <a:lumMod val="75000"/>
                    <a:lumOff val="25000"/>
                  </a:schemeClr>
                </a:solidFill>
                <a:cs typeface="Arial Black"/>
              </a:rPr>
              <a:t>Shows </a:t>
            </a:r>
            <a:r>
              <a:rPr lang="en-GB" spc="-240" dirty="0">
                <a:solidFill>
                  <a:schemeClr val="tx1">
                    <a:lumMod val="75000"/>
                    <a:lumOff val="25000"/>
                  </a:schemeClr>
                </a:solidFill>
                <a:cs typeface="Arial Black"/>
              </a:rPr>
              <a:t>a </a:t>
            </a:r>
            <a:r>
              <a:rPr lang="en-GB" spc="-160" dirty="0">
                <a:solidFill>
                  <a:schemeClr val="tx1">
                    <a:lumMod val="75000"/>
                    <a:lumOff val="25000"/>
                  </a:schemeClr>
                </a:solidFill>
                <a:cs typeface="Arial Black"/>
              </a:rPr>
              <a:t>more </a:t>
            </a:r>
            <a:r>
              <a:rPr lang="en-GB" spc="-187" dirty="0">
                <a:solidFill>
                  <a:schemeClr val="tx1">
                    <a:lumMod val="75000"/>
                    <a:lumOff val="25000"/>
                  </a:schemeClr>
                </a:solidFill>
                <a:cs typeface="Arial Black"/>
              </a:rPr>
              <a:t>detailed </a:t>
            </a:r>
            <a:r>
              <a:rPr lang="en-GB" spc="-193" dirty="0">
                <a:solidFill>
                  <a:schemeClr val="tx1">
                    <a:lumMod val="75000"/>
                    <a:lumOff val="25000"/>
                  </a:schemeClr>
                </a:solidFill>
                <a:cs typeface="Arial Black"/>
              </a:rPr>
              <a:t>breakdown </a:t>
            </a:r>
            <a:r>
              <a:rPr lang="en-GB" spc="-133" dirty="0">
                <a:solidFill>
                  <a:schemeClr val="tx1">
                    <a:lumMod val="75000"/>
                    <a:lumOff val="25000"/>
                  </a:schemeClr>
                </a:solidFill>
                <a:cs typeface="Arial Black"/>
              </a:rPr>
              <a:t>of </a:t>
            </a:r>
            <a:r>
              <a:rPr lang="en-GB" spc="-227" dirty="0">
                <a:solidFill>
                  <a:schemeClr val="tx1">
                    <a:lumMod val="75000"/>
                    <a:lumOff val="25000"/>
                  </a:schemeClr>
                </a:solidFill>
                <a:cs typeface="Arial Black"/>
              </a:rPr>
              <a:t>correct </a:t>
            </a:r>
            <a:r>
              <a:rPr lang="en-GB" spc="-167" dirty="0">
                <a:solidFill>
                  <a:schemeClr val="tx1">
                    <a:lumMod val="75000"/>
                    <a:lumOff val="25000"/>
                  </a:schemeClr>
                </a:solidFill>
                <a:cs typeface="Arial Black"/>
              </a:rPr>
              <a:t>and </a:t>
            </a:r>
            <a:r>
              <a:rPr lang="en-GB" spc="-213" dirty="0">
                <a:solidFill>
                  <a:schemeClr val="tx1">
                    <a:lumMod val="75000"/>
                    <a:lumOff val="25000"/>
                  </a:schemeClr>
                </a:solidFill>
                <a:cs typeface="Arial Black"/>
              </a:rPr>
              <a:t>incorrect </a:t>
            </a:r>
            <a:r>
              <a:rPr lang="en-GB" spc="-233" dirty="0">
                <a:solidFill>
                  <a:schemeClr val="tx1">
                    <a:lumMod val="75000"/>
                    <a:lumOff val="25000"/>
                  </a:schemeClr>
                </a:solidFill>
                <a:cs typeface="Arial Black"/>
              </a:rPr>
              <a:t>classifications </a:t>
            </a:r>
            <a:r>
              <a:rPr lang="en-GB" spc="-113" dirty="0">
                <a:solidFill>
                  <a:schemeClr val="tx1">
                    <a:lumMod val="75000"/>
                    <a:lumOff val="25000"/>
                  </a:schemeClr>
                </a:solidFill>
                <a:cs typeface="Arial Black"/>
              </a:rPr>
              <a:t>for </a:t>
            </a:r>
            <a:r>
              <a:rPr lang="en-GB" spc="-260" dirty="0">
                <a:solidFill>
                  <a:schemeClr val="tx1">
                    <a:lumMod val="75000"/>
                    <a:lumOff val="25000"/>
                  </a:schemeClr>
                </a:solidFill>
                <a:cs typeface="Arial Black"/>
              </a:rPr>
              <a:t>each  </a:t>
            </a:r>
            <a:r>
              <a:rPr lang="en-GB" spc="-267" dirty="0">
                <a:solidFill>
                  <a:schemeClr val="tx1">
                    <a:lumMod val="75000"/>
                    <a:lumOff val="25000"/>
                  </a:schemeClr>
                </a:solidFill>
                <a:cs typeface="Arial Black"/>
              </a:rPr>
              <a:t>class.</a:t>
            </a:r>
          </a:p>
          <a:p>
            <a:pPr marL="473287" marR="6773" indent="-457200">
              <a:lnSpc>
                <a:spcPct val="114999"/>
              </a:lnSpc>
              <a:spcBef>
                <a:spcPts val="133"/>
              </a:spcBef>
              <a:tabLst>
                <a:tab pos="457189" algn="l"/>
                <a:tab pos="458035" algn="l"/>
              </a:tabLst>
            </a:pPr>
            <a:r>
              <a:rPr lang="en-GB" spc="-220" dirty="0">
                <a:solidFill>
                  <a:schemeClr val="tx1">
                    <a:lumMod val="75000"/>
                    <a:lumOff val="25000"/>
                  </a:schemeClr>
                </a:solidFill>
                <a:cs typeface="Arial Black"/>
              </a:rPr>
              <a:t>Think </a:t>
            </a:r>
            <a:r>
              <a:rPr lang="en-GB" spc="-167" dirty="0">
                <a:solidFill>
                  <a:schemeClr val="tx1">
                    <a:lumMod val="75000"/>
                    <a:lumOff val="25000"/>
                  </a:schemeClr>
                </a:solidFill>
                <a:cs typeface="Arial Black"/>
              </a:rPr>
              <a:t>about </a:t>
            </a:r>
            <a:r>
              <a:rPr lang="en-GB" spc="-113" dirty="0">
                <a:solidFill>
                  <a:schemeClr val="tx1">
                    <a:lumMod val="75000"/>
                    <a:lumOff val="25000"/>
                  </a:schemeClr>
                </a:solidFill>
                <a:cs typeface="Arial Black"/>
              </a:rPr>
              <a:t>our </a:t>
            </a:r>
            <a:r>
              <a:rPr lang="en-GB" spc="-173" dirty="0">
                <a:solidFill>
                  <a:schemeClr val="tx1">
                    <a:lumMod val="75000"/>
                    <a:lumOff val="25000"/>
                  </a:schemeClr>
                </a:solidFill>
                <a:cs typeface="Arial Black"/>
              </a:rPr>
              <a:t>previous </a:t>
            </a:r>
            <a:r>
              <a:rPr lang="en-GB" spc="-213" dirty="0">
                <a:solidFill>
                  <a:schemeClr val="tx1">
                    <a:lumMod val="75000"/>
                    <a:lumOff val="25000"/>
                  </a:schemeClr>
                </a:solidFill>
                <a:cs typeface="Arial Black"/>
              </a:rPr>
              <a:t>example </a:t>
            </a:r>
            <a:r>
              <a:rPr lang="en-GB" spc="-167" dirty="0">
                <a:solidFill>
                  <a:schemeClr val="tx1">
                    <a:lumMod val="75000"/>
                    <a:lumOff val="25000"/>
                  </a:schemeClr>
                </a:solidFill>
                <a:cs typeface="Arial Black"/>
              </a:rPr>
              <a:t>and then </a:t>
            </a:r>
            <a:r>
              <a:rPr lang="en-GB" spc="-187" dirty="0">
                <a:solidFill>
                  <a:schemeClr val="tx1">
                    <a:lumMod val="75000"/>
                    <a:lumOff val="25000"/>
                  </a:schemeClr>
                </a:solidFill>
                <a:cs typeface="Arial Black"/>
              </a:rPr>
              <a:t>the confusion </a:t>
            </a:r>
            <a:r>
              <a:rPr lang="en-GB" spc="-200" dirty="0">
                <a:solidFill>
                  <a:schemeClr val="tx1">
                    <a:lumMod val="75000"/>
                    <a:lumOff val="25000"/>
                  </a:schemeClr>
                </a:solidFill>
                <a:cs typeface="Arial Black"/>
              </a:rPr>
              <a:t>matrix </a:t>
            </a:r>
            <a:r>
              <a:rPr lang="en-GB" spc="-213" dirty="0">
                <a:solidFill>
                  <a:schemeClr val="tx1">
                    <a:lumMod val="75000"/>
                    <a:lumOff val="25000"/>
                  </a:schemeClr>
                </a:solidFill>
                <a:cs typeface="Arial Black"/>
              </a:rPr>
              <a:t>looks</a:t>
            </a:r>
            <a:r>
              <a:rPr lang="en-GB" spc="73" dirty="0">
                <a:solidFill>
                  <a:schemeClr val="tx1">
                    <a:lumMod val="75000"/>
                    <a:lumOff val="25000"/>
                  </a:schemeClr>
                </a:solidFill>
                <a:cs typeface="Arial Black"/>
              </a:rPr>
              <a:t> </a:t>
            </a:r>
            <a:r>
              <a:rPr lang="en-GB" spc="-207" dirty="0">
                <a:solidFill>
                  <a:schemeClr val="tx1">
                    <a:lumMod val="75000"/>
                    <a:lumOff val="25000"/>
                  </a:schemeClr>
                </a:solidFill>
                <a:cs typeface="Arial Black"/>
              </a:rPr>
              <a:t>like:</a:t>
            </a:r>
          </a:p>
          <a:p>
            <a:pPr marL="473287" marR="6773" indent="-457200">
              <a:lnSpc>
                <a:spcPct val="114999"/>
              </a:lnSpc>
              <a:spcBef>
                <a:spcPts val="133"/>
              </a:spcBef>
              <a:tabLst>
                <a:tab pos="457189" algn="l"/>
                <a:tab pos="458035" algn="l"/>
              </a:tabLst>
            </a:pPr>
            <a:endParaRPr lang="en-GB" spc="-207" dirty="0">
              <a:solidFill>
                <a:schemeClr val="tx1">
                  <a:lumMod val="75000"/>
                  <a:lumOff val="25000"/>
                </a:schemeClr>
              </a:solidFill>
              <a:cs typeface="Arial Black"/>
            </a:endParaRPr>
          </a:p>
          <a:p>
            <a:pPr marL="473287" marR="6773" indent="-457200">
              <a:lnSpc>
                <a:spcPct val="114999"/>
              </a:lnSpc>
              <a:spcBef>
                <a:spcPts val="133"/>
              </a:spcBef>
              <a:tabLst>
                <a:tab pos="457189" algn="l"/>
                <a:tab pos="458035" algn="l"/>
              </a:tabLst>
            </a:pPr>
            <a:endParaRPr lang="en-GB" spc="-207" dirty="0">
              <a:solidFill>
                <a:schemeClr val="tx1">
                  <a:lumMod val="75000"/>
                  <a:lumOff val="25000"/>
                </a:schemeClr>
              </a:solidFill>
              <a:cs typeface="Arial Black"/>
            </a:endParaRPr>
          </a:p>
          <a:p>
            <a:pPr marL="473287" marR="6773" indent="-457200">
              <a:lnSpc>
                <a:spcPct val="114999"/>
              </a:lnSpc>
              <a:spcBef>
                <a:spcPts val="133"/>
              </a:spcBef>
              <a:tabLst>
                <a:tab pos="457189" algn="l"/>
                <a:tab pos="458035" algn="l"/>
              </a:tabLst>
            </a:pPr>
            <a:endParaRPr lang="en-GB" spc="-207" dirty="0">
              <a:solidFill>
                <a:schemeClr val="tx1">
                  <a:lumMod val="75000"/>
                  <a:lumOff val="25000"/>
                </a:schemeClr>
              </a:solidFill>
              <a:cs typeface="Arial Black"/>
            </a:endParaRPr>
          </a:p>
          <a:p>
            <a:pPr marL="473287" indent="-457200">
              <a:spcBef>
                <a:spcPts val="127"/>
              </a:spcBef>
              <a:tabLst>
                <a:tab pos="457189" algn="l"/>
                <a:tab pos="458035" algn="l"/>
              </a:tabLst>
            </a:pPr>
            <a:r>
              <a:rPr lang="en-GB" spc="-180" dirty="0">
                <a:solidFill>
                  <a:schemeClr val="tx1">
                    <a:lumMod val="75000"/>
                    <a:lumOff val="25000"/>
                  </a:schemeClr>
                </a:solidFill>
                <a:cs typeface="Arial Black"/>
              </a:rPr>
              <a:t>What </a:t>
            </a:r>
            <a:r>
              <a:rPr lang="en-GB" spc="-233" dirty="0">
                <a:solidFill>
                  <a:schemeClr val="tx1">
                    <a:lumMod val="75000"/>
                    <a:lumOff val="25000"/>
                  </a:schemeClr>
                </a:solidFill>
                <a:cs typeface="Arial Black"/>
              </a:rPr>
              <a:t>is </a:t>
            </a:r>
            <a:r>
              <a:rPr lang="en-GB" spc="-180" dirty="0">
                <a:solidFill>
                  <a:schemeClr val="tx1">
                    <a:lumMod val="75000"/>
                    <a:lumOff val="25000"/>
                  </a:schemeClr>
                </a:solidFill>
                <a:cs typeface="Arial Black"/>
              </a:rPr>
              <a:t>the </a:t>
            </a:r>
            <a:r>
              <a:rPr lang="en-GB" spc="-280" dirty="0">
                <a:solidFill>
                  <a:schemeClr val="tx1">
                    <a:lumMod val="75000"/>
                    <a:lumOff val="25000"/>
                  </a:schemeClr>
                </a:solidFill>
                <a:cs typeface="Arial Black"/>
              </a:rPr>
              <a:t>accuracy </a:t>
            </a:r>
            <a:r>
              <a:rPr lang="en-GB" spc="-193" dirty="0">
                <a:solidFill>
                  <a:schemeClr val="tx1">
                    <a:lumMod val="75000"/>
                    <a:lumOff val="25000"/>
                  </a:schemeClr>
                </a:solidFill>
                <a:cs typeface="Arial Black"/>
              </a:rPr>
              <a:t>that </a:t>
            </a:r>
            <a:r>
              <a:rPr lang="en-GB" spc="-200" dirty="0">
                <a:solidFill>
                  <a:schemeClr val="tx1">
                    <a:lumMod val="75000"/>
                    <a:lumOff val="25000"/>
                  </a:schemeClr>
                </a:solidFill>
                <a:cs typeface="Arial Black"/>
              </a:rPr>
              <a:t>positive </a:t>
            </a:r>
            <a:r>
              <a:rPr lang="en-GB" spc="-287" dirty="0">
                <a:solidFill>
                  <a:schemeClr val="tx1">
                    <a:lumMod val="75000"/>
                    <a:lumOff val="25000"/>
                  </a:schemeClr>
                </a:solidFill>
                <a:cs typeface="Arial Black"/>
              </a:rPr>
              <a:t>class </a:t>
            </a:r>
            <a:r>
              <a:rPr lang="en-GB" spc="-220" dirty="0">
                <a:solidFill>
                  <a:schemeClr val="tx1">
                    <a:lumMod val="75000"/>
                    <a:lumOff val="25000"/>
                  </a:schemeClr>
                </a:solidFill>
                <a:cs typeface="Arial Black"/>
              </a:rPr>
              <a:t>has </a:t>
            </a:r>
            <a:r>
              <a:rPr lang="en-GB" spc="-393" dirty="0">
                <a:solidFill>
                  <a:schemeClr val="tx1">
                    <a:lumMod val="75000"/>
                    <a:lumOff val="25000"/>
                  </a:schemeClr>
                </a:solidFill>
                <a:cs typeface="Arial Black"/>
              </a:rPr>
              <a:t>? </a:t>
            </a:r>
            <a:r>
              <a:rPr lang="en-GB" spc="-187" dirty="0">
                <a:solidFill>
                  <a:schemeClr val="tx1">
                    <a:lumMod val="75000"/>
                    <a:lumOff val="25000"/>
                  </a:schemeClr>
                </a:solidFill>
                <a:cs typeface="Arial Black"/>
              </a:rPr>
              <a:t>And </a:t>
            </a:r>
            <a:r>
              <a:rPr lang="en-GB" spc="-220" dirty="0">
                <a:solidFill>
                  <a:schemeClr val="tx1">
                    <a:lumMod val="75000"/>
                    <a:lumOff val="25000"/>
                  </a:schemeClr>
                </a:solidFill>
                <a:cs typeface="Arial Black"/>
              </a:rPr>
              <a:t>Negative</a:t>
            </a:r>
            <a:r>
              <a:rPr lang="en-GB" spc="-40" dirty="0">
                <a:solidFill>
                  <a:schemeClr val="tx1">
                    <a:lumMod val="75000"/>
                    <a:lumOff val="25000"/>
                  </a:schemeClr>
                </a:solidFill>
                <a:cs typeface="Arial Black"/>
              </a:rPr>
              <a:t> </a:t>
            </a:r>
            <a:r>
              <a:rPr lang="en-GB" spc="-305" dirty="0">
                <a:solidFill>
                  <a:schemeClr val="tx1">
                    <a:lumMod val="75000"/>
                    <a:lumOff val="25000"/>
                  </a:schemeClr>
                </a:solidFill>
                <a:cs typeface="Arial Black"/>
              </a:rPr>
              <a:t>class?</a:t>
            </a:r>
            <a:endParaRPr lang="en-GB" dirty="0">
              <a:solidFill>
                <a:schemeClr val="tx1">
                  <a:lumMod val="75000"/>
                  <a:lumOff val="25000"/>
                </a:schemeClr>
              </a:solidFill>
              <a:cs typeface="Arial Black"/>
            </a:endParaRPr>
          </a:p>
          <a:p>
            <a:pPr marL="473287" indent="-457200">
              <a:tabLst>
                <a:tab pos="457189" algn="l"/>
                <a:tab pos="458035" algn="l"/>
              </a:tabLst>
            </a:pPr>
            <a:r>
              <a:rPr lang="en-GB" spc="-213" dirty="0">
                <a:solidFill>
                  <a:schemeClr val="tx1">
                    <a:lumMod val="75000"/>
                    <a:lumOff val="25000"/>
                  </a:schemeClr>
                </a:solidFill>
                <a:cs typeface="Arial Black"/>
              </a:rPr>
              <a:t>Clearly, </a:t>
            </a:r>
            <a:r>
              <a:rPr lang="en-GB" spc="-200" dirty="0">
                <a:solidFill>
                  <a:schemeClr val="tx1">
                    <a:lumMod val="75000"/>
                    <a:lumOff val="25000"/>
                  </a:schemeClr>
                </a:solidFill>
                <a:cs typeface="Arial Black"/>
              </a:rPr>
              <a:t>positive </a:t>
            </a:r>
            <a:r>
              <a:rPr lang="en-GB" spc="-287" dirty="0">
                <a:solidFill>
                  <a:schemeClr val="tx1">
                    <a:lumMod val="75000"/>
                    <a:lumOff val="25000"/>
                  </a:schemeClr>
                </a:solidFill>
                <a:cs typeface="Arial Black"/>
              </a:rPr>
              <a:t>class </a:t>
            </a:r>
            <a:r>
              <a:rPr lang="en-GB" spc="-220" dirty="0">
                <a:solidFill>
                  <a:schemeClr val="tx1">
                    <a:lumMod val="75000"/>
                    <a:lumOff val="25000"/>
                  </a:schemeClr>
                </a:solidFill>
                <a:cs typeface="Arial Black"/>
              </a:rPr>
              <a:t>has </a:t>
            </a:r>
            <a:r>
              <a:rPr lang="en-GB" spc="-200" dirty="0">
                <a:solidFill>
                  <a:schemeClr val="tx1">
                    <a:lumMod val="75000"/>
                    <a:lumOff val="25000"/>
                  </a:schemeClr>
                </a:solidFill>
                <a:cs typeface="Arial Black"/>
              </a:rPr>
              <a:t>lower </a:t>
            </a:r>
            <a:r>
              <a:rPr lang="en-GB" spc="-272" dirty="0">
                <a:solidFill>
                  <a:schemeClr val="tx1">
                    <a:lumMod val="75000"/>
                    <a:lumOff val="25000"/>
                  </a:schemeClr>
                </a:solidFill>
                <a:cs typeface="Arial Black"/>
              </a:rPr>
              <a:t>accuracy  </a:t>
            </a:r>
            <a:r>
              <a:rPr lang="en-GB" spc="-173" dirty="0">
                <a:solidFill>
                  <a:schemeClr val="tx1">
                    <a:lumMod val="75000"/>
                    <a:lumOff val="25000"/>
                  </a:schemeClr>
                </a:solidFill>
                <a:cs typeface="Arial Black"/>
              </a:rPr>
              <a:t>than </a:t>
            </a:r>
            <a:r>
              <a:rPr lang="en-GB" spc="-187" dirty="0">
                <a:solidFill>
                  <a:schemeClr val="tx1">
                    <a:lumMod val="75000"/>
                    <a:lumOff val="25000"/>
                  </a:schemeClr>
                </a:solidFill>
                <a:cs typeface="Arial Black"/>
              </a:rPr>
              <a:t>the </a:t>
            </a:r>
            <a:r>
              <a:rPr lang="en-GB" spc="-213" dirty="0">
                <a:solidFill>
                  <a:schemeClr val="tx1">
                    <a:lumMod val="75000"/>
                    <a:lumOff val="25000"/>
                  </a:schemeClr>
                </a:solidFill>
                <a:cs typeface="Arial Black"/>
              </a:rPr>
              <a:t>negative</a:t>
            </a:r>
            <a:r>
              <a:rPr lang="en-GB" spc="13" dirty="0">
                <a:solidFill>
                  <a:schemeClr val="tx1">
                    <a:lumMod val="75000"/>
                    <a:lumOff val="25000"/>
                  </a:schemeClr>
                </a:solidFill>
                <a:cs typeface="Arial Black"/>
              </a:rPr>
              <a:t> </a:t>
            </a:r>
            <a:r>
              <a:rPr lang="en-GB" spc="-287" dirty="0">
                <a:solidFill>
                  <a:schemeClr val="tx1">
                    <a:lumMod val="75000"/>
                    <a:lumOff val="25000"/>
                  </a:schemeClr>
                </a:solidFill>
                <a:cs typeface="Arial Black"/>
              </a:rPr>
              <a:t>class</a:t>
            </a:r>
          </a:p>
          <a:p>
            <a:pPr marL="473287" indent="-457200">
              <a:tabLst>
                <a:tab pos="457189" algn="l"/>
                <a:tab pos="458035" algn="l"/>
              </a:tabLst>
            </a:pPr>
            <a:r>
              <a:rPr lang="en-GB" spc="-187" dirty="0">
                <a:solidFill>
                  <a:schemeClr val="tx1">
                    <a:lumMod val="75000"/>
                    <a:lumOff val="25000"/>
                  </a:schemeClr>
                </a:solidFill>
                <a:cs typeface="Arial Black"/>
              </a:rPr>
              <a:t>And </a:t>
            </a:r>
            <a:r>
              <a:rPr lang="en-GB" spc="-193" dirty="0">
                <a:solidFill>
                  <a:schemeClr val="tx1">
                    <a:lumMod val="75000"/>
                    <a:lumOff val="25000"/>
                  </a:schemeClr>
                </a:solidFill>
                <a:cs typeface="Arial Black"/>
              </a:rPr>
              <a:t>that </a:t>
            </a:r>
            <a:r>
              <a:rPr lang="en-GB" spc="-152" dirty="0">
                <a:solidFill>
                  <a:schemeClr val="tx1">
                    <a:lumMod val="75000"/>
                    <a:lumOff val="25000"/>
                  </a:schemeClr>
                </a:solidFill>
                <a:cs typeface="Arial Black"/>
              </a:rPr>
              <a:t>information </a:t>
            </a:r>
            <a:r>
              <a:rPr lang="en-GB" spc="-233" dirty="0">
                <a:solidFill>
                  <a:schemeClr val="tx1">
                    <a:lumMod val="75000"/>
                    <a:lumOff val="25000"/>
                  </a:schemeClr>
                </a:solidFill>
                <a:cs typeface="Arial Black"/>
              </a:rPr>
              <a:t>is </a:t>
            </a:r>
            <a:r>
              <a:rPr lang="en-GB" spc="-200" dirty="0">
                <a:solidFill>
                  <a:schemeClr val="tx1">
                    <a:lumMod val="75000"/>
                    <a:lumOff val="25000"/>
                  </a:schemeClr>
                </a:solidFill>
                <a:cs typeface="Arial Black"/>
              </a:rPr>
              <a:t>lost </a:t>
            </a:r>
            <a:r>
              <a:rPr lang="en-GB" spc="-147" dirty="0">
                <a:solidFill>
                  <a:schemeClr val="tx1">
                    <a:lumMod val="75000"/>
                    <a:lumOff val="25000"/>
                  </a:schemeClr>
                </a:solidFill>
                <a:cs typeface="Arial Black"/>
              </a:rPr>
              <a:t>if </a:t>
            </a:r>
            <a:r>
              <a:rPr lang="en-GB" spc="-305" dirty="0">
                <a:solidFill>
                  <a:schemeClr val="tx1">
                    <a:lumMod val="75000"/>
                    <a:lumOff val="25000"/>
                  </a:schemeClr>
                </a:solidFill>
                <a:cs typeface="Arial Black"/>
              </a:rPr>
              <a:t>we  </a:t>
            </a:r>
            <a:r>
              <a:rPr lang="en-GB" spc="-253" dirty="0">
                <a:solidFill>
                  <a:schemeClr val="tx1">
                    <a:lumMod val="75000"/>
                    <a:lumOff val="25000"/>
                  </a:schemeClr>
                </a:solidFill>
                <a:cs typeface="Arial Black"/>
              </a:rPr>
              <a:t>calculate </a:t>
            </a:r>
            <a:r>
              <a:rPr lang="en-GB" spc="-187" dirty="0">
                <a:solidFill>
                  <a:schemeClr val="tx1">
                    <a:lumMod val="75000"/>
                    <a:lumOff val="25000"/>
                  </a:schemeClr>
                </a:solidFill>
                <a:cs typeface="Arial Black"/>
              </a:rPr>
              <a:t>overall </a:t>
            </a:r>
            <a:r>
              <a:rPr lang="en-GB" spc="-272" dirty="0">
                <a:solidFill>
                  <a:schemeClr val="tx1">
                    <a:lumMod val="75000"/>
                    <a:lumOff val="25000"/>
                  </a:schemeClr>
                </a:solidFill>
                <a:cs typeface="Arial Black"/>
              </a:rPr>
              <a:t>accuracy</a:t>
            </a:r>
            <a:r>
              <a:rPr lang="en-GB" spc="-73" dirty="0">
                <a:solidFill>
                  <a:schemeClr val="tx1">
                    <a:lumMod val="75000"/>
                    <a:lumOff val="25000"/>
                  </a:schemeClr>
                </a:solidFill>
                <a:cs typeface="Arial Black"/>
              </a:rPr>
              <a:t> </a:t>
            </a:r>
            <a:r>
              <a:rPr lang="en-GB" spc="-167" dirty="0">
                <a:solidFill>
                  <a:schemeClr val="tx1">
                    <a:lumMod val="75000"/>
                    <a:lumOff val="25000"/>
                  </a:schemeClr>
                </a:solidFill>
                <a:cs typeface="Arial Black"/>
              </a:rPr>
              <a:t>only.</a:t>
            </a:r>
          </a:p>
          <a:p>
            <a:pPr marL="457189" indent="-441102">
              <a:spcBef>
                <a:spcPts val="2513"/>
              </a:spcBef>
              <a:buFont typeface="Arial"/>
              <a:buChar char="●"/>
              <a:tabLst>
                <a:tab pos="457189" algn="l"/>
                <a:tab pos="458035" algn="l"/>
              </a:tabLst>
            </a:pPr>
            <a:endParaRPr lang="en-GB" dirty="0">
              <a:cs typeface="Arial Black"/>
            </a:endParaRP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graphicFrame>
        <p:nvGraphicFramePr>
          <p:cNvPr id="7" name="object 5">
            <a:extLst>
              <a:ext uri="{FF2B5EF4-FFF2-40B4-BE49-F238E27FC236}">
                <a16:creationId xmlns:a16="http://schemas.microsoft.com/office/drawing/2014/main" id="{E44F80EA-B6EE-654C-BC2D-E7FF3B155D6A}"/>
              </a:ext>
            </a:extLst>
          </p:cNvPr>
          <p:cNvGraphicFramePr>
            <a:graphicFrameLocks noGrp="1"/>
          </p:cNvGraphicFramePr>
          <p:nvPr>
            <p:extLst>
              <p:ext uri="{D42A27DB-BD31-4B8C-83A1-F6EECF244321}">
                <p14:modId xmlns:p14="http://schemas.microsoft.com/office/powerpoint/2010/main" val="3995952209"/>
              </p:ext>
            </p:extLst>
          </p:nvPr>
        </p:nvGraphicFramePr>
        <p:xfrm>
          <a:off x="3624082" y="3073619"/>
          <a:ext cx="4943836" cy="1408007"/>
        </p:xfrm>
        <a:graphic>
          <a:graphicData uri="http://schemas.openxmlformats.org/drawingml/2006/table">
            <a:tbl>
              <a:tblPr firstRow="1" bandRow="1">
                <a:tableStyleId>{2D5ABB26-0587-4C30-8999-92F81FD0307C}</a:tableStyleId>
              </a:tblPr>
              <a:tblGrid>
                <a:gridCol w="1647946">
                  <a:extLst>
                    <a:ext uri="{9D8B030D-6E8A-4147-A177-3AD203B41FA5}">
                      <a16:colId xmlns:a16="http://schemas.microsoft.com/office/drawing/2014/main" val="20000"/>
                    </a:ext>
                  </a:extLst>
                </a:gridCol>
                <a:gridCol w="1647946">
                  <a:extLst>
                    <a:ext uri="{9D8B030D-6E8A-4147-A177-3AD203B41FA5}">
                      <a16:colId xmlns:a16="http://schemas.microsoft.com/office/drawing/2014/main" val="20001"/>
                    </a:ext>
                  </a:extLst>
                </a:gridCol>
                <a:gridCol w="1647944">
                  <a:extLst>
                    <a:ext uri="{9D8B030D-6E8A-4147-A177-3AD203B41FA5}">
                      <a16:colId xmlns:a16="http://schemas.microsoft.com/office/drawing/2014/main" val="20002"/>
                    </a:ext>
                  </a:extLst>
                </a:gridCol>
              </a:tblGrid>
              <a:tr h="391101">
                <a:tc>
                  <a:txBody>
                    <a:bodyPr/>
                    <a:lstStyle/>
                    <a:p>
                      <a:pPr>
                        <a:lnSpc>
                          <a:spcPct val="100000"/>
                        </a:lnSpc>
                      </a:pPr>
                      <a:endParaRPr sz="2000" dirty="0">
                        <a:solidFill>
                          <a:schemeClr val="tx1"/>
                        </a:solidFill>
                        <a:latin typeface="Times New Roman"/>
                        <a:cs typeface="Times New Roman"/>
                      </a:endParaRPr>
                    </a:p>
                  </a:txBody>
                  <a:tcPr marL="0" marR="0" marT="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a:lnSpc>
                          <a:spcPct val="100000"/>
                        </a:lnSpc>
                        <a:spcBef>
                          <a:spcPts val="695"/>
                        </a:spcBef>
                      </a:pPr>
                      <a:r>
                        <a:rPr sz="1300" spc="-5" dirty="0">
                          <a:solidFill>
                            <a:schemeClr val="tx1"/>
                          </a:solidFill>
                          <a:latin typeface="Arial"/>
                          <a:cs typeface="Arial"/>
                        </a:rPr>
                        <a:t>Predicted as</a:t>
                      </a:r>
                      <a:r>
                        <a:rPr sz="1300" spc="-25" dirty="0">
                          <a:solidFill>
                            <a:schemeClr val="tx1"/>
                          </a:solidFill>
                          <a:latin typeface="Arial"/>
                          <a:cs typeface="Arial"/>
                        </a:rPr>
                        <a:t> </a:t>
                      </a:r>
                      <a:r>
                        <a:rPr sz="1300" spc="-5" dirty="0">
                          <a:solidFill>
                            <a:schemeClr val="tx1"/>
                          </a:solidFill>
                          <a:latin typeface="Arial"/>
                          <a:cs typeface="Arial"/>
                        </a:rPr>
                        <a:t>positive</a:t>
                      </a:r>
                      <a:endParaRPr sz="1300">
                        <a:solidFill>
                          <a:schemeClr val="tx1"/>
                        </a:solidFill>
                        <a:latin typeface="Arial"/>
                        <a:cs typeface="Arial"/>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2075">
                        <a:lnSpc>
                          <a:spcPct val="100000"/>
                        </a:lnSpc>
                        <a:spcBef>
                          <a:spcPts val="695"/>
                        </a:spcBef>
                      </a:pPr>
                      <a:r>
                        <a:rPr sz="1300" spc="-5" dirty="0">
                          <a:solidFill>
                            <a:schemeClr val="tx1"/>
                          </a:solidFill>
                          <a:latin typeface="Arial"/>
                          <a:cs typeface="Arial"/>
                        </a:rPr>
                        <a:t>Predicted as</a:t>
                      </a:r>
                      <a:r>
                        <a:rPr sz="1300" spc="-20" dirty="0">
                          <a:solidFill>
                            <a:schemeClr val="tx1"/>
                          </a:solidFill>
                          <a:latin typeface="Arial"/>
                          <a:cs typeface="Arial"/>
                        </a:rPr>
                        <a:t> </a:t>
                      </a:r>
                      <a:r>
                        <a:rPr sz="1300" spc="-10" dirty="0">
                          <a:solidFill>
                            <a:schemeClr val="tx1"/>
                          </a:solidFill>
                          <a:latin typeface="Arial"/>
                          <a:cs typeface="Arial"/>
                        </a:rPr>
                        <a:t>negative</a:t>
                      </a:r>
                      <a:endParaRPr sz="1300">
                        <a:solidFill>
                          <a:schemeClr val="tx1"/>
                        </a:solidFill>
                        <a:latin typeface="Arial"/>
                        <a:cs typeface="Arial"/>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0"/>
                  </a:ext>
                </a:extLst>
              </a:tr>
              <a:tr h="447040">
                <a:tc>
                  <a:txBody>
                    <a:bodyPr/>
                    <a:lstStyle/>
                    <a:p>
                      <a:pPr marL="91440">
                        <a:lnSpc>
                          <a:spcPct val="100000"/>
                        </a:lnSpc>
                        <a:spcBef>
                          <a:spcPts val="695"/>
                        </a:spcBef>
                      </a:pPr>
                      <a:r>
                        <a:rPr sz="1300" spc="-5" dirty="0">
                          <a:solidFill>
                            <a:schemeClr val="tx1"/>
                          </a:solidFill>
                          <a:latin typeface="Arial"/>
                          <a:cs typeface="Arial"/>
                        </a:rPr>
                        <a:t>Labeled as</a:t>
                      </a:r>
                      <a:r>
                        <a:rPr sz="1300" spc="-25" dirty="0">
                          <a:solidFill>
                            <a:schemeClr val="tx1"/>
                          </a:solidFill>
                          <a:latin typeface="Arial"/>
                          <a:cs typeface="Arial"/>
                        </a:rPr>
                        <a:t> </a:t>
                      </a:r>
                      <a:r>
                        <a:rPr sz="1300" spc="-5" dirty="0">
                          <a:solidFill>
                            <a:schemeClr val="tx1"/>
                          </a:solidFill>
                          <a:latin typeface="Arial"/>
                          <a:cs typeface="Arial"/>
                        </a:rPr>
                        <a:t>positive</a:t>
                      </a:r>
                      <a:endParaRPr sz="1300">
                        <a:solidFill>
                          <a:schemeClr val="tx1"/>
                        </a:solidFill>
                        <a:latin typeface="Arial"/>
                        <a:cs typeface="Arial"/>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a:lnSpc>
                          <a:spcPct val="100000"/>
                        </a:lnSpc>
                        <a:spcBef>
                          <a:spcPts val="695"/>
                        </a:spcBef>
                      </a:pPr>
                      <a:r>
                        <a:rPr sz="1300" spc="-10" dirty="0">
                          <a:solidFill>
                            <a:schemeClr val="tx1"/>
                          </a:solidFill>
                          <a:latin typeface="Arial"/>
                          <a:cs typeface="Arial"/>
                        </a:rPr>
                        <a:t>80</a:t>
                      </a:r>
                      <a:endParaRPr sz="1300">
                        <a:solidFill>
                          <a:schemeClr val="tx1"/>
                        </a:solidFill>
                        <a:latin typeface="Arial"/>
                        <a:cs typeface="Arial"/>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2075">
                        <a:lnSpc>
                          <a:spcPct val="100000"/>
                        </a:lnSpc>
                        <a:spcBef>
                          <a:spcPts val="695"/>
                        </a:spcBef>
                      </a:pPr>
                      <a:r>
                        <a:rPr sz="1300" spc="-10" dirty="0">
                          <a:solidFill>
                            <a:schemeClr val="tx1"/>
                          </a:solidFill>
                          <a:latin typeface="Arial"/>
                          <a:cs typeface="Arial"/>
                        </a:rPr>
                        <a:t>20</a:t>
                      </a:r>
                      <a:endParaRPr sz="1300">
                        <a:solidFill>
                          <a:schemeClr val="tx1"/>
                        </a:solidFill>
                        <a:latin typeface="Arial"/>
                        <a:cs typeface="Arial"/>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1"/>
                  </a:ext>
                </a:extLst>
              </a:tr>
              <a:tr h="447040">
                <a:tc>
                  <a:txBody>
                    <a:bodyPr/>
                    <a:lstStyle/>
                    <a:p>
                      <a:pPr marL="91440">
                        <a:lnSpc>
                          <a:spcPct val="100000"/>
                        </a:lnSpc>
                        <a:spcBef>
                          <a:spcPts val="695"/>
                        </a:spcBef>
                      </a:pPr>
                      <a:r>
                        <a:rPr sz="1300" spc="-10" dirty="0">
                          <a:solidFill>
                            <a:schemeClr val="tx1"/>
                          </a:solidFill>
                          <a:latin typeface="Arial"/>
                          <a:cs typeface="Arial"/>
                        </a:rPr>
                        <a:t>Labeled </a:t>
                      </a:r>
                      <a:r>
                        <a:rPr sz="1300" spc="-5" dirty="0">
                          <a:solidFill>
                            <a:schemeClr val="tx1"/>
                          </a:solidFill>
                          <a:latin typeface="Arial"/>
                          <a:cs typeface="Arial"/>
                        </a:rPr>
                        <a:t>as</a:t>
                      </a:r>
                      <a:r>
                        <a:rPr sz="1300" spc="-15" dirty="0">
                          <a:solidFill>
                            <a:schemeClr val="tx1"/>
                          </a:solidFill>
                          <a:latin typeface="Arial"/>
                          <a:cs typeface="Arial"/>
                        </a:rPr>
                        <a:t> </a:t>
                      </a:r>
                      <a:r>
                        <a:rPr sz="1300" spc="-10" dirty="0">
                          <a:solidFill>
                            <a:schemeClr val="tx1"/>
                          </a:solidFill>
                          <a:latin typeface="Arial"/>
                          <a:cs typeface="Arial"/>
                        </a:rPr>
                        <a:t>negative</a:t>
                      </a:r>
                      <a:endParaRPr sz="1300" dirty="0">
                        <a:solidFill>
                          <a:schemeClr val="tx1"/>
                        </a:solidFill>
                        <a:latin typeface="Arial"/>
                        <a:cs typeface="Arial"/>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a:lnSpc>
                          <a:spcPct val="100000"/>
                        </a:lnSpc>
                        <a:spcBef>
                          <a:spcPts val="695"/>
                        </a:spcBef>
                      </a:pPr>
                      <a:r>
                        <a:rPr sz="1300" dirty="0">
                          <a:solidFill>
                            <a:schemeClr val="tx1"/>
                          </a:solidFill>
                          <a:latin typeface="Arial"/>
                          <a:cs typeface="Arial"/>
                        </a:rPr>
                        <a:t>5</a:t>
                      </a: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2075">
                        <a:lnSpc>
                          <a:spcPct val="100000"/>
                        </a:lnSpc>
                        <a:spcBef>
                          <a:spcPts val="695"/>
                        </a:spcBef>
                      </a:pPr>
                      <a:r>
                        <a:rPr sz="1300" spc="-10" dirty="0">
                          <a:solidFill>
                            <a:schemeClr val="tx1"/>
                          </a:solidFill>
                          <a:latin typeface="Arial"/>
                          <a:cs typeface="Arial"/>
                        </a:rPr>
                        <a:t>195</a:t>
                      </a:r>
                      <a:endParaRPr sz="1300" dirty="0">
                        <a:solidFill>
                          <a:schemeClr val="tx1"/>
                        </a:solidFill>
                        <a:latin typeface="Arial"/>
                        <a:cs typeface="Arial"/>
                      </a:endParaRPr>
                    </a:p>
                  </a:txBody>
                  <a:tcPr marL="0" marR="0" marT="11768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345781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Confusion matrix </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089589"/>
            <a:ext cx="10712388" cy="5295971"/>
          </a:xfrm>
        </p:spPr>
        <p:txBody>
          <a:bodyPr/>
          <a:lstStyle/>
          <a:p>
            <a:pPr marL="473287" indent="-457200">
              <a:tabLst>
                <a:tab pos="457189" algn="l"/>
                <a:tab pos="458035" algn="l"/>
              </a:tabLst>
            </a:pPr>
            <a:endParaRPr lang="en-GB" dirty="0">
              <a:solidFill>
                <a:schemeClr val="tx1">
                  <a:lumMod val="75000"/>
                  <a:lumOff val="25000"/>
                </a:schemeClr>
              </a:solidFill>
              <a:cs typeface="Arial Black"/>
              <a:hlinkClick r:id="rId2"/>
            </a:endParaRPr>
          </a:p>
          <a:p>
            <a:pPr marL="473287" indent="-457200">
              <a:tabLst>
                <a:tab pos="457189" algn="l"/>
                <a:tab pos="458035" algn="l"/>
              </a:tabLst>
            </a:pPr>
            <a:endParaRPr lang="en-GB" dirty="0">
              <a:solidFill>
                <a:schemeClr val="tx1">
                  <a:lumMod val="75000"/>
                  <a:lumOff val="25000"/>
                </a:schemeClr>
              </a:solidFill>
              <a:cs typeface="Arial Black"/>
              <a:hlinkClick r:id="rId2"/>
            </a:endParaRPr>
          </a:p>
          <a:p>
            <a:pPr marL="473287" indent="-457200">
              <a:tabLst>
                <a:tab pos="457189" algn="l"/>
                <a:tab pos="458035" algn="l"/>
              </a:tabLst>
            </a:pPr>
            <a:r>
              <a:rPr lang="en-GB" dirty="0">
                <a:solidFill>
                  <a:schemeClr val="tx1">
                    <a:lumMod val="75000"/>
                    <a:lumOff val="25000"/>
                  </a:schemeClr>
                </a:solidFill>
                <a:cs typeface="Arial Black"/>
                <a:hlinkClick r:id="rId2"/>
              </a:rPr>
              <a:t>https://www.geeksforgeeks.org/confusion-matrix-machine-learning/</a:t>
            </a:r>
            <a:endParaRPr lang="en-GB" dirty="0">
              <a:solidFill>
                <a:schemeClr val="tx1">
                  <a:lumMod val="75000"/>
                  <a:lumOff val="25000"/>
                </a:schemeClr>
              </a:solidFill>
              <a:cs typeface="Arial Black"/>
            </a:endParaRPr>
          </a:p>
          <a:p>
            <a:pPr marL="473287" indent="-457200">
              <a:tabLst>
                <a:tab pos="457189" algn="l"/>
                <a:tab pos="458035" algn="l"/>
              </a:tabLst>
            </a:pPr>
            <a:r>
              <a:rPr lang="en-GB" dirty="0">
                <a:solidFill>
                  <a:schemeClr val="tx1">
                    <a:lumMod val="75000"/>
                    <a:lumOff val="25000"/>
                  </a:schemeClr>
                </a:solidFill>
                <a:cs typeface="Arial Black"/>
              </a:rPr>
              <a:t> </a:t>
            </a:r>
            <a:r>
              <a:rPr lang="en-GB" dirty="0">
                <a:hlinkClick r:id="rId3"/>
              </a:rPr>
              <a:t>https://www.youtube.com/watch?v=prWyZhcktn4</a:t>
            </a:r>
            <a:r>
              <a:rPr lang="en-GB" dirty="0"/>
              <a:t> </a:t>
            </a:r>
          </a:p>
          <a:p>
            <a:pPr marL="473287" indent="-457200">
              <a:tabLst>
                <a:tab pos="457189" algn="l"/>
                <a:tab pos="458035" algn="l"/>
              </a:tabLst>
            </a:pPr>
            <a:endParaRPr lang="en-GB" dirty="0">
              <a:solidFill>
                <a:schemeClr val="tx1">
                  <a:lumMod val="75000"/>
                  <a:lumOff val="25000"/>
                </a:schemeClr>
              </a:solidFill>
              <a:cs typeface="Arial Black"/>
            </a:endParaRPr>
          </a:p>
          <a:p>
            <a:pPr marL="16087" indent="0">
              <a:spcBef>
                <a:spcPts val="2513"/>
              </a:spcBef>
              <a:buNone/>
              <a:tabLst>
                <a:tab pos="457189" algn="l"/>
                <a:tab pos="458035" algn="l"/>
              </a:tabLst>
            </a:pPr>
            <a:endParaRPr lang="en-GB" dirty="0">
              <a:cs typeface="Arial Black"/>
            </a:endParaRP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525497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AUC – Area under curve</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196327" y="1470348"/>
            <a:ext cx="7934379" cy="3815101"/>
          </a:xfrm>
        </p:spPr>
        <p:txBody>
          <a:bodyPr/>
          <a:lstStyle/>
          <a:p>
            <a:pPr marL="625683" marR="155781" indent="-457200">
              <a:lnSpc>
                <a:spcPct val="114999"/>
              </a:lnSpc>
              <a:spcBef>
                <a:spcPts val="133"/>
              </a:spcBef>
              <a:tabLst>
                <a:tab pos="474121" algn="l"/>
              </a:tabLst>
            </a:pPr>
            <a:r>
              <a:rPr lang="en-GB" dirty="0">
                <a:solidFill>
                  <a:schemeClr val="tx1"/>
                </a:solidFill>
                <a:cs typeface="Arial Black"/>
              </a:rPr>
              <a:t>The curve is receiver operating  characteristic curve or in short ROC  curve</a:t>
            </a:r>
          </a:p>
          <a:p>
            <a:pPr marL="626529" indent="-457200">
              <a:tabLst>
                <a:tab pos="474121" algn="l"/>
              </a:tabLst>
            </a:pPr>
            <a:r>
              <a:rPr lang="en-GB" dirty="0">
                <a:solidFill>
                  <a:schemeClr val="tx1"/>
                </a:solidFill>
                <a:cs typeface="Arial Black"/>
              </a:rPr>
              <a:t>Provides nuanced details about the behaviour of the classifier</a:t>
            </a:r>
          </a:p>
          <a:p>
            <a:pPr marL="626529" indent="-457200">
              <a:tabLst>
                <a:tab pos="474121" algn="l"/>
              </a:tabLst>
            </a:pPr>
            <a:r>
              <a:rPr lang="en-GB" dirty="0">
                <a:solidFill>
                  <a:schemeClr val="tx1"/>
                </a:solidFill>
                <a:cs typeface="Arial Black"/>
              </a:rPr>
              <a:t>Bad ROC curve covers very little area</a:t>
            </a:r>
          </a:p>
          <a:p>
            <a:pPr marL="626529" indent="-457200">
              <a:tabLst>
                <a:tab pos="474121" algn="l"/>
              </a:tabLst>
            </a:pPr>
            <a:r>
              <a:rPr lang="en-GB" dirty="0">
                <a:solidFill>
                  <a:schemeClr val="tx1"/>
                </a:solidFill>
                <a:cs typeface="Arial Black"/>
              </a:rPr>
              <a:t>Good ROC curve has a lot of space under it </a:t>
            </a:r>
          </a:p>
          <a:p>
            <a:pPr marL="626529" indent="-457200">
              <a:tabLst>
                <a:tab pos="474121" algn="l"/>
              </a:tabLst>
            </a:pPr>
            <a:r>
              <a:rPr lang="en-GB" dirty="0">
                <a:solidFill>
                  <a:schemeClr val="tx1"/>
                </a:solidFill>
                <a:cs typeface="Tahoma"/>
              </a:rPr>
              <a:t>ROC curve visualizes all possible classification thresholds, whereas  other metrics only represents your error rate for a single threshold</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
        <p:nvSpPr>
          <p:cNvPr id="7" name="object 4">
            <a:extLst>
              <a:ext uri="{FF2B5EF4-FFF2-40B4-BE49-F238E27FC236}">
                <a16:creationId xmlns:a16="http://schemas.microsoft.com/office/drawing/2014/main" id="{A4BD8366-D8EB-1C49-B202-137792F14B8D}"/>
              </a:ext>
            </a:extLst>
          </p:cNvPr>
          <p:cNvSpPr/>
          <p:nvPr/>
        </p:nvSpPr>
        <p:spPr>
          <a:xfrm>
            <a:off x="8130706" y="1541204"/>
            <a:ext cx="4054291" cy="3826743"/>
          </a:xfrm>
          <a:prstGeom prst="rect">
            <a:avLst/>
          </a:prstGeom>
          <a:blipFill>
            <a:blip r:embed="rId2" cstate="print"/>
            <a:stretch>
              <a:fillRect/>
            </a:stretch>
          </a:blipFill>
        </p:spPr>
        <p:txBody>
          <a:bodyPr wrap="square" lIns="0" tIns="0" rIns="0" bIns="0" rtlCol="0"/>
          <a:lstStyle/>
          <a:p>
            <a:endParaRPr sz="2400"/>
          </a:p>
        </p:txBody>
      </p:sp>
      <p:sp>
        <p:nvSpPr>
          <p:cNvPr id="8" name="Rectangle 7"/>
          <p:cNvSpPr/>
          <p:nvPr/>
        </p:nvSpPr>
        <p:spPr>
          <a:xfrm>
            <a:off x="2667114" y="6211669"/>
            <a:ext cx="6096000" cy="646331"/>
          </a:xfrm>
          <a:prstGeom prst="rect">
            <a:avLst/>
          </a:prstGeom>
        </p:spPr>
        <p:txBody>
          <a:bodyPr>
            <a:spAutoFit/>
          </a:bodyPr>
          <a:lstStyle/>
          <a:p>
            <a:r>
              <a:rPr lang="en-GB" dirty="0">
                <a:hlinkClick r:id="rId3"/>
              </a:rPr>
              <a:t>https://towardsdatascience.com/understanding-auc-roc-curve-68b2303cc9c5</a:t>
            </a:r>
            <a:r>
              <a:rPr lang="en-GB" dirty="0"/>
              <a:t> </a:t>
            </a:r>
          </a:p>
        </p:txBody>
      </p:sp>
    </p:spTree>
    <p:extLst>
      <p:ext uri="{BB962C8B-B14F-4D97-AF65-F5344CB8AC3E}">
        <p14:creationId xmlns:p14="http://schemas.microsoft.com/office/powerpoint/2010/main" val="2621500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err="1">
                <a:solidFill>
                  <a:srgbClr val="942D6D"/>
                </a:solidFill>
              </a:rPr>
              <a:t>Auc</a:t>
            </a:r>
            <a:r>
              <a:rPr lang="en-GB" dirty="0">
                <a:solidFill>
                  <a:srgbClr val="942D6D"/>
                </a:solidFill>
              </a:rPr>
              <a:t>- (Contd..)</a:t>
            </a:r>
            <a:endParaRPr lang="en-US" dirty="0">
              <a:solidFill>
                <a:srgbClr val="942D6D"/>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
        <p:nvSpPr>
          <p:cNvPr id="7" name="object 3">
            <a:extLst>
              <a:ext uri="{FF2B5EF4-FFF2-40B4-BE49-F238E27FC236}">
                <a16:creationId xmlns:a16="http://schemas.microsoft.com/office/drawing/2014/main" id="{DD6FE232-FB47-504D-913F-5CDD82DFE0E7}"/>
              </a:ext>
            </a:extLst>
          </p:cNvPr>
          <p:cNvSpPr/>
          <p:nvPr/>
        </p:nvSpPr>
        <p:spPr>
          <a:xfrm>
            <a:off x="335503" y="1365067"/>
            <a:ext cx="5331968" cy="4403344"/>
          </a:xfrm>
          <a:prstGeom prst="rect">
            <a:avLst/>
          </a:prstGeom>
          <a:blipFill>
            <a:blip r:embed="rId2" cstate="print"/>
            <a:stretch>
              <a:fillRect/>
            </a:stretch>
          </a:blipFill>
        </p:spPr>
        <p:txBody>
          <a:bodyPr wrap="square" lIns="0" tIns="0" rIns="0" bIns="0" rtlCol="0"/>
          <a:lstStyle/>
          <a:p>
            <a:endParaRPr sz="2400"/>
          </a:p>
        </p:txBody>
      </p:sp>
      <p:sp>
        <p:nvSpPr>
          <p:cNvPr id="8" name="object 4">
            <a:extLst>
              <a:ext uri="{FF2B5EF4-FFF2-40B4-BE49-F238E27FC236}">
                <a16:creationId xmlns:a16="http://schemas.microsoft.com/office/drawing/2014/main" id="{DB1AC90E-77E1-C04E-9482-CAAA23902458}"/>
              </a:ext>
            </a:extLst>
          </p:cNvPr>
          <p:cNvSpPr/>
          <p:nvPr/>
        </p:nvSpPr>
        <p:spPr>
          <a:xfrm>
            <a:off x="6258241" y="1365067"/>
            <a:ext cx="5331968" cy="4403344"/>
          </a:xfrm>
          <a:prstGeom prst="rect">
            <a:avLst/>
          </a:prstGeom>
          <a:blipFill>
            <a:blip r:embed="rId3" cstate="print"/>
            <a:stretch>
              <a:fillRect/>
            </a:stretch>
          </a:blipFill>
        </p:spPr>
        <p:txBody>
          <a:bodyPr wrap="square" lIns="0" tIns="0" rIns="0" bIns="0" rtlCol="0"/>
          <a:lstStyle/>
          <a:p>
            <a:endParaRPr sz="2400"/>
          </a:p>
        </p:txBody>
      </p:sp>
      <p:sp>
        <p:nvSpPr>
          <p:cNvPr id="3" name="Rectangle 2"/>
          <p:cNvSpPr/>
          <p:nvPr/>
        </p:nvSpPr>
        <p:spPr>
          <a:xfrm>
            <a:off x="3001487" y="6208668"/>
            <a:ext cx="5096075" cy="369332"/>
          </a:xfrm>
          <a:prstGeom prst="rect">
            <a:avLst/>
          </a:prstGeom>
        </p:spPr>
        <p:txBody>
          <a:bodyPr wrap="none">
            <a:spAutoFit/>
          </a:bodyPr>
          <a:lstStyle/>
          <a:p>
            <a:r>
              <a:rPr lang="en-GB" dirty="0">
                <a:hlinkClick r:id="rId4"/>
              </a:rPr>
              <a:t>https://www.youtube.com/watch?v=4jRBRDbJemM</a:t>
            </a:r>
            <a:r>
              <a:rPr lang="en-GB" dirty="0"/>
              <a:t> </a:t>
            </a:r>
          </a:p>
        </p:txBody>
      </p:sp>
    </p:spTree>
    <p:extLst>
      <p:ext uri="{BB962C8B-B14F-4D97-AF65-F5344CB8AC3E}">
        <p14:creationId xmlns:p14="http://schemas.microsoft.com/office/powerpoint/2010/main" val="2002326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Ranking metrics</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r>
              <a:rPr lang="en-US" dirty="0">
                <a:solidFill>
                  <a:schemeClr val="bg2">
                    <a:lumMod val="25000"/>
                  </a:schemeClr>
                </a:solidFill>
              </a:rPr>
              <a:t>Precision – Recall</a:t>
            </a:r>
          </a:p>
          <a:p>
            <a:r>
              <a:rPr lang="en-US" dirty="0">
                <a:solidFill>
                  <a:schemeClr val="bg2">
                    <a:lumMod val="25000"/>
                  </a:schemeClr>
                </a:solidFill>
              </a:rPr>
              <a:t>Precision – Recall curve and F1 Score</a:t>
            </a: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
        <p:nvSpPr>
          <p:cNvPr id="7" name="Rectangle 6"/>
          <p:cNvSpPr/>
          <p:nvPr/>
        </p:nvSpPr>
        <p:spPr>
          <a:xfrm>
            <a:off x="3681011" y="3244334"/>
            <a:ext cx="4882875" cy="369332"/>
          </a:xfrm>
          <a:prstGeom prst="rect">
            <a:avLst/>
          </a:prstGeom>
        </p:spPr>
        <p:txBody>
          <a:bodyPr wrap="none">
            <a:spAutoFit/>
          </a:bodyPr>
          <a:lstStyle/>
          <a:p>
            <a:r>
              <a:rPr lang="en-GB" dirty="0">
                <a:hlinkClick r:id="rId3"/>
              </a:rPr>
              <a:t>https://www.youtube.com/watch?v=2osIZ-dSPGE</a:t>
            </a:r>
            <a:r>
              <a:rPr lang="en-GB" dirty="0"/>
              <a:t> </a:t>
            </a:r>
          </a:p>
        </p:txBody>
      </p:sp>
    </p:spTree>
    <p:extLst>
      <p:ext uri="{BB962C8B-B14F-4D97-AF65-F5344CB8AC3E}">
        <p14:creationId xmlns:p14="http://schemas.microsoft.com/office/powerpoint/2010/main" val="1794686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a:xfrm>
            <a:off x="601791" y="227812"/>
            <a:ext cx="9097686" cy="1068223"/>
          </a:xfrm>
        </p:spPr>
        <p:txBody>
          <a:bodyPr/>
          <a:lstStyle/>
          <a:p>
            <a:r>
              <a:rPr lang="en-GB" dirty="0">
                <a:solidFill>
                  <a:srgbClr val="942D6D"/>
                </a:solidFill>
              </a:rPr>
              <a:t>Calculation example of Precision - recall</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pPr marL="6045049">
              <a:lnSpc>
                <a:spcPct val="100000"/>
              </a:lnSpc>
              <a:spcBef>
                <a:spcPts val="140"/>
              </a:spcBef>
            </a:pPr>
            <a:r>
              <a:rPr lang="en-GB" dirty="0">
                <a:solidFill>
                  <a:schemeClr val="tx1">
                    <a:lumMod val="75000"/>
                    <a:lumOff val="25000"/>
                  </a:schemeClr>
                </a:solidFill>
              </a:rPr>
              <a:t>Precision = TP / (TP+FP)</a:t>
            </a:r>
          </a:p>
          <a:p>
            <a:pPr marL="5816449" indent="0">
              <a:lnSpc>
                <a:spcPct val="100000"/>
              </a:lnSpc>
              <a:spcBef>
                <a:spcPts val="140"/>
              </a:spcBef>
              <a:buNone/>
            </a:pPr>
            <a:r>
              <a:rPr lang="en-GB" dirty="0">
                <a:solidFill>
                  <a:schemeClr val="tx1">
                    <a:lumMod val="75000"/>
                    <a:lumOff val="25000"/>
                  </a:schemeClr>
                </a:solidFill>
              </a:rPr>
              <a:t>     = 60 / (60 + 140) = 30%</a:t>
            </a:r>
          </a:p>
          <a:p>
            <a:pPr>
              <a:lnSpc>
                <a:spcPct val="100000"/>
              </a:lnSpc>
              <a:spcBef>
                <a:spcPts val="20"/>
              </a:spcBef>
            </a:pPr>
            <a:endParaRPr lang="en-GB" dirty="0">
              <a:solidFill>
                <a:schemeClr val="tx1">
                  <a:lumMod val="75000"/>
                  <a:lumOff val="25000"/>
                </a:schemeClr>
              </a:solidFill>
            </a:endParaRPr>
          </a:p>
          <a:p>
            <a:pPr marL="6045049">
              <a:lnSpc>
                <a:spcPct val="100000"/>
              </a:lnSpc>
            </a:pPr>
            <a:r>
              <a:rPr lang="en-GB" dirty="0">
                <a:solidFill>
                  <a:schemeClr val="tx1">
                    <a:lumMod val="75000"/>
                    <a:lumOff val="25000"/>
                  </a:schemeClr>
                </a:solidFill>
              </a:rPr>
              <a:t>Recall = TP / (TP+FN)</a:t>
            </a:r>
          </a:p>
          <a:p>
            <a:pPr marL="5816449" indent="0">
              <a:lnSpc>
                <a:spcPct val="100000"/>
              </a:lnSpc>
              <a:buNone/>
            </a:pPr>
            <a:r>
              <a:rPr lang="en-GB" dirty="0">
                <a:solidFill>
                  <a:schemeClr val="tx1">
                    <a:lumMod val="75000"/>
                    <a:lumOff val="25000"/>
                  </a:schemeClr>
                </a:solidFill>
              </a:rPr>
              <a:t>      = 60 / (60+40) = 60%</a:t>
            </a:r>
          </a:p>
          <a:p>
            <a:pPr marL="0" indent="0">
              <a:lnSpc>
                <a:spcPct val="100000"/>
              </a:lnSpc>
              <a:spcBef>
                <a:spcPts val="20"/>
              </a:spcBef>
              <a:buNone/>
            </a:pPr>
            <a:endParaRPr lang="en-GB" dirty="0">
              <a:solidFill>
                <a:schemeClr val="tx1">
                  <a:lumMod val="75000"/>
                  <a:lumOff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graphicFrame>
        <p:nvGraphicFramePr>
          <p:cNvPr id="7" name="object 4">
            <a:extLst>
              <a:ext uri="{FF2B5EF4-FFF2-40B4-BE49-F238E27FC236}">
                <a16:creationId xmlns:a16="http://schemas.microsoft.com/office/drawing/2014/main" id="{EF350C9F-04C7-634E-94DF-615D6166199D}"/>
              </a:ext>
            </a:extLst>
          </p:cNvPr>
          <p:cNvGraphicFramePr>
            <a:graphicFrameLocks noGrp="1"/>
          </p:cNvGraphicFramePr>
          <p:nvPr>
            <p:extLst>
              <p:ext uri="{D42A27DB-BD31-4B8C-83A1-F6EECF244321}">
                <p14:modId xmlns:p14="http://schemas.microsoft.com/office/powerpoint/2010/main" val="957075403"/>
              </p:ext>
            </p:extLst>
          </p:nvPr>
        </p:nvGraphicFramePr>
        <p:xfrm>
          <a:off x="1184215" y="1778885"/>
          <a:ext cx="4911785" cy="1808481"/>
        </p:xfrm>
        <a:graphic>
          <a:graphicData uri="http://schemas.openxmlformats.org/drawingml/2006/table">
            <a:tbl>
              <a:tblPr firstRow="1" bandRow="1">
                <a:tableStyleId>{2D5ABB26-0587-4C30-8999-92F81FD0307C}</a:tableStyleId>
              </a:tblPr>
              <a:tblGrid>
                <a:gridCol w="1637262">
                  <a:extLst>
                    <a:ext uri="{9D8B030D-6E8A-4147-A177-3AD203B41FA5}">
                      <a16:colId xmlns:a16="http://schemas.microsoft.com/office/drawing/2014/main" val="20000"/>
                    </a:ext>
                  </a:extLst>
                </a:gridCol>
                <a:gridCol w="1637262">
                  <a:extLst>
                    <a:ext uri="{9D8B030D-6E8A-4147-A177-3AD203B41FA5}">
                      <a16:colId xmlns:a16="http://schemas.microsoft.com/office/drawing/2014/main" val="20001"/>
                    </a:ext>
                  </a:extLst>
                </a:gridCol>
                <a:gridCol w="1637261">
                  <a:extLst>
                    <a:ext uri="{9D8B030D-6E8A-4147-A177-3AD203B41FA5}">
                      <a16:colId xmlns:a16="http://schemas.microsoft.com/office/drawing/2014/main" val="20002"/>
                    </a:ext>
                  </a:extLst>
                </a:gridCol>
              </a:tblGrid>
              <a:tr h="467287">
                <a:tc>
                  <a:txBody>
                    <a:bodyPr/>
                    <a:lstStyle/>
                    <a:p>
                      <a:pPr>
                        <a:lnSpc>
                          <a:spcPct val="100000"/>
                        </a:lnSpc>
                      </a:pPr>
                      <a:endParaRPr sz="1600">
                        <a:solidFill>
                          <a:schemeClr val="tx1"/>
                        </a:solidFill>
                        <a:latin typeface="Times New Roman"/>
                        <a:cs typeface="Times New Roman"/>
                      </a:endParaRPr>
                    </a:p>
                  </a:txBody>
                  <a:tcPr marL="0" marR="0" marT="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marR="248285">
                        <a:lnSpc>
                          <a:spcPct val="100000"/>
                        </a:lnSpc>
                        <a:spcBef>
                          <a:spcPts val="680"/>
                        </a:spcBef>
                      </a:pPr>
                      <a:r>
                        <a:rPr sz="1600" dirty="0">
                          <a:solidFill>
                            <a:schemeClr val="tx1"/>
                          </a:solidFill>
                          <a:latin typeface="Arial"/>
                          <a:cs typeface="Arial"/>
                        </a:rPr>
                        <a:t>Predicted</a:t>
                      </a:r>
                      <a:r>
                        <a:rPr sz="1600" spc="-120" dirty="0">
                          <a:solidFill>
                            <a:schemeClr val="tx1"/>
                          </a:solidFill>
                          <a:latin typeface="Arial"/>
                          <a:cs typeface="Arial"/>
                        </a:rPr>
                        <a:t> </a:t>
                      </a:r>
                      <a:r>
                        <a:rPr sz="1600" dirty="0">
                          <a:solidFill>
                            <a:schemeClr val="tx1"/>
                          </a:solidFill>
                          <a:latin typeface="Arial"/>
                          <a:cs typeface="Arial"/>
                        </a:rPr>
                        <a:t>as  </a:t>
                      </a:r>
                      <a:r>
                        <a:rPr sz="1600" spc="-5" dirty="0">
                          <a:solidFill>
                            <a:schemeClr val="tx1"/>
                          </a:solidFill>
                          <a:latin typeface="Arial"/>
                          <a:cs typeface="Arial"/>
                        </a:rPr>
                        <a:t>Negative</a:t>
                      </a:r>
                      <a:endParaRPr sz="1600">
                        <a:solidFill>
                          <a:schemeClr val="tx1"/>
                        </a:solidFill>
                        <a:latin typeface="Arial"/>
                        <a:cs typeface="Arial"/>
                      </a:endParaRP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marR="248285">
                        <a:lnSpc>
                          <a:spcPct val="100000"/>
                        </a:lnSpc>
                        <a:spcBef>
                          <a:spcPts val="680"/>
                        </a:spcBef>
                      </a:pPr>
                      <a:r>
                        <a:rPr sz="1600" dirty="0">
                          <a:solidFill>
                            <a:schemeClr val="tx1"/>
                          </a:solidFill>
                          <a:latin typeface="Arial"/>
                          <a:cs typeface="Arial"/>
                        </a:rPr>
                        <a:t>Predicted</a:t>
                      </a:r>
                      <a:r>
                        <a:rPr sz="1600" spc="-120" dirty="0">
                          <a:solidFill>
                            <a:schemeClr val="tx1"/>
                          </a:solidFill>
                          <a:latin typeface="Arial"/>
                          <a:cs typeface="Arial"/>
                        </a:rPr>
                        <a:t> </a:t>
                      </a:r>
                      <a:r>
                        <a:rPr sz="1600" dirty="0">
                          <a:solidFill>
                            <a:schemeClr val="tx1"/>
                          </a:solidFill>
                          <a:latin typeface="Arial"/>
                          <a:cs typeface="Arial"/>
                        </a:rPr>
                        <a:t>as  </a:t>
                      </a:r>
                      <a:r>
                        <a:rPr sz="1600" spc="-5" dirty="0">
                          <a:solidFill>
                            <a:schemeClr val="tx1"/>
                          </a:solidFill>
                          <a:latin typeface="Arial"/>
                          <a:cs typeface="Arial"/>
                        </a:rPr>
                        <a:t>Positive</a:t>
                      </a:r>
                      <a:endParaRPr sz="1600">
                        <a:solidFill>
                          <a:schemeClr val="tx1"/>
                        </a:solidFill>
                        <a:latin typeface="Arial"/>
                        <a:cs typeface="Arial"/>
                      </a:endParaRP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0"/>
                  </a:ext>
                </a:extLst>
              </a:tr>
              <a:tr h="467190">
                <a:tc>
                  <a:txBody>
                    <a:bodyPr/>
                    <a:lstStyle/>
                    <a:p>
                      <a:pPr marL="91440" marR="534035">
                        <a:lnSpc>
                          <a:spcPct val="100000"/>
                        </a:lnSpc>
                        <a:spcBef>
                          <a:spcPts val="680"/>
                        </a:spcBef>
                      </a:pPr>
                      <a:r>
                        <a:rPr sz="1600" dirty="0">
                          <a:solidFill>
                            <a:schemeClr val="tx1"/>
                          </a:solidFill>
                          <a:latin typeface="Arial"/>
                          <a:cs typeface="Arial"/>
                        </a:rPr>
                        <a:t>Actual  </a:t>
                      </a:r>
                      <a:r>
                        <a:rPr sz="1600" spc="-10" dirty="0">
                          <a:solidFill>
                            <a:schemeClr val="tx1"/>
                          </a:solidFill>
                          <a:latin typeface="Arial"/>
                          <a:cs typeface="Arial"/>
                        </a:rPr>
                        <a:t>N</a:t>
                      </a:r>
                      <a:r>
                        <a:rPr sz="1600" dirty="0">
                          <a:solidFill>
                            <a:schemeClr val="tx1"/>
                          </a:solidFill>
                          <a:latin typeface="Arial"/>
                          <a:cs typeface="Arial"/>
                        </a:rPr>
                        <a:t>egati</a:t>
                      </a:r>
                      <a:r>
                        <a:rPr sz="1600" spc="-15" dirty="0">
                          <a:solidFill>
                            <a:schemeClr val="tx1"/>
                          </a:solidFill>
                          <a:latin typeface="Arial"/>
                          <a:cs typeface="Arial"/>
                        </a:rPr>
                        <a:t>v</a:t>
                      </a:r>
                      <a:r>
                        <a:rPr sz="1600" dirty="0">
                          <a:solidFill>
                            <a:schemeClr val="tx1"/>
                          </a:solidFill>
                          <a:latin typeface="Arial"/>
                          <a:cs typeface="Arial"/>
                        </a:rPr>
                        <a:t>e</a:t>
                      </a: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a:lnSpc>
                          <a:spcPct val="100000"/>
                        </a:lnSpc>
                        <a:spcBef>
                          <a:spcPts val="680"/>
                        </a:spcBef>
                      </a:pPr>
                      <a:r>
                        <a:rPr sz="1600" dirty="0">
                          <a:solidFill>
                            <a:schemeClr val="tx1"/>
                          </a:solidFill>
                          <a:latin typeface="Arial"/>
                          <a:cs typeface="Arial"/>
                        </a:rPr>
                        <a:t>9760</a:t>
                      </a:r>
                      <a:r>
                        <a:rPr sz="1600" spc="-30" dirty="0">
                          <a:solidFill>
                            <a:schemeClr val="tx1"/>
                          </a:solidFill>
                          <a:latin typeface="Arial"/>
                          <a:cs typeface="Arial"/>
                        </a:rPr>
                        <a:t> </a:t>
                      </a:r>
                      <a:r>
                        <a:rPr sz="1600" spc="-5" dirty="0">
                          <a:solidFill>
                            <a:schemeClr val="tx1"/>
                          </a:solidFill>
                          <a:latin typeface="Arial"/>
                          <a:cs typeface="Arial"/>
                        </a:rPr>
                        <a:t>(TN)</a:t>
                      </a:r>
                      <a:endParaRPr sz="1600" dirty="0">
                        <a:solidFill>
                          <a:schemeClr val="tx1"/>
                        </a:solidFill>
                        <a:latin typeface="Arial"/>
                        <a:cs typeface="Arial"/>
                      </a:endParaRP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a:lnSpc>
                          <a:spcPct val="100000"/>
                        </a:lnSpc>
                        <a:spcBef>
                          <a:spcPts val="680"/>
                        </a:spcBef>
                      </a:pPr>
                      <a:r>
                        <a:rPr sz="1600" dirty="0">
                          <a:solidFill>
                            <a:schemeClr val="tx1"/>
                          </a:solidFill>
                          <a:latin typeface="Arial"/>
                          <a:cs typeface="Arial"/>
                        </a:rPr>
                        <a:t>140</a:t>
                      </a:r>
                      <a:r>
                        <a:rPr sz="1600" spc="-30" dirty="0">
                          <a:solidFill>
                            <a:schemeClr val="tx1"/>
                          </a:solidFill>
                          <a:latin typeface="Arial"/>
                          <a:cs typeface="Arial"/>
                        </a:rPr>
                        <a:t> </a:t>
                      </a:r>
                      <a:r>
                        <a:rPr sz="1600" spc="-5" dirty="0">
                          <a:solidFill>
                            <a:schemeClr val="tx1"/>
                          </a:solidFill>
                          <a:latin typeface="Arial"/>
                          <a:cs typeface="Arial"/>
                        </a:rPr>
                        <a:t>(FP)</a:t>
                      </a:r>
                      <a:endParaRPr sz="1600">
                        <a:solidFill>
                          <a:schemeClr val="tx1"/>
                        </a:solidFill>
                        <a:latin typeface="Arial"/>
                        <a:cs typeface="Arial"/>
                      </a:endParaRP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1"/>
                  </a:ext>
                </a:extLst>
              </a:tr>
              <a:tr h="467287">
                <a:tc>
                  <a:txBody>
                    <a:bodyPr/>
                    <a:lstStyle/>
                    <a:p>
                      <a:pPr marL="91440">
                        <a:lnSpc>
                          <a:spcPct val="100000"/>
                        </a:lnSpc>
                        <a:spcBef>
                          <a:spcPts val="680"/>
                        </a:spcBef>
                      </a:pPr>
                      <a:r>
                        <a:rPr sz="1600" dirty="0">
                          <a:solidFill>
                            <a:schemeClr val="tx1"/>
                          </a:solidFill>
                          <a:latin typeface="Arial"/>
                          <a:cs typeface="Arial"/>
                        </a:rPr>
                        <a:t>Actual</a:t>
                      </a:r>
                      <a:endParaRPr sz="1600">
                        <a:solidFill>
                          <a:schemeClr val="tx1"/>
                        </a:solidFill>
                        <a:latin typeface="Arial"/>
                        <a:cs typeface="Arial"/>
                      </a:endParaRPr>
                    </a:p>
                    <a:p>
                      <a:pPr marL="91440">
                        <a:lnSpc>
                          <a:spcPct val="100000"/>
                        </a:lnSpc>
                        <a:spcBef>
                          <a:spcPts val="5"/>
                        </a:spcBef>
                      </a:pPr>
                      <a:r>
                        <a:rPr sz="1600" spc="-5" dirty="0">
                          <a:solidFill>
                            <a:schemeClr val="tx1"/>
                          </a:solidFill>
                          <a:latin typeface="Arial"/>
                          <a:cs typeface="Arial"/>
                        </a:rPr>
                        <a:t>Positive</a:t>
                      </a:r>
                      <a:endParaRPr sz="1600">
                        <a:solidFill>
                          <a:schemeClr val="tx1"/>
                        </a:solidFill>
                        <a:latin typeface="Arial"/>
                        <a:cs typeface="Arial"/>
                      </a:endParaRP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a:lnSpc>
                          <a:spcPct val="100000"/>
                        </a:lnSpc>
                        <a:spcBef>
                          <a:spcPts val="680"/>
                        </a:spcBef>
                      </a:pPr>
                      <a:r>
                        <a:rPr sz="1600" dirty="0">
                          <a:solidFill>
                            <a:schemeClr val="tx1"/>
                          </a:solidFill>
                          <a:latin typeface="Arial"/>
                          <a:cs typeface="Arial"/>
                        </a:rPr>
                        <a:t>40</a:t>
                      </a:r>
                      <a:r>
                        <a:rPr sz="1600" spc="-35" dirty="0">
                          <a:solidFill>
                            <a:schemeClr val="tx1"/>
                          </a:solidFill>
                          <a:latin typeface="Arial"/>
                          <a:cs typeface="Arial"/>
                        </a:rPr>
                        <a:t> </a:t>
                      </a:r>
                      <a:r>
                        <a:rPr sz="1600" spc="-5" dirty="0">
                          <a:solidFill>
                            <a:schemeClr val="tx1"/>
                          </a:solidFill>
                          <a:latin typeface="Arial"/>
                          <a:cs typeface="Arial"/>
                        </a:rPr>
                        <a:t>(FN)</a:t>
                      </a:r>
                      <a:endParaRPr sz="1600">
                        <a:solidFill>
                          <a:schemeClr val="tx1"/>
                        </a:solidFill>
                        <a:latin typeface="Arial"/>
                        <a:cs typeface="Arial"/>
                      </a:endParaRP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91440">
                        <a:lnSpc>
                          <a:spcPct val="100000"/>
                        </a:lnSpc>
                        <a:spcBef>
                          <a:spcPts val="680"/>
                        </a:spcBef>
                      </a:pPr>
                      <a:r>
                        <a:rPr sz="1600" dirty="0">
                          <a:solidFill>
                            <a:schemeClr val="tx1"/>
                          </a:solidFill>
                          <a:latin typeface="Arial"/>
                          <a:cs typeface="Arial"/>
                        </a:rPr>
                        <a:t>60</a:t>
                      </a:r>
                      <a:r>
                        <a:rPr sz="1600" spc="-35" dirty="0">
                          <a:solidFill>
                            <a:schemeClr val="tx1"/>
                          </a:solidFill>
                          <a:latin typeface="Arial"/>
                          <a:cs typeface="Arial"/>
                        </a:rPr>
                        <a:t> </a:t>
                      </a:r>
                      <a:r>
                        <a:rPr sz="1600" dirty="0">
                          <a:solidFill>
                            <a:schemeClr val="tx1"/>
                          </a:solidFill>
                          <a:latin typeface="Arial"/>
                          <a:cs typeface="Arial"/>
                        </a:rPr>
                        <a:t>(TP)</a:t>
                      </a:r>
                    </a:p>
                  </a:txBody>
                  <a:tcPr marL="0" marR="0" marT="115147"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6353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F- Measure</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pPr marL="16933">
              <a:spcBef>
                <a:spcPts val="560"/>
              </a:spcBef>
            </a:pPr>
            <a:r>
              <a:rPr lang="en-GB" dirty="0">
                <a:solidFill>
                  <a:schemeClr val="tx1">
                    <a:lumMod val="75000"/>
                    <a:lumOff val="25000"/>
                  </a:schemeClr>
                </a:solidFill>
                <a:cs typeface="Arial Black"/>
              </a:rPr>
              <a:t>One measure of performance that takes into account both recall and precision</a:t>
            </a:r>
          </a:p>
          <a:p>
            <a:pPr marL="16933">
              <a:spcBef>
                <a:spcPts val="2580"/>
              </a:spcBef>
            </a:pPr>
            <a:r>
              <a:rPr lang="en-GB" dirty="0">
                <a:solidFill>
                  <a:schemeClr val="tx1">
                    <a:lumMod val="75000"/>
                    <a:lumOff val="25000"/>
                  </a:schemeClr>
                </a:solidFill>
                <a:cs typeface="Arial Black"/>
              </a:rPr>
              <a:t>Harmonic mean of recall and precision:</a:t>
            </a:r>
          </a:p>
          <a:p>
            <a:pPr marL="16933">
              <a:spcBef>
                <a:spcPts val="2580"/>
              </a:spcBef>
            </a:pPr>
            <a:endParaRPr lang="en-GB" dirty="0">
              <a:solidFill>
                <a:schemeClr val="tx1">
                  <a:lumMod val="75000"/>
                  <a:lumOff val="25000"/>
                </a:schemeClr>
              </a:solidFill>
              <a:cs typeface="Arial Black"/>
            </a:endParaRPr>
          </a:p>
          <a:p>
            <a:pPr marL="16933">
              <a:spcBef>
                <a:spcPts val="2580"/>
              </a:spcBef>
            </a:pPr>
            <a:endParaRPr lang="en-GB" dirty="0">
              <a:solidFill>
                <a:schemeClr val="tx1">
                  <a:lumMod val="75000"/>
                  <a:lumOff val="25000"/>
                </a:schemeClr>
              </a:solidFill>
              <a:cs typeface="Arial Black"/>
            </a:endParaRPr>
          </a:p>
          <a:p>
            <a:pPr marL="16933">
              <a:spcBef>
                <a:spcPts val="2580"/>
              </a:spcBef>
            </a:pPr>
            <a:r>
              <a:rPr lang="en-GB" dirty="0">
                <a:solidFill>
                  <a:schemeClr val="tx1">
                    <a:lumMod val="75000"/>
                    <a:lumOff val="25000"/>
                  </a:schemeClr>
                </a:solidFill>
                <a:cs typeface="Arial Black"/>
              </a:rPr>
              <a:t>Compared to arithmetic mean, both need to be high for harmonic mean to  be high</a:t>
            </a:r>
          </a:p>
          <a:p>
            <a:pPr marL="16933">
              <a:spcBef>
                <a:spcPts val="2580"/>
              </a:spcBef>
            </a:pPr>
            <a:endParaRPr lang="en-GB" dirty="0">
              <a:solidFill>
                <a:schemeClr val="tx1">
                  <a:lumMod val="75000"/>
                  <a:lumOff val="25000"/>
                </a:schemeClr>
              </a:solidFill>
              <a:cs typeface="Arial Black"/>
            </a:endParaRPr>
          </a:p>
          <a:p>
            <a:pPr marL="16933">
              <a:spcBef>
                <a:spcPts val="2580"/>
              </a:spcBef>
            </a:pPr>
            <a:endParaRPr lang="en-GB" dirty="0">
              <a:solidFill>
                <a:schemeClr val="tx1">
                  <a:lumMod val="75000"/>
                  <a:lumOff val="25000"/>
                </a:schemeClr>
              </a:solidFill>
              <a:cs typeface="Arial Black"/>
            </a:endParaRPr>
          </a:p>
          <a:p>
            <a:pPr marL="16933">
              <a:spcBef>
                <a:spcPts val="2580"/>
              </a:spcBef>
            </a:pPr>
            <a:endParaRPr lang="en-GB" dirty="0">
              <a:solidFill>
                <a:schemeClr val="tx1">
                  <a:lumMod val="75000"/>
                  <a:lumOff val="25000"/>
                </a:schemeClr>
              </a:solidFill>
              <a:cs typeface="Arial Black"/>
            </a:endParaRP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
        <p:nvSpPr>
          <p:cNvPr id="7" name="object 5">
            <a:extLst>
              <a:ext uri="{FF2B5EF4-FFF2-40B4-BE49-F238E27FC236}">
                <a16:creationId xmlns:a16="http://schemas.microsoft.com/office/drawing/2014/main" id="{0C9A9D25-72D5-E74A-8583-101C6AF78BB1}"/>
              </a:ext>
            </a:extLst>
          </p:cNvPr>
          <p:cNvSpPr/>
          <p:nvPr/>
        </p:nvSpPr>
        <p:spPr>
          <a:xfrm>
            <a:off x="2724911" y="3302000"/>
            <a:ext cx="3490976" cy="1066800"/>
          </a:xfrm>
          <a:prstGeom prst="rect">
            <a:avLst/>
          </a:prstGeom>
          <a:blipFill>
            <a:blip r:embed="rId2"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1574134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Basics of KNN Classifiers</a:t>
            </a:r>
            <a:endParaRPr lang="en-US" dirty="0">
              <a:solidFill>
                <a:srgbClr val="942D6D"/>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
        <p:nvSpPr>
          <p:cNvPr id="11" name="TextBox 10">
            <a:extLst>
              <a:ext uri="{FF2B5EF4-FFF2-40B4-BE49-F238E27FC236}">
                <a16:creationId xmlns:a16="http://schemas.microsoft.com/office/drawing/2014/main" id="{4F39A435-E310-6E7B-FEF0-293B9953B31B}"/>
              </a:ext>
            </a:extLst>
          </p:cNvPr>
          <p:cNvSpPr txBox="1"/>
          <p:nvPr/>
        </p:nvSpPr>
        <p:spPr>
          <a:xfrm>
            <a:off x="3048000" y="3244334"/>
            <a:ext cx="6096000" cy="369332"/>
          </a:xfrm>
          <a:prstGeom prst="rect">
            <a:avLst/>
          </a:prstGeom>
          <a:noFill/>
        </p:spPr>
        <p:txBody>
          <a:bodyPr wrap="square">
            <a:spAutoFit/>
          </a:bodyPr>
          <a:lstStyle/>
          <a:p>
            <a:r>
              <a:rPr lang="en-GB" dirty="0">
                <a:hlinkClick r:id="rId2"/>
              </a:rPr>
              <a:t>https://www.youtube.com/watch?v=4HKqjENq9OU</a:t>
            </a:r>
            <a:r>
              <a:rPr lang="en-GB" dirty="0"/>
              <a:t> </a:t>
            </a:r>
          </a:p>
        </p:txBody>
      </p:sp>
    </p:spTree>
    <p:extLst>
      <p:ext uri="{BB962C8B-B14F-4D97-AF65-F5344CB8AC3E}">
        <p14:creationId xmlns:p14="http://schemas.microsoft.com/office/powerpoint/2010/main" val="573447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62778" y="1121436"/>
            <a:ext cx="4140679" cy="830997"/>
          </a:xfrm>
          <a:prstGeom prst="rect">
            <a:avLst/>
          </a:prstGeom>
          <a:noFill/>
        </p:spPr>
        <p:txBody>
          <a:bodyPr wrap="square" rtlCol="0">
            <a:spAutoFit/>
          </a:bodyPr>
          <a:lstStyle/>
          <a:p>
            <a:pPr algn="r"/>
            <a:r>
              <a:rPr lang="en-GB" sz="2400" b="1" spc="-50" dirty="0">
                <a:solidFill>
                  <a:schemeClr val="bg1"/>
                </a:solidFill>
              </a:rPr>
              <a:t>+44 (0)207 016 8000</a:t>
            </a:r>
          </a:p>
          <a:p>
            <a:pPr algn="r"/>
            <a:r>
              <a:rPr lang="en-GB" sz="2400" b="1" spc="-50" dirty="0">
                <a:solidFill>
                  <a:schemeClr val="bg1"/>
                </a:solidFill>
              </a:rPr>
              <a:t>info@rcl.ac.uk</a:t>
            </a:r>
          </a:p>
        </p:txBody>
      </p:sp>
    </p:spTree>
    <p:extLst>
      <p:ext uri="{BB962C8B-B14F-4D97-AF65-F5344CB8AC3E}">
        <p14:creationId xmlns:p14="http://schemas.microsoft.com/office/powerpoint/2010/main" val="1381126769"/>
      </p:ext>
    </p:extLst>
  </p:cSld>
  <p:clrMapOvr>
    <a:masterClrMapping/>
  </p:clrMapOvr>
</p:sld>
</file>

<file path=ppt/theme/theme1.xml><?xml version="1.0" encoding="utf-8"?>
<a:theme xmlns:a="http://schemas.openxmlformats.org/drawingml/2006/main" name="Light blue-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626083B1-0830-460F-AA05-F809A184AD55}"/>
    </a:ext>
  </a:extLst>
</a:theme>
</file>

<file path=ppt/theme/theme2.xml><?xml version="1.0" encoding="utf-8"?>
<a:theme xmlns:a="http://schemas.openxmlformats.org/drawingml/2006/main" name="Pearson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72DF3C6F-D641-4496-AE49-B1B2B2E63DA0}"/>
    </a:ext>
  </a:extLst>
</a:theme>
</file>

<file path=ppt/theme/theme3.xml><?xml version="1.0" encoding="utf-8"?>
<a:theme xmlns:a="http://schemas.openxmlformats.org/drawingml/2006/main" name="Light blue-inside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74F60302-919A-40C2-AA8C-08C631E4BB03}"/>
    </a:ext>
  </a:extLst>
</a:theme>
</file>

<file path=ppt/theme/theme4.xml><?xml version="1.0" encoding="utf-8"?>
<a:theme xmlns:a="http://schemas.openxmlformats.org/drawingml/2006/main" name="With pictur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1A762B6E-1460-46E8-A288-DB6DA20E3E72}"/>
    </a:ext>
  </a:extLst>
</a:theme>
</file>

<file path=ppt/theme/theme5.xml><?xml version="1.0" encoding="utf-8"?>
<a:theme xmlns:a="http://schemas.openxmlformats.org/drawingml/2006/main" name="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848B4BB2-990F-4FF4-835D-66EEAC45A093}"/>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386AD14CB602547BFCB7D842FEF14EE" ma:contentTypeVersion="15" ma:contentTypeDescription="Create a new document." ma:contentTypeScope="" ma:versionID="0a40da80dfba2f26db4fd96ff563ad7b">
  <xsd:schema xmlns:xsd="http://www.w3.org/2001/XMLSchema" xmlns:xs="http://www.w3.org/2001/XMLSchema" xmlns:p="http://schemas.microsoft.com/office/2006/metadata/properties" xmlns:ns2="6b1a28a2-5857-4321-9bd8-c602fba5c8bc" xmlns:ns3="5086911d-6e48-4cf3-b087-1eb55996afa6" targetNamespace="http://schemas.microsoft.com/office/2006/metadata/properties" ma:root="true" ma:fieldsID="11a481746c084991ab5e77ba1922d2a7" ns2:_="" ns3:_="">
    <xsd:import namespace="6b1a28a2-5857-4321-9bd8-c602fba5c8bc"/>
    <xsd:import namespace="5086911d-6e48-4cf3-b087-1eb55996afa6"/>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1a28a2-5857-4321-9bd8-c602fba5c8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247cd83-a7c4-41c3-9ccf-b3de8fb2a7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086911d-6e48-4cf3-b087-1eb55996afa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9339b10e-c275-4384-8e68-845348d9a81e}" ma:internalName="TaxCatchAll" ma:showField="CatchAllData" ma:web="5086911d-6e48-4cf3-b087-1eb55996af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b1a28a2-5857-4321-9bd8-c602fba5c8bc">
      <Terms xmlns="http://schemas.microsoft.com/office/infopath/2007/PartnerControls"/>
    </lcf76f155ced4ddcb4097134ff3c332f>
    <TaxCatchAll xmlns="5086911d-6e48-4cf3-b087-1eb55996afa6" xsi:nil="true"/>
  </documentManagement>
</p:properties>
</file>

<file path=customXml/itemProps1.xml><?xml version="1.0" encoding="utf-8"?>
<ds:datastoreItem xmlns:ds="http://schemas.openxmlformats.org/officeDocument/2006/customXml" ds:itemID="{04A235E8-BC2D-4234-9DE9-624D020E17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1a28a2-5857-4321-9bd8-c602fba5c8bc"/>
    <ds:schemaRef ds:uri="5086911d-6e48-4cf3-b087-1eb55996af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140C189-3974-493C-BB55-5026C2A0AFF5}">
  <ds:schemaRefs>
    <ds:schemaRef ds:uri="http://schemas.microsoft.com/sharepoint/v3/contenttype/forms"/>
  </ds:schemaRefs>
</ds:datastoreItem>
</file>

<file path=customXml/itemProps3.xml><?xml version="1.0" encoding="utf-8"?>
<ds:datastoreItem xmlns:ds="http://schemas.openxmlformats.org/officeDocument/2006/customXml" ds:itemID="{AF866452-3E52-40D8-AFEC-60FD0BA1FEC7}">
  <ds:schemaRefs>
    <ds:schemaRef ds:uri="http://schemas.microsoft.com/office/2006/metadata/properties"/>
    <ds:schemaRef ds:uri="http://schemas.microsoft.com/office/infopath/2007/PartnerControls"/>
    <ds:schemaRef ds:uri="6b1a28a2-5857-4321-9bd8-c602fba5c8bc"/>
    <ds:schemaRef ds:uri="5086911d-6e48-4cf3-b087-1eb55996afa6"/>
  </ds:schemaRefs>
</ds:datastoreItem>
</file>

<file path=docProps/app.xml><?xml version="1.0" encoding="utf-8"?>
<Properties xmlns="http://schemas.openxmlformats.org/officeDocument/2006/extended-properties" xmlns:vt="http://schemas.openxmlformats.org/officeDocument/2006/docPropsVTypes">
  <Template>Light blue-Cover</Template>
  <TotalTime>435</TotalTime>
  <Words>578</Words>
  <Application>Microsoft Office PowerPoint</Application>
  <PresentationFormat>Widescreen</PresentationFormat>
  <Paragraphs>96</Paragraphs>
  <Slides>17</Slides>
  <Notes>2</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17</vt:i4>
      </vt:variant>
    </vt:vector>
  </HeadingPairs>
  <TitlesOfParts>
    <vt:vector size="27" baseType="lpstr">
      <vt:lpstr>Arial</vt:lpstr>
      <vt:lpstr>Arial Black</vt:lpstr>
      <vt:lpstr>Calibri</vt:lpstr>
      <vt:lpstr>Tahoma</vt:lpstr>
      <vt:lpstr>Times New Roman</vt:lpstr>
      <vt:lpstr>Light blue-Cover</vt:lpstr>
      <vt:lpstr>Pearson slide</vt:lpstr>
      <vt:lpstr>Light blue-inside slide</vt:lpstr>
      <vt:lpstr>With picture</vt:lpstr>
      <vt:lpstr>Back cover</vt:lpstr>
      <vt:lpstr>Machine learning</vt:lpstr>
      <vt:lpstr>Machine learning </vt:lpstr>
      <vt:lpstr>Machine learning</vt:lpstr>
      <vt:lpstr>PowerPoint Presentation</vt:lpstr>
      <vt:lpstr>Learning objectives</vt:lpstr>
      <vt:lpstr>ML evaluation metrices</vt:lpstr>
      <vt:lpstr>Accuracy </vt:lpstr>
      <vt:lpstr>ML model validation Techniques</vt:lpstr>
      <vt:lpstr>Confusion matrix </vt:lpstr>
      <vt:lpstr>Confusion matrix </vt:lpstr>
      <vt:lpstr>AUC – Area under curve</vt:lpstr>
      <vt:lpstr>Auc- (Contd..)</vt:lpstr>
      <vt:lpstr>Ranking metrics</vt:lpstr>
      <vt:lpstr>Calculation example of Precision - recall</vt:lpstr>
      <vt:lpstr>F- Measure</vt:lpstr>
      <vt:lpstr>Basics of KNN Classifiers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Bachelor’s degree</dc:title>
  <dc:creator>Nalinda Somasiri</dc:creator>
  <cp:lastModifiedBy>Maksud Mazumder</cp:lastModifiedBy>
  <cp:revision>71</cp:revision>
  <dcterms:created xsi:type="dcterms:W3CDTF">2021-07-24T10:34:01Z</dcterms:created>
  <dcterms:modified xsi:type="dcterms:W3CDTF">2024-07-29T18:13:53Z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0x010100E386AD14CB602547BFCB7D842FEF14EE</vt:lpwstr>
  </property>
  <property fmtid="{D5CDD505-2E9C-101B-9397-08002B2CF9AE}" pid="3" name="MediaServiceImageTags">
    <vt:lpwstr/>
  </property>
</Properties>
</file>