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Layouts/slideLayout7.xml" ContentType="application/vnd.openxmlformats-officedocument.presentationml.slideLayout+xml"/>
  <Override PartName="/ppt/theme/theme4.xml" ContentType="application/vnd.openxmlformats-officedocument.theme+xml"/>
  <Override PartName="/ppt/slideLayouts/slideLayout8.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 id="2147483651" r:id="rId5"/>
    <p:sldMasterId id="2147483653" r:id="rId6"/>
    <p:sldMasterId id="2147483657" r:id="rId7"/>
    <p:sldMasterId id="2147483659" r:id="rId8"/>
  </p:sldMasterIdLst>
  <p:notesMasterIdLst>
    <p:notesMasterId r:id="rId68"/>
  </p:notesMasterIdLst>
  <p:sldIdLst>
    <p:sldId id="261" r:id="rId9"/>
    <p:sldId id="257" r:id="rId10"/>
    <p:sldId id="265" r:id="rId11"/>
    <p:sldId id="306" r:id="rId12"/>
    <p:sldId id="311" r:id="rId13"/>
    <p:sldId id="378" r:id="rId14"/>
    <p:sldId id="374" r:id="rId15"/>
    <p:sldId id="375" r:id="rId16"/>
    <p:sldId id="376" r:id="rId17"/>
    <p:sldId id="313" r:id="rId18"/>
    <p:sldId id="314" r:id="rId19"/>
    <p:sldId id="315" r:id="rId20"/>
    <p:sldId id="371" r:id="rId21"/>
    <p:sldId id="316" r:id="rId22"/>
    <p:sldId id="317" r:id="rId23"/>
    <p:sldId id="318" r:id="rId24"/>
    <p:sldId id="366" r:id="rId25"/>
    <p:sldId id="370" r:id="rId26"/>
    <p:sldId id="367" r:id="rId27"/>
    <p:sldId id="368" r:id="rId28"/>
    <p:sldId id="369" r:id="rId29"/>
    <p:sldId id="333" r:id="rId30"/>
    <p:sldId id="335" r:id="rId31"/>
    <p:sldId id="336" r:id="rId32"/>
    <p:sldId id="337" r:id="rId33"/>
    <p:sldId id="347" r:id="rId34"/>
    <p:sldId id="339" r:id="rId35"/>
    <p:sldId id="381" r:id="rId36"/>
    <p:sldId id="331" r:id="rId37"/>
    <p:sldId id="379" r:id="rId38"/>
    <p:sldId id="341" r:id="rId39"/>
    <p:sldId id="380" r:id="rId40"/>
    <p:sldId id="343" r:id="rId41"/>
    <p:sldId id="346" r:id="rId42"/>
    <p:sldId id="344" r:id="rId43"/>
    <p:sldId id="345" r:id="rId44"/>
    <p:sldId id="321" r:id="rId45"/>
    <p:sldId id="322" r:id="rId46"/>
    <p:sldId id="320" r:id="rId47"/>
    <p:sldId id="382" r:id="rId48"/>
    <p:sldId id="362" r:id="rId49"/>
    <p:sldId id="383" r:id="rId50"/>
    <p:sldId id="384" r:id="rId51"/>
    <p:sldId id="387" r:id="rId52"/>
    <p:sldId id="388" r:id="rId53"/>
    <p:sldId id="389" r:id="rId54"/>
    <p:sldId id="385" r:id="rId55"/>
    <p:sldId id="386" r:id="rId56"/>
    <p:sldId id="390" r:id="rId57"/>
    <p:sldId id="391" r:id="rId58"/>
    <p:sldId id="392" r:id="rId59"/>
    <p:sldId id="393" r:id="rId60"/>
    <p:sldId id="394" r:id="rId61"/>
    <p:sldId id="395" r:id="rId62"/>
    <p:sldId id="396" r:id="rId63"/>
    <p:sldId id="397" r:id="rId64"/>
    <p:sldId id="398" r:id="rId65"/>
    <p:sldId id="373" r:id="rId66"/>
    <p:sldId id="377" r:id="rId6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harindu" initials="T"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56768"/>
    <a:srgbClr val="0D3E63"/>
    <a:srgbClr val="942D6D"/>
    <a:srgbClr val="232C58"/>
    <a:srgbClr val="942F6D"/>
    <a:srgbClr val="6FC8F0"/>
    <a:srgbClr val="B0E1F7"/>
    <a:srgbClr val="71C5E8"/>
    <a:srgbClr val="093E62"/>
    <a:srgbClr val="1665A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002" autoAdjust="0"/>
    <p:restoredTop sz="94038" autoAdjust="0"/>
  </p:normalViewPr>
  <p:slideViewPr>
    <p:cSldViewPr snapToGrid="0">
      <p:cViewPr varScale="1">
        <p:scale>
          <a:sx n="53" d="100"/>
          <a:sy n="53" d="100"/>
        </p:scale>
        <p:origin x="456" y="36"/>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8.xml"/><Relationship Id="rId21" Type="http://schemas.openxmlformats.org/officeDocument/2006/relationships/slide" Target="slides/slide13.xml"/><Relationship Id="rId42" Type="http://schemas.openxmlformats.org/officeDocument/2006/relationships/slide" Target="slides/slide34.xml"/><Relationship Id="rId47" Type="http://schemas.openxmlformats.org/officeDocument/2006/relationships/slide" Target="slides/slide39.xml"/><Relationship Id="rId63" Type="http://schemas.openxmlformats.org/officeDocument/2006/relationships/slide" Target="slides/slide55.xml"/><Relationship Id="rId68"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8.xml"/><Relationship Id="rId29" Type="http://schemas.openxmlformats.org/officeDocument/2006/relationships/slide" Target="slides/slide21.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slide" Target="slides/slide37.xml"/><Relationship Id="rId53" Type="http://schemas.openxmlformats.org/officeDocument/2006/relationships/slide" Target="slides/slide45.xml"/><Relationship Id="rId58" Type="http://schemas.openxmlformats.org/officeDocument/2006/relationships/slide" Target="slides/slide50.xml"/><Relationship Id="rId66" Type="http://schemas.openxmlformats.org/officeDocument/2006/relationships/slide" Target="slides/slide58.xml"/><Relationship Id="rId5" Type="http://schemas.openxmlformats.org/officeDocument/2006/relationships/slideMaster" Target="slideMasters/slideMaster2.xml"/><Relationship Id="rId61" Type="http://schemas.openxmlformats.org/officeDocument/2006/relationships/slide" Target="slides/slide53.xml"/><Relationship Id="rId19" Type="http://schemas.openxmlformats.org/officeDocument/2006/relationships/slide" Target="slides/slide1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slide" Target="slides/slide40.xml"/><Relationship Id="rId56" Type="http://schemas.openxmlformats.org/officeDocument/2006/relationships/slide" Target="slides/slide48.xml"/><Relationship Id="rId64" Type="http://schemas.openxmlformats.org/officeDocument/2006/relationships/slide" Target="slides/slide56.xml"/><Relationship Id="rId69" Type="http://schemas.openxmlformats.org/officeDocument/2006/relationships/commentAuthors" Target="commentAuthors.xml"/><Relationship Id="rId8" Type="http://schemas.openxmlformats.org/officeDocument/2006/relationships/slideMaster" Target="slideMasters/slideMaster5.xml"/><Relationship Id="rId51" Type="http://schemas.openxmlformats.org/officeDocument/2006/relationships/slide" Target="slides/slide43.xml"/><Relationship Id="rId72"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59" Type="http://schemas.openxmlformats.org/officeDocument/2006/relationships/slide" Target="slides/slide51.xml"/><Relationship Id="rId67" Type="http://schemas.openxmlformats.org/officeDocument/2006/relationships/slide" Target="slides/slide59.xml"/><Relationship Id="rId20" Type="http://schemas.openxmlformats.org/officeDocument/2006/relationships/slide" Target="slides/slide12.xml"/><Relationship Id="rId41" Type="http://schemas.openxmlformats.org/officeDocument/2006/relationships/slide" Target="slides/slide33.xml"/><Relationship Id="rId54" Type="http://schemas.openxmlformats.org/officeDocument/2006/relationships/slide" Target="slides/slide46.xml"/><Relationship Id="rId62" Type="http://schemas.openxmlformats.org/officeDocument/2006/relationships/slide" Target="slides/slide54.xml"/><Relationship Id="rId7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 Id="rId57" Type="http://schemas.openxmlformats.org/officeDocument/2006/relationships/slide" Target="slides/slide49.xml"/><Relationship Id="rId10" Type="http://schemas.openxmlformats.org/officeDocument/2006/relationships/slide" Target="slides/slide2.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slide" Target="slides/slide44.xml"/><Relationship Id="rId60" Type="http://schemas.openxmlformats.org/officeDocument/2006/relationships/slide" Target="slides/slide52.xml"/><Relationship Id="rId65" Type="http://schemas.openxmlformats.org/officeDocument/2006/relationships/slide" Target="slides/slide57.xml"/><Relationship Id="rId7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1.xml"/><Relationship Id="rId13" Type="http://schemas.openxmlformats.org/officeDocument/2006/relationships/slide" Target="slides/slide5.xml"/><Relationship Id="rId18" Type="http://schemas.openxmlformats.org/officeDocument/2006/relationships/slide" Target="slides/slide10.xml"/><Relationship Id="rId39" Type="http://schemas.openxmlformats.org/officeDocument/2006/relationships/slide" Target="slides/slide31.xml"/><Relationship Id="rId34" Type="http://schemas.openxmlformats.org/officeDocument/2006/relationships/slide" Target="slides/slide26.xml"/><Relationship Id="rId50" Type="http://schemas.openxmlformats.org/officeDocument/2006/relationships/slide" Target="slides/slide42.xml"/><Relationship Id="rId55" Type="http://schemas.openxmlformats.org/officeDocument/2006/relationships/slide" Target="slides/slide47.xml"/><Relationship Id="rId7" Type="http://schemas.openxmlformats.org/officeDocument/2006/relationships/slideMaster" Target="slideMasters/slideMaster4.xml"/><Relationship Id="rId7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9218DF-9495-47FB-843C-0D1FCB3E09C9}" type="datetimeFigureOut">
              <a:rPr lang="en-US" smtClean="0"/>
              <a:t>1/30/2026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ACCC11-19A3-4E27-AB70-5FB3E1779C6E}" type="slidenum">
              <a:rPr lang="en-US" smtClean="0"/>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learn.g2.com/author/amal-joby" TargetMode="External"/><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learn.g2.com/linear-regression" TargetMode="External"/><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github.com/manvendra7/Skewness-and-kurtosis/blob/master/SKEWNESS_AND_KURTOSIS_(1).ipynb" TargetMode="External"/><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medium.com/@kyawsawhtoon?source=post_page-----9444b4b049c9--------------------------------" TargetMode="External"/><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s://www.statology.org/polynomial-regression/" TargetMode="External"/><Relationship Id="rId2" Type="http://schemas.openxmlformats.org/officeDocument/2006/relationships/slide" Target="../slides/slide41.xml"/><Relationship Id="rId1" Type="http://schemas.openxmlformats.org/officeDocument/2006/relationships/notesMaster" Target="../notesMasters/notesMaster1.xml"/><Relationship Id="rId4" Type="http://schemas.openxmlformats.org/officeDocument/2006/relationships/hyperlink" Target="https://www.statology.org/author/admin/" TargetMode="Externa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3" Type="http://schemas.openxmlformats.org/officeDocument/2006/relationships/hyperlink" Target="https://machinelearningmastery.com/author/jasonb/" TargetMode="External"/><Relationship Id="rId2" Type="http://schemas.openxmlformats.org/officeDocument/2006/relationships/slide" Target="../slides/slide52.xml"/><Relationship Id="rId1" Type="http://schemas.openxmlformats.org/officeDocument/2006/relationships/notesMaster" Target="../notesMasters/notesMaster1.xml"/><Relationship Id="rId4" Type="http://schemas.openxmlformats.org/officeDocument/2006/relationships/hyperlink" Target="https://machinelearningmastery.com/category/python-machine-learning/" TargetMode="External"/></Relationships>
</file>

<file path=ppt/notesSlides/_rels/notesSlide28.xml.rels><?xml version="1.0" encoding="UTF-8" standalone="yes"?>
<Relationships xmlns="http://schemas.openxmlformats.org/package/2006/relationships"><Relationship Id="rId3" Type="http://schemas.openxmlformats.org/officeDocument/2006/relationships/hyperlink" Target="https://www.obviously.ai/post/the-difference-between-training-data-vs-test-data-in-machine-learning" TargetMode="External"/><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3" Type="http://schemas.openxmlformats.org/officeDocument/2006/relationships/hyperlink" Target="https://rishisid.medium.com/?source=post_page-----8b334a3dab09-----------------------------------" TargetMode="External"/><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https://www.mygreatlearning.com/blog/linear-regression-in-machine-learning/</a:t>
            </a:r>
            <a:endParaRPr lang="en-GB" b="0" i="0" dirty="0">
              <a:solidFill>
                <a:srgbClr val="222222"/>
              </a:solidFill>
              <a:effectLst/>
              <a:latin typeface="Poppins" panose="00000500000000000000" pitchFamily="2" charset="0"/>
            </a:endParaRPr>
          </a:p>
          <a:p>
            <a:endParaRPr lang="en-GB" b="0" i="0" dirty="0">
              <a:solidFill>
                <a:srgbClr val="222222"/>
              </a:solidFill>
              <a:effectLst/>
              <a:latin typeface="Poppins" panose="00000500000000000000" pitchFamily="2" charset="0"/>
            </a:endParaRPr>
          </a:p>
          <a:p>
            <a:pPr algn="l"/>
            <a:r>
              <a:rPr lang="en-GB" b="0" i="0" dirty="0">
                <a:solidFill>
                  <a:srgbClr val="222222"/>
                </a:solidFill>
                <a:effectLst/>
                <a:latin typeface="Poppins" panose="00000500000000000000" pitchFamily="2" charset="0"/>
              </a:rPr>
              <a:t>Regression method tries to find the best fit line which shows the relationship between the dependent variable and predictors with least error. </a:t>
            </a:r>
          </a:p>
          <a:p>
            <a:pPr algn="l"/>
            <a:r>
              <a:rPr lang="en-GB" b="0" i="0" dirty="0">
                <a:solidFill>
                  <a:srgbClr val="222222"/>
                </a:solidFill>
                <a:effectLst/>
                <a:latin typeface="Poppins" panose="00000500000000000000" pitchFamily="2" charset="0"/>
              </a:rPr>
              <a:t>In regression, the output/dependent variable is the function of an independent variable and the coefficient and the error term.</a:t>
            </a:r>
          </a:p>
          <a:p>
            <a:endParaRPr lang="en-GB" dirty="0"/>
          </a:p>
        </p:txBody>
      </p:sp>
      <p:sp>
        <p:nvSpPr>
          <p:cNvPr id="4" name="Slide Number Placeholder 3"/>
          <p:cNvSpPr>
            <a:spLocks noGrp="1"/>
          </p:cNvSpPr>
          <p:nvPr>
            <p:ph type="sldNum" sz="quarter" idx="5"/>
          </p:nvPr>
        </p:nvSpPr>
        <p:spPr/>
        <p:txBody>
          <a:bodyPr/>
          <a:lstStyle/>
          <a:p>
            <a:fld id="{1FACCC11-19A3-4E27-AB70-5FB3E1779C6E}" type="slidenum">
              <a:rPr lang="en-US" smtClean="0"/>
              <a:t>7</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b="0" i="0" dirty="0">
              <a:solidFill>
                <a:srgbClr val="222222"/>
              </a:solidFill>
              <a:effectLst/>
              <a:latin typeface="Poppins" panose="00000500000000000000" pitchFamily="2" charset="0"/>
            </a:endParaRPr>
          </a:p>
        </p:txBody>
      </p:sp>
      <p:sp>
        <p:nvSpPr>
          <p:cNvPr id="4" name="Slide Number Placeholder 3"/>
          <p:cNvSpPr>
            <a:spLocks noGrp="1"/>
          </p:cNvSpPr>
          <p:nvPr>
            <p:ph type="sldNum" sz="quarter" idx="5"/>
          </p:nvPr>
        </p:nvSpPr>
        <p:spPr/>
        <p:txBody>
          <a:bodyPr/>
          <a:lstStyle/>
          <a:p>
            <a:fld id="{1FACCC11-19A3-4E27-AB70-5FB3E1779C6E}" type="slidenum">
              <a:rPr lang="en-US" smtClean="0"/>
              <a:t>8</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b="0" i="0" dirty="0">
              <a:solidFill>
                <a:srgbClr val="222222"/>
              </a:solidFill>
              <a:effectLst/>
              <a:latin typeface="Poppins" panose="00000500000000000000" pitchFamily="2" charset="0"/>
            </a:endParaRPr>
          </a:p>
        </p:txBody>
      </p:sp>
      <p:sp>
        <p:nvSpPr>
          <p:cNvPr id="4" name="Slide Number Placeholder 3"/>
          <p:cNvSpPr>
            <a:spLocks noGrp="1"/>
          </p:cNvSpPr>
          <p:nvPr>
            <p:ph type="sldNum" sz="quarter" idx="5"/>
          </p:nvPr>
        </p:nvSpPr>
        <p:spPr/>
        <p:txBody>
          <a:bodyPr/>
          <a:lstStyle/>
          <a:p>
            <a:fld id="{1FACCC11-19A3-4E27-AB70-5FB3E1779C6E}" type="slidenum">
              <a:rPr lang="en-US" smtClean="0"/>
              <a:t>9</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12</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13</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15</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16</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F2E104D-C80E-6B44-82FA-6DDCE0FDA00F}" type="slidenum">
              <a:rPr lang="en-US" smtClean="0"/>
              <a:t>17</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sz="1200" kern="1200" dirty="0">
                <a:solidFill>
                  <a:schemeClr val="tx1"/>
                </a:solidFill>
                <a:effectLst/>
                <a:latin typeface="+mn-lt"/>
                <a:ea typeface="+mn-ea"/>
                <a:cs typeface="+mn-cs"/>
              </a:rPr>
              <a:t>We can place the line "by eye": try to have the line as close as possible to all points, and a similar number of points above and below the line. </a:t>
            </a:r>
            <a:endParaRPr lang="en-GB" dirty="0"/>
          </a:p>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18</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dirty="0">
                <a:solidFill>
                  <a:srgbClr val="111111"/>
                </a:solidFill>
                <a:effectLst/>
                <a:latin typeface="Barlow" panose="00000500000000000000" pitchFamily="2" charset="0"/>
              </a:rPr>
              <a:t>What Is Linear Regression? How It's Used in Machine Learning</a:t>
            </a:r>
          </a:p>
          <a:p>
            <a:pPr algn="l"/>
            <a:r>
              <a:rPr lang="en-US" b="0" i="0" dirty="0">
                <a:solidFill>
                  <a:srgbClr val="6A7E90"/>
                </a:solidFill>
                <a:effectLst/>
                <a:latin typeface="Barlow" panose="00000500000000000000" pitchFamily="2" charset="0"/>
              </a:rPr>
              <a:t>July 16, 2021</a:t>
            </a:r>
          </a:p>
          <a:p>
            <a:pPr algn="l"/>
            <a:r>
              <a:rPr lang="en-US" b="1" i="0" dirty="0">
                <a:solidFill>
                  <a:srgbClr val="111111"/>
                </a:solidFill>
                <a:effectLst/>
                <a:latin typeface="Barlow" panose="00000500000000000000" pitchFamily="2" charset="0"/>
              </a:rPr>
              <a:t> by </a:t>
            </a:r>
            <a:r>
              <a:rPr lang="en-US" b="1" i="0" u="none" strike="noStrike" dirty="0">
                <a:solidFill>
                  <a:srgbClr val="26313D"/>
                </a:solidFill>
                <a:effectLst/>
                <a:latin typeface="Barlow" panose="00000500000000000000" pitchFamily="2" charset="0"/>
                <a:hlinkClick r:id="rId3"/>
              </a:rPr>
              <a:t>Amal Joby</a:t>
            </a:r>
            <a:endParaRPr lang="en-US" b="1" i="0" dirty="0">
              <a:solidFill>
                <a:srgbClr val="111111"/>
              </a:solidFill>
              <a:effectLst/>
              <a:latin typeface="Barlow" panose="00000500000000000000" pitchFamily="2" charset="0"/>
            </a:endParaRPr>
          </a:p>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22</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What Is Linear Regression? How It's Used in Machine Learning (g2.com)</a:t>
            </a:r>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23</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b="1" i="0" dirty="0">
                <a:solidFill>
                  <a:srgbClr val="292929"/>
                </a:solidFill>
                <a:effectLst/>
                <a:latin typeface="source-serif-pro"/>
              </a:rPr>
              <a:t>No noise</a:t>
            </a:r>
            <a:r>
              <a:rPr lang="en-GB" b="0" i="0" dirty="0">
                <a:solidFill>
                  <a:srgbClr val="292929"/>
                </a:solidFill>
                <a:effectLst/>
                <a:latin typeface="source-serif-pro"/>
              </a:rPr>
              <a:t>: </a:t>
            </a:r>
            <a:r>
              <a:rPr lang="en-GB" b="0" i="0" dirty="0" err="1">
                <a:solidFill>
                  <a:srgbClr val="292929"/>
                </a:solidFill>
                <a:effectLst/>
                <a:latin typeface="source-serif-pro"/>
              </a:rPr>
              <a:t>eg.</a:t>
            </a:r>
            <a:r>
              <a:rPr lang="en-GB" b="0" i="0" dirty="0">
                <a:solidFill>
                  <a:srgbClr val="292929"/>
                </a:solidFill>
                <a:effectLst/>
                <a:latin typeface="source-serif-pro"/>
              </a:rPr>
              <a:t> that there are no outliers in the data</a:t>
            </a:r>
          </a:p>
          <a:p>
            <a:pPr marL="0" marR="0" lvl="0" indent="0" algn="l" defTabSz="914400" rtl="0" eaLnBrk="1" fontAlgn="auto" latinLnBrk="0" hangingPunct="1">
              <a:lnSpc>
                <a:spcPct val="100000"/>
              </a:lnSpc>
              <a:spcBef>
                <a:spcPts val="0"/>
              </a:spcBef>
              <a:spcAft>
                <a:spcPts val="0"/>
              </a:spcAft>
              <a:buClrTx/>
              <a:buSzTx/>
              <a:buFontTx/>
              <a:buNone/>
              <a:defRPr/>
            </a:pPr>
            <a:r>
              <a:rPr lang="en-GB" b="1" i="0" dirty="0">
                <a:solidFill>
                  <a:srgbClr val="292929"/>
                </a:solidFill>
                <a:effectLst/>
                <a:latin typeface="source-serif-pro"/>
              </a:rPr>
              <a:t>No collinearity</a:t>
            </a:r>
            <a:r>
              <a:rPr lang="en-GB" b="0" i="0" dirty="0">
                <a:solidFill>
                  <a:srgbClr val="292929"/>
                </a:solidFill>
                <a:effectLst/>
                <a:latin typeface="source-serif-pro"/>
              </a:rPr>
              <a:t>: if you have highly correlated predictors, it’s most likely your model will overfit</a:t>
            </a:r>
          </a:p>
          <a:p>
            <a:pPr marL="0" marR="0" lvl="0" indent="0" algn="l" defTabSz="914400" rtl="0" eaLnBrk="1" fontAlgn="auto" latinLnBrk="0" hangingPunct="1">
              <a:lnSpc>
                <a:spcPct val="100000"/>
              </a:lnSpc>
              <a:spcBef>
                <a:spcPts val="0"/>
              </a:spcBef>
              <a:spcAft>
                <a:spcPts val="0"/>
              </a:spcAft>
              <a:buClrTx/>
              <a:buSzTx/>
              <a:buFontTx/>
              <a:buNone/>
              <a:defRPr/>
            </a:pPr>
            <a:r>
              <a:rPr lang="en-GB" b="1" i="0" dirty="0">
                <a:solidFill>
                  <a:srgbClr val="292929"/>
                </a:solidFill>
                <a:effectLst/>
                <a:latin typeface="source-serif-pro"/>
              </a:rPr>
              <a:t>Linearity</a:t>
            </a:r>
            <a:r>
              <a:rPr lang="en-GB" b="0" i="0" dirty="0">
                <a:solidFill>
                  <a:srgbClr val="292929"/>
                </a:solidFill>
                <a:effectLst/>
                <a:latin typeface="source-serif-pro"/>
              </a:rPr>
              <a:t>: assumes that the relationship between predictors and target variable is linear</a:t>
            </a:r>
          </a:p>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25</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b="1" i="0" dirty="0">
                <a:solidFill>
                  <a:srgbClr val="292929"/>
                </a:solidFill>
                <a:effectLst/>
                <a:latin typeface="source-serif-pro"/>
              </a:rPr>
              <a:t>No noise</a:t>
            </a:r>
            <a:r>
              <a:rPr lang="en-GB" b="0" i="0" dirty="0">
                <a:solidFill>
                  <a:srgbClr val="292929"/>
                </a:solidFill>
                <a:effectLst/>
                <a:latin typeface="source-serif-pro"/>
              </a:rPr>
              <a:t>: </a:t>
            </a:r>
            <a:r>
              <a:rPr lang="en-GB" b="0" i="0" dirty="0" err="1">
                <a:solidFill>
                  <a:srgbClr val="292929"/>
                </a:solidFill>
                <a:effectLst/>
                <a:latin typeface="source-serif-pro"/>
              </a:rPr>
              <a:t>eg.</a:t>
            </a:r>
            <a:r>
              <a:rPr lang="en-GB" b="0" i="0" dirty="0">
                <a:solidFill>
                  <a:srgbClr val="292929"/>
                </a:solidFill>
                <a:effectLst/>
                <a:latin typeface="source-serif-pro"/>
              </a:rPr>
              <a:t> that there are no outliers in the data</a:t>
            </a:r>
          </a:p>
          <a:p>
            <a:pPr marL="0" marR="0" lvl="0" indent="0" algn="l" defTabSz="914400" rtl="0" eaLnBrk="1" fontAlgn="auto" latinLnBrk="0" hangingPunct="1">
              <a:lnSpc>
                <a:spcPct val="100000"/>
              </a:lnSpc>
              <a:spcBef>
                <a:spcPts val="0"/>
              </a:spcBef>
              <a:spcAft>
                <a:spcPts val="0"/>
              </a:spcAft>
              <a:buClrTx/>
              <a:buSzTx/>
              <a:buFontTx/>
              <a:buNone/>
              <a:defRPr/>
            </a:pPr>
            <a:r>
              <a:rPr lang="en-GB" b="1" i="0" dirty="0">
                <a:solidFill>
                  <a:srgbClr val="292929"/>
                </a:solidFill>
                <a:effectLst/>
                <a:latin typeface="source-serif-pro"/>
              </a:rPr>
              <a:t>No collinearity</a:t>
            </a:r>
            <a:r>
              <a:rPr lang="en-GB" b="0" i="0" dirty="0">
                <a:solidFill>
                  <a:srgbClr val="292929"/>
                </a:solidFill>
                <a:effectLst/>
                <a:latin typeface="source-serif-pro"/>
              </a:rPr>
              <a:t>: if you have highly correlated predictors, it’s most likely your model will overfit</a:t>
            </a:r>
          </a:p>
          <a:p>
            <a:pPr marL="0" marR="0" lvl="0" indent="0" algn="l" defTabSz="914400" rtl="0" eaLnBrk="1" fontAlgn="auto" latinLnBrk="0" hangingPunct="1">
              <a:lnSpc>
                <a:spcPct val="100000"/>
              </a:lnSpc>
              <a:spcBef>
                <a:spcPts val="0"/>
              </a:spcBef>
              <a:spcAft>
                <a:spcPts val="0"/>
              </a:spcAft>
              <a:buClrTx/>
              <a:buSzTx/>
              <a:buFontTx/>
              <a:buNone/>
              <a:defRPr/>
            </a:pPr>
            <a:r>
              <a:rPr lang="en-GB" b="1" i="0" dirty="0">
                <a:solidFill>
                  <a:srgbClr val="292929"/>
                </a:solidFill>
                <a:effectLst/>
                <a:latin typeface="source-serif-pro"/>
              </a:rPr>
              <a:t>Linearity</a:t>
            </a:r>
            <a:r>
              <a:rPr lang="en-GB" b="0" i="0" dirty="0">
                <a:solidFill>
                  <a:srgbClr val="292929"/>
                </a:solidFill>
                <a:effectLst/>
                <a:latin typeface="source-serif-pro"/>
              </a:rPr>
              <a:t>: assumes that the relationship between predictors and target variable is linear</a:t>
            </a:r>
          </a:p>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26</a:t>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279121-8F02-A7C7-CEEF-E8BC2E832A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101A9C-C7B2-76FD-A90F-6C5C4CFBE4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299339-B151-B320-D03D-EDD074A74CC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1E6F129-A9D6-787B-910E-E4FE28880FF3}"/>
              </a:ext>
            </a:extLst>
          </p:cNvPr>
          <p:cNvSpPr>
            <a:spLocks noGrp="1"/>
          </p:cNvSpPr>
          <p:nvPr>
            <p:ph type="sldNum" sz="quarter" idx="5"/>
          </p:nvPr>
        </p:nvSpPr>
        <p:spPr/>
        <p:txBody>
          <a:bodyPr/>
          <a:lstStyle/>
          <a:p>
            <a:fld id="{5F2E104D-C80E-6B44-82FA-6DDCE0FDA00F}" type="slidenum">
              <a:rPr lang="en-US" smtClean="0"/>
              <a:t>28</a:t>
            </a:fld>
            <a:endParaRPr lang="en-US"/>
          </a:p>
        </p:txBody>
      </p:sp>
    </p:spTree>
    <p:extLst>
      <p:ext uri="{BB962C8B-B14F-4D97-AF65-F5344CB8AC3E}">
        <p14:creationId xmlns:p14="http://schemas.microsoft.com/office/powerpoint/2010/main" val="39057668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mygreatlearning.2022.Introduction  to Multivariate Regression Analysis.[].https://www.mygreatlearning.com/blog/introduction-to-multivariate-regression/</a:t>
            </a:r>
          </a:p>
          <a:p>
            <a:r>
              <a:rPr lang="en-GB" dirty="0"/>
              <a:t> </a:t>
            </a:r>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31</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FACCC11-19A3-4E27-AB70-5FB3E1779C6E}" type="slidenum">
              <a:rPr lang="en-US" smtClean="0"/>
              <a:t>33</a:t>
            </a:fld>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FACCC11-19A3-4E27-AB70-5FB3E1779C6E}" type="slidenum">
              <a:rPr lang="en-US" smtClean="0"/>
              <a:t>34</a:t>
            </a:fld>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hlinkClick r:id="rId3"/>
              </a:rPr>
              <a:t>Skewness-and-kurtosis/SKEWNESS_AND_KURTOSIS_(1).</a:t>
            </a:r>
            <a:r>
              <a:rPr lang="en-GB" dirty="0" err="1">
                <a:hlinkClick r:id="rId3"/>
              </a:rPr>
              <a:t>ipynb</a:t>
            </a:r>
            <a:r>
              <a:rPr lang="en-GB" dirty="0">
                <a:hlinkClick r:id="rId3"/>
              </a:rPr>
              <a:t> at master · manvendra7/Skewness-and-kurtosis · GitHub</a:t>
            </a:r>
            <a:endParaRPr lang="en-GB" dirty="0"/>
          </a:p>
        </p:txBody>
      </p:sp>
      <p:sp>
        <p:nvSpPr>
          <p:cNvPr id="4" name="Slide Number Placeholder 3"/>
          <p:cNvSpPr>
            <a:spLocks noGrp="1"/>
          </p:cNvSpPr>
          <p:nvPr>
            <p:ph type="sldNum" sz="quarter" idx="5"/>
          </p:nvPr>
        </p:nvSpPr>
        <p:spPr/>
        <p:txBody>
          <a:bodyPr/>
          <a:lstStyle/>
          <a:p>
            <a:fld id="{1FACCC11-19A3-4E27-AB70-5FB3E1779C6E}" type="slidenum">
              <a:rPr lang="en-US" smtClean="0"/>
              <a:t>35</a:t>
            </a:fld>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b="0" i="0" u="none" strike="noStrike" dirty="0">
                <a:solidFill>
                  <a:srgbClr val="292929"/>
                </a:solidFill>
                <a:effectLst/>
                <a:latin typeface="inherit"/>
                <a:hlinkClick r:id="rId3"/>
              </a:rPr>
              <a:t>Htton,S,K.2020.https://medium.com/@kyawsawhtoon/log-transformation-purpose-and-interpretation-9444b4b049c9</a:t>
            </a:r>
            <a:br>
              <a:rPr lang="en-GB" b="0" i="0" u="none" strike="noStrike" dirty="0">
                <a:solidFill>
                  <a:srgbClr val="292929"/>
                </a:solidFill>
                <a:effectLst/>
                <a:latin typeface="inherit"/>
                <a:hlinkClick r:id="rId3"/>
              </a:rPr>
            </a:br>
            <a:r>
              <a:rPr lang="en-GB" b="0" i="0" u="none" strike="noStrike" dirty="0">
                <a:solidFill>
                  <a:srgbClr val="292929"/>
                </a:solidFill>
                <a:effectLst/>
                <a:latin typeface="inherit"/>
              </a:rPr>
              <a:t> </a:t>
            </a:r>
            <a:endParaRPr lang="en-GB" dirty="0"/>
          </a:p>
        </p:txBody>
      </p:sp>
      <p:sp>
        <p:nvSpPr>
          <p:cNvPr id="4" name="Slide Number Placeholder 3"/>
          <p:cNvSpPr>
            <a:spLocks noGrp="1"/>
          </p:cNvSpPr>
          <p:nvPr>
            <p:ph type="sldNum" sz="quarter" idx="5"/>
          </p:nvPr>
        </p:nvSpPr>
        <p:spPr/>
        <p:txBody>
          <a:bodyPr/>
          <a:lstStyle/>
          <a:p>
            <a:fld id="{1FACCC11-19A3-4E27-AB70-5FB3E1779C6E}" type="slidenum">
              <a:rPr lang="en-US" smtClean="0"/>
              <a:t>36</a:t>
            </a:fld>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38</a:t>
            </a:fld>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9DB711-0929-3255-C67C-4186C24450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87151E-C66F-B07F-5491-696E94C843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D2AED1-88EF-CA80-EFB0-19B2837F4A6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AE0C4E3-DBAE-49A7-92D2-CDD49620B114}"/>
              </a:ext>
            </a:extLst>
          </p:cNvPr>
          <p:cNvSpPr>
            <a:spLocks noGrp="1"/>
          </p:cNvSpPr>
          <p:nvPr>
            <p:ph type="sldNum" sz="quarter" idx="5"/>
          </p:nvPr>
        </p:nvSpPr>
        <p:spPr/>
        <p:txBody>
          <a:bodyPr/>
          <a:lstStyle/>
          <a:p>
            <a:fld id="{5F2E104D-C80E-6B44-82FA-6DDCE0FDA00F}" type="slidenum">
              <a:rPr lang="en-US" smtClean="0"/>
              <a:t>40</a:t>
            </a:fld>
            <a:endParaRPr lang="en-US"/>
          </a:p>
        </p:txBody>
      </p:sp>
    </p:spTree>
    <p:extLst>
      <p:ext uri="{BB962C8B-B14F-4D97-AF65-F5344CB8AC3E}">
        <p14:creationId xmlns:p14="http://schemas.microsoft.com/office/powerpoint/2010/main" val="22080991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base"/>
            <a:r>
              <a:rPr lang="en-US" b="0" i="0" cap="all" dirty="0">
                <a:solidFill>
                  <a:srgbClr val="3D3D3D"/>
                </a:solidFill>
                <a:effectLst/>
                <a:latin typeface="inherit"/>
              </a:rPr>
              <a:t>POSTED ON</a:t>
            </a:r>
            <a:r>
              <a:rPr lang="en-US" b="0" i="0" u="none" strike="noStrike" cap="all" dirty="0">
                <a:solidFill>
                  <a:srgbClr val="3D3D3D"/>
                </a:solidFill>
                <a:effectLst/>
                <a:latin typeface="inherit"/>
                <a:hlinkClick r:id="rId3"/>
              </a:rPr>
              <a:t> NOVEMBER 18, 2020</a:t>
            </a:r>
            <a:r>
              <a:rPr lang="en-US" b="0" i="0" cap="all" dirty="0">
                <a:solidFill>
                  <a:srgbClr val="3D3D3D"/>
                </a:solidFill>
                <a:effectLst/>
                <a:latin typeface="inherit"/>
              </a:rPr>
              <a:t> BY </a:t>
            </a:r>
            <a:r>
              <a:rPr lang="en-US" b="0" i="0" u="none" strike="noStrike" cap="all" dirty="0">
                <a:solidFill>
                  <a:srgbClr val="3D3D3D"/>
                </a:solidFill>
                <a:effectLst/>
                <a:latin typeface="inherit"/>
                <a:hlinkClick r:id="rId4"/>
              </a:rPr>
              <a:t>ZACH</a:t>
            </a:r>
            <a:endParaRPr lang="en-US" b="0" i="0" cap="all" dirty="0">
              <a:solidFill>
                <a:srgbClr val="3D3D3D"/>
              </a:solidFill>
              <a:effectLst/>
              <a:latin typeface="inherit"/>
            </a:endParaRPr>
          </a:p>
          <a:p>
            <a:pPr algn="l" fontAlgn="base"/>
            <a:r>
              <a:rPr lang="en-US" b="1" i="0" dirty="0">
                <a:solidFill>
                  <a:srgbClr val="020202"/>
                </a:solidFill>
                <a:effectLst/>
                <a:latin typeface="Montserrat" panose="00000500000000000000" pitchFamily="2" charset="0"/>
              </a:rPr>
              <a:t>An Introduction to Polynomial Regression</a:t>
            </a:r>
          </a:p>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41</a:t>
            </a:fld>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44</a:t>
            </a:fld>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45</a:t>
            </a:fld>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50</a:t>
            </a:fld>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Introduction to Polynomial Regression Analysis</a:t>
            </a:r>
          </a:p>
          <a:p>
            <a:r>
              <a:rPr lang="en-US" dirty="0" err="1"/>
              <a:t>Yulia</a:t>
            </a:r>
            <a:r>
              <a:rPr lang="en-US" dirty="0"/>
              <a:t> Gavrilova</a:t>
            </a:r>
          </a:p>
          <a:p>
            <a:r>
              <a:rPr lang="en-US" dirty="0"/>
              <a:t>Article by </a:t>
            </a:r>
            <a:r>
              <a:rPr lang="en-US" dirty="0" err="1"/>
              <a:t>Yulia</a:t>
            </a:r>
            <a:r>
              <a:rPr lang="en-US" dirty="0"/>
              <a:t> Gavrilova</a:t>
            </a:r>
          </a:p>
          <a:p>
            <a:r>
              <a:rPr lang="en-US" dirty="0"/>
              <a:t>September 21st, 2021</a:t>
            </a:r>
          </a:p>
          <a:p>
            <a:r>
              <a:rPr lang="en-US" dirty="0"/>
              <a:t>https://serokell.io/blog/polynomial-regression-analysis</a:t>
            </a:r>
          </a:p>
        </p:txBody>
      </p:sp>
      <p:sp>
        <p:nvSpPr>
          <p:cNvPr id="4" name="Slide Number Placeholder 3"/>
          <p:cNvSpPr>
            <a:spLocks noGrp="1"/>
          </p:cNvSpPr>
          <p:nvPr>
            <p:ph type="sldNum" sz="quarter" idx="5"/>
          </p:nvPr>
        </p:nvSpPr>
        <p:spPr/>
        <p:txBody>
          <a:bodyPr/>
          <a:lstStyle/>
          <a:p>
            <a:fld id="{1FACCC11-19A3-4E27-AB70-5FB3E1779C6E}" type="slidenum">
              <a:rPr lang="en-US" smtClean="0"/>
              <a:t>51</a:t>
            </a:fld>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b="1" dirty="0">
                <a:solidFill>
                  <a:srgbClr val="222222"/>
                </a:solidFill>
                <a:effectLst/>
                <a:latin typeface="Helvetica Neue"/>
              </a:rPr>
              <a:t>Train-Test Split for Evaluating Machine Learning Algorithms</a:t>
            </a:r>
          </a:p>
          <a:p>
            <a:pPr algn="l" fontAlgn="base"/>
            <a:r>
              <a:rPr lang="en-US" b="0" dirty="0">
                <a:solidFill>
                  <a:srgbClr val="999999"/>
                </a:solidFill>
                <a:effectLst/>
                <a:latin typeface="Helvetica Neue"/>
              </a:rPr>
              <a:t>by </a:t>
            </a:r>
            <a:r>
              <a:rPr lang="en-US" b="1" u="none" strike="noStrike" dirty="0">
                <a:solidFill>
                  <a:srgbClr val="888888"/>
                </a:solidFill>
                <a:effectLst/>
                <a:latin typeface="Helvetica Neue"/>
                <a:hlinkClick r:id="rId3" tooltip="Posts by Jason Brownlee"/>
              </a:rPr>
              <a:t>Jason Brownlee</a:t>
            </a:r>
            <a:r>
              <a:rPr lang="en-US" b="0" dirty="0">
                <a:solidFill>
                  <a:srgbClr val="999999"/>
                </a:solidFill>
                <a:effectLst/>
                <a:latin typeface="Helvetica Neue"/>
              </a:rPr>
              <a:t> on July 24, 2020 in </a:t>
            </a:r>
            <a:r>
              <a:rPr lang="en-US" b="1" u="none" strike="noStrike" dirty="0">
                <a:solidFill>
                  <a:srgbClr val="888888"/>
                </a:solidFill>
                <a:effectLst/>
                <a:latin typeface="Helvetica Neue"/>
                <a:hlinkClick r:id="rId4" tooltip="View all items in Python Machine Learning"/>
              </a:rPr>
              <a:t>Python Machine Learning</a:t>
            </a:r>
            <a:endParaRPr lang="en-US" b="0" dirty="0">
              <a:solidFill>
                <a:srgbClr val="999999"/>
              </a:solidFill>
              <a:effectLst/>
              <a:latin typeface="Helvetica Neue"/>
            </a:endParaRPr>
          </a:p>
          <a:p>
            <a:endParaRPr lang="en-US" b="1" dirty="0"/>
          </a:p>
        </p:txBody>
      </p:sp>
      <p:sp>
        <p:nvSpPr>
          <p:cNvPr id="4" name="Slide Number Placeholder 3"/>
          <p:cNvSpPr>
            <a:spLocks noGrp="1"/>
          </p:cNvSpPr>
          <p:nvPr>
            <p:ph type="sldNum" sz="quarter" idx="5"/>
          </p:nvPr>
        </p:nvSpPr>
        <p:spPr/>
        <p:txBody>
          <a:bodyPr/>
          <a:lstStyle/>
          <a:p>
            <a:fld id="{1FACCC11-19A3-4E27-AB70-5FB3E1779C6E}" type="slidenum">
              <a:rPr lang="en-US" smtClean="0"/>
              <a:t>52</a:t>
            </a:fld>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200" dirty="0">
                <a:hlinkClick r:id="rId3"/>
              </a:rPr>
              <a:t>https://www.obviously.ai/post/the-difference-between-training-data-vs-test-data-in-machine-learning</a:t>
            </a:r>
            <a:endParaRPr lang="en-US" sz="1200" dirty="0"/>
          </a:p>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53</a:t>
            </a:fld>
            <a:endParaRPr 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555555"/>
                </a:solidFill>
                <a:effectLst/>
                <a:latin typeface="Helvetica Neue"/>
              </a:rPr>
              <a:t>When comparing machine learning algorithms, it is desirable (perhaps required) that they are fit and evaluated on the same subsets of the dataset.</a:t>
            </a:r>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54</a:t>
            </a:fld>
            <a:endParaRPr 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latin typeface="ui-monospace"/>
              </a:rPr>
              <a:t> </a:t>
            </a:r>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56</a:t>
            </a:fld>
            <a:endParaRPr 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u="none" strike="noStrike" dirty="0">
              <a:effectLst/>
              <a:latin typeface="inherit"/>
              <a:hlinkClick r:id="rId3"/>
            </a:endParaRPr>
          </a:p>
          <a:p>
            <a:endParaRPr lang="en-GB" u="none" strike="noStrike" dirty="0">
              <a:effectLst/>
              <a:latin typeface="inherit"/>
              <a:hlinkClick r:id="rId3"/>
            </a:endParaRPr>
          </a:p>
          <a:p>
            <a:r>
              <a:rPr lang="en-GB" b="0" u="none" strike="noStrike" dirty="0">
                <a:solidFill>
                  <a:srgbClr val="292929"/>
                </a:solidFill>
                <a:effectLst/>
                <a:latin typeface="inherit"/>
                <a:hlinkClick r:id="rId3"/>
              </a:rPr>
              <a:t>Rishi Sidhu</a:t>
            </a:r>
            <a:endParaRPr lang="en-GB" b="0" dirty="0">
              <a:solidFill>
                <a:srgbClr val="292929"/>
              </a:solidFill>
              <a:effectLst/>
              <a:latin typeface="sohne"/>
            </a:endParaRPr>
          </a:p>
          <a:p>
            <a:r>
              <a:rPr lang="en-GB" b="0" dirty="0">
                <a:solidFill>
                  <a:srgbClr val="757575"/>
                </a:solidFill>
                <a:effectLst/>
                <a:latin typeface="sohne"/>
              </a:rPr>
              <a:t>Jun 5, 2019</a:t>
            </a:r>
          </a:p>
          <a:p>
            <a:r>
              <a:rPr lang="en-GB" b="0" dirty="0">
                <a:solidFill>
                  <a:srgbClr val="757575"/>
                </a:solidFill>
                <a:effectLst/>
                <a:latin typeface="sohne"/>
              </a:rPr>
              <a:t>·</a:t>
            </a:r>
            <a:endParaRPr lang="en-GB" dirty="0">
              <a:effectLst/>
            </a:endParaRPr>
          </a:p>
          <a:p>
            <a:r>
              <a:rPr lang="en-GB" b="0" dirty="0">
                <a:solidFill>
                  <a:srgbClr val="757575"/>
                </a:solidFill>
                <a:effectLst/>
                <a:latin typeface="sohne"/>
              </a:rPr>
              <a:t> </a:t>
            </a:r>
          </a:p>
          <a:p>
            <a:r>
              <a:rPr lang="en-GB" b="0" dirty="0">
                <a:solidFill>
                  <a:srgbClr val="757575"/>
                </a:solidFill>
                <a:effectLst/>
                <a:latin typeface="sohne"/>
              </a:rPr>
              <a:t>·</a:t>
            </a:r>
            <a:endParaRPr lang="en-GB" dirty="0">
              <a:effectLst/>
            </a:endParaRPr>
          </a:p>
          <a:p>
            <a:r>
              <a:rPr lang="en-GB" b="0" dirty="0">
                <a:solidFill>
                  <a:srgbClr val="668AAA"/>
                </a:solidFill>
                <a:effectLst/>
                <a:latin typeface="sohne"/>
              </a:rPr>
              <a:t>Listen</a:t>
            </a:r>
          </a:p>
          <a:p>
            <a:r>
              <a:rPr lang="en-GB" b="1" i="0" dirty="0">
                <a:solidFill>
                  <a:srgbClr val="292929"/>
                </a:solidFill>
                <a:effectLst/>
                <a:latin typeface="sohne"/>
              </a:rPr>
              <a:t>Layman’s Introduction to Linear Regression</a:t>
            </a:r>
          </a:p>
          <a:p>
            <a:endParaRPr lang="en-GB" dirty="0"/>
          </a:p>
        </p:txBody>
      </p:sp>
      <p:sp>
        <p:nvSpPr>
          <p:cNvPr id="4" name="Slide Number Placeholder 3"/>
          <p:cNvSpPr>
            <a:spLocks noGrp="1"/>
          </p:cNvSpPr>
          <p:nvPr>
            <p:ph type="sldNum" sz="quarter" idx="5"/>
          </p:nvPr>
        </p:nvSpPr>
        <p:spPr/>
        <p:txBody>
          <a:bodyPr/>
          <a:lstStyle/>
          <a:p>
            <a:fld id="{1FACCC11-19A3-4E27-AB70-5FB3E1779C6E}" type="slidenum">
              <a:rPr lang="en-US" smtClean="0"/>
              <a:t>58</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3.png"/><Relationship Id="rId2" Type="http://schemas.openxmlformats.org/officeDocument/2006/relationships/image" Target="../media/image9.png"/><Relationship Id="rId1" Type="http://schemas.openxmlformats.org/officeDocument/2006/relationships/slideMaster" Target="../slideMasters/slideMaster5.xml"/><Relationship Id="rId6" Type="http://schemas.openxmlformats.org/officeDocument/2006/relationships/image" Target="../media/image12.svg"/><Relationship Id="rId5" Type="http://schemas.openxmlformats.org/officeDocument/2006/relationships/image" Target="../media/image6.png"/><Relationship Id="rId4" Type="http://schemas.openxmlformats.org/officeDocument/2006/relationships/image" Target="../media/image11.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Light blue-Title">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838200" y="3136307"/>
            <a:ext cx="10515600" cy="1186075"/>
          </a:xfrm>
          <a:prstGeom prst="rect">
            <a:avLst/>
          </a:prstGeom>
        </p:spPr>
        <p:txBody>
          <a:bodyPr anchor="b"/>
          <a:lstStyle>
            <a:lvl1pPr algn="ctr">
              <a:lnSpc>
                <a:spcPts val="4500"/>
              </a:lnSpc>
              <a:defRPr sz="5200" b="1" cap="all" spc="-50" baseline="0">
                <a:solidFill>
                  <a:schemeClr val="bg1"/>
                </a:solidFill>
                <a:latin typeface="+mn-lt"/>
              </a:defRPr>
            </a:lvl1pPr>
          </a:lstStyle>
          <a:p>
            <a:r>
              <a:rPr lang="en-US" dirty="0"/>
              <a:t>Click to edit title  </a:t>
            </a:r>
            <a:endParaRPr lang="en-GB" dirty="0"/>
          </a:p>
        </p:txBody>
      </p:sp>
      <p:sp>
        <p:nvSpPr>
          <p:cNvPr id="5" name="Text Placeholder 5"/>
          <p:cNvSpPr>
            <a:spLocks noGrp="1"/>
          </p:cNvSpPr>
          <p:nvPr>
            <p:ph type="body" sz="quarter" idx="10"/>
          </p:nvPr>
        </p:nvSpPr>
        <p:spPr>
          <a:xfrm>
            <a:off x="838200" y="4495085"/>
            <a:ext cx="10515600" cy="1290414"/>
          </a:xfrm>
          <a:prstGeom prst="rect">
            <a:avLst/>
          </a:prstGeom>
        </p:spPr>
        <p:txBody>
          <a:bodyPr/>
          <a:lstStyle>
            <a:lvl1pPr marL="0" indent="0" algn="ctr">
              <a:buNone/>
              <a:defRPr sz="2800" spc="-50" baseline="0">
                <a:solidFill>
                  <a:schemeClr val="bg1"/>
                </a:solidFill>
              </a:defRPr>
            </a:lvl1pPr>
          </a:lstStyle>
          <a:p>
            <a:pPr lvl="0"/>
            <a:r>
              <a:rPr lang="en-GB"/>
              <a:t>Click to edit Master text styles</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DE934FF-F4E1-47C5-9CA5-30A81DDE2BE4}" type="datetimeFigureOut">
              <a:rPr lang="en-US" smtClean="0"/>
              <a:t>1/30/2026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earson slide with title">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838200" y="3136307"/>
            <a:ext cx="10515600" cy="1186075"/>
          </a:xfrm>
          <a:prstGeom prst="rect">
            <a:avLst/>
          </a:prstGeom>
        </p:spPr>
        <p:txBody>
          <a:bodyPr anchor="b"/>
          <a:lstStyle>
            <a:lvl1pPr algn="ctr">
              <a:lnSpc>
                <a:spcPts val="4500"/>
              </a:lnSpc>
              <a:defRPr sz="5200" b="1" cap="all" spc="-50" baseline="0">
                <a:solidFill>
                  <a:srgbClr val="942F6D"/>
                </a:solidFill>
                <a:latin typeface="+mn-lt"/>
              </a:defRPr>
            </a:lvl1pPr>
          </a:lstStyle>
          <a:p>
            <a:r>
              <a:rPr lang="en-US" dirty="0"/>
              <a:t>Click to edit title </a:t>
            </a:r>
            <a:endParaRPr lang="en-GB" dirty="0"/>
          </a:p>
        </p:txBody>
      </p:sp>
      <p:sp>
        <p:nvSpPr>
          <p:cNvPr id="6" name="Text Placeholder 5"/>
          <p:cNvSpPr>
            <a:spLocks noGrp="1"/>
          </p:cNvSpPr>
          <p:nvPr>
            <p:ph type="body" sz="quarter" idx="10"/>
          </p:nvPr>
        </p:nvSpPr>
        <p:spPr>
          <a:xfrm>
            <a:off x="838200" y="4495084"/>
            <a:ext cx="10515600" cy="1820257"/>
          </a:xfrm>
          <a:prstGeom prst="rect">
            <a:avLst/>
          </a:prstGeom>
        </p:spPr>
        <p:txBody>
          <a:bodyPr/>
          <a:lstStyle>
            <a:lvl1pPr marL="0" indent="0" algn="ctr">
              <a:buNone/>
              <a:defRPr sz="2800" spc="-50" baseline="0">
                <a:solidFill>
                  <a:srgbClr val="656768"/>
                </a:solidFill>
              </a:defRPr>
            </a:lvl1pPr>
          </a:lstStyle>
          <a:p>
            <a:pPr lvl="0"/>
            <a:r>
              <a:rPr lang="en-US" dirty="0"/>
              <a:t>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ight blue-slide with content">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601791" y="555478"/>
            <a:ext cx="9097686" cy="1068223"/>
          </a:xfrm>
          <a:prstGeom prst="rect">
            <a:avLst/>
          </a:prstGeom>
        </p:spPr>
        <p:txBody>
          <a:bodyPr vert="horz" lIns="91440" tIns="45720" rIns="91440" bIns="45720" rtlCol="0" anchor="t">
            <a:normAutofit/>
          </a:bodyPr>
          <a:lstStyle>
            <a:lvl1pPr>
              <a:defRPr>
                <a:solidFill>
                  <a:srgbClr val="942F6D"/>
                </a:solidFill>
              </a:defRPr>
            </a:lvl1pPr>
          </a:lstStyle>
          <a:p>
            <a:r>
              <a:rPr lang="en-US" dirty="0"/>
              <a:t>Click to edit title </a:t>
            </a:r>
            <a:endParaRPr lang="en-GB" dirty="0"/>
          </a:p>
        </p:txBody>
      </p:sp>
      <p:sp>
        <p:nvSpPr>
          <p:cNvPr id="9" name="Text Placeholder 8"/>
          <p:cNvSpPr>
            <a:spLocks noGrp="1"/>
          </p:cNvSpPr>
          <p:nvPr>
            <p:ph type="body" sz="quarter" idx="10" hasCustomPrompt="1"/>
          </p:nvPr>
        </p:nvSpPr>
        <p:spPr>
          <a:xfrm>
            <a:off x="601791" y="1811976"/>
            <a:ext cx="10994852" cy="4033348"/>
          </a:xfrm>
          <a:prstGeom prst="rect">
            <a:avLst/>
          </a:prstGeom>
        </p:spPr>
        <p:txBody>
          <a:bodyPr/>
          <a:lstStyle>
            <a:lvl1pPr>
              <a:buClr>
                <a:srgbClr val="942F6D"/>
              </a:buClr>
              <a:defRPr baseline="0">
                <a:solidFill>
                  <a:srgbClr val="656768"/>
                </a:solidFill>
              </a:defRPr>
            </a:lvl1pPr>
            <a:lvl2pPr>
              <a:buClr>
                <a:srgbClr val="942F6D"/>
              </a:buClr>
              <a:defRPr>
                <a:solidFill>
                  <a:srgbClr val="656768"/>
                </a:solidFill>
              </a:defRPr>
            </a:lvl2pPr>
            <a:lvl3pPr>
              <a:buClr>
                <a:srgbClr val="942F6D"/>
              </a:buClr>
              <a:defRPr>
                <a:solidFill>
                  <a:srgbClr val="656768"/>
                </a:solidFill>
              </a:defRPr>
            </a:lvl3pPr>
            <a:lvl4pPr>
              <a:buClr>
                <a:srgbClr val="942F6D"/>
              </a:buClr>
              <a:defRPr>
                <a:solidFill>
                  <a:srgbClr val="656768"/>
                </a:solidFill>
              </a:defRPr>
            </a:lvl4pPr>
            <a:lvl5pPr>
              <a:buClr>
                <a:srgbClr val="942F6D"/>
              </a:buClr>
              <a:defRPr>
                <a:solidFill>
                  <a:srgbClr val="656768"/>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endParaRPr lang="en-US"/>
          </a:p>
        </p:txBody>
      </p:sp>
      <p:sp>
        <p:nvSpPr>
          <p:cNvPr id="3" name="Content Placeholder 2"/>
          <p:cNvSpPr>
            <a:spLocks noGrp="1"/>
          </p:cNvSpPr>
          <p:nvPr>
            <p:ph idx="1" hasCustomPrompt="1"/>
          </p:nvPr>
        </p:nvSpPr>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GB"/>
              <a:t>el</a:t>
            </a:r>
            <a:endParaRPr lang="en-US"/>
          </a:p>
        </p:txBody>
      </p:sp>
      <p:sp>
        <p:nvSpPr>
          <p:cNvPr id="4" name="Date Placeholder 3"/>
          <p:cNvSpPr>
            <a:spLocks noGrp="1"/>
          </p:cNvSpPr>
          <p:nvPr>
            <p:ph type="dt" sz="half" idx="10"/>
          </p:nvPr>
        </p:nvSpPr>
        <p:spPr/>
        <p:txBody>
          <a:bodyPr/>
          <a:lstStyle/>
          <a:p>
            <a:fld id="{76969C88-B244-455D-A017-012B25B1ACDD}" type="datetimeFigureOut">
              <a:rPr lang="en-US" smtClean="0"/>
              <a:t>1/30/2026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7CE569E-9B7C-4CB9-AB80-C0841F922CFF}" type="slidenum">
              <a:rPr lang="en-US"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ith picture">
    <p:spTree>
      <p:nvGrpSpPr>
        <p:cNvPr id="1" name=""/>
        <p:cNvGrpSpPr/>
        <p:nvPr/>
      </p:nvGrpSpPr>
      <p:grpSpPr>
        <a:xfrm>
          <a:off x="0" y="0"/>
          <a:ext cx="0" cy="0"/>
          <a:chOff x="0" y="0"/>
          <a:chExt cx="0" cy="0"/>
        </a:xfrm>
      </p:grpSpPr>
      <p:sp>
        <p:nvSpPr>
          <p:cNvPr id="3" name="Picture Placeholder 2"/>
          <p:cNvSpPr>
            <a:spLocks noGrp="1"/>
          </p:cNvSpPr>
          <p:nvPr>
            <p:ph type="pic" sz="quarter" idx="10" hasCustomPrompt="1"/>
          </p:nvPr>
        </p:nvSpPr>
        <p:spPr>
          <a:xfrm>
            <a:off x="6281159" y="0"/>
            <a:ext cx="5910840" cy="6858000"/>
          </a:xfrm>
          <a:prstGeom prst="rect">
            <a:avLst/>
          </a:prstGeom>
        </p:spPr>
        <p:txBody>
          <a:bodyPr anchor="ctr">
            <a:normAutofit/>
          </a:bodyPr>
          <a:lstStyle>
            <a:lvl1pPr marL="0" indent="0" algn="ctr">
              <a:lnSpc>
                <a:spcPct val="150000"/>
              </a:lnSpc>
              <a:buNone/>
              <a:defRPr sz="2800" baseline="0"/>
            </a:lvl1pPr>
          </a:lstStyle>
          <a:p>
            <a:r>
              <a:rPr lang="en-GB" dirty="0"/>
              <a:t>Click to add picture </a:t>
            </a:r>
          </a:p>
        </p:txBody>
      </p:sp>
      <p:sp>
        <p:nvSpPr>
          <p:cNvPr id="8" name="Title Placeholder 1"/>
          <p:cNvSpPr>
            <a:spLocks noGrp="1"/>
          </p:cNvSpPr>
          <p:nvPr>
            <p:ph type="title" hasCustomPrompt="1"/>
          </p:nvPr>
        </p:nvSpPr>
        <p:spPr>
          <a:xfrm>
            <a:off x="601791" y="555478"/>
            <a:ext cx="5491361" cy="1068223"/>
          </a:xfrm>
          <a:prstGeom prst="rect">
            <a:avLst/>
          </a:prstGeom>
        </p:spPr>
        <p:txBody>
          <a:bodyPr vert="horz" lIns="91440" tIns="45720" rIns="91440" bIns="45720" rtlCol="0" anchor="t">
            <a:normAutofit/>
          </a:bodyPr>
          <a:lstStyle>
            <a:lvl1pPr>
              <a:defRPr>
                <a:solidFill>
                  <a:srgbClr val="942F6D"/>
                </a:solidFill>
              </a:defRPr>
            </a:lvl1pPr>
          </a:lstStyle>
          <a:p>
            <a:r>
              <a:rPr lang="en-US" dirty="0"/>
              <a:t>Click to edit title</a:t>
            </a:r>
            <a:endParaRPr lang="en-GB" dirty="0"/>
          </a:p>
        </p:txBody>
      </p:sp>
      <p:sp>
        <p:nvSpPr>
          <p:cNvPr id="4" name="Text Placeholder 3"/>
          <p:cNvSpPr>
            <a:spLocks noGrp="1"/>
          </p:cNvSpPr>
          <p:nvPr>
            <p:ph type="body" sz="quarter" idx="11" hasCustomPrompt="1"/>
          </p:nvPr>
        </p:nvSpPr>
        <p:spPr>
          <a:xfrm>
            <a:off x="601791" y="1760537"/>
            <a:ext cx="5491361" cy="3845503"/>
          </a:xfrm>
          <a:prstGeom prst="rect">
            <a:avLst/>
          </a:prstGeom>
        </p:spPr>
        <p:txBody>
          <a:bodyPr/>
          <a:lstStyle>
            <a:lvl1pPr marL="0" indent="0">
              <a:buClr>
                <a:srgbClr val="6FC8F0"/>
              </a:buClr>
              <a:buNone/>
              <a:defRPr baseline="0">
                <a:solidFill>
                  <a:srgbClr val="656768"/>
                </a:solidFill>
              </a:defRPr>
            </a:lvl1pPr>
            <a:lvl2pPr marL="457200" indent="0">
              <a:buClr>
                <a:srgbClr val="6FC8F0"/>
              </a:buClr>
              <a:buNone/>
              <a:defRPr>
                <a:solidFill>
                  <a:srgbClr val="656768"/>
                </a:solidFill>
              </a:defRPr>
            </a:lvl2pPr>
            <a:lvl3pPr marL="914400" indent="0">
              <a:buClr>
                <a:srgbClr val="6FC8F0"/>
              </a:buClr>
              <a:buNone/>
              <a:defRPr>
                <a:solidFill>
                  <a:srgbClr val="656768"/>
                </a:solidFill>
              </a:defRPr>
            </a:lvl3pPr>
            <a:lvl4pPr marL="1371600" indent="0">
              <a:buClr>
                <a:srgbClr val="6FC8F0"/>
              </a:buClr>
              <a:buNone/>
              <a:defRPr>
                <a:solidFill>
                  <a:srgbClr val="656768"/>
                </a:solidFill>
              </a:defRPr>
            </a:lvl4pPr>
            <a:lvl5pPr marL="1828800" indent="0">
              <a:buClr>
                <a:srgbClr val="6FC8F0"/>
              </a:buClr>
              <a:buNone/>
              <a:defRPr>
                <a:solidFill>
                  <a:srgbClr val="656768"/>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6" name="Picture 5" descr="A picture containing text, clipart&#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779233" y="927488"/>
            <a:ext cx="2495310" cy="1152049"/>
          </a:xfrm>
          <a:prstGeom prst="rect">
            <a:avLst/>
          </a:prstGeom>
        </p:spPr>
      </p:pic>
      <p:pic>
        <p:nvPicPr>
          <p:cNvPr id="14" name="Graphic 13"/>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169667" y="1033477"/>
            <a:ext cx="3314700" cy="723931"/>
          </a:xfrm>
          <a:prstGeom prst="rect">
            <a:avLst/>
          </a:prstGeom>
        </p:spPr>
      </p:pic>
      <p:sp>
        <p:nvSpPr>
          <p:cNvPr id="2" name="Isosceles Triangle 1"/>
          <p:cNvSpPr/>
          <p:nvPr userDrawn="1"/>
        </p:nvSpPr>
        <p:spPr>
          <a:xfrm rot="5400000">
            <a:off x="1747328" y="5566954"/>
            <a:ext cx="155700" cy="9988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65">
              <a:ln>
                <a:noFill/>
              </a:ln>
            </a:endParaRPr>
          </a:p>
        </p:txBody>
      </p:sp>
      <p:pic>
        <p:nvPicPr>
          <p:cNvPr id="3" name="Graphic 2"/>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2013106" y="5538064"/>
            <a:ext cx="1371600" cy="180983"/>
          </a:xfrm>
          <a:prstGeom prst="rect">
            <a:avLst/>
          </a:prstGeom>
        </p:spPr>
      </p:pic>
      <p:pic>
        <p:nvPicPr>
          <p:cNvPr id="5" name="Picture 4"/>
          <p:cNvPicPr>
            <a:picLocks noChangeAspect="1"/>
          </p:cNvPicPr>
          <p:nvPr userDrawn="1"/>
        </p:nvPicPr>
        <p:blipFill>
          <a:blip r:embed="rId7" cstate="print">
            <a:extLst>
              <a:ext uri="{28A0092B-C50C-407E-A947-70E740481C1C}">
                <a14:useLocalDpi xmlns:a14="http://schemas.microsoft.com/office/drawing/2010/main" val="0"/>
              </a:ext>
            </a:extLst>
          </a:blip>
          <a:srcRect/>
          <a:stretch>
            <a:fillRect/>
          </a:stretch>
        </p:blipFill>
        <p:spPr>
          <a:xfrm>
            <a:off x="8856512" y="5065192"/>
            <a:ext cx="1451310" cy="433375"/>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7.svg"/><Relationship Id="rId2" Type="http://schemas.openxmlformats.org/officeDocument/2006/relationships/theme" Target="../theme/theme2.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slideLayout" Target="../slideLayouts/slideLayout6.xml"/><Relationship Id="rId7" Type="http://schemas.openxmlformats.org/officeDocument/2006/relationships/image" Target="../media/image6.png"/><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7.svg"/><Relationship Id="rId2" Type="http://schemas.openxmlformats.org/officeDocument/2006/relationships/theme" Target="../theme/theme4.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theme" Target="../theme/theme5.xml"/><Relationship Id="rId1"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rgbClr val="942F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6FC8F0"/>
              </a:solidFill>
            </a:endParaRPr>
          </a:p>
        </p:txBody>
      </p:sp>
      <p:pic>
        <p:nvPicPr>
          <p:cNvPr id="2" name="Picture 1" descr="A picture containing text, clipart&#10;&#10;Description automatically generated"/>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738091" y="651936"/>
            <a:ext cx="1835181" cy="847242"/>
          </a:xfrm>
          <a:prstGeom prst="rect">
            <a:avLst/>
          </a:prstGeom>
        </p:spPr>
      </p:pic>
      <p:pic>
        <p:nvPicPr>
          <p:cNvPr id="4" name="Picture 3"/>
          <p:cNvPicPr>
            <a:picLocks noChangeAspect="1"/>
          </p:cNvPicPr>
          <p:nvPr userDrawn="1"/>
        </p:nvPicPr>
        <p:blipFill>
          <a:blip r:embed="rId5" cstate="print">
            <a:extLst>
              <a:ext uri="{28A0092B-C50C-407E-A947-70E740481C1C}">
                <a14:useLocalDpi xmlns:a14="http://schemas.microsoft.com/office/drawing/2010/main" val="0"/>
              </a:ext>
            </a:extLst>
          </a:blip>
          <a:srcRect/>
          <a:stretch>
            <a:fillRect/>
          </a:stretch>
        </p:blipFill>
        <p:spPr>
          <a:xfrm>
            <a:off x="10122171" y="5895580"/>
            <a:ext cx="1451310" cy="433357"/>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043113" y="3228975"/>
            <a:ext cx="8105775" cy="3629025"/>
          </a:xfrm>
          <a:prstGeom prst="rect">
            <a:avLst/>
          </a:prstGeom>
        </p:spPr>
      </p:pic>
      <p:pic>
        <p:nvPicPr>
          <p:cNvPr id="3" name="Picture 2" descr="A picture containing text, sign, clipart&#10;&#10;Description automatically generated"/>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017063" y="677074"/>
            <a:ext cx="1559570" cy="720000"/>
          </a:xfrm>
          <a:prstGeom prst="rect">
            <a:avLst/>
          </a:prstGeom>
        </p:spPr>
      </p:pic>
      <p:pic>
        <p:nvPicPr>
          <p:cNvPr id="9" name="Picture 8"/>
          <p:cNvPicPr>
            <a:picLocks noChangeAspect="1"/>
          </p:cNvPicPr>
          <p:nvPr userDrawn="1"/>
        </p:nvPicPr>
        <p:blipFill>
          <a:blip r:embed="rId5" cstate="print">
            <a:extLst>
              <a:ext uri="{28A0092B-C50C-407E-A947-70E740481C1C}">
                <a14:useLocalDpi xmlns:a14="http://schemas.microsoft.com/office/drawing/2010/main" val="0"/>
              </a:ext>
            </a:extLst>
          </a:blip>
          <a:srcRect/>
          <a:stretch>
            <a:fillRect/>
          </a:stretch>
        </p:blipFill>
        <p:spPr>
          <a:xfrm>
            <a:off x="10248624" y="5611775"/>
            <a:ext cx="1328009" cy="396539"/>
          </a:xfrm>
          <a:prstGeom prst="rect">
            <a:avLst/>
          </a:prstGeom>
        </p:spPr>
      </p:pic>
      <p:sp>
        <p:nvSpPr>
          <p:cNvPr id="5" name="Rectangle 4"/>
          <p:cNvSpPr/>
          <p:nvPr userDrawn="1"/>
        </p:nvSpPr>
        <p:spPr>
          <a:xfrm>
            <a:off x="0" y="6502400"/>
            <a:ext cx="12192000" cy="355600"/>
          </a:xfrm>
          <a:prstGeom prst="rect">
            <a:avLst/>
          </a:prstGeom>
          <a:solidFill>
            <a:srgbClr val="942F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Graphic 5"/>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0535747" y="6603728"/>
            <a:ext cx="1371600" cy="180975"/>
          </a:xfrm>
          <a:prstGeom prst="rect">
            <a:avLst/>
          </a:prstGeom>
        </p:spPr>
      </p:pic>
      <p:sp>
        <p:nvSpPr>
          <p:cNvPr id="8" name="Isosceles Triangle 7"/>
          <p:cNvSpPr/>
          <p:nvPr userDrawn="1"/>
        </p:nvSpPr>
        <p:spPr>
          <a:xfrm rot="5400000">
            <a:off x="10297085" y="6626156"/>
            <a:ext cx="144000" cy="108000"/>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n>
                <a:noFill/>
              </a:ln>
              <a:noFill/>
            </a:endParaRPr>
          </a:p>
        </p:txBody>
      </p:sp>
    </p:spTree>
  </p:cSld>
  <p:clrMap bg1="lt1" tx1="dk1" bg2="lt2" tx2="dk2" accent1="accent1" accent2="accent2" accent3="accent3" accent4="accent4" accent5="accent5" accent6="accent6" hlink="hlink" folHlink="folHlink"/>
  <p:sldLayoutIdLst>
    <p:sldLayoutId id="2147483652"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Picture 2" descr="A picture containing text, sign, clipart&#10;&#10;Description automatically generated"/>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017063" y="677074"/>
            <a:ext cx="1559570" cy="720000"/>
          </a:xfrm>
          <a:prstGeom prst="rect">
            <a:avLst/>
          </a:prstGeom>
        </p:spPr>
      </p:pic>
      <p:pic>
        <p:nvPicPr>
          <p:cNvPr id="9" name="Picture 8"/>
          <p:cNvPicPr>
            <a:picLocks noChangeAspect="1"/>
          </p:cNvPicPr>
          <p:nvPr userDrawn="1"/>
        </p:nvPicPr>
        <p:blipFill>
          <a:blip r:embed="rId6" cstate="print">
            <a:extLst>
              <a:ext uri="{28A0092B-C50C-407E-A947-70E740481C1C}">
                <a14:useLocalDpi xmlns:a14="http://schemas.microsoft.com/office/drawing/2010/main" val="0"/>
              </a:ext>
            </a:extLst>
          </a:blip>
          <a:srcRect/>
          <a:stretch>
            <a:fillRect/>
          </a:stretch>
        </p:blipFill>
        <p:spPr>
          <a:xfrm>
            <a:off x="10248624" y="5611775"/>
            <a:ext cx="1328009" cy="396539"/>
          </a:xfrm>
          <a:prstGeom prst="rect">
            <a:avLst/>
          </a:prstGeom>
        </p:spPr>
      </p:pic>
      <p:sp>
        <p:nvSpPr>
          <p:cNvPr id="4" name="Rectangle 4"/>
          <p:cNvSpPr/>
          <p:nvPr userDrawn="1"/>
        </p:nvSpPr>
        <p:spPr>
          <a:xfrm>
            <a:off x="0" y="6502400"/>
            <a:ext cx="12192000" cy="355600"/>
          </a:xfrm>
          <a:prstGeom prst="rect">
            <a:avLst/>
          </a:prstGeom>
          <a:solidFill>
            <a:srgbClr val="942F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Graphic 5"/>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0535747" y="6603728"/>
            <a:ext cx="1371600" cy="180975"/>
          </a:xfrm>
          <a:prstGeom prst="rect">
            <a:avLst/>
          </a:prstGeom>
        </p:spPr>
      </p:pic>
      <p:sp>
        <p:nvSpPr>
          <p:cNvPr id="8" name="Isosceles Triangle 7"/>
          <p:cNvSpPr/>
          <p:nvPr userDrawn="1"/>
        </p:nvSpPr>
        <p:spPr>
          <a:xfrm rot="5400000">
            <a:off x="10297085" y="6626156"/>
            <a:ext cx="144000" cy="108000"/>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n>
                <a:noFill/>
              </a:ln>
              <a:noFill/>
            </a:endParaRPr>
          </a:p>
        </p:txBody>
      </p:sp>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Lst>
  <p:txStyles>
    <p:titleStyle>
      <a:lvl1pPr algn="l" defTabSz="914400" rtl="0" eaLnBrk="1" latinLnBrk="0" hangingPunct="1">
        <a:lnSpc>
          <a:spcPts val="3200"/>
        </a:lnSpc>
        <a:spcBef>
          <a:spcPct val="0"/>
        </a:spcBef>
        <a:buNone/>
        <a:defRPr sz="4200" b="1" kern="1200" cap="all" spc="-50" baseline="0">
          <a:solidFill>
            <a:srgbClr val="942F6D"/>
          </a:solidFill>
          <a:latin typeface="+mn-lt"/>
          <a:ea typeface="+mj-ea"/>
          <a:cs typeface="+mj-cs"/>
        </a:defRPr>
      </a:lvl1pPr>
    </p:titleStyle>
    <p:bodyStyle>
      <a:lvl1pPr marL="228600" indent="-228600" algn="l" defTabSz="914400" rtl="0" eaLnBrk="1" latinLnBrk="0" hangingPunct="1">
        <a:lnSpc>
          <a:spcPct val="90000"/>
        </a:lnSpc>
        <a:spcBef>
          <a:spcPts val="1000"/>
        </a:spcBef>
        <a:buClr>
          <a:srgbClr val="942F6D"/>
        </a:buClr>
        <a:buFont typeface="Arial" panose="020B0604020202020204" pitchFamily="34" charset="0"/>
        <a:buChar char="•"/>
        <a:defRPr sz="2800" kern="1200">
          <a:solidFill>
            <a:srgbClr val="0D3E63"/>
          </a:solidFill>
          <a:latin typeface="+mn-lt"/>
          <a:ea typeface="+mn-ea"/>
          <a:cs typeface="+mn-cs"/>
        </a:defRPr>
      </a:lvl1pPr>
      <a:lvl2pPr marL="685800" indent="-228600" algn="l" defTabSz="914400" rtl="0" eaLnBrk="1" latinLnBrk="0" hangingPunct="1">
        <a:lnSpc>
          <a:spcPct val="90000"/>
        </a:lnSpc>
        <a:spcBef>
          <a:spcPts val="500"/>
        </a:spcBef>
        <a:buClr>
          <a:srgbClr val="942F6D"/>
        </a:buClr>
        <a:buFont typeface="Arial" panose="020B0604020202020204" pitchFamily="34" charset="0"/>
        <a:buChar char="•"/>
        <a:defRPr sz="2400" kern="1200">
          <a:solidFill>
            <a:srgbClr val="0D3E63"/>
          </a:solidFill>
          <a:latin typeface="+mn-lt"/>
          <a:ea typeface="+mn-ea"/>
          <a:cs typeface="+mn-cs"/>
        </a:defRPr>
      </a:lvl2pPr>
      <a:lvl3pPr marL="1143000" indent="-228600" algn="l" defTabSz="914400" rtl="0" eaLnBrk="1" latinLnBrk="0" hangingPunct="1">
        <a:lnSpc>
          <a:spcPct val="90000"/>
        </a:lnSpc>
        <a:spcBef>
          <a:spcPts val="500"/>
        </a:spcBef>
        <a:buClr>
          <a:srgbClr val="942F6D"/>
        </a:buClr>
        <a:buFont typeface="Arial" panose="020B0604020202020204" pitchFamily="34" charset="0"/>
        <a:buChar char="•"/>
        <a:defRPr sz="2000" kern="1200">
          <a:solidFill>
            <a:srgbClr val="0D3E63"/>
          </a:solidFill>
          <a:latin typeface="+mn-lt"/>
          <a:ea typeface="+mn-ea"/>
          <a:cs typeface="+mn-cs"/>
        </a:defRPr>
      </a:lvl3pPr>
      <a:lvl4pPr marL="16002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0D3E63"/>
          </a:solidFill>
          <a:latin typeface="+mn-lt"/>
          <a:ea typeface="+mn-ea"/>
          <a:cs typeface="+mn-cs"/>
        </a:defRPr>
      </a:lvl4pPr>
      <a:lvl5pPr marL="20574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0D3E6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4" name="Picture 1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043113" y="3228975"/>
            <a:ext cx="8105775" cy="3629025"/>
          </a:xfrm>
          <a:prstGeom prst="rect">
            <a:avLst/>
          </a:prstGeom>
        </p:spPr>
      </p:pic>
      <p:pic>
        <p:nvPicPr>
          <p:cNvPr id="3" name="Picture 2" descr="A picture containing text, sign, clipart&#10;&#10;Description automatically generated"/>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017063" y="677074"/>
            <a:ext cx="1559570" cy="720000"/>
          </a:xfrm>
          <a:prstGeom prst="rect">
            <a:avLst/>
          </a:prstGeom>
        </p:spPr>
      </p:pic>
      <p:pic>
        <p:nvPicPr>
          <p:cNvPr id="9" name="Picture 8"/>
          <p:cNvPicPr>
            <a:picLocks noChangeAspect="1"/>
          </p:cNvPicPr>
          <p:nvPr userDrawn="1"/>
        </p:nvPicPr>
        <p:blipFill>
          <a:blip r:embed="rId5" cstate="print">
            <a:extLst>
              <a:ext uri="{28A0092B-C50C-407E-A947-70E740481C1C}">
                <a14:useLocalDpi xmlns:a14="http://schemas.microsoft.com/office/drawing/2010/main" val="0"/>
              </a:ext>
            </a:extLst>
          </a:blip>
          <a:srcRect/>
          <a:stretch>
            <a:fillRect/>
          </a:stretch>
        </p:blipFill>
        <p:spPr>
          <a:xfrm>
            <a:off x="10248624" y="5611775"/>
            <a:ext cx="1328009" cy="396539"/>
          </a:xfrm>
          <a:prstGeom prst="rect">
            <a:avLst/>
          </a:prstGeom>
        </p:spPr>
      </p:pic>
      <p:sp>
        <p:nvSpPr>
          <p:cNvPr id="5" name="Rectangle 4"/>
          <p:cNvSpPr/>
          <p:nvPr userDrawn="1"/>
        </p:nvSpPr>
        <p:spPr>
          <a:xfrm>
            <a:off x="0" y="6502400"/>
            <a:ext cx="12192000" cy="355600"/>
          </a:xfrm>
          <a:prstGeom prst="rect">
            <a:avLst/>
          </a:prstGeom>
          <a:solidFill>
            <a:srgbClr val="942F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4" name="Graphic 5"/>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0535747" y="6603728"/>
            <a:ext cx="1371600" cy="180975"/>
          </a:xfrm>
          <a:prstGeom prst="rect">
            <a:avLst/>
          </a:prstGeom>
        </p:spPr>
      </p:pic>
      <p:sp>
        <p:nvSpPr>
          <p:cNvPr id="8" name="Isosceles Triangle 7"/>
          <p:cNvSpPr/>
          <p:nvPr userDrawn="1"/>
        </p:nvSpPr>
        <p:spPr>
          <a:xfrm rot="5400000">
            <a:off x="10297085" y="6626156"/>
            <a:ext cx="144000" cy="108000"/>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n>
                <a:noFill/>
              </a:ln>
              <a:noFill/>
            </a:endParaRPr>
          </a:p>
        </p:txBody>
      </p:sp>
    </p:spTree>
  </p:cSld>
  <p:clrMap bg1="lt1" tx1="dk1" bg2="lt2" tx2="dk2" accent1="accent1" accent2="accent2" accent3="accent3" accent4="accent4" accent5="accent5" accent6="accent6" hlink="hlink" folHlink="folHlink"/>
  <p:sldLayoutIdLst>
    <p:sldLayoutId id="2147483658" r:id="rId1"/>
  </p:sldLayoutIdLst>
  <p:txStyles>
    <p:titleStyle>
      <a:lvl1pPr algn="l" defTabSz="914400" rtl="0" eaLnBrk="1" latinLnBrk="0" hangingPunct="1">
        <a:lnSpc>
          <a:spcPts val="3500"/>
        </a:lnSpc>
        <a:spcBef>
          <a:spcPct val="0"/>
        </a:spcBef>
        <a:buNone/>
        <a:defRPr sz="4200" b="1" kern="1200" cap="all" spc="-50" baseline="0">
          <a:solidFill>
            <a:srgbClr val="0D3E63"/>
          </a:solidFill>
          <a:latin typeface="+mn-lt"/>
          <a:ea typeface="+mj-ea"/>
          <a:cs typeface="+mj-cs"/>
        </a:defRPr>
      </a:lvl1pPr>
    </p:titleStyle>
    <p:bodyStyle>
      <a:lvl1pPr marL="228600" indent="-228600" algn="l" defTabSz="914400" rtl="0" eaLnBrk="1" latinLnBrk="0" hangingPunct="1">
        <a:lnSpc>
          <a:spcPct val="90000"/>
        </a:lnSpc>
        <a:spcBef>
          <a:spcPts val="1000"/>
        </a:spcBef>
        <a:buClr>
          <a:srgbClr val="942F6D"/>
        </a:buClr>
        <a:buFont typeface="Arial" panose="020B0604020202020204" pitchFamily="34" charset="0"/>
        <a:buChar char="•"/>
        <a:defRPr sz="2800" kern="1200">
          <a:solidFill>
            <a:srgbClr val="0D3E63"/>
          </a:solidFill>
          <a:latin typeface="+mn-lt"/>
          <a:ea typeface="+mn-ea"/>
          <a:cs typeface="+mn-cs"/>
        </a:defRPr>
      </a:lvl1pPr>
      <a:lvl2pPr marL="685800" indent="-228600" algn="l" defTabSz="914400" rtl="0" eaLnBrk="1" latinLnBrk="0" hangingPunct="1">
        <a:lnSpc>
          <a:spcPct val="90000"/>
        </a:lnSpc>
        <a:spcBef>
          <a:spcPts val="500"/>
        </a:spcBef>
        <a:buClr>
          <a:srgbClr val="942F6D"/>
        </a:buClr>
        <a:buFont typeface="Arial" panose="020B0604020202020204" pitchFamily="34" charset="0"/>
        <a:buChar char="•"/>
        <a:defRPr sz="2400" kern="1200">
          <a:solidFill>
            <a:srgbClr val="0D3E63"/>
          </a:solidFill>
          <a:latin typeface="+mn-lt"/>
          <a:ea typeface="+mn-ea"/>
          <a:cs typeface="+mn-cs"/>
        </a:defRPr>
      </a:lvl2pPr>
      <a:lvl3pPr marL="1143000" indent="-228600" algn="l" defTabSz="914400" rtl="0" eaLnBrk="1" latinLnBrk="0" hangingPunct="1">
        <a:lnSpc>
          <a:spcPct val="90000"/>
        </a:lnSpc>
        <a:spcBef>
          <a:spcPts val="500"/>
        </a:spcBef>
        <a:buClr>
          <a:srgbClr val="942F6D"/>
        </a:buClr>
        <a:buFont typeface="Arial" panose="020B0604020202020204" pitchFamily="34" charset="0"/>
        <a:buChar char="•"/>
        <a:defRPr sz="2000" kern="1200">
          <a:solidFill>
            <a:srgbClr val="0D3E63"/>
          </a:solidFill>
          <a:latin typeface="+mn-lt"/>
          <a:ea typeface="+mn-ea"/>
          <a:cs typeface="+mn-cs"/>
        </a:defRPr>
      </a:lvl3pPr>
      <a:lvl4pPr marL="16002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0D3E63"/>
          </a:solidFill>
          <a:latin typeface="+mn-lt"/>
          <a:ea typeface="+mn-ea"/>
          <a:cs typeface="+mn-cs"/>
        </a:defRPr>
      </a:lvl4pPr>
      <a:lvl5pPr marL="20574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0D3E6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a:xfrm>
            <a:off x="0" y="0"/>
            <a:ext cx="12192000" cy="6858294"/>
          </a:xfrm>
          <a:prstGeom prst="rect">
            <a:avLst/>
          </a:prstGeom>
        </p:spPr>
      </p:pic>
    </p:spTree>
  </p:cSld>
  <p:clrMap bg1="lt1" tx1="dk1" bg2="lt2" tx2="dk2" accent1="accent1" accent2="accent2" accent3="accent3" accent4="accent4" accent5="accent5" accent6="accent6" hlink="hlink" folHlink="folHlink"/>
  <p:sldLayoutIdLst>
    <p:sldLayoutId id="2147483660" r:id="rId1"/>
  </p:sldLayoutIdLst>
  <p:txStyles>
    <p:titleStyle>
      <a:lvl1pPr algn="l" defTabSz="845820" rtl="0" eaLnBrk="1" latinLnBrk="0" hangingPunct="1">
        <a:lnSpc>
          <a:spcPct val="90000"/>
        </a:lnSpc>
        <a:spcBef>
          <a:spcPct val="0"/>
        </a:spcBef>
        <a:buNone/>
        <a:defRPr sz="4070" kern="1200">
          <a:solidFill>
            <a:schemeClr val="tx1"/>
          </a:solidFill>
          <a:latin typeface="+mj-lt"/>
          <a:ea typeface="+mj-ea"/>
          <a:cs typeface="+mj-cs"/>
        </a:defRPr>
      </a:lvl1pPr>
    </p:titleStyle>
    <p:bodyStyle>
      <a:lvl1pPr marL="211455" indent="-211455" algn="l" defTabSz="845820" rtl="0" eaLnBrk="1" latinLnBrk="0" hangingPunct="1">
        <a:lnSpc>
          <a:spcPct val="90000"/>
        </a:lnSpc>
        <a:spcBef>
          <a:spcPts val="925"/>
        </a:spcBef>
        <a:buFont typeface="Arial" panose="020B0604020202020204" pitchFamily="34" charset="0"/>
        <a:buChar char="•"/>
        <a:defRPr sz="2590" kern="1200">
          <a:solidFill>
            <a:schemeClr val="tx1"/>
          </a:solidFill>
          <a:latin typeface="+mn-lt"/>
          <a:ea typeface="+mn-ea"/>
          <a:cs typeface="+mn-cs"/>
        </a:defRPr>
      </a:lvl1pPr>
      <a:lvl2pPr marL="634365" indent="-211455" algn="l" defTabSz="845820" rtl="0" eaLnBrk="1" latinLnBrk="0" hangingPunct="1">
        <a:lnSpc>
          <a:spcPct val="90000"/>
        </a:lnSpc>
        <a:spcBef>
          <a:spcPct val="93000"/>
        </a:spcBef>
        <a:buFont typeface="Arial" panose="020B0604020202020204" pitchFamily="34" charset="0"/>
        <a:buChar char="•"/>
        <a:defRPr sz="2220" kern="1200">
          <a:solidFill>
            <a:schemeClr val="tx1"/>
          </a:solidFill>
          <a:latin typeface="+mn-lt"/>
          <a:ea typeface="+mn-ea"/>
          <a:cs typeface="+mn-cs"/>
        </a:defRPr>
      </a:lvl2pPr>
      <a:lvl3pPr marL="1057275" indent="-211455" algn="l" defTabSz="845820" rtl="0" eaLnBrk="1" latinLnBrk="0" hangingPunct="1">
        <a:lnSpc>
          <a:spcPct val="90000"/>
        </a:lnSpc>
        <a:spcBef>
          <a:spcPct val="93000"/>
        </a:spcBef>
        <a:buFont typeface="Arial" panose="020B0604020202020204" pitchFamily="34" charset="0"/>
        <a:buChar char="•"/>
        <a:defRPr sz="1850" kern="1200">
          <a:solidFill>
            <a:schemeClr val="tx1"/>
          </a:solidFill>
          <a:latin typeface="+mn-lt"/>
          <a:ea typeface="+mn-ea"/>
          <a:cs typeface="+mn-cs"/>
        </a:defRPr>
      </a:lvl3pPr>
      <a:lvl4pPr marL="1480185" indent="-211455" algn="l" defTabSz="845820" rtl="0" eaLnBrk="1" latinLnBrk="0" hangingPunct="1">
        <a:lnSpc>
          <a:spcPct val="90000"/>
        </a:lnSpc>
        <a:spcBef>
          <a:spcPct val="93000"/>
        </a:spcBef>
        <a:buFont typeface="Arial" panose="020B0604020202020204" pitchFamily="34" charset="0"/>
        <a:buChar char="•"/>
        <a:defRPr sz="1665" kern="1200">
          <a:solidFill>
            <a:schemeClr val="tx1"/>
          </a:solidFill>
          <a:latin typeface="+mn-lt"/>
          <a:ea typeface="+mn-ea"/>
          <a:cs typeface="+mn-cs"/>
        </a:defRPr>
      </a:lvl4pPr>
      <a:lvl5pPr marL="1903095" indent="-211455" algn="l" defTabSz="845820" rtl="0" eaLnBrk="1" latinLnBrk="0" hangingPunct="1">
        <a:lnSpc>
          <a:spcPct val="90000"/>
        </a:lnSpc>
        <a:spcBef>
          <a:spcPct val="93000"/>
        </a:spcBef>
        <a:buFont typeface="Arial" panose="020B0604020202020204" pitchFamily="34" charset="0"/>
        <a:buChar char="•"/>
        <a:defRPr sz="1665" kern="1200">
          <a:solidFill>
            <a:schemeClr val="tx1"/>
          </a:solidFill>
          <a:latin typeface="+mn-lt"/>
          <a:ea typeface="+mn-ea"/>
          <a:cs typeface="+mn-cs"/>
        </a:defRPr>
      </a:lvl5pPr>
      <a:lvl6pPr marL="2326005" indent="-211455" algn="l" defTabSz="845820" rtl="0" eaLnBrk="1" latinLnBrk="0" hangingPunct="1">
        <a:lnSpc>
          <a:spcPct val="90000"/>
        </a:lnSpc>
        <a:spcBef>
          <a:spcPct val="93000"/>
        </a:spcBef>
        <a:buFont typeface="Arial" panose="020B0604020202020204" pitchFamily="34" charset="0"/>
        <a:buChar char="•"/>
        <a:defRPr sz="1665" kern="1200">
          <a:solidFill>
            <a:schemeClr val="tx1"/>
          </a:solidFill>
          <a:latin typeface="+mn-lt"/>
          <a:ea typeface="+mn-ea"/>
          <a:cs typeface="+mn-cs"/>
        </a:defRPr>
      </a:lvl6pPr>
      <a:lvl7pPr marL="2748915" indent="-211455" algn="l" defTabSz="845820" rtl="0" eaLnBrk="1" latinLnBrk="0" hangingPunct="1">
        <a:lnSpc>
          <a:spcPct val="90000"/>
        </a:lnSpc>
        <a:spcBef>
          <a:spcPct val="93000"/>
        </a:spcBef>
        <a:buFont typeface="Arial" panose="020B0604020202020204" pitchFamily="34" charset="0"/>
        <a:buChar char="•"/>
        <a:defRPr sz="1665" kern="1200">
          <a:solidFill>
            <a:schemeClr val="tx1"/>
          </a:solidFill>
          <a:latin typeface="+mn-lt"/>
          <a:ea typeface="+mn-ea"/>
          <a:cs typeface="+mn-cs"/>
        </a:defRPr>
      </a:lvl7pPr>
      <a:lvl8pPr marL="3171190" indent="-211455" algn="l" defTabSz="845820" rtl="0" eaLnBrk="1" latinLnBrk="0" hangingPunct="1">
        <a:lnSpc>
          <a:spcPct val="90000"/>
        </a:lnSpc>
        <a:spcBef>
          <a:spcPct val="93000"/>
        </a:spcBef>
        <a:buFont typeface="Arial" panose="020B0604020202020204" pitchFamily="34" charset="0"/>
        <a:buChar char="•"/>
        <a:defRPr sz="1665" kern="1200">
          <a:solidFill>
            <a:schemeClr val="tx1"/>
          </a:solidFill>
          <a:latin typeface="+mn-lt"/>
          <a:ea typeface="+mn-ea"/>
          <a:cs typeface="+mn-cs"/>
        </a:defRPr>
      </a:lvl8pPr>
      <a:lvl9pPr marL="3594100" indent="-211455" algn="l" defTabSz="845820" rtl="0" eaLnBrk="1" latinLnBrk="0" hangingPunct="1">
        <a:lnSpc>
          <a:spcPct val="90000"/>
        </a:lnSpc>
        <a:spcBef>
          <a:spcPct val="93000"/>
        </a:spcBef>
        <a:buFont typeface="Arial" panose="020B0604020202020204" pitchFamily="34" charset="0"/>
        <a:buChar char="•"/>
        <a:defRPr sz="1665" kern="1200">
          <a:solidFill>
            <a:schemeClr val="tx1"/>
          </a:solidFill>
          <a:latin typeface="+mn-lt"/>
          <a:ea typeface="+mn-ea"/>
          <a:cs typeface="+mn-cs"/>
        </a:defRPr>
      </a:lvl9pPr>
    </p:bodyStyle>
    <p:otherStyle>
      <a:defPPr>
        <a:defRPr lang="en-US"/>
      </a:defPPr>
      <a:lvl1pPr marL="0" algn="l" defTabSz="845820" rtl="0" eaLnBrk="1" latinLnBrk="0" hangingPunct="1">
        <a:defRPr sz="1665" kern="1200">
          <a:solidFill>
            <a:schemeClr val="tx1"/>
          </a:solidFill>
          <a:latin typeface="+mn-lt"/>
          <a:ea typeface="+mn-ea"/>
          <a:cs typeface="+mn-cs"/>
        </a:defRPr>
      </a:lvl1pPr>
      <a:lvl2pPr marL="422910" algn="l" defTabSz="845820" rtl="0" eaLnBrk="1" latinLnBrk="0" hangingPunct="1">
        <a:defRPr sz="1665" kern="1200">
          <a:solidFill>
            <a:schemeClr val="tx1"/>
          </a:solidFill>
          <a:latin typeface="+mn-lt"/>
          <a:ea typeface="+mn-ea"/>
          <a:cs typeface="+mn-cs"/>
        </a:defRPr>
      </a:lvl2pPr>
      <a:lvl3pPr marL="845820" algn="l" defTabSz="845820" rtl="0" eaLnBrk="1" latinLnBrk="0" hangingPunct="1">
        <a:defRPr sz="1665" kern="1200">
          <a:solidFill>
            <a:schemeClr val="tx1"/>
          </a:solidFill>
          <a:latin typeface="+mn-lt"/>
          <a:ea typeface="+mn-ea"/>
          <a:cs typeface="+mn-cs"/>
        </a:defRPr>
      </a:lvl3pPr>
      <a:lvl4pPr marL="1268730" algn="l" defTabSz="845820" rtl="0" eaLnBrk="1" latinLnBrk="0" hangingPunct="1">
        <a:defRPr sz="1665" kern="1200">
          <a:solidFill>
            <a:schemeClr val="tx1"/>
          </a:solidFill>
          <a:latin typeface="+mn-lt"/>
          <a:ea typeface="+mn-ea"/>
          <a:cs typeface="+mn-cs"/>
        </a:defRPr>
      </a:lvl4pPr>
      <a:lvl5pPr marL="1691640" algn="l" defTabSz="845820" rtl="0" eaLnBrk="1" latinLnBrk="0" hangingPunct="1">
        <a:defRPr sz="1665" kern="1200">
          <a:solidFill>
            <a:schemeClr val="tx1"/>
          </a:solidFill>
          <a:latin typeface="+mn-lt"/>
          <a:ea typeface="+mn-ea"/>
          <a:cs typeface="+mn-cs"/>
        </a:defRPr>
      </a:lvl5pPr>
      <a:lvl6pPr marL="2114550" algn="l" defTabSz="845820" rtl="0" eaLnBrk="1" latinLnBrk="0" hangingPunct="1">
        <a:defRPr sz="1665" kern="1200">
          <a:solidFill>
            <a:schemeClr val="tx1"/>
          </a:solidFill>
          <a:latin typeface="+mn-lt"/>
          <a:ea typeface="+mn-ea"/>
          <a:cs typeface="+mn-cs"/>
        </a:defRPr>
      </a:lvl6pPr>
      <a:lvl7pPr marL="2537460" algn="l" defTabSz="845820" rtl="0" eaLnBrk="1" latinLnBrk="0" hangingPunct="1">
        <a:defRPr sz="1665" kern="1200">
          <a:solidFill>
            <a:schemeClr val="tx1"/>
          </a:solidFill>
          <a:latin typeface="+mn-lt"/>
          <a:ea typeface="+mn-ea"/>
          <a:cs typeface="+mn-cs"/>
        </a:defRPr>
      </a:lvl7pPr>
      <a:lvl8pPr marL="2959735" algn="l" defTabSz="845820" rtl="0" eaLnBrk="1" latinLnBrk="0" hangingPunct="1">
        <a:defRPr sz="1665" kern="1200">
          <a:solidFill>
            <a:schemeClr val="tx1"/>
          </a:solidFill>
          <a:latin typeface="+mn-lt"/>
          <a:ea typeface="+mn-ea"/>
          <a:cs typeface="+mn-cs"/>
        </a:defRPr>
      </a:lvl8pPr>
      <a:lvl9pPr marL="3382645" algn="l" defTabSz="845820" rtl="0" eaLnBrk="1" latinLnBrk="0" hangingPunct="1">
        <a:defRPr sz="166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hyperlink" Target="https://www.youtube.com/watch?v=IaTFpp-uzp0" TargetMode="External"/><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hyperlink" Target="https://www.youtube.com/watch?v=zITIFTsivN8" TargetMode="Externa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hyperlink" Target="https://serokell.io/blog/polynomial-regression-analysis" TargetMode="External"/><Relationship Id="rId2" Type="http://schemas.openxmlformats.org/officeDocument/2006/relationships/hyperlink" Target="https://www.youtube.com/watch?v=QptI-vDle8Y" TargetMode="Externa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60.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hyperlink" Target="https://www.youtube.com/watch?v=W-0-u6XVbE4" TargetMode="Externa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hyperlink" Target="https://www.javatpoint.com/overfitting-in-machine-learning" TargetMode="Externa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3" Type="http://schemas.openxmlformats.org/officeDocument/2006/relationships/hyperlink" Target="https://www.w3schools.com/python/showpython.asp?filename=demo_ml_scale_std1" TargetMode="External"/><Relationship Id="rId2" Type="http://schemas.openxmlformats.org/officeDocument/2006/relationships/hyperlink" Target="https://www.w3schools.com/python/showpython.asp?filename=demo_ml_scale_mean1" TargetMode="Externa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hyperlink" Target="https://serokell.io/blog/polynomial-regression-analysis" TargetMode="External"/><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8" Type="http://schemas.openxmlformats.org/officeDocument/2006/relationships/hyperlink" Target="https://medium.com/@kyawsawhtoon?source=post_page-----9444b4b049c9--------------------------------" TargetMode="External"/><Relationship Id="rId13" Type="http://schemas.openxmlformats.org/officeDocument/2006/relationships/hyperlink" Target="https://www.projectpro.io/recipes/and-when-use-polynomial-regression" TargetMode="External"/><Relationship Id="rId3" Type="http://schemas.openxmlformats.org/officeDocument/2006/relationships/hyperlink" Target="https://towardsdatascience.com/laymans-introduction-to-linear-regression-8b334a3dab09#:~:text=Linear%20regression%20attempts%20to%20model,variable%20(e.g.%20your%20expenses)" TargetMode="External"/><Relationship Id="rId7" Type="http://schemas.openxmlformats.org/officeDocument/2006/relationships/hyperlink" Target="https://www.youtube.com/watch?v=fKUfFgiSJx0" TargetMode="External"/><Relationship Id="rId12" Type="http://schemas.openxmlformats.org/officeDocument/2006/relationships/hyperlink" Target="https://www.tutorialspoint.com/seaborn/seaborn_linear_relationships.htm" TargetMode="External"/><Relationship Id="rId2" Type="http://schemas.openxmlformats.org/officeDocument/2006/relationships/notesSlide" Target="../notesSlides/notesSlide31.xml"/><Relationship Id="rId1" Type="http://schemas.openxmlformats.org/officeDocument/2006/relationships/slideLayout" Target="../slideLayouts/slideLayout4.xml"/><Relationship Id="rId6" Type="http://schemas.openxmlformats.org/officeDocument/2006/relationships/hyperlink" Target="https://towardsdatascience.com/applied-multivariate-regression-faef8ddbf807" TargetMode="External"/><Relationship Id="rId11" Type="http://schemas.openxmlformats.org/officeDocument/2006/relationships/hyperlink" Target="https://www.geeksforgeeks.org/how-to-calculate-skewness-and-kurtosis-in-python/" TargetMode="External"/><Relationship Id="rId5" Type="http://schemas.openxmlformats.org/officeDocument/2006/relationships/hyperlink" Target="https://www.youtube.com/watch?v=JvS2triCgOY" TargetMode="External"/><Relationship Id="rId10" Type="http://schemas.openxmlformats.org/officeDocument/2006/relationships/hyperlink" Target="https://www.kaggle.com/code/enockchumba/student-s-marks-regression" TargetMode="External"/><Relationship Id="rId4" Type="http://schemas.openxmlformats.org/officeDocument/2006/relationships/hyperlink" Target="https://rishisid.medium.com/?source=post_page-----8b334a3dab09-----------------------------------" TargetMode="External"/><Relationship Id="rId9" Type="http://schemas.openxmlformats.org/officeDocument/2006/relationships/hyperlink" Target="https://medium.com/@kyawsawhtoon/log-transformation-purpose-and-interpretation-9444b4b049c9"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Applied Machine learning</a:t>
            </a:r>
          </a:p>
        </p:txBody>
      </p:sp>
      <p:sp>
        <p:nvSpPr>
          <p:cNvPr id="3" name="Text Placeholder 2"/>
          <p:cNvSpPr>
            <a:spLocks noGrp="1"/>
          </p:cNvSpPr>
          <p:nvPr>
            <p:ph type="body" sz="quarter" idx="10"/>
          </p:nvPr>
        </p:nvSpPr>
        <p:spPr/>
        <p:txBody>
          <a:bodyPr/>
          <a:lstStyle/>
          <a:p>
            <a:r>
              <a:rPr lang="en-GB" dirty="0"/>
              <a:t>Regent College London</a:t>
            </a:r>
          </a:p>
          <a:p>
            <a:r>
              <a:rPr lang="en-GB" dirty="0"/>
              <a:t>SWE6302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Applied Machine learning </a:t>
            </a:r>
          </a:p>
        </p:txBody>
      </p:sp>
      <p:sp>
        <p:nvSpPr>
          <p:cNvPr id="3" name="Text Placeholder 2"/>
          <p:cNvSpPr>
            <a:spLocks noGrp="1"/>
          </p:cNvSpPr>
          <p:nvPr>
            <p:ph type="body" sz="quarter" idx="10"/>
          </p:nvPr>
        </p:nvSpPr>
        <p:spPr/>
        <p:txBody>
          <a:bodyPr/>
          <a:lstStyle/>
          <a:p>
            <a:r>
              <a:rPr lang="en-GB" dirty="0"/>
              <a:t>SWE6302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dirty="0"/>
              <a:t>Applied Machine learning</a:t>
            </a:r>
            <a:endParaRPr lang="en-US" dirty="0"/>
          </a:p>
        </p:txBody>
      </p:sp>
      <p:sp>
        <p:nvSpPr>
          <p:cNvPr id="4" name="Text Placeholder 3"/>
          <p:cNvSpPr>
            <a:spLocks noGrp="1"/>
          </p:cNvSpPr>
          <p:nvPr>
            <p:ph type="body" sz="quarter" idx="11"/>
          </p:nvPr>
        </p:nvSpPr>
        <p:spPr>
          <a:xfrm>
            <a:off x="7179121" y="2592387"/>
            <a:ext cx="5491361" cy="3845503"/>
          </a:xfrm>
        </p:spPr>
        <p:txBody>
          <a:bodyPr/>
          <a:lstStyle/>
          <a:p>
            <a:endParaRPr lang="en-US" dirty="0"/>
          </a:p>
          <a:p>
            <a:r>
              <a:rPr lang="en-GB" dirty="0">
                <a:solidFill>
                  <a:schemeClr val="tx1">
                    <a:lumMod val="65000"/>
                    <a:lumOff val="35000"/>
                  </a:schemeClr>
                </a:solidFill>
                <a:latin typeface="Calibri" panose="020F0502020204030204" pitchFamily="34" charset="0"/>
              </a:rPr>
              <a:t>REGRESSION METHODS</a:t>
            </a:r>
            <a:endParaRPr lang="en-GB" dirty="0">
              <a:solidFill>
                <a:schemeClr val="tx1">
                  <a:lumMod val="65000"/>
                  <a:lumOff val="35000"/>
                </a:schemeClr>
              </a:solidFill>
            </a:endParaRPr>
          </a:p>
          <a:p>
            <a:endParaRPr lang="en-US" dirty="0"/>
          </a:p>
        </p:txBody>
      </p:sp>
      <p:pic>
        <p:nvPicPr>
          <p:cNvPr id="5" name="Picture 4"/>
          <p:cNvPicPr>
            <a:picLocks noChangeAspect="1"/>
          </p:cNvPicPr>
          <p:nvPr/>
        </p:nvPicPr>
        <p:blipFill>
          <a:blip r:embed="rId2"/>
          <a:stretch>
            <a:fillRect/>
          </a:stretch>
        </p:blipFill>
        <p:spPr>
          <a:xfrm>
            <a:off x="293648" y="1737716"/>
            <a:ext cx="6551188" cy="395845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591827" y="2985581"/>
            <a:ext cx="10515600" cy="1186075"/>
          </a:xfrm>
          <a:prstGeom prst="rect">
            <a:avLst/>
          </a:prstGeom>
        </p:spPr>
        <p:txBody>
          <a:bodyPr/>
          <a:lstStyle>
            <a:lvl1pPr algn="l" defTabSz="914400" rtl="0" eaLnBrk="1" latinLnBrk="0" hangingPunct="1">
              <a:lnSpc>
                <a:spcPts val="3200"/>
              </a:lnSpc>
              <a:spcBef>
                <a:spcPct val="0"/>
              </a:spcBef>
              <a:buNone/>
              <a:defRPr sz="4200" b="1" kern="1200" cap="all" spc="-50" baseline="0">
                <a:solidFill>
                  <a:srgbClr val="942F6D"/>
                </a:solidFill>
                <a:latin typeface="+mn-lt"/>
                <a:ea typeface="+mj-ea"/>
                <a:cs typeface="+mj-cs"/>
              </a:defRPr>
            </a:lvl1pPr>
          </a:lstStyle>
          <a:p>
            <a:r>
              <a:rPr lang="en-GB" dirty="0"/>
              <a:t>Module  – LINEAR REGRESSION, Multiple Regression &amp; Polynomial Regression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942D6D"/>
                </a:solidFill>
              </a:rPr>
              <a:t>Learning objectives</a:t>
            </a:r>
            <a:endParaRPr lang="en-US" dirty="0">
              <a:solidFill>
                <a:srgbClr val="942D6D"/>
              </a:solidFill>
            </a:endParaRPr>
          </a:p>
        </p:txBody>
      </p:sp>
      <p:sp>
        <p:nvSpPr>
          <p:cNvPr id="3" name="Text Placeholder 2"/>
          <p:cNvSpPr>
            <a:spLocks noGrp="1"/>
          </p:cNvSpPr>
          <p:nvPr>
            <p:ph type="body" sz="quarter" idx="10"/>
          </p:nvPr>
        </p:nvSpPr>
        <p:spPr>
          <a:xfrm>
            <a:off x="877821" y="1521449"/>
            <a:ext cx="10712388" cy="3815101"/>
          </a:xfrm>
        </p:spPr>
        <p:txBody>
          <a:bodyPr/>
          <a:lstStyle/>
          <a:p>
            <a:r>
              <a:rPr lang="en-US" sz="2400" dirty="0">
                <a:solidFill>
                  <a:schemeClr val="tx1">
                    <a:lumMod val="75000"/>
                    <a:lumOff val="25000"/>
                  </a:schemeClr>
                </a:solidFill>
              </a:rPr>
              <a:t>Understand the Linear Regression </a:t>
            </a:r>
          </a:p>
          <a:p>
            <a:r>
              <a:rPr lang="en-GB" sz="2400" dirty="0">
                <a:solidFill>
                  <a:schemeClr val="tx1">
                    <a:lumMod val="75000"/>
                    <a:lumOff val="25000"/>
                  </a:schemeClr>
                </a:solidFill>
              </a:rPr>
              <a:t>Understand the the Linear Regression Loss</a:t>
            </a:r>
          </a:p>
          <a:p>
            <a:r>
              <a:rPr lang="en-GB" sz="2400" dirty="0">
                <a:solidFill>
                  <a:schemeClr val="tx1">
                    <a:lumMod val="75000"/>
                    <a:lumOff val="25000"/>
                  </a:schemeClr>
                </a:solidFill>
              </a:rPr>
              <a:t>Understand R-Squared Error</a:t>
            </a:r>
          </a:p>
          <a:p>
            <a:r>
              <a:rPr lang="en-GB" sz="2400" dirty="0">
                <a:solidFill>
                  <a:schemeClr val="tx1">
                    <a:lumMod val="75000"/>
                    <a:lumOff val="25000"/>
                  </a:schemeClr>
                </a:solidFill>
              </a:rPr>
              <a:t>Linear Regression Python example</a:t>
            </a:r>
          </a:p>
          <a:p>
            <a:r>
              <a:rPr lang="en-GB" sz="2400" dirty="0">
                <a:solidFill>
                  <a:schemeClr val="tx1">
                    <a:lumMod val="75000"/>
                    <a:lumOff val="25000"/>
                  </a:schemeClr>
                </a:solidFill>
              </a:rPr>
              <a:t>Define Multiple Regression</a:t>
            </a:r>
          </a:p>
          <a:p>
            <a:r>
              <a:rPr lang="en-GB" sz="2400" dirty="0">
                <a:solidFill>
                  <a:schemeClr val="tx1">
                    <a:lumMod val="75000"/>
                    <a:lumOff val="25000"/>
                  </a:schemeClr>
                </a:solidFill>
              </a:rPr>
              <a:t>Real life applications of Multiple Regression</a:t>
            </a:r>
          </a:p>
          <a:p>
            <a:r>
              <a:rPr lang="en-GB" sz="2400" dirty="0">
                <a:solidFill>
                  <a:schemeClr val="tx1">
                    <a:lumMod val="75000"/>
                    <a:lumOff val="25000"/>
                  </a:schemeClr>
                </a:solidFill>
              </a:rPr>
              <a:t>Practical implementation of Multiple Regression</a:t>
            </a:r>
          </a:p>
          <a:p>
            <a:r>
              <a:rPr lang="en-US" sz="2400" dirty="0">
                <a:solidFill>
                  <a:schemeClr val="tx1">
                    <a:lumMod val="75000"/>
                    <a:lumOff val="25000"/>
                  </a:schemeClr>
                </a:solidFill>
              </a:rPr>
              <a:t>Understand concept of Polynomial Regression</a:t>
            </a:r>
          </a:p>
          <a:p>
            <a:r>
              <a:rPr lang="en-GB" sz="2400" dirty="0">
                <a:solidFill>
                  <a:schemeClr val="tx1">
                    <a:lumMod val="75000"/>
                    <a:lumOff val="25000"/>
                  </a:schemeClr>
                </a:solidFill>
              </a:rPr>
              <a:t>Understand the Overfitting and Underfitting</a:t>
            </a:r>
          </a:p>
          <a:p>
            <a:r>
              <a:rPr lang="en-GB" sz="2400" dirty="0">
                <a:solidFill>
                  <a:schemeClr val="tx1">
                    <a:lumMod val="75000"/>
                    <a:lumOff val="25000"/>
                  </a:schemeClr>
                </a:solidFill>
              </a:rPr>
              <a:t>Understand techniques to overcome Overfitting</a:t>
            </a:r>
          </a:p>
          <a:p>
            <a:endParaRPr lang="en-US" sz="2400" dirty="0">
              <a:solidFill>
                <a:schemeClr val="bg2">
                  <a:lumMod val="25000"/>
                </a:schemeClr>
              </a:solidFill>
            </a:endParaRPr>
          </a:p>
          <a:p>
            <a:endParaRPr lang="en-GB" sz="2400" dirty="0">
              <a:solidFill>
                <a:schemeClr val="tx1">
                  <a:lumMod val="75000"/>
                  <a:lumOff val="25000"/>
                </a:schemeClr>
              </a:solidFill>
            </a:endParaRPr>
          </a:p>
          <a:p>
            <a:endParaRPr lang="en-US" sz="2400" dirty="0">
              <a:solidFill>
                <a:schemeClr val="bg2">
                  <a:lumMod val="25000"/>
                </a:schemeClr>
              </a:solidFill>
            </a:endParaRPr>
          </a:p>
        </p:txBody>
      </p:sp>
      <p:cxnSp>
        <p:nvCxnSpPr>
          <p:cNvPr id="4" name="Straight Connector 3"/>
          <p:cNvCxnSpPr/>
          <p:nvPr/>
        </p:nvCxnSpPr>
        <p:spPr>
          <a:xfrm flipH="1">
            <a:off x="601791" y="1070621"/>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p:cNvCxnSpPr/>
          <p:nvPr/>
        </p:nvCxnSpPr>
        <p:spPr>
          <a:xfrm flipV="1">
            <a:off x="472083" y="423248"/>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a:xfrm flipH="1" flipV="1">
            <a:off x="470171" y="1089589"/>
            <a:ext cx="1912" cy="4298063"/>
          </a:xfrm>
          <a:prstGeom prst="line">
            <a:avLst/>
          </a:prstGeom>
        </p:spPr>
        <p:style>
          <a:lnRef idx="2">
            <a:schemeClr val="dk1"/>
          </a:lnRef>
          <a:fillRef idx="0">
            <a:schemeClr val="dk1"/>
          </a:fillRef>
          <a:effectRef idx="1">
            <a:schemeClr val="dk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D6D87-EDA1-5F46-B75D-26673D61DA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42414E-1710-6EE4-0E0A-C4D837D9E168}"/>
              </a:ext>
            </a:extLst>
          </p:cNvPr>
          <p:cNvSpPr>
            <a:spLocks noGrp="1"/>
          </p:cNvSpPr>
          <p:nvPr>
            <p:ph type="title"/>
          </p:nvPr>
        </p:nvSpPr>
        <p:spPr/>
        <p:txBody>
          <a:bodyPr/>
          <a:lstStyle/>
          <a:p>
            <a:r>
              <a:rPr lang="en-GB" dirty="0">
                <a:solidFill>
                  <a:srgbClr val="942D6D"/>
                </a:solidFill>
              </a:rPr>
              <a:t>Review</a:t>
            </a:r>
            <a:endParaRPr lang="en-US" dirty="0">
              <a:solidFill>
                <a:srgbClr val="942D6D"/>
              </a:solidFill>
            </a:endParaRPr>
          </a:p>
        </p:txBody>
      </p:sp>
      <p:sp>
        <p:nvSpPr>
          <p:cNvPr id="3" name="Text Placeholder 2">
            <a:extLst>
              <a:ext uri="{FF2B5EF4-FFF2-40B4-BE49-F238E27FC236}">
                <a16:creationId xmlns:a16="http://schemas.microsoft.com/office/drawing/2014/main" id="{8DDED068-B614-8D3C-0D23-2BB6FB05CDAC}"/>
              </a:ext>
            </a:extLst>
          </p:cNvPr>
          <p:cNvSpPr>
            <a:spLocks noGrp="1"/>
          </p:cNvSpPr>
          <p:nvPr>
            <p:ph type="body" sz="quarter" idx="10"/>
          </p:nvPr>
        </p:nvSpPr>
        <p:spPr>
          <a:xfrm>
            <a:off x="877821" y="1521449"/>
            <a:ext cx="10712388" cy="3815101"/>
          </a:xfrm>
        </p:spPr>
        <p:txBody>
          <a:bodyPr/>
          <a:lstStyle/>
          <a:p>
            <a:r>
              <a:rPr lang="en-US" dirty="0">
                <a:solidFill>
                  <a:schemeClr val="bg2">
                    <a:lumMod val="25000"/>
                  </a:schemeClr>
                </a:solidFill>
              </a:rPr>
              <a:t>Previously, we have explored deployment of Machine Learning models and the current state-of-the-art Machine Learning that includes Deep Learning.</a:t>
            </a:r>
          </a:p>
          <a:p>
            <a:r>
              <a:rPr lang="en-US" dirty="0">
                <a:solidFill>
                  <a:schemeClr val="bg2">
                    <a:lumMod val="25000"/>
                  </a:schemeClr>
                </a:solidFill>
              </a:rPr>
              <a:t>However, before we get in details on how modern machine learning techniques like Deep Learning works, we need to understand some of the fundamental models of traditional machine learning such as regression.</a:t>
            </a:r>
          </a:p>
          <a:p>
            <a:r>
              <a:rPr lang="en-US" dirty="0">
                <a:solidFill>
                  <a:schemeClr val="bg2">
                    <a:lumMod val="25000"/>
                  </a:schemeClr>
                </a:solidFill>
              </a:rPr>
              <a:t>Today’s topic will include the fundamentals of regression models specifically linear regression and multiple regression.</a:t>
            </a:r>
          </a:p>
        </p:txBody>
      </p:sp>
      <p:cxnSp>
        <p:nvCxnSpPr>
          <p:cNvPr id="4" name="Straight Connector 3">
            <a:extLst>
              <a:ext uri="{FF2B5EF4-FFF2-40B4-BE49-F238E27FC236}">
                <a16:creationId xmlns:a16="http://schemas.microsoft.com/office/drawing/2014/main" id="{917FF89C-CDFC-1A40-2640-33C1E6273545}"/>
              </a:ext>
            </a:extLst>
          </p:cNvPr>
          <p:cNvCxnSpPr/>
          <p:nvPr/>
        </p:nvCxnSpPr>
        <p:spPr>
          <a:xfrm flipH="1">
            <a:off x="601791" y="1070621"/>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0CA9E8F7-F7FE-3D83-0756-2A32B6BC69ED}"/>
              </a:ext>
            </a:extLst>
          </p:cNvPr>
          <p:cNvCxnSpPr/>
          <p:nvPr/>
        </p:nvCxnSpPr>
        <p:spPr>
          <a:xfrm flipV="1">
            <a:off x="472083" y="423248"/>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F9677C1F-3F63-77B8-EEC7-3748DD08E90D}"/>
              </a:ext>
            </a:extLst>
          </p:cNvPr>
          <p:cNvCxnSpPr/>
          <p:nvPr/>
        </p:nvCxnSpPr>
        <p:spPr>
          <a:xfrm flipH="1" flipV="1">
            <a:off x="470171" y="1089589"/>
            <a:ext cx="1912" cy="4298063"/>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6214193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942D6D"/>
                </a:solidFill>
              </a:rPr>
              <a:t>REGRESSION</a:t>
            </a:r>
            <a:endParaRPr lang="en-US" dirty="0">
              <a:solidFill>
                <a:srgbClr val="942D6D"/>
              </a:solidFill>
            </a:endParaRPr>
          </a:p>
        </p:txBody>
      </p:sp>
      <p:sp>
        <p:nvSpPr>
          <p:cNvPr id="3" name="Text Placeholder 2"/>
          <p:cNvSpPr>
            <a:spLocks noGrp="1"/>
          </p:cNvSpPr>
          <p:nvPr>
            <p:ph type="body" sz="quarter" idx="10"/>
          </p:nvPr>
        </p:nvSpPr>
        <p:spPr>
          <a:xfrm>
            <a:off x="602231" y="1623684"/>
            <a:ext cx="10712388" cy="3815101"/>
          </a:xfrm>
        </p:spPr>
        <p:txBody>
          <a:bodyPr/>
          <a:lstStyle/>
          <a:p>
            <a:r>
              <a:rPr lang="en-GB" sz="2000" b="0" i="0" dirty="0">
                <a:solidFill>
                  <a:srgbClr val="222222"/>
                </a:solidFill>
                <a:effectLst/>
                <a:latin typeface="Calibri" panose="020F0502020204030204" pitchFamily="34" charset="0"/>
                <a:cs typeface="Calibri" panose="020F0502020204030204" pitchFamily="34" charset="0"/>
              </a:rPr>
              <a:t>Regression is a method of </a:t>
            </a:r>
            <a:r>
              <a:rPr lang="en-GB" sz="2000" b="0" i="0" dirty="0" err="1">
                <a:solidFill>
                  <a:srgbClr val="222222"/>
                </a:solidFill>
                <a:effectLst/>
                <a:latin typeface="Calibri" panose="020F0502020204030204" pitchFamily="34" charset="0"/>
                <a:cs typeface="Calibri" panose="020F0502020204030204" pitchFamily="34" charset="0"/>
              </a:rPr>
              <a:t>modeling</a:t>
            </a:r>
            <a:r>
              <a:rPr lang="en-GB" sz="2000" b="0" i="0" dirty="0">
                <a:solidFill>
                  <a:srgbClr val="222222"/>
                </a:solidFill>
                <a:effectLst/>
                <a:latin typeface="Calibri" panose="020F0502020204030204" pitchFamily="34" charset="0"/>
                <a:cs typeface="Calibri" panose="020F0502020204030204" pitchFamily="34" charset="0"/>
              </a:rPr>
              <a:t> a target value based on independent predictors</a:t>
            </a:r>
          </a:p>
          <a:p>
            <a:r>
              <a:rPr lang="en-GB" sz="2000" b="0" i="0" dirty="0">
                <a:solidFill>
                  <a:srgbClr val="222222"/>
                </a:solidFill>
                <a:effectLst/>
                <a:latin typeface="Calibri" panose="020F0502020204030204" pitchFamily="34" charset="0"/>
                <a:cs typeface="Calibri" panose="020F0502020204030204" pitchFamily="34" charset="0"/>
              </a:rPr>
              <a:t>It is a statistical tool which is used to find out the relationship between the outcome variable also known as the dependent variable, and one or more variable often called as independent variables</a:t>
            </a:r>
          </a:p>
          <a:p>
            <a:r>
              <a:rPr lang="en-GB" sz="2000" b="0" i="0" dirty="0">
                <a:solidFill>
                  <a:srgbClr val="222222"/>
                </a:solidFill>
                <a:effectLst/>
                <a:latin typeface="Calibri" panose="020F0502020204030204" pitchFamily="34" charset="0"/>
                <a:cs typeface="Calibri" panose="020F0502020204030204" pitchFamily="34" charset="0"/>
              </a:rPr>
              <a:t>This method is mostly used for forecasting and finding out cause-and-effect relationships between variables</a:t>
            </a:r>
          </a:p>
          <a:p>
            <a:r>
              <a:rPr lang="en-GB" sz="2000" b="0" i="0" dirty="0">
                <a:solidFill>
                  <a:srgbClr val="222222"/>
                </a:solidFill>
                <a:effectLst/>
                <a:latin typeface="Calibri" panose="020F0502020204030204" pitchFamily="34" charset="0"/>
                <a:cs typeface="Calibri" panose="020F0502020204030204" pitchFamily="34" charset="0"/>
              </a:rPr>
              <a:t>Regression techniques mostly differ based on the number of independent variables and the type of relationship between the independent and dependent variables. </a:t>
            </a:r>
            <a:endParaRPr lang="en-GB" sz="2000" dirty="0">
              <a:solidFill>
                <a:schemeClr val="tx1">
                  <a:lumMod val="75000"/>
                  <a:lumOff val="25000"/>
                </a:schemeClr>
              </a:solidFill>
              <a:latin typeface="Calibri" panose="020F0502020204030204" pitchFamily="34" charset="0"/>
              <a:cs typeface="Calibri" panose="020F0502020204030204" pitchFamily="34" charset="0"/>
            </a:endParaRPr>
          </a:p>
          <a:p>
            <a:endParaRPr lang="en-US" sz="2000" dirty="0">
              <a:solidFill>
                <a:schemeClr val="bg2">
                  <a:lumMod val="25000"/>
                </a:schemeClr>
              </a:solidFill>
              <a:latin typeface="Calibri" panose="020F0502020204030204" pitchFamily="34" charset="0"/>
              <a:cs typeface="Calibri" panose="020F0502020204030204" pitchFamily="34" charset="0"/>
            </a:endParaRPr>
          </a:p>
        </p:txBody>
      </p:sp>
      <p:cxnSp>
        <p:nvCxnSpPr>
          <p:cNvPr id="4" name="Straight Connector 3"/>
          <p:cNvCxnSpPr/>
          <p:nvPr/>
        </p:nvCxnSpPr>
        <p:spPr>
          <a:xfrm flipH="1">
            <a:off x="601791" y="1070621"/>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p:cNvCxnSpPr/>
          <p:nvPr/>
        </p:nvCxnSpPr>
        <p:spPr>
          <a:xfrm flipV="1">
            <a:off x="472083" y="423248"/>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a:xfrm flipH="1" flipV="1">
            <a:off x="470171" y="1089589"/>
            <a:ext cx="1912" cy="4298063"/>
          </a:xfrm>
          <a:prstGeom prst="line">
            <a:avLst/>
          </a:prstGeom>
        </p:spPr>
        <p:style>
          <a:lnRef idx="2">
            <a:schemeClr val="dk1"/>
          </a:lnRef>
          <a:fillRef idx="0">
            <a:schemeClr val="dk1"/>
          </a:fillRef>
          <a:effectRef idx="1">
            <a:schemeClr val="dk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942D6D"/>
                </a:solidFill>
              </a:rPr>
              <a:t>REGRESSION</a:t>
            </a:r>
            <a:endParaRPr lang="en-US" dirty="0">
              <a:solidFill>
                <a:srgbClr val="942D6D"/>
              </a:solidFill>
            </a:endParaRPr>
          </a:p>
        </p:txBody>
      </p:sp>
      <p:sp>
        <p:nvSpPr>
          <p:cNvPr id="3" name="Text Placeholder 2"/>
          <p:cNvSpPr>
            <a:spLocks noGrp="1"/>
          </p:cNvSpPr>
          <p:nvPr>
            <p:ph type="body" sz="quarter" idx="10"/>
          </p:nvPr>
        </p:nvSpPr>
        <p:spPr>
          <a:xfrm>
            <a:off x="471836" y="1283324"/>
            <a:ext cx="10712388" cy="4265923"/>
          </a:xfrm>
        </p:spPr>
        <p:txBody>
          <a:bodyPr/>
          <a:lstStyle/>
          <a:p>
            <a:pPr algn="l"/>
            <a:r>
              <a:rPr lang="en-GB" sz="2400" b="0" i="0" dirty="0">
                <a:solidFill>
                  <a:srgbClr val="222222"/>
                </a:solidFill>
                <a:effectLst/>
                <a:latin typeface="Calibri" panose="020F0502020204030204" pitchFamily="34" charset="0"/>
                <a:cs typeface="Calibri" panose="020F0502020204030204" pitchFamily="34" charset="0"/>
              </a:rPr>
              <a:t>Regression method tries to find the best fit line which shows the relationship between the dependent variable and predictors with least error. </a:t>
            </a:r>
          </a:p>
          <a:p>
            <a:pPr algn="l"/>
            <a:r>
              <a:rPr lang="en-GB" sz="2400" b="0" i="0" dirty="0">
                <a:solidFill>
                  <a:srgbClr val="222222"/>
                </a:solidFill>
                <a:effectLst/>
                <a:latin typeface="Calibri" panose="020F0502020204030204" pitchFamily="34" charset="0"/>
                <a:cs typeface="Calibri" panose="020F0502020204030204" pitchFamily="34" charset="0"/>
              </a:rPr>
              <a:t>In regression, the output/dependent variable is the function of an independent variable and the coefficient and the error term.</a:t>
            </a:r>
          </a:p>
          <a:p>
            <a:r>
              <a:rPr lang="en-GB" sz="2400" b="0" i="0" dirty="0">
                <a:solidFill>
                  <a:srgbClr val="222222"/>
                </a:solidFill>
                <a:effectLst/>
                <a:latin typeface="Calibri" panose="020F0502020204030204" pitchFamily="34" charset="0"/>
                <a:cs typeface="Calibri" panose="020F0502020204030204" pitchFamily="34" charset="0"/>
              </a:rPr>
              <a:t>Linear Regression is the basic form of regression analysis. It assumes that there is a linear relationship between the dependent variable and the predictor(s). </a:t>
            </a:r>
          </a:p>
          <a:p>
            <a:r>
              <a:rPr lang="en-GB" sz="2400" b="0" i="0" dirty="0">
                <a:solidFill>
                  <a:srgbClr val="222222"/>
                </a:solidFill>
                <a:effectLst/>
                <a:latin typeface="Calibri" panose="020F0502020204030204" pitchFamily="34" charset="0"/>
                <a:cs typeface="Calibri" panose="020F0502020204030204" pitchFamily="34" charset="0"/>
              </a:rPr>
              <a:t> </a:t>
            </a:r>
            <a:endParaRPr lang="en-US" sz="2400" dirty="0">
              <a:solidFill>
                <a:schemeClr val="bg2">
                  <a:lumMod val="25000"/>
                </a:schemeClr>
              </a:solidFill>
              <a:latin typeface="Calibri" panose="020F0502020204030204" pitchFamily="34" charset="0"/>
              <a:cs typeface="Calibri" panose="020F0502020204030204" pitchFamily="34" charset="0"/>
            </a:endParaRPr>
          </a:p>
        </p:txBody>
      </p:sp>
      <p:cxnSp>
        <p:nvCxnSpPr>
          <p:cNvPr id="4" name="Straight Connector 3"/>
          <p:cNvCxnSpPr/>
          <p:nvPr/>
        </p:nvCxnSpPr>
        <p:spPr>
          <a:xfrm flipH="1">
            <a:off x="601791" y="1070621"/>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p:cNvCxnSpPr/>
          <p:nvPr/>
        </p:nvCxnSpPr>
        <p:spPr>
          <a:xfrm flipV="1">
            <a:off x="472083" y="423248"/>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a:xfrm flipH="1" flipV="1">
            <a:off x="470171" y="1089589"/>
            <a:ext cx="1912" cy="4298063"/>
          </a:xfrm>
          <a:prstGeom prst="line">
            <a:avLst/>
          </a:prstGeom>
        </p:spPr>
        <p:style>
          <a:lnRef idx="2">
            <a:schemeClr val="dk1"/>
          </a:lnRef>
          <a:fillRef idx="0">
            <a:schemeClr val="dk1"/>
          </a:fillRef>
          <a:effectRef idx="1">
            <a:schemeClr val="dk1"/>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942D6D"/>
                </a:solidFill>
              </a:rPr>
              <a:t>REGRESSION</a:t>
            </a:r>
            <a:endParaRPr lang="en-US" dirty="0">
              <a:solidFill>
                <a:srgbClr val="942D6D"/>
              </a:solidFill>
            </a:endParaRPr>
          </a:p>
        </p:txBody>
      </p:sp>
      <p:sp>
        <p:nvSpPr>
          <p:cNvPr id="3" name="Text Placeholder 2"/>
          <p:cNvSpPr>
            <a:spLocks noGrp="1"/>
          </p:cNvSpPr>
          <p:nvPr>
            <p:ph type="body" sz="quarter" idx="10"/>
          </p:nvPr>
        </p:nvSpPr>
        <p:spPr>
          <a:xfrm>
            <a:off x="748281" y="1521450"/>
            <a:ext cx="10712388" cy="2698858"/>
          </a:xfrm>
        </p:spPr>
        <p:txBody>
          <a:bodyPr/>
          <a:lstStyle/>
          <a:p>
            <a:r>
              <a:rPr lang="en-GB" b="0" i="0" dirty="0">
                <a:solidFill>
                  <a:srgbClr val="222222"/>
                </a:solidFill>
                <a:effectLst/>
                <a:latin typeface="Calibri" panose="020F0502020204030204" pitchFamily="34" charset="0"/>
                <a:cs typeface="Calibri" panose="020F0502020204030204" pitchFamily="34" charset="0"/>
              </a:rPr>
              <a:t>Through the best fit line, we can describe the impact of change in independent variables on the dependent variable. </a:t>
            </a:r>
          </a:p>
          <a:p>
            <a:pPr algn="l"/>
            <a:endParaRPr lang="en-GB" b="0" i="0" dirty="0">
              <a:solidFill>
                <a:srgbClr val="222222"/>
              </a:solidFill>
              <a:effectLst/>
              <a:latin typeface="Poppins" panose="00000500000000000000" pitchFamily="2" charset="0"/>
            </a:endParaRPr>
          </a:p>
          <a:p>
            <a:r>
              <a:rPr lang="en-GB" b="0" i="0" dirty="0">
                <a:solidFill>
                  <a:srgbClr val="222222"/>
                </a:solidFill>
                <a:effectLst/>
                <a:latin typeface="Poppins" panose="00000500000000000000" pitchFamily="2" charset="0"/>
              </a:rPr>
              <a:t> </a:t>
            </a:r>
            <a:endParaRPr lang="en-GB" dirty="0">
              <a:solidFill>
                <a:schemeClr val="tx1">
                  <a:lumMod val="75000"/>
                  <a:lumOff val="25000"/>
                </a:schemeClr>
              </a:solidFill>
            </a:endParaRPr>
          </a:p>
          <a:p>
            <a:endParaRPr lang="en-US" dirty="0">
              <a:solidFill>
                <a:schemeClr val="bg2">
                  <a:lumMod val="25000"/>
                </a:schemeClr>
              </a:solidFill>
            </a:endParaRPr>
          </a:p>
        </p:txBody>
      </p:sp>
      <p:cxnSp>
        <p:nvCxnSpPr>
          <p:cNvPr id="4" name="Straight Connector 3"/>
          <p:cNvCxnSpPr/>
          <p:nvPr/>
        </p:nvCxnSpPr>
        <p:spPr>
          <a:xfrm flipH="1">
            <a:off x="601791" y="1070621"/>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p:cNvCxnSpPr/>
          <p:nvPr/>
        </p:nvCxnSpPr>
        <p:spPr>
          <a:xfrm flipV="1">
            <a:off x="472083" y="423248"/>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a:xfrm flipH="1" flipV="1">
            <a:off x="470171" y="1089589"/>
            <a:ext cx="1912" cy="4298063"/>
          </a:xfrm>
          <a:prstGeom prst="line">
            <a:avLst/>
          </a:prstGeom>
        </p:spPr>
        <p:style>
          <a:lnRef idx="2">
            <a:schemeClr val="dk1"/>
          </a:lnRef>
          <a:fillRef idx="0">
            <a:schemeClr val="dk1"/>
          </a:fillRef>
          <a:effectRef idx="1">
            <a:schemeClr val="dk1"/>
          </a:effectRef>
          <a:fontRef idx="minor">
            <a:schemeClr val="tx1"/>
          </a:fontRef>
        </p:style>
      </p:cxnSp>
      <p:pic>
        <p:nvPicPr>
          <p:cNvPr id="1030"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27539" y="3244645"/>
            <a:ext cx="4838700" cy="1240029"/>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8113" y="2933525"/>
            <a:ext cx="6121198" cy="264419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942D6D"/>
                </a:solidFill>
              </a:rPr>
              <a:t>REGRESSION</a:t>
            </a:r>
            <a:endParaRPr lang="en-US" dirty="0">
              <a:solidFill>
                <a:srgbClr val="942D6D"/>
              </a:solidFill>
            </a:endParaRPr>
          </a:p>
        </p:txBody>
      </p:sp>
      <p:sp>
        <p:nvSpPr>
          <p:cNvPr id="3" name="Text Placeholder 2"/>
          <p:cNvSpPr>
            <a:spLocks noGrp="1"/>
          </p:cNvSpPr>
          <p:nvPr>
            <p:ph type="body" sz="quarter" idx="10"/>
          </p:nvPr>
        </p:nvSpPr>
        <p:spPr>
          <a:xfrm>
            <a:off x="877821" y="1521449"/>
            <a:ext cx="10712388" cy="3815101"/>
          </a:xfrm>
        </p:spPr>
        <p:txBody>
          <a:bodyPr/>
          <a:lstStyle/>
          <a:p>
            <a:pPr marL="342900" indent="-342900">
              <a:buFont typeface="Wingdings" panose="05000000000000000000" pitchFamily="2" charset="2"/>
              <a:buChar char="§"/>
            </a:pPr>
            <a:r>
              <a:rPr lang="en-GB" dirty="0">
                <a:solidFill>
                  <a:schemeClr val="tx1">
                    <a:lumMod val="75000"/>
                    <a:lumOff val="25000"/>
                  </a:schemeClr>
                </a:solidFill>
                <a:latin typeface="Calibri" panose="020F0502020204030204" pitchFamily="34" charset="0"/>
                <a:cs typeface="Calibri" panose="020F0502020204030204" pitchFamily="34" charset="0"/>
              </a:rPr>
              <a:t>Fit a line to a data set of observations </a:t>
            </a:r>
          </a:p>
          <a:p>
            <a:pPr marL="342900" indent="-342900">
              <a:buFont typeface="Wingdings" panose="05000000000000000000" pitchFamily="2" charset="2"/>
              <a:buChar char="§"/>
            </a:pPr>
            <a:r>
              <a:rPr lang="en-GB" dirty="0">
                <a:solidFill>
                  <a:schemeClr val="tx1">
                    <a:lumMod val="75000"/>
                    <a:lumOff val="25000"/>
                  </a:schemeClr>
                </a:solidFill>
                <a:latin typeface="Calibri" panose="020F0502020204030204" pitchFamily="34" charset="0"/>
                <a:cs typeface="Calibri" panose="020F0502020204030204" pitchFamily="34" charset="0"/>
              </a:rPr>
              <a:t>Use this line to predict unobserved values</a:t>
            </a:r>
            <a:endParaRPr lang="en-US" dirty="0">
              <a:solidFill>
                <a:schemeClr val="tx1">
                  <a:lumMod val="75000"/>
                  <a:lumOff val="25000"/>
                </a:schemeClr>
              </a:solidFill>
            </a:endParaRPr>
          </a:p>
        </p:txBody>
      </p:sp>
      <p:cxnSp>
        <p:nvCxnSpPr>
          <p:cNvPr id="4" name="Straight Connector 3"/>
          <p:cNvCxnSpPr/>
          <p:nvPr/>
        </p:nvCxnSpPr>
        <p:spPr>
          <a:xfrm flipH="1">
            <a:off x="601791" y="1070621"/>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p:cNvCxnSpPr/>
          <p:nvPr/>
        </p:nvCxnSpPr>
        <p:spPr>
          <a:xfrm flipV="1">
            <a:off x="472083" y="423248"/>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a:xfrm flipH="1" flipV="1">
            <a:off x="470171" y="1089589"/>
            <a:ext cx="1912" cy="4298063"/>
          </a:xfrm>
          <a:prstGeom prst="line">
            <a:avLst/>
          </a:prstGeom>
        </p:spPr>
        <p:style>
          <a:lnRef idx="2">
            <a:schemeClr val="dk1"/>
          </a:lnRef>
          <a:fillRef idx="0">
            <a:schemeClr val="dk1"/>
          </a:fillRef>
          <a:effectRef idx="1">
            <a:schemeClr val="dk1"/>
          </a:effectRef>
          <a:fontRef idx="minor">
            <a:schemeClr val="tx1"/>
          </a:fontRef>
        </p:style>
      </p:cxnSp>
      <p:pic>
        <p:nvPicPr>
          <p:cNvPr id="8" name="Picture 1" descr="page63image179510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00058" y="2660994"/>
            <a:ext cx="5363056" cy="322718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942D6D"/>
                </a:solidFill>
              </a:rPr>
              <a:t>Minimise the loss</a:t>
            </a:r>
            <a:endParaRPr lang="en-US" dirty="0">
              <a:solidFill>
                <a:srgbClr val="942D6D"/>
              </a:solidFill>
            </a:endParaRPr>
          </a:p>
        </p:txBody>
      </p:sp>
      <p:cxnSp>
        <p:nvCxnSpPr>
          <p:cNvPr id="4" name="Straight Connector 3"/>
          <p:cNvCxnSpPr/>
          <p:nvPr/>
        </p:nvCxnSpPr>
        <p:spPr>
          <a:xfrm flipH="1">
            <a:off x="601791" y="1070621"/>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p:cNvCxnSpPr/>
          <p:nvPr/>
        </p:nvCxnSpPr>
        <p:spPr>
          <a:xfrm flipV="1">
            <a:off x="472083" y="423248"/>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a:xfrm flipH="1" flipV="1">
            <a:off x="470171" y="1089589"/>
            <a:ext cx="1912" cy="4298063"/>
          </a:xfrm>
          <a:prstGeom prst="line">
            <a:avLst/>
          </a:prstGeom>
        </p:spPr>
        <p:style>
          <a:lnRef idx="2">
            <a:schemeClr val="dk1"/>
          </a:lnRef>
          <a:fillRef idx="0">
            <a:schemeClr val="dk1"/>
          </a:fillRef>
          <a:effectRef idx="1">
            <a:schemeClr val="dk1"/>
          </a:effectRef>
          <a:fontRef idx="minor">
            <a:schemeClr val="tx1"/>
          </a:fontRef>
        </p:style>
      </p:cxnSp>
      <p:pic>
        <p:nvPicPr>
          <p:cNvPr id="7" name="Picture 6"/>
          <p:cNvPicPr>
            <a:picLocks noChangeAspect="1"/>
          </p:cNvPicPr>
          <p:nvPr/>
        </p:nvPicPr>
        <p:blipFill>
          <a:blip r:embed="rId2"/>
          <a:stretch>
            <a:fillRect/>
          </a:stretch>
        </p:blipFill>
        <p:spPr>
          <a:xfrm>
            <a:off x="2492523" y="1357978"/>
            <a:ext cx="6472189" cy="516731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942D6D"/>
                </a:solidFill>
              </a:rPr>
              <a:t>Linear regression technique </a:t>
            </a:r>
            <a:r>
              <a:rPr lang="en-GB" dirty="0" err="1">
                <a:solidFill>
                  <a:srgbClr val="942D6D"/>
                </a:solidFill>
              </a:rPr>
              <a:t>i</a:t>
            </a:r>
            <a:endParaRPr lang="en-US" dirty="0">
              <a:solidFill>
                <a:srgbClr val="942D6D"/>
              </a:solidFill>
            </a:endParaRPr>
          </a:p>
        </p:txBody>
      </p:sp>
      <p:cxnSp>
        <p:nvCxnSpPr>
          <p:cNvPr id="4" name="Straight Connector 3"/>
          <p:cNvCxnSpPr/>
          <p:nvPr/>
        </p:nvCxnSpPr>
        <p:spPr>
          <a:xfrm flipH="1">
            <a:off x="601791" y="1070621"/>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p:cNvCxnSpPr/>
          <p:nvPr/>
        </p:nvCxnSpPr>
        <p:spPr>
          <a:xfrm flipV="1">
            <a:off x="472083" y="423248"/>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a:xfrm flipH="1" flipV="1">
            <a:off x="470171" y="1089589"/>
            <a:ext cx="1912" cy="4298063"/>
          </a:xfrm>
          <a:prstGeom prst="line">
            <a:avLst/>
          </a:prstGeom>
        </p:spPr>
        <p:style>
          <a:lnRef idx="2">
            <a:schemeClr val="dk1"/>
          </a:lnRef>
          <a:fillRef idx="0">
            <a:schemeClr val="dk1"/>
          </a:fillRef>
          <a:effectRef idx="1">
            <a:schemeClr val="dk1"/>
          </a:effectRef>
          <a:fontRef idx="minor">
            <a:schemeClr val="tx1"/>
          </a:fontRef>
        </p:style>
      </p:cxnSp>
      <p:sp>
        <p:nvSpPr>
          <p:cNvPr id="7" name="Rectangle 6"/>
          <p:cNvSpPr/>
          <p:nvPr/>
        </p:nvSpPr>
        <p:spPr>
          <a:xfrm>
            <a:off x="470171" y="1299401"/>
            <a:ext cx="7820929" cy="3539430"/>
          </a:xfrm>
          <a:prstGeom prst="rect">
            <a:avLst/>
          </a:prstGeom>
        </p:spPr>
        <p:txBody>
          <a:bodyPr wrap="square">
            <a:spAutoFit/>
          </a:bodyPr>
          <a:lstStyle/>
          <a:p>
            <a:pPr marL="342900" indent="-342900">
              <a:buClr>
                <a:srgbClr val="942F6D"/>
              </a:buClr>
              <a:buFont typeface="Wingdings" panose="05000000000000000000" pitchFamily="2" charset="2"/>
              <a:buChar char="§"/>
            </a:pPr>
            <a:r>
              <a:rPr lang="en-GB" sz="2800" dirty="0"/>
              <a:t>Usually using “least squares” </a:t>
            </a:r>
          </a:p>
          <a:p>
            <a:pPr marL="342900" indent="-342900">
              <a:buClr>
                <a:srgbClr val="942F6D"/>
              </a:buClr>
              <a:buFont typeface="Wingdings" panose="05000000000000000000" pitchFamily="2" charset="2"/>
              <a:buChar char="§"/>
            </a:pPr>
            <a:r>
              <a:rPr lang="en-GB" sz="2800" dirty="0"/>
              <a:t>Minimizes the squared-error between each point and the line </a:t>
            </a:r>
          </a:p>
          <a:p>
            <a:pPr marL="342900" indent="-342900">
              <a:buClr>
                <a:srgbClr val="942F6D"/>
              </a:buClr>
              <a:buFont typeface="Wingdings" panose="05000000000000000000" pitchFamily="2" charset="2"/>
              <a:buChar char="§"/>
            </a:pPr>
            <a:r>
              <a:rPr lang="en-GB" sz="2800" dirty="0"/>
              <a:t>Remember the slope-intercept equation of a line? y=</a:t>
            </a:r>
            <a:r>
              <a:rPr lang="en-GB" sz="2800" dirty="0" err="1"/>
              <a:t>mx+b</a:t>
            </a:r>
            <a:r>
              <a:rPr lang="en-GB" sz="2800" dirty="0"/>
              <a:t> </a:t>
            </a:r>
          </a:p>
          <a:p>
            <a:pPr marL="342900" indent="-342900">
              <a:buClr>
                <a:srgbClr val="942F6D"/>
              </a:buClr>
              <a:buFont typeface="Wingdings" panose="05000000000000000000" pitchFamily="2" charset="2"/>
              <a:buChar char="§"/>
            </a:pPr>
            <a:r>
              <a:rPr lang="en-GB" sz="2800" dirty="0"/>
              <a:t>The slope is the correlation between the two variables times the standard deviation in Y, all divided by the standard deviation in X. </a:t>
            </a:r>
          </a:p>
        </p:txBody>
      </p:sp>
      <p:pic>
        <p:nvPicPr>
          <p:cNvPr id="8" name="Picture 1" descr="page64image180608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93675" y="2356787"/>
            <a:ext cx="3628153" cy="271732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942D6D"/>
                </a:solidFill>
              </a:rPr>
              <a:t>Linear regression technique ii</a:t>
            </a:r>
            <a:endParaRPr lang="en-US" dirty="0">
              <a:solidFill>
                <a:srgbClr val="942D6D"/>
              </a:solidFill>
            </a:endParaRPr>
          </a:p>
        </p:txBody>
      </p:sp>
      <p:cxnSp>
        <p:nvCxnSpPr>
          <p:cNvPr id="4" name="Straight Connector 3"/>
          <p:cNvCxnSpPr/>
          <p:nvPr/>
        </p:nvCxnSpPr>
        <p:spPr>
          <a:xfrm flipH="1">
            <a:off x="601791" y="1070621"/>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p:cNvCxnSpPr/>
          <p:nvPr/>
        </p:nvCxnSpPr>
        <p:spPr>
          <a:xfrm flipV="1">
            <a:off x="472083" y="423248"/>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a:xfrm flipH="1" flipV="1">
            <a:off x="470171" y="1089589"/>
            <a:ext cx="1912" cy="4298063"/>
          </a:xfrm>
          <a:prstGeom prst="line">
            <a:avLst/>
          </a:prstGeom>
        </p:spPr>
        <p:style>
          <a:lnRef idx="2">
            <a:schemeClr val="dk1"/>
          </a:lnRef>
          <a:fillRef idx="0">
            <a:schemeClr val="dk1"/>
          </a:fillRef>
          <a:effectRef idx="1">
            <a:schemeClr val="dk1"/>
          </a:effectRef>
          <a:fontRef idx="minor">
            <a:schemeClr val="tx1"/>
          </a:fontRef>
        </p:style>
      </p:cxnSp>
      <p:sp>
        <p:nvSpPr>
          <p:cNvPr id="7" name="Rectangle 6"/>
          <p:cNvSpPr/>
          <p:nvPr/>
        </p:nvSpPr>
        <p:spPr>
          <a:xfrm>
            <a:off x="470171" y="1553908"/>
            <a:ext cx="8564341" cy="2246769"/>
          </a:xfrm>
          <a:prstGeom prst="rect">
            <a:avLst/>
          </a:prstGeom>
        </p:spPr>
        <p:txBody>
          <a:bodyPr wrap="square">
            <a:spAutoFit/>
          </a:bodyPr>
          <a:lstStyle/>
          <a:p>
            <a:pPr marL="342900" indent="-342900">
              <a:buClr>
                <a:srgbClr val="942F6D"/>
              </a:buClr>
              <a:buFont typeface="Wingdings" panose="05000000000000000000" pitchFamily="2" charset="2"/>
              <a:buChar char="§"/>
            </a:pPr>
            <a:r>
              <a:rPr lang="en-GB" sz="2800" dirty="0"/>
              <a:t>Neat how standard deviation how some real mathematical meaning, eh? </a:t>
            </a:r>
          </a:p>
          <a:p>
            <a:pPr marL="342900" indent="-342900">
              <a:buClr>
                <a:srgbClr val="942F6D"/>
              </a:buClr>
              <a:buFont typeface="Wingdings" panose="05000000000000000000" pitchFamily="2" charset="2"/>
              <a:buChar char="§"/>
            </a:pPr>
            <a:r>
              <a:rPr lang="en-GB" sz="2800" dirty="0"/>
              <a:t>The intercept is the mean of Y minus the slope </a:t>
            </a:r>
            <a:r>
              <a:rPr lang="en-GB" sz="2800" dirty="0">
                <a:solidFill>
                  <a:schemeClr val="tx1">
                    <a:lumMod val="75000"/>
                    <a:lumOff val="25000"/>
                  </a:schemeClr>
                </a:solidFill>
              </a:rPr>
              <a:t>times the mean of X </a:t>
            </a:r>
          </a:p>
          <a:p>
            <a:pPr marL="342900" indent="-342900">
              <a:buClr>
                <a:srgbClr val="942F6D"/>
              </a:buClr>
              <a:buFont typeface="Wingdings" panose="05000000000000000000" pitchFamily="2" charset="2"/>
              <a:buChar char="§"/>
            </a:pPr>
            <a:r>
              <a:rPr lang="en-GB" sz="2800" dirty="0">
                <a:solidFill>
                  <a:schemeClr val="tx1">
                    <a:lumMod val="75000"/>
                    <a:lumOff val="25000"/>
                  </a:schemeClr>
                </a:solidFill>
              </a:rPr>
              <a:t>But Python will do all that for you</a:t>
            </a:r>
            <a:r>
              <a:rPr lang="en-GB" sz="2800" dirty="0">
                <a:solidFill>
                  <a:schemeClr val="tx1">
                    <a:lumMod val="75000"/>
                    <a:lumOff val="25000"/>
                  </a:schemeClr>
                </a:solidFill>
                <a:latin typeface="Calibri" panose="020F0502020204030204" pitchFamily="34" charset="0"/>
              </a:rPr>
              <a:t>. </a:t>
            </a:r>
            <a:endParaRPr lang="en-GB" sz="2800" dirty="0">
              <a:solidFill>
                <a:schemeClr val="tx1">
                  <a:lumMod val="75000"/>
                  <a:lumOff val="25000"/>
                </a:schemeClr>
              </a:solidFill>
              <a:latin typeface="Georgia" panose="02040502050405020303"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942D6D"/>
                </a:solidFill>
              </a:rPr>
              <a:t>How does it work</a:t>
            </a:r>
            <a:endParaRPr lang="en-US" dirty="0">
              <a:solidFill>
                <a:srgbClr val="942D6D"/>
              </a:solidFill>
            </a:endParaRPr>
          </a:p>
        </p:txBody>
      </p:sp>
      <p:sp>
        <p:nvSpPr>
          <p:cNvPr id="3" name="Text Placeholder 2"/>
          <p:cNvSpPr>
            <a:spLocks noGrp="1"/>
          </p:cNvSpPr>
          <p:nvPr>
            <p:ph type="body" sz="quarter" idx="10"/>
          </p:nvPr>
        </p:nvSpPr>
        <p:spPr>
          <a:xfrm>
            <a:off x="877821" y="1521449"/>
            <a:ext cx="10712388" cy="3815101"/>
          </a:xfrm>
        </p:spPr>
        <p:txBody>
          <a:bodyPr/>
          <a:lstStyle/>
          <a:p>
            <a:pPr marL="342900" indent="-342900">
              <a:buFont typeface="Wingdings" panose="05000000000000000000" pitchFamily="2" charset="2"/>
              <a:buChar char="§"/>
            </a:pPr>
            <a:r>
              <a:rPr lang="en-GB" dirty="0">
                <a:solidFill>
                  <a:schemeClr val="tx1">
                    <a:lumMod val="75000"/>
                    <a:lumOff val="25000"/>
                  </a:schemeClr>
                </a:solidFill>
              </a:rPr>
              <a:t>Least squares minimizes the sum of squared errors. </a:t>
            </a:r>
          </a:p>
          <a:p>
            <a:pPr marL="342900" indent="-342900">
              <a:buFont typeface="Wingdings" panose="05000000000000000000" pitchFamily="2" charset="2"/>
              <a:buChar char="§"/>
            </a:pPr>
            <a:endParaRPr lang="en-GB" dirty="0">
              <a:solidFill>
                <a:schemeClr val="tx1">
                  <a:lumMod val="75000"/>
                  <a:lumOff val="25000"/>
                </a:schemeClr>
              </a:solidFill>
            </a:endParaRPr>
          </a:p>
          <a:p>
            <a:pPr marL="342900" indent="-342900">
              <a:buFont typeface="Wingdings" panose="05000000000000000000" pitchFamily="2" charset="2"/>
              <a:buChar char="§"/>
            </a:pPr>
            <a:r>
              <a:rPr lang="en-GB" dirty="0">
                <a:solidFill>
                  <a:schemeClr val="tx1">
                    <a:lumMod val="75000"/>
                    <a:lumOff val="25000"/>
                  </a:schemeClr>
                </a:solidFill>
              </a:rPr>
              <a:t>This is the same as maximizing the likelihood of the observed data if you start thinking of the problem in terms of probabilities and probability distribution functions </a:t>
            </a:r>
          </a:p>
          <a:p>
            <a:pPr marL="342900" indent="-342900">
              <a:buFont typeface="Wingdings" panose="05000000000000000000" pitchFamily="2" charset="2"/>
              <a:buChar char="§"/>
            </a:pPr>
            <a:endParaRPr lang="en-GB" dirty="0">
              <a:solidFill>
                <a:schemeClr val="tx1">
                  <a:lumMod val="75000"/>
                  <a:lumOff val="25000"/>
                </a:schemeClr>
              </a:solidFill>
            </a:endParaRPr>
          </a:p>
          <a:p>
            <a:pPr marL="342900" indent="-342900">
              <a:buFont typeface="Wingdings" panose="05000000000000000000" pitchFamily="2" charset="2"/>
              <a:buChar char="§"/>
            </a:pPr>
            <a:r>
              <a:rPr lang="en-GB" dirty="0">
                <a:solidFill>
                  <a:schemeClr val="tx1">
                    <a:lumMod val="75000"/>
                    <a:lumOff val="25000"/>
                  </a:schemeClr>
                </a:solidFill>
              </a:rPr>
              <a:t>This is sometimes called “maximum likelihood estimation” </a:t>
            </a:r>
          </a:p>
          <a:p>
            <a:endParaRPr lang="en-US" dirty="0">
              <a:solidFill>
                <a:schemeClr val="bg2">
                  <a:lumMod val="25000"/>
                </a:schemeClr>
              </a:solidFill>
            </a:endParaRPr>
          </a:p>
        </p:txBody>
      </p:sp>
      <p:cxnSp>
        <p:nvCxnSpPr>
          <p:cNvPr id="4" name="Straight Connector 3"/>
          <p:cNvCxnSpPr/>
          <p:nvPr/>
        </p:nvCxnSpPr>
        <p:spPr>
          <a:xfrm flipH="1">
            <a:off x="601791" y="1070621"/>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p:cNvCxnSpPr/>
          <p:nvPr/>
        </p:nvCxnSpPr>
        <p:spPr>
          <a:xfrm flipV="1">
            <a:off x="472083" y="423248"/>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a:xfrm flipH="1" flipV="1">
            <a:off x="470171" y="1089589"/>
            <a:ext cx="1912" cy="4298063"/>
          </a:xfrm>
          <a:prstGeom prst="line">
            <a:avLst/>
          </a:prstGeom>
        </p:spPr>
        <p:style>
          <a:lnRef idx="2">
            <a:schemeClr val="dk1"/>
          </a:lnRef>
          <a:fillRef idx="0">
            <a:schemeClr val="dk1"/>
          </a:fillRef>
          <a:effectRef idx="1">
            <a:schemeClr val="dk1"/>
          </a:effectRef>
          <a:fontRef idx="minor">
            <a:schemeClr val="tx1"/>
          </a:fontRef>
        </p:style>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942D6D"/>
                </a:solidFill>
              </a:rPr>
              <a:t>optimiser</a:t>
            </a:r>
            <a:endParaRPr lang="en-US" dirty="0">
              <a:solidFill>
                <a:srgbClr val="942D6D"/>
              </a:solidFill>
            </a:endParaRPr>
          </a:p>
        </p:txBody>
      </p:sp>
      <p:sp>
        <p:nvSpPr>
          <p:cNvPr id="3" name="Text Placeholder 2"/>
          <p:cNvSpPr>
            <a:spLocks noGrp="1"/>
          </p:cNvSpPr>
          <p:nvPr>
            <p:ph type="body" sz="quarter" idx="10"/>
          </p:nvPr>
        </p:nvSpPr>
        <p:spPr>
          <a:xfrm>
            <a:off x="470171" y="1441443"/>
            <a:ext cx="7763591" cy="3815101"/>
          </a:xfrm>
        </p:spPr>
        <p:txBody>
          <a:bodyPr/>
          <a:lstStyle/>
          <a:p>
            <a:pPr marL="342900" indent="-342900">
              <a:buFont typeface="Wingdings" panose="05000000000000000000" pitchFamily="2" charset="2"/>
              <a:buChar char="§"/>
            </a:pPr>
            <a:r>
              <a:rPr lang="en-GB" dirty="0">
                <a:solidFill>
                  <a:schemeClr val="tx1">
                    <a:lumMod val="75000"/>
                    <a:lumOff val="25000"/>
                  </a:schemeClr>
                </a:solidFill>
                <a:latin typeface="Calibri" panose="020F0502020204030204" pitchFamily="34" charset="0"/>
                <a:cs typeface="Calibri" panose="020F0502020204030204" pitchFamily="34" charset="0"/>
              </a:rPr>
              <a:t>Gradient Descent is an alternate method to least squares. </a:t>
            </a:r>
          </a:p>
          <a:p>
            <a:pPr marL="342900" indent="-342900">
              <a:buFont typeface="Wingdings" panose="05000000000000000000" pitchFamily="2" charset="2"/>
              <a:buChar char="§"/>
            </a:pPr>
            <a:r>
              <a:rPr lang="en-GB" dirty="0">
                <a:solidFill>
                  <a:schemeClr val="tx1">
                    <a:lumMod val="75000"/>
                    <a:lumOff val="25000"/>
                  </a:schemeClr>
                </a:solidFill>
                <a:latin typeface="Calibri" panose="020F0502020204030204" pitchFamily="34" charset="0"/>
                <a:cs typeface="Calibri" panose="020F0502020204030204" pitchFamily="34" charset="0"/>
              </a:rPr>
              <a:t>Basically, iterates to find the line that best follows the contours defined by the data. </a:t>
            </a:r>
          </a:p>
          <a:p>
            <a:pPr marL="342900" indent="-342900">
              <a:buFont typeface="Wingdings" panose="05000000000000000000" pitchFamily="2" charset="2"/>
              <a:buChar char="§"/>
            </a:pPr>
            <a:r>
              <a:rPr lang="en-GB" dirty="0">
                <a:solidFill>
                  <a:schemeClr val="tx1">
                    <a:lumMod val="75000"/>
                    <a:lumOff val="25000"/>
                  </a:schemeClr>
                </a:solidFill>
                <a:latin typeface="Calibri" panose="020F0502020204030204" pitchFamily="34" charset="0"/>
                <a:cs typeface="Calibri" panose="020F0502020204030204" pitchFamily="34" charset="0"/>
              </a:rPr>
              <a:t>Can make sense when dealing with 3D data </a:t>
            </a:r>
          </a:p>
          <a:p>
            <a:pPr marL="342900" indent="-342900">
              <a:buFont typeface="Wingdings" panose="05000000000000000000" pitchFamily="2" charset="2"/>
              <a:buChar char="§"/>
            </a:pPr>
            <a:r>
              <a:rPr lang="en-GB" dirty="0">
                <a:solidFill>
                  <a:schemeClr val="tx1">
                    <a:lumMod val="75000"/>
                    <a:lumOff val="25000"/>
                  </a:schemeClr>
                </a:solidFill>
                <a:latin typeface="Calibri" panose="020F0502020204030204" pitchFamily="34" charset="0"/>
                <a:cs typeface="Calibri" panose="020F0502020204030204" pitchFamily="34" charset="0"/>
              </a:rPr>
              <a:t>Easy to try in Python and just compare the results to least squares </a:t>
            </a:r>
          </a:p>
          <a:p>
            <a:pPr marL="342900" indent="-342900">
              <a:buFont typeface="Wingdings" panose="05000000000000000000" pitchFamily="2" charset="2"/>
              <a:buChar char="§"/>
            </a:pPr>
            <a:r>
              <a:rPr lang="en-GB" dirty="0">
                <a:solidFill>
                  <a:schemeClr val="tx1">
                    <a:lumMod val="75000"/>
                    <a:lumOff val="25000"/>
                  </a:schemeClr>
                </a:solidFill>
                <a:latin typeface="Calibri" panose="020F0502020204030204" pitchFamily="34" charset="0"/>
                <a:cs typeface="Calibri" panose="020F0502020204030204" pitchFamily="34" charset="0"/>
              </a:rPr>
              <a:t>But usually, least squares is a perfectly good choice. </a:t>
            </a:r>
          </a:p>
          <a:p>
            <a:endParaRPr lang="en-US" dirty="0">
              <a:solidFill>
                <a:schemeClr val="tx1">
                  <a:lumMod val="75000"/>
                  <a:lumOff val="25000"/>
                </a:schemeClr>
              </a:solidFill>
            </a:endParaRPr>
          </a:p>
        </p:txBody>
      </p:sp>
      <p:cxnSp>
        <p:nvCxnSpPr>
          <p:cNvPr id="4" name="Straight Connector 3"/>
          <p:cNvCxnSpPr/>
          <p:nvPr/>
        </p:nvCxnSpPr>
        <p:spPr>
          <a:xfrm flipH="1">
            <a:off x="601791" y="1070621"/>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p:cNvCxnSpPr/>
          <p:nvPr/>
        </p:nvCxnSpPr>
        <p:spPr>
          <a:xfrm flipV="1">
            <a:off x="472083" y="423248"/>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a:xfrm flipH="1" flipV="1">
            <a:off x="470171" y="1089589"/>
            <a:ext cx="1912" cy="4298063"/>
          </a:xfrm>
          <a:prstGeom prst="line">
            <a:avLst/>
          </a:prstGeom>
        </p:spPr>
        <p:style>
          <a:lnRef idx="2">
            <a:schemeClr val="dk1"/>
          </a:lnRef>
          <a:fillRef idx="0">
            <a:schemeClr val="dk1"/>
          </a:fillRef>
          <a:effectRef idx="1">
            <a:schemeClr val="dk1"/>
          </a:effectRef>
          <a:fontRef idx="minor">
            <a:schemeClr val="tx1"/>
          </a:fontRef>
        </p:style>
      </p:cxnSp>
      <p:pic>
        <p:nvPicPr>
          <p:cNvPr id="8" name="Picture 1" descr="page66image17933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78322" y="1623701"/>
            <a:ext cx="4126284" cy="339163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1791" y="227812"/>
            <a:ext cx="9097686" cy="1068223"/>
          </a:xfrm>
        </p:spPr>
        <p:txBody>
          <a:bodyPr/>
          <a:lstStyle/>
          <a:p>
            <a:r>
              <a:rPr lang="en-GB" dirty="0">
                <a:solidFill>
                  <a:srgbClr val="942D6D"/>
                </a:solidFill>
              </a:rPr>
              <a:t>Measurement error with r-squared</a:t>
            </a:r>
            <a:endParaRPr lang="en-US" dirty="0">
              <a:solidFill>
                <a:srgbClr val="942D6D"/>
              </a:solidFill>
            </a:endParaRPr>
          </a:p>
        </p:txBody>
      </p:sp>
      <p:sp>
        <p:nvSpPr>
          <p:cNvPr id="3" name="Text Placeholder 2"/>
          <p:cNvSpPr>
            <a:spLocks noGrp="1"/>
          </p:cNvSpPr>
          <p:nvPr>
            <p:ph type="body" sz="quarter" idx="10"/>
          </p:nvPr>
        </p:nvSpPr>
        <p:spPr>
          <a:xfrm>
            <a:off x="877821" y="1521449"/>
            <a:ext cx="10712388" cy="3815101"/>
          </a:xfrm>
        </p:spPr>
        <p:txBody>
          <a:bodyPr/>
          <a:lstStyle/>
          <a:p>
            <a:pPr marL="342900" indent="-342900">
              <a:buFont typeface="Wingdings" panose="05000000000000000000" pitchFamily="2" charset="2"/>
              <a:buChar char="§"/>
            </a:pPr>
            <a:r>
              <a:rPr lang="en-GB" dirty="0">
                <a:solidFill>
                  <a:schemeClr val="tx1">
                    <a:lumMod val="75000"/>
                    <a:lumOff val="25000"/>
                  </a:schemeClr>
                </a:solidFill>
              </a:rPr>
              <a:t>How do we measure how well our line fits our data? </a:t>
            </a:r>
          </a:p>
          <a:p>
            <a:pPr marL="342900" indent="-342900">
              <a:buFont typeface="Wingdings" panose="05000000000000000000" pitchFamily="2" charset="2"/>
              <a:buChar char="§"/>
            </a:pPr>
            <a:r>
              <a:rPr lang="en-GB" dirty="0">
                <a:solidFill>
                  <a:schemeClr val="tx1">
                    <a:lumMod val="75000"/>
                    <a:lumOff val="25000"/>
                  </a:schemeClr>
                </a:solidFill>
              </a:rPr>
              <a:t>R-squared (aka coefficient of determination) measures: </a:t>
            </a:r>
          </a:p>
          <a:p>
            <a:pPr marL="342900" indent="-342900">
              <a:buFont typeface="Wingdings" panose="05000000000000000000" pitchFamily="2" charset="2"/>
              <a:buChar char="§"/>
            </a:pPr>
            <a:endParaRPr lang="en-GB" dirty="0">
              <a:solidFill>
                <a:schemeClr val="tx1">
                  <a:lumMod val="75000"/>
                  <a:lumOff val="25000"/>
                </a:schemeClr>
              </a:solidFill>
            </a:endParaRPr>
          </a:p>
          <a:p>
            <a:pPr marL="342900" indent="-342900">
              <a:buClr>
                <a:schemeClr val="accent1"/>
              </a:buClr>
              <a:buFont typeface="Wingdings" panose="05000000000000000000" pitchFamily="2" charset="2"/>
              <a:buChar char="§"/>
            </a:pPr>
            <a:endParaRPr lang="en-GB" dirty="0">
              <a:solidFill>
                <a:schemeClr val="tx1">
                  <a:lumMod val="75000"/>
                  <a:lumOff val="25000"/>
                </a:schemeClr>
              </a:solidFill>
            </a:endParaRPr>
          </a:p>
          <a:p>
            <a:pPr marL="342900" indent="-342900">
              <a:buClr>
                <a:schemeClr val="accent1"/>
              </a:buClr>
              <a:buFont typeface="Wingdings" panose="05000000000000000000" pitchFamily="2" charset="2"/>
              <a:buChar char="§"/>
            </a:pPr>
            <a:endParaRPr lang="en-GB" dirty="0">
              <a:solidFill>
                <a:schemeClr val="tx1">
                  <a:lumMod val="75000"/>
                  <a:lumOff val="25000"/>
                </a:schemeClr>
              </a:solidFill>
            </a:endParaRPr>
          </a:p>
          <a:p>
            <a:pPr marL="342900" indent="-342900">
              <a:buClr>
                <a:schemeClr val="accent1"/>
              </a:buClr>
              <a:buFont typeface="Wingdings" panose="05000000000000000000" pitchFamily="2" charset="2"/>
              <a:buChar char="§"/>
            </a:pPr>
            <a:endParaRPr lang="en-GB" dirty="0">
              <a:solidFill>
                <a:schemeClr val="tx1">
                  <a:lumMod val="75000"/>
                  <a:lumOff val="25000"/>
                </a:schemeClr>
              </a:solidFill>
            </a:endParaRPr>
          </a:p>
          <a:p>
            <a:r>
              <a:rPr lang="en-GB" sz="3600" dirty="0">
                <a:solidFill>
                  <a:schemeClr val="tx1">
                    <a:lumMod val="75000"/>
                    <a:lumOff val="25000"/>
                  </a:schemeClr>
                </a:solidFill>
              </a:rPr>
              <a:t>The fraction of the total variation in Y that is captured by the model </a:t>
            </a:r>
          </a:p>
          <a:p>
            <a:endParaRPr lang="en-US" dirty="0">
              <a:solidFill>
                <a:schemeClr val="bg2">
                  <a:lumMod val="25000"/>
                </a:schemeClr>
              </a:solidFill>
            </a:endParaRPr>
          </a:p>
        </p:txBody>
      </p:sp>
      <p:cxnSp>
        <p:nvCxnSpPr>
          <p:cNvPr id="4" name="Straight Connector 3"/>
          <p:cNvCxnSpPr/>
          <p:nvPr/>
        </p:nvCxnSpPr>
        <p:spPr>
          <a:xfrm flipH="1">
            <a:off x="601791" y="1070621"/>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p:cNvCxnSpPr/>
          <p:nvPr/>
        </p:nvCxnSpPr>
        <p:spPr>
          <a:xfrm flipV="1">
            <a:off x="472083" y="423248"/>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a:xfrm flipH="1" flipV="1">
            <a:off x="470171" y="1089589"/>
            <a:ext cx="1912" cy="4298063"/>
          </a:xfrm>
          <a:prstGeom prst="line">
            <a:avLst/>
          </a:prstGeom>
        </p:spPr>
        <p:style>
          <a:lnRef idx="2">
            <a:schemeClr val="dk1"/>
          </a:lnRef>
          <a:fillRef idx="0">
            <a:schemeClr val="dk1"/>
          </a:fillRef>
          <a:effectRef idx="1">
            <a:schemeClr val="dk1"/>
          </a:effectRef>
          <a:fontRef idx="minor">
            <a:schemeClr val="tx1"/>
          </a:fontRef>
        </p:style>
      </p:cxnSp>
      <p:pic>
        <p:nvPicPr>
          <p:cNvPr id="7" name="Picture 6"/>
          <p:cNvPicPr>
            <a:picLocks noChangeAspect="1"/>
          </p:cNvPicPr>
          <p:nvPr/>
        </p:nvPicPr>
        <p:blipFill>
          <a:blip r:embed="rId3"/>
          <a:stretch>
            <a:fillRect/>
          </a:stretch>
        </p:blipFill>
        <p:spPr>
          <a:xfrm>
            <a:off x="1933795" y="2489199"/>
            <a:ext cx="7670800" cy="18796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412025" y="2628107"/>
            <a:ext cx="5898218" cy="707886"/>
          </a:xfrm>
          <a:prstGeom prst="rect">
            <a:avLst/>
          </a:prstGeom>
        </p:spPr>
        <p:txBody>
          <a:bodyPr wrap="none">
            <a:spAutoFit/>
          </a:bodyPr>
          <a:lstStyle/>
          <a:p>
            <a:r>
              <a:rPr lang="en-GB" sz="4000">
                <a:latin typeface="Calibri" panose="020F0502020204030204" pitchFamily="34" charset="0"/>
              </a:rPr>
              <a:t>Let’s play with an example. </a:t>
            </a:r>
            <a:endParaRPr lang="en-GB" sz="4000">
              <a:effectLst/>
            </a:endParaRPr>
          </a:p>
        </p:txBody>
      </p:sp>
      <p:cxnSp>
        <p:nvCxnSpPr>
          <p:cNvPr id="4" name="Straight Connector 3"/>
          <p:cNvCxnSpPr/>
          <p:nvPr/>
        </p:nvCxnSpPr>
        <p:spPr>
          <a:xfrm flipH="1">
            <a:off x="451743" y="1527821"/>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a:xfrm flipV="1">
            <a:off x="451743" y="837588"/>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7" name="Straight Connector 6"/>
          <p:cNvCxnSpPr/>
          <p:nvPr/>
        </p:nvCxnSpPr>
        <p:spPr>
          <a:xfrm flipV="1">
            <a:off x="449831" y="1670657"/>
            <a:ext cx="0" cy="4572921"/>
          </a:xfrm>
          <a:prstGeom prst="line">
            <a:avLst/>
          </a:prstGeom>
        </p:spPr>
        <p:style>
          <a:lnRef idx="2">
            <a:schemeClr val="dk1"/>
          </a:lnRef>
          <a:fillRef idx="0">
            <a:schemeClr val="dk1"/>
          </a:fillRef>
          <a:effectRef idx="1">
            <a:schemeClr val="dk1"/>
          </a:effectRef>
          <a:fontRef idx="minor">
            <a:schemeClr val="tx1"/>
          </a:fontRef>
        </p:style>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942D6D"/>
                </a:solidFill>
              </a:rPr>
              <a:t>Least square regression-example</a:t>
            </a:r>
            <a:endParaRPr lang="en-US" dirty="0">
              <a:solidFill>
                <a:srgbClr val="942D6D"/>
              </a:solidFill>
            </a:endParaRPr>
          </a:p>
        </p:txBody>
      </p:sp>
      <p:sp>
        <p:nvSpPr>
          <p:cNvPr id="3" name="Text Placeholder 2"/>
          <p:cNvSpPr>
            <a:spLocks noGrp="1"/>
          </p:cNvSpPr>
          <p:nvPr>
            <p:ph type="body" sz="quarter" idx="10"/>
          </p:nvPr>
        </p:nvSpPr>
        <p:spPr>
          <a:xfrm>
            <a:off x="877821" y="1410205"/>
            <a:ext cx="10712388" cy="1457278"/>
          </a:xfrm>
        </p:spPr>
        <p:txBody>
          <a:bodyPr/>
          <a:lstStyle/>
          <a:p>
            <a:r>
              <a:rPr lang="en-GB" b="1" dirty="0">
                <a:solidFill>
                  <a:schemeClr val="tx1">
                    <a:lumMod val="75000"/>
                    <a:lumOff val="25000"/>
                  </a:schemeClr>
                </a:solidFill>
              </a:rPr>
              <a:t>Line of Best Fit </a:t>
            </a:r>
            <a:endParaRPr lang="en-GB" dirty="0">
              <a:solidFill>
                <a:schemeClr val="tx1">
                  <a:lumMod val="75000"/>
                  <a:lumOff val="25000"/>
                </a:schemeClr>
              </a:solidFill>
            </a:endParaRPr>
          </a:p>
          <a:p>
            <a:r>
              <a:rPr lang="en-GB" dirty="0">
                <a:solidFill>
                  <a:schemeClr val="tx1">
                    <a:lumMod val="75000"/>
                    <a:lumOff val="25000"/>
                  </a:schemeClr>
                </a:solidFill>
              </a:rPr>
              <a:t>Imagine you have some points, and want to have a </a:t>
            </a:r>
            <a:r>
              <a:rPr lang="en-GB" b="1" dirty="0">
                <a:solidFill>
                  <a:schemeClr val="tx1">
                    <a:lumMod val="75000"/>
                    <a:lumOff val="25000"/>
                  </a:schemeClr>
                </a:solidFill>
              </a:rPr>
              <a:t>line </a:t>
            </a:r>
            <a:r>
              <a:rPr lang="en-GB" dirty="0">
                <a:solidFill>
                  <a:schemeClr val="tx1">
                    <a:lumMod val="75000"/>
                    <a:lumOff val="25000"/>
                  </a:schemeClr>
                </a:solidFill>
              </a:rPr>
              <a:t>that best fits them like this: </a:t>
            </a:r>
          </a:p>
          <a:p>
            <a:endParaRPr lang="en-US" dirty="0">
              <a:solidFill>
                <a:schemeClr val="bg2">
                  <a:lumMod val="25000"/>
                </a:schemeClr>
              </a:solidFill>
            </a:endParaRPr>
          </a:p>
        </p:txBody>
      </p:sp>
      <p:cxnSp>
        <p:nvCxnSpPr>
          <p:cNvPr id="4" name="Straight Connector 3"/>
          <p:cNvCxnSpPr/>
          <p:nvPr/>
        </p:nvCxnSpPr>
        <p:spPr>
          <a:xfrm flipH="1">
            <a:off x="601791" y="1070621"/>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p:cNvCxnSpPr/>
          <p:nvPr/>
        </p:nvCxnSpPr>
        <p:spPr>
          <a:xfrm flipV="1">
            <a:off x="472083" y="423248"/>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a:xfrm flipH="1" flipV="1">
            <a:off x="470171" y="1089589"/>
            <a:ext cx="1912" cy="4298063"/>
          </a:xfrm>
          <a:prstGeom prst="line">
            <a:avLst/>
          </a:prstGeom>
        </p:spPr>
        <p:style>
          <a:lnRef idx="2">
            <a:schemeClr val="dk1"/>
          </a:lnRef>
          <a:fillRef idx="0">
            <a:schemeClr val="dk1"/>
          </a:fillRef>
          <a:effectRef idx="1">
            <a:schemeClr val="dk1"/>
          </a:effectRef>
          <a:fontRef idx="minor">
            <a:schemeClr val="tx1"/>
          </a:fontRef>
        </p:style>
      </p:cxnSp>
      <p:pic>
        <p:nvPicPr>
          <p:cNvPr id="8" name="Picture 7"/>
          <p:cNvPicPr>
            <a:picLocks noChangeAspect="1"/>
          </p:cNvPicPr>
          <p:nvPr/>
        </p:nvPicPr>
        <p:blipFill>
          <a:blip r:embed="rId3"/>
          <a:stretch>
            <a:fillRect/>
          </a:stretch>
        </p:blipFill>
        <p:spPr>
          <a:xfrm>
            <a:off x="3842427" y="2681003"/>
            <a:ext cx="4920687" cy="2766792"/>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942D6D"/>
                </a:solidFill>
              </a:rPr>
              <a:t>The line</a:t>
            </a:r>
            <a:endParaRPr lang="en-US" dirty="0">
              <a:solidFill>
                <a:srgbClr val="942D6D"/>
              </a:solidFill>
            </a:endParaRPr>
          </a:p>
        </p:txBody>
      </p:sp>
      <p:sp>
        <p:nvSpPr>
          <p:cNvPr id="3" name="Text Placeholder 2"/>
          <p:cNvSpPr>
            <a:spLocks noGrp="1"/>
          </p:cNvSpPr>
          <p:nvPr>
            <p:ph type="body" sz="quarter" idx="10"/>
          </p:nvPr>
        </p:nvSpPr>
        <p:spPr>
          <a:xfrm>
            <a:off x="877821" y="1521449"/>
            <a:ext cx="10712388" cy="3815101"/>
          </a:xfrm>
        </p:spPr>
        <p:txBody>
          <a:bodyPr/>
          <a:lstStyle/>
          <a:p>
            <a:r>
              <a:rPr lang="en-GB" dirty="0">
                <a:solidFill>
                  <a:schemeClr val="tx1">
                    <a:lumMod val="75000"/>
                    <a:lumOff val="25000"/>
                  </a:schemeClr>
                </a:solidFill>
              </a:rPr>
              <a:t>Our aim is to calculate the values </a:t>
            </a:r>
            <a:r>
              <a:rPr lang="en-GB" b="1" dirty="0">
                <a:solidFill>
                  <a:schemeClr val="tx1">
                    <a:lumMod val="75000"/>
                    <a:lumOff val="25000"/>
                  </a:schemeClr>
                </a:solidFill>
              </a:rPr>
              <a:t>m </a:t>
            </a:r>
            <a:r>
              <a:rPr lang="en-GB" dirty="0">
                <a:solidFill>
                  <a:schemeClr val="tx1">
                    <a:lumMod val="75000"/>
                    <a:lumOff val="25000"/>
                  </a:schemeClr>
                </a:solidFill>
              </a:rPr>
              <a:t>(slope) and </a:t>
            </a:r>
            <a:r>
              <a:rPr lang="en-GB" b="1" dirty="0">
                <a:solidFill>
                  <a:schemeClr val="tx1">
                    <a:lumMod val="75000"/>
                    <a:lumOff val="25000"/>
                  </a:schemeClr>
                </a:solidFill>
              </a:rPr>
              <a:t>b </a:t>
            </a:r>
            <a:r>
              <a:rPr lang="en-GB" dirty="0">
                <a:solidFill>
                  <a:schemeClr val="tx1">
                    <a:lumMod val="75000"/>
                    <a:lumOff val="25000"/>
                  </a:schemeClr>
                </a:solidFill>
              </a:rPr>
              <a:t>(y-intercept) in the equation of a line : y = mx + b </a:t>
            </a:r>
          </a:p>
          <a:p>
            <a:pPr marL="0" indent="0">
              <a:buNone/>
            </a:pPr>
            <a:r>
              <a:rPr lang="en-GB" dirty="0">
                <a:solidFill>
                  <a:schemeClr val="tx1">
                    <a:lumMod val="75000"/>
                    <a:lumOff val="25000"/>
                  </a:schemeClr>
                </a:solidFill>
              </a:rPr>
              <a:t>Where: </a:t>
            </a:r>
          </a:p>
          <a:p>
            <a:pPr marL="0" indent="0">
              <a:buNone/>
            </a:pPr>
            <a:r>
              <a:rPr lang="en-GB" b="1" dirty="0">
                <a:solidFill>
                  <a:schemeClr val="tx1">
                    <a:lumMod val="75000"/>
                    <a:lumOff val="25000"/>
                  </a:schemeClr>
                </a:solidFill>
              </a:rPr>
              <a:t>y </a:t>
            </a:r>
            <a:r>
              <a:rPr lang="en-GB" dirty="0">
                <a:solidFill>
                  <a:schemeClr val="tx1">
                    <a:lumMod val="75000"/>
                    <a:lumOff val="25000"/>
                  </a:schemeClr>
                </a:solidFill>
              </a:rPr>
              <a:t>= how far up</a:t>
            </a:r>
            <a:br>
              <a:rPr lang="en-GB" dirty="0">
                <a:solidFill>
                  <a:schemeClr val="tx1">
                    <a:lumMod val="75000"/>
                    <a:lumOff val="25000"/>
                  </a:schemeClr>
                </a:solidFill>
              </a:rPr>
            </a:br>
            <a:r>
              <a:rPr lang="en-GB" b="1" dirty="0">
                <a:solidFill>
                  <a:schemeClr val="tx1">
                    <a:lumMod val="75000"/>
                    <a:lumOff val="25000"/>
                  </a:schemeClr>
                </a:solidFill>
              </a:rPr>
              <a:t>x </a:t>
            </a:r>
            <a:r>
              <a:rPr lang="en-GB" dirty="0">
                <a:solidFill>
                  <a:schemeClr val="tx1">
                    <a:lumMod val="75000"/>
                    <a:lumOff val="25000"/>
                  </a:schemeClr>
                </a:solidFill>
              </a:rPr>
              <a:t>= how far along</a:t>
            </a:r>
            <a:br>
              <a:rPr lang="en-GB" dirty="0">
                <a:solidFill>
                  <a:schemeClr val="tx1">
                    <a:lumMod val="75000"/>
                    <a:lumOff val="25000"/>
                  </a:schemeClr>
                </a:solidFill>
              </a:rPr>
            </a:br>
            <a:r>
              <a:rPr lang="en-GB" b="1" dirty="0">
                <a:solidFill>
                  <a:schemeClr val="tx1">
                    <a:lumMod val="75000"/>
                    <a:lumOff val="25000"/>
                  </a:schemeClr>
                </a:solidFill>
              </a:rPr>
              <a:t>m </a:t>
            </a:r>
            <a:r>
              <a:rPr lang="en-GB" dirty="0">
                <a:solidFill>
                  <a:schemeClr val="tx1">
                    <a:lumMod val="75000"/>
                    <a:lumOff val="25000"/>
                  </a:schemeClr>
                </a:solidFill>
              </a:rPr>
              <a:t>= Slope or Gradient (how steep the line is)</a:t>
            </a:r>
            <a:br>
              <a:rPr lang="en-GB" dirty="0">
                <a:solidFill>
                  <a:schemeClr val="tx1">
                    <a:lumMod val="75000"/>
                    <a:lumOff val="25000"/>
                  </a:schemeClr>
                </a:solidFill>
              </a:rPr>
            </a:br>
            <a:r>
              <a:rPr lang="en-GB" b="1" dirty="0">
                <a:solidFill>
                  <a:schemeClr val="tx1">
                    <a:lumMod val="75000"/>
                    <a:lumOff val="25000"/>
                  </a:schemeClr>
                </a:solidFill>
              </a:rPr>
              <a:t>b </a:t>
            </a:r>
            <a:r>
              <a:rPr lang="en-GB" dirty="0">
                <a:solidFill>
                  <a:schemeClr val="tx1">
                    <a:lumMod val="75000"/>
                    <a:lumOff val="25000"/>
                  </a:schemeClr>
                </a:solidFill>
              </a:rPr>
              <a:t>= the Y Intercept (where the line crosses the Y axis) </a:t>
            </a:r>
          </a:p>
          <a:p>
            <a:endParaRPr lang="en-US" dirty="0">
              <a:solidFill>
                <a:schemeClr val="bg2">
                  <a:lumMod val="25000"/>
                </a:schemeClr>
              </a:solidFill>
            </a:endParaRPr>
          </a:p>
        </p:txBody>
      </p:sp>
      <p:cxnSp>
        <p:nvCxnSpPr>
          <p:cNvPr id="4" name="Straight Connector 3"/>
          <p:cNvCxnSpPr/>
          <p:nvPr/>
        </p:nvCxnSpPr>
        <p:spPr>
          <a:xfrm flipH="1">
            <a:off x="601791" y="1070621"/>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p:cNvCxnSpPr/>
          <p:nvPr/>
        </p:nvCxnSpPr>
        <p:spPr>
          <a:xfrm flipV="1">
            <a:off x="472083" y="423248"/>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a:xfrm flipH="1" flipV="1">
            <a:off x="470171" y="1089589"/>
            <a:ext cx="1912" cy="4298063"/>
          </a:xfrm>
          <a:prstGeom prst="line">
            <a:avLst/>
          </a:prstGeom>
        </p:spPr>
        <p:style>
          <a:lnRef idx="2">
            <a:schemeClr val="dk1"/>
          </a:lnRef>
          <a:fillRef idx="0">
            <a:schemeClr val="dk1"/>
          </a:fillRef>
          <a:effectRef idx="1">
            <a:schemeClr val="dk1"/>
          </a:effectRef>
          <a:fontRef idx="minor">
            <a:schemeClr val="tx1"/>
          </a:fontRef>
        </p:style>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942D6D"/>
                </a:solidFill>
              </a:rPr>
              <a:t>steps</a:t>
            </a:r>
            <a:endParaRPr lang="en-US" dirty="0">
              <a:solidFill>
                <a:srgbClr val="942D6D"/>
              </a:solidFill>
            </a:endParaRPr>
          </a:p>
        </p:txBody>
      </p:sp>
      <p:cxnSp>
        <p:nvCxnSpPr>
          <p:cNvPr id="4" name="Straight Connector 3"/>
          <p:cNvCxnSpPr/>
          <p:nvPr/>
        </p:nvCxnSpPr>
        <p:spPr>
          <a:xfrm flipH="1">
            <a:off x="601791" y="1070621"/>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p:cNvCxnSpPr/>
          <p:nvPr/>
        </p:nvCxnSpPr>
        <p:spPr>
          <a:xfrm flipV="1">
            <a:off x="472083" y="423248"/>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a:xfrm flipH="1" flipV="1">
            <a:off x="470171" y="1089589"/>
            <a:ext cx="1912" cy="4298063"/>
          </a:xfrm>
          <a:prstGeom prst="line">
            <a:avLst/>
          </a:prstGeom>
        </p:spPr>
        <p:style>
          <a:lnRef idx="2">
            <a:schemeClr val="dk1"/>
          </a:lnRef>
          <a:fillRef idx="0">
            <a:schemeClr val="dk1"/>
          </a:fillRef>
          <a:effectRef idx="1">
            <a:schemeClr val="dk1"/>
          </a:effectRef>
          <a:fontRef idx="minor">
            <a:schemeClr val="tx1"/>
          </a:fontRef>
        </p:style>
      </p:cxnSp>
      <p:pic>
        <p:nvPicPr>
          <p:cNvPr id="8" name="Picture 7"/>
          <p:cNvPicPr>
            <a:picLocks noChangeAspect="1"/>
          </p:cNvPicPr>
          <p:nvPr/>
        </p:nvPicPr>
        <p:blipFill>
          <a:blip r:embed="rId2"/>
          <a:stretch>
            <a:fillRect/>
          </a:stretch>
        </p:blipFill>
        <p:spPr>
          <a:xfrm>
            <a:off x="1344712" y="1269978"/>
            <a:ext cx="8354765" cy="4517402"/>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942D6D"/>
                </a:solidFill>
              </a:rPr>
              <a:t>activity</a:t>
            </a:r>
            <a:endParaRPr lang="en-US" dirty="0">
              <a:solidFill>
                <a:srgbClr val="942D6D"/>
              </a:solidFill>
            </a:endParaRPr>
          </a:p>
        </p:txBody>
      </p:sp>
      <p:sp>
        <p:nvSpPr>
          <p:cNvPr id="3" name="Text Placeholder 2"/>
          <p:cNvSpPr>
            <a:spLocks noGrp="1"/>
          </p:cNvSpPr>
          <p:nvPr>
            <p:ph type="body" sz="quarter" idx="10"/>
          </p:nvPr>
        </p:nvSpPr>
        <p:spPr>
          <a:xfrm>
            <a:off x="877821" y="1521450"/>
            <a:ext cx="10712388" cy="966256"/>
          </a:xfrm>
        </p:spPr>
        <p:txBody>
          <a:bodyPr/>
          <a:lstStyle/>
          <a:p>
            <a:r>
              <a:rPr lang="en-GB" dirty="0">
                <a:solidFill>
                  <a:schemeClr val="tx1">
                    <a:lumMod val="75000"/>
                    <a:lumOff val="25000"/>
                  </a:schemeClr>
                </a:solidFill>
              </a:rPr>
              <a:t>Example: Sam found how many </a:t>
            </a:r>
            <a:r>
              <a:rPr lang="en-GB" b="1" dirty="0">
                <a:solidFill>
                  <a:schemeClr val="tx1">
                    <a:lumMod val="75000"/>
                    <a:lumOff val="25000"/>
                  </a:schemeClr>
                </a:solidFill>
              </a:rPr>
              <a:t>hours of sunshine </a:t>
            </a:r>
            <a:r>
              <a:rPr lang="en-GB" dirty="0">
                <a:solidFill>
                  <a:schemeClr val="tx1">
                    <a:lumMod val="75000"/>
                    <a:lumOff val="25000"/>
                  </a:schemeClr>
                </a:solidFill>
              </a:rPr>
              <a:t>vs how many </a:t>
            </a:r>
            <a:r>
              <a:rPr lang="en-GB" b="1" dirty="0">
                <a:solidFill>
                  <a:schemeClr val="tx1">
                    <a:lumMod val="75000"/>
                    <a:lumOff val="25000"/>
                  </a:schemeClr>
                </a:solidFill>
              </a:rPr>
              <a:t>ice creams </a:t>
            </a:r>
            <a:r>
              <a:rPr lang="en-GB" dirty="0">
                <a:solidFill>
                  <a:schemeClr val="tx1">
                    <a:lumMod val="75000"/>
                    <a:lumOff val="25000"/>
                  </a:schemeClr>
                </a:solidFill>
              </a:rPr>
              <a:t>were sold at the shop from Monday to Friday </a:t>
            </a:r>
          </a:p>
          <a:p>
            <a:r>
              <a:rPr lang="en-GB" dirty="0">
                <a:solidFill>
                  <a:schemeClr val="tx1">
                    <a:lumMod val="75000"/>
                    <a:lumOff val="25000"/>
                  </a:schemeClr>
                </a:solidFill>
              </a:rPr>
              <a:t>Calculate Linear regression line using above equation</a:t>
            </a:r>
          </a:p>
          <a:p>
            <a:endParaRPr lang="en-US" dirty="0">
              <a:solidFill>
                <a:schemeClr val="bg2">
                  <a:lumMod val="25000"/>
                </a:schemeClr>
              </a:solidFill>
            </a:endParaRPr>
          </a:p>
        </p:txBody>
      </p:sp>
      <p:cxnSp>
        <p:nvCxnSpPr>
          <p:cNvPr id="4" name="Straight Connector 3"/>
          <p:cNvCxnSpPr/>
          <p:nvPr/>
        </p:nvCxnSpPr>
        <p:spPr>
          <a:xfrm flipH="1">
            <a:off x="601791" y="1070621"/>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p:cNvCxnSpPr/>
          <p:nvPr/>
        </p:nvCxnSpPr>
        <p:spPr>
          <a:xfrm flipV="1">
            <a:off x="472083" y="423248"/>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a:xfrm flipH="1" flipV="1">
            <a:off x="470171" y="1089589"/>
            <a:ext cx="1912" cy="4298063"/>
          </a:xfrm>
          <a:prstGeom prst="line">
            <a:avLst/>
          </a:prstGeom>
        </p:spPr>
        <p:style>
          <a:lnRef idx="2">
            <a:schemeClr val="dk1"/>
          </a:lnRef>
          <a:fillRef idx="0">
            <a:schemeClr val="dk1"/>
          </a:fillRef>
          <a:effectRef idx="1">
            <a:schemeClr val="dk1"/>
          </a:effectRef>
          <a:fontRef idx="minor">
            <a:schemeClr val="tx1"/>
          </a:fontRef>
        </p:style>
      </p:cxnSp>
      <p:pic>
        <p:nvPicPr>
          <p:cNvPr id="7" name="Picture 6"/>
          <p:cNvPicPr>
            <a:picLocks noChangeAspect="1"/>
          </p:cNvPicPr>
          <p:nvPr/>
        </p:nvPicPr>
        <p:blipFill>
          <a:blip r:embed="rId2"/>
          <a:stretch>
            <a:fillRect/>
          </a:stretch>
        </p:blipFill>
        <p:spPr>
          <a:xfrm>
            <a:off x="3733426" y="2856007"/>
            <a:ext cx="3852527" cy="3028576"/>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8251" y="775823"/>
            <a:ext cx="9097686" cy="1068223"/>
          </a:xfrm>
        </p:spPr>
        <p:txBody>
          <a:bodyPr/>
          <a:lstStyle/>
          <a:p>
            <a:r>
              <a:rPr lang="en-GB" dirty="0"/>
              <a:t>Recap (Summary)</a:t>
            </a:r>
            <a:endParaRPr lang="en-US" dirty="0"/>
          </a:p>
        </p:txBody>
      </p:sp>
      <p:sp>
        <p:nvSpPr>
          <p:cNvPr id="3" name="Text Placeholder 2"/>
          <p:cNvSpPr>
            <a:spLocks noGrp="1"/>
          </p:cNvSpPr>
          <p:nvPr>
            <p:ph type="body" sz="quarter" idx="10"/>
          </p:nvPr>
        </p:nvSpPr>
        <p:spPr>
          <a:xfrm>
            <a:off x="-726" y="1530785"/>
            <a:ext cx="11808823" cy="4940373"/>
          </a:xfrm>
        </p:spPr>
        <p:txBody>
          <a:bodyPr/>
          <a:lstStyle/>
          <a:p>
            <a:r>
              <a:rPr lang="en-US" sz="2400" b="0" i="0" dirty="0">
                <a:solidFill>
                  <a:srgbClr val="111111"/>
                </a:solidFill>
                <a:effectLst/>
                <a:latin typeface="Calibri" panose="020F0502020204030204" pitchFamily="34" charset="0"/>
                <a:cs typeface="Calibri" panose="020F0502020204030204" pitchFamily="34" charset="0"/>
              </a:rPr>
              <a:t>Linear regression: Determine association between a dependent variable and a series of other independent variables. </a:t>
            </a:r>
          </a:p>
          <a:p>
            <a:r>
              <a:rPr lang="en-US" sz="2400" dirty="0">
                <a:solidFill>
                  <a:srgbClr val="111111"/>
                </a:solidFill>
                <a:latin typeface="Calibri" panose="020F0502020204030204" pitchFamily="34" charset="0"/>
                <a:cs typeface="Calibri" panose="020F0502020204030204" pitchFamily="34" charset="0"/>
              </a:rPr>
              <a:t>Results in a </a:t>
            </a:r>
            <a:r>
              <a:rPr lang="en-US" sz="2400" b="0" i="0" dirty="0">
                <a:solidFill>
                  <a:srgbClr val="111111"/>
                </a:solidFill>
                <a:effectLst/>
                <a:latin typeface="Calibri" panose="020F0502020204030204" pitchFamily="34" charset="0"/>
                <a:cs typeface="Calibri" panose="020F0502020204030204" pitchFamily="34" charset="0"/>
              </a:rPr>
              <a:t>models to make predictions, such as predicting a company's stock price.</a:t>
            </a:r>
          </a:p>
          <a:p>
            <a:r>
              <a:rPr lang="en-US" sz="2400" b="0" i="0" dirty="0">
                <a:solidFill>
                  <a:srgbClr val="111111"/>
                </a:solidFill>
                <a:effectLst/>
                <a:latin typeface="Calibri" panose="020F0502020204030204" pitchFamily="34" charset="0"/>
                <a:cs typeface="Calibri" panose="020F0502020204030204" pitchFamily="34" charset="0"/>
              </a:rPr>
              <a:t>Showing the data in a scatter plot is ideal for determining the strength of the relationship between </a:t>
            </a:r>
            <a:r>
              <a:rPr lang="en-US" sz="2400" b="0" i="1" dirty="0">
                <a:solidFill>
                  <a:srgbClr val="111111"/>
                </a:solidFill>
                <a:effectLst/>
                <a:latin typeface="Calibri" panose="020F0502020204030204" pitchFamily="34" charset="0"/>
                <a:cs typeface="Calibri" panose="020F0502020204030204" pitchFamily="34" charset="0"/>
              </a:rPr>
              <a:t>explanatory</a:t>
            </a:r>
            <a:r>
              <a:rPr lang="en-US" sz="2400" b="0" i="0" dirty="0">
                <a:solidFill>
                  <a:srgbClr val="111111"/>
                </a:solidFill>
                <a:effectLst/>
                <a:latin typeface="Calibri" panose="020F0502020204030204" pitchFamily="34" charset="0"/>
                <a:cs typeface="Calibri" panose="020F0502020204030204" pitchFamily="34" charset="0"/>
              </a:rPr>
              <a:t> (independent) and </a:t>
            </a:r>
            <a:r>
              <a:rPr lang="en-US" sz="2400" b="0" i="1" dirty="0">
                <a:solidFill>
                  <a:srgbClr val="111111"/>
                </a:solidFill>
                <a:effectLst/>
                <a:latin typeface="Calibri" panose="020F0502020204030204" pitchFamily="34" charset="0"/>
                <a:cs typeface="Calibri" panose="020F0502020204030204" pitchFamily="34" charset="0"/>
              </a:rPr>
              <a:t>dependent</a:t>
            </a:r>
            <a:r>
              <a:rPr lang="en-US" sz="2400" b="0" i="0" dirty="0">
                <a:solidFill>
                  <a:srgbClr val="111111"/>
                </a:solidFill>
                <a:effectLst/>
                <a:latin typeface="Calibri" panose="020F0502020204030204" pitchFamily="34" charset="0"/>
                <a:cs typeface="Calibri" panose="020F0502020204030204" pitchFamily="34" charset="0"/>
              </a:rPr>
              <a:t> variables. </a:t>
            </a:r>
          </a:p>
          <a:p>
            <a:r>
              <a:rPr lang="en-US" sz="2400" b="0" i="0" dirty="0">
                <a:solidFill>
                  <a:srgbClr val="111111"/>
                </a:solidFill>
                <a:effectLst/>
                <a:latin typeface="Calibri" panose="020F0502020204030204" pitchFamily="34" charset="0"/>
                <a:cs typeface="Calibri" panose="020F0502020204030204" pitchFamily="34" charset="0"/>
              </a:rPr>
              <a:t>Increasing or decreasing trends after applying a linear regression model are observed for making a decision on applying linear model for prediction</a:t>
            </a:r>
          </a:p>
          <a:p>
            <a:r>
              <a:rPr lang="en-US" sz="2400" b="1" i="0" dirty="0">
                <a:solidFill>
                  <a:srgbClr val="111111"/>
                </a:solidFill>
                <a:effectLst/>
                <a:latin typeface="Calibri" panose="020F0502020204030204" pitchFamily="34" charset="0"/>
                <a:cs typeface="Calibri" panose="020F0502020204030204" pitchFamily="34" charset="0"/>
              </a:rPr>
              <a:t>Correlation coefficients</a:t>
            </a:r>
            <a:r>
              <a:rPr lang="en-US" sz="2400" b="0" i="0" dirty="0">
                <a:solidFill>
                  <a:srgbClr val="111111"/>
                </a:solidFill>
                <a:effectLst/>
                <a:latin typeface="Calibri" panose="020F0502020204030204" pitchFamily="34" charset="0"/>
                <a:cs typeface="Calibri" panose="020F0502020204030204" pitchFamily="34" charset="0"/>
              </a:rPr>
              <a:t> are used to calculate how strong a relationship is between two variables. </a:t>
            </a:r>
          </a:p>
          <a:p>
            <a:r>
              <a:rPr lang="en-US" sz="2400" dirty="0">
                <a:solidFill>
                  <a:srgbClr val="111111"/>
                </a:solidFill>
                <a:latin typeface="Calibri" panose="020F0502020204030204" pitchFamily="34" charset="0"/>
                <a:cs typeface="Calibri" panose="020F0502020204030204" pitchFamily="34" charset="0"/>
              </a:rPr>
              <a:t>Denoted </a:t>
            </a:r>
            <a:r>
              <a:rPr lang="en-US" sz="2400" b="0" i="0" dirty="0">
                <a:solidFill>
                  <a:srgbClr val="111111"/>
                </a:solidFill>
                <a:effectLst/>
                <a:latin typeface="Calibri" panose="020F0502020204030204" pitchFamily="34" charset="0"/>
                <a:cs typeface="Calibri" panose="020F0502020204030204" pitchFamily="34" charset="0"/>
              </a:rPr>
              <a:t>by </a:t>
            </a:r>
            <a:r>
              <a:rPr lang="en-US" sz="2400" b="1" i="0" dirty="0">
                <a:solidFill>
                  <a:srgbClr val="111111"/>
                </a:solidFill>
                <a:effectLst/>
                <a:latin typeface="Calibri" panose="020F0502020204030204" pitchFamily="34" charset="0"/>
                <a:cs typeface="Calibri" panose="020F0502020204030204" pitchFamily="34" charset="0"/>
              </a:rPr>
              <a:t>r</a:t>
            </a:r>
            <a:r>
              <a:rPr lang="en-US" sz="2400" b="0" i="0" dirty="0">
                <a:solidFill>
                  <a:srgbClr val="111111"/>
                </a:solidFill>
                <a:effectLst/>
                <a:latin typeface="Calibri" panose="020F0502020204030204" pitchFamily="34" charset="0"/>
                <a:cs typeface="Calibri" panose="020F0502020204030204" pitchFamily="34" charset="0"/>
              </a:rPr>
              <a:t> and has a value between -1 and 1.  </a:t>
            </a:r>
            <a:endParaRPr lang="en-US" sz="2400" dirty="0">
              <a:latin typeface="Calibri" panose="020F0502020204030204" pitchFamily="34" charset="0"/>
              <a:cs typeface="Calibri" panose="020F0502020204030204" pitchFamily="34" charset="0"/>
            </a:endParaRPr>
          </a:p>
          <a:p>
            <a:endParaRPr lang="en-US" sz="2400" dirty="0">
              <a:latin typeface="Calibri" panose="020F0502020204030204" pitchFamily="34" charset="0"/>
              <a:cs typeface="Calibri" panose="020F0502020204030204"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0016" y="775823"/>
            <a:ext cx="9097686" cy="1068223"/>
          </a:xfrm>
        </p:spPr>
        <p:txBody>
          <a:bodyPr/>
          <a:lstStyle/>
          <a:p>
            <a:r>
              <a:rPr lang="en-US" dirty="0"/>
              <a:t>examples</a:t>
            </a:r>
          </a:p>
        </p:txBody>
      </p:sp>
      <p:sp>
        <p:nvSpPr>
          <p:cNvPr id="3" name="Text Placeholder 2"/>
          <p:cNvSpPr>
            <a:spLocks noGrp="1"/>
          </p:cNvSpPr>
          <p:nvPr>
            <p:ph type="body" sz="quarter" idx="10"/>
          </p:nvPr>
        </p:nvSpPr>
        <p:spPr>
          <a:xfrm>
            <a:off x="230315" y="1383732"/>
            <a:ext cx="11248833" cy="5302056"/>
          </a:xfrm>
        </p:spPr>
        <p:txBody>
          <a:bodyPr/>
          <a:lstStyle/>
          <a:p>
            <a:pPr algn="l"/>
            <a:r>
              <a:rPr lang="en-US" b="0" i="0" dirty="0">
                <a:solidFill>
                  <a:srgbClr val="111111"/>
                </a:solidFill>
                <a:effectLst/>
                <a:latin typeface="Calibri" panose="020F0502020204030204" pitchFamily="34" charset="0"/>
                <a:cs typeface="Calibri" panose="020F0502020204030204" pitchFamily="34" charset="0"/>
              </a:rPr>
              <a:t>Relationship between study time and grades, you’d probably see a positive relationship. </a:t>
            </a:r>
          </a:p>
          <a:p>
            <a:pPr algn="l"/>
            <a:r>
              <a:rPr lang="en-US" b="0" i="0" dirty="0">
                <a:solidFill>
                  <a:srgbClr val="111111"/>
                </a:solidFill>
                <a:effectLst/>
                <a:latin typeface="Calibri" panose="020F0502020204030204" pitchFamily="34" charset="0"/>
                <a:cs typeface="Calibri" panose="020F0502020204030204" pitchFamily="34" charset="0"/>
              </a:rPr>
              <a:t>Relationship between time on social media and grades, you'll most likely see a negative relationship.</a:t>
            </a:r>
          </a:p>
          <a:p>
            <a:pPr algn="l"/>
            <a:r>
              <a:rPr lang="en-US" b="0" i="0" dirty="0">
                <a:solidFill>
                  <a:srgbClr val="111111"/>
                </a:solidFill>
                <a:effectLst/>
                <a:latin typeface="Calibri" panose="020F0502020204030204" pitchFamily="34" charset="0"/>
                <a:cs typeface="Calibri" panose="020F0502020204030204" pitchFamily="34" charset="0"/>
              </a:rPr>
              <a:t>“grades” : dependent variable</a:t>
            </a:r>
          </a:p>
          <a:p>
            <a:pPr algn="l"/>
            <a:r>
              <a:rPr lang="en-US" b="0" i="0" dirty="0">
                <a:solidFill>
                  <a:srgbClr val="111111"/>
                </a:solidFill>
                <a:effectLst/>
                <a:latin typeface="Calibri" panose="020F0502020204030204" pitchFamily="34" charset="0"/>
                <a:cs typeface="Calibri" panose="020F0502020204030204" pitchFamily="34" charset="0"/>
              </a:rPr>
              <a:t>time spent studying or on social </a:t>
            </a:r>
            <a:r>
              <a:rPr lang="en-US" b="0" i="0" dirty="0" err="1">
                <a:solidFill>
                  <a:srgbClr val="111111"/>
                </a:solidFill>
                <a:effectLst/>
                <a:latin typeface="Calibri" panose="020F0502020204030204" pitchFamily="34" charset="0"/>
                <a:cs typeface="Calibri" panose="020F0502020204030204" pitchFamily="34" charset="0"/>
              </a:rPr>
              <a:t>media:independent</a:t>
            </a:r>
            <a:r>
              <a:rPr lang="en-US" b="0" i="0" dirty="0">
                <a:solidFill>
                  <a:srgbClr val="111111"/>
                </a:solidFill>
                <a:effectLst/>
                <a:latin typeface="Calibri" panose="020F0502020204030204" pitchFamily="34" charset="0"/>
                <a:cs typeface="Calibri" panose="020F0502020204030204" pitchFamily="34" charset="0"/>
              </a:rPr>
              <a:t> variable. </a:t>
            </a:r>
          </a:p>
          <a:p>
            <a:pPr algn="l"/>
            <a:r>
              <a:rPr lang="en-US" b="0" i="0" dirty="0">
                <a:solidFill>
                  <a:srgbClr val="111111"/>
                </a:solidFill>
                <a:effectLst/>
                <a:latin typeface="Calibri" panose="020F0502020204030204" pitchFamily="34" charset="0"/>
                <a:cs typeface="Calibri" panose="020F0502020204030204" pitchFamily="34" charset="0"/>
              </a:rPr>
              <a:t>grades depend t on how much time you spend studying.</a:t>
            </a:r>
          </a:p>
          <a:p>
            <a:r>
              <a:rPr lang="en-US" b="0" i="0" dirty="0">
                <a:solidFill>
                  <a:srgbClr val="111111"/>
                </a:solidFill>
                <a:effectLst/>
                <a:latin typeface="Calibri" panose="020F0502020204030204" pitchFamily="34" charset="0"/>
                <a:cs typeface="Calibri" panose="020F0502020204030204" pitchFamily="34" charset="0"/>
              </a:rPr>
              <a:t>A linear regression line is a line which is a straight line.</a:t>
            </a:r>
            <a:endParaRPr lang="en-US" dirty="0">
              <a:latin typeface="Calibri" panose="020F0502020204030204" pitchFamily="34" charset="0"/>
              <a:cs typeface="Calibri" panose="020F050202020403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Simple linear equation</a:t>
            </a:r>
          </a:p>
        </p:txBody>
      </p:sp>
      <p:sp>
        <p:nvSpPr>
          <p:cNvPr id="3" name="Text Placeholder 2"/>
          <p:cNvSpPr>
            <a:spLocks noGrp="1"/>
          </p:cNvSpPr>
          <p:nvPr>
            <p:ph type="body" sz="quarter" idx="10"/>
          </p:nvPr>
        </p:nvSpPr>
        <p:spPr>
          <a:xfrm>
            <a:off x="601791" y="1354776"/>
            <a:ext cx="10994852" cy="4753416"/>
          </a:xfrm>
        </p:spPr>
        <p:txBody>
          <a:bodyPr/>
          <a:lstStyle/>
          <a:p>
            <a:pPr algn="l">
              <a:buFont typeface="Arial" panose="020B0604020202020204" pitchFamily="34" charset="0"/>
              <a:buChar char="•"/>
            </a:pPr>
            <a:r>
              <a:rPr lang="en-US" b="1" i="0" dirty="0">
                <a:solidFill>
                  <a:srgbClr val="111111"/>
                </a:solidFill>
                <a:effectLst/>
                <a:latin typeface="Calibri" panose="020F0502020204030204" pitchFamily="34" charset="0"/>
                <a:cs typeface="Calibri" panose="020F0502020204030204" pitchFamily="34" charset="0"/>
              </a:rPr>
              <a:t>y</a:t>
            </a:r>
            <a:r>
              <a:rPr lang="en-US" b="0" i="0" dirty="0">
                <a:solidFill>
                  <a:srgbClr val="111111"/>
                </a:solidFill>
                <a:effectLst/>
                <a:latin typeface="Calibri" panose="020F0502020204030204" pitchFamily="34" charset="0"/>
                <a:cs typeface="Calibri" panose="020F0502020204030204" pitchFamily="34" charset="0"/>
              </a:rPr>
              <a:t> is the estimated </a:t>
            </a:r>
            <a:r>
              <a:rPr lang="en-US" b="0" i="0" dirty="0" err="1">
                <a:solidFill>
                  <a:srgbClr val="111111"/>
                </a:solidFill>
                <a:effectLst/>
                <a:latin typeface="Calibri" panose="020F0502020204030204" pitchFamily="34" charset="0"/>
                <a:cs typeface="Calibri" panose="020F0502020204030204" pitchFamily="34" charset="0"/>
              </a:rPr>
              <a:t>dependant</a:t>
            </a:r>
            <a:r>
              <a:rPr lang="en-US" b="0" i="0" dirty="0">
                <a:solidFill>
                  <a:srgbClr val="111111"/>
                </a:solidFill>
                <a:effectLst/>
                <a:latin typeface="Calibri" panose="020F0502020204030204" pitchFamily="34" charset="0"/>
                <a:cs typeface="Calibri" panose="020F0502020204030204" pitchFamily="34" charset="0"/>
              </a:rPr>
              <a:t> variable (or the output)</a:t>
            </a:r>
          </a:p>
          <a:p>
            <a:pPr algn="l">
              <a:buFont typeface="Arial" panose="020B0604020202020204" pitchFamily="34" charset="0"/>
              <a:buChar char="•"/>
            </a:pPr>
            <a:r>
              <a:rPr lang="en-US" b="1" i="0" dirty="0">
                <a:solidFill>
                  <a:srgbClr val="111111"/>
                </a:solidFill>
                <a:effectLst/>
                <a:latin typeface="Calibri" panose="020F0502020204030204" pitchFamily="34" charset="0"/>
                <a:cs typeface="Calibri" panose="020F0502020204030204" pitchFamily="34" charset="0"/>
              </a:rPr>
              <a:t>m</a:t>
            </a:r>
            <a:r>
              <a:rPr lang="en-US" b="0" i="0" dirty="0">
                <a:solidFill>
                  <a:srgbClr val="111111"/>
                </a:solidFill>
                <a:effectLst/>
                <a:latin typeface="Calibri" panose="020F0502020204030204" pitchFamily="34" charset="0"/>
                <a:cs typeface="Calibri" panose="020F0502020204030204" pitchFamily="34" charset="0"/>
              </a:rPr>
              <a:t> is the regression coefficient (or the slope)</a:t>
            </a:r>
          </a:p>
          <a:p>
            <a:pPr algn="l">
              <a:buFont typeface="Arial" panose="020B0604020202020204" pitchFamily="34" charset="0"/>
              <a:buChar char="•"/>
            </a:pPr>
            <a:r>
              <a:rPr lang="en-US" b="1" i="0" dirty="0">
                <a:solidFill>
                  <a:srgbClr val="111111"/>
                </a:solidFill>
                <a:effectLst/>
                <a:latin typeface="Calibri" panose="020F0502020204030204" pitchFamily="34" charset="0"/>
                <a:cs typeface="Calibri" panose="020F0502020204030204" pitchFamily="34" charset="0"/>
              </a:rPr>
              <a:t>x</a:t>
            </a:r>
            <a:r>
              <a:rPr lang="en-US" b="0" i="0" dirty="0">
                <a:solidFill>
                  <a:srgbClr val="111111"/>
                </a:solidFill>
                <a:effectLst/>
                <a:latin typeface="Calibri" panose="020F0502020204030204" pitchFamily="34" charset="0"/>
                <a:cs typeface="Calibri" panose="020F0502020204030204" pitchFamily="34" charset="0"/>
              </a:rPr>
              <a:t> is the independent variable (or the input)</a:t>
            </a:r>
          </a:p>
          <a:p>
            <a:pPr algn="l">
              <a:buFont typeface="Arial" panose="020B0604020202020204" pitchFamily="34" charset="0"/>
              <a:buChar char="•"/>
            </a:pPr>
            <a:r>
              <a:rPr lang="en-US" b="1" dirty="0">
                <a:solidFill>
                  <a:srgbClr val="111111"/>
                </a:solidFill>
                <a:latin typeface="Calibri" panose="020F0502020204030204" pitchFamily="34" charset="0"/>
                <a:cs typeface="Calibri" panose="020F0502020204030204" pitchFamily="34" charset="0"/>
              </a:rPr>
              <a:t>c</a:t>
            </a:r>
            <a:r>
              <a:rPr lang="en-US" b="0" i="0" dirty="0">
                <a:solidFill>
                  <a:srgbClr val="111111"/>
                </a:solidFill>
                <a:effectLst/>
                <a:latin typeface="Calibri" panose="020F0502020204030204" pitchFamily="34" charset="0"/>
                <a:cs typeface="Calibri" panose="020F0502020204030204" pitchFamily="34" charset="0"/>
              </a:rPr>
              <a:t> is the constant (or the y-intercept)</a:t>
            </a:r>
          </a:p>
          <a:p>
            <a:pPr algn="l"/>
            <a:r>
              <a:rPr lang="en-US" b="0" i="0" dirty="0">
                <a:solidFill>
                  <a:srgbClr val="111111"/>
                </a:solidFill>
                <a:effectLst/>
                <a:latin typeface="Calibri" panose="020F0502020204030204" pitchFamily="34" charset="0"/>
                <a:cs typeface="Calibri" panose="020F0502020204030204" pitchFamily="34" charset="0"/>
              </a:rPr>
              <a:t>Finding the relationship between variables makes it possible to predict values or outcomes. In other words, linear regression makes it possible to predict new values based on existing data.</a:t>
            </a:r>
            <a:endParaRPr lang="en-US" b="0" i="0" dirty="0">
              <a:solidFill>
                <a:srgbClr val="111111"/>
              </a:solidFill>
              <a:effectLst/>
              <a:latin typeface="Barlow" panose="00000500000000000000" pitchFamily="2" charset="0"/>
            </a:endParaRPr>
          </a:p>
          <a:p>
            <a:r>
              <a:rPr lang="en-US" dirty="0"/>
              <a:t>Y=</a:t>
            </a:r>
            <a:r>
              <a:rPr lang="en-US" dirty="0" err="1"/>
              <a:t>mx+c</a:t>
            </a: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9906" y="418920"/>
            <a:ext cx="9588138" cy="1401632"/>
          </a:xfrm>
        </p:spPr>
        <p:txBody>
          <a:bodyPr/>
          <a:lstStyle/>
          <a:p>
            <a:r>
              <a:rPr lang="en-US" dirty="0"/>
              <a:t>Key terminologies in linear regression</a:t>
            </a:r>
          </a:p>
        </p:txBody>
      </p:sp>
      <p:sp>
        <p:nvSpPr>
          <p:cNvPr id="3" name="Text Placeholder 2"/>
          <p:cNvSpPr>
            <a:spLocks noGrp="1"/>
          </p:cNvSpPr>
          <p:nvPr>
            <p:ph type="body" sz="quarter" idx="10"/>
          </p:nvPr>
        </p:nvSpPr>
        <p:spPr>
          <a:xfrm>
            <a:off x="133096" y="1524035"/>
            <a:ext cx="11311128" cy="4598127"/>
          </a:xfrm>
        </p:spPr>
        <p:txBody>
          <a:bodyPr/>
          <a:lstStyle/>
          <a:p>
            <a:pPr algn="l">
              <a:buFont typeface="Arial" panose="020B0604020202020204" pitchFamily="34" charset="0"/>
              <a:buChar char="•"/>
            </a:pPr>
            <a:r>
              <a:rPr lang="en-US" sz="2200" b="1" i="0" dirty="0">
                <a:solidFill>
                  <a:srgbClr val="111111"/>
                </a:solidFill>
                <a:effectLst/>
                <a:latin typeface="Calibri" panose="020F0502020204030204" pitchFamily="34" charset="0"/>
                <a:cs typeface="Calibri" panose="020F0502020204030204" pitchFamily="34" charset="0"/>
              </a:rPr>
              <a:t>Variable:</a:t>
            </a:r>
            <a:r>
              <a:rPr lang="en-US" sz="2200" b="0" i="0" dirty="0">
                <a:solidFill>
                  <a:srgbClr val="111111"/>
                </a:solidFill>
                <a:effectLst/>
                <a:latin typeface="Calibri" panose="020F0502020204030204" pitchFamily="34" charset="0"/>
                <a:cs typeface="Calibri" panose="020F0502020204030204" pitchFamily="34" charset="0"/>
              </a:rPr>
              <a:t> number, quantity, or characteristic that can be counted or measured, also called a data item. Income, age, speed, and gender etc.</a:t>
            </a:r>
          </a:p>
          <a:p>
            <a:pPr algn="l">
              <a:buFont typeface="Arial" panose="020B0604020202020204" pitchFamily="34" charset="0"/>
              <a:buChar char="•"/>
            </a:pPr>
            <a:r>
              <a:rPr lang="en-US" sz="2200" b="1" i="0" dirty="0">
                <a:solidFill>
                  <a:srgbClr val="111111"/>
                </a:solidFill>
                <a:effectLst/>
                <a:latin typeface="Calibri" panose="020F0502020204030204" pitchFamily="34" charset="0"/>
                <a:cs typeface="Calibri" panose="020F0502020204030204" pitchFamily="34" charset="0"/>
              </a:rPr>
              <a:t>Coefficient:</a:t>
            </a:r>
            <a:r>
              <a:rPr lang="en-US" sz="2200" b="0" i="0" dirty="0">
                <a:solidFill>
                  <a:srgbClr val="111111"/>
                </a:solidFill>
                <a:effectLst/>
                <a:latin typeface="Calibri" panose="020F0502020204030204" pitchFamily="34" charset="0"/>
                <a:cs typeface="Calibri" panose="020F0502020204030204" pitchFamily="34" charset="0"/>
              </a:rPr>
              <a:t> It's a number (usually an integer) multiplied with the variable next to it. For instance, in 7x, the number 7 is the coefficient.</a:t>
            </a:r>
          </a:p>
          <a:p>
            <a:r>
              <a:rPr lang="en-US" sz="2200" b="1" i="0" dirty="0">
                <a:solidFill>
                  <a:srgbClr val="111111"/>
                </a:solidFill>
                <a:effectLst/>
                <a:latin typeface="Calibri" panose="020F0502020204030204" pitchFamily="34" charset="0"/>
                <a:cs typeface="Calibri" panose="020F0502020204030204" pitchFamily="34" charset="0"/>
              </a:rPr>
              <a:t>Outliers:</a:t>
            </a:r>
            <a:r>
              <a:rPr lang="en-US" sz="2200" b="0" i="0" dirty="0">
                <a:solidFill>
                  <a:srgbClr val="111111"/>
                </a:solidFill>
                <a:effectLst/>
                <a:latin typeface="Calibri" panose="020F0502020204030204" pitchFamily="34" charset="0"/>
                <a:cs typeface="Calibri" panose="020F0502020204030204" pitchFamily="34" charset="0"/>
              </a:rPr>
              <a:t> Data points significantly different from the rest</a:t>
            </a:r>
            <a:r>
              <a:rPr lang="en-US" sz="2200" dirty="0">
                <a:solidFill>
                  <a:srgbClr val="111111"/>
                </a:solidFill>
                <a:latin typeface="Calibri" panose="020F0502020204030204" pitchFamily="34" charset="0"/>
                <a:cs typeface="Calibri" panose="020F0502020204030204" pitchFamily="34" charset="0"/>
              </a:rPr>
              <a:t>. For example, imagine placing this data set in ascending order: 3, 6, 7, 10, and 54. 54 might be an outlier because it is significantly higher than the other data points. </a:t>
            </a:r>
            <a:endParaRPr lang="en-US" sz="2200" b="0" i="0" dirty="0">
              <a:solidFill>
                <a:srgbClr val="111111"/>
              </a:solidFill>
              <a:effectLst/>
              <a:latin typeface="Calibri" panose="020F0502020204030204" pitchFamily="34" charset="0"/>
              <a:cs typeface="Calibri" panose="020F0502020204030204" pitchFamily="34" charset="0"/>
            </a:endParaRPr>
          </a:p>
          <a:p>
            <a:pPr algn="l">
              <a:buFont typeface="Arial" panose="020B0604020202020204" pitchFamily="34" charset="0"/>
              <a:buChar char="•"/>
            </a:pPr>
            <a:r>
              <a:rPr lang="en-US" sz="2200" b="1" i="0" dirty="0">
                <a:solidFill>
                  <a:srgbClr val="111111"/>
                </a:solidFill>
                <a:effectLst/>
                <a:latin typeface="Calibri" panose="020F0502020204030204" pitchFamily="34" charset="0"/>
                <a:cs typeface="Calibri" panose="020F0502020204030204" pitchFamily="34" charset="0"/>
              </a:rPr>
              <a:t>Covariance:</a:t>
            </a:r>
            <a:r>
              <a:rPr lang="en-US" sz="2200" b="0" i="0" dirty="0">
                <a:solidFill>
                  <a:srgbClr val="111111"/>
                </a:solidFill>
                <a:effectLst/>
                <a:latin typeface="Calibri" panose="020F0502020204030204" pitchFamily="34" charset="0"/>
                <a:cs typeface="Calibri" panose="020F0502020204030204" pitchFamily="34" charset="0"/>
              </a:rPr>
              <a:t> The direction of the linear relationship between two variables. In other words, it calculates the degree to which two variables are linearly related.</a:t>
            </a:r>
          </a:p>
          <a:p>
            <a:endParaRPr lang="en-US" sz="2200" dirty="0">
              <a:latin typeface="Calibri" panose="020F0502020204030204" pitchFamily="34" charset="0"/>
              <a:cs typeface="Calibri" panose="020F050202020403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5766" y="454480"/>
            <a:ext cx="9588138" cy="1401632"/>
          </a:xfrm>
        </p:spPr>
        <p:txBody>
          <a:bodyPr/>
          <a:lstStyle/>
          <a:p>
            <a:r>
              <a:rPr lang="en-US" dirty="0"/>
              <a:t>Key terminologies in linear regression</a:t>
            </a:r>
          </a:p>
        </p:txBody>
      </p:sp>
      <p:sp>
        <p:nvSpPr>
          <p:cNvPr id="4" name="Text Placeholder 2"/>
          <p:cNvSpPr txBox="1"/>
          <p:nvPr/>
        </p:nvSpPr>
        <p:spPr>
          <a:xfrm>
            <a:off x="234696" y="1542451"/>
            <a:ext cx="10991088" cy="4698710"/>
          </a:xfrm>
          <a:prstGeom prst="rect">
            <a:avLst/>
          </a:prstGeom>
        </p:spPr>
        <p:txBody>
          <a:bodyPr/>
          <a:lstStyle>
            <a:lvl1pPr marL="228600" indent="-228600" algn="l" defTabSz="914400" rtl="0" eaLnBrk="1" latinLnBrk="0" hangingPunct="1">
              <a:lnSpc>
                <a:spcPct val="90000"/>
              </a:lnSpc>
              <a:spcBef>
                <a:spcPts val="1000"/>
              </a:spcBef>
              <a:buClr>
                <a:srgbClr val="942F6D"/>
              </a:buClr>
              <a:buFont typeface="Arial" panose="020B0604020202020204" pitchFamily="34" charset="0"/>
              <a:buChar char="•"/>
              <a:defRPr sz="2800" kern="1200" baseline="0">
                <a:solidFill>
                  <a:srgbClr val="656768"/>
                </a:solidFill>
                <a:latin typeface="+mn-lt"/>
                <a:ea typeface="+mn-ea"/>
                <a:cs typeface="+mn-cs"/>
              </a:defRPr>
            </a:lvl1pPr>
            <a:lvl2pPr marL="685800" indent="-228600" algn="l" defTabSz="914400" rtl="0" eaLnBrk="1" latinLnBrk="0" hangingPunct="1">
              <a:lnSpc>
                <a:spcPct val="90000"/>
              </a:lnSpc>
              <a:spcBef>
                <a:spcPts val="500"/>
              </a:spcBef>
              <a:buClr>
                <a:srgbClr val="942F6D"/>
              </a:buClr>
              <a:buFont typeface="Arial" panose="020B0604020202020204" pitchFamily="34" charset="0"/>
              <a:buChar char="•"/>
              <a:defRPr sz="2400" kern="1200">
                <a:solidFill>
                  <a:srgbClr val="656768"/>
                </a:solidFill>
                <a:latin typeface="+mn-lt"/>
                <a:ea typeface="+mn-ea"/>
                <a:cs typeface="+mn-cs"/>
              </a:defRPr>
            </a:lvl2pPr>
            <a:lvl3pPr marL="1143000" indent="-228600" algn="l" defTabSz="914400" rtl="0" eaLnBrk="1" latinLnBrk="0" hangingPunct="1">
              <a:lnSpc>
                <a:spcPct val="90000"/>
              </a:lnSpc>
              <a:spcBef>
                <a:spcPts val="500"/>
              </a:spcBef>
              <a:buClr>
                <a:srgbClr val="942F6D"/>
              </a:buClr>
              <a:buFont typeface="Arial" panose="020B0604020202020204" pitchFamily="34" charset="0"/>
              <a:buChar char="•"/>
              <a:defRPr sz="2000" kern="1200">
                <a:solidFill>
                  <a:srgbClr val="656768"/>
                </a:solidFill>
                <a:latin typeface="+mn-lt"/>
                <a:ea typeface="+mn-ea"/>
                <a:cs typeface="+mn-cs"/>
              </a:defRPr>
            </a:lvl3pPr>
            <a:lvl4pPr marL="16002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656768"/>
                </a:solidFill>
                <a:latin typeface="+mn-lt"/>
                <a:ea typeface="+mn-ea"/>
                <a:cs typeface="+mn-cs"/>
              </a:defRPr>
            </a:lvl4pPr>
            <a:lvl5pPr marL="20574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656768"/>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b="1" dirty="0">
                <a:solidFill>
                  <a:srgbClr val="111111"/>
                </a:solidFill>
                <a:latin typeface="Calibri" panose="020F0502020204030204" pitchFamily="34" charset="0"/>
                <a:cs typeface="Calibri" panose="020F0502020204030204" pitchFamily="34" charset="0"/>
              </a:rPr>
              <a:t>Multivariate:</a:t>
            </a:r>
            <a:r>
              <a:rPr lang="en-US" sz="2000" dirty="0">
                <a:solidFill>
                  <a:srgbClr val="111111"/>
                </a:solidFill>
                <a:latin typeface="Calibri" panose="020F0502020204030204" pitchFamily="34" charset="0"/>
                <a:cs typeface="Calibri" panose="020F0502020204030204" pitchFamily="34" charset="0"/>
              </a:rPr>
              <a:t> two or more dependent variables resulting in a single outcome.</a:t>
            </a:r>
          </a:p>
          <a:p>
            <a:r>
              <a:rPr lang="en-US" sz="2000" b="1" dirty="0">
                <a:solidFill>
                  <a:srgbClr val="111111"/>
                </a:solidFill>
                <a:latin typeface="Calibri" panose="020F0502020204030204" pitchFamily="34" charset="0"/>
                <a:cs typeface="Calibri" panose="020F0502020204030204" pitchFamily="34" charset="0"/>
              </a:rPr>
              <a:t>Residuals:</a:t>
            </a:r>
            <a:r>
              <a:rPr lang="en-US" sz="2000" dirty="0">
                <a:solidFill>
                  <a:srgbClr val="111111"/>
                </a:solidFill>
                <a:latin typeface="Calibri" panose="020F0502020204030204" pitchFamily="34" charset="0"/>
                <a:cs typeface="Calibri" panose="020F0502020204030204" pitchFamily="34" charset="0"/>
              </a:rPr>
              <a:t> The difference between the observed and predicted values of the dependent variable.</a:t>
            </a:r>
          </a:p>
          <a:p>
            <a:r>
              <a:rPr lang="en-US" sz="2000" b="1" dirty="0">
                <a:solidFill>
                  <a:srgbClr val="111111"/>
                </a:solidFill>
                <a:latin typeface="Calibri" panose="020F0502020204030204" pitchFamily="34" charset="0"/>
                <a:cs typeface="Calibri" panose="020F0502020204030204" pitchFamily="34" charset="0"/>
              </a:rPr>
              <a:t>Variability:</a:t>
            </a:r>
            <a:r>
              <a:rPr lang="en-US" sz="2000" dirty="0">
                <a:solidFill>
                  <a:srgbClr val="111111"/>
                </a:solidFill>
                <a:latin typeface="Calibri" panose="020F0502020204030204" pitchFamily="34" charset="0"/>
                <a:cs typeface="Calibri" panose="020F0502020204030204" pitchFamily="34" charset="0"/>
              </a:rPr>
              <a:t> The lack of consistency or the extent to which a distribution is squeezed or stretched.</a:t>
            </a:r>
          </a:p>
          <a:p>
            <a:r>
              <a:rPr lang="en-US" sz="2000" b="1" dirty="0">
                <a:solidFill>
                  <a:srgbClr val="111111"/>
                </a:solidFill>
                <a:latin typeface="Calibri" panose="020F0502020204030204" pitchFamily="34" charset="0"/>
                <a:cs typeface="Calibri" panose="020F0502020204030204" pitchFamily="34" charset="0"/>
              </a:rPr>
              <a:t>Linearity:</a:t>
            </a:r>
            <a:r>
              <a:rPr lang="en-US" sz="2000" dirty="0">
                <a:solidFill>
                  <a:srgbClr val="111111"/>
                </a:solidFill>
                <a:latin typeface="Calibri" panose="020F0502020204030204" pitchFamily="34" charset="0"/>
                <a:cs typeface="Calibri" panose="020F0502020204030204" pitchFamily="34" charset="0"/>
              </a:rPr>
              <a:t> relationship that is closely related to proportionality and can be represented as a straight line.</a:t>
            </a:r>
          </a:p>
          <a:p>
            <a:r>
              <a:rPr lang="en-US" sz="2000" b="1" dirty="0">
                <a:solidFill>
                  <a:srgbClr val="111111"/>
                </a:solidFill>
                <a:latin typeface="Calibri" panose="020F0502020204030204" pitchFamily="34" charset="0"/>
                <a:cs typeface="Calibri" panose="020F0502020204030204" pitchFamily="34" charset="0"/>
              </a:rPr>
              <a:t>Collinearity:</a:t>
            </a:r>
            <a:r>
              <a:rPr lang="en-US" sz="2000" dirty="0">
                <a:solidFill>
                  <a:srgbClr val="111111"/>
                </a:solidFill>
                <a:latin typeface="Calibri" panose="020F0502020204030204" pitchFamily="34" charset="0"/>
                <a:cs typeface="Calibri" panose="020F0502020204030204" pitchFamily="34" charset="0"/>
              </a:rPr>
              <a:t> Correlation between the independent variables, such that they exhibit a linear relationship in a regression model.</a:t>
            </a:r>
          </a:p>
          <a:p>
            <a:r>
              <a:rPr lang="en-US" sz="2000" b="1" dirty="0">
                <a:solidFill>
                  <a:srgbClr val="111111"/>
                </a:solidFill>
                <a:latin typeface="Calibri" panose="020F0502020204030204" pitchFamily="34" charset="0"/>
                <a:cs typeface="Calibri" panose="020F0502020204030204" pitchFamily="34" charset="0"/>
              </a:rPr>
              <a:t>Standard deviation (SD):</a:t>
            </a:r>
            <a:r>
              <a:rPr lang="en-US" sz="2000" dirty="0">
                <a:solidFill>
                  <a:srgbClr val="111111"/>
                </a:solidFill>
                <a:latin typeface="Calibri" panose="020F0502020204030204" pitchFamily="34" charset="0"/>
                <a:cs typeface="Calibri" panose="020F0502020204030204" pitchFamily="34" charset="0"/>
              </a:rPr>
              <a:t> It's a measure of the dispersion of a dataset relative to its mean or measure of how spread out numbers are. Standard deviation calculation:</a:t>
            </a:r>
            <a:endParaRPr lang="en-US" sz="2000" dirty="0">
              <a:latin typeface="Calibri" panose="020F0502020204030204" pitchFamily="34" charset="0"/>
              <a:cs typeface="Calibri" panose="020F0502020204030204" pitchFamily="34" charset="0"/>
            </a:endParaRPr>
          </a:p>
        </p:txBody>
      </p:sp>
      <p:sp>
        <p:nvSpPr>
          <p:cNvPr id="3" name="Rectangle 2"/>
          <p:cNvSpPr/>
          <p:nvPr/>
        </p:nvSpPr>
        <p:spPr>
          <a:xfrm>
            <a:off x="3332410" y="5610844"/>
            <a:ext cx="4866845" cy="369332"/>
          </a:xfrm>
          <a:prstGeom prst="rect">
            <a:avLst/>
          </a:prstGeom>
        </p:spPr>
        <p:txBody>
          <a:bodyPr wrap="none">
            <a:spAutoFit/>
          </a:bodyPr>
          <a:lstStyle/>
          <a:p>
            <a:r>
              <a:rPr lang="en-GB" dirty="0">
                <a:hlinkClick r:id="rId3"/>
              </a:rPr>
              <a:t>https://www.youtube.com/watch?v=IaTFpp-uzp0</a:t>
            </a:r>
            <a:r>
              <a:rPr lang="en-GB" dirty="0"/>
              <a:t>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5563" y="662578"/>
            <a:ext cx="9775371" cy="675218"/>
          </a:xfrm>
        </p:spPr>
        <p:txBody>
          <a:bodyPr/>
          <a:lstStyle/>
          <a:p>
            <a:r>
              <a:rPr lang="en-US" dirty="0"/>
              <a:t>Techniques to solve linear regression</a:t>
            </a:r>
          </a:p>
        </p:txBody>
      </p:sp>
      <p:sp>
        <p:nvSpPr>
          <p:cNvPr id="3" name="Text Placeholder 2"/>
          <p:cNvSpPr>
            <a:spLocks noGrp="1"/>
          </p:cNvSpPr>
          <p:nvPr>
            <p:ph type="body" sz="quarter" idx="10"/>
          </p:nvPr>
        </p:nvSpPr>
        <p:spPr>
          <a:xfrm>
            <a:off x="364582" y="1627990"/>
            <a:ext cx="4060372" cy="4952695"/>
          </a:xfrm>
        </p:spPr>
        <p:txBody>
          <a:bodyPr/>
          <a:lstStyle/>
          <a:p>
            <a:pPr algn="l"/>
            <a:r>
              <a:rPr lang="en-US" sz="2000" b="1" i="0" dirty="0">
                <a:solidFill>
                  <a:srgbClr val="111111"/>
                </a:solidFill>
                <a:effectLst/>
                <a:latin typeface="Calibri" panose="020F0502020204030204" pitchFamily="34" charset="0"/>
                <a:cs typeface="Calibri" panose="020F0502020204030204" pitchFamily="34" charset="0"/>
              </a:rPr>
              <a:t>Simple linear regression</a:t>
            </a:r>
          </a:p>
          <a:p>
            <a:pPr algn="l"/>
            <a:r>
              <a:rPr lang="en-US" sz="2000" b="0" i="0" dirty="0">
                <a:solidFill>
                  <a:srgbClr val="111111"/>
                </a:solidFill>
                <a:effectLst/>
                <a:latin typeface="Calibri" panose="020F0502020204030204" pitchFamily="34" charset="0"/>
                <a:cs typeface="Calibri" panose="020F0502020204030204" pitchFamily="34" charset="0"/>
              </a:rPr>
              <a:t>Single input or one independent variable and one dependent variable to find the best relationship between two variables, given that they're in continuous nature.</a:t>
            </a:r>
          </a:p>
          <a:p>
            <a:pPr algn="l"/>
            <a:r>
              <a:rPr lang="en-US" sz="2000" b="0" i="0" dirty="0">
                <a:solidFill>
                  <a:srgbClr val="111111"/>
                </a:solidFill>
                <a:effectLst/>
                <a:latin typeface="Calibri" panose="020F0502020204030204" pitchFamily="34" charset="0"/>
                <a:cs typeface="Calibri" panose="020F0502020204030204" pitchFamily="34" charset="0"/>
              </a:rPr>
              <a:t>For example, it can be used to predict the amount of weight gained based on the calories consumed.</a:t>
            </a:r>
            <a:r>
              <a:rPr lang="en-US" sz="2000" b="1" i="0" dirty="0">
                <a:solidFill>
                  <a:srgbClr val="111111"/>
                </a:solidFill>
                <a:effectLst/>
                <a:latin typeface="Calibri" panose="020F0502020204030204" pitchFamily="34" charset="0"/>
                <a:cs typeface="Calibri" panose="020F0502020204030204" pitchFamily="34" charset="0"/>
              </a:rPr>
              <a:t>  </a:t>
            </a:r>
            <a:endParaRPr lang="en-US" sz="2000" b="0" i="0" dirty="0">
              <a:solidFill>
                <a:srgbClr val="111111"/>
              </a:solidFill>
              <a:effectLst/>
              <a:latin typeface="Calibri" panose="020F0502020204030204" pitchFamily="34" charset="0"/>
              <a:cs typeface="Calibri" panose="020F0502020204030204" pitchFamily="34" charset="0"/>
            </a:endParaRPr>
          </a:p>
          <a:p>
            <a:endParaRPr lang="en-US" sz="2000" dirty="0">
              <a:latin typeface="Calibri" panose="020F0502020204030204" pitchFamily="34" charset="0"/>
              <a:cs typeface="Calibri" panose="020F0502020204030204" pitchFamily="34" charset="0"/>
            </a:endParaRPr>
          </a:p>
        </p:txBody>
      </p:sp>
      <p:sp>
        <p:nvSpPr>
          <p:cNvPr id="4" name="Text Placeholder 2"/>
          <p:cNvSpPr txBox="1"/>
          <p:nvPr/>
        </p:nvSpPr>
        <p:spPr>
          <a:xfrm>
            <a:off x="4317003" y="1627354"/>
            <a:ext cx="3786486" cy="4952696"/>
          </a:xfrm>
          <a:prstGeom prst="rect">
            <a:avLst/>
          </a:prstGeom>
        </p:spPr>
        <p:txBody>
          <a:bodyPr/>
          <a:lstStyle>
            <a:lvl1pPr marL="228600" indent="-228600" algn="l" defTabSz="914400" rtl="0" eaLnBrk="1" latinLnBrk="0" hangingPunct="1">
              <a:lnSpc>
                <a:spcPct val="90000"/>
              </a:lnSpc>
              <a:spcBef>
                <a:spcPts val="1000"/>
              </a:spcBef>
              <a:buClr>
                <a:srgbClr val="942F6D"/>
              </a:buClr>
              <a:buFont typeface="Arial" panose="020B0604020202020204" pitchFamily="34" charset="0"/>
              <a:buChar char="•"/>
              <a:defRPr sz="2800" kern="1200" baseline="0">
                <a:solidFill>
                  <a:srgbClr val="656768"/>
                </a:solidFill>
                <a:latin typeface="+mn-lt"/>
                <a:ea typeface="+mn-ea"/>
                <a:cs typeface="+mn-cs"/>
              </a:defRPr>
            </a:lvl1pPr>
            <a:lvl2pPr marL="685800" indent="-228600" algn="l" defTabSz="914400" rtl="0" eaLnBrk="1" latinLnBrk="0" hangingPunct="1">
              <a:lnSpc>
                <a:spcPct val="90000"/>
              </a:lnSpc>
              <a:spcBef>
                <a:spcPts val="500"/>
              </a:spcBef>
              <a:buClr>
                <a:srgbClr val="942F6D"/>
              </a:buClr>
              <a:buFont typeface="Arial" panose="020B0604020202020204" pitchFamily="34" charset="0"/>
              <a:buChar char="•"/>
              <a:defRPr sz="2400" kern="1200">
                <a:solidFill>
                  <a:srgbClr val="656768"/>
                </a:solidFill>
                <a:latin typeface="+mn-lt"/>
                <a:ea typeface="+mn-ea"/>
                <a:cs typeface="+mn-cs"/>
              </a:defRPr>
            </a:lvl2pPr>
            <a:lvl3pPr marL="1143000" indent="-228600" algn="l" defTabSz="914400" rtl="0" eaLnBrk="1" latinLnBrk="0" hangingPunct="1">
              <a:lnSpc>
                <a:spcPct val="90000"/>
              </a:lnSpc>
              <a:spcBef>
                <a:spcPts val="500"/>
              </a:spcBef>
              <a:buClr>
                <a:srgbClr val="942F6D"/>
              </a:buClr>
              <a:buFont typeface="Arial" panose="020B0604020202020204" pitchFamily="34" charset="0"/>
              <a:buChar char="•"/>
              <a:defRPr sz="2000" kern="1200">
                <a:solidFill>
                  <a:srgbClr val="656768"/>
                </a:solidFill>
                <a:latin typeface="+mn-lt"/>
                <a:ea typeface="+mn-ea"/>
                <a:cs typeface="+mn-cs"/>
              </a:defRPr>
            </a:lvl3pPr>
            <a:lvl4pPr marL="16002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656768"/>
                </a:solidFill>
                <a:latin typeface="+mn-lt"/>
                <a:ea typeface="+mn-ea"/>
                <a:cs typeface="+mn-cs"/>
              </a:defRPr>
            </a:lvl4pPr>
            <a:lvl5pPr marL="20574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656768"/>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b="1" dirty="0">
                <a:solidFill>
                  <a:srgbClr val="111111"/>
                </a:solidFill>
                <a:latin typeface="Calibri" panose="020F0502020204030204" pitchFamily="34" charset="0"/>
                <a:cs typeface="Calibri" panose="020F0502020204030204" pitchFamily="34" charset="0"/>
              </a:rPr>
              <a:t>Ordinary least squares</a:t>
            </a:r>
          </a:p>
          <a:p>
            <a:r>
              <a:rPr lang="en-US" sz="2000" dirty="0">
                <a:solidFill>
                  <a:srgbClr val="111111"/>
                </a:solidFill>
                <a:latin typeface="Calibri" panose="020F0502020204030204" pitchFamily="34" charset="0"/>
                <a:cs typeface="Calibri" panose="020F0502020204030204" pitchFamily="34" charset="0"/>
              </a:rPr>
              <a:t>Another method to estimate the value of coefficients when there is more than one independent variable or input. It's one of the most common approaches for solving linear regression and is also known as a </a:t>
            </a:r>
            <a:r>
              <a:rPr lang="en-US" sz="2000" b="1" dirty="0">
                <a:solidFill>
                  <a:srgbClr val="111111"/>
                </a:solidFill>
                <a:latin typeface="Calibri" panose="020F0502020204030204" pitchFamily="34" charset="0"/>
                <a:cs typeface="Calibri" panose="020F0502020204030204" pitchFamily="34" charset="0"/>
              </a:rPr>
              <a:t>normal equation</a:t>
            </a:r>
            <a:r>
              <a:rPr lang="en-US" sz="2000" dirty="0">
                <a:solidFill>
                  <a:srgbClr val="111111"/>
                </a:solidFill>
                <a:latin typeface="Calibri" panose="020F0502020204030204" pitchFamily="34" charset="0"/>
                <a:cs typeface="Calibri" panose="020F0502020204030204" pitchFamily="34" charset="0"/>
              </a:rPr>
              <a:t>.</a:t>
            </a:r>
          </a:p>
          <a:p>
            <a:r>
              <a:rPr lang="en-US" sz="2000" dirty="0">
                <a:solidFill>
                  <a:srgbClr val="111111"/>
                </a:solidFill>
                <a:latin typeface="Calibri" panose="020F0502020204030204" pitchFamily="34" charset="0"/>
                <a:cs typeface="Calibri" panose="020F0502020204030204" pitchFamily="34" charset="0"/>
              </a:rPr>
              <a:t>This procedure tries to minimize the sum of the squared residuals.</a:t>
            </a:r>
          </a:p>
        </p:txBody>
      </p:sp>
      <p:sp>
        <p:nvSpPr>
          <p:cNvPr id="5" name="Text Placeholder 2"/>
          <p:cNvSpPr txBox="1"/>
          <p:nvPr/>
        </p:nvSpPr>
        <p:spPr>
          <a:xfrm>
            <a:off x="8191500" y="1627958"/>
            <a:ext cx="3759274" cy="4571693"/>
          </a:xfrm>
          <a:prstGeom prst="rect">
            <a:avLst/>
          </a:prstGeom>
        </p:spPr>
        <p:txBody>
          <a:bodyPr/>
          <a:lstStyle>
            <a:lvl1pPr marL="228600" indent="-228600" algn="l" defTabSz="914400" rtl="0" eaLnBrk="1" latinLnBrk="0" hangingPunct="1">
              <a:lnSpc>
                <a:spcPct val="90000"/>
              </a:lnSpc>
              <a:spcBef>
                <a:spcPts val="1000"/>
              </a:spcBef>
              <a:buClr>
                <a:srgbClr val="942F6D"/>
              </a:buClr>
              <a:buFont typeface="Arial" panose="020B0604020202020204" pitchFamily="34" charset="0"/>
              <a:buChar char="•"/>
              <a:defRPr sz="2800" kern="1200" baseline="0">
                <a:solidFill>
                  <a:srgbClr val="656768"/>
                </a:solidFill>
                <a:latin typeface="+mn-lt"/>
                <a:ea typeface="+mn-ea"/>
                <a:cs typeface="+mn-cs"/>
              </a:defRPr>
            </a:lvl1pPr>
            <a:lvl2pPr marL="685800" indent="-228600" algn="l" defTabSz="914400" rtl="0" eaLnBrk="1" latinLnBrk="0" hangingPunct="1">
              <a:lnSpc>
                <a:spcPct val="90000"/>
              </a:lnSpc>
              <a:spcBef>
                <a:spcPts val="500"/>
              </a:spcBef>
              <a:buClr>
                <a:srgbClr val="942F6D"/>
              </a:buClr>
              <a:buFont typeface="Arial" panose="020B0604020202020204" pitchFamily="34" charset="0"/>
              <a:buChar char="•"/>
              <a:defRPr sz="2400" kern="1200">
                <a:solidFill>
                  <a:srgbClr val="656768"/>
                </a:solidFill>
                <a:latin typeface="+mn-lt"/>
                <a:ea typeface="+mn-ea"/>
                <a:cs typeface="+mn-cs"/>
              </a:defRPr>
            </a:lvl2pPr>
            <a:lvl3pPr marL="1143000" indent="-228600" algn="l" defTabSz="914400" rtl="0" eaLnBrk="1" latinLnBrk="0" hangingPunct="1">
              <a:lnSpc>
                <a:spcPct val="90000"/>
              </a:lnSpc>
              <a:spcBef>
                <a:spcPts val="500"/>
              </a:spcBef>
              <a:buClr>
                <a:srgbClr val="942F6D"/>
              </a:buClr>
              <a:buFont typeface="Arial" panose="020B0604020202020204" pitchFamily="34" charset="0"/>
              <a:buChar char="•"/>
              <a:defRPr sz="2000" kern="1200">
                <a:solidFill>
                  <a:srgbClr val="656768"/>
                </a:solidFill>
                <a:latin typeface="+mn-lt"/>
                <a:ea typeface="+mn-ea"/>
                <a:cs typeface="+mn-cs"/>
              </a:defRPr>
            </a:lvl3pPr>
            <a:lvl4pPr marL="16002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656768"/>
                </a:solidFill>
                <a:latin typeface="+mn-lt"/>
                <a:ea typeface="+mn-ea"/>
                <a:cs typeface="+mn-cs"/>
              </a:defRPr>
            </a:lvl4pPr>
            <a:lvl5pPr marL="20574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656768"/>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sz="2000" b="1" i="0" dirty="0">
                <a:solidFill>
                  <a:srgbClr val="111111"/>
                </a:solidFill>
                <a:effectLst/>
                <a:latin typeface="Calibri" panose="020F0502020204030204" pitchFamily="34" charset="0"/>
                <a:cs typeface="Calibri" panose="020F0502020204030204" pitchFamily="34" charset="0"/>
              </a:rPr>
              <a:t>Gradient descent</a:t>
            </a:r>
          </a:p>
          <a:p>
            <a:pPr algn="l"/>
            <a:r>
              <a:rPr lang="en-US" sz="2000" b="0" i="0" dirty="0">
                <a:solidFill>
                  <a:srgbClr val="111111"/>
                </a:solidFill>
                <a:effectLst/>
                <a:latin typeface="Calibri" panose="020F0502020204030204" pitchFamily="34" charset="0"/>
                <a:cs typeface="Calibri" panose="020F0502020204030204" pitchFamily="34" charset="0"/>
              </a:rPr>
              <a:t>One of the easiest and commonly used methods to solve linear regression problems. </a:t>
            </a:r>
          </a:p>
          <a:p>
            <a:pPr algn="l"/>
            <a:r>
              <a:rPr lang="en-US" sz="2000" dirty="0">
                <a:solidFill>
                  <a:srgbClr val="111111"/>
                </a:solidFill>
                <a:latin typeface="Calibri" panose="020F0502020204030204" pitchFamily="34" charset="0"/>
                <a:cs typeface="Calibri" panose="020F0502020204030204" pitchFamily="34" charset="0"/>
              </a:rPr>
              <a:t>U</a:t>
            </a:r>
            <a:r>
              <a:rPr lang="en-US" sz="2000" b="0" i="0" dirty="0">
                <a:solidFill>
                  <a:srgbClr val="111111"/>
                </a:solidFill>
                <a:effectLst/>
                <a:latin typeface="Calibri" panose="020F0502020204030204" pitchFamily="34" charset="0"/>
                <a:cs typeface="Calibri" panose="020F0502020204030204" pitchFamily="34" charset="0"/>
              </a:rPr>
              <a:t>seful when there are one or more inputs and involves optimizing the value of coefficients by minimizing the model's error iteratively.</a:t>
            </a:r>
          </a:p>
          <a:p>
            <a:endParaRPr lang="en-US" sz="2000" dirty="0">
              <a:latin typeface="Calibri" panose="020F0502020204030204" pitchFamily="34" charset="0"/>
              <a:cs typeface="Calibri" panose="020F0502020204030204"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08CC9B-8F0A-70EF-96B4-E17C6A0199F1}"/>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B77D7D5C-3686-88A2-AA70-D9F63C85146C}"/>
              </a:ext>
            </a:extLst>
          </p:cNvPr>
          <p:cNvSpPr/>
          <p:nvPr/>
        </p:nvSpPr>
        <p:spPr>
          <a:xfrm>
            <a:off x="3942077" y="3075057"/>
            <a:ext cx="4307846" cy="707886"/>
          </a:xfrm>
          <a:prstGeom prst="rect">
            <a:avLst/>
          </a:prstGeom>
        </p:spPr>
        <p:txBody>
          <a:bodyPr wrap="none">
            <a:spAutoFit/>
          </a:bodyPr>
          <a:lstStyle/>
          <a:p>
            <a:r>
              <a:rPr lang="en-GB" sz="4000" dirty="0">
                <a:latin typeface="Calibri" panose="020F0502020204030204" pitchFamily="34" charset="0"/>
              </a:rPr>
              <a:t>Multiple Regression</a:t>
            </a:r>
            <a:endParaRPr lang="en-GB" sz="4000" dirty="0">
              <a:effectLst/>
            </a:endParaRPr>
          </a:p>
        </p:txBody>
      </p:sp>
      <p:cxnSp>
        <p:nvCxnSpPr>
          <p:cNvPr id="4" name="Straight Connector 3">
            <a:extLst>
              <a:ext uri="{FF2B5EF4-FFF2-40B4-BE49-F238E27FC236}">
                <a16:creationId xmlns:a16="http://schemas.microsoft.com/office/drawing/2014/main" id="{AE9D63F9-5E2A-14F6-88B5-1A2028F4258C}"/>
              </a:ext>
            </a:extLst>
          </p:cNvPr>
          <p:cNvCxnSpPr/>
          <p:nvPr/>
        </p:nvCxnSpPr>
        <p:spPr>
          <a:xfrm flipH="1">
            <a:off x="451743" y="1527821"/>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462F3030-6368-2339-6D23-DD75DB60E3C5}"/>
              </a:ext>
            </a:extLst>
          </p:cNvPr>
          <p:cNvCxnSpPr/>
          <p:nvPr/>
        </p:nvCxnSpPr>
        <p:spPr>
          <a:xfrm flipV="1">
            <a:off x="451743" y="837588"/>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7" name="Straight Connector 6">
            <a:extLst>
              <a:ext uri="{FF2B5EF4-FFF2-40B4-BE49-F238E27FC236}">
                <a16:creationId xmlns:a16="http://schemas.microsoft.com/office/drawing/2014/main" id="{C4E0825A-CD10-BADA-A4E0-1D4D29F009EF}"/>
              </a:ext>
            </a:extLst>
          </p:cNvPr>
          <p:cNvCxnSpPr/>
          <p:nvPr/>
        </p:nvCxnSpPr>
        <p:spPr>
          <a:xfrm flipV="1">
            <a:off x="449831" y="1670657"/>
            <a:ext cx="0" cy="4572921"/>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0641760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Regression Models</a:t>
            </a:r>
            <a:endParaRPr lang="en-US" dirty="0"/>
          </a:p>
        </p:txBody>
      </p:sp>
      <p:sp>
        <p:nvSpPr>
          <p:cNvPr id="3" name="Text Placeholder 2"/>
          <p:cNvSpPr>
            <a:spLocks noGrp="1"/>
          </p:cNvSpPr>
          <p:nvPr>
            <p:ph type="body" sz="quarter" idx="10"/>
          </p:nvPr>
        </p:nvSpPr>
        <p:spPr>
          <a:xfrm>
            <a:off x="211901" y="1385782"/>
            <a:ext cx="10994852" cy="4643057"/>
          </a:xfrm>
        </p:spPr>
        <p:txBody>
          <a:bodyPr/>
          <a:lstStyle/>
          <a:p>
            <a:r>
              <a:rPr lang="en-US" b="1" dirty="0"/>
              <a:t>Simple linear regression</a:t>
            </a:r>
            <a:r>
              <a:rPr lang="en-US" dirty="0"/>
              <a:t> is a regression model that estimates the relationship between a dependent variable and an independent variable using a straight line.</a:t>
            </a:r>
          </a:p>
          <a:p>
            <a:r>
              <a:rPr lang="en-US" b="1" dirty="0"/>
              <a:t>Multiple linear regression</a:t>
            </a:r>
            <a:r>
              <a:rPr lang="en-US" dirty="0"/>
              <a:t> estimates the relationship between two or more independent variables and one dependent variable. </a:t>
            </a:r>
          </a:p>
          <a:p>
            <a:r>
              <a:rPr lang="en-US" dirty="0"/>
              <a:t>In the real world, there are an ample number of situations where many independent variables get influenced by other variables for that we have to look for other options rather than a single regression model that can only work with one independent variable.</a:t>
            </a:r>
          </a:p>
          <a:p>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942D6D"/>
                </a:solidFill>
              </a:rPr>
              <a:t>Multiple regression</a:t>
            </a:r>
            <a:endParaRPr lang="en-US" dirty="0">
              <a:solidFill>
                <a:srgbClr val="942D6D"/>
              </a:solidFill>
            </a:endParaRPr>
          </a:p>
        </p:txBody>
      </p:sp>
      <p:sp>
        <p:nvSpPr>
          <p:cNvPr id="3" name="Text Placeholder 2"/>
          <p:cNvSpPr>
            <a:spLocks noGrp="1"/>
          </p:cNvSpPr>
          <p:nvPr>
            <p:ph type="body" sz="quarter" idx="10"/>
          </p:nvPr>
        </p:nvSpPr>
        <p:spPr>
          <a:xfrm>
            <a:off x="601791" y="1437914"/>
            <a:ext cx="11601300" cy="1678950"/>
          </a:xfrm>
        </p:spPr>
        <p:txBody>
          <a:bodyPr/>
          <a:lstStyle/>
          <a:p>
            <a:r>
              <a:rPr lang="en-GB" dirty="0">
                <a:solidFill>
                  <a:schemeClr val="tx1">
                    <a:lumMod val="75000"/>
                    <a:lumOff val="25000"/>
                  </a:schemeClr>
                </a:solidFill>
              </a:rPr>
              <a:t>What if more than one variable influences the one, you’re interested in? </a:t>
            </a:r>
          </a:p>
          <a:p>
            <a:r>
              <a:rPr lang="en-GB" dirty="0">
                <a:solidFill>
                  <a:schemeClr val="tx1">
                    <a:lumMod val="75000"/>
                    <a:lumOff val="25000"/>
                  </a:schemeClr>
                </a:solidFill>
              </a:rPr>
              <a:t> Example: predicting a price for a car based on its many attributes (body style, brand, mileage, etc.) </a:t>
            </a:r>
          </a:p>
          <a:p>
            <a:endParaRPr lang="en-US" dirty="0">
              <a:solidFill>
                <a:schemeClr val="bg2">
                  <a:lumMod val="25000"/>
                </a:schemeClr>
              </a:solidFill>
            </a:endParaRPr>
          </a:p>
        </p:txBody>
      </p:sp>
      <p:cxnSp>
        <p:nvCxnSpPr>
          <p:cNvPr id="4" name="Straight Connector 3"/>
          <p:cNvCxnSpPr/>
          <p:nvPr/>
        </p:nvCxnSpPr>
        <p:spPr>
          <a:xfrm flipH="1">
            <a:off x="601791" y="1070621"/>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p:cNvCxnSpPr/>
          <p:nvPr/>
        </p:nvCxnSpPr>
        <p:spPr>
          <a:xfrm flipV="1">
            <a:off x="472083" y="423248"/>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a:xfrm flipH="1" flipV="1">
            <a:off x="470171" y="1089589"/>
            <a:ext cx="1912" cy="4298063"/>
          </a:xfrm>
          <a:prstGeom prst="line">
            <a:avLst/>
          </a:prstGeom>
        </p:spPr>
        <p:style>
          <a:lnRef idx="2">
            <a:schemeClr val="dk1"/>
          </a:lnRef>
          <a:fillRef idx="0">
            <a:schemeClr val="dk1"/>
          </a:fillRef>
          <a:effectRef idx="1">
            <a:schemeClr val="dk1"/>
          </a:effectRef>
          <a:fontRef idx="minor">
            <a:schemeClr val="tx1"/>
          </a:fontRef>
        </p:style>
      </p:cxnSp>
      <p:pic>
        <p:nvPicPr>
          <p:cNvPr id="7" name="Picture 1" descr="page77image182377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121377" y="2701583"/>
            <a:ext cx="4279645" cy="285704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280" y="282237"/>
            <a:ext cx="10023241" cy="1068223"/>
          </a:xfrm>
        </p:spPr>
        <p:txBody>
          <a:bodyPr/>
          <a:lstStyle/>
          <a:p>
            <a:r>
              <a:rPr lang="en-US" dirty="0"/>
              <a:t>Examples of multiple regression in real life</a:t>
            </a:r>
          </a:p>
        </p:txBody>
      </p:sp>
      <p:sp>
        <p:nvSpPr>
          <p:cNvPr id="3" name="Text Placeholder 2"/>
          <p:cNvSpPr>
            <a:spLocks noGrp="1"/>
          </p:cNvSpPr>
          <p:nvPr>
            <p:ph type="body" sz="quarter" idx="10"/>
          </p:nvPr>
        </p:nvSpPr>
        <p:spPr>
          <a:xfrm>
            <a:off x="83511" y="1417341"/>
            <a:ext cx="10952535" cy="5440680"/>
          </a:xfrm>
        </p:spPr>
        <p:txBody>
          <a:bodyPr/>
          <a:lstStyle/>
          <a:p>
            <a:pPr algn="l" fontAlgn="base"/>
            <a:r>
              <a:rPr lang="en-US" sz="1600" b="0" i="0" dirty="0">
                <a:solidFill>
                  <a:srgbClr val="444444"/>
                </a:solidFill>
                <a:effectLst/>
                <a:latin typeface="Calibri" panose="020F0502020204030204" pitchFamily="34" charset="0"/>
                <a:cs typeface="Calibri" panose="020F0502020204030204" pitchFamily="34" charset="0"/>
              </a:rPr>
              <a:t>Multiple regression tries to find out a formula that can explain how factors in variables respond simultaneously to changes in others.</a:t>
            </a:r>
          </a:p>
          <a:p>
            <a:pPr algn="l" fontAlgn="base">
              <a:buFont typeface="+mj-lt"/>
              <a:buAutoNum type="arabicPeriod"/>
            </a:pPr>
            <a:r>
              <a:rPr lang="en-US" sz="1600" b="0" i="0" dirty="0">
                <a:solidFill>
                  <a:srgbClr val="444444"/>
                </a:solidFill>
                <a:effectLst/>
                <a:latin typeface="Calibri" panose="020F0502020204030204" pitchFamily="34" charset="0"/>
                <a:cs typeface="Calibri" panose="020F0502020204030204" pitchFamily="34" charset="0"/>
              </a:rPr>
              <a:t>MR John wants to estimate the price of a house. He will collect details such as the location of the house, number of bedrooms, size in square feet, amenities available, or not. Basis these details price of the house can be predicted and how each variables are interrelated.</a:t>
            </a:r>
          </a:p>
          <a:p>
            <a:pPr algn="l" fontAlgn="base">
              <a:buFont typeface="+mj-lt"/>
              <a:buAutoNum type="arabicPeriod"/>
            </a:pPr>
            <a:r>
              <a:rPr lang="en-US" sz="1600" b="0" i="0" dirty="0">
                <a:solidFill>
                  <a:srgbClr val="444444"/>
                </a:solidFill>
                <a:effectLst/>
                <a:latin typeface="Calibri" panose="020F0502020204030204" pitchFamily="34" charset="0"/>
                <a:cs typeface="Calibri" panose="020F0502020204030204" pitchFamily="34" charset="0"/>
              </a:rPr>
              <a:t>An agriculture scientist wants to predict the total crop yield expected for the summer. He collected details of the expected amount of rainfall, fertilizers to be used, and soil conditions. By building a Multivariate regression model scientists can predict his crop yield. With the crop yield, the scientist also tries to understand the relationship among the variables.</a:t>
            </a:r>
          </a:p>
          <a:p>
            <a:pPr algn="l" fontAlgn="base">
              <a:buFont typeface="+mj-lt"/>
              <a:buAutoNum type="arabicPeriod"/>
            </a:pPr>
            <a:r>
              <a:rPr lang="en-US" sz="1600" b="0" i="0" dirty="0">
                <a:solidFill>
                  <a:srgbClr val="444444"/>
                </a:solidFill>
                <a:effectLst/>
                <a:latin typeface="Calibri" panose="020F0502020204030204" pitchFamily="34" charset="0"/>
                <a:cs typeface="Calibri" panose="020F0502020204030204" pitchFamily="34" charset="0"/>
              </a:rPr>
              <a:t>If an organization wants to know how much it has to pay to a new hire, they will take into account many details such as education level, number of experience, job location, has niche skill or not. Basis this information salary of an employee can be predicted, how these variables help in estimating the salary.</a:t>
            </a:r>
          </a:p>
          <a:p>
            <a:pPr algn="l" fontAlgn="base">
              <a:buFont typeface="+mj-lt"/>
              <a:buAutoNum type="arabicPeriod"/>
            </a:pPr>
            <a:r>
              <a:rPr lang="en-US" sz="1600" b="0" i="0" dirty="0">
                <a:solidFill>
                  <a:srgbClr val="444444"/>
                </a:solidFill>
                <a:effectLst/>
                <a:latin typeface="Calibri" panose="020F0502020204030204" pitchFamily="34" charset="0"/>
                <a:cs typeface="Calibri" panose="020F0502020204030204" pitchFamily="34" charset="0"/>
              </a:rPr>
              <a:t>Economists use to predict the GDP growth of a state or a country based on parameters like total amount spent by consumers, import expenditure, total gains from exports, total savings, etc.</a:t>
            </a:r>
          </a:p>
          <a:p>
            <a:pPr algn="l" fontAlgn="base">
              <a:buFont typeface="+mj-lt"/>
              <a:buAutoNum type="arabicPeriod"/>
            </a:pPr>
            <a:r>
              <a:rPr lang="en-US" sz="1600" b="0" i="0" dirty="0">
                <a:solidFill>
                  <a:srgbClr val="444444"/>
                </a:solidFill>
                <a:effectLst/>
                <a:latin typeface="Calibri" panose="020F0502020204030204" pitchFamily="34" charset="0"/>
                <a:cs typeface="Calibri" panose="020F0502020204030204" pitchFamily="34" charset="0"/>
              </a:rPr>
              <a:t>A company wants to predict the electricity bill of an apartment, the details needed here are the number of flats, the number of appliances in usage, the number of people at home, etc. With the help of these variables, the electricity bill can be predicted.</a:t>
            </a:r>
          </a:p>
          <a:p>
            <a:endParaRPr lang="en-US" sz="1600" dirty="0">
              <a:latin typeface="Calibri" panose="020F0502020204030204" pitchFamily="34" charset="0"/>
              <a:cs typeface="Calibri" panose="020F0502020204030204" pitchFamily="3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942D6D"/>
                </a:solidFill>
              </a:rPr>
              <a:t>Still uses least square</a:t>
            </a:r>
            <a:endParaRPr lang="en-US" dirty="0">
              <a:solidFill>
                <a:srgbClr val="942D6D"/>
              </a:solidFill>
            </a:endParaRPr>
          </a:p>
        </p:txBody>
      </p:sp>
      <p:sp>
        <p:nvSpPr>
          <p:cNvPr id="3" name="Text Placeholder 2"/>
          <p:cNvSpPr>
            <a:spLocks noGrp="1"/>
          </p:cNvSpPr>
          <p:nvPr>
            <p:ph type="body" sz="quarter" idx="10"/>
          </p:nvPr>
        </p:nvSpPr>
        <p:spPr>
          <a:xfrm>
            <a:off x="877821" y="1521449"/>
            <a:ext cx="10712388" cy="3815101"/>
          </a:xfrm>
        </p:spPr>
        <p:txBody>
          <a:bodyPr/>
          <a:lstStyle/>
          <a:p>
            <a:r>
              <a:rPr lang="en-GB" dirty="0">
                <a:solidFill>
                  <a:schemeClr val="tx1">
                    <a:lumMod val="75000"/>
                    <a:lumOff val="25000"/>
                  </a:schemeClr>
                </a:solidFill>
              </a:rPr>
              <a:t>We just end up with coefficients for each factor. </a:t>
            </a:r>
          </a:p>
          <a:p>
            <a:r>
              <a:rPr lang="en-GB" dirty="0">
                <a:solidFill>
                  <a:schemeClr val="tx1">
                    <a:lumMod val="75000"/>
                    <a:lumOff val="25000"/>
                  </a:schemeClr>
                </a:solidFill>
              </a:rPr>
              <a:t>	For example, 𝑝𝑟𝑖𝑐𝑒 = 𝛼 + 𝛽</a:t>
            </a:r>
            <a:r>
              <a:rPr lang="en-GB" sz="2400" dirty="0">
                <a:solidFill>
                  <a:schemeClr val="tx1">
                    <a:lumMod val="75000"/>
                    <a:lumOff val="25000"/>
                  </a:schemeClr>
                </a:solidFill>
              </a:rPr>
              <a:t>1</a:t>
            </a:r>
            <a:r>
              <a:rPr lang="en-GB" dirty="0">
                <a:solidFill>
                  <a:schemeClr val="tx1">
                    <a:lumMod val="75000"/>
                    <a:lumOff val="25000"/>
                  </a:schemeClr>
                </a:solidFill>
              </a:rPr>
              <a:t> mileage + 𝛽</a:t>
            </a:r>
            <a:r>
              <a:rPr lang="en-GB" sz="2400" dirty="0">
                <a:solidFill>
                  <a:schemeClr val="tx1">
                    <a:lumMod val="75000"/>
                    <a:lumOff val="25000"/>
                  </a:schemeClr>
                </a:solidFill>
              </a:rPr>
              <a:t>2</a:t>
            </a:r>
            <a:r>
              <a:rPr lang="en-GB" dirty="0">
                <a:solidFill>
                  <a:schemeClr val="tx1">
                    <a:lumMod val="75000"/>
                    <a:lumOff val="25000"/>
                  </a:schemeClr>
                </a:solidFill>
              </a:rPr>
              <a:t>age + 𝛽</a:t>
            </a:r>
            <a:r>
              <a:rPr lang="en-GB" sz="2400" dirty="0">
                <a:solidFill>
                  <a:schemeClr val="tx1">
                    <a:lumMod val="75000"/>
                    <a:lumOff val="25000"/>
                  </a:schemeClr>
                </a:solidFill>
              </a:rPr>
              <a:t>3</a:t>
            </a:r>
            <a:r>
              <a:rPr lang="en-GB" dirty="0">
                <a:solidFill>
                  <a:schemeClr val="tx1">
                    <a:lumMod val="75000"/>
                    <a:lumOff val="25000"/>
                  </a:schemeClr>
                </a:solidFill>
              </a:rPr>
              <a:t>doors …123 </a:t>
            </a:r>
          </a:p>
          <a:p>
            <a:r>
              <a:rPr lang="en-GB" dirty="0">
                <a:solidFill>
                  <a:schemeClr val="tx1">
                    <a:lumMod val="75000"/>
                    <a:lumOff val="25000"/>
                  </a:schemeClr>
                </a:solidFill>
              </a:rPr>
              <a:t>	These coefficients imply how important each factor is  </a:t>
            </a:r>
          </a:p>
          <a:p>
            <a:r>
              <a:rPr lang="en-GB" dirty="0">
                <a:solidFill>
                  <a:schemeClr val="tx1">
                    <a:lumMod val="75000"/>
                    <a:lumOff val="25000"/>
                  </a:schemeClr>
                </a:solidFill>
              </a:rPr>
              <a:t>	Get rid of ones that don’t matter! </a:t>
            </a:r>
          </a:p>
          <a:p>
            <a:r>
              <a:rPr lang="en-GB" dirty="0">
                <a:solidFill>
                  <a:schemeClr val="tx1">
                    <a:lumMod val="75000"/>
                    <a:lumOff val="25000"/>
                  </a:schemeClr>
                </a:solidFill>
              </a:rPr>
              <a:t>Can still measure fit with r-squared </a:t>
            </a:r>
          </a:p>
          <a:p>
            <a:r>
              <a:rPr lang="en-GB" dirty="0">
                <a:solidFill>
                  <a:schemeClr val="tx1">
                    <a:lumMod val="75000"/>
                    <a:lumOff val="25000"/>
                  </a:schemeClr>
                </a:solidFill>
              </a:rPr>
              <a:t>Need to assume the different factors are not themselves dependent on each other. </a:t>
            </a:r>
          </a:p>
          <a:p>
            <a:endParaRPr lang="en-US" dirty="0">
              <a:solidFill>
                <a:schemeClr val="bg2">
                  <a:lumMod val="25000"/>
                </a:schemeClr>
              </a:solidFill>
            </a:endParaRPr>
          </a:p>
        </p:txBody>
      </p:sp>
      <p:cxnSp>
        <p:nvCxnSpPr>
          <p:cNvPr id="4" name="Straight Connector 3"/>
          <p:cNvCxnSpPr/>
          <p:nvPr/>
        </p:nvCxnSpPr>
        <p:spPr>
          <a:xfrm flipH="1">
            <a:off x="601791" y="1070621"/>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p:cNvCxnSpPr/>
          <p:nvPr/>
        </p:nvCxnSpPr>
        <p:spPr>
          <a:xfrm flipV="1">
            <a:off x="472083" y="423248"/>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a:xfrm flipH="1" flipV="1">
            <a:off x="470171" y="1089589"/>
            <a:ext cx="1912" cy="4298063"/>
          </a:xfrm>
          <a:prstGeom prst="line">
            <a:avLst/>
          </a:prstGeom>
        </p:spPr>
        <p:style>
          <a:lnRef idx="2">
            <a:schemeClr val="dk1"/>
          </a:lnRef>
          <a:fillRef idx="0">
            <a:schemeClr val="dk1"/>
          </a:fillRef>
          <a:effectRef idx="1">
            <a:schemeClr val="dk1"/>
          </a:effectRef>
          <a:fontRef idx="minor">
            <a:schemeClr val="tx1"/>
          </a:fontRef>
        </p:style>
      </p:cxn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Normality ?</a:t>
            </a:r>
          </a:p>
        </p:txBody>
      </p:sp>
      <p:sp>
        <p:nvSpPr>
          <p:cNvPr id="3" name="Text Placeholder 2"/>
          <p:cNvSpPr>
            <a:spLocks noGrp="1"/>
          </p:cNvSpPr>
          <p:nvPr>
            <p:ph type="body" sz="quarter" idx="10"/>
          </p:nvPr>
        </p:nvSpPr>
        <p:spPr>
          <a:xfrm>
            <a:off x="108496" y="1198365"/>
            <a:ext cx="10315664" cy="4877581"/>
          </a:xfrm>
        </p:spPr>
        <p:txBody>
          <a:bodyPr/>
          <a:lstStyle/>
          <a:p>
            <a:pPr algn="l"/>
            <a:r>
              <a:rPr lang="en-GB" sz="1600" b="0" i="0" dirty="0">
                <a:solidFill>
                  <a:srgbClr val="000000"/>
                </a:solidFill>
                <a:effectLst/>
                <a:latin typeface="Calibri" panose="020F0502020204030204" pitchFamily="34" charset="0"/>
                <a:cs typeface="Calibri" panose="020F0502020204030204" pitchFamily="34" charset="0"/>
              </a:rPr>
              <a:t>Linear Regression and many other models assume that the data is normally distributed. If this assumption fails the model fails to give accurate predictions.</a:t>
            </a:r>
          </a:p>
          <a:p>
            <a:pPr algn="l"/>
            <a:r>
              <a:rPr lang="en-GB" sz="1600" b="0" i="0" dirty="0">
                <a:solidFill>
                  <a:srgbClr val="000000"/>
                </a:solidFill>
                <a:effectLst/>
                <a:latin typeface="Calibri" panose="020F0502020204030204" pitchFamily="34" charset="0"/>
                <a:cs typeface="Calibri" panose="020F0502020204030204" pitchFamily="34" charset="0"/>
              </a:rPr>
              <a:t>A probability distribution with the mean 0 and standard deviation of 1 is known as standard normal distribution or Gaussian distribution. </a:t>
            </a:r>
          </a:p>
          <a:p>
            <a:pPr algn="l"/>
            <a:r>
              <a:rPr lang="en-GB" sz="1600" b="0" i="0" dirty="0">
                <a:solidFill>
                  <a:srgbClr val="000000"/>
                </a:solidFill>
                <a:effectLst/>
                <a:latin typeface="Calibri" panose="020F0502020204030204" pitchFamily="34" charset="0"/>
                <a:cs typeface="Calibri" panose="020F0502020204030204" pitchFamily="34" charset="0"/>
              </a:rPr>
              <a:t>A normal </a:t>
            </a:r>
            <a:r>
              <a:rPr lang="en-GB" sz="1600" b="0" i="0" dirty="0" err="1">
                <a:solidFill>
                  <a:srgbClr val="000000"/>
                </a:solidFill>
                <a:effectLst/>
                <a:latin typeface="Calibri" panose="020F0502020204030204" pitchFamily="34" charset="0"/>
                <a:cs typeface="Calibri" panose="020F0502020204030204" pitchFamily="34" charset="0"/>
              </a:rPr>
              <a:t>distibution</a:t>
            </a:r>
            <a:r>
              <a:rPr lang="en-GB" sz="1600" b="0" i="0" dirty="0">
                <a:solidFill>
                  <a:srgbClr val="000000"/>
                </a:solidFill>
                <a:effectLst/>
                <a:latin typeface="Calibri" panose="020F0502020204030204" pitchFamily="34" charset="0"/>
                <a:cs typeface="Calibri" panose="020F0502020204030204" pitchFamily="34" charset="0"/>
              </a:rPr>
              <a:t> is </a:t>
            </a:r>
            <a:r>
              <a:rPr lang="en-GB" sz="1600" b="1" i="0" dirty="0">
                <a:solidFill>
                  <a:srgbClr val="000000"/>
                </a:solidFill>
                <a:effectLst/>
                <a:latin typeface="Calibri" panose="020F0502020204030204" pitchFamily="34" charset="0"/>
                <a:cs typeface="Calibri" panose="020F0502020204030204" pitchFamily="34" charset="0"/>
              </a:rPr>
              <a:t>symmetric</a:t>
            </a:r>
            <a:r>
              <a:rPr lang="en-GB" sz="1600" b="0" i="0" dirty="0">
                <a:solidFill>
                  <a:srgbClr val="000000"/>
                </a:solidFill>
                <a:effectLst/>
                <a:latin typeface="Calibri" panose="020F0502020204030204" pitchFamily="34" charset="0"/>
                <a:cs typeface="Calibri" panose="020F0502020204030204" pitchFamily="34" charset="0"/>
              </a:rPr>
              <a:t> about the mean and follows a </a:t>
            </a:r>
            <a:r>
              <a:rPr lang="en-GB" sz="1600" b="1" i="0" dirty="0">
                <a:solidFill>
                  <a:srgbClr val="000000"/>
                </a:solidFill>
                <a:effectLst/>
                <a:latin typeface="Calibri" panose="020F0502020204030204" pitchFamily="34" charset="0"/>
                <a:cs typeface="Calibri" panose="020F0502020204030204" pitchFamily="34" charset="0"/>
              </a:rPr>
              <a:t>bell shaped curve</a:t>
            </a:r>
            <a:r>
              <a:rPr lang="en-GB" sz="1600" b="0" i="0" dirty="0">
                <a:solidFill>
                  <a:srgbClr val="000000"/>
                </a:solidFill>
                <a:effectLst/>
                <a:latin typeface="Calibri" panose="020F0502020204030204" pitchFamily="34" charset="0"/>
                <a:cs typeface="Calibri" panose="020F0502020204030204" pitchFamily="34" charset="0"/>
              </a:rPr>
              <a:t> . And almost 99.7% of the values lies within 3 standard deviation. The mean, median and mode of a normal distribution are equal.</a:t>
            </a:r>
          </a:p>
        </p:txBody>
      </p:sp>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10512" y="2999232"/>
            <a:ext cx="8430768" cy="291693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1791" y="345166"/>
            <a:ext cx="9097686" cy="1068223"/>
          </a:xfrm>
        </p:spPr>
        <p:txBody>
          <a:bodyPr/>
          <a:lstStyle/>
          <a:p>
            <a:r>
              <a:rPr lang="en-GB" dirty="0"/>
              <a:t>Normality ?</a:t>
            </a:r>
          </a:p>
        </p:txBody>
      </p:sp>
      <p:sp>
        <p:nvSpPr>
          <p:cNvPr id="3" name="Text Placeholder 2"/>
          <p:cNvSpPr>
            <a:spLocks noGrp="1"/>
          </p:cNvSpPr>
          <p:nvPr>
            <p:ph type="body" sz="quarter" idx="10"/>
          </p:nvPr>
        </p:nvSpPr>
        <p:spPr>
          <a:xfrm>
            <a:off x="0" y="937260"/>
            <a:ext cx="10727055" cy="5596255"/>
          </a:xfrm>
        </p:spPr>
        <p:txBody>
          <a:bodyPr/>
          <a:lstStyle/>
          <a:p>
            <a:pPr algn="l"/>
            <a:r>
              <a:rPr lang="en-GB" sz="1600" b="1" i="0" dirty="0">
                <a:solidFill>
                  <a:srgbClr val="000000"/>
                </a:solidFill>
                <a:effectLst/>
                <a:latin typeface="Calibri" panose="020F0502020204030204" pitchFamily="34" charset="0"/>
                <a:cs typeface="Calibri" panose="020F0502020204030204" pitchFamily="34" charset="0"/>
              </a:rPr>
              <a:t>SKEWNESS</a:t>
            </a:r>
          </a:p>
          <a:p>
            <a:pPr algn="l"/>
            <a:r>
              <a:rPr lang="en-GB" sz="1600" b="0" i="0" dirty="0">
                <a:solidFill>
                  <a:srgbClr val="000000"/>
                </a:solidFill>
                <a:effectLst/>
                <a:latin typeface="Calibri" panose="020F0502020204030204" pitchFamily="34" charset="0"/>
                <a:cs typeface="Calibri" panose="020F0502020204030204" pitchFamily="34" charset="0"/>
              </a:rPr>
              <a:t>Skewness of a distribution is defined as the lack of symmetry. In a symmetrical distribution, the Mean, </a:t>
            </a:r>
            <a:r>
              <a:rPr lang="en-GB" sz="1600" b="0" i="0" dirty="0" err="1">
                <a:solidFill>
                  <a:srgbClr val="000000"/>
                </a:solidFill>
                <a:effectLst/>
                <a:latin typeface="Calibri" panose="020F0502020204030204" pitchFamily="34" charset="0"/>
                <a:cs typeface="Calibri" panose="020F0502020204030204" pitchFamily="34" charset="0"/>
              </a:rPr>
              <a:t>Meadian</a:t>
            </a:r>
            <a:r>
              <a:rPr lang="en-GB" sz="1600" b="0" i="0" dirty="0">
                <a:solidFill>
                  <a:srgbClr val="000000"/>
                </a:solidFill>
                <a:effectLst/>
                <a:latin typeface="Calibri" panose="020F0502020204030204" pitchFamily="34" charset="0"/>
                <a:cs typeface="Calibri" panose="020F0502020204030204" pitchFamily="34" charset="0"/>
              </a:rPr>
              <a:t> and Mode are </a:t>
            </a:r>
            <a:r>
              <a:rPr lang="en-GB" sz="1600" b="0" i="0" dirty="0" err="1">
                <a:solidFill>
                  <a:srgbClr val="000000"/>
                </a:solidFill>
                <a:effectLst/>
                <a:latin typeface="Calibri" panose="020F0502020204030204" pitchFamily="34" charset="0"/>
                <a:cs typeface="Calibri" panose="020F0502020204030204" pitchFamily="34" charset="0"/>
              </a:rPr>
              <a:t>equal.The</a:t>
            </a:r>
            <a:r>
              <a:rPr lang="en-GB" sz="1600" b="0" i="0" dirty="0">
                <a:solidFill>
                  <a:srgbClr val="000000"/>
                </a:solidFill>
                <a:effectLst/>
                <a:latin typeface="Calibri" panose="020F0502020204030204" pitchFamily="34" charset="0"/>
                <a:cs typeface="Calibri" panose="020F0502020204030204" pitchFamily="34" charset="0"/>
              </a:rPr>
              <a:t> normal distribution has a skewness of 0. Skewness tell us about distribution of our data.</a:t>
            </a:r>
          </a:p>
          <a:p>
            <a:pPr algn="l"/>
            <a:r>
              <a:rPr lang="en-GB" sz="1600" b="1" i="0" dirty="0">
                <a:solidFill>
                  <a:srgbClr val="000000"/>
                </a:solidFill>
                <a:effectLst/>
                <a:latin typeface="Calibri" panose="020F0502020204030204" pitchFamily="34" charset="0"/>
                <a:cs typeface="Calibri" panose="020F0502020204030204" pitchFamily="34" charset="0"/>
              </a:rPr>
              <a:t>Skewness is of two types:</a:t>
            </a:r>
          </a:p>
          <a:p>
            <a:pPr algn="l">
              <a:buFont typeface="Arial" panose="020B0604020202020204" pitchFamily="34" charset="0"/>
              <a:buChar char="•"/>
            </a:pPr>
            <a:r>
              <a:rPr lang="en-GB" sz="1600" b="1" i="0" dirty="0">
                <a:solidFill>
                  <a:srgbClr val="000000"/>
                </a:solidFill>
                <a:effectLst/>
                <a:latin typeface="Calibri" panose="020F0502020204030204" pitchFamily="34" charset="0"/>
                <a:cs typeface="Calibri" panose="020F0502020204030204" pitchFamily="34" charset="0"/>
              </a:rPr>
              <a:t>Positive skewness:</a:t>
            </a:r>
            <a:r>
              <a:rPr lang="en-GB" sz="1600" b="0" i="0" dirty="0">
                <a:solidFill>
                  <a:srgbClr val="000000"/>
                </a:solidFill>
                <a:effectLst/>
                <a:latin typeface="Calibri" panose="020F0502020204030204" pitchFamily="34" charset="0"/>
                <a:cs typeface="Calibri" panose="020F0502020204030204" pitchFamily="34" charset="0"/>
              </a:rPr>
              <a:t> When the tail on the right side of the distribution is longer or fatter, we say the data is positively skewed. For a positive skewness mean &gt; median &gt; mode.</a:t>
            </a:r>
          </a:p>
          <a:p>
            <a:pPr algn="l">
              <a:buFont typeface="Arial" panose="020B0604020202020204" pitchFamily="34" charset="0"/>
              <a:buChar char="•"/>
            </a:pPr>
            <a:r>
              <a:rPr lang="en-GB" sz="1600" b="1" i="0" dirty="0">
                <a:solidFill>
                  <a:srgbClr val="000000"/>
                </a:solidFill>
                <a:effectLst/>
                <a:latin typeface="Calibri" panose="020F0502020204030204" pitchFamily="34" charset="0"/>
                <a:cs typeface="Calibri" panose="020F0502020204030204" pitchFamily="34" charset="0"/>
              </a:rPr>
              <a:t>Negative skewness:</a:t>
            </a:r>
            <a:r>
              <a:rPr lang="en-GB" sz="1600" b="0" i="0" dirty="0">
                <a:solidFill>
                  <a:srgbClr val="000000"/>
                </a:solidFill>
                <a:effectLst/>
                <a:latin typeface="Calibri" panose="020F0502020204030204" pitchFamily="34" charset="0"/>
                <a:cs typeface="Calibri" panose="020F0502020204030204" pitchFamily="34" charset="0"/>
              </a:rPr>
              <a:t> When the tail on the left side of the distribution is longer or fatter, we say that the distribution is negatively skewed. For a negative skewness mean &lt; median &lt; mode.</a:t>
            </a:r>
          </a:p>
          <a:p>
            <a:pPr algn="l"/>
            <a:r>
              <a:rPr lang="en-GB" sz="1600" b="1" i="0" dirty="0">
                <a:solidFill>
                  <a:srgbClr val="000000"/>
                </a:solidFill>
                <a:effectLst/>
                <a:latin typeface="Calibri" panose="020F0502020204030204" pitchFamily="34" charset="0"/>
                <a:cs typeface="Calibri" panose="020F0502020204030204" pitchFamily="34" charset="0"/>
              </a:rPr>
              <a:t>What does skewness tells us? </a:t>
            </a:r>
            <a:r>
              <a:rPr lang="en-GB" sz="1600" b="0" i="0" dirty="0">
                <a:solidFill>
                  <a:srgbClr val="000000"/>
                </a:solidFill>
                <a:effectLst/>
                <a:latin typeface="Calibri" panose="020F0502020204030204" pitchFamily="34" charset="0"/>
                <a:cs typeface="Calibri" panose="020F0502020204030204" pitchFamily="34" charset="0"/>
              </a:rPr>
              <a:t>Consider house prices ranging from 100k to 1,000,000 with the average being 500,000.</a:t>
            </a:r>
          </a:p>
          <a:p>
            <a:pPr algn="l"/>
            <a:r>
              <a:rPr lang="en-GB" sz="1600" b="0" i="0" dirty="0">
                <a:solidFill>
                  <a:srgbClr val="000000"/>
                </a:solidFill>
                <a:effectLst/>
                <a:latin typeface="Calibri" panose="020F0502020204030204" pitchFamily="34" charset="0"/>
                <a:cs typeface="Calibri" panose="020F0502020204030204" pitchFamily="34" charset="0"/>
              </a:rPr>
              <a:t>If the peak of the distribution is in left side that means our data is positively skewed and most of the houses are being sold at the price less than the average.</a:t>
            </a:r>
          </a:p>
          <a:p>
            <a:pPr algn="l"/>
            <a:r>
              <a:rPr lang="en-GB" sz="1600" b="0" i="0" dirty="0">
                <a:solidFill>
                  <a:srgbClr val="000000"/>
                </a:solidFill>
                <a:effectLst/>
                <a:latin typeface="Calibri" panose="020F0502020204030204" pitchFamily="34" charset="0"/>
                <a:cs typeface="Calibri" panose="020F0502020204030204" pitchFamily="34" charset="0"/>
              </a:rPr>
              <a:t>If the peak of the distribution is in right side that means our data is negatively skewed and most of the houses are being sold at the price greater than the average.</a:t>
            </a:r>
          </a:p>
          <a:p>
            <a:pPr algn="l"/>
            <a:r>
              <a:rPr lang="en-GB" sz="1600" b="0" i="0" dirty="0">
                <a:solidFill>
                  <a:srgbClr val="000000"/>
                </a:solidFill>
                <a:effectLst/>
                <a:latin typeface="Calibri" panose="020F0502020204030204" pitchFamily="34" charset="0"/>
                <a:cs typeface="Calibri" panose="020F0502020204030204" pitchFamily="34" charset="0"/>
              </a:rPr>
              <a:t>Now, the question is when we can say our data is moderately skewed or heavily skewed.</a:t>
            </a:r>
          </a:p>
          <a:p>
            <a:pPr algn="l"/>
            <a:r>
              <a:rPr lang="en-GB" sz="1600" b="0" i="0" dirty="0">
                <a:solidFill>
                  <a:srgbClr val="000000"/>
                </a:solidFill>
                <a:effectLst/>
                <a:latin typeface="Calibri" panose="020F0502020204030204" pitchFamily="34" charset="0"/>
                <a:cs typeface="Calibri" panose="020F0502020204030204" pitchFamily="34" charset="0"/>
              </a:rPr>
              <a:t>The thumb rule is: If the skewness is between -0.5 to +0.5 then we can say data is fairly symmetrical. If the skewness is between -1 to -0.5 or 0.5 to 1 then data is moderately skewed. And if the skewness is less than -1 and greater than +1 then our data is heavily skewed.</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kurtosis</a:t>
            </a:r>
          </a:p>
        </p:txBody>
      </p:sp>
      <p:pic>
        <p:nvPicPr>
          <p:cNvPr id="1028"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06640" y="1816086"/>
            <a:ext cx="4709159" cy="337770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120316" y="1334739"/>
            <a:ext cx="7286324" cy="4523105"/>
          </a:xfrm>
          <a:prstGeom prst="rect">
            <a:avLst/>
          </a:prstGeom>
          <a:noFill/>
        </p:spPr>
        <p:txBody>
          <a:bodyPr wrap="square">
            <a:spAutoFit/>
          </a:bodyPr>
          <a:lstStyle/>
          <a:p>
            <a:pPr algn="l"/>
            <a:r>
              <a:rPr lang="en-GB" sz="1800" b="0" i="0" dirty="0">
                <a:solidFill>
                  <a:srgbClr val="000000"/>
                </a:solidFill>
                <a:effectLst/>
                <a:latin typeface="Calibri" panose="020F0502020204030204" pitchFamily="34" charset="0"/>
                <a:cs typeface="Calibri" panose="020F0502020204030204" pitchFamily="34" charset="0"/>
              </a:rPr>
              <a:t>About the shape or </a:t>
            </a:r>
            <a:r>
              <a:rPr lang="en-GB" sz="1800" b="0" i="0" dirty="0" err="1">
                <a:solidFill>
                  <a:srgbClr val="000000"/>
                </a:solidFill>
                <a:effectLst/>
                <a:latin typeface="Calibri" panose="020F0502020204030204" pitchFamily="34" charset="0"/>
                <a:cs typeface="Calibri" panose="020F0502020204030204" pitchFamily="34" charset="0"/>
              </a:rPr>
              <a:t>peakedness</a:t>
            </a:r>
            <a:r>
              <a:rPr lang="en-GB" sz="1800" b="0" i="0" dirty="0">
                <a:solidFill>
                  <a:srgbClr val="000000"/>
                </a:solidFill>
                <a:effectLst/>
                <a:latin typeface="Calibri" panose="020F0502020204030204" pitchFamily="34" charset="0"/>
                <a:cs typeface="Calibri" panose="020F0502020204030204" pitchFamily="34" charset="0"/>
              </a:rPr>
              <a:t> or flatness of the distribution but this is not correct. </a:t>
            </a:r>
          </a:p>
          <a:p>
            <a:pPr algn="l"/>
            <a:r>
              <a:rPr lang="en-GB" sz="1800" b="0" i="0" dirty="0">
                <a:solidFill>
                  <a:srgbClr val="000000"/>
                </a:solidFill>
                <a:effectLst/>
                <a:latin typeface="Calibri" panose="020F0502020204030204" pitchFamily="34" charset="0"/>
                <a:cs typeface="Calibri" panose="020F0502020204030204" pitchFamily="34" charset="0"/>
              </a:rPr>
              <a:t>Kurtosis tell us about the tails behaviour. It is actually the measure of outliers present in the distribution.</a:t>
            </a:r>
          </a:p>
          <a:p>
            <a:pPr algn="l"/>
            <a:r>
              <a:rPr lang="en-GB" sz="1800" b="1" i="0" dirty="0">
                <a:solidFill>
                  <a:srgbClr val="000000"/>
                </a:solidFill>
                <a:effectLst/>
                <a:latin typeface="Calibri" panose="020F0502020204030204" pitchFamily="34" charset="0"/>
                <a:cs typeface="Calibri" panose="020F0502020204030204" pitchFamily="34" charset="0"/>
              </a:rPr>
              <a:t>Kurtosis are of three types:</a:t>
            </a:r>
          </a:p>
          <a:p>
            <a:pPr algn="l">
              <a:buFont typeface="Arial" panose="020B0604020202020204" pitchFamily="34" charset="0"/>
              <a:buChar char="•"/>
            </a:pPr>
            <a:r>
              <a:rPr lang="en-GB" sz="1800" b="1" i="0" dirty="0">
                <a:solidFill>
                  <a:srgbClr val="000000"/>
                </a:solidFill>
                <a:effectLst/>
                <a:latin typeface="Calibri" panose="020F0502020204030204" pitchFamily="34" charset="0"/>
                <a:cs typeface="Calibri" panose="020F0502020204030204" pitchFamily="34" charset="0"/>
              </a:rPr>
              <a:t>Mesokurtic:</a:t>
            </a:r>
            <a:r>
              <a:rPr lang="en-GB" sz="1800" b="0" i="0" dirty="0">
                <a:solidFill>
                  <a:srgbClr val="000000"/>
                </a:solidFill>
                <a:effectLst/>
                <a:latin typeface="Calibri" panose="020F0502020204030204" pitchFamily="34" charset="0"/>
                <a:cs typeface="Calibri" panose="020F0502020204030204" pitchFamily="34" charset="0"/>
              </a:rPr>
              <a:t> When the tails of the </a:t>
            </a:r>
            <a:r>
              <a:rPr lang="en-GB" sz="1800" b="0" i="0" dirty="0" err="1">
                <a:solidFill>
                  <a:srgbClr val="000000"/>
                </a:solidFill>
                <a:effectLst/>
                <a:latin typeface="Calibri" panose="020F0502020204030204" pitchFamily="34" charset="0"/>
                <a:cs typeface="Calibri" panose="020F0502020204030204" pitchFamily="34" charset="0"/>
              </a:rPr>
              <a:t>distibution</a:t>
            </a:r>
            <a:r>
              <a:rPr lang="en-GB" sz="1800" b="0" i="0" dirty="0">
                <a:solidFill>
                  <a:srgbClr val="000000"/>
                </a:solidFill>
                <a:effectLst/>
                <a:latin typeface="Calibri" panose="020F0502020204030204" pitchFamily="34" charset="0"/>
                <a:cs typeface="Calibri" panose="020F0502020204030204" pitchFamily="34" charset="0"/>
              </a:rPr>
              <a:t> is similar to the normal distribution then it is mesokurtic. The </a:t>
            </a:r>
            <a:r>
              <a:rPr lang="en-GB" sz="1800" b="0" i="0" dirty="0" err="1">
                <a:solidFill>
                  <a:srgbClr val="000000"/>
                </a:solidFill>
                <a:effectLst/>
                <a:latin typeface="Calibri" panose="020F0502020204030204" pitchFamily="34" charset="0"/>
                <a:cs typeface="Calibri" panose="020F0502020204030204" pitchFamily="34" charset="0"/>
              </a:rPr>
              <a:t>kutosis</a:t>
            </a:r>
            <a:r>
              <a:rPr lang="en-GB" sz="1800" b="0" i="0" dirty="0">
                <a:solidFill>
                  <a:srgbClr val="000000"/>
                </a:solidFill>
                <a:effectLst/>
                <a:latin typeface="Calibri" panose="020F0502020204030204" pitchFamily="34" charset="0"/>
                <a:cs typeface="Calibri" panose="020F0502020204030204" pitchFamily="34" charset="0"/>
              </a:rPr>
              <a:t> for normal </a:t>
            </a:r>
            <a:r>
              <a:rPr lang="en-GB" sz="1800" b="0" i="0" dirty="0" err="1">
                <a:solidFill>
                  <a:srgbClr val="000000"/>
                </a:solidFill>
                <a:effectLst/>
                <a:latin typeface="Calibri" panose="020F0502020204030204" pitchFamily="34" charset="0"/>
                <a:cs typeface="Calibri" panose="020F0502020204030204" pitchFamily="34" charset="0"/>
              </a:rPr>
              <a:t>distibution</a:t>
            </a:r>
            <a:r>
              <a:rPr lang="en-GB" sz="1800" b="0" i="0" dirty="0">
                <a:solidFill>
                  <a:srgbClr val="000000"/>
                </a:solidFill>
                <a:effectLst/>
                <a:latin typeface="Calibri" panose="020F0502020204030204" pitchFamily="34" charset="0"/>
                <a:cs typeface="Calibri" panose="020F0502020204030204" pitchFamily="34" charset="0"/>
              </a:rPr>
              <a:t> is 3.</a:t>
            </a:r>
          </a:p>
          <a:p>
            <a:pPr algn="l">
              <a:buFont typeface="Arial" panose="020B0604020202020204" pitchFamily="34" charset="0"/>
              <a:buChar char="•"/>
            </a:pPr>
            <a:r>
              <a:rPr lang="en-GB" sz="1800" b="1" i="0" dirty="0">
                <a:solidFill>
                  <a:srgbClr val="000000"/>
                </a:solidFill>
                <a:effectLst/>
                <a:latin typeface="Calibri" panose="020F0502020204030204" pitchFamily="34" charset="0"/>
                <a:cs typeface="Calibri" panose="020F0502020204030204" pitchFamily="34" charset="0"/>
              </a:rPr>
              <a:t>Leptokurtic:</a:t>
            </a:r>
            <a:r>
              <a:rPr lang="en-GB" sz="1800" b="0" i="0" dirty="0">
                <a:solidFill>
                  <a:srgbClr val="000000"/>
                </a:solidFill>
                <a:effectLst/>
                <a:latin typeface="Calibri" panose="020F0502020204030204" pitchFamily="34" charset="0"/>
                <a:cs typeface="Calibri" panose="020F0502020204030204" pitchFamily="34" charset="0"/>
              </a:rPr>
              <a:t> If the kurtosis is greater than 3 then it is leptokurtic. In this case, the tails will be heavier than the normal distribution which means lots of outliers are present in the data. It can be recognized as thin bell shaped distribution with a peak higher than normal distribution.</a:t>
            </a:r>
          </a:p>
          <a:p>
            <a:pPr algn="l">
              <a:buFont typeface="Arial" panose="020B0604020202020204" pitchFamily="34" charset="0"/>
              <a:buChar char="•"/>
            </a:pPr>
            <a:r>
              <a:rPr lang="en-GB" sz="1800" b="1" i="0" dirty="0">
                <a:solidFill>
                  <a:srgbClr val="000000"/>
                </a:solidFill>
                <a:effectLst/>
                <a:latin typeface="Calibri" panose="020F0502020204030204" pitchFamily="34" charset="0"/>
                <a:cs typeface="Calibri" panose="020F0502020204030204" pitchFamily="34" charset="0"/>
              </a:rPr>
              <a:t>Platykurtic:</a:t>
            </a:r>
            <a:r>
              <a:rPr lang="en-GB" sz="1800" b="0" i="0" dirty="0">
                <a:solidFill>
                  <a:srgbClr val="000000"/>
                </a:solidFill>
                <a:effectLst/>
                <a:latin typeface="Calibri" panose="020F0502020204030204" pitchFamily="34" charset="0"/>
                <a:cs typeface="Calibri" panose="020F0502020204030204" pitchFamily="34" charset="0"/>
              </a:rPr>
              <a:t> Kurtosis will be less than 3 which implies thinner tail or lack of outliers than normal distribution. In case of platykurtic, bell shaped distribution will be broader and peak will be lower than the mesokurtic.</a:t>
            </a:r>
          </a:p>
          <a:p>
            <a:endParaRPr lang="en-GB" sz="1800" dirty="0">
              <a:latin typeface="Calibri" panose="020F0502020204030204" pitchFamily="34" charset="0"/>
              <a:cs typeface="Calibri" panose="020F0502020204030204" pitchFamily="34" charset="0"/>
            </a:endParaRPr>
          </a:p>
          <a:p>
            <a:endParaRPr lang="en-GB" sz="1800" dirty="0">
              <a:latin typeface="Calibri" panose="020F0502020204030204" pitchFamily="34" charset="0"/>
              <a:cs typeface="Calibri" panose="020F0502020204030204" pitchFamily="34"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Log </a:t>
            </a:r>
            <a:r>
              <a:rPr lang="en-GB" dirty="0" err="1"/>
              <a:t>tranformation</a:t>
            </a:r>
            <a:endParaRPr lang="en-GB" dirty="0"/>
          </a:p>
        </p:txBody>
      </p:sp>
      <p:sp>
        <p:nvSpPr>
          <p:cNvPr id="3" name="Text Placeholder 2"/>
          <p:cNvSpPr>
            <a:spLocks noGrp="1"/>
          </p:cNvSpPr>
          <p:nvPr>
            <p:ph type="body" sz="quarter" idx="10"/>
          </p:nvPr>
        </p:nvSpPr>
        <p:spPr>
          <a:xfrm>
            <a:off x="407480" y="1592520"/>
            <a:ext cx="7329793" cy="4469952"/>
          </a:xfrm>
        </p:spPr>
        <p:txBody>
          <a:bodyPr/>
          <a:lstStyle/>
          <a:p>
            <a:pPr algn="l"/>
            <a:r>
              <a:rPr lang="en-US" b="0" i="0" dirty="0">
                <a:solidFill>
                  <a:srgbClr val="292929"/>
                </a:solidFill>
                <a:effectLst/>
                <a:latin typeface="Calibri" panose="020F0502020204030204" pitchFamily="34" charset="0"/>
                <a:cs typeface="Calibri" panose="020F0502020204030204" pitchFamily="34" charset="0"/>
              </a:rPr>
              <a:t>When our original continuous data do not follow the bell curve, we can log transform this data to make it as “normal” as possible so that the statistical analysis results from this data become more valid. In other words, the log transformation reduces or removes the skewness of our original data. </a:t>
            </a:r>
            <a:r>
              <a:rPr lang="en-GB" b="0" i="0" dirty="0">
                <a:effectLst/>
                <a:latin typeface="Calibri" panose="020F0502020204030204" pitchFamily="34" charset="0"/>
                <a:cs typeface="Calibri" panose="020F0502020204030204" pitchFamily="34" charset="0"/>
              </a:rPr>
              <a:t>import </a:t>
            </a:r>
            <a:r>
              <a:rPr lang="en-GB" b="0" i="0" dirty="0" err="1">
                <a:effectLst/>
                <a:latin typeface="Calibri" panose="020F0502020204030204" pitchFamily="34" charset="0"/>
                <a:cs typeface="Calibri" panose="020F0502020204030204" pitchFamily="34" charset="0"/>
              </a:rPr>
              <a:t>numpy</a:t>
            </a:r>
            <a:r>
              <a:rPr lang="en-GB" b="0" i="0" dirty="0">
                <a:effectLst/>
                <a:latin typeface="Calibri" panose="020F0502020204030204" pitchFamily="34" charset="0"/>
                <a:cs typeface="Calibri" panose="020F0502020204030204" pitchFamily="34" charset="0"/>
              </a:rPr>
              <a:t> as np</a:t>
            </a:r>
          </a:p>
          <a:p>
            <a:r>
              <a:rPr lang="en-GB" b="0" i="0" dirty="0">
                <a:effectLst/>
                <a:latin typeface="Calibri" panose="020F0502020204030204" pitchFamily="34" charset="0"/>
                <a:cs typeface="Calibri" panose="020F0502020204030204" pitchFamily="34" charset="0"/>
              </a:rPr>
              <a:t>x = [1, 2, 3, 4, 5]</a:t>
            </a:r>
            <a:br>
              <a:rPr lang="en-GB" b="0" i="0" dirty="0">
                <a:effectLst/>
                <a:latin typeface="Calibri" panose="020F0502020204030204" pitchFamily="34" charset="0"/>
                <a:cs typeface="Calibri" panose="020F0502020204030204" pitchFamily="34" charset="0"/>
              </a:rPr>
            </a:br>
            <a:r>
              <a:rPr lang="en-GB" b="0" i="0" dirty="0">
                <a:effectLst/>
                <a:latin typeface="Calibri" panose="020F0502020204030204" pitchFamily="34" charset="0"/>
                <a:cs typeface="Calibri" panose="020F0502020204030204" pitchFamily="34" charset="0"/>
              </a:rPr>
              <a:t>y = np.log(x)</a:t>
            </a:r>
            <a:br>
              <a:rPr lang="en-GB" b="0" i="0" dirty="0">
                <a:effectLst/>
                <a:latin typeface="Calibri" panose="020F0502020204030204" pitchFamily="34" charset="0"/>
                <a:cs typeface="Calibri" panose="020F0502020204030204" pitchFamily="34" charset="0"/>
              </a:rPr>
            </a:br>
            <a:r>
              <a:rPr lang="en-GB" b="0" i="0" dirty="0">
                <a:effectLst/>
                <a:latin typeface="Calibri" panose="020F0502020204030204" pitchFamily="34" charset="0"/>
                <a:cs typeface="Calibri" panose="020F0502020204030204" pitchFamily="34" charset="0"/>
              </a:rPr>
              <a:t>y</a:t>
            </a:r>
            <a:endParaRPr lang="en-GB" dirty="0">
              <a:latin typeface="Calibri" panose="020F0502020204030204" pitchFamily="34" charset="0"/>
              <a:cs typeface="Calibri" panose="020F0502020204030204" pitchFamily="34" charset="0"/>
            </a:endParaRPr>
          </a:p>
          <a:p>
            <a:endParaRPr lang="en-GB" dirty="0">
              <a:latin typeface="Calibri" panose="020F0502020204030204" pitchFamily="34" charset="0"/>
              <a:cs typeface="Calibri" panose="020F0502020204030204" pitchFamily="34" charset="0"/>
            </a:endParaRPr>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31584" y="2191604"/>
            <a:ext cx="3928910" cy="163704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Cost function</a:t>
            </a:r>
          </a:p>
        </p:txBody>
      </p:sp>
      <p:sp>
        <p:nvSpPr>
          <p:cNvPr id="3" name="Text Placeholder 2"/>
          <p:cNvSpPr>
            <a:spLocks noGrp="1"/>
          </p:cNvSpPr>
          <p:nvPr>
            <p:ph type="body" sz="quarter" idx="10"/>
          </p:nvPr>
        </p:nvSpPr>
        <p:spPr/>
        <p:txBody>
          <a:bodyPr/>
          <a:lstStyle/>
          <a:p>
            <a:pPr marL="0" marR="0">
              <a:lnSpc>
                <a:spcPts val="2400"/>
              </a:lnSpc>
              <a:spcBef>
                <a:spcPts val="2400"/>
              </a:spcBef>
              <a:spcAft>
                <a:spcPts val="0"/>
              </a:spcAft>
            </a:pPr>
            <a:r>
              <a:rPr lang="en-US" sz="2000" spc="-5" dirty="0">
                <a:solidFill>
                  <a:srgbClr val="292929"/>
                </a:solidFill>
                <a:effectLst/>
                <a:latin typeface="Georgia" panose="02040502050405020303" pitchFamily="18" charset="0"/>
                <a:ea typeface="Times New Roman" panose="02020603050405020304" pitchFamily="18" charset="0"/>
              </a:rPr>
              <a:t>Using a multivariate model helps us compare coefficients across outcomes. What makes a multivariate or multiple linear regression a better model is a small cost function.</a:t>
            </a:r>
            <a:endParaRPr lang="en-US" sz="2000" dirty="0">
              <a:effectLst/>
              <a:latin typeface="Times New Roman" panose="02020603050405020304" pitchFamily="18" charset="0"/>
              <a:ea typeface="Times New Roman" panose="02020603050405020304" pitchFamily="18" charset="0"/>
            </a:endParaRPr>
          </a:p>
          <a:p>
            <a:pPr marL="0" marR="0">
              <a:lnSpc>
                <a:spcPts val="2100"/>
              </a:lnSpc>
              <a:spcBef>
                <a:spcPts val="3770"/>
              </a:spcBef>
              <a:spcAft>
                <a:spcPts val="0"/>
              </a:spcAft>
            </a:pPr>
            <a:r>
              <a:rPr lang="en-US" sz="2000" b="0" kern="0" dirty="0">
                <a:solidFill>
                  <a:srgbClr val="292929"/>
                </a:solidFill>
                <a:effectLst/>
                <a:latin typeface="Helvetica" panose="020B0604020202020204" pitchFamily="34" charset="0"/>
                <a:ea typeface="Times New Roman" panose="02020603050405020304" pitchFamily="18" charset="0"/>
                <a:cs typeface="Times New Roman" panose="02020603050405020304" pitchFamily="18" charset="0"/>
              </a:rPr>
              <a:t>Cost Function</a:t>
            </a:r>
            <a:endParaRPr lang="en-US" sz="2000" b="1" kern="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0" marR="0">
              <a:lnSpc>
                <a:spcPts val="2400"/>
              </a:lnSpc>
              <a:spcBef>
                <a:spcPts val="1030"/>
              </a:spcBef>
              <a:spcAft>
                <a:spcPts val="0"/>
              </a:spcAft>
            </a:pPr>
            <a:r>
              <a:rPr lang="en-US" sz="2000" spc="-5" dirty="0">
                <a:solidFill>
                  <a:srgbClr val="292929"/>
                </a:solidFill>
                <a:effectLst/>
                <a:latin typeface="Georgia" panose="02040502050405020303" pitchFamily="18" charset="0"/>
                <a:ea typeface="Times New Roman" panose="02020603050405020304" pitchFamily="18" charset="0"/>
              </a:rPr>
              <a:t>In simple words it is a function that assigns a cost to instances where the model deviates from the observed data. In this case, our cost is the </a:t>
            </a:r>
            <a:r>
              <a:rPr lang="en-US" sz="2000" b="1" spc="-5" dirty="0">
                <a:solidFill>
                  <a:srgbClr val="292929"/>
                </a:solidFill>
                <a:effectLst/>
                <a:latin typeface="Georgia" panose="02040502050405020303" pitchFamily="18" charset="0"/>
                <a:ea typeface="Times New Roman" panose="02020603050405020304" pitchFamily="18" charset="0"/>
              </a:rPr>
              <a:t>sum of squared errors</a:t>
            </a:r>
            <a:r>
              <a:rPr lang="en-US" sz="2000" spc="-5" dirty="0">
                <a:solidFill>
                  <a:srgbClr val="292929"/>
                </a:solidFill>
                <a:effectLst/>
                <a:latin typeface="Georgia" panose="02040502050405020303" pitchFamily="18" charset="0"/>
                <a:ea typeface="Times New Roman" panose="02020603050405020304" pitchFamily="18" charset="0"/>
              </a:rPr>
              <a:t>. The cost function for multiple linear regression is given by:</a:t>
            </a:r>
            <a:endParaRPr lang="en-US" sz="2000" dirty="0">
              <a:effectLst/>
              <a:latin typeface="Times New Roman" panose="02020603050405020304" pitchFamily="18" charset="0"/>
              <a:ea typeface="Times New Roman" panose="02020603050405020304" pitchFamily="18" charset="0"/>
            </a:endParaRPr>
          </a:p>
          <a:p>
            <a:r>
              <a:rPr lang="en-US" sz="2000" spc="-5" dirty="0">
                <a:solidFill>
                  <a:srgbClr val="292929"/>
                </a:solidFill>
                <a:effectLst/>
                <a:latin typeface="Georgia" panose="02040502050405020303" pitchFamily="18" charset="0"/>
                <a:ea typeface="Times New Roman" panose="02020603050405020304" pitchFamily="18" charset="0"/>
              </a:rPr>
              <a:t>We can understand this equation as the summation of square of difference between our predicted value and the actual value divided by twice of length of data set. A smaller mean squared error implies a better performance. Generally, a cost function is used along with the Gradient Descent algorithm to find the best parameters.</a:t>
            </a:r>
            <a:endParaRPr lang="en-US" sz="2000" dirty="0">
              <a:effectLst/>
              <a:latin typeface="Times New Roman" panose="02020603050405020304" pitchFamily="18" charset="0"/>
              <a:ea typeface="Times New Roman" panose="02020603050405020304" pitchFamily="18" charset="0"/>
            </a:endParaRPr>
          </a:p>
          <a:p>
            <a:endParaRPr lang="en-US" sz="2000" dirty="0"/>
          </a:p>
        </p:txBody>
      </p:sp>
      <p:pic>
        <p:nvPicPr>
          <p:cNvPr id="4" name="Picture 3" descr="Text&#10;&#10;Description automatically generated"/>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426177" y="2488747"/>
            <a:ext cx="2863850" cy="70485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Steps in machine learning</a:t>
            </a:r>
            <a:endParaRPr lang="en-US" dirty="0"/>
          </a:p>
        </p:txBody>
      </p:sp>
      <p:sp>
        <p:nvSpPr>
          <p:cNvPr id="4" name="Text Placeholder 2"/>
          <p:cNvSpPr txBox="1"/>
          <p:nvPr/>
        </p:nvSpPr>
        <p:spPr>
          <a:xfrm>
            <a:off x="2046354" y="2270947"/>
            <a:ext cx="2422072" cy="711503"/>
          </a:xfrm>
          <a:prstGeom prst="rect">
            <a:avLst/>
          </a:prstGeom>
        </p:spPr>
        <p:txBody>
          <a:bodyPr/>
          <a:lstStyle>
            <a:lvl1pPr marL="228600" indent="-228600" algn="l" defTabSz="914400" rtl="0" eaLnBrk="1" latinLnBrk="0" hangingPunct="1">
              <a:lnSpc>
                <a:spcPct val="90000"/>
              </a:lnSpc>
              <a:spcBef>
                <a:spcPts val="1000"/>
              </a:spcBef>
              <a:buClr>
                <a:srgbClr val="942F6D"/>
              </a:buClr>
              <a:buFont typeface="Arial" panose="020B0604020202020204" pitchFamily="34" charset="0"/>
              <a:buChar char="•"/>
              <a:defRPr sz="2800" kern="1200" baseline="0">
                <a:solidFill>
                  <a:srgbClr val="656768"/>
                </a:solidFill>
                <a:latin typeface="+mn-lt"/>
                <a:ea typeface="+mn-ea"/>
                <a:cs typeface="+mn-cs"/>
              </a:defRPr>
            </a:lvl1pPr>
            <a:lvl2pPr marL="685800" indent="-228600" algn="l" defTabSz="914400" rtl="0" eaLnBrk="1" latinLnBrk="0" hangingPunct="1">
              <a:lnSpc>
                <a:spcPct val="90000"/>
              </a:lnSpc>
              <a:spcBef>
                <a:spcPts val="500"/>
              </a:spcBef>
              <a:buClr>
                <a:srgbClr val="942F6D"/>
              </a:buClr>
              <a:buFont typeface="Arial" panose="020B0604020202020204" pitchFamily="34" charset="0"/>
              <a:buChar char="•"/>
              <a:defRPr sz="2400" kern="1200">
                <a:solidFill>
                  <a:srgbClr val="656768"/>
                </a:solidFill>
                <a:latin typeface="+mn-lt"/>
                <a:ea typeface="+mn-ea"/>
                <a:cs typeface="+mn-cs"/>
              </a:defRPr>
            </a:lvl2pPr>
            <a:lvl3pPr marL="1143000" indent="-228600" algn="l" defTabSz="914400" rtl="0" eaLnBrk="1" latinLnBrk="0" hangingPunct="1">
              <a:lnSpc>
                <a:spcPct val="90000"/>
              </a:lnSpc>
              <a:spcBef>
                <a:spcPts val="500"/>
              </a:spcBef>
              <a:buClr>
                <a:srgbClr val="942F6D"/>
              </a:buClr>
              <a:buFont typeface="Arial" panose="020B0604020202020204" pitchFamily="34" charset="0"/>
              <a:buChar char="•"/>
              <a:defRPr sz="2000" kern="1200">
                <a:solidFill>
                  <a:srgbClr val="656768"/>
                </a:solidFill>
                <a:latin typeface="+mn-lt"/>
                <a:ea typeface="+mn-ea"/>
                <a:cs typeface="+mn-cs"/>
              </a:defRPr>
            </a:lvl3pPr>
            <a:lvl4pPr marL="16002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656768"/>
                </a:solidFill>
                <a:latin typeface="+mn-lt"/>
                <a:ea typeface="+mn-ea"/>
                <a:cs typeface="+mn-cs"/>
              </a:defRPr>
            </a:lvl4pPr>
            <a:lvl5pPr marL="20574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656768"/>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b="1" dirty="0">
                <a:solidFill>
                  <a:srgbClr val="292929"/>
                </a:solidFill>
                <a:effectLst/>
                <a:latin typeface="Helvetica" panose="020B0604020202020204" pitchFamily="34" charset="0"/>
                <a:ea typeface="Times New Roman" panose="02020603050405020304" pitchFamily="18" charset="0"/>
              </a:rPr>
              <a:t>STEP 2: VISUALISING THE DATA</a:t>
            </a:r>
            <a:endParaRPr lang="en-US" sz="1400" dirty="0"/>
          </a:p>
          <a:p>
            <a:endParaRPr lang="en-US" sz="1400" dirty="0"/>
          </a:p>
        </p:txBody>
      </p:sp>
      <p:sp>
        <p:nvSpPr>
          <p:cNvPr id="5" name="Text Placeholder 2"/>
          <p:cNvSpPr txBox="1"/>
          <p:nvPr/>
        </p:nvSpPr>
        <p:spPr>
          <a:xfrm>
            <a:off x="4215196" y="2982450"/>
            <a:ext cx="2673327" cy="1068223"/>
          </a:xfrm>
          <a:prstGeom prst="rect">
            <a:avLst/>
          </a:prstGeom>
        </p:spPr>
        <p:txBody>
          <a:bodyPr/>
          <a:lstStyle>
            <a:lvl1pPr marL="228600" indent="-228600" algn="l" defTabSz="914400" rtl="0" eaLnBrk="1" latinLnBrk="0" hangingPunct="1">
              <a:lnSpc>
                <a:spcPct val="90000"/>
              </a:lnSpc>
              <a:spcBef>
                <a:spcPts val="1000"/>
              </a:spcBef>
              <a:buClr>
                <a:srgbClr val="942F6D"/>
              </a:buClr>
              <a:buFont typeface="Arial" panose="020B0604020202020204" pitchFamily="34" charset="0"/>
              <a:buChar char="•"/>
              <a:defRPr sz="2800" kern="1200" baseline="0">
                <a:solidFill>
                  <a:srgbClr val="656768"/>
                </a:solidFill>
                <a:latin typeface="+mn-lt"/>
                <a:ea typeface="+mn-ea"/>
                <a:cs typeface="+mn-cs"/>
              </a:defRPr>
            </a:lvl1pPr>
            <a:lvl2pPr marL="685800" indent="-228600" algn="l" defTabSz="914400" rtl="0" eaLnBrk="1" latinLnBrk="0" hangingPunct="1">
              <a:lnSpc>
                <a:spcPct val="90000"/>
              </a:lnSpc>
              <a:spcBef>
                <a:spcPts val="500"/>
              </a:spcBef>
              <a:buClr>
                <a:srgbClr val="942F6D"/>
              </a:buClr>
              <a:buFont typeface="Arial" panose="020B0604020202020204" pitchFamily="34" charset="0"/>
              <a:buChar char="•"/>
              <a:defRPr sz="2400" kern="1200">
                <a:solidFill>
                  <a:srgbClr val="656768"/>
                </a:solidFill>
                <a:latin typeface="+mn-lt"/>
                <a:ea typeface="+mn-ea"/>
                <a:cs typeface="+mn-cs"/>
              </a:defRPr>
            </a:lvl2pPr>
            <a:lvl3pPr marL="1143000" indent="-228600" algn="l" defTabSz="914400" rtl="0" eaLnBrk="1" latinLnBrk="0" hangingPunct="1">
              <a:lnSpc>
                <a:spcPct val="90000"/>
              </a:lnSpc>
              <a:spcBef>
                <a:spcPts val="500"/>
              </a:spcBef>
              <a:buClr>
                <a:srgbClr val="942F6D"/>
              </a:buClr>
              <a:buFont typeface="Arial" panose="020B0604020202020204" pitchFamily="34" charset="0"/>
              <a:buChar char="•"/>
              <a:defRPr sz="2000" kern="1200">
                <a:solidFill>
                  <a:srgbClr val="656768"/>
                </a:solidFill>
                <a:latin typeface="+mn-lt"/>
                <a:ea typeface="+mn-ea"/>
                <a:cs typeface="+mn-cs"/>
              </a:defRPr>
            </a:lvl3pPr>
            <a:lvl4pPr marL="16002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656768"/>
                </a:solidFill>
                <a:latin typeface="+mn-lt"/>
                <a:ea typeface="+mn-ea"/>
                <a:cs typeface="+mn-cs"/>
              </a:defRPr>
            </a:lvl4pPr>
            <a:lvl5pPr marL="20574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656768"/>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b="1" dirty="0">
                <a:solidFill>
                  <a:srgbClr val="292929"/>
                </a:solidFill>
                <a:latin typeface="Helvetica" panose="020B0604020202020204" pitchFamily="34" charset="0"/>
                <a:ea typeface="Times New Roman" panose="02020603050405020304" pitchFamily="18" charset="0"/>
              </a:rPr>
              <a:t>STEP 3: FEATURE ENGINEERING</a:t>
            </a:r>
            <a:endParaRPr lang="en-US" sz="1400" b="1" dirty="0">
              <a:latin typeface="Times New Roman" panose="02020603050405020304" pitchFamily="18" charset="0"/>
              <a:ea typeface="Times New Roman" panose="02020603050405020304" pitchFamily="18" charset="0"/>
            </a:endParaRPr>
          </a:p>
          <a:p>
            <a:endParaRPr lang="en-US" sz="1400" dirty="0"/>
          </a:p>
        </p:txBody>
      </p:sp>
      <p:sp>
        <p:nvSpPr>
          <p:cNvPr id="6" name="Text Placeholder 2"/>
          <p:cNvSpPr txBox="1"/>
          <p:nvPr/>
        </p:nvSpPr>
        <p:spPr>
          <a:xfrm>
            <a:off x="119877" y="1202724"/>
            <a:ext cx="2771604" cy="1068223"/>
          </a:xfrm>
          <a:prstGeom prst="rect">
            <a:avLst/>
          </a:prstGeom>
        </p:spPr>
        <p:txBody>
          <a:bodyPr/>
          <a:lstStyle>
            <a:lvl1pPr marL="228600" indent="-228600" algn="l" defTabSz="914400" rtl="0" eaLnBrk="1" latinLnBrk="0" hangingPunct="1">
              <a:lnSpc>
                <a:spcPct val="90000"/>
              </a:lnSpc>
              <a:spcBef>
                <a:spcPts val="1000"/>
              </a:spcBef>
              <a:buClr>
                <a:srgbClr val="942F6D"/>
              </a:buClr>
              <a:buFont typeface="Arial" panose="020B0604020202020204" pitchFamily="34" charset="0"/>
              <a:buChar char="•"/>
              <a:defRPr sz="2800" kern="1200" baseline="0">
                <a:solidFill>
                  <a:srgbClr val="656768"/>
                </a:solidFill>
                <a:latin typeface="+mn-lt"/>
                <a:ea typeface="+mn-ea"/>
                <a:cs typeface="+mn-cs"/>
              </a:defRPr>
            </a:lvl1pPr>
            <a:lvl2pPr marL="685800" indent="-228600" algn="l" defTabSz="914400" rtl="0" eaLnBrk="1" latinLnBrk="0" hangingPunct="1">
              <a:lnSpc>
                <a:spcPct val="90000"/>
              </a:lnSpc>
              <a:spcBef>
                <a:spcPts val="500"/>
              </a:spcBef>
              <a:buClr>
                <a:srgbClr val="942F6D"/>
              </a:buClr>
              <a:buFont typeface="Arial" panose="020B0604020202020204" pitchFamily="34" charset="0"/>
              <a:buChar char="•"/>
              <a:defRPr sz="2400" kern="1200">
                <a:solidFill>
                  <a:srgbClr val="656768"/>
                </a:solidFill>
                <a:latin typeface="+mn-lt"/>
                <a:ea typeface="+mn-ea"/>
                <a:cs typeface="+mn-cs"/>
              </a:defRPr>
            </a:lvl2pPr>
            <a:lvl3pPr marL="1143000" indent="-228600" algn="l" defTabSz="914400" rtl="0" eaLnBrk="1" latinLnBrk="0" hangingPunct="1">
              <a:lnSpc>
                <a:spcPct val="90000"/>
              </a:lnSpc>
              <a:spcBef>
                <a:spcPts val="500"/>
              </a:spcBef>
              <a:buClr>
                <a:srgbClr val="942F6D"/>
              </a:buClr>
              <a:buFont typeface="Arial" panose="020B0604020202020204" pitchFamily="34" charset="0"/>
              <a:buChar char="•"/>
              <a:defRPr sz="2000" kern="1200">
                <a:solidFill>
                  <a:srgbClr val="656768"/>
                </a:solidFill>
                <a:latin typeface="+mn-lt"/>
                <a:ea typeface="+mn-ea"/>
                <a:cs typeface="+mn-cs"/>
              </a:defRPr>
            </a:lvl3pPr>
            <a:lvl4pPr marL="16002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656768"/>
                </a:solidFill>
                <a:latin typeface="+mn-lt"/>
                <a:ea typeface="+mn-ea"/>
                <a:cs typeface="+mn-cs"/>
              </a:defRPr>
            </a:lvl4pPr>
            <a:lvl5pPr marL="20574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656768"/>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b="1" dirty="0">
                <a:solidFill>
                  <a:srgbClr val="292929"/>
                </a:solidFill>
                <a:latin typeface="Helvetica" panose="020B0604020202020204" pitchFamily="34" charset="0"/>
                <a:ea typeface="Times New Roman" panose="02020603050405020304" pitchFamily="18" charset="0"/>
              </a:rPr>
              <a:t>STEP 1: Explore the  DATA</a:t>
            </a:r>
          </a:p>
          <a:p>
            <a:endParaRPr lang="en-US" sz="1400" dirty="0"/>
          </a:p>
        </p:txBody>
      </p:sp>
      <p:sp>
        <p:nvSpPr>
          <p:cNvPr id="10" name="Text Placeholder 2"/>
          <p:cNvSpPr>
            <a:spLocks noGrp="1"/>
          </p:cNvSpPr>
          <p:nvPr>
            <p:ph type="body" sz="quarter" idx="10"/>
          </p:nvPr>
        </p:nvSpPr>
        <p:spPr>
          <a:xfrm>
            <a:off x="5736596" y="3811914"/>
            <a:ext cx="3827854" cy="835638"/>
          </a:xfrm>
        </p:spPr>
        <p:txBody>
          <a:bodyPr/>
          <a:lstStyle/>
          <a:p>
            <a:pPr marL="0" marR="0">
              <a:lnSpc>
                <a:spcPts val="1800"/>
              </a:lnSpc>
              <a:spcBef>
                <a:spcPts val="2845"/>
              </a:spcBef>
              <a:spcAft>
                <a:spcPts val="0"/>
              </a:spcAft>
            </a:pPr>
            <a:r>
              <a:rPr lang="en-US" sz="1400" b="1" dirty="0">
                <a:solidFill>
                  <a:srgbClr val="292929"/>
                </a:solidFill>
                <a:effectLst/>
                <a:latin typeface="Helvetica" panose="020B0604020202020204" pitchFamily="34" charset="0"/>
                <a:ea typeface="Times New Roman" panose="02020603050405020304" pitchFamily="18" charset="0"/>
              </a:rPr>
              <a:t>STEP 4: FITTING THE MODEL</a:t>
            </a:r>
            <a:endParaRPr lang="en-US" sz="1400" dirty="0"/>
          </a:p>
          <a:p>
            <a:endParaRPr lang="en-US" sz="1400" dirty="0"/>
          </a:p>
        </p:txBody>
      </p:sp>
      <p:sp>
        <p:nvSpPr>
          <p:cNvPr id="3" name="Text Placeholder 2"/>
          <p:cNvSpPr txBox="1"/>
          <p:nvPr/>
        </p:nvSpPr>
        <p:spPr>
          <a:xfrm>
            <a:off x="7785550" y="4641378"/>
            <a:ext cx="3827854" cy="835638"/>
          </a:xfrm>
          <a:prstGeom prst="rect">
            <a:avLst/>
          </a:prstGeom>
        </p:spPr>
        <p:txBody>
          <a:bodyPr/>
          <a:lstStyle>
            <a:lvl1pPr marL="228600" indent="-228600" algn="l" defTabSz="914400" rtl="0" eaLnBrk="1" latinLnBrk="0" hangingPunct="1">
              <a:lnSpc>
                <a:spcPct val="90000"/>
              </a:lnSpc>
              <a:spcBef>
                <a:spcPts val="1000"/>
              </a:spcBef>
              <a:buClr>
                <a:srgbClr val="942F6D"/>
              </a:buClr>
              <a:buFont typeface="Arial" panose="020B0604020202020204" pitchFamily="34" charset="0"/>
              <a:buChar char="•"/>
              <a:defRPr sz="2800" kern="1200" baseline="0">
                <a:solidFill>
                  <a:srgbClr val="656768"/>
                </a:solidFill>
                <a:latin typeface="+mn-lt"/>
                <a:ea typeface="+mn-ea"/>
                <a:cs typeface="+mn-cs"/>
              </a:defRPr>
            </a:lvl1pPr>
            <a:lvl2pPr marL="685800" indent="-228600" algn="l" defTabSz="914400" rtl="0" eaLnBrk="1" latinLnBrk="0" hangingPunct="1">
              <a:lnSpc>
                <a:spcPct val="90000"/>
              </a:lnSpc>
              <a:spcBef>
                <a:spcPts val="500"/>
              </a:spcBef>
              <a:buClr>
                <a:srgbClr val="942F6D"/>
              </a:buClr>
              <a:buFont typeface="Arial" panose="020B0604020202020204" pitchFamily="34" charset="0"/>
              <a:buChar char="•"/>
              <a:defRPr sz="2400" kern="1200">
                <a:solidFill>
                  <a:srgbClr val="656768"/>
                </a:solidFill>
                <a:latin typeface="+mn-lt"/>
                <a:ea typeface="+mn-ea"/>
                <a:cs typeface="+mn-cs"/>
              </a:defRPr>
            </a:lvl2pPr>
            <a:lvl3pPr marL="1143000" indent="-228600" algn="l" defTabSz="914400" rtl="0" eaLnBrk="1" latinLnBrk="0" hangingPunct="1">
              <a:lnSpc>
                <a:spcPct val="90000"/>
              </a:lnSpc>
              <a:spcBef>
                <a:spcPts val="500"/>
              </a:spcBef>
              <a:buClr>
                <a:srgbClr val="942F6D"/>
              </a:buClr>
              <a:buFont typeface="Arial" panose="020B0604020202020204" pitchFamily="34" charset="0"/>
              <a:buChar char="•"/>
              <a:defRPr sz="2000" kern="1200">
                <a:solidFill>
                  <a:srgbClr val="656768"/>
                </a:solidFill>
                <a:latin typeface="+mn-lt"/>
                <a:ea typeface="+mn-ea"/>
                <a:cs typeface="+mn-cs"/>
              </a:defRPr>
            </a:lvl3pPr>
            <a:lvl4pPr marL="16002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656768"/>
                </a:solidFill>
                <a:latin typeface="+mn-lt"/>
                <a:ea typeface="+mn-ea"/>
                <a:cs typeface="+mn-cs"/>
              </a:defRPr>
            </a:lvl4pPr>
            <a:lvl5pPr marL="20574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656768"/>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nSpc>
                <a:spcPts val="1800"/>
              </a:lnSpc>
              <a:spcBef>
                <a:spcPts val="2845"/>
              </a:spcBef>
            </a:pPr>
            <a:r>
              <a:rPr lang="en-US" sz="1400" b="1" dirty="0">
                <a:solidFill>
                  <a:srgbClr val="292929"/>
                </a:solidFill>
                <a:latin typeface="Helvetica" panose="020B0604020202020204" pitchFamily="34" charset="0"/>
                <a:ea typeface="Times New Roman" panose="02020603050405020304" pitchFamily="18" charset="0"/>
              </a:rPr>
              <a:t>STEP 5: Prediction</a:t>
            </a:r>
            <a:endParaRPr lang="en-US" sz="1400" dirty="0"/>
          </a:p>
          <a:p>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942D6D"/>
                </a:solidFill>
              </a:rPr>
              <a:t>Video -visual</a:t>
            </a:r>
          </a:p>
        </p:txBody>
      </p:sp>
      <p:sp>
        <p:nvSpPr>
          <p:cNvPr id="3" name="Text Placeholder 2"/>
          <p:cNvSpPr>
            <a:spLocks noGrp="1"/>
          </p:cNvSpPr>
          <p:nvPr>
            <p:ph type="body" sz="quarter" idx="10"/>
          </p:nvPr>
        </p:nvSpPr>
        <p:spPr>
          <a:xfrm>
            <a:off x="877821" y="1521449"/>
            <a:ext cx="10712388" cy="3815101"/>
          </a:xfrm>
        </p:spPr>
        <p:txBody>
          <a:bodyPr/>
          <a:lstStyle/>
          <a:p>
            <a:r>
              <a:rPr lang="en-US" dirty="0">
                <a:solidFill>
                  <a:schemeClr val="bg2">
                    <a:lumMod val="25000"/>
                  </a:schemeClr>
                </a:solidFill>
              </a:rPr>
              <a:t>Watch the you tube video on Multiple regression</a:t>
            </a:r>
          </a:p>
          <a:p>
            <a:r>
              <a:rPr lang="en-US" dirty="0">
                <a:solidFill>
                  <a:schemeClr val="bg2">
                    <a:lumMod val="25000"/>
                  </a:schemeClr>
                </a:solidFill>
                <a:hlinkClick r:id="rId2"/>
              </a:rPr>
              <a:t>https://www.youtube.com/watch?v=zITIFTsivN8</a:t>
            </a:r>
            <a:r>
              <a:rPr lang="en-US" dirty="0">
                <a:solidFill>
                  <a:schemeClr val="bg2">
                    <a:lumMod val="25000"/>
                  </a:schemeClr>
                </a:solidFill>
              </a:rPr>
              <a:t> (6 minutes)</a:t>
            </a:r>
          </a:p>
          <a:p>
            <a:endParaRPr lang="en-US" dirty="0">
              <a:solidFill>
                <a:schemeClr val="bg2">
                  <a:lumMod val="25000"/>
                </a:schemeClr>
              </a:solidFill>
            </a:endParaRPr>
          </a:p>
        </p:txBody>
      </p:sp>
      <p:cxnSp>
        <p:nvCxnSpPr>
          <p:cNvPr id="4" name="Straight Connector 3"/>
          <p:cNvCxnSpPr/>
          <p:nvPr/>
        </p:nvCxnSpPr>
        <p:spPr>
          <a:xfrm flipH="1">
            <a:off x="601791" y="1070621"/>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p:cNvCxnSpPr/>
          <p:nvPr/>
        </p:nvCxnSpPr>
        <p:spPr>
          <a:xfrm flipV="1">
            <a:off x="472083" y="423248"/>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a:xfrm flipH="1" flipV="1">
            <a:off x="470171" y="1089589"/>
            <a:ext cx="1912" cy="4298063"/>
          </a:xfrm>
          <a:prstGeom prst="line">
            <a:avLst/>
          </a:prstGeom>
        </p:spPr>
        <p:style>
          <a:lnRef idx="2">
            <a:schemeClr val="dk1"/>
          </a:lnRef>
          <a:fillRef idx="0">
            <a:schemeClr val="dk1"/>
          </a:fillRef>
          <a:effectRef idx="1">
            <a:schemeClr val="dk1"/>
          </a:effectRef>
          <a:fontRef idx="minor">
            <a:schemeClr val="tx1"/>
          </a:fontRef>
        </p:style>
      </p:cxn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D87E85-4DEC-0D2F-42E0-5DC422D63490}"/>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12160AA4-3A29-4E97-F9C9-FEA2EEDE65B4}"/>
              </a:ext>
            </a:extLst>
          </p:cNvPr>
          <p:cNvSpPr/>
          <p:nvPr/>
        </p:nvSpPr>
        <p:spPr>
          <a:xfrm>
            <a:off x="3942077" y="3075057"/>
            <a:ext cx="4857035" cy="707886"/>
          </a:xfrm>
          <a:prstGeom prst="rect">
            <a:avLst/>
          </a:prstGeom>
        </p:spPr>
        <p:txBody>
          <a:bodyPr wrap="none">
            <a:spAutoFit/>
          </a:bodyPr>
          <a:lstStyle/>
          <a:p>
            <a:r>
              <a:rPr lang="en-GB" sz="4000" dirty="0">
                <a:latin typeface="Calibri" panose="020F0502020204030204" pitchFamily="34" charset="0"/>
              </a:rPr>
              <a:t>Polynomial Regression</a:t>
            </a:r>
            <a:endParaRPr lang="en-GB" sz="4000" dirty="0">
              <a:effectLst/>
            </a:endParaRPr>
          </a:p>
        </p:txBody>
      </p:sp>
      <p:cxnSp>
        <p:nvCxnSpPr>
          <p:cNvPr id="4" name="Straight Connector 3">
            <a:extLst>
              <a:ext uri="{FF2B5EF4-FFF2-40B4-BE49-F238E27FC236}">
                <a16:creationId xmlns:a16="http://schemas.microsoft.com/office/drawing/2014/main" id="{0BCC8845-57A4-A325-6907-3CD7779B20F4}"/>
              </a:ext>
            </a:extLst>
          </p:cNvPr>
          <p:cNvCxnSpPr/>
          <p:nvPr/>
        </p:nvCxnSpPr>
        <p:spPr>
          <a:xfrm flipH="1">
            <a:off x="451743" y="1527821"/>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6BC2F4E0-0529-95F3-124B-42B144993A41}"/>
              </a:ext>
            </a:extLst>
          </p:cNvPr>
          <p:cNvCxnSpPr/>
          <p:nvPr/>
        </p:nvCxnSpPr>
        <p:spPr>
          <a:xfrm flipV="1">
            <a:off x="451743" y="837588"/>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7" name="Straight Connector 6">
            <a:extLst>
              <a:ext uri="{FF2B5EF4-FFF2-40B4-BE49-F238E27FC236}">
                <a16:creationId xmlns:a16="http://schemas.microsoft.com/office/drawing/2014/main" id="{78F74473-CD44-BE65-6569-85A37FE0EA47}"/>
              </a:ext>
            </a:extLst>
          </p:cNvPr>
          <p:cNvCxnSpPr/>
          <p:nvPr/>
        </p:nvCxnSpPr>
        <p:spPr>
          <a:xfrm flipV="1">
            <a:off x="449831" y="1670657"/>
            <a:ext cx="0" cy="4572921"/>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51998035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Polynomial introduction</a:t>
            </a:r>
            <a:endParaRPr lang="en-US" dirty="0"/>
          </a:p>
        </p:txBody>
      </p:sp>
      <p:sp>
        <p:nvSpPr>
          <p:cNvPr id="3" name="Text Placeholder 2"/>
          <p:cNvSpPr>
            <a:spLocks noGrp="1"/>
          </p:cNvSpPr>
          <p:nvPr>
            <p:ph type="body" sz="quarter" idx="10"/>
          </p:nvPr>
        </p:nvSpPr>
        <p:spPr>
          <a:xfrm>
            <a:off x="601791" y="1317171"/>
            <a:ext cx="10994852" cy="4528153"/>
          </a:xfrm>
        </p:spPr>
        <p:txBody>
          <a:bodyPr/>
          <a:lstStyle/>
          <a:p>
            <a:pPr algn="l" fontAlgn="base"/>
            <a:r>
              <a:rPr lang="en-US" sz="2400" b="0" i="0" dirty="0">
                <a:solidFill>
                  <a:srgbClr val="000000"/>
                </a:solidFill>
                <a:effectLst/>
                <a:latin typeface="Helvetica" panose="020B0604020202020204" pitchFamily="34" charset="0"/>
              </a:rPr>
              <a:t>When we have a dataset with one predictor variable and one </a:t>
            </a:r>
            <a:r>
              <a:rPr lang="en-US" sz="2400" b="0" i="0" u="none" strike="noStrike" dirty="0">
                <a:solidFill>
                  <a:srgbClr val="9B59B6"/>
                </a:solidFill>
                <a:effectLst/>
                <a:latin typeface="Calibri" panose="020F0502020204030204" pitchFamily="34" charset="0"/>
                <a:cs typeface="Calibri" panose="020F0502020204030204" pitchFamily="34" charset="0"/>
              </a:rPr>
              <a:t>response</a:t>
            </a:r>
            <a:r>
              <a:rPr lang="en-US" sz="2400" b="0" i="0" u="none" strike="noStrike" dirty="0">
                <a:solidFill>
                  <a:srgbClr val="9B59B6"/>
                </a:solidFill>
                <a:effectLst/>
                <a:latin typeface="inherit"/>
              </a:rPr>
              <a:t> </a:t>
            </a:r>
            <a:r>
              <a:rPr lang="en-US" sz="2400" b="0" i="0" u="none" strike="noStrike" dirty="0">
                <a:solidFill>
                  <a:srgbClr val="9B59B6"/>
                </a:solidFill>
                <a:effectLst/>
                <a:latin typeface="Calibri" panose="020F0502020204030204" pitchFamily="34" charset="0"/>
                <a:cs typeface="Calibri" panose="020F0502020204030204" pitchFamily="34" charset="0"/>
              </a:rPr>
              <a:t>variable</a:t>
            </a:r>
            <a:r>
              <a:rPr lang="en-US" sz="2400" b="0" i="0" dirty="0">
                <a:solidFill>
                  <a:srgbClr val="000000"/>
                </a:solidFill>
                <a:effectLst/>
                <a:latin typeface="Helvetica" panose="020B0604020202020204" pitchFamily="34" charset="0"/>
              </a:rPr>
              <a:t>, we often use </a:t>
            </a:r>
            <a:r>
              <a:rPr lang="en-US" sz="2400" b="0" i="0" u="none" strike="noStrike" dirty="0">
                <a:solidFill>
                  <a:srgbClr val="9B59B6"/>
                </a:solidFill>
                <a:effectLst/>
                <a:latin typeface="Calibri" panose="020F0502020204030204" pitchFamily="34" charset="0"/>
                <a:cs typeface="Calibri" panose="020F0502020204030204" pitchFamily="34" charset="0"/>
              </a:rPr>
              <a:t>simple linear regression</a:t>
            </a:r>
            <a:r>
              <a:rPr lang="en-US" sz="2400" b="0" i="0" dirty="0">
                <a:solidFill>
                  <a:srgbClr val="000000"/>
                </a:solidFill>
                <a:effectLst/>
                <a:latin typeface="Helvetica" panose="020B0604020202020204" pitchFamily="34" charset="0"/>
              </a:rPr>
              <a:t> to quantify the relationship between the two variables.</a:t>
            </a:r>
            <a:endParaRPr lang="en-US" sz="2400" b="0" i="0" dirty="0">
              <a:solidFill>
                <a:srgbClr val="3D3D3D"/>
              </a:solidFill>
              <a:effectLst/>
              <a:latin typeface="inherit"/>
            </a:endParaRPr>
          </a:p>
          <a:p>
            <a:pPr algn="l" fontAlgn="base"/>
            <a:r>
              <a:rPr lang="en-US" sz="2400" b="0" i="0" dirty="0">
                <a:solidFill>
                  <a:srgbClr val="000000"/>
                </a:solidFill>
                <a:effectLst/>
                <a:latin typeface="Helvetica" panose="020B0604020202020204" pitchFamily="34" charset="0"/>
              </a:rPr>
              <a:t>However, simple linear regression (SLR) assumes that the relationship between the predictor and response variable is linear. But in practice the relationship between the two variables can actually be nonlinear and attempting to use linear regression can result in a poorly fit model.</a:t>
            </a:r>
            <a:endParaRPr lang="en-US" sz="2400" b="0" i="0" dirty="0">
              <a:solidFill>
                <a:srgbClr val="3D3D3D"/>
              </a:solidFill>
              <a:effectLst/>
              <a:latin typeface="inherit"/>
            </a:endParaRPr>
          </a:p>
          <a:p>
            <a:pPr algn="l" fontAlgn="base"/>
            <a:r>
              <a:rPr lang="en-US" sz="2400" b="0" i="0" dirty="0">
                <a:solidFill>
                  <a:srgbClr val="000000"/>
                </a:solidFill>
                <a:effectLst/>
                <a:latin typeface="Helvetica" panose="020B0604020202020204" pitchFamily="34" charset="0"/>
              </a:rPr>
              <a:t>One way to account for a nonlinear relationship between the predictor and response variable is to use</a:t>
            </a:r>
            <a:r>
              <a:rPr lang="en-US" sz="2400" b="0" i="0" dirty="0">
                <a:solidFill>
                  <a:srgbClr val="000000"/>
                </a:solidFill>
                <a:effectLst/>
                <a:latin typeface="Calibri" panose="020F0502020204030204" pitchFamily="34" charset="0"/>
                <a:cs typeface="Calibri" panose="020F0502020204030204" pitchFamily="34" charset="0"/>
              </a:rPr>
              <a:t> </a:t>
            </a:r>
            <a:r>
              <a:rPr lang="en-US" sz="2400" b="1" i="0" dirty="0">
                <a:solidFill>
                  <a:srgbClr val="000000"/>
                </a:solidFill>
                <a:effectLst/>
                <a:latin typeface="Calibri" panose="020F0502020204030204" pitchFamily="34" charset="0"/>
                <a:cs typeface="Calibri" panose="020F0502020204030204" pitchFamily="34" charset="0"/>
              </a:rPr>
              <a:t>polynomial regression</a:t>
            </a:r>
            <a:r>
              <a:rPr lang="en-US" sz="2400" b="0" i="0" dirty="0">
                <a:solidFill>
                  <a:srgbClr val="000000"/>
                </a:solidFill>
                <a:effectLst/>
                <a:latin typeface="Helvetica" panose="020B0604020202020204" pitchFamily="34" charset="0"/>
              </a:rPr>
              <a:t>, which takes the form:</a:t>
            </a:r>
            <a:endParaRPr lang="en-US" sz="2400" b="0" i="0" dirty="0">
              <a:solidFill>
                <a:srgbClr val="3D3D3D"/>
              </a:solidFill>
              <a:effectLst/>
              <a:latin typeface="inherit"/>
            </a:endParaRPr>
          </a:p>
          <a:p>
            <a:pPr algn="l" fontAlgn="base"/>
            <a:r>
              <a:rPr lang="en-US" sz="2400" b="0" i="0" dirty="0">
                <a:solidFill>
                  <a:srgbClr val="000000"/>
                </a:solidFill>
                <a:effectLst/>
                <a:latin typeface="Helvetica" panose="020B0604020202020204" pitchFamily="34" charset="0"/>
              </a:rPr>
              <a:t>Y = β</a:t>
            </a:r>
            <a:r>
              <a:rPr lang="en-US" sz="2400" b="0" i="0" baseline="-25000" dirty="0">
                <a:solidFill>
                  <a:srgbClr val="000000"/>
                </a:solidFill>
                <a:effectLst/>
                <a:latin typeface="inherit"/>
              </a:rPr>
              <a:t>0</a:t>
            </a:r>
            <a:r>
              <a:rPr lang="en-US" sz="2400" b="0" i="0" dirty="0">
                <a:solidFill>
                  <a:srgbClr val="000000"/>
                </a:solidFill>
                <a:effectLst/>
                <a:latin typeface="Helvetica" panose="020B0604020202020204" pitchFamily="34" charset="0"/>
              </a:rPr>
              <a:t> + β</a:t>
            </a:r>
            <a:r>
              <a:rPr lang="en-US" sz="2400" b="0" i="0" baseline="-25000" dirty="0">
                <a:solidFill>
                  <a:srgbClr val="000000"/>
                </a:solidFill>
                <a:effectLst/>
                <a:latin typeface="inherit"/>
              </a:rPr>
              <a:t>1</a:t>
            </a:r>
            <a:r>
              <a:rPr lang="en-US" sz="2400" b="0" i="0" dirty="0">
                <a:solidFill>
                  <a:srgbClr val="000000"/>
                </a:solidFill>
                <a:effectLst/>
                <a:latin typeface="Helvetica" panose="020B0604020202020204" pitchFamily="34" charset="0"/>
              </a:rPr>
              <a:t>X + β</a:t>
            </a:r>
            <a:r>
              <a:rPr lang="en-US" sz="2400" b="0" i="0" baseline="-25000" dirty="0">
                <a:solidFill>
                  <a:srgbClr val="000000"/>
                </a:solidFill>
                <a:effectLst/>
                <a:latin typeface="inherit"/>
              </a:rPr>
              <a:t>2</a:t>
            </a:r>
            <a:r>
              <a:rPr lang="en-US" sz="2400" b="0" i="0" dirty="0">
                <a:solidFill>
                  <a:srgbClr val="000000"/>
                </a:solidFill>
                <a:effectLst/>
                <a:latin typeface="Helvetica" panose="020B0604020202020204" pitchFamily="34" charset="0"/>
              </a:rPr>
              <a:t>X</a:t>
            </a:r>
            <a:r>
              <a:rPr lang="en-US" sz="2400" b="0" i="0" baseline="30000" dirty="0">
                <a:solidFill>
                  <a:srgbClr val="000000"/>
                </a:solidFill>
                <a:effectLst/>
                <a:latin typeface="inherit"/>
              </a:rPr>
              <a:t>2</a:t>
            </a:r>
            <a:r>
              <a:rPr lang="en-US" sz="2400" b="0" i="0" dirty="0">
                <a:solidFill>
                  <a:srgbClr val="000000"/>
                </a:solidFill>
                <a:effectLst/>
                <a:latin typeface="Helvetica" panose="020B0604020202020204" pitchFamily="34" charset="0"/>
              </a:rPr>
              <a:t> + … + β</a:t>
            </a:r>
            <a:r>
              <a:rPr lang="en-US" sz="2400" b="0" i="0" baseline="-25000" dirty="0" err="1">
                <a:solidFill>
                  <a:srgbClr val="000000"/>
                </a:solidFill>
                <a:effectLst/>
                <a:latin typeface="inherit"/>
              </a:rPr>
              <a:t>h</a:t>
            </a:r>
            <a:r>
              <a:rPr lang="en-US" sz="2400" b="0" i="0" dirty="0" err="1">
                <a:solidFill>
                  <a:srgbClr val="000000"/>
                </a:solidFill>
                <a:effectLst/>
                <a:latin typeface="Helvetica" panose="020B0604020202020204" pitchFamily="34" charset="0"/>
              </a:rPr>
              <a:t>X</a:t>
            </a:r>
            <a:r>
              <a:rPr lang="en-US" sz="2400" b="0" i="0" baseline="30000" dirty="0" err="1">
                <a:solidFill>
                  <a:srgbClr val="000000"/>
                </a:solidFill>
                <a:effectLst/>
                <a:latin typeface="inherit"/>
              </a:rPr>
              <a:t>h</a:t>
            </a:r>
            <a:r>
              <a:rPr lang="en-US" sz="2400" b="0" i="0" dirty="0">
                <a:solidFill>
                  <a:srgbClr val="000000"/>
                </a:solidFill>
                <a:effectLst/>
                <a:latin typeface="Helvetica" panose="020B0604020202020204" pitchFamily="34" charset="0"/>
              </a:rPr>
              <a:t> + ε</a:t>
            </a:r>
            <a:endParaRPr lang="en-US" sz="2400" b="0" i="0" dirty="0">
              <a:solidFill>
                <a:srgbClr val="3D3D3D"/>
              </a:solidFill>
              <a:effectLst/>
              <a:latin typeface="inherit"/>
            </a:endParaRPr>
          </a:p>
          <a:p>
            <a:pPr algn="l" fontAlgn="base"/>
            <a:r>
              <a:rPr lang="en-US" sz="2400" b="0" i="0" dirty="0">
                <a:solidFill>
                  <a:srgbClr val="000000"/>
                </a:solidFill>
                <a:effectLst/>
                <a:latin typeface="Helvetica" panose="020B0604020202020204" pitchFamily="34" charset="0"/>
              </a:rPr>
              <a:t>In this equation, </a:t>
            </a:r>
            <a:r>
              <a:rPr lang="en-US" sz="2400" b="0" i="1" dirty="0">
                <a:solidFill>
                  <a:srgbClr val="000000"/>
                </a:solidFill>
                <a:effectLst/>
                <a:latin typeface="inherit"/>
              </a:rPr>
              <a:t>h</a:t>
            </a:r>
            <a:r>
              <a:rPr lang="en-US" sz="2400" b="0" i="0" dirty="0">
                <a:solidFill>
                  <a:srgbClr val="000000"/>
                </a:solidFill>
                <a:effectLst/>
                <a:latin typeface="Helvetica" panose="020B0604020202020204" pitchFamily="34" charset="0"/>
              </a:rPr>
              <a:t> is referred to as the</a:t>
            </a:r>
            <a:r>
              <a:rPr lang="en-US" sz="2400" b="0" i="0" dirty="0">
                <a:solidFill>
                  <a:srgbClr val="000000"/>
                </a:solidFill>
                <a:effectLst/>
                <a:latin typeface="Calibri" panose="020F0502020204030204" pitchFamily="34" charset="0"/>
                <a:cs typeface="Calibri" panose="020F0502020204030204" pitchFamily="34" charset="0"/>
              </a:rPr>
              <a:t> </a:t>
            </a:r>
            <a:r>
              <a:rPr lang="en-US" sz="2400" b="1" i="0" dirty="0">
                <a:solidFill>
                  <a:srgbClr val="000000"/>
                </a:solidFill>
                <a:effectLst/>
                <a:latin typeface="Calibri" panose="020F0502020204030204" pitchFamily="34" charset="0"/>
                <a:cs typeface="Calibri" panose="020F0502020204030204" pitchFamily="34" charset="0"/>
              </a:rPr>
              <a:t>degree</a:t>
            </a:r>
            <a:r>
              <a:rPr lang="en-US" sz="2400" b="0" i="0" dirty="0">
                <a:solidFill>
                  <a:srgbClr val="000000"/>
                </a:solidFill>
                <a:effectLst/>
                <a:latin typeface="Calibri" panose="020F0502020204030204" pitchFamily="34" charset="0"/>
                <a:cs typeface="Calibri" panose="020F0502020204030204" pitchFamily="34" charset="0"/>
              </a:rPr>
              <a:t> </a:t>
            </a:r>
            <a:r>
              <a:rPr lang="en-US" sz="2400" b="0" i="0" dirty="0">
                <a:solidFill>
                  <a:srgbClr val="000000"/>
                </a:solidFill>
                <a:effectLst/>
                <a:latin typeface="Helvetica" panose="020B0604020202020204" pitchFamily="34" charset="0"/>
              </a:rPr>
              <a:t>of the polynomial.</a:t>
            </a:r>
            <a:endParaRPr lang="en-US" sz="2400" b="0" i="0" dirty="0">
              <a:solidFill>
                <a:srgbClr val="3D3D3D"/>
              </a:solidFill>
              <a:effectLst/>
              <a:latin typeface="inherit"/>
            </a:endParaRPr>
          </a:p>
          <a:p>
            <a:endParaRPr lang="en-US" sz="2400" dirty="0"/>
          </a:p>
          <a:p>
            <a:endParaRPr lang="en-US" sz="2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702363" y="3244334"/>
            <a:ext cx="4840171" cy="369332"/>
          </a:xfrm>
          <a:prstGeom prst="rect">
            <a:avLst/>
          </a:prstGeom>
        </p:spPr>
        <p:txBody>
          <a:bodyPr wrap="none">
            <a:spAutoFit/>
          </a:bodyPr>
          <a:lstStyle/>
          <a:p>
            <a:r>
              <a:rPr lang="en-GB" dirty="0">
                <a:hlinkClick r:id="rId2"/>
              </a:rPr>
              <a:t>https://www.youtube.com/watch?v=QptI-vDle8Y</a:t>
            </a:r>
            <a:r>
              <a:rPr lang="en-GB" dirty="0"/>
              <a:t> </a:t>
            </a:r>
          </a:p>
        </p:txBody>
      </p:sp>
      <p:sp>
        <p:nvSpPr>
          <p:cNvPr id="3" name="Rectangle 2"/>
          <p:cNvSpPr/>
          <p:nvPr/>
        </p:nvSpPr>
        <p:spPr>
          <a:xfrm>
            <a:off x="3205432" y="4829294"/>
            <a:ext cx="5390002" cy="369332"/>
          </a:xfrm>
          <a:prstGeom prst="rect">
            <a:avLst/>
          </a:prstGeom>
        </p:spPr>
        <p:txBody>
          <a:bodyPr wrap="none">
            <a:spAutoFit/>
          </a:bodyPr>
          <a:lstStyle/>
          <a:p>
            <a:r>
              <a:rPr lang="en-GB" dirty="0">
                <a:hlinkClick r:id="rId3"/>
              </a:rPr>
              <a:t>https://serokell.io/blog/polynomial-regression-analysis</a:t>
            </a:r>
            <a:r>
              <a:rPr lang="en-GB" dirty="0"/>
              <a:t> </a:t>
            </a:r>
          </a:p>
        </p:txBody>
      </p:sp>
      <p:sp>
        <p:nvSpPr>
          <p:cNvPr id="4" name="Rectangle 3"/>
          <p:cNvSpPr/>
          <p:nvPr/>
        </p:nvSpPr>
        <p:spPr>
          <a:xfrm>
            <a:off x="441066" y="438388"/>
            <a:ext cx="6005618" cy="738664"/>
          </a:xfrm>
          <a:prstGeom prst="rect">
            <a:avLst/>
          </a:prstGeom>
        </p:spPr>
        <p:txBody>
          <a:bodyPr wrap="none">
            <a:spAutoFit/>
          </a:bodyPr>
          <a:lstStyle/>
          <a:p>
            <a:r>
              <a:rPr lang="en-US" sz="4200" b="1" cap="all" spc="-50" dirty="0">
                <a:solidFill>
                  <a:srgbClr val="942D6D"/>
                </a:solidFill>
                <a:ea typeface="+mj-ea"/>
                <a:cs typeface="+mj-cs"/>
              </a:rPr>
              <a:t>Polynomial regression</a:t>
            </a:r>
            <a:endParaRPr lang="en-GB"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942D6D"/>
                </a:solidFill>
              </a:rPr>
              <a:t>Why limit ourself to straight line</a:t>
            </a:r>
            <a:endParaRPr lang="en-US" dirty="0">
              <a:solidFill>
                <a:srgbClr val="942D6D"/>
              </a:solidFill>
            </a:endParaRPr>
          </a:p>
        </p:txBody>
      </p:sp>
      <mc:AlternateContent xmlns:mc="http://schemas.openxmlformats.org/markup-compatibility/2006" xmlns:a14="http://schemas.microsoft.com/office/drawing/2010/main">
        <mc:Choice Requires="a14">
          <p:sp>
            <p:nvSpPr>
              <p:cNvPr id="3" name="Text Placeholder 2"/>
              <p:cNvSpPr>
                <a:spLocks noGrp="1"/>
              </p:cNvSpPr>
              <p:nvPr>
                <p:ph type="body" sz="quarter" idx="10"/>
              </p:nvPr>
            </p:nvSpPr>
            <p:spPr>
              <a:xfrm>
                <a:off x="601790" y="1455830"/>
                <a:ext cx="6946172" cy="3815101"/>
              </a:xfrm>
            </p:spPr>
            <p:txBody>
              <a:bodyPr/>
              <a:lstStyle/>
              <a:p>
                <a:r>
                  <a:rPr lang="en-GB" dirty="0">
                    <a:solidFill>
                      <a:schemeClr val="tx1">
                        <a:lumMod val="75000"/>
                        <a:lumOff val="25000"/>
                      </a:schemeClr>
                    </a:solidFill>
                  </a:rPr>
                  <a:t>Not all relationships are linear. </a:t>
                </a:r>
              </a:p>
              <a:p>
                <a:r>
                  <a:rPr lang="en-GB" dirty="0">
                    <a:solidFill>
                      <a:schemeClr val="tx1">
                        <a:lumMod val="75000"/>
                        <a:lumOff val="25000"/>
                      </a:schemeClr>
                    </a:solidFill>
                  </a:rPr>
                  <a:t>Linear formula: y = mx + b </a:t>
                </a:r>
              </a:p>
              <a:p>
                <a:r>
                  <a:rPr lang="en-GB" dirty="0">
                    <a:solidFill>
                      <a:schemeClr val="tx1">
                        <a:lumMod val="75000"/>
                        <a:lumOff val="25000"/>
                      </a:schemeClr>
                    </a:solidFill>
                  </a:rPr>
                  <a:t>This is a “first order” or “first degree” polynomial, as the power of x is 1 </a:t>
                </a:r>
              </a:p>
              <a:p>
                <a:r>
                  <a:rPr lang="en-GB" dirty="0">
                    <a:solidFill>
                      <a:schemeClr val="tx1">
                        <a:lumMod val="75000"/>
                        <a:lumOff val="25000"/>
                      </a:schemeClr>
                    </a:solidFill>
                  </a:rPr>
                  <a:t>Second order polynomial: </a:t>
                </a:r>
                <a14:m>
                  <m:oMath xmlns:m="http://schemas.openxmlformats.org/officeDocument/2006/math">
                    <m:r>
                      <a:rPr lang="en-GB" i="1">
                        <a:solidFill>
                          <a:schemeClr val="tx1">
                            <a:lumMod val="75000"/>
                            <a:lumOff val="25000"/>
                          </a:schemeClr>
                        </a:solidFill>
                        <a:latin typeface="Cambria Math" panose="02040503050406030204" pitchFamily="18" charset="0"/>
                      </a:rPr>
                      <m:t>𝑦</m:t>
                    </m:r>
                    <m:r>
                      <a:rPr lang="en-GB" i="1">
                        <a:solidFill>
                          <a:schemeClr val="tx1">
                            <a:lumMod val="75000"/>
                            <a:lumOff val="25000"/>
                          </a:schemeClr>
                        </a:solidFill>
                        <a:latin typeface="Cambria Math" panose="02040503050406030204" pitchFamily="18" charset="0"/>
                      </a:rPr>
                      <m:t>=</m:t>
                    </m:r>
                    <m:r>
                      <a:rPr lang="en-GB" i="1">
                        <a:solidFill>
                          <a:schemeClr val="tx1">
                            <a:lumMod val="75000"/>
                            <a:lumOff val="25000"/>
                          </a:schemeClr>
                        </a:solidFill>
                        <a:latin typeface="Cambria Math" panose="02040503050406030204" pitchFamily="18" charset="0"/>
                      </a:rPr>
                      <m:t>𝑎</m:t>
                    </m:r>
                    <m:sSup>
                      <m:sSupPr>
                        <m:ctrlPr>
                          <a:rPr lang="en-GB" i="1">
                            <a:solidFill>
                              <a:schemeClr val="tx1">
                                <a:lumMod val="75000"/>
                                <a:lumOff val="25000"/>
                              </a:schemeClr>
                            </a:solidFill>
                            <a:latin typeface="Cambria Math" panose="02040503050406030204" pitchFamily="18" charset="0"/>
                          </a:rPr>
                        </m:ctrlPr>
                      </m:sSupPr>
                      <m:e>
                        <m:r>
                          <a:rPr lang="en-GB" i="1">
                            <a:solidFill>
                              <a:schemeClr val="tx1">
                                <a:lumMod val="75000"/>
                                <a:lumOff val="25000"/>
                              </a:schemeClr>
                            </a:solidFill>
                            <a:latin typeface="Cambria Math" panose="02040503050406030204" pitchFamily="18" charset="0"/>
                          </a:rPr>
                          <m:t>𝑥</m:t>
                        </m:r>
                      </m:e>
                      <m:sup>
                        <m:r>
                          <a:rPr lang="en-GB" i="1">
                            <a:solidFill>
                              <a:schemeClr val="tx1">
                                <a:lumMod val="75000"/>
                                <a:lumOff val="25000"/>
                              </a:schemeClr>
                            </a:solidFill>
                            <a:latin typeface="Cambria Math" panose="02040503050406030204" pitchFamily="18" charset="0"/>
                          </a:rPr>
                          <m:t>2 </m:t>
                        </m:r>
                      </m:sup>
                    </m:sSup>
                  </m:oMath>
                </a14:m>
                <a:r>
                  <a:rPr lang="en-GB" dirty="0">
                    <a:solidFill>
                      <a:schemeClr val="tx1">
                        <a:lumMod val="75000"/>
                        <a:lumOff val="25000"/>
                      </a:schemeClr>
                    </a:solidFill>
                  </a:rPr>
                  <a:t>+ 𝑏𝑥 + 𝑐 </a:t>
                </a:r>
              </a:p>
              <a:p>
                <a:r>
                  <a:rPr lang="en-GB" dirty="0">
                    <a:solidFill>
                      <a:schemeClr val="tx1">
                        <a:lumMod val="75000"/>
                        <a:lumOff val="25000"/>
                      </a:schemeClr>
                    </a:solidFill>
                  </a:rPr>
                  <a:t>Third order: 𝑦= </a:t>
                </a:r>
                <a14:m>
                  <m:oMath xmlns:m="http://schemas.openxmlformats.org/officeDocument/2006/math">
                    <m:r>
                      <a:rPr lang="en-GB" i="1">
                        <a:solidFill>
                          <a:schemeClr val="tx1">
                            <a:lumMod val="75000"/>
                            <a:lumOff val="25000"/>
                          </a:schemeClr>
                        </a:solidFill>
                        <a:latin typeface="Cambria Math" panose="02040503050406030204" pitchFamily="18" charset="0"/>
                      </a:rPr>
                      <m:t>𝑎</m:t>
                    </m:r>
                    <m:sSup>
                      <m:sSupPr>
                        <m:ctrlPr>
                          <a:rPr lang="en-GB" i="1">
                            <a:solidFill>
                              <a:schemeClr val="tx1">
                                <a:lumMod val="75000"/>
                                <a:lumOff val="25000"/>
                              </a:schemeClr>
                            </a:solidFill>
                            <a:latin typeface="Cambria Math" panose="02040503050406030204" pitchFamily="18" charset="0"/>
                          </a:rPr>
                        </m:ctrlPr>
                      </m:sSupPr>
                      <m:e>
                        <m:r>
                          <a:rPr lang="en-GB" i="1">
                            <a:solidFill>
                              <a:schemeClr val="tx1">
                                <a:lumMod val="75000"/>
                                <a:lumOff val="25000"/>
                              </a:schemeClr>
                            </a:solidFill>
                            <a:latin typeface="Cambria Math" panose="02040503050406030204" pitchFamily="18" charset="0"/>
                          </a:rPr>
                          <m:t>𝑥</m:t>
                        </m:r>
                      </m:e>
                      <m:sup>
                        <m:r>
                          <a:rPr lang="en-GB" i="1">
                            <a:solidFill>
                              <a:schemeClr val="tx1">
                                <a:lumMod val="75000"/>
                                <a:lumOff val="25000"/>
                              </a:schemeClr>
                            </a:solidFill>
                            <a:latin typeface="Cambria Math" panose="02040503050406030204" pitchFamily="18" charset="0"/>
                          </a:rPr>
                          <m:t>3 </m:t>
                        </m:r>
                      </m:sup>
                    </m:sSup>
                    <m:r>
                      <a:rPr lang="en-GB" i="1">
                        <a:solidFill>
                          <a:schemeClr val="tx1">
                            <a:lumMod val="75000"/>
                            <a:lumOff val="25000"/>
                          </a:schemeClr>
                        </a:solidFill>
                        <a:latin typeface="Cambria Math" panose="02040503050406030204" pitchFamily="18" charset="0"/>
                      </a:rPr>
                      <m:t> </m:t>
                    </m:r>
                  </m:oMath>
                </a14:m>
                <a:r>
                  <a:rPr lang="en-GB" dirty="0">
                    <a:solidFill>
                      <a:schemeClr val="tx1">
                        <a:lumMod val="75000"/>
                        <a:lumOff val="25000"/>
                      </a:schemeClr>
                    </a:solidFill>
                  </a:rPr>
                  <a:t>+ b</a:t>
                </a:r>
                <a14:m>
                  <m:oMath xmlns:m="http://schemas.openxmlformats.org/officeDocument/2006/math">
                    <m:sSup>
                      <m:sSupPr>
                        <m:ctrlPr>
                          <a:rPr lang="en-GB" i="1">
                            <a:solidFill>
                              <a:schemeClr val="tx1">
                                <a:lumMod val="75000"/>
                                <a:lumOff val="25000"/>
                              </a:schemeClr>
                            </a:solidFill>
                            <a:latin typeface="Cambria Math" panose="02040503050406030204" pitchFamily="18" charset="0"/>
                          </a:rPr>
                        </m:ctrlPr>
                      </m:sSupPr>
                      <m:e>
                        <m:r>
                          <a:rPr lang="en-GB" i="1">
                            <a:solidFill>
                              <a:schemeClr val="tx1">
                                <a:lumMod val="75000"/>
                                <a:lumOff val="25000"/>
                              </a:schemeClr>
                            </a:solidFill>
                            <a:latin typeface="Cambria Math" panose="02040503050406030204" pitchFamily="18" charset="0"/>
                          </a:rPr>
                          <m:t>𝑥</m:t>
                        </m:r>
                      </m:e>
                      <m:sup>
                        <m:r>
                          <a:rPr lang="en-GB" i="1">
                            <a:solidFill>
                              <a:schemeClr val="tx1">
                                <a:lumMod val="75000"/>
                                <a:lumOff val="25000"/>
                              </a:schemeClr>
                            </a:solidFill>
                            <a:latin typeface="Cambria Math" panose="02040503050406030204" pitchFamily="18" charset="0"/>
                          </a:rPr>
                          <m:t>2 </m:t>
                        </m:r>
                      </m:sup>
                    </m:sSup>
                  </m:oMath>
                </a14:m>
                <a:r>
                  <a:rPr lang="en-GB" dirty="0">
                    <a:solidFill>
                      <a:schemeClr val="tx1">
                        <a:lumMod val="75000"/>
                        <a:lumOff val="25000"/>
                      </a:schemeClr>
                    </a:solidFill>
                  </a:rPr>
                  <a:t> +𝑐𝑥 + 𝑑 </a:t>
                </a:r>
              </a:p>
              <a:p>
                <a:r>
                  <a:rPr lang="en-GB" dirty="0">
                    <a:solidFill>
                      <a:schemeClr val="tx1">
                        <a:lumMod val="75000"/>
                        <a:lumOff val="25000"/>
                      </a:schemeClr>
                    </a:solidFill>
                  </a:rPr>
                  <a:t>Higher orders produce more complex curves. </a:t>
                </a:r>
              </a:p>
              <a:p>
                <a:pPr>
                  <a:buFont typeface="Wingdings" panose="05000000000000000000" pitchFamily="2" charset="2"/>
                  <a:buChar char="§"/>
                </a:pPr>
                <a:endParaRPr lang="en-US" dirty="0">
                  <a:solidFill>
                    <a:schemeClr val="bg2">
                      <a:lumMod val="25000"/>
                    </a:schemeClr>
                  </a:solidFill>
                </a:endParaRPr>
              </a:p>
            </p:txBody>
          </p:sp>
        </mc:Choice>
        <mc:Fallback xmlns="">
          <p:sp>
            <p:nvSpPr>
              <p:cNvPr id="3" name="Text Placeholder 2"/>
              <p:cNvSpPr>
                <a:spLocks noRot="1" noChangeAspect="1" noMove="1" noResize="1" noEditPoints="1" noAdjustHandles="1" noChangeArrowheads="1" noChangeShapeType="1" noTextEdit="1"/>
              </p:cNvSpPr>
              <p:nvPr>
                <p:ph type="body" sz="quarter" idx="10"/>
              </p:nvPr>
            </p:nvSpPr>
            <p:spPr>
              <a:xfrm>
                <a:off x="601790" y="1455830"/>
                <a:ext cx="6946172" cy="3815101"/>
              </a:xfrm>
              <a:blipFill rotWithShape="1">
                <a:blip r:embed="rId2"/>
                <a:stretch>
                  <a:fillRect l="-6" t="-11" r="5" b="-12905"/>
                </a:stretch>
              </a:blipFill>
            </p:spPr>
            <p:txBody>
              <a:bodyPr/>
              <a:lstStyle/>
              <a:p>
                <a:r>
                  <a:rPr lang="en-US" altLang="en-US">
                    <a:noFill/>
                  </a:rPr>
                  <a:t> </a:t>
                </a:r>
              </a:p>
            </p:txBody>
          </p:sp>
        </mc:Fallback>
      </mc:AlternateContent>
      <p:cxnSp>
        <p:nvCxnSpPr>
          <p:cNvPr id="4" name="Straight Connector 3"/>
          <p:cNvCxnSpPr/>
          <p:nvPr/>
        </p:nvCxnSpPr>
        <p:spPr>
          <a:xfrm flipH="1">
            <a:off x="601791" y="1070621"/>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p:cNvCxnSpPr/>
          <p:nvPr/>
        </p:nvCxnSpPr>
        <p:spPr>
          <a:xfrm flipV="1">
            <a:off x="472083" y="423248"/>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a:xfrm flipH="1" flipV="1">
            <a:off x="470171" y="1089589"/>
            <a:ext cx="1912" cy="4298063"/>
          </a:xfrm>
          <a:prstGeom prst="line">
            <a:avLst/>
          </a:prstGeom>
        </p:spPr>
        <p:style>
          <a:lnRef idx="2">
            <a:schemeClr val="dk1"/>
          </a:lnRef>
          <a:fillRef idx="0">
            <a:schemeClr val="dk1"/>
          </a:fillRef>
          <a:effectRef idx="1">
            <a:schemeClr val="dk1"/>
          </a:effectRef>
          <a:fontRef idx="minor">
            <a:schemeClr val="tx1"/>
          </a:fontRef>
        </p:style>
      </p:cxnSp>
      <p:pic>
        <p:nvPicPr>
          <p:cNvPr id="7" name="Picture 1" descr="page73image179936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15530" y="1851025"/>
            <a:ext cx="4684395" cy="31559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Polynomial introduction</a:t>
            </a:r>
            <a:endParaRPr lang="en-US" dirty="0"/>
          </a:p>
        </p:txBody>
      </p:sp>
      <p:sp>
        <p:nvSpPr>
          <p:cNvPr id="3" name="Text Placeholder 2"/>
          <p:cNvSpPr>
            <a:spLocks noGrp="1"/>
          </p:cNvSpPr>
          <p:nvPr>
            <p:ph type="body" sz="quarter" idx="10"/>
          </p:nvPr>
        </p:nvSpPr>
        <p:spPr>
          <a:xfrm>
            <a:off x="601791" y="1340285"/>
            <a:ext cx="10994852" cy="4505039"/>
          </a:xfrm>
        </p:spPr>
        <p:txBody>
          <a:bodyPr/>
          <a:lstStyle/>
          <a:p>
            <a:pPr marL="0" marR="0">
              <a:lnSpc>
                <a:spcPct val="107000"/>
              </a:lnSpc>
              <a:spcBef>
                <a:spcPts val="0"/>
              </a:spcBef>
              <a:spcAft>
                <a:spcPts val="800"/>
              </a:spcAft>
            </a:pPr>
            <a:r>
              <a:rPr lang="en-GB" sz="2800" kern="100" dirty="0">
                <a:effectLst/>
                <a:latin typeface="Calibri" panose="020F0502020204030204" pitchFamily="34" charset="0"/>
                <a:ea typeface="Calibri" panose="020F0502020204030204" pitchFamily="34" charset="0"/>
                <a:cs typeface="Times New Roman" panose="02020603050405020304" pitchFamily="18" charset="0"/>
              </a:rPr>
              <a:t>The model is trained using Polynomial regression and leads to minimum error as well the model accuracy on the training data is 90%.</a:t>
            </a: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GB" sz="2800" kern="100" dirty="0">
                <a:effectLst/>
                <a:latin typeface="Calibri" panose="020F0502020204030204" pitchFamily="34" charset="0"/>
                <a:ea typeface="Calibri" panose="020F0502020204030204" pitchFamily="34" charset="0"/>
                <a:cs typeface="Times New Roman" panose="02020603050405020304" pitchFamily="18" charset="0"/>
              </a:rPr>
              <a:t>Then you trained the model using Linear Regression and you observed that it has more errors than what was seen in the Polynomial Regression. So you decide to use the Polynomial regression, but this does not solve the problem. The problem is that when it works on the unseen data, the results are not accurate. </a:t>
            </a: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GB" sz="2800" kern="100" dirty="0">
                <a:effectLst/>
                <a:latin typeface="Calibri" panose="020F0502020204030204" pitchFamily="34" charset="0"/>
                <a:ea typeface="Calibri" panose="020F0502020204030204" pitchFamily="34" charset="0"/>
                <a:cs typeface="Times New Roman" panose="02020603050405020304" pitchFamily="18" charset="0"/>
              </a:rPr>
              <a:t>How does it behave in the future when used on different data?</a:t>
            </a: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4281" y="718038"/>
            <a:ext cx="9097686" cy="1068223"/>
          </a:xfrm>
        </p:spPr>
        <p:txBody>
          <a:bodyPr/>
          <a:lstStyle/>
          <a:p>
            <a:r>
              <a:rPr lang="en-GB" dirty="0"/>
              <a:t>overfitting</a:t>
            </a:r>
            <a:endParaRPr lang="en-US" dirty="0"/>
          </a:p>
        </p:txBody>
      </p:sp>
      <p:sp>
        <p:nvSpPr>
          <p:cNvPr id="3" name="Text Placeholder 2"/>
          <p:cNvSpPr>
            <a:spLocks noGrp="1"/>
          </p:cNvSpPr>
          <p:nvPr>
            <p:ph type="body" sz="quarter" idx="10"/>
          </p:nvPr>
        </p:nvSpPr>
        <p:spPr>
          <a:xfrm>
            <a:off x="204281" y="1623575"/>
            <a:ext cx="11433690" cy="4720859"/>
          </a:xfrm>
        </p:spPr>
        <p:txBody>
          <a:bodyPr/>
          <a:lstStyle/>
          <a:p>
            <a:pPr marL="0" marR="0">
              <a:lnSpc>
                <a:spcPct val="107000"/>
              </a:lnSpc>
              <a:spcBef>
                <a:spcPts val="0"/>
              </a:spcBef>
              <a:spcAft>
                <a:spcPts val="800"/>
              </a:spcAft>
            </a:pPr>
            <a:r>
              <a:rPr lang="en-GB" sz="2200" kern="100" dirty="0">
                <a:effectLst/>
                <a:latin typeface="Calibri" panose="020F0502020204030204" pitchFamily="34" charset="0"/>
                <a:ea typeface="Calibri" panose="020F0502020204030204" pitchFamily="34" charset="0"/>
                <a:cs typeface="Times New Roman" panose="02020603050405020304" pitchFamily="18" charset="0"/>
              </a:rPr>
              <a:t>In polynomial regression, you can choose different degrees and every degree will  give a different curve, also as you increase the degrees, the curve wants to touch all the data that it sees during training and this results in overfitting. </a:t>
            </a:r>
          </a:p>
          <a:p>
            <a:pPr marL="0" marR="0">
              <a:lnSpc>
                <a:spcPct val="107000"/>
              </a:lnSpc>
              <a:spcBef>
                <a:spcPts val="0"/>
              </a:spcBef>
              <a:spcAft>
                <a:spcPts val="800"/>
              </a:spcAft>
            </a:pPr>
            <a:r>
              <a:rPr lang="en-GB" sz="2200" kern="100" dirty="0">
                <a:effectLst/>
                <a:latin typeface="Calibri" panose="020F0502020204030204" pitchFamily="34" charset="0"/>
                <a:ea typeface="Calibri" panose="020F0502020204030204" pitchFamily="34" charset="0"/>
                <a:cs typeface="Times New Roman" panose="02020603050405020304" pitchFamily="18" charset="0"/>
              </a:rPr>
              <a:t>This will lead to less errors on training data , but it will fail on the test data or the future data when the model is used. The models knows the training data does not generalize on the future data. </a:t>
            </a:r>
            <a:endParaRPr lang="en-US" sz="2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GB" sz="2200" kern="100" dirty="0">
                <a:effectLst/>
                <a:latin typeface="Calibri" panose="020F0502020204030204" pitchFamily="34" charset="0"/>
                <a:ea typeface="Calibri" panose="020F0502020204030204" pitchFamily="34" charset="0"/>
                <a:cs typeface="Times New Roman" panose="02020603050405020304" pitchFamily="18" charset="0"/>
              </a:rPr>
              <a:t>Poly means many , </a:t>
            </a:r>
            <a:r>
              <a:rPr lang="en-GB" sz="2200" kern="100" dirty="0" err="1">
                <a:effectLst/>
                <a:latin typeface="Calibri" panose="020F0502020204030204" pitchFamily="34" charset="0"/>
                <a:ea typeface="Calibri" panose="020F0502020204030204" pitchFamily="34" charset="0"/>
                <a:cs typeface="Times New Roman" panose="02020603050405020304" pitchFamily="18" charset="0"/>
              </a:rPr>
              <a:t>Nomial</a:t>
            </a:r>
            <a:r>
              <a:rPr lang="en-GB" sz="2200" kern="100" dirty="0">
                <a:effectLst/>
                <a:latin typeface="Calibri" panose="020F0502020204030204" pitchFamily="34" charset="0"/>
                <a:ea typeface="Calibri" panose="020F0502020204030204" pitchFamily="34" charset="0"/>
                <a:cs typeface="Times New Roman" panose="02020603050405020304" pitchFamily="18" charset="0"/>
              </a:rPr>
              <a:t> means terms or parts </a:t>
            </a:r>
            <a:endParaRPr lang="en-US" sz="2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GB" sz="2200" kern="100" dirty="0">
                <a:effectLst/>
                <a:latin typeface="Calibri" panose="020F0502020204030204" pitchFamily="34" charset="0"/>
                <a:ea typeface="Calibri" panose="020F0502020204030204" pitchFamily="34" charset="0"/>
                <a:cs typeface="Times New Roman" panose="02020603050405020304" pitchFamily="18" charset="0"/>
              </a:rPr>
              <a:t>If the 2x+5: It is a simple mathematical equation of two parts:</a:t>
            </a:r>
            <a:endParaRPr lang="en-US" sz="2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GB" sz="2200" kern="100" dirty="0">
                <a:effectLst/>
                <a:latin typeface="Calibri" panose="020F0502020204030204" pitchFamily="34" charset="0"/>
                <a:ea typeface="Calibri" panose="020F0502020204030204" pitchFamily="34" charset="0"/>
                <a:cs typeface="Times New Roman" panose="02020603050405020304" pitchFamily="18" charset="0"/>
              </a:rPr>
              <a:t>2x and 5 Or 5 square 2 -2x+5 will be a straight line</a:t>
            </a:r>
            <a:endParaRPr lang="en-US" sz="2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GB" sz="2200" kern="100" dirty="0">
                <a:effectLst/>
                <a:latin typeface="Calibri" panose="020F0502020204030204" pitchFamily="34" charset="0"/>
                <a:ea typeface="Calibri" panose="020F0502020204030204" pitchFamily="34" charset="0"/>
                <a:cs typeface="Times New Roman" panose="02020603050405020304" pitchFamily="18" charset="0"/>
              </a:rPr>
              <a:t>Is a polynomial of 3 terms</a:t>
            </a:r>
            <a:endParaRPr lang="en-US" sz="2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GB" sz="2200" kern="100" dirty="0" err="1">
                <a:effectLst/>
                <a:latin typeface="Calibri" panose="020F0502020204030204" pitchFamily="34" charset="0"/>
                <a:ea typeface="Calibri" panose="020F0502020204030204" pitchFamily="34" charset="0"/>
                <a:cs typeface="Times New Roman" panose="02020603050405020304" pitchFamily="18" charset="0"/>
              </a:rPr>
              <a:t>Ax+b</a:t>
            </a:r>
            <a:r>
              <a:rPr lang="en-GB" sz="2200" kern="100" dirty="0">
                <a:effectLst/>
                <a:latin typeface="Calibri" panose="020F0502020204030204" pitchFamily="34" charset="0"/>
                <a:ea typeface="Calibri" panose="020F0502020204030204" pitchFamily="34" charset="0"/>
                <a:cs typeface="Times New Roman" panose="02020603050405020304" pitchFamily="18" charset="0"/>
              </a:rPr>
              <a:t> is a linear polynomial</a:t>
            </a:r>
            <a:endParaRPr lang="en-US" sz="2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GB" sz="2200" dirty="0">
                <a:solidFill>
                  <a:srgbClr val="111111"/>
                </a:solidFill>
                <a:effectLst/>
              </a:rPr>
              <a:t> </a:t>
            </a:r>
            <a:endParaRPr lang="en-US" sz="2200" dirty="0"/>
          </a:p>
          <a:p>
            <a:endParaRPr lang="en-US" sz="2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942D6D"/>
                </a:solidFill>
              </a:rPr>
              <a:t>Beware of overfitting</a:t>
            </a:r>
            <a:endParaRPr lang="en-US" dirty="0">
              <a:solidFill>
                <a:srgbClr val="942D6D"/>
              </a:solidFill>
            </a:endParaRPr>
          </a:p>
        </p:txBody>
      </p:sp>
      <p:sp>
        <p:nvSpPr>
          <p:cNvPr id="3" name="Text Placeholder 2"/>
          <p:cNvSpPr>
            <a:spLocks noGrp="1"/>
          </p:cNvSpPr>
          <p:nvPr>
            <p:ph type="body" sz="quarter" idx="10"/>
          </p:nvPr>
        </p:nvSpPr>
        <p:spPr>
          <a:xfrm>
            <a:off x="602230" y="1521449"/>
            <a:ext cx="11314179" cy="3815101"/>
          </a:xfrm>
        </p:spPr>
        <p:txBody>
          <a:bodyPr/>
          <a:lstStyle/>
          <a:p>
            <a:r>
              <a:rPr lang="en-GB" dirty="0">
                <a:solidFill>
                  <a:schemeClr val="tx1">
                    <a:lumMod val="75000"/>
                    <a:lumOff val="25000"/>
                  </a:schemeClr>
                </a:solidFill>
              </a:rPr>
              <a:t>Don’t use more degrees than you need </a:t>
            </a:r>
          </a:p>
          <a:p>
            <a:r>
              <a:rPr lang="en-GB" dirty="0">
                <a:solidFill>
                  <a:schemeClr val="tx1">
                    <a:lumMod val="75000"/>
                    <a:lumOff val="25000"/>
                  </a:schemeClr>
                </a:solidFill>
              </a:rPr>
              <a:t>Visualize your data first to see how complex of a curve there might really be </a:t>
            </a:r>
          </a:p>
          <a:p>
            <a:r>
              <a:rPr lang="en-GB" dirty="0">
                <a:solidFill>
                  <a:schemeClr val="tx1">
                    <a:lumMod val="75000"/>
                    <a:lumOff val="25000"/>
                  </a:schemeClr>
                </a:solidFill>
              </a:rPr>
              <a:t>Visualize the fit – is your curve going out of its way to accommodate outliers? </a:t>
            </a:r>
          </a:p>
          <a:p>
            <a:r>
              <a:rPr lang="en-GB" dirty="0">
                <a:solidFill>
                  <a:schemeClr val="tx1">
                    <a:lumMod val="75000"/>
                    <a:lumOff val="25000"/>
                  </a:schemeClr>
                </a:solidFill>
              </a:rPr>
              <a:t>A high r-squared simply means your curve fits your </a:t>
            </a:r>
            <a:r>
              <a:rPr lang="en-GB" i="1" dirty="0">
                <a:solidFill>
                  <a:schemeClr val="tx1">
                    <a:lumMod val="75000"/>
                    <a:lumOff val="25000"/>
                  </a:schemeClr>
                </a:solidFill>
              </a:rPr>
              <a:t>training data </a:t>
            </a:r>
            <a:r>
              <a:rPr lang="en-GB" dirty="0">
                <a:solidFill>
                  <a:schemeClr val="tx1">
                    <a:lumMod val="75000"/>
                    <a:lumOff val="25000"/>
                  </a:schemeClr>
                </a:solidFill>
              </a:rPr>
              <a:t>well; but it may not be a good predictor. </a:t>
            </a:r>
          </a:p>
          <a:p>
            <a:r>
              <a:rPr lang="en-GB" dirty="0">
                <a:solidFill>
                  <a:schemeClr val="tx1">
                    <a:lumMod val="75000"/>
                    <a:lumOff val="25000"/>
                  </a:schemeClr>
                </a:solidFill>
              </a:rPr>
              <a:t>Later we’ll talk about more principled ways to detect overfitting (train/test) </a:t>
            </a:r>
          </a:p>
          <a:p>
            <a:endParaRPr lang="en-US" dirty="0">
              <a:solidFill>
                <a:schemeClr val="bg2">
                  <a:lumMod val="25000"/>
                </a:schemeClr>
              </a:solidFill>
            </a:endParaRPr>
          </a:p>
        </p:txBody>
      </p:sp>
      <p:cxnSp>
        <p:nvCxnSpPr>
          <p:cNvPr id="4" name="Straight Connector 3"/>
          <p:cNvCxnSpPr/>
          <p:nvPr/>
        </p:nvCxnSpPr>
        <p:spPr>
          <a:xfrm flipH="1">
            <a:off x="601791" y="1070621"/>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p:cNvCxnSpPr/>
          <p:nvPr/>
        </p:nvCxnSpPr>
        <p:spPr>
          <a:xfrm flipV="1">
            <a:off x="472083" y="423248"/>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a:xfrm flipH="1" flipV="1">
            <a:off x="470171" y="1089589"/>
            <a:ext cx="1912" cy="4298063"/>
          </a:xfrm>
          <a:prstGeom prst="line">
            <a:avLst/>
          </a:prstGeom>
        </p:spPr>
        <p:style>
          <a:lnRef idx="2">
            <a:schemeClr val="dk1"/>
          </a:lnRef>
          <a:fillRef idx="0">
            <a:schemeClr val="dk1"/>
          </a:fillRef>
          <a:effectRef idx="1">
            <a:schemeClr val="dk1"/>
          </a:effectRef>
          <a:fontRef idx="minor">
            <a:schemeClr val="tx1"/>
          </a:fontRef>
        </p:style>
      </p:cxn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942D6D"/>
                </a:solidFill>
              </a:rPr>
              <a:t>Overfitting and underfitting</a:t>
            </a:r>
          </a:p>
        </p:txBody>
      </p:sp>
      <p:sp>
        <p:nvSpPr>
          <p:cNvPr id="3" name="Text Placeholder 2"/>
          <p:cNvSpPr>
            <a:spLocks noGrp="1"/>
          </p:cNvSpPr>
          <p:nvPr>
            <p:ph type="body" sz="quarter" idx="10"/>
          </p:nvPr>
        </p:nvSpPr>
        <p:spPr>
          <a:xfrm>
            <a:off x="877820" y="1521449"/>
            <a:ext cx="11314179" cy="3815101"/>
          </a:xfrm>
        </p:spPr>
        <p:txBody>
          <a:bodyPr/>
          <a:lstStyle/>
          <a:p>
            <a:r>
              <a:rPr lang="en-US" dirty="0">
                <a:solidFill>
                  <a:schemeClr val="bg2">
                    <a:lumMod val="25000"/>
                  </a:schemeClr>
                </a:solidFill>
                <a:hlinkClick r:id="rId2"/>
              </a:rPr>
              <a:t>https://www.youtube.com/watch?v=W-0-u6XVbE4</a:t>
            </a:r>
            <a:r>
              <a:rPr lang="en-US" dirty="0">
                <a:solidFill>
                  <a:schemeClr val="bg2">
                    <a:lumMod val="25000"/>
                  </a:schemeClr>
                </a:solidFill>
              </a:rPr>
              <a:t> </a:t>
            </a:r>
          </a:p>
        </p:txBody>
      </p:sp>
      <p:cxnSp>
        <p:nvCxnSpPr>
          <p:cNvPr id="4" name="Straight Connector 3"/>
          <p:cNvCxnSpPr/>
          <p:nvPr/>
        </p:nvCxnSpPr>
        <p:spPr>
          <a:xfrm flipH="1">
            <a:off x="601791" y="1070621"/>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p:cNvCxnSpPr/>
          <p:nvPr/>
        </p:nvCxnSpPr>
        <p:spPr>
          <a:xfrm flipV="1">
            <a:off x="472083" y="423248"/>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a:xfrm flipH="1" flipV="1">
            <a:off x="470171" y="1089589"/>
            <a:ext cx="1912" cy="4298063"/>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68825549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942D6D"/>
                </a:solidFill>
              </a:rPr>
              <a:t>Ways to prevent the overfitting</a:t>
            </a:r>
          </a:p>
        </p:txBody>
      </p:sp>
      <p:sp>
        <p:nvSpPr>
          <p:cNvPr id="3" name="Text Placeholder 2"/>
          <p:cNvSpPr>
            <a:spLocks noGrp="1"/>
          </p:cNvSpPr>
          <p:nvPr>
            <p:ph type="body" sz="quarter" idx="10"/>
          </p:nvPr>
        </p:nvSpPr>
        <p:spPr>
          <a:xfrm>
            <a:off x="877820" y="1521449"/>
            <a:ext cx="11314179" cy="3815101"/>
          </a:xfrm>
        </p:spPr>
        <p:txBody>
          <a:bodyPr/>
          <a:lstStyle/>
          <a:p>
            <a:r>
              <a:rPr lang="en-US" dirty="0">
                <a:solidFill>
                  <a:schemeClr val="bg2">
                    <a:lumMod val="25000"/>
                  </a:schemeClr>
                </a:solidFill>
                <a:hlinkClick r:id="rId2"/>
              </a:rPr>
              <a:t>https://www.javatpoint.com/overfitting-in-machine-learning</a:t>
            </a:r>
            <a:r>
              <a:rPr lang="en-US" dirty="0">
                <a:solidFill>
                  <a:schemeClr val="bg2">
                    <a:lumMod val="25000"/>
                  </a:schemeClr>
                </a:solidFill>
              </a:rPr>
              <a:t> </a:t>
            </a:r>
          </a:p>
        </p:txBody>
      </p:sp>
      <p:cxnSp>
        <p:nvCxnSpPr>
          <p:cNvPr id="4" name="Straight Connector 3"/>
          <p:cNvCxnSpPr/>
          <p:nvPr/>
        </p:nvCxnSpPr>
        <p:spPr>
          <a:xfrm flipH="1">
            <a:off x="601791" y="1070621"/>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p:cNvCxnSpPr/>
          <p:nvPr/>
        </p:nvCxnSpPr>
        <p:spPr>
          <a:xfrm flipV="1">
            <a:off x="472083" y="423248"/>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a:xfrm flipH="1" flipV="1">
            <a:off x="470171" y="1089589"/>
            <a:ext cx="1912" cy="4298063"/>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53843171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942D6D"/>
                </a:solidFill>
              </a:rPr>
              <a:t>Python coding</a:t>
            </a:r>
            <a:endParaRPr lang="en-US" dirty="0">
              <a:solidFill>
                <a:srgbClr val="942D6D"/>
              </a:solidFill>
            </a:endParaRPr>
          </a:p>
        </p:txBody>
      </p:sp>
      <p:cxnSp>
        <p:nvCxnSpPr>
          <p:cNvPr id="4" name="Straight Connector 3"/>
          <p:cNvCxnSpPr/>
          <p:nvPr/>
        </p:nvCxnSpPr>
        <p:spPr>
          <a:xfrm flipH="1">
            <a:off x="601791" y="1070621"/>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p:cNvCxnSpPr/>
          <p:nvPr/>
        </p:nvCxnSpPr>
        <p:spPr>
          <a:xfrm flipV="1">
            <a:off x="472083" y="423248"/>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a:xfrm flipH="1" flipV="1">
            <a:off x="470171" y="1089589"/>
            <a:ext cx="1912" cy="4298063"/>
          </a:xfrm>
          <a:prstGeom prst="line">
            <a:avLst/>
          </a:prstGeom>
        </p:spPr>
        <p:style>
          <a:lnRef idx="2">
            <a:schemeClr val="dk1"/>
          </a:lnRef>
          <a:fillRef idx="0">
            <a:schemeClr val="dk1"/>
          </a:fillRef>
          <a:effectRef idx="1">
            <a:schemeClr val="dk1"/>
          </a:effectRef>
          <a:fontRef idx="minor">
            <a:schemeClr val="tx1"/>
          </a:fontRef>
        </p:style>
      </p:cxnSp>
      <p:sp>
        <p:nvSpPr>
          <p:cNvPr id="8" name="Rectangle 7"/>
          <p:cNvSpPr/>
          <p:nvPr/>
        </p:nvSpPr>
        <p:spPr>
          <a:xfrm>
            <a:off x="1828800" y="2138844"/>
            <a:ext cx="6096000" cy="1200329"/>
          </a:xfrm>
          <a:prstGeom prst="rect">
            <a:avLst/>
          </a:prstGeom>
        </p:spPr>
        <p:txBody>
          <a:bodyPr>
            <a:spAutoFit/>
          </a:bodyPr>
          <a:lstStyle/>
          <a:p>
            <a:r>
              <a:rPr lang="en-GB" sz="3600" dirty="0">
                <a:latin typeface="Calibri" panose="020F0502020204030204" pitchFamily="34" charset="0"/>
              </a:rPr>
              <a:t> </a:t>
            </a:r>
          </a:p>
          <a:p>
            <a:r>
              <a:rPr lang="en-GB" sz="3600" dirty="0">
                <a:latin typeface="Calibri" panose="020F0502020204030204" pitchFamily="34" charset="0"/>
                <a:cs typeface="Calibri" panose="020F0502020204030204" pitchFamily="34" charset="0"/>
              </a:rPr>
              <a:t>• </a:t>
            </a:r>
            <a:r>
              <a:rPr lang="en-GB" sz="3600" dirty="0" err="1">
                <a:latin typeface="Calibri" panose="020F0502020204030204" pitchFamily="34" charset="0"/>
                <a:cs typeface="Calibri" panose="020F0502020204030204" pitchFamily="34" charset="0"/>
              </a:rPr>
              <a:t>numpy.polyfit</a:t>
            </a:r>
            <a:r>
              <a:rPr lang="en-GB" sz="3600" dirty="0">
                <a:latin typeface="Calibri" panose="020F0502020204030204" pitchFamily="34" charset="0"/>
                <a:cs typeface="Calibri" panose="020F0502020204030204" pitchFamily="34" charset="0"/>
              </a:rPr>
              <a:t>() makes it easy. </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Poly1d</a:t>
            </a:r>
            <a:endParaRPr lang="en-US" dirty="0"/>
          </a:p>
        </p:txBody>
      </p:sp>
      <p:sp>
        <p:nvSpPr>
          <p:cNvPr id="3" name="Text Placeholder 2"/>
          <p:cNvSpPr>
            <a:spLocks noGrp="1"/>
          </p:cNvSpPr>
          <p:nvPr>
            <p:ph type="body" sz="quarter" idx="10"/>
          </p:nvPr>
        </p:nvSpPr>
        <p:spPr>
          <a:xfrm>
            <a:off x="601791" y="1185333"/>
            <a:ext cx="10994852" cy="4659991"/>
          </a:xfrm>
        </p:spPr>
        <p:txBody>
          <a:bodyPr/>
          <a:lstStyle/>
          <a:p>
            <a:r>
              <a:rPr lang="en-US" sz="2200" b="1" i="0" dirty="0">
                <a:solidFill>
                  <a:schemeClr val="tx1"/>
                </a:solidFill>
                <a:effectLst/>
                <a:latin typeface="Arial" panose="020B0604020202020204" pitchFamily="34" charset="0"/>
              </a:rPr>
              <a:t>A one-dimensional polynomial class</a:t>
            </a:r>
            <a:r>
              <a:rPr lang="en-US" sz="2200" b="0" i="0" dirty="0">
                <a:solidFill>
                  <a:schemeClr val="tx1"/>
                </a:solidFill>
                <a:effectLst/>
                <a:latin typeface="Arial" panose="020B0604020202020204" pitchFamily="34" charset="0"/>
              </a:rPr>
              <a:t>.</a:t>
            </a:r>
            <a:endParaRPr lang="en-US" sz="2200" dirty="0">
              <a:solidFill>
                <a:schemeClr val="tx1"/>
              </a:solidFill>
            </a:endParaRPr>
          </a:p>
          <a:p>
            <a:r>
              <a:rPr lang="en-US" sz="2200" b="0" i="0" dirty="0">
                <a:solidFill>
                  <a:schemeClr val="tx1"/>
                </a:solidFill>
                <a:effectLst/>
                <a:latin typeface="Arial" panose="020B0604020202020204" pitchFamily="34" charset="0"/>
              </a:rPr>
              <a:t>The numpy.poly1d() function </a:t>
            </a:r>
            <a:r>
              <a:rPr lang="en-US" sz="2200" b="1" i="0" dirty="0">
                <a:solidFill>
                  <a:schemeClr val="tx1"/>
                </a:solidFill>
                <a:effectLst/>
                <a:latin typeface="Arial" panose="020B0604020202020204" pitchFamily="34" charset="0"/>
              </a:rPr>
              <a:t>helps to define a polynomial function</a:t>
            </a:r>
            <a:r>
              <a:rPr lang="en-US" sz="2200" b="0" i="0" dirty="0">
                <a:solidFill>
                  <a:schemeClr val="tx1"/>
                </a:solidFill>
                <a:effectLst/>
                <a:latin typeface="Arial" panose="020B0604020202020204" pitchFamily="34" charset="0"/>
              </a:rPr>
              <a:t>. It makes it easy to apply “natural operations” on polynomials.</a:t>
            </a:r>
          </a:p>
          <a:p>
            <a:pPr algn="l"/>
            <a:r>
              <a:rPr lang="en-US" sz="2200" b="0" i="0" dirty="0">
                <a:solidFill>
                  <a:schemeClr val="tx1"/>
                </a:solidFill>
                <a:effectLst/>
                <a:latin typeface="Verdana" panose="020B0604030504040204" pitchFamily="34" charset="0"/>
              </a:rPr>
              <a:t>#NumPy has a method that lets us make a polynomial model:</a:t>
            </a:r>
          </a:p>
          <a:p>
            <a:pPr algn="l"/>
            <a:r>
              <a:rPr lang="en-US" sz="2200" b="0" i="0" dirty="0" err="1">
                <a:solidFill>
                  <a:schemeClr val="tx1"/>
                </a:solidFill>
                <a:effectLst/>
                <a:latin typeface="Verdana" panose="020B0604030504040204" pitchFamily="34" charset="0"/>
              </a:rPr>
              <a:t>mymodel</a:t>
            </a:r>
            <a:r>
              <a:rPr lang="en-US" sz="2200" b="0" i="0" dirty="0">
                <a:solidFill>
                  <a:schemeClr val="tx1"/>
                </a:solidFill>
                <a:effectLst/>
                <a:latin typeface="Verdana" panose="020B0604030504040204" pitchFamily="34" charset="0"/>
              </a:rPr>
              <a:t> = numpy.poly1d(</a:t>
            </a:r>
            <a:r>
              <a:rPr lang="en-US" sz="2200" b="0" i="0" dirty="0" err="1">
                <a:solidFill>
                  <a:schemeClr val="tx1"/>
                </a:solidFill>
                <a:effectLst/>
                <a:latin typeface="Verdana" panose="020B0604030504040204" pitchFamily="34" charset="0"/>
              </a:rPr>
              <a:t>numpy.polyfit</a:t>
            </a:r>
            <a:r>
              <a:rPr lang="en-US" sz="2200" b="0" i="0" dirty="0">
                <a:solidFill>
                  <a:schemeClr val="tx1"/>
                </a:solidFill>
                <a:effectLst/>
                <a:latin typeface="Verdana" panose="020B0604030504040204" pitchFamily="34" charset="0"/>
              </a:rPr>
              <a:t>(x, y, 3))</a:t>
            </a:r>
          </a:p>
          <a:p>
            <a:pPr algn="l"/>
            <a:r>
              <a:rPr lang="en-US" sz="2200" b="0" i="0" dirty="0" err="1">
                <a:solidFill>
                  <a:schemeClr val="tx1"/>
                </a:solidFill>
                <a:effectLst/>
                <a:latin typeface="Courier New" panose="02070309020205020404" pitchFamily="49" charset="0"/>
              </a:rPr>
              <a:t>myline</a:t>
            </a:r>
            <a:r>
              <a:rPr lang="en-US" sz="2200" b="0" i="0" dirty="0">
                <a:solidFill>
                  <a:schemeClr val="tx1"/>
                </a:solidFill>
                <a:effectLst/>
                <a:latin typeface="Courier New" panose="02070309020205020404" pitchFamily="49" charset="0"/>
              </a:rPr>
              <a:t> = </a:t>
            </a:r>
            <a:r>
              <a:rPr lang="en-US" sz="2200" b="0" i="0" dirty="0" err="1">
                <a:solidFill>
                  <a:schemeClr val="tx1"/>
                </a:solidFill>
                <a:effectLst/>
                <a:latin typeface="Courier New" panose="02070309020205020404" pitchFamily="49" charset="0"/>
              </a:rPr>
              <a:t>numpy.linspace</a:t>
            </a:r>
            <a:r>
              <a:rPr lang="en-US" sz="2200" b="0" i="0" dirty="0">
                <a:solidFill>
                  <a:schemeClr val="tx1"/>
                </a:solidFill>
                <a:effectLst/>
                <a:latin typeface="Courier New" panose="02070309020205020404" pitchFamily="49" charset="0"/>
              </a:rPr>
              <a:t>(1, 22, 100)</a:t>
            </a:r>
            <a:endParaRPr lang="en-US" sz="2200" b="0" i="0" dirty="0">
              <a:solidFill>
                <a:schemeClr val="tx1"/>
              </a:solidFill>
              <a:effectLst/>
              <a:latin typeface="Verdana" panose="020B0604030504040204" pitchFamily="34" charset="0"/>
            </a:endParaRPr>
          </a:p>
          <a:p>
            <a:r>
              <a:rPr lang="en-US" sz="2200" dirty="0">
                <a:solidFill>
                  <a:schemeClr val="tx1"/>
                </a:solidFill>
              </a:rPr>
              <a:t>#start, end and no of points </a:t>
            </a:r>
          </a:p>
          <a:p>
            <a:r>
              <a:rPr lang="en-US" sz="2200" b="0" i="0" dirty="0">
                <a:solidFill>
                  <a:schemeClr val="tx1"/>
                </a:solidFill>
                <a:effectLst/>
                <a:latin typeface="Consolas" panose="020B0609020204030204" pitchFamily="49" charset="0"/>
              </a:rPr>
              <a:t>print(r2_score(y, </a:t>
            </a:r>
            <a:r>
              <a:rPr lang="en-US" sz="2200" b="0" i="0" dirty="0" err="1">
                <a:solidFill>
                  <a:schemeClr val="tx1"/>
                </a:solidFill>
                <a:effectLst/>
                <a:latin typeface="Consolas" panose="020B0609020204030204" pitchFamily="49" charset="0"/>
              </a:rPr>
              <a:t>mymodel</a:t>
            </a:r>
            <a:r>
              <a:rPr lang="en-US" sz="2200" b="0" i="0" dirty="0">
                <a:solidFill>
                  <a:schemeClr val="tx1"/>
                </a:solidFill>
                <a:effectLst/>
                <a:latin typeface="Consolas" panose="020B0609020204030204" pitchFamily="49" charset="0"/>
              </a:rPr>
              <a:t>(x)))</a:t>
            </a:r>
          </a:p>
          <a:p>
            <a:r>
              <a:rPr lang="en-US" sz="2200" b="0" i="0" dirty="0" err="1">
                <a:solidFill>
                  <a:schemeClr val="tx1"/>
                </a:solidFill>
                <a:effectLst/>
                <a:latin typeface="Consolas" panose="020B0609020204030204" pitchFamily="49" charset="0"/>
              </a:rPr>
              <a:t>predictedvalue</a:t>
            </a:r>
            <a:r>
              <a:rPr lang="en-US" sz="2200" b="0" i="0" dirty="0">
                <a:solidFill>
                  <a:schemeClr val="tx1"/>
                </a:solidFill>
                <a:effectLst/>
                <a:latin typeface="Consolas" panose="020B0609020204030204" pitchFamily="49" charset="0"/>
              </a:rPr>
              <a:t> = </a:t>
            </a:r>
            <a:r>
              <a:rPr lang="en-US" sz="2200" b="0" i="0" dirty="0" err="1">
                <a:solidFill>
                  <a:schemeClr val="tx1"/>
                </a:solidFill>
                <a:effectLst/>
                <a:latin typeface="Consolas" panose="020B0609020204030204" pitchFamily="49" charset="0"/>
              </a:rPr>
              <a:t>mymodel</a:t>
            </a:r>
            <a:r>
              <a:rPr lang="en-US" sz="2200" b="0" i="0" dirty="0">
                <a:solidFill>
                  <a:schemeClr val="tx1"/>
                </a:solidFill>
                <a:effectLst/>
                <a:latin typeface="Consolas" panose="020B0609020204030204" pitchFamily="49" charset="0"/>
              </a:rPr>
              <a:t>(17)</a:t>
            </a:r>
            <a:endParaRPr lang="en-US" sz="2200" dirty="0">
              <a:solidFill>
                <a:schemeClr val="tx1"/>
              </a:solidFill>
            </a:endParaRPr>
          </a:p>
          <a:p>
            <a:endParaRPr lang="en-US" sz="2200" dirty="0">
              <a:solidFill>
                <a:schemeClr val="tx1"/>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Advantages of polynomial regression and uses</a:t>
            </a:r>
            <a:endParaRPr lang="en-US" dirty="0"/>
          </a:p>
        </p:txBody>
      </p:sp>
      <p:sp>
        <p:nvSpPr>
          <p:cNvPr id="3" name="Text Placeholder 2"/>
          <p:cNvSpPr>
            <a:spLocks noGrp="1"/>
          </p:cNvSpPr>
          <p:nvPr>
            <p:ph type="body" sz="quarter" idx="10"/>
          </p:nvPr>
        </p:nvSpPr>
        <p:spPr/>
        <p:txBody>
          <a:bodyPr/>
          <a:lstStyle/>
          <a:p>
            <a:r>
              <a:rPr lang="en-GB" dirty="0"/>
              <a:t>You can model non-linear relationship between variables.</a:t>
            </a:r>
          </a:p>
          <a:p>
            <a:r>
              <a:rPr lang="en-GB" dirty="0"/>
              <a:t>Tissue growth rate predictions: to consider the non-linear character of the spreading.</a:t>
            </a:r>
          </a:p>
          <a:p>
            <a:r>
              <a:rPr lang="en-GB" dirty="0"/>
              <a:t>Speed regulation software: Allows you to search for patterns in the driver behaviour and inform about the necessity to adhere to the rules even before speed limits are overtaken. Preventive measures have been reported which are effective in decreasing the number of incidents on the roads. </a:t>
            </a:r>
          </a:p>
          <a:p>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2391" y="729468"/>
            <a:ext cx="9097686" cy="1068223"/>
          </a:xfrm>
        </p:spPr>
        <p:txBody>
          <a:bodyPr/>
          <a:lstStyle/>
          <a:p>
            <a:r>
              <a:rPr lang="en-GB" dirty="0"/>
              <a:t>Train-Test Split</a:t>
            </a:r>
            <a:endParaRPr lang="en-US" dirty="0"/>
          </a:p>
        </p:txBody>
      </p:sp>
      <p:sp>
        <p:nvSpPr>
          <p:cNvPr id="3" name="Text Placeholder 2"/>
          <p:cNvSpPr>
            <a:spLocks noGrp="1"/>
          </p:cNvSpPr>
          <p:nvPr>
            <p:ph type="body" sz="quarter" idx="10"/>
          </p:nvPr>
        </p:nvSpPr>
        <p:spPr>
          <a:xfrm>
            <a:off x="217616" y="1623544"/>
            <a:ext cx="10994852" cy="5126016"/>
          </a:xfrm>
        </p:spPr>
        <p:txBody>
          <a:bodyPr/>
          <a:lstStyle/>
          <a:p>
            <a:r>
              <a:rPr lang="en-GB" sz="2400" dirty="0"/>
              <a:t>Train-test split is used to estimate the performance of machine learning algorithms when these are used to make predictions on the data which has not been used to train the model.</a:t>
            </a:r>
          </a:p>
          <a:p>
            <a:r>
              <a:rPr lang="en-GB" sz="2400" dirty="0"/>
              <a:t>It is an evaluation procedure</a:t>
            </a:r>
          </a:p>
          <a:p>
            <a:r>
              <a:rPr lang="en-GB" sz="2400" dirty="0"/>
              <a:t>It is appropriate when there is a large dataset and can be used for  classification or regression problems. </a:t>
            </a:r>
          </a:p>
          <a:p>
            <a:r>
              <a:rPr lang="en-US" sz="2400" b="0" i="0" dirty="0">
                <a:solidFill>
                  <a:srgbClr val="555555"/>
                </a:solidFill>
                <a:effectLst/>
                <a:latin typeface="Calibri" panose="020F0502020204030204" pitchFamily="34" charset="0"/>
                <a:cs typeface="Calibri" panose="020F0502020204030204" pitchFamily="34" charset="0"/>
              </a:rPr>
              <a:t>scikit-learn machine learning library is used to perform the train-test split procedure</a:t>
            </a:r>
          </a:p>
          <a:p>
            <a:r>
              <a:rPr lang="en-US" sz="2400" dirty="0">
                <a:solidFill>
                  <a:srgbClr val="555555"/>
                </a:solidFill>
                <a:latin typeface="Calibri" panose="020F0502020204030204" pitchFamily="34" charset="0"/>
                <a:cs typeface="Calibri" panose="020F0502020204030204" pitchFamily="34" charset="0"/>
              </a:rPr>
              <a:t>It is not suitable for small datasets as there will not be enough data in the test set to effectively evaluate the model performance.</a:t>
            </a:r>
          </a:p>
          <a:p>
            <a:r>
              <a:rPr lang="en-US" sz="2400" b="0" i="0" dirty="0">
                <a:solidFill>
                  <a:srgbClr val="555555"/>
                </a:solidFill>
                <a:effectLst/>
                <a:latin typeface="Calibri" panose="020F0502020204030204" pitchFamily="34" charset="0"/>
                <a:cs typeface="Calibri" panose="020F0502020204030204" pitchFamily="34" charset="0"/>
              </a:rPr>
              <a:t>For small datasets k-fold cross-validation procedure will be efficient.</a:t>
            </a:r>
            <a:endParaRPr lang="en-US" sz="2400" dirty="0">
              <a:latin typeface="Calibri" panose="020F0502020204030204" pitchFamily="34" charset="0"/>
              <a:cs typeface="Calibri" panose="020F0502020204030204" pitchFamily="34"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1791" y="555478"/>
            <a:ext cx="9097686" cy="901363"/>
          </a:xfrm>
        </p:spPr>
        <p:txBody>
          <a:bodyPr/>
          <a:lstStyle/>
          <a:p>
            <a:r>
              <a:rPr lang="en-GB" dirty="0"/>
              <a:t>Train-Test Split</a:t>
            </a:r>
            <a:endParaRPr lang="en-US" dirty="0"/>
          </a:p>
        </p:txBody>
      </p:sp>
      <p:sp>
        <p:nvSpPr>
          <p:cNvPr id="3" name="Text Placeholder 2"/>
          <p:cNvSpPr>
            <a:spLocks noGrp="1"/>
          </p:cNvSpPr>
          <p:nvPr>
            <p:ph type="body" sz="quarter" idx="10"/>
          </p:nvPr>
        </p:nvSpPr>
        <p:spPr>
          <a:xfrm>
            <a:off x="91850" y="1382844"/>
            <a:ext cx="8333772" cy="4931098"/>
          </a:xfrm>
        </p:spPr>
        <p:txBody>
          <a:bodyPr/>
          <a:lstStyle/>
          <a:p>
            <a:r>
              <a:rPr lang="en-GB" sz="2200" dirty="0"/>
              <a:t>The dataset is divided into two subsets. </a:t>
            </a:r>
          </a:p>
          <a:p>
            <a:r>
              <a:rPr lang="en-GB" sz="2200" dirty="0"/>
              <a:t>First subset is used to fit the model –Training Dataset</a:t>
            </a:r>
          </a:p>
          <a:p>
            <a:r>
              <a:rPr lang="en-GB" sz="2200" dirty="0"/>
              <a:t>Second dataset is used to pass to the model and predictions are made and compared to the expected values-Test Dataset (Evaluation Dataset)</a:t>
            </a:r>
          </a:p>
          <a:p>
            <a:r>
              <a:rPr lang="en-GB" sz="2200" dirty="0"/>
              <a:t>Training dataset is typically larger than the testing dataset.</a:t>
            </a:r>
            <a:r>
              <a:rPr lang="en-US" sz="2200" b="0" i="0" dirty="0">
                <a:solidFill>
                  <a:srgbClr val="333333"/>
                </a:solidFill>
                <a:effectLst/>
                <a:latin typeface="Epilogue"/>
              </a:rPr>
              <a:t> </a:t>
            </a:r>
            <a:r>
              <a:rPr lang="en-US" sz="2200" b="0" i="0" dirty="0">
                <a:solidFill>
                  <a:srgbClr val="333333"/>
                </a:solidFill>
                <a:effectLst/>
                <a:latin typeface="Calibri" panose="020F0502020204030204" pitchFamily="34" charset="0"/>
                <a:cs typeface="Calibri" panose="020F0502020204030204" pitchFamily="34" charset="0"/>
              </a:rPr>
              <a:t>Once data from our datasets are fed to a machine learning algorithm, it learns patterns from the data and makes decisions.</a:t>
            </a:r>
          </a:p>
          <a:p>
            <a:r>
              <a:rPr lang="en-US" sz="2200" b="0" i="0" dirty="0">
                <a:solidFill>
                  <a:srgbClr val="333333"/>
                </a:solidFill>
                <a:effectLst/>
                <a:latin typeface="Calibri" panose="020F0502020204030204" pitchFamily="34" charset="0"/>
                <a:cs typeface="Calibri" panose="020F0502020204030204" pitchFamily="34" charset="0"/>
              </a:rPr>
              <a:t>Test data provides a final, real-world check of an unseen dataset to confirm that the machine learning algorithm was trained effectively.</a:t>
            </a:r>
            <a:endParaRPr lang="en-US" sz="2200" dirty="0">
              <a:solidFill>
                <a:srgbClr val="333333"/>
              </a:solidFill>
              <a:latin typeface="Calibri" panose="020F0502020204030204" pitchFamily="34" charset="0"/>
              <a:cs typeface="Calibri" panose="020F0502020204030204" pitchFamily="34" charset="0"/>
            </a:endParaRPr>
          </a:p>
          <a:p>
            <a:r>
              <a:rPr lang="en-US" sz="2200" b="0" i="0" dirty="0">
                <a:solidFill>
                  <a:srgbClr val="333333"/>
                </a:solidFill>
                <a:effectLst/>
                <a:latin typeface="Calibri" panose="020F0502020204030204" pitchFamily="34" charset="0"/>
                <a:cs typeface="Calibri" panose="020F0502020204030204" pitchFamily="34" charset="0"/>
              </a:rPr>
              <a:t>The difference between training data vs. test data is clear: one trains a model, the other confirms it works (or doesn’t work) correctly with previously unseen data.</a:t>
            </a:r>
            <a:endParaRPr lang="en-GB" sz="2200" dirty="0">
              <a:latin typeface="Calibri" panose="020F0502020204030204" pitchFamily="34" charset="0"/>
              <a:cs typeface="Calibri" panose="020F0502020204030204" pitchFamily="34" charset="0"/>
            </a:endParaRPr>
          </a:p>
          <a:p>
            <a:r>
              <a:rPr lang="en-GB" sz="2200" dirty="0"/>
              <a:t> </a:t>
            </a:r>
          </a:p>
          <a:p>
            <a:endParaRPr lang="en-US" sz="2200" dirty="0"/>
          </a:p>
        </p:txBody>
      </p:sp>
      <p:sp>
        <p:nvSpPr>
          <p:cNvPr id="4" name="Text Placeholder 2"/>
          <p:cNvSpPr txBox="1"/>
          <p:nvPr/>
        </p:nvSpPr>
        <p:spPr>
          <a:xfrm>
            <a:off x="8518332" y="2238818"/>
            <a:ext cx="3501141" cy="4618690"/>
          </a:xfrm>
          <a:prstGeom prst="rect">
            <a:avLst/>
          </a:prstGeom>
        </p:spPr>
        <p:txBody>
          <a:bodyPr/>
          <a:lstStyle>
            <a:lvl1pPr marL="228600" indent="-228600" algn="l" defTabSz="914400" rtl="0" eaLnBrk="1" latinLnBrk="0" hangingPunct="1">
              <a:lnSpc>
                <a:spcPct val="90000"/>
              </a:lnSpc>
              <a:spcBef>
                <a:spcPts val="1000"/>
              </a:spcBef>
              <a:buClr>
                <a:srgbClr val="942F6D"/>
              </a:buClr>
              <a:buFont typeface="Arial" panose="020B0604020202020204" pitchFamily="34" charset="0"/>
              <a:buChar char="•"/>
              <a:defRPr sz="2800" kern="1200" baseline="0">
                <a:solidFill>
                  <a:srgbClr val="656768"/>
                </a:solidFill>
                <a:latin typeface="+mn-lt"/>
                <a:ea typeface="+mn-ea"/>
                <a:cs typeface="+mn-cs"/>
              </a:defRPr>
            </a:lvl1pPr>
            <a:lvl2pPr marL="685800" indent="-228600" algn="l" defTabSz="914400" rtl="0" eaLnBrk="1" latinLnBrk="0" hangingPunct="1">
              <a:lnSpc>
                <a:spcPct val="90000"/>
              </a:lnSpc>
              <a:spcBef>
                <a:spcPts val="500"/>
              </a:spcBef>
              <a:buClr>
                <a:srgbClr val="942F6D"/>
              </a:buClr>
              <a:buFont typeface="Arial" panose="020B0604020202020204" pitchFamily="34" charset="0"/>
              <a:buChar char="•"/>
              <a:defRPr sz="2400" kern="1200">
                <a:solidFill>
                  <a:srgbClr val="656768"/>
                </a:solidFill>
                <a:latin typeface="+mn-lt"/>
                <a:ea typeface="+mn-ea"/>
                <a:cs typeface="+mn-cs"/>
              </a:defRPr>
            </a:lvl2pPr>
            <a:lvl3pPr marL="1143000" indent="-228600" algn="l" defTabSz="914400" rtl="0" eaLnBrk="1" latinLnBrk="0" hangingPunct="1">
              <a:lnSpc>
                <a:spcPct val="90000"/>
              </a:lnSpc>
              <a:spcBef>
                <a:spcPts val="500"/>
              </a:spcBef>
              <a:buClr>
                <a:srgbClr val="942F6D"/>
              </a:buClr>
              <a:buFont typeface="Arial" panose="020B0604020202020204" pitchFamily="34" charset="0"/>
              <a:buChar char="•"/>
              <a:defRPr sz="2000" kern="1200">
                <a:solidFill>
                  <a:srgbClr val="656768"/>
                </a:solidFill>
                <a:latin typeface="+mn-lt"/>
                <a:ea typeface="+mn-ea"/>
                <a:cs typeface="+mn-cs"/>
              </a:defRPr>
            </a:lvl3pPr>
            <a:lvl4pPr marL="16002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656768"/>
                </a:solidFill>
                <a:latin typeface="+mn-lt"/>
                <a:ea typeface="+mn-ea"/>
                <a:cs typeface="+mn-cs"/>
              </a:defRPr>
            </a:lvl4pPr>
            <a:lvl5pPr marL="20574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656768"/>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2200" dirty="0"/>
              <a:t>Common split percentages include:</a:t>
            </a:r>
          </a:p>
          <a:p>
            <a:r>
              <a:rPr lang="en-GB" sz="2200" dirty="0"/>
              <a:t>Train : 80%, Test 20%</a:t>
            </a:r>
          </a:p>
          <a:p>
            <a:r>
              <a:rPr lang="en-GB" sz="2200" dirty="0"/>
              <a:t>Train : 67%, Test 33%</a:t>
            </a:r>
          </a:p>
          <a:p>
            <a:r>
              <a:rPr lang="en-GB" sz="2200" dirty="0"/>
              <a:t>Train : 50%, Test 50%</a:t>
            </a:r>
          </a:p>
          <a:p>
            <a:endParaRPr lang="en-GB" sz="2200" dirty="0"/>
          </a:p>
          <a:p>
            <a:endParaRPr lang="en-GB" sz="2200" dirty="0"/>
          </a:p>
          <a:p>
            <a:endParaRPr lang="en-GB" sz="2200" dirty="0"/>
          </a:p>
          <a:p>
            <a:endParaRPr lang="en-US" sz="22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Syntax of splitting</a:t>
            </a:r>
            <a:endParaRPr lang="en-US" dirty="0"/>
          </a:p>
        </p:txBody>
      </p:sp>
      <p:sp>
        <p:nvSpPr>
          <p:cNvPr id="3" name="Text Placeholder 2"/>
          <p:cNvSpPr>
            <a:spLocks noGrp="1"/>
          </p:cNvSpPr>
          <p:nvPr>
            <p:ph type="body" sz="quarter" idx="10"/>
          </p:nvPr>
        </p:nvSpPr>
        <p:spPr>
          <a:xfrm>
            <a:off x="437326" y="1255363"/>
            <a:ext cx="11316406" cy="4589961"/>
          </a:xfrm>
        </p:spPr>
        <p:txBody>
          <a:bodyPr/>
          <a:lstStyle/>
          <a:p>
            <a:r>
              <a:rPr lang="en-GB" dirty="0" err="1">
                <a:solidFill>
                  <a:schemeClr val="tx1"/>
                </a:solidFill>
              </a:rPr>
              <a:t>train,test</a:t>
            </a:r>
            <a:r>
              <a:rPr lang="en-GB" dirty="0">
                <a:solidFill>
                  <a:schemeClr val="tx1"/>
                </a:solidFill>
              </a:rPr>
              <a:t>=</a:t>
            </a:r>
            <a:r>
              <a:rPr lang="en-GB" dirty="0" err="1">
                <a:solidFill>
                  <a:schemeClr val="tx1"/>
                </a:solidFill>
              </a:rPr>
              <a:t>train_test_split</a:t>
            </a:r>
            <a:r>
              <a:rPr lang="en-GB" dirty="0">
                <a:solidFill>
                  <a:schemeClr val="tx1"/>
                </a:solidFill>
              </a:rPr>
              <a:t>(dataset,….)</a:t>
            </a:r>
          </a:p>
          <a:p>
            <a:endParaRPr lang="en-US" dirty="0">
              <a:solidFill>
                <a:schemeClr val="tx1"/>
              </a:solidFill>
            </a:endParaRPr>
          </a:p>
          <a:p>
            <a:r>
              <a:rPr lang="en-GB" dirty="0" err="1">
                <a:solidFill>
                  <a:schemeClr val="tx1"/>
                </a:solidFill>
              </a:rPr>
              <a:t>X_train,X_test</a:t>
            </a:r>
            <a:r>
              <a:rPr lang="en-GB" dirty="0">
                <a:solidFill>
                  <a:schemeClr val="tx1"/>
                </a:solidFill>
              </a:rPr>
              <a:t>, </a:t>
            </a:r>
            <a:r>
              <a:rPr lang="en-GB" dirty="0" err="1">
                <a:solidFill>
                  <a:schemeClr val="tx1"/>
                </a:solidFill>
              </a:rPr>
              <a:t>y_train,y_test</a:t>
            </a:r>
            <a:r>
              <a:rPr lang="en-GB" dirty="0">
                <a:solidFill>
                  <a:schemeClr val="tx1"/>
                </a:solidFill>
              </a:rPr>
              <a:t> =</a:t>
            </a:r>
            <a:r>
              <a:rPr lang="en-GB" dirty="0" err="1">
                <a:solidFill>
                  <a:schemeClr val="tx1"/>
                </a:solidFill>
              </a:rPr>
              <a:t>train_test_split</a:t>
            </a:r>
            <a:r>
              <a:rPr lang="en-GB" dirty="0">
                <a:solidFill>
                  <a:schemeClr val="tx1"/>
                </a:solidFill>
              </a:rPr>
              <a:t>(dataset or </a:t>
            </a:r>
            <a:r>
              <a:rPr lang="en-GB" dirty="0" err="1">
                <a:solidFill>
                  <a:schemeClr val="tx1"/>
                </a:solidFill>
              </a:rPr>
              <a:t>X,y</a:t>
            </a:r>
            <a:r>
              <a:rPr lang="en-GB" dirty="0">
                <a:solidFill>
                  <a:schemeClr val="tx1"/>
                </a:solidFill>
              </a:rPr>
              <a:t>,,….</a:t>
            </a:r>
            <a:r>
              <a:rPr lang="en-GB" dirty="0" err="1">
                <a:solidFill>
                  <a:schemeClr val="tx1"/>
                </a:solidFill>
              </a:rPr>
              <a:t>test_size</a:t>
            </a:r>
            <a:r>
              <a:rPr lang="en-GB" dirty="0">
                <a:solidFill>
                  <a:schemeClr val="tx1"/>
                </a:solidFill>
              </a:rPr>
              <a:t>=)</a:t>
            </a:r>
          </a:p>
          <a:p>
            <a:endParaRPr lang="en-GB" dirty="0">
              <a:solidFill>
                <a:schemeClr val="tx1"/>
              </a:solidFill>
            </a:endParaRPr>
          </a:p>
          <a:p>
            <a:pPr algn="l" fontAlgn="base"/>
            <a:r>
              <a:rPr lang="en-US" b="0" i="0" dirty="0">
                <a:solidFill>
                  <a:schemeClr val="tx1"/>
                </a:solidFill>
                <a:effectLst/>
                <a:latin typeface="Calibri" panose="020F0502020204030204" pitchFamily="34" charset="0"/>
                <a:cs typeface="Calibri" panose="020F0502020204030204" pitchFamily="34" charset="0"/>
              </a:rPr>
              <a:t>When </a:t>
            </a:r>
            <a:r>
              <a:rPr lang="en-US" b="0" i="0" dirty="0" err="1">
                <a:solidFill>
                  <a:schemeClr val="tx1"/>
                </a:solidFill>
                <a:effectLst/>
                <a:latin typeface="Calibri" panose="020F0502020204030204" pitchFamily="34" charset="0"/>
                <a:cs typeface="Calibri" panose="020F0502020204030204" pitchFamily="34" charset="0"/>
              </a:rPr>
              <a:t>random_state</a:t>
            </a:r>
            <a:r>
              <a:rPr lang="en-US" b="0" i="0" dirty="0">
                <a:solidFill>
                  <a:schemeClr val="tx1"/>
                </a:solidFill>
                <a:effectLst/>
                <a:latin typeface="Calibri" panose="020F0502020204030204" pitchFamily="34" charset="0"/>
                <a:cs typeface="Calibri" panose="020F0502020204030204" pitchFamily="34" charset="0"/>
              </a:rPr>
              <a:t> is set and split again, and we should see the same split</a:t>
            </a:r>
          </a:p>
          <a:p>
            <a:pPr algn="l" fontAlgn="base"/>
            <a:r>
              <a:rPr lang="en-US" b="0" i="0" dirty="0" err="1">
                <a:solidFill>
                  <a:schemeClr val="tx1"/>
                </a:solidFill>
                <a:effectLst/>
                <a:latin typeface="Calibri" panose="020F0502020204030204" pitchFamily="34" charset="0"/>
                <a:cs typeface="Calibri" panose="020F0502020204030204" pitchFamily="34" charset="0"/>
              </a:rPr>
              <a:t>X_train</a:t>
            </a:r>
            <a:r>
              <a:rPr lang="en-US" b="0" i="0" dirty="0">
                <a:solidFill>
                  <a:schemeClr val="tx1"/>
                </a:solidFill>
                <a:effectLst/>
                <a:latin typeface="Calibri" panose="020F0502020204030204" pitchFamily="34" charset="0"/>
                <a:cs typeface="Calibri" panose="020F0502020204030204" pitchFamily="34" charset="0"/>
              </a:rPr>
              <a:t>, </a:t>
            </a:r>
            <a:r>
              <a:rPr lang="en-US" b="0" i="0" dirty="0" err="1">
                <a:solidFill>
                  <a:schemeClr val="tx1"/>
                </a:solidFill>
                <a:effectLst/>
                <a:latin typeface="Calibri" panose="020F0502020204030204" pitchFamily="34" charset="0"/>
                <a:cs typeface="Calibri" panose="020F0502020204030204" pitchFamily="34" charset="0"/>
              </a:rPr>
              <a:t>X_test</a:t>
            </a:r>
            <a:r>
              <a:rPr lang="en-US" b="0" i="0" dirty="0">
                <a:solidFill>
                  <a:schemeClr val="tx1"/>
                </a:solidFill>
                <a:effectLst/>
                <a:latin typeface="Calibri" panose="020F0502020204030204" pitchFamily="34" charset="0"/>
                <a:cs typeface="Calibri" panose="020F0502020204030204" pitchFamily="34" charset="0"/>
              </a:rPr>
              <a:t>, </a:t>
            </a:r>
            <a:r>
              <a:rPr lang="en-US" b="0" i="0" dirty="0" err="1">
                <a:solidFill>
                  <a:schemeClr val="tx1"/>
                </a:solidFill>
                <a:effectLst/>
                <a:latin typeface="Calibri" panose="020F0502020204030204" pitchFamily="34" charset="0"/>
                <a:cs typeface="Calibri" panose="020F0502020204030204" pitchFamily="34" charset="0"/>
              </a:rPr>
              <a:t>y_train</a:t>
            </a:r>
            <a:r>
              <a:rPr lang="en-US" b="0" i="0" dirty="0">
                <a:solidFill>
                  <a:schemeClr val="tx1"/>
                </a:solidFill>
                <a:effectLst/>
                <a:latin typeface="Calibri" panose="020F0502020204030204" pitchFamily="34" charset="0"/>
                <a:cs typeface="Calibri" panose="020F0502020204030204" pitchFamily="34" charset="0"/>
              </a:rPr>
              <a:t>, </a:t>
            </a:r>
            <a:r>
              <a:rPr lang="en-US" b="0" i="0" dirty="0" err="1">
                <a:solidFill>
                  <a:schemeClr val="tx1"/>
                </a:solidFill>
                <a:effectLst/>
                <a:latin typeface="Calibri" panose="020F0502020204030204" pitchFamily="34" charset="0"/>
                <a:cs typeface="Calibri" panose="020F0502020204030204" pitchFamily="34" charset="0"/>
              </a:rPr>
              <a:t>y_test</a:t>
            </a:r>
            <a:r>
              <a:rPr lang="en-US" b="0" i="0" dirty="0">
                <a:solidFill>
                  <a:schemeClr val="tx1"/>
                </a:solidFill>
                <a:effectLst/>
                <a:latin typeface="Calibri" panose="020F0502020204030204" pitchFamily="34" charset="0"/>
                <a:cs typeface="Calibri" panose="020F0502020204030204" pitchFamily="34" charset="0"/>
              </a:rPr>
              <a:t> = </a:t>
            </a:r>
            <a:r>
              <a:rPr lang="en-US" b="0" i="0" dirty="0" err="1">
                <a:solidFill>
                  <a:schemeClr val="tx1"/>
                </a:solidFill>
                <a:effectLst/>
                <a:latin typeface="Calibri" panose="020F0502020204030204" pitchFamily="34" charset="0"/>
                <a:cs typeface="Calibri" panose="020F0502020204030204" pitchFamily="34" charset="0"/>
              </a:rPr>
              <a:t>train_test_split</a:t>
            </a:r>
            <a:r>
              <a:rPr lang="en-US" b="0" i="0" dirty="0">
                <a:solidFill>
                  <a:schemeClr val="tx1"/>
                </a:solidFill>
                <a:effectLst/>
                <a:latin typeface="Calibri" panose="020F0502020204030204" pitchFamily="34" charset="0"/>
                <a:cs typeface="Calibri" panose="020F0502020204030204" pitchFamily="34" charset="0"/>
              </a:rPr>
              <a:t>(X, y, </a:t>
            </a:r>
            <a:r>
              <a:rPr lang="en-US" b="0" i="0" dirty="0" err="1">
                <a:solidFill>
                  <a:schemeClr val="tx1"/>
                </a:solidFill>
                <a:effectLst/>
                <a:latin typeface="Calibri" panose="020F0502020204030204" pitchFamily="34" charset="0"/>
                <a:cs typeface="Calibri" panose="020F0502020204030204" pitchFamily="34" charset="0"/>
              </a:rPr>
              <a:t>test_size</a:t>
            </a:r>
            <a:r>
              <a:rPr lang="en-US" b="0" i="0" dirty="0">
                <a:solidFill>
                  <a:schemeClr val="tx1"/>
                </a:solidFill>
                <a:effectLst/>
                <a:latin typeface="Calibri" panose="020F0502020204030204" pitchFamily="34" charset="0"/>
                <a:cs typeface="Calibri" panose="020F0502020204030204" pitchFamily="34" charset="0"/>
              </a:rPr>
              <a:t>=0.33, </a:t>
            </a:r>
            <a:r>
              <a:rPr lang="en-US" b="0" i="0" dirty="0" err="1">
                <a:solidFill>
                  <a:schemeClr val="tx1"/>
                </a:solidFill>
                <a:effectLst/>
                <a:latin typeface="Calibri" panose="020F0502020204030204" pitchFamily="34" charset="0"/>
                <a:cs typeface="Calibri" panose="020F0502020204030204" pitchFamily="34" charset="0"/>
              </a:rPr>
              <a:t>random_state</a:t>
            </a:r>
            <a:r>
              <a:rPr lang="en-US" b="0" i="0" dirty="0">
                <a:solidFill>
                  <a:schemeClr val="tx1"/>
                </a:solidFill>
                <a:effectLst/>
                <a:latin typeface="Calibri" panose="020F0502020204030204" pitchFamily="34" charset="0"/>
                <a:cs typeface="Calibri" panose="020F0502020204030204" pitchFamily="34" charset="0"/>
              </a:rPr>
              <a:t>=1)</a:t>
            </a:r>
          </a:p>
          <a:p>
            <a:endParaRPr lang="en-US" dirty="0">
              <a:solidFill>
                <a:schemeClr val="tx1"/>
              </a:solidFill>
              <a:latin typeface="Calibri" panose="020F0502020204030204" pitchFamily="34" charset="0"/>
              <a:cs typeface="Calibri" panose="020F0502020204030204" pitchFamily="34"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Scaling-standardization</a:t>
            </a:r>
            <a:endParaRPr lang="en-US" dirty="0"/>
          </a:p>
        </p:txBody>
      </p:sp>
      <p:sp>
        <p:nvSpPr>
          <p:cNvPr id="3" name="Text Placeholder 2"/>
          <p:cNvSpPr>
            <a:spLocks noGrp="1"/>
          </p:cNvSpPr>
          <p:nvPr>
            <p:ph type="body" sz="quarter" idx="10"/>
          </p:nvPr>
        </p:nvSpPr>
        <p:spPr>
          <a:xfrm>
            <a:off x="312516" y="1284790"/>
            <a:ext cx="5656529" cy="4780344"/>
          </a:xfrm>
        </p:spPr>
        <p:txBody>
          <a:bodyPr/>
          <a:lstStyle/>
          <a:p>
            <a:pPr marL="0" marR="0">
              <a:lnSpc>
                <a:spcPct val="107000"/>
              </a:lnSpc>
              <a:spcBef>
                <a:spcPts val="1440"/>
              </a:spcBef>
              <a:spcAft>
                <a:spcPts val="1440"/>
              </a:spcAft>
            </a:pPr>
            <a:r>
              <a:rPr lang="en-US" sz="1700" dirty="0">
                <a:solidFill>
                  <a:schemeClr val="tx1"/>
                </a:solidFill>
                <a:effectLst/>
                <a:latin typeface="Verdana" panose="020B0604030504040204" pitchFamily="34" charset="0"/>
                <a:ea typeface="Times New Roman" panose="02020603050405020304" pitchFamily="18" charset="0"/>
                <a:cs typeface="Times New Roman" panose="02020603050405020304" pitchFamily="18" charset="0"/>
              </a:rPr>
              <a:t>The standardization method uses this formula:</a:t>
            </a:r>
            <a:endParaRPr lang="en-US" sz="17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1440"/>
              </a:spcBef>
              <a:spcAft>
                <a:spcPts val="1440"/>
              </a:spcAft>
            </a:pPr>
            <a:r>
              <a:rPr lang="en-US" sz="1700" dirty="0">
                <a:solidFill>
                  <a:schemeClr val="tx1"/>
                </a:solidFill>
                <a:effectLst/>
                <a:latin typeface="Consolas" panose="020B0609020204030204" pitchFamily="49" charset="0"/>
                <a:ea typeface="Times New Roman" panose="02020603050405020304" pitchFamily="18" charset="0"/>
                <a:cs typeface="Courier New" panose="02070309020205020404" pitchFamily="49" charset="0"/>
              </a:rPr>
              <a:t>Z(new value) = (x(original value) – u(mean)) / s (standard deviation)</a:t>
            </a:r>
            <a:endParaRPr lang="en-US" sz="17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r>
              <a:rPr lang="en-US" sz="1700" dirty="0">
                <a:solidFill>
                  <a:schemeClr val="tx1"/>
                </a:solidFill>
                <a:effectLst/>
                <a:latin typeface="Consolas" panose="020B0609020204030204" pitchFamily="49" charset="0"/>
                <a:ea typeface="Times New Roman" panose="02020603050405020304" pitchFamily="18" charset="0"/>
                <a:cs typeface="Courier New" panose="02070309020205020404" pitchFamily="49" charset="0"/>
              </a:rPr>
              <a:t>(790 - </a:t>
            </a:r>
            <a:r>
              <a:rPr lang="en-US" sz="1700" u="sng" dirty="0">
                <a:solidFill>
                  <a:schemeClr val="tx1"/>
                </a:solidFill>
                <a:effectLst/>
                <a:latin typeface="Consolas" panose="020B0609020204030204" pitchFamily="49" charset="0"/>
                <a:ea typeface="Times New Roman" panose="02020603050405020304" pitchFamily="18" charset="0"/>
                <a:cs typeface="Courier New" panose="02070309020205020404" pitchFamily="49" charset="0"/>
                <a:hlinkClick r:id="rId2"/>
              </a:rPr>
              <a:t>1292.23</a:t>
            </a:r>
            <a:r>
              <a:rPr lang="en-US" sz="1700" dirty="0">
                <a:solidFill>
                  <a:schemeClr val="tx1"/>
                </a:solidFill>
                <a:effectLst/>
                <a:latin typeface="Consolas" panose="020B0609020204030204" pitchFamily="49" charset="0"/>
                <a:ea typeface="Times New Roman" panose="02020603050405020304" pitchFamily="18" charset="0"/>
                <a:cs typeface="Courier New" panose="02070309020205020404" pitchFamily="49" charset="0"/>
              </a:rPr>
              <a:t>) / </a:t>
            </a:r>
            <a:r>
              <a:rPr lang="en-US" sz="1700" u="sng" dirty="0">
                <a:solidFill>
                  <a:schemeClr val="tx1"/>
                </a:solidFill>
                <a:effectLst/>
                <a:latin typeface="Consolas" panose="020B0609020204030204" pitchFamily="49" charset="0"/>
                <a:ea typeface="Times New Roman" panose="02020603050405020304" pitchFamily="18" charset="0"/>
                <a:cs typeface="Courier New" panose="02070309020205020404" pitchFamily="49" charset="0"/>
                <a:hlinkClick r:id="rId3"/>
              </a:rPr>
              <a:t>238.74</a:t>
            </a:r>
            <a:r>
              <a:rPr lang="en-US" sz="1700" dirty="0">
                <a:solidFill>
                  <a:schemeClr val="tx1"/>
                </a:solidFill>
                <a:effectLst/>
                <a:latin typeface="Consolas" panose="020B0609020204030204" pitchFamily="49" charset="0"/>
                <a:ea typeface="Times New Roman" panose="02020603050405020304" pitchFamily="18" charset="0"/>
                <a:cs typeface="Courier New" panose="02070309020205020404" pitchFamily="49" charset="0"/>
              </a:rPr>
              <a:t> = -2.1</a:t>
            </a:r>
          </a:p>
          <a:p>
            <a:r>
              <a:rPr lang="en-US" sz="1700" dirty="0">
                <a:solidFill>
                  <a:schemeClr val="tx1"/>
                </a:solidFill>
                <a:effectLst/>
                <a:latin typeface="Verdana" panose="020B0604030504040204" pitchFamily="34" charset="0"/>
                <a:ea typeface="Times New Roman" panose="02020603050405020304" pitchFamily="18" charset="0"/>
                <a:cs typeface="Times New Roman" panose="02020603050405020304" pitchFamily="18" charset="0"/>
              </a:rPr>
              <a:t>Python </a:t>
            </a:r>
            <a:r>
              <a:rPr lang="en-US" sz="1700" dirty="0" err="1">
                <a:solidFill>
                  <a:schemeClr val="tx1"/>
                </a:solidFill>
                <a:effectLst/>
                <a:latin typeface="Verdana" panose="020B0604030504040204" pitchFamily="34" charset="0"/>
                <a:ea typeface="Times New Roman" panose="02020603050405020304" pitchFamily="18" charset="0"/>
                <a:cs typeface="Times New Roman" panose="02020603050405020304" pitchFamily="18" charset="0"/>
              </a:rPr>
              <a:t>sklearn</a:t>
            </a:r>
            <a:r>
              <a:rPr lang="en-US" sz="1700" dirty="0">
                <a:solidFill>
                  <a:schemeClr val="tx1"/>
                </a:solidFill>
                <a:effectLst/>
                <a:latin typeface="Verdana" panose="020B0604030504040204" pitchFamily="34" charset="0"/>
                <a:ea typeface="Times New Roman" panose="02020603050405020304" pitchFamily="18" charset="0"/>
                <a:cs typeface="Times New Roman" panose="02020603050405020304" pitchFamily="18" charset="0"/>
              </a:rPr>
              <a:t> module has a method called </a:t>
            </a:r>
            <a:r>
              <a:rPr lang="en-US" sz="1700" dirty="0" err="1">
                <a:solidFill>
                  <a:schemeClr val="tx1"/>
                </a:solidFill>
                <a:effectLst/>
                <a:latin typeface="Consolas" panose="020B0609020204030204" pitchFamily="49" charset="0"/>
                <a:ea typeface="Times New Roman" panose="02020603050405020304" pitchFamily="18" charset="0"/>
                <a:cs typeface="Courier New" panose="02070309020205020404" pitchFamily="49" charset="0"/>
              </a:rPr>
              <a:t>StandardScaler</a:t>
            </a:r>
            <a:r>
              <a:rPr lang="en-US" sz="1700" dirty="0">
                <a:solidFill>
                  <a:schemeClr val="tx1"/>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700" dirty="0">
                <a:solidFill>
                  <a:schemeClr val="tx1"/>
                </a:solidFill>
                <a:effectLst/>
                <a:latin typeface="Verdana" panose="020B0604030504040204" pitchFamily="34" charset="0"/>
                <a:ea typeface="Times New Roman" panose="02020603050405020304" pitchFamily="18" charset="0"/>
                <a:cs typeface="Times New Roman" panose="02020603050405020304" pitchFamily="18" charset="0"/>
              </a:rPr>
              <a:t> which returns a Scaler object with methods for transforming data sets.</a:t>
            </a:r>
          </a:p>
          <a:p>
            <a:r>
              <a:rPr lang="en-US" sz="1700" kern="0" dirty="0">
                <a:solidFill>
                  <a:schemeClr val="tx1"/>
                </a:solidFill>
                <a:effectLst/>
                <a:latin typeface="Consolas" panose="020B0609020204030204" pitchFamily="49" charset="0"/>
                <a:ea typeface="Times New Roman" panose="02020603050405020304" pitchFamily="18" charset="0"/>
                <a:cs typeface="Times New Roman" panose="02020603050405020304" pitchFamily="18" charset="0"/>
              </a:rPr>
              <a:t>from </a:t>
            </a:r>
            <a:r>
              <a:rPr lang="en-US" sz="1700" kern="0" dirty="0" err="1">
                <a:solidFill>
                  <a:schemeClr val="tx1"/>
                </a:solidFill>
                <a:effectLst/>
                <a:latin typeface="Consolas" panose="020B0609020204030204" pitchFamily="49" charset="0"/>
                <a:ea typeface="Times New Roman" panose="02020603050405020304" pitchFamily="18" charset="0"/>
                <a:cs typeface="Times New Roman" panose="02020603050405020304" pitchFamily="18" charset="0"/>
              </a:rPr>
              <a:t>sklearn.preprocessing</a:t>
            </a:r>
            <a:r>
              <a:rPr lang="en-US" sz="1700" kern="0" dirty="0">
                <a:solidFill>
                  <a:schemeClr val="tx1"/>
                </a:solidFill>
                <a:effectLst/>
                <a:latin typeface="Consolas" panose="020B0609020204030204" pitchFamily="49" charset="0"/>
                <a:ea typeface="Times New Roman" panose="02020603050405020304" pitchFamily="18" charset="0"/>
                <a:cs typeface="Times New Roman" panose="02020603050405020304" pitchFamily="18" charset="0"/>
              </a:rPr>
              <a:t> import </a:t>
            </a:r>
            <a:r>
              <a:rPr lang="en-US" sz="1700" kern="0" dirty="0" err="1">
                <a:solidFill>
                  <a:schemeClr val="tx1"/>
                </a:solidFill>
                <a:effectLst/>
                <a:latin typeface="Consolas" panose="020B0609020204030204" pitchFamily="49" charset="0"/>
                <a:ea typeface="Times New Roman" panose="02020603050405020304" pitchFamily="18" charset="0"/>
                <a:cs typeface="Times New Roman" panose="02020603050405020304" pitchFamily="18" charset="0"/>
              </a:rPr>
              <a:t>StandardScaler</a:t>
            </a:r>
            <a:br>
              <a:rPr lang="en-US" sz="1700" kern="0" dirty="0">
                <a:solidFill>
                  <a:schemeClr val="tx1"/>
                </a:solidFill>
                <a:effectLst/>
                <a:latin typeface="Consolas" panose="020B0609020204030204" pitchFamily="49" charset="0"/>
                <a:ea typeface="Times New Roman" panose="02020603050405020304" pitchFamily="18" charset="0"/>
                <a:cs typeface="Times New Roman" panose="02020603050405020304" pitchFamily="18" charset="0"/>
              </a:rPr>
            </a:br>
            <a:r>
              <a:rPr lang="en-US" sz="1700" kern="0" dirty="0">
                <a:solidFill>
                  <a:schemeClr val="tx1"/>
                </a:solidFill>
                <a:effectLst/>
                <a:latin typeface="Consolas" panose="020B0609020204030204" pitchFamily="49" charset="0"/>
                <a:ea typeface="Times New Roman" panose="02020603050405020304" pitchFamily="18" charset="0"/>
                <a:cs typeface="Times New Roman" panose="02020603050405020304" pitchFamily="18" charset="0"/>
              </a:rPr>
              <a:t>scale = </a:t>
            </a:r>
            <a:r>
              <a:rPr lang="en-US" sz="1700" kern="0" dirty="0" err="1">
                <a:solidFill>
                  <a:schemeClr val="tx1"/>
                </a:solidFill>
                <a:effectLst/>
                <a:latin typeface="Consolas" panose="020B0609020204030204" pitchFamily="49" charset="0"/>
                <a:ea typeface="Times New Roman" panose="02020603050405020304" pitchFamily="18" charset="0"/>
                <a:cs typeface="Times New Roman" panose="02020603050405020304" pitchFamily="18" charset="0"/>
              </a:rPr>
              <a:t>StandardScaler</a:t>
            </a:r>
            <a:r>
              <a:rPr lang="en-US" sz="1700" kern="0" dirty="0">
                <a:solidFill>
                  <a:schemeClr val="tx1"/>
                </a:solidFill>
                <a:effectLst/>
                <a:latin typeface="Consolas" panose="020B0609020204030204" pitchFamily="49" charset="0"/>
                <a:ea typeface="Times New Roman" panose="02020603050405020304" pitchFamily="18" charset="0"/>
                <a:cs typeface="Times New Roman" panose="02020603050405020304" pitchFamily="18" charset="0"/>
              </a:rPr>
              <a:t>()</a:t>
            </a:r>
            <a:br>
              <a:rPr lang="en-US" sz="1700" kern="0" dirty="0">
                <a:solidFill>
                  <a:schemeClr val="tx1"/>
                </a:solidFill>
                <a:effectLst/>
                <a:latin typeface="Consolas" panose="020B0609020204030204" pitchFamily="49" charset="0"/>
                <a:ea typeface="Times New Roman" panose="02020603050405020304" pitchFamily="18" charset="0"/>
                <a:cs typeface="Times New Roman" panose="02020603050405020304" pitchFamily="18" charset="0"/>
              </a:rPr>
            </a:br>
            <a:r>
              <a:rPr lang="en-US" sz="1700" kern="0" dirty="0">
                <a:solidFill>
                  <a:schemeClr val="tx1"/>
                </a:solidFill>
                <a:effectLst/>
                <a:latin typeface="Consolas" panose="020B0609020204030204" pitchFamily="49" charset="0"/>
                <a:ea typeface="Times New Roman" panose="02020603050405020304" pitchFamily="18" charset="0"/>
                <a:cs typeface="Times New Roman" panose="02020603050405020304" pitchFamily="18" charset="0"/>
              </a:rPr>
              <a:t>X = </a:t>
            </a:r>
            <a:r>
              <a:rPr lang="en-US" sz="1700" kern="0" dirty="0" err="1">
                <a:solidFill>
                  <a:schemeClr val="tx1"/>
                </a:solidFill>
                <a:effectLst/>
                <a:latin typeface="Consolas" panose="020B0609020204030204" pitchFamily="49" charset="0"/>
                <a:ea typeface="Times New Roman" panose="02020603050405020304" pitchFamily="18" charset="0"/>
                <a:cs typeface="Times New Roman" panose="02020603050405020304" pitchFamily="18" charset="0"/>
              </a:rPr>
              <a:t>df</a:t>
            </a:r>
            <a:r>
              <a:rPr lang="en-US" sz="1700" kern="0" dirty="0">
                <a:solidFill>
                  <a:schemeClr val="tx1"/>
                </a:solidFill>
                <a:effectLst/>
                <a:latin typeface="Consolas" panose="020B0609020204030204" pitchFamily="49" charset="0"/>
                <a:ea typeface="Times New Roman" panose="02020603050405020304" pitchFamily="18" charset="0"/>
                <a:cs typeface="Times New Roman" panose="02020603050405020304" pitchFamily="18" charset="0"/>
              </a:rPr>
              <a:t>[['Weight', 'Volume']]</a:t>
            </a:r>
            <a:br>
              <a:rPr lang="en-US" sz="1700" kern="0" dirty="0">
                <a:solidFill>
                  <a:schemeClr val="tx1"/>
                </a:solidFill>
                <a:effectLst/>
                <a:latin typeface="Consolas" panose="020B0609020204030204" pitchFamily="49" charset="0"/>
                <a:ea typeface="Times New Roman" panose="02020603050405020304" pitchFamily="18" charset="0"/>
                <a:cs typeface="Times New Roman" panose="02020603050405020304" pitchFamily="18" charset="0"/>
              </a:rPr>
            </a:br>
            <a:br>
              <a:rPr lang="en-US" sz="1700" kern="0" dirty="0">
                <a:solidFill>
                  <a:schemeClr val="tx1"/>
                </a:solidFill>
                <a:effectLst/>
                <a:latin typeface="Consolas" panose="020B0609020204030204" pitchFamily="49" charset="0"/>
                <a:ea typeface="Times New Roman" panose="02020603050405020304" pitchFamily="18" charset="0"/>
                <a:cs typeface="Times New Roman" panose="02020603050405020304" pitchFamily="18" charset="0"/>
              </a:rPr>
            </a:br>
            <a:r>
              <a:rPr lang="en-US" sz="1700" kern="0" dirty="0" err="1">
                <a:solidFill>
                  <a:schemeClr val="tx1"/>
                </a:solidFill>
                <a:effectLst/>
                <a:latin typeface="Consolas" panose="020B0609020204030204" pitchFamily="49" charset="0"/>
                <a:ea typeface="Times New Roman" panose="02020603050405020304" pitchFamily="18" charset="0"/>
                <a:cs typeface="Times New Roman" panose="02020603050405020304" pitchFamily="18" charset="0"/>
              </a:rPr>
              <a:t>scaledX</a:t>
            </a:r>
            <a:r>
              <a:rPr lang="en-US" sz="1700" kern="0" dirty="0">
                <a:solidFill>
                  <a:schemeClr val="tx1"/>
                </a:solidFill>
                <a:effectLst/>
                <a:latin typeface="Consolas" panose="020B0609020204030204" pitchFamily="49" charset="0"/>
                <a:ea typeface="Times New Roman" panose="02020603050405020304" pitchFamily="18" charset="0"/>
                <a:cs typeface="Times New Roman" panose="02020603050405020304" pitchFamily="18" charset="0"/>
              </a:rPr>
              <a:t> = </a:t>
            </a:r>
            <a:r>
              <a:rPr lang="en-US" sz="1700" kern="0" dirty="0" err="1">
                <a:solidFill>
                  <a:schemeClr val="tx1"/>
                </a:solidFill>
                <a:effectLst/>
                <a:latin typeface="Consolas" panose="020B0609020204030204" pitchFamily="49" charset="0"/>
                <a:ea typeface="Times New Roman" panose="02020603050405020304" pitchFamily="18" charset="0"/>
                <a:cs typeface="Times New Roman" panose="02020603050405020304" pitchFamily="18" charset="0"/>
              </a:rPr>
              <a:t>scale.fit_transform</a:t>
            </a:r>
            <a:r>
              <a:rPr lang="en-US" sz="1700" kern="0" dirty="0">
                <a:solidFill>
                  <a:schemeClr val="tx1"/>
                </a:solidFill>
                <a:effectLst/>
                <a:latin typeface="Consolas" panose="020B0609020204030204" pitchFamily="49" charset="0"/>
                <a:ea typeface="Times New Roman" panose="02020603050405020304" pitchFamily="18" charset="0"/>
                <a:cs typeface="Times New Roman" panose="02020603050405020304" pitchFamily="18" charset="0"/>
              </a:rPr>
              <a:t>(X)</a:t>
            </a:r>
            <a:br>
              <a:rPr lang="en-US" sz="1700" kern="0" dirty="0">
                <a:solidFill>
                  <a:schemeClr val="tx1"/>
                </a:solidFill>
                <a:effectLst/>
                <a:latin typeface="Consolas" panose="020B0609020204030204" pitchFamily="49" charset="0"/>
                <a:ea typeface="Times New Roman" panose="02020603050405020304" pitchFamily="18" charset="0"/>
                <a:cs typeface="Times New Roman" panose="02020603050405020304" pitchFamily="18" charset="0"/>
              </a:rPr>
            </a:br>
            <a:endParaRPr lang="en-US" sz="17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US" sz="17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US" sz="1700" dirty="0">
              <a:solidFill>
                <a:schemeClr val="tx1"/>
              </a:solidFill>
            </a:endParaRPr>
          </a:p>
        </p:txBody>
      </p:sp>
      <p:graphicFrame>
        <p:nvGraphicFramePr>
          <p:cNvPr id="10" name="Table 9"/>
          <p:cNvGraphicFramePr>
            <a:graphicFrameLocks noGrp="1"/>
          </p:cNvGraphicFramePr>
          <p:nvPr/>
        </p:nvGraphicFramePr>
        <p:xfrm>
          <a:off x="6029760" y="2871336"/>
          <a:ext cx="5364235" cy="339471"/>
        </p:xfrm>
        <a:graphic>
          <a:graphicData uri="http://schemas.openxmlformats.org/drawingml/2006/table">
            <a:tbl>
              <a:tblPr firstRow="1" firstCol="1" bandRow="1">
                <a:tableStyleId>{5C22544A-7EE6-4342-B048-85BDC9FD1C3A}</a:tableStyleId>
              </a:tblPr>
              <a:tblGrid>
                <a:gridCol w="1034945">
                  <a:extLst>
                    <a:ext uri="{9D8B030D-6E8A-4147-A177-3AD203B41FA5}">
                      <a16:colId xmlns:a16="http://schemas.microsoft.com/office/drawing/2014/main" val="20000"/>
                    </a:ext>
                  </a:extLst>
                </a:gridCol>
                <a:gridCol w="1037036">
                  <a:extLst>
                    <a:ext uri="{9D8B030D-6E8A-4147-A177-3AD203B41FA5}">
                      <a16:colId xmlns:a16="http://schemas.microsoft.com/office/drawing/2014/main" val="20001"/>
                    </a:ext>
                  </a:extLst>
                </a:gridCol>
                <a:gridCol w="1039127">
                  <a:extLst>
                    <a:ext uri="{9D8B030D-6E8A-4147-A177-3AD203B41FA5}">
                      <a16:colId xmlns:a16="http://schemas.microsoft.com/office/drawing/2014/main" val="20002"/>
                    </a:ext>
                  </a:extLst>
                </a:gridCol>
                <a:gridCol w="1038291">
                  <a:extLst>
                    <a:ext uri="{9D8B030D-6E8A-4147-A177-3AD203B41FA5}">
                      <a16:colId xmlns:a16="http://schemas.microsoft.com/office/drawing/2014/main" val="20003"/>
                    </a:ext>
                  </a:extLst>
                </a:gridCol>
                <a:gridCol w="1037036">
                  <a:extLst>
                    <a:ext uri="{9D8B030D-6E8A-4147-A177-3AD203B41FA5}">
                      <a16:colId xmlns:a16="http://schemas.microsoft.com/office/drawing/2014/main" val="20004"/>
                    </a:ext>
                  </a:extLst>
                </a:gridCol>
                <a:gridCol w="177800">
                  <a:extLst>
                    <a:ext uri="{9D8B030D-6E8A-4147-A177-3AD203B41FA5}">
                      <a16:colId xmlns:a16="http://schemas.microsoft.com/office/drawing/2014/main" val="20005"/>
                    </a:ext>
                  </a:extLst>
                </a:gridCol>
              </a:tblGrid>
              <a:tr h="0">
                <a:tc>
                  <a:txBody>
                    <a:bodyPr/>
                    <a:lstStyle/>
                    <a:p>
                      <a:pPr marL="0" marR="0">
                        <a:lnSpc>
                          <a:spcPct val="107000"/>
                        </a:lnSpc>
                        <a:spcBef>
                          <a:spcPts val="0"/>
                        </a:spcBef>
                        <a:spcAft>
                          <a:spcPts val="0"/>
                        </a:spcAft>
                      </a:pPr>
                      <a:r>
                        <a:rPr lang="en-US" sz="1200" kern="100">
                          <a:effectLst/>
                        </a:rPr>
                        <a:t>Car</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152400" marR="76200" marT="76200" marB="76200"/>
                </a:tc>
                <a:tc>
                  <a:txBody>
                    <a:bodyPr/>
                    <a:lstStyle/>
                    <a:p>
                      <a:pPr marL="0" marR="0">
                        <a:lnSpc>
                          <a:spcPct val="107000"/>
                        </a:lnSpc>
                        <a:spcBef>
                          <a:spcPts val="0"/>
                        </a:spcBef>
                        <a:spcAft>
                          <a:spcPts val="0"/>
                        </a:spcAft>
                      </a:pPr>
                      <a:r>
                        <a:rPr lang="en-US" sz="1200" kern="100">
                          <a:effectLst/>
                        </a:rPr>
                        <a:t>Model</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marL="0" marR="0" algn="r">
                        <a:lnSpc>
                          <a:spcPct val="107000"/>
                        </a:lnSpc>
                        <a:spcBef>
                          <a:spcPts val="0"/>
                        </a:spcBef>
                        <a:spcAft>
                          <a:spcPts val="0"/>
                        </a:spcAft>
                      </a:pPr>
                      <a:r>
                        <a:rPr lang="en-US" sz="1200" kern="100">
                          <a:effectLst/>
                        </a:rPr>
                        <a:t>Volume</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marL="0" marR="0" algn="r">
                        <a:lnSpc>
                          <a:spcPct val="107000"/>
                        </a:lnSpc>
                        <a:spcBef>
                          <a:spcPts val="0"/>
                        </a:spcBef>
                        <a:spcAft>
                          <a:spcPts val="0"/>
                        </a:spcAft>
                      </a:pPr>
                      <a:r>
                        <a:rPr lang="en-US" sz="1200" kern="100">
                          <a:effectLst/>
                        </a:rPr>
                        <a:t>Weight</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marL="0" marR="0" algn="r">
                        <a:lnSpc>
                          <a:spcPct val="107000"/>
                        </a:lnSpc>
                        <a:spcBef>
                          <a:spcPts val="0"/>
                        </a:spcBef>
                        <a:spcAft>
                          <a:spcPts val="0"/>
                        </a:spcAft>
                      </a:pPr>
                      <a:r>
                        <a:rPr lang="en-US" sz="1200" kern="100">
                          <a:effectLst/>
                        </a:rPr>
                        <a:t>CO2</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76200" marR="190500" marT="76200" marB="76200"/>
                </a:tc>
                <a:tc>
                  <a:txBody>
                    <a:bodyPr/>
                    <a:lstStyle/>
                    <a:p>
                      <a:pPr>
                        <a:lnSpc>
                          <a:spcPct val="107000"/>
                        </a:lnSpc>
                      </a:pPr>
                      <a:endParaRPr lang="en-US" sz="1100" kern="100">
                        <a:effectLst/>
                        <a:latin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val="10000"/>
                  </a:ext>
                </a:extLst>
              </a:tr>
            </a:tbl>
          </a:graphicData>
        </a:graphic>
      </p:graphicFrame>
      <p:graphicFrame>
        <p:nvGraphicFramePr>
          <p:cNvPr id="11" name="Table 10"/>
          <p:cNvGraphicFramePr>
            <a:graphicFrameLocks noGrp="1"/>
          </p:cNvGraphicFramePr>
          <p:nvPr/>
        </p:nvGraphicFramePr>
        <p:xfrm>
          <a:off x="6029760" y="3178865"/>
          <a:ext cx="5303520" cy="1018413"/>
        </p:xfrm>
        <a:graphic>
          <a:graphicData uri="http://schemas.openxmlformats.org/drawingml/2006/table">
            <a:tbl>
              <a:tblPr firstRow="1" firstCol="1" bandRow="1">
                <a:tableStyleId>{5C22544A-7EE6-4342-B048-85BDC9FD1C3A}</a:tableStyleId>
              </a:tblPr>
              <a:tblGrid>
                <a:gridCol w="1224280">
                  <a:extLst>
                    <a:ext uri="{9D8B030D-6E8A-4147-A177-3AD203B41FA5}">
                      <a16:colId xmlns:a16="http://schemas.microsoft.com/office/drawing/2014/main" val="20000"/>
                    </a:ext>
                  </a:extLst>
                </a:gridCol>
                <a:gridCol w="1083945">
                  <a:extLst>
                    <a:ext uri="{9D8B030D-6E8A-4147-A177-3AD203B41FA5}">
                      <a16:colId xmlns:a16="http://schemas.microsoft.com/office/drawing/2014/main" val="20001"/>
                    </a:ext>
                  </a:extLst>
                </a:gridCol>
                <a:gridCol w="953770">
                  <a:extLst>
                    <a:ext uri="{9D8B030D-6E8A-4147-A177-3AD203B41FA5}">
                      <a16:colId xmlns:a16="http://schemas.microsoft.com/office/drawing/2014/main" val="20002"/>
                    </a:ext>
                  </a:extLst>
                </a:gridCol>
                <a:gridCol w="1010920">
                  <a:extLst>
                    <a:ext uri="{9D8B030D-6E8A-4147-A177-3AD203B41FA5}">
                      <a16:colId xmlns:a16="http://schemas.microsoft.com/office/drawing/2014/main" val="20003"/>
                    </a:ext>
                  </a:extLst>
                </a:gridCol>
                <a:gridCol w="1030605">
                  <a:extLst>
                    <a:ext uri="{9D8B030D-6E8A-4147-A177-3AD203B41FA5}">
                      <a16:colId xmlns:a16="http://schemas.microsoft.com/office/drawing/2014/main" val="20004"/>
                    </a:ext>
                  </a:extLst>
                </a:gridCol>
              </a:tblGrid>
              <a:tr h="0">
                <a:tc>
                  <a:txBody>
                    <a:bodyPr/>
                    <a:lstStyle/>
                    <a:p>
                      <a:pPr marL="0" marR="0">
                        <a:lnSpc>
                          <a:spcPct val="107000"/>
                        </a:lnSpc>
                        <a:spcBef>
                          <a:spcPts val="0"/>
                        </a:spcBef>
                        <a:spcAft>
                          <a:spcPts val="0"/>
                        </a:spcAft>
                      </a:pPr>
                      <a:r>
                        <a:rPr lang="en-US" sz="1200" kern="100">
                          <a:effectLst/>
                        </a:rPr>
                        <a:t>Toyota</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152400" marR="76200" marT="76200" marB="76200"/>
                </a:tc>
                <a:tc>
                  <a:txBody>
                    <a:bodyPr/>
                    <a:lstStyle/>
                    <a:p>
                      <a:pPr marL="0" marR="0">
                        <a:lnSpc>
                          <a:spcPct val="107000"/>
                        </a:lnSpc>
                        <a:spcBef>
                          <a:spcPts val="0"/>
                        </a:spcBef>
                        <a:spcAft>
                          <a:spcPts val="0"/>
                        </a:spcAft>
                      </a:pPr>
                      <a:r>
                        <a:rPr lang="en-US" sz="1200" kern="100">
                          <a:effectLst/>
                        </a:rPr>
                        <a:t>Aygo</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marL="0" marR="0" algn="r">
                        <a:lnSpc>
                          <a:spcPct val="107000"/>
                        </a:lnSpc>
                        <a:spcBef>
                          <a:spcPts val="0"/>
                        </a:spcBef>
                        <a:spcAft>
                          <a:spcPts val="0"/>
                        </a:spcAft>
                      </a:pPr>
                      <a:r>
                        <a:rPr lang="en-US" sz="1200" kern="100" dirty="0">
                          <a:effectLst/>
                        </a:rPr>
                        <a:t>1.0</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marL="0" marR="0" algn="r">
                        <a:lnSpc>
                          <a:spcPct val="107000"/>
                        </a:lnSpc>
                        <a:spcBef>
                          <a:spcPts val="0"/>
                        </a:spcBef>
                        <a:spcAft>
                          <a:spcPts val="0"/>
                        </a:spcAft>
                      </a:pPr>
                      <a:r>
                        <a:rPr lang="en-US" sz="1200" kern="100">
                          <a:effectLst/>
                        </a:rPr>
                        <a:t>790</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marL="0" marR="0" algn="r">
                        <a:lnSpc>
                          <a:spcPct val="107000"/>
                        </a:lnSpc>
                        <a:spcBef>
                          <a:spcPts val="0"/>
                        </a:spcBef>
                        <a:spcAft>
                          <a:spcPts val="0"/>
                        </a:spcAft>
                      </a:pPr>
                      <a:r>
                        <a:rPr lang="en-US" sz="1200" kern="100">
                          <a:effectLst/>
                        </a:rPr>
                        <a:t>99</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76200" marR="190500" marT="76200" marB="76200"/>
                </a:tc>
                <a:extLst>
                  <a:ext uri="{0D108BD9-81ED-4DB2-BD59-A6C34878D82A}">
                    <a16:rowId xmlns:a16="http://schemas.microsoft.com/office/drawing/2014/main" val="10000"/>
                  </a:ext>
                </a:extLst>
              </a:tr>
              <a:tr h="0">
                <a:tc>
                  <a:txBody>
                    <a:bodyPr/>
                    <a:lstStyle/>
                    <a:p>
                      <a:pPr marL="0" marR="0">
                        <a:lnSpc>
                          <a:spcPct val="107000"/>
                        </a:lnSpc>
                        <a:spcBef>
                          <a:spcPts val="0"/>
                        </a:spcBef>
                        <a:spcAft>
                          <a:spcPts val="0"/>
                        </a:spcAft>
                      </a:pPr>
                      <a:r>
                        <a:rPr lang="en-US" sz="1200" kern="100">
                          <a:effectLst/>
                        </a:rPr>
                        <a:t>Mitsubishi</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152400" marR="76200" marT="76200" marB="76200"/>
                </a:tc>
                <a:tc>
                  <a:txBody>
                    <a:bodyPr/>
                    <a:lstStyle/>
                    <a:p>
                      <a:pPr marL="0" marR="0">
                        <a:lnSpc>
                          <a:spcPct val="107000"/>
                        </a:lnSpc>
                        <a:spcBef>
                          <a:spcPts val="0"/>
                        </a:spcBef>
                        <a:spcAft>
                          <a:spcPts val="0"/>
                        </a:spcAft>
                      </a:pPr>
                      <a:r>
                        <a:rPr lang="en-US" sz="1200" kern="100">
                          <a:effectLst/>
                        </a:rPr>
                        <a:t>Space Star</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marL="0" marR="0" algn="r">
                        <a:lnSpc>
                          <a:spcPct val="107000"/>
                        </a:lnSpc>
                        <a:spcBef>
                          <a:spcPts val="0"/>
                        </a:spcBef>
                        <a:spcAft>
                          <a:spcPts val="0"/>
                        </a:spcAft>
                      </a:pPr>
                      <a:r>
                        <a:rPr lang="en-US" sz="1200" kern="100">
                          <a:effectLst/>
                        </a:rPr>
                        <a:t>1.2</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marL="0" marR="0" algn="r">
                        <a:lnSpc>
                          <a:spcPct val="107000"/>
                        </a:lnSpc>
                        <a:spcBef>
                          <a:spcPts val="0"/>
                        </a:spcBef>
                        <a:spcAft>
                          <a:spcPts val="0"/>
                        </a:spcAft>
                      </a:pPr>
                      <a:r>
                        <a:rPr lang="en-US" sz="1200" kern="100">
                          <a:effectLst/>
                        </a:rPr>
                        <a:t>1160</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marL="0" marR="0" algn="r">
                        <a:lnSpc>
                          <a:spcPct val="107000"/>
                        </a:lnSpc>
                        <a:spcBef>
                          <a:spcPts val="0"/>
                        </a:spcBef>
                        <a:spcAft>
                          <a:spcPts val="0"/>
                        </a:spcAft>
                      </a:pPr>
                      <a:r>
                        <a:rPr lang="en-US" sz="1200" kern="100">
                          <a:effectLst/>
                        </a:rPr>
                        <a:t>95</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76200" marR="190500" marT="76200" marB="76200"/>
                </a:tc>
                <a:extLst>
                  <a:ext uri="{0D108BD9-81ED-4DB2-BD59-A6C34878D82A}">
                    <a16:rowId xmlns:a16="http://schemas.microsoft.com/office/drawing/2014/main" val="10001"/>
                  </a:ext>
                </a:extLst>
              </a:tr>
              <a:tr h="0">
                <a:tc>
                  <a:txBody>
                    <a:bodyPr/>
                    <a:lstStyle/>
                    <a:p>
                      <a:pPr marL="0" marR="0">
                        <a:lnSpc>
                          <a:spcPct val="107000"/>
                        </a:lnSpc>
                        <a:spcBef>
                          <a:spcPts val="0"/>
                        </a:spcBef>
                        <a:spcAft>
                          <a:spcPts val="0"/>
                        </a:spcAft>
                      </a:pPr>
                      <a:r>
                        <a:rPr lang="en-US" sz="1200" kern="100">
                          <a:effectLst/>
                        </a:rPr>
                        <a:t>Skoda</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152400" marR="76200" marT="76200" marB="76200"/>
                </a:tc>
                <a:tc>
                  <a:txBody>
                    <a:bodyPr/>
                    <a:lstStyle/>
                    <a:p>
                      <a:pPr marL="0" marR="0">
                        <a:lnSpc>
                          <a:spcPct val="107000"/>
                        </a:lnSpc>
                        <a:spcBef>
                          <a:spcPts val="0"/>
                        </a:spcBef>
                        <a:spcAft>
                          <a:spcPts val="0"/>
                        </a:spcAft>
                      </a:pPr>
                      <a:r>
                        <a:rPr lang="en-US" sz="1200" kern="100">
                          <a:effectLst/>
                        </a:rPr>
                        <a:t>Citigo</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marL="0" marR="0" algn="r">
                        <a:lnSpc>
                          <a:spcPct val="107000"/>
                        </a:lnSpc>
                        <a:spcBef>
                          <a:spcPts val="0"/>
                        </a:spcBef>
                        <a:spcAft>
                          <a:spcPts val="0"/>
                        </a:spcAft>
                      </a:pPr>
                      <a:r>
                        <a:rPr lang="en-US" sz="1200" kern="100">
                          <a:effectLst/>
                        </a:rPr>
                        <a:t>1.0</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marL="0" marR="0" algn="r">
                        <a:lnSpc>
                          <a:spcPct val="107000"/>
                        </a:lnSpc>
                        <a:spcBef>
                          <a:spcPts val="0"/>
                        </a:spcBef>
                        <a:spcAft>
                          <a:spcPts val="0"/>
                        </a:spcAft>
                      </a:pPr>
                      <a:r>
                        <a:rPr lang="en-US" sz="1200" kern="100">
                          <a:effectLst/>
                        </a:rPr>
                        <a:t>929</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marL="0" marR="0" algn="r">
                        <a:lnSpc>
                          <a:spcPct val="107000"/>
                        </a:lnSpc>
                        <a:spcBef>
                          <a:spcPts val="0"/>
                        </a:spcBef>
                        <a:spcAft>
                          <a:spcPts val="0"/>
                        </a:spcAft>
                      </a:pPr>
                      <a:r>
                        <a:rPr lang="en-US" sz="1200" kern="100" dirty="0">
                          <a:effectLst/>
                        </a:rPr>
                        <a:t>95</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190500" marT="76200" marB="76200"/>
                </a:tc>
                <a:extLst>
                  <a:ext uri="{0D108BD9-81ED-4DB2-BD59-A6C34878D82A}">
                    <a16:rowId xmlns:a16="http://schemas.microsoft.com/office/drawing/2014/main" val="10002"/>
                  </a:ext>
                </a:extLst>
              </a:tr>
            </a:tbl>
          </a:graphicData>
        </a:graphic>
      </p:graphicFrame>
      <p:sp>
        <p:nvSpPr>
          <p:cNvPr id="12" name="Rectangle 3"/>
          <p:cNvSpPr>
            <a:spLocks noChangeArrowheads="1"/>
          </p:cNvSpPr>
          <p:nvPr/>
        </p:nvSpPr>
        <p:spPr bwMode="auto">
          <a:xfrm>
            <a:off x="3444875" y="349408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visual</a:t>
            </a:r>
            <a:endParaRPr lang="en-US" dirty="0"/>
          </a:p>
        </p:txBody>
      </p:sp>
      <p:sp>
        <p:nvSpPr>
          <p:cNvPr id="3" name="Text Placeholder 2"/>
          <p:cNvSpPr>
            <a:spLocks noGrp="1"/>
          </p:cNvSpPr>
          <p:nvPr>
            <p:ph type="body" sz="quarter" idx="10"/>
          </p:nvPr>
        </p:nvSpPr>
        <p:spPr/>
        <p:txBody>
          <a:bodyPr/>
          <a:lstStyle/>
          <a:p>
            <a:r>
              <a:rPr lang="en-US" dirty="0">
                <a:hlinkClick r:id="rId3"/>
              </a:rPr>
              <a:t>Introduction to Polynomial Regression Analysis (serokell.io)</a:t>
            </a:r>
            <a:endParaRPr lang="en-US" dirty="0"/>
          </a:p>
          <a:p>
            <a:endParaRPr lang="en-US" dirty="0"/>
          </a:p>
          <a:p>
            <a:r>
              <a:rPr lang="en-US" dirty="0"/>
              <a:t>To watch the video on polynomial regression </a:t>
            </a:r>
          </a:p>
          <a:p>
            <a:endParaRPr lang="en-US" dirty="0"/>
          </a:p>
          <a:p>
            <a:endParaRPr 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summary</a:t>
            </a:r>
            <a:endParaRPr lang="en-US" dirty="0"/>
          </a:p>
        </p:txBody>
      </p:sp>
      <p:sp>
        <p:nvSpPr>
          <p:cNvPr id="3" name="Text Placeholder 2"/>
          <p:cNvSpPr>
            <a:spLocks noGrp="1"/>
          </p:cNvSpPr>
          <p:nvPr>
            <p:ph type="body" sz="quarter" idx="10"/>
          </p:nvPr>
        </p:nvSpPr>
        <p:spPr/>
        <p:txBody>
          <a:bodyPr/>
          <a:lstStyle/>
          <a:p>
            <a:r>
              <a:rPr lang="en-GB" dirty="0"/>
              <a:t>In this session, the following concepts were discussed:</a:t>
            </a:r>
          </a:p>
          <a:p>
            <a:r>
              <a:rPr lang="en-GB" dirty="0"/>
              <a:t>Polynomial regression</a:t>
            </a:r>
          </a:p>
          <a:p>
            <a:r>
              <a:rPr lang="en-GB" dirty="0"/>
              <a:t>Advantages and issues like overfitting</a:t>
            </a:r>
          </a:p>
          <a:p>
            <a:r>
              <a:rPr lang="en-GB" dirty="0"/>
              <a:t>Scaling the data and evaluating the model using train-test </a:t>
            </a:r>
            <a:endParaRPr 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942D6D"/>
                </a:solidFill>
              </a:rPr>
              <a:t>REFERENCE</a:t>
            </a:r>
            <a:endParaRPr lang="en-US" dirty="0">
              <a:solidFill>
                <a:srgbClr val="942D6D"/>
              </a:solidFill>
            </a:endParaRPr>
          </a:p>
        </p:txBody>
      </p:sp>
      <p:sp>
        <p:nvSpPr>
          <p:cNvPr id="3" name="Text Placeholder 2"/>
          <p:cNvSpPr>
            <a:spLocks noGrp="1"/>
          </p:cNvSpPr>
          <p:nvPr>
            <p:ph type="body" sz="quarter" idx="10"/>
          </p:nvPr>
        </p:nvSpPr>
        <p:spPr>
          <a:xfrm>
            <a:off x="601790" y="1194877"/>
            <a:ext cx="10712388" cy="3103303"/>
          </a:xfrm>
        </p:spPr>
        <p:txBody>
          <a:bodyPr/>
          <a:lstStyle/>
          <a:p>
            <a:r>
              <a:rPr lang="en-GB" sz="800" dirty="0">
                <a:solidFill>
                  <a:schemeClr val="tx1">
                    <a:lumMod val="75000"/>
                    <a:lumOff val="25000"/>
                  </a:schemeClr>
                </a:solidFill>
                <a:hlinkClick r:id="rId3"/>
              </a:rPr>
              <a:t>https://towardsdatascience.com/laymans-introduction-to-linear-regression-8b334a3dab09#:~:text=Linear%20regression%20attempts%20to%20model,variable%20(e.g.%20your%20expenses)</a:t>
            </a:r>
            <a:r>
              <a:rPr lang="en-GB" sz="800" dirty="0">
                <a:solidFill>
                  <a:schemeClr val="tx1">
                    <a:lumMod val="75000"/>
                    <a:lumOff val="25000"/>
                  </a:schemeClr>
                </a:solidFill>
              </a:rPr>
              <a:t>.</a:t>
            </a:r>
          </a:p>
          <a:p>
            <a:r>
              <a:rPr lang="en-GB" sz="800" u="none" strike="noStrike" dirty="0">
                <a:effectLst/>
                <a:latin typeface="Calibri" panose="020F0502020204030204" pitchFamily="34" charset="0"/>
                <a:cs typeface="Calibri" panose="020F0502020204030204" pitchFamily="34" charset="0"/>
                <a:hlinkClick r:id="rId4"/>
              </a:rPr>
              <a:t>https://www.mygreatlearning.com/blog/linear-regression-in-machine-learning/</a:t>
            </a:r>
            <a:endParaRPr lang="en-GB" sz="800" u="none" strike="noStrike" dirty="0">
              <a:effectLst/>
              <a:latin typeface="Calibri" panose="020F0502020204030204" pitchFamily="34" charset="0"/>
              <a:cs typeface="Calibri" panose="020F0502020204030204" pitchFamily="34" charset="0"/>
            </a:endParaRPr>
          </a:p>
          <a:p>
            <a:r>
              <a:rPr lang="en-GB" sz="800" u="none" strike="noStrike" dirty="0">
                <a:effectLst/>
                <a:latin typeface="Calibri" panose="020F0502020204030204" pitchFamily="34" charset="0"/>
                <a:cs typeface="Calibri" panose="020F0502020204030204" pitchFamily="34" charset="0"/>
                <a:hlinkClick r:id="rId5"/>
              </a:rPr>
              <a:t>https://www.youtube.com/watch?v=JvS2triC</a:t>
            </a:r>
            <a:r>
              <a:rPr lang="en-GB" sz="800" u="none" strike="noStrike" dirty="0">
                <a:effectLst/>
                <a:latin typeface="inherit"/>
                <a:hlinkClick r:id="rId5"/>
              </a:rPr>
              <a:t>gOY</a:t>
            </a:r>
            <a:endParaRPr lang="en-GB" sz="800" u="none" strike="noStrike" dirty="0">
              <a:effectLst/>
              <a:latin typeface="inherit"/>
            </a:endParaRPr>
          </a:p>
          <a:p>
            <a:r>
              <a:rPr lang="en-GB" sz="800" dirty="0">
                <a:solidFill>
                  <a:srgbClr val="292929"/>
                </a:solidFill>
                <a:latin typeface="Calibri" panose="020F0502020204030204" pitchFamily="34" charset="0"/>
                <a:cs typeface="Calibri" panose="020F0502020204030204" pitchFamily="34" charset="0"/>
              </a:rPr>
              <a:t>mygreatlearning.2022.Introduction  to Multivariate Regression Analysis.[Online].Available at: https://www.mygreatlearning.com/blog/introduction-to-multivariate-regression/</a:t>
            </a:r>
          </a:p>
          <a:p>
            <a:r>
              <a:rPr lang="en-GB" sz="800" dirty="0">
                <a:solidFill>
                  <a:srgbClr val="292929"/>
                </a:solidFill>
                <a:latin typeface="Calibri" panose="020F0502020204030204" pitchFamily="34" charset="0"/>
                <a:cs typeface="Calibri" panose="020F0502020204030204" pitchFamily="34" charset="0"/>
              </a:rPr>
              <a:t>Raj,A.2020. Applied Multivariate Regression .[Online].Available at: </a:t>
            </a:r>
            <a:r>
              <a:rPr lang="en-GB" sz="800" dirty="0">
                <a:solidFill>
                  <a:srgbClr val="292929"/>
                </a:solidFill>
                <a:latin typeface="Calibri" panose="020F0502020204030204" pitchFamily="34" charset="0"/>
                <a:cs typeface="Calibri" panose="020F0502020204030204" pitchFamily="34" charset="0"/>
                <a:hlinkClick r:id="rId6"/>
              </a:rPr>
              <a:t>https://towardsdatascience.com/applied-multivariate-regression-faef8ddbf807</a:t>
            </a:r>
            <a:endParaRPr lang="en-GB" sz="800" dirty="0">
              <a:solidFill>
                <a:srgbClr val="292929"/>
              </a:solidFill>
              <a:latin typeface="Calibri" panose="020F0502020204030204" pitchFamily="34" charset="0"/>
              <a:cs typeface="Calibri" panose="020F0502020204030204" pitchFamily="34" charset="0"/>
            </a:endParaRPr>
          </a:p>
          <a:p>
            <a:r>
              <a:rPr lang="en-GB" sz="800" dirty="0">
                <a:solidFill>
                  <a:srgbClr val="292929"/>
                </a:solidFill>
                <a:latin typeface="Calibri" panose="020F0502020204030204" pitchFamily="34" charset="0"/>
                <a:cs typeface="Calibri" panose="020F0502020204030204" pitchFamily="34" charset="0"/>
              </a:rPr>
              <a:t>Visually Explained.2022. Linear Regression in 2 minutes. .[Online].Available </a:t>
            </a:r>
            <a:r>
              <a:rPr lang="en-GB" sz="800" dirty="0" err="1">
                <a:solidFill>
                  <a:srgbClr val="292929"/>
                </a:solidFill>
                <a:latin typeface="Calibri" panose="020F0502020204030204" pitchFamily="34" charset="0"/>
                <a:cs typeface="Calibri" panose="020F0502020204030204" pitchFamily="34" charset="0"/>
              </a:rPr>
              <a:t>at:https</a:t>
            </a:r>
            <a:r>
              <a:rPr lang="en-GB" sz="800" dirty="0">
                <a:solidFill>
                  <a:srgbClr val="292929"/>
                </a:solidFill>
                <a:latin typeface="Calibri" panose="020F0502020204030204" pitchFamily="34" charset="0"/>
                <a:cs typeface="Calibri" panose="020F0502020204030204" pitchFamily="34" charset="0"/>
              </a:rPr>
              <a:t>://www.youtube.com/watch?v=CtsRRUddV2s</a:t>
            </a:r>
          </a:p>
          <a:p>
            <a:r>
              <a:rPr lang="en-GB" sz="800" dirty="0">
                <a:solidFill>
                  <a:srgbClr val="292929"/>
                </a:solidFill>
                <a:latin typeface="Calibri" panose="020F0502020204030204" pitchFamily="34" charset="0"/>
                <a:cs typeface="Calibri" panose="020F0502020204030204" pitchFamily="34" charset="0"/>
              </a:rPr>
              <a:t>Unfold Data Science.2020.When To Use </a:t>
            </a:r>
            <a:r>
              <a:rPr lang="en-GB" sz="800" dirty="0" err="1">
                <a:solidFill>
                  <a:srgbClr val="292929"/>
                </a:solidFill>
                <a:latin typeface="Calibri" panose="020F0502020204030204" pitchFamily="34" charset="0"/>
                <a:cs typeface="Calibri" panose="020F0502020204030204" pitchFamily="34" charset="0"/>
              </a:rPr>
              <a:t>Regression|Linear</a:t>
            </a:r>
            <a:r>
              <a:rPr lang="en-GB" sz="800" dirty="0">
                <a:solidFill>
                  <a:srgbClr val="292929"/>
                </a:solidFill>
                <a:latin typeface="Calibri" panose="020F0502020204030204" pitchFamily="34" charset="0"/>
                <a:cs typeface="Calibri" panose="020F0502020204030204" pitchFamily="34" charset="0"/>
              </a:rPr>
              <a:t> Regression </a:t>
            </a:r>
            <a:r>
              <a:rPr lang="en-GB" sz="800" dirty="0" err="1">
                <a:solidFill>
                  <a:srgbClr val="292929"/>
                </a:solidFill>
                <a:latin typeface="Calibri" panose="020F0502020204030204" pitchFamily="34" charset="0"/>
                <a:cs typeface="Calibri" panose="020F0502020204030204" pitchFamily="34" charset="0"/>
              </a:rPr>
              <a:t>Analysis|Machine</a:t>
            </a:r>
            <a:r>
              <a:rPr lang="en-GB" sz="800" dirty="0">
                <a:solidFill>
                  <a:srgbClr val="292929"/>
                </a:solidFill>
                <a:latin typeface="Calibri" panose="020F0502020204030204" pitchFamily="34" charset="0"/>
                <a:cs typeface="Calibri" panose="020F0502020204030204" pitchFamily="34" charset="0"/>
              </a:rPr>
              <a:t> Learning Algorithms .[Online].Available </a:t>
            </a:r>
            <a:r>
              <a:rPr lang="en-GB" sz="800" dirty="0" err="1">
                <a:solidFill>
                  <a:srgbClr val="292929"/>
                </a:solidFill>
                <a:latin typeface="Calibri" panose="020F0502020204030204" pitchFamily="34" charset="0"/>
                <a:cs typeface="Calibri" panose="020F0502020204030204" pitchFamily="34" charset="0"/>
              </a:rPr>
              <a:t>at:https</a:t>
            </a:r>
            <a:r>
              <a:rPr lang="en-GB" sz="800" dirty="0">
                <a:solidFill>
                  <a:srgbClr val="292929"/>
                </a:solidFill>
                <a:latin typeface="Calibri" panose="020F0502020204030204" pitchFamily="34" charset="0"/>
                <a:cs typeface="Calibri" panose="020F0502020204030204" pitchFamily="34" charset="0"/>
              </a:rPr>
              <a:t>://www.youtube.com/watch?v=rz6d5lAQhXg</a:t>
            </a:r>
          </a:p>
          <a:p>
            <a:r>
              <a:rPr lang="en-GB" sz="800" dirty="0">
                <a:solidFill>
                  <a:srgbClr val="292929"/>
                </a:solidFill>
                <a:latin typeface="Calibri" panose="020F0502020204030204" pitchFamily="34" charset="0"/>
                <a:cs typeface="Calibri" panose="020F0502020204030204" pitchFamily="34" charset="0"/>
              </a:rPr>
              <a:t>Unfold Data Science.2020.Implementing machine learning in </a:t>
            </a:r>
            <a:r>
              <a:rPr lang="en-GB" sz="800" dirty="0" err="1">
                <a:solidFill>
                  <a:srgbClr val="292929"/>
                </a:solidFill>
                <a:latin typeface="Calibri" panose="020F0502020204030204" pitchFamily="34" charset="0"/>
                <a:cs typeface="Calibri" panose="020F0502020204030204" pitchFamily="34" charset="0"/>
              </a:rPr>
              <a:t>Python|How</a:t>
            </a:r>
            <a:r>
              <a:rPr lang="en-GB" sz="800" dirty="0">
                <a:solidFill>
                  <a:srgbClr val="292929"/>
                </a:solidFill>
                <a:latin typeface="Calibri" panose="020F0502020204030204" pitchFamily="34" charset="0"/>
                <a:cs typeface="Calibri" panose="020F0502020204030204" pitchFamily="34" charset="0"/>
              </a:rPr>
              <a:t> to Implement Machine Learning In Python Algorithms .[Online].Available at: </a:t>
            </a:r>
            <a:r>
              <a:rPr lang="en-GB" sz="800" dirty="0">
                <a:solidFill>
                  <a:srgbClr val="292929"/>
                </a:solidFill>
                <a:latin typeface="Calibri" panose="020F0502020204030204" pitchFamily="34" charset="0"/>
                <a:cs typeface="Calibri" panose="020F0502020204030204" pitchFamily="34" charset="0"/>
                <a:hlinkClick r:id="rId7"/>
              </a:rPr>
              <a:t>https://www.youtube.com/watch?v=fKUfFgiSJx0</a:t>
            </a:r>
            <a:endParaRPr lang="en-GB" sz="800" dirty="0">
              <a:solidFill>
                <a:srgbClr val="292929"/>
              </a:solidFill>
              <a:latin typeface="Calibri" panose="020F0502020204030204" pitchFamily="34" charset="0"/>
              <a:cs typeface="Calibri" panose="020F0502020204030204" pitchFamily="34" charset="0"/>
            </a:endParaRPr>
          </a:p>
          <a:p>
            <a:r>
              <a:rPr lang="en-GB" sz="800" dirty="0">
                <a:solidFill>
                  <a:srgbClr val="292929"/>
                </a:solidFill>
                <a:latin typeface="Calibri" panose="020F0502020204030204" pitchFamily="34" charset="0"/>
                <a:cs typeface="Calibri" panose="020F0502020204030204" pitchFamily="34" charset="0"/>
                <a:hlinkClick r:id="rId8"/>
              </a:rPr>
              <a:t>Htton,S,K.2020.</a:t>
            </a:r>
            <a:r>
              <a:rPr lang="en-GB" sz="800" dirty="0">
                <a:solidFill>
                  <a:srgbClr val="292929"/>
                </a:solidFill>
                <a:latin typeface="Calibri" panose="020F0502020204030204" pitchFamily="34" charset="0"/>
                <a:cs typeface="Calibri" panose="020F0502020204030204" pitchFamily="34" charset="0"/>
              </a:rPr>
              <a:t> .[Online].Available at: </a:t>
            </a:r>
            <a:r>
              <a:rPr lang="en-GB" sz="800" dirty="0">
                <a:solidFill>
                  <a:srgbClr val="292929"/>
                </a:solidFill>
                <a:latin typeface="Calibri" panose="020F0502020204030204" pitchFamily="34" charset="0"/>
                <a:cs typeface="Calibri" panose="020F0502020204030204" pitchFamily="34" charset="0"/>
                <a:hlinkClick r:id="rId9"/>
              </a:rPr>
              <a:t>https://medium.com/@kyawsawhtoon/log-transformation-purpose-and-interpretation-9444b4b049c9</a:t>
            </a:r>
            <a:endParaRPr lang="en-GB" sz="800" dirty="0">
              <a:solidFill>
                <a:srgbClr val="292929"/>
              </a:solidFill>
              <a:latin typeface="Calibri" panose="020F0502020204030204" pitchFamily="34" charset="0"/>
              <a:cs typeface="Calibri" panose="020F0502020204030204" pitchFamily="34" charset="0"/>
            </a:endParaRPr>
          </a:p>
          <a:p>
            <a:r>
              <a:rPr lang="en-GB" sz="800" dirty="0">
                <a:solidFill>
                  <a:srgbClr val="292929"/>
                </a:solidFill>
                <a:latin typeface="Calibri" panose="020F0502020204030204" pitchFamily="34" charset="0"/>
                <a:cs typeface="Calibri" panose="020F0502020204030204" pitchFamily="34" charset="0"/>
              </a:rPr>
              <a:t>manvendra7,2023.WHY DO WE CARE SO MUCH ABOUT NORAMLITY ?. .[Online].Available at: https://github.com/manvendra7/Skewness-and-kurtosis/blob/master/SKEWNESS_AND_KURTOSIS_(1).ipynb</a:t>
            </a:r>
          </a:p>
          <a:p>
            <a:r>
              <a:rPr lang="en-GB" sz="800" dirty="0">
                <a:solidFill>
                  <a:srgbClr val="292929"/>
                </a:solidFill>
                <a:latin typeface="Calibri" panose="020F0502020204030204" pitchFamily="34" charset="0"/>
                <a:cs typeface="Calibri" panose="020F0502020204030204" pitchFamily="34" charset="0"/>
              </a:rPr>
              <a:t>Radečić,D.2020.Top 3 Methods for Handling Skewed Data. https://towardsdatascience.com/top-3-methods-for-handling-skewed-data-1334e0debf45</a:t>
            </a:r>
          </a:p>
          <a:p>
            <a:r>
              <a:rPr lang="en-US" sz="800" dirty="0">
                <a:solidFill>
                  <a:srgbClr val="292929"/>
                </a:solidFill>
                <a:latin typeface="Calibri" panose="020F0502020204030204" pitchFamily="34" charset="0"/>
                <a:cs typeface="Calibri" panose="020F0502020204030204" pitchFamily="34" charset="0"/>
                <a:hlinkClick r:id="rId10"/>
              </a:rPr>
              <a:t>Student's Marks Regression | Kaggle</a:t>
            </a:r>
            <a:endParaRPr lang="en-US" sz="800" dirty="0">
              <a:solidFill>
                <a:srgbClr val="292929"/>
              </a:solidFill>
              <a:latin typeface="Calibri" panose="020F0502020204030204" pitchFamily="34" charset="0"/>
              <a:cs typeface="Calibri" panose="020F0502020204030204" pitchFamily="34" charset="0"/>
            </a:endParaRPr>
          </a:p>
          <a:p>
            <a:r>
              <a:rPr lang="en-US" sz="800" dirty="0">
                <a:hlinkClick r:id="rId11"/>
              </a:rPr>
              <a:t>How to Calculate Skewness and Kurtosis in Python? – </a:t>
            </a:r>
            <a:r>
              <a:rPr lang="en-US" sz="800" dirty="0" err="1">
                <a:hlinkClick r:id="rId11"/>
              </a:rPr>
              <a:t>GeeksforGeeks</a:t>
            </a:r>
            <a:endParaRPr lang="en-US" sz="800" dirty="0"/>
          </a:p>
          <a:p>
            <a:r>
              <a:rPr lang="en-US" sz="800" dirty="0">
                <a:hlinkClick r:id="rId12"/>
              </a:rPr>
              <a:t>Seaborn - Linear Relationships (tutorialspoint.com)</a:t>
            </a:r>
            <a:endParaRPr lang="en-US" sz="800" dirty="0"/>
          </a:p>
          <a:p>
            <a:r>
              <a:rPr lang="en-US" sz="800" dirty="0"/>
              <a:t>Loong,J.2018. Fitting Polynomial Regressions in Python. [Online].Available </a:t>
            </a:r>
            <a:r>
              <a:rPr lang="en-US" sz="800" dirty="0" err="1"/>
              <a:t>at:https</a:t>
            </a:r>
            <a:r>
              <a:rPr lang="en-US" sz="800" dirty="0"/>
              <a:t>://joshualoong.com/2018/10/03/Fitting-Polynomial-Regressions-in-Python/</a:t>
            </a:r>
          </a:p>
          <a:p>
            <a:r>
              <a:rPr lang="en-US" sz="800" dirty="0" err="1"/>
              <a:t>Mahmood.S.Md</a:t>
            </a:r>
            <a:r>
              <a:rPr lang="en-US" sz="800" dirty="0"/>
              <a:t>. 2021 .Simple Linear and Polynomial Regression. [online].Available </a:t>
            </a:r>
            <a:r>
              <a:rPr lang="en-US" sz="800" dirty="0" err="1"/>
              <a:t>at:.https</a:t>
            </a:r>
            <a:r>
              <a:rPr lang="en-US" sz="800" dirty="0"/>
              <a:t>://towardsdatascience.com/simply-linear-and-polynomial-regression-9c9624774f5a</a:t>
            </a:r>
          </a:p>
          <a:p>
            <a:r>
              <a:rPr lang="en-US" sz="800" dirty="0"/>
              <a:t>Zach.2020. An Introduction to Polynomial Regression. [Online].Available </a:t>
            </a:r>
            <a:r>
              <a:rPr lang="en-US" sz="800" dirty="0" err="1"/>
              <a:t>at:https</a:t>
            </a:r>
            <a:r>
              <a:rPr lang="en-US" sz="800" dirty="0"/>
              <a:t>://www.statology.org/polynomial-regression/</a:t>
            </a:r>
          </a:p>
          <a:p>
            <a:r>
              <a:rPr lang="en-US" sz="800" dirty="0"/>
              <a:t>Seher,A.2022.Overfitting Problem In Polynomial Regression . [online].Available </a:t>
            </a:r>
            <a:r>
              <a:rPr lang="en-US" sz="800" dirty="0" err="1"/>
              <a:t>at:.https</a:t>
            </a:r>
            <a:r>
              <a:rPr lang="en-US" sz="800" dirty="0"/>
              <a:t>://www.letscodemore.com/blog/overfitting-problem-in-polynomial-regression/</a:t>
            </a:r>
          </a:p>
          <a:p>
            <a:r>
              <a:rPr lang="en-GB" sz="800" dirty="0">
                <a:latin typeface="Calibri" panose="020F0502020204030204" pitchFamily="34" charset="0"/>
                <a:ea typeface="Calibri" panose="020F0502020204030204" pitchFamily="34" charset="0"/>
                <a:cs typeface="Times New Roman" panose="02020603050405020304" pitchFamily="18" charset="0"/>
              </a:rPr>
              <a:t>W3schools.2022.Scaling.</a:t>
            </a:r>
            <a:r>
              <a:rPr lang="en-US" sz="800" dirty="0"/>
              <a:t> . [online].Available at:.</a:t>
            </a:r>
            <a:r>
              <a:rPr lang="en-GB" sz="800" dirty="0">
                <a:latin typeface="Calibri" panose="020F0502020204030204" pitchFamily="34" charset="0"/>
                <a:ea typeface="Calibri" panose="020F0502020204030204" pitchFamily="34" charset="0"/>
                <a:cs typeface="Times New Roman" panose="02020603050405020304" pitchFamily="18" charset="0"/>
              </a:rPr>
              <a:t>https://www.w3schools.com/python/python_ml_scale.asp</a:t>
            </a:r>
            <a:endParaRPr lang="en-US" sz="800" dirty="0">
              <a:latin typeface="Calibri" panose="020F0502020204030204" pitchFamily="34" charset="0"/>
              <a:ea typeface="Calibri" panose="020F0502020204030204" pitchFamily="34" charset="0"/>
              <a:cs typeface="Times New Roman" panose="02020603050405020304" pitchFamily="18" charset="0"/>
            </a:endParaRPr>
          </a:p>
          <a:p>
            <a:r>
              <a:rPr lang="en-GB" sz="800" dirty="0"/>
              <a:t>Sahai,S.2022.How and when to use polynomial regression in ML in python</a:t>
            </a:r>
            <a:r>
              <a:rPr lang="en-US" sz="800" dirty="0"/>
              <a:t> [Online].Available at:</a:t>
            </a:r>
            <a:r>
              <a:rPr lang="en-GB" sz="800" dirty="0">
                <a:hlinkClick r:id="rId13"/>
              </a:rPr>
              <a:t>https://www.projectpro.io/recipes/and-when-use-polynomial-regression</a:t>
            </a:r>
            <a:endParaRPr lang="en-GB" sz="800" dirty="0"/>
          </a:p>
          <a:p>
            <a:r>
              <a:rPr lang="en-US" sz="800" dirty="0"/>
              <a:t>Brownlee,J.2020.Train-Test Split for Evaluating Machine Learning Algorithms. [Online].Available </a:t>
            </a:r>
            <a:r>
              <a:rPr lang="en-US" sz="800" dirty="0" err="1"/>
              <a:t>at:https</a:t>
            </a:r>
            <a:r>
              <a:rPr lang="en-US" sz="800" dirty="0"/>
              <a:t>://machinelearningmastery.com/train-test-split-for-evaluating-machine-learning-algorithms/</a:t>
            </a:r>
          </a:p>
          <a:p>
            <a:r>
              <a:rPr lang="en-US" sz="800" dirty="0"/>
              <a:t>Editorial Team.2023.Scaling vs. Normalizing Data.[Online].Available at: https://towardsai.net/p/data-science/scaling-vs-normalizing-data-5c3514887a84</a:t>
            </a:r>
          </a:p>
          <a:p>
            <a:endParaRPr lang="en-GB" sz="800" u="none" strike="noStrike" dirty="0">
              <a:effectLst/>
              <a:latin typeface="inherit"/>
            </a:endParaRPr>
          </a:p>
          <a:p>
            <a:endParaRPr lang="en-US" sz="800" dirty="0">
              <a:solidFill>
                <a:schemeClr val="bg2">
                  <a:lumMod val="25000"/>
                </a:schemeClr>
              </a:solidFill>
            </a:endParaRPr>
          </a:p>
        </p:txBody>
      </p:sp>
      <p:cxnSp>
        <p:nvCxnSpPr>
          <p:cNvPr id="4" name="Straight Connector 3"/>
          <p:cNvCxnSpPr/>
          <p:nvPr/>
        </p:nvCxnSpPr>
        <p:spPr>
          <a:xfrm flipH="1">
            <a:off x="601791" y="1070621"/>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p:cNvCxnSpPr/>
          <p:nvPr/>
        </p:nvCxnSpPr>
        <p:spPr>
          <a:xfrm flipV="1">
            <a:off x="472083" y="423248"/>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a:xfrm flipH="1" flipV="1">
            <a:off x="470171" y="1089589"/>
            <a:ext cx="1912" cy="4298063"/>
          </a:xfrm>
          <a:prstGeom prst="line">
            <a:avLst/>
          </a:prstGeom>
        </p:spPr>
        <p:style>
          <a:lnRef idx="2">
            <a:schemeClr val="dk1"/>
          </a:lnRef>
          <a:fillRef idx="0">
            <a:schemeClr val="dk1"/>
          </a:fillRef>
          <a:effectRef idx="1">
            <a:schemeClr val="dk1"/>
          </a:effectRef>
          <a:fontRef idx="minor">
            <a:schemeClr val="tx1"/>
          </a:fontRef>
        </p:style>
      </p:cxn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Light blue-Cove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Pearson slid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Light blue-inside slid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With pictur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_Back cove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386AD14CB602547BFCB7D842FEF14EE" ma:contentTypeVersion="12" ma:contentTypeDescription="Create a new document." ma:contentTypeScope="" ma:versionID="7eb5c53f2e1d37f62fa8f0bcfdfd5d6f">
  <xsd:schema xmlns:xsd="http://www.w3.org/2001/XMLSchema" xmlns:xs="http://www.w3.org/2001/XMLSchema" xmlns:p="http://schemas.microsoft.com/office/2006/metadata/properties" xmlns:ns2="6b1a28a2-5857-4321-9bd8-c602fba5c8bc" xmlns:ns3="5086911d-6e48-4cf3-b087-1eb55996afa6" targetNamespace="http://schemas.microsoft.com/office/2006/metadata/properties" ma:root="true" ma:fieldsID="8facba7d21f799de60139a8943772e56" ns2:_="" ns3:_="">
    <xsd:import namespace="6b1a28a2-5857-4321-9bd8-c602fba5c8bc"/>
    <xsd:import namespace="5086911d-6e48-4cf3-b087-1eb55996afa6"/>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b1a28a2-5857-4321-9bd8-c602fba5c8b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5086911d-6e48-4cf3-b087-1eb55996afa6"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8E5CF88-6910-4195-9602-C8257AF22E88}">
  <ds:schemaRefs/>
</ds:datastoreItem>
</file>

<file path=customXml/itemProps2.xml><?xml version="1.0" encoding="utf-8"?>
<ds:datastoreItem xmlns:ds="http://schemas.openxmlformats.org/officeDocument/2006/customXml" ds:itemID="{61880A6E-B286-43C6-BEC2-2D84CC34882B}">
  <ds:schemaRefs/>
</ds:datastoreItem>
</file>

<file path=customXml/itemProps3.xml><?xml version="1.0" encoding="utf-8"?>
<ds:datastoreItem xmlns:ds="http://schemas.openxmlformats.org/officeDocument/2006/customXml" ds:itemID="{DB6C1C04-28AF-4B6D-B137-6B1F3470F141}">
  <ds:schemaRefs/>
</ds:datastoreItem>
</file>

<file path=docProps/app.xml><?xml version="1.0" encoding="utf-8"?>
<Properties xmlns="http://schemas.openxmlformats.org/officeDocument/2006/extended-properties" xmlns:vt="http://schemas.openxmlformats.org/officeDocument/2006/docPropsVTypes">
  <Template>Light blue-Cover</Template>
  <TotalTime>0</TotalTime>
  <Words>5016</Words>
  <Application>Microsoft Office PowerPoint</Application>
  <PresentationFormat>Widescreen</PresentationFormat>
  <Paragraphs>402</Paragraphs>
  <Slides>59</Slides>
  <Notes>31</Notes>
  <HiddenSlides>0</HiddenSlides>
  <MMClips>0</MMClips>
  <ScaleCrop>false</ScaleCrop>
  <HeadingPairs>
    <vt:vector size="6" baseType="variant">
      <vt:variant>
        <vt:lpstr>Fonts Used</vt:lpstr>
      </vt:variant>
      <vt:variant>
        <vt:i4>20</vt:i4>
      </vt:variant>
      <vt:variant>
        <vt:lpstr>Theme</vt:lpstr>
      </vt:variant>
      <vt:variant>
        <vt:i4>5</vt:i4>
      </vt:variant>
      <vt:variant>
        <vt:lpstr>Slide Titles</vt:lpstr>
      </vt:variant>
      <vt:variant>
        <vt:i4>59</vt:i4>
      </vt:variant>
    </vt:vector>
  </HeadingPairs>
  <TitlesOfParts>
    <vt:vector size="84" baseType="lpstr">
      <vt:lpstr>Arial</vt:lpstr>
      <vt:lpstr>Barlow</vt:lpstr>
      <vt:lpstr>Calibri</vt:lpstr>
      <vt:lpstr>Calibri Light</vt:lpstr>
      <vt:lpstr>Cambria Math</vt:lpstr>
      <vt:lpstr>Consolas</vt:lpstr>
      <vt:lpstr>Courier New</vt:lpstr>
      <vt:lpstr>Epilogue</vt:lpstr>
      <vt:lpstr>Georgia</vt:lpstr>
      <vt:lpstr>Helvetica</vt:lpstr>
      <vt:lpstr>Helvetica Neue</vt:lpstr>
      <vt:lpstr>inherit</vt:lpstr>
      <vt:lpstr>Montserrat</vt:lpstr>
      <vt:lpstr>Poppins</vt:lpstr>
      <vt:lpstr>sohne</vt:lpstr>
      <vt:lpstr>source-serif-pro</vt:lpstr>
      <vt:lpstr>Times New Roman</vt:lpstr>
      <vt:lpstr>ui-monospace</vt:lpstr>
      <vt:lpstr>Verdana</vt:lpstr>
      <vt:lpstr>Wingdings</vt:lpstr>
      <vt:lpstr>Light blue-Cover</vt:lpstr>
      <vt:lpstr>Pearson slide</vt:lpstr>
      <vt:lpstr>Light blue-inside slide</vt:lpstr>
      <vt:lpstr>With picture</vt:lpstr>
      <vt:lpstr>1_Back cover</vt:lpstr>
      <vt:lpstr>Applied Machine learning</vt:lpstr>
      <vt:lpstr>Applied Machine learning </vt:lpstr>
      <vt:lpstr>Applied Machine learning</vt:lpstr>
      <vt:lpstr>PowerPoint Presentation</vt:lpstr>
      <vt:lpstr>Learning objectives</vt:lpstr>
      <vt:lpstr>Review</vt:lpstr>
      <vt:lpstr>REGRESSION</vt:lpstr>
      <vt:lpstr>REGRESSION</vt:lpstr>
      <vt:lpstr>REGRESSION</vt:lpstr>
      <vt:lpstr>REGRESSION</vt:lpstr>
      <vt:lpstr>Minimise the loss</vt:lpstr>
      <vt:lpstr>Linear regression technique i</vt:lpstr>
      <vt:lpstr>Linear regression technique ii</vt:lpstr>
      <vt:lpstr>How does it work</vt:lpstr>
      <vt:lpstr>optimiser</vt:lpstr>
      <vt:lpstr>Measurement error with r-squared</vt:lpstr>
      <vt:lpstr>PowerPoint Presentation</vt:lpstr>
      <vt:lpstr>Least square regression-example</vt:lpstr>
      <vt:lpstr>The line</vt:lpstr>
      <vt:lpstr>steps</vt:lpstr>
      <vt:lpstr>activity</vt:lpstr>
      <vt:lpstr>Recap (Summary)</vt:lpstr>
      <vt:lpstr>examples</vt:lpstr>
      <vt:lpstr>Simple linear equation</vt:lpstr>
      <vt:lpstr>Key terminologies in linear regression</vt:lpstr>
      <vt:lpstr>Key terminologies in linear regression</vt:lpstr>
      <vt:lpstr>Techniques to solve linear regression</vt:lpstr>
      <vt:lpstr>PowerPoint Presentation</vt:lpstr>
      <vt:lpstr>Regression Models</vt:lpstr>
      <vt:lpstr>Multiple regression</vt:lpstr>
      <vt:lpstr>Examples of multiple regression in real life</vt:lpstr>
      <vt:lpstr>Still uses least square</vt:lpstr>
      <vt:lpstr>Normality ?</vt:lpstr>
      <vt:lpstr>Normality ?</vt:lpstr>
      <vt:lpstr>kurtosis</vt:lpstr>
      <vt:lpstr>Log tranformation</vt:lpstr>
      <vt:lpstr>Cost function</vt:lpstr>
      <vt:lpstr>Steps in machine learning</vt:lpstr>
      <vt:lpstr>Video -visual</vt:lpstr>
      <vt:lpstr>PowerPoint Presentation</vt:lpstr>
      <vt:lpstr>Polynomial introduction</vt:lpstr>
      <vt:lpstr>PowerPoint Presentation</vt:lpstr>
      <vt:lpstr>Why limit ourself to straight line</vt:lpstr>
      <vt:lpstr>Polynomial introduction</vt:lpstr>
      <vt:lpstr>overfitting</vt:lpstr>
      <vt:lpstr>Beware of overfitting</vt:lpstr>
      <vt:lpstr>Overfitting and underfitting</vt:lpstr>
      <vt:lpstr>Ways to prevent the overfitting</vt:lpstr>
      <vt:lpstr>Python coding</vt:lpstr>
      <vt:lpstr>Poly1d</vt:lpstr>
      <vt:lpstr>Advantages of polynomial regression and uses</vt:lpstr>
      <vt:lpstr>Train-Test Split</vt:lpstr>
      <vt:lpstr>Train-Test Split</vt:lpstr>
      <vt:lpstr>Syntax of splitting</vt:lpstr>
      <vt:lpstr>Scaling-standardization</vt:lpstr>
      <vt:lpstr>visual</vt:lpstr>
      <vt:lpstr>summary</vt:lpstr>
      <vt:lpstr>REFERENCE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Bachelor’s degree</dc:title>
  <dc:creator>Nalinda Somasiri</dc:creator>
  <cp:lastModifiedBy>Somdip Dey</cp:lastModifiedBy>
  <cp:revision>74</cp:revision>
  <dcterms:created xsi:type="dcterms:W3CDTF">2021-07-24T10:34:00Z</dcterms:created>
  <dcterms:modified xsi:type="dcterms:W3CDTF">2026-01-30T11:47:56Z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0x010100E386AD14CB602547BFCB7D842FEF14EE</vt:lpwstr>
  </property>
  <property fmtid="{D5CDD505-2E9C-101B-9397-08002B2CF9AE}" pid="3" name="ICV">
    <vt:lpwstr>BF34BC927D4349479E9802CF15B0C8D0_13</vt:lpwstr>
  </property>
  <property fmtid="{D5CDD505-2E9C-101B-9397-08002B2CF9AE}" pid="4" name="KSOProductBuildVer">
    <vt:lpwstr>1033-12.2.0.22549</vt:lpwstr>
  </property>
</Properties>
</file>