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1" r:id="rId5"/>
    <p:sldMasterId id="2147483653" r:id="rId6"/>
    <p:sldMasterId id="2147483656" r:id="rId7"/>
    <p:sldMasterId id="2147483658" r:id="rId8"/>
  </p:sldMasterIdLst>
  <p:notesMasterIdLst>
    <p:notesMasterId r:id="rId33"/>
  </p:notesMasterIdLst>
  <p:sldIdLst>
    <p:sldId id="261" r:id="rId9"/>
    <p:sldId id="257" r:id="rId10"/>
    <p:sldId id="265" r:id="rId11"/>
    <p:sldId id="306" r:id="rId12"/>
    <p:sldId id="311" r:id="rId13"/>
    <p:sldId id="313" r:id="rId14"/>
    <p:sldId id="314" r:id="rId15"/>
    <p:sldId id="321" r:id="rId16"/>
    <p:sldId id="322" r:id="rId17"/>
    <p:sldId id="323" r:id="rId18"/>
    <p:sldId id="324" r:id="rId19"/>
    <p:sldId id="315" r:id="rId20"/>
    <p:sldId id="316" r:id="rId21"/>
    <p:sldId id="317" r:id="rId22"/>
    <p:sldId id="318" r:id="rId23"/>
    <p:sldId id="325" r:id="rId24"/>
    <p:sldId id="326" r:id="rId25"/>
    <p:sldId id="319" r:id="rId26"/>
    <p:sldId id="330" r:id="rId27"/>
    <p:sldId id="320" r:id="rId28"/>
    <p:sldId id="327" r:id="rId29"/>
    <p:sldId id="328" r:id="rId30"/>
    <p:sldId id="329" r:id="rId31"/>
    <p:sldId id="33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73061" autoAdjust="0"/>
  </p:normalViewPr>
  <p:slideViewPr>
    <p:cSldViewPr snapToGrid="0">
      <p:cViewPr varScale="1">
        <p:scale>
          <a:sx n="41" d="100"/>
          <a:sy n="41" d="100"/>
        </p:scale>
        <p:origin x="944" y="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2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233" y="927488"/>
            <a:ext cx="2495310" cy="1152049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667" y="1033477"/>
            <a:ext cx="3314700" cy="723931"/>
          </a:xfrm>
          <a:prstGeom prst="rect">
            <a:avLst/>
          </a:prstGeom>
        </p:spPr>
      </p:pic>
      <p:sp>
        <p:nvSpPr>
          <p:cNvPr id="2" name="Isosceles Triangle 1"/>
          <p:cNvSpPr/>
          <p:nvPr userDrawn="1"/>
        </p:nvSpPr>
        <p:spPr>
          <a:xfrm rot="5400000">
            <a:off x="1747328" y="5566954"/>
            <a:ext cx="155700" cy="9988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5">
              <a:ln>
                <a:noFill/>
              </a:ln>
            </a:endParaRPr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3106" y="5538064"/>
            <a:ext cx="1371600" cy="180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56512" y="5065192"/>
            <a:ext cx="1451310" cy="4333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2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091" y="651936"/>
            <a:ext cx="1835181" cy="8472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22171" y="5895580"/>
            <a:ext cx="1451310" cy="4333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3" name="Picture 2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sp>
        <p:nvSpPr>
          <p:cNvPr id="4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3" name="Picture 2" descr="A picture containing text, sign, clipart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677074"/>
            <a:ext cx="1559570" cy="72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Graphic 5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sp>
        <p:nvSpPr>
          <p:cNvPr id="8" name="Isosceles Triangle 7"/>
          <p:cNvSpPr/>
          <p:nvPr userDrawn="1"/>
        </p:nvSpPr>
        <p:spPr>
          <a:xfrm rot="5400000">
            <a:off x="10297085" y="6626156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29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845820" rtl="0" eaLnBrk="1" latinLnBrk="0" hangingPunct="1">
        <a:lnSpc>
          <a:spcPct val="90000"/>
        </a:lnSpc>
        <a:spcBef>
          <a:spcPct val="0"/>
        </a:spcBef>
        <a:buNone/>
        <a:defRPr sz="40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455" indent="-211455" algn="l" defTabSz="845820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0" kern="1200">
          <a:solidFill>
            <a:schemeClr val="tx1"/>
          </a:solidFill>
          <a:latin typeface="+mn-lt"/>
          <a:ea typeface="+mn-ea"/>
          <a:cs typeface="+mn-cs"/>
        </a:defRPr>
      </a:lvl1pPr>
      <a:lvl2pPr marL="63436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27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18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09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00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8915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1190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4100" indent="-211455" algn="l" defTabSz="845820" rtl="0" eaLnBrk="1" latinLnBrk="0" hangingPunct="1">
        <a:lnSpc>
          <a:spcPct val="90000"/>
        </a:lnSpc>
        <a:spcBef>
          <a:spcPct val="93000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291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582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873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164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455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7460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59735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2645" algn="l" defTabSz="845820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XqG0kaJVH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w3schools.com/python/python_ml_k-means.asp" TargetMode="External"/><Relationship Id="rId5" Type="http://schemas.openxmlformats.org/officeDocument/2006/relationships/hyperlink" Target="https://developers.google.com/machine-learning/clustering/clustering-algorithms" TargetMode="External"/><Relationship Id="rId4" Type="http://schemas.openxmlformats.org/officeDocument/2006/relationships/hyperlink" Target="https://www.youtube.com/watch?v=4jv1pUrG0Zk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SWE6302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SWE6302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157531" y="2678747"/>
            <a:ext cx="5491361" cy="3845503"/>
          </a:xfrm>
        </p:spPr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INTRODUCTION TO </a:t>
            </a:r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CLUSTERING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73" y="1894561"/>
            <a:ext cx="6551188" cy="3958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Introduction TO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Critically understand how classification is carried out depending on the classifier used 	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 the classification output and the metrics to evaluate classifiers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Clustering Techniques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942D6D"/>
                </a:solidFill>
              </a:rPr>
              <a:t>Classification - key </a:t>
            </a:r>
            <a:r>
              <a:rPr lang="en-GB" dirty="0">
                <a:solidFill>
                  <a:srgbClr val="942D6D"/>
                </a:solidFill>
              </a:rPr>
              <a:t>concepts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common application of supervised machine learning is building classification models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One-class learning: the goal is to predict if a sample belongs to the class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Two-class learning (binary classification): the objective is to find a boundary able to separate the 2 classes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Multi-class learning: the objective is to find the boundaries able to separate the classes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Predict unseen data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77840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can we make a good prediction of yet unseen data?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4image18231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427" y="2878611"/>
            <a:ext cx="5085289" cy="250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algorithm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A machine learning algorithm is an algorithm that is able to learn from experience. 	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 computer program is said to learn from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respect to some 	class of tasks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performance measure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if its performance at tasks in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as 	measured by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P,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improves with experience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–  For every machine learning algorithm, need to define what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	     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are!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learning itself is not the task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 is our means of attaining the ability to perform the task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-if we want a robot to be able to walk, then walking is the task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Machine learning tasks are usually described in terms of how the 	machine learning system should process an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-An example is a collection of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have been 	quantitatively measured from some object or event that we want 	the machine learning system to process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Typically, an example is represented as a vector 𝒙 ∈ Rn where each entry 𝑥𝑖 of the vector is a feature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- The features of an image are the values of the pixels in the 	  	image </a:t>
            </a:r>
          </a:p>
          <a:p>
            <a:pPr marL="0" indent="0">
              <a:buClr>
                <a:schemeClr val="accent1"/>
              </a:buClr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most common machine learning tasks are: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Classification: the computer program is asked to specify which of 𝑘 	categories some input belongs to.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- Object recognition: pedestrians, cars, buses...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Regression: the computer program is asked to predict a numerical   value 	given some input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   -Prediction of the expected claim amount that an insured      		      person will make (used to set insurance premiums)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Transcription: the machine learning system is asked to observe a relatively unstructured representation of some kind of data and transcribe it into discrete, textual form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Optical character recognition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Speech recognition (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siri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etc...)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Task : 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9806" y="1029056"/>
            <a:ext cx="10712388" cy="3815101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other most common machine learning tasks are: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translation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Anomaly detection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Synthesis and sampling: the machine learning algorithm is asked to generate new examples that are similar to those in the training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- Video games can automatically generate textures for large 	objects or landscapes, rather than requiring an artist to 	manually    	label each pixel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Imputation of missing values: the machine learning algorithm is given a new example 𝒙 ∈ R𝑛, but with some entries 𝑥𝑖 of 𝒙 missing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Denoising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order to evaluate the abilities of a machine learning algorithm, we must design a quantitative measure of its performance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measure P is specific to the task T being carried out by the system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classification and transcription,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we often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accuracy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model.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An equivalent way is to measure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error rate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Performance measure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Usually we are interested in how well the machine learning algorithm performs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data that it has not seen before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training the machine learning system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– 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set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used for measuring the performance of the machine 	learning system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98595" y="1521449"/>
            <a:ext cx="1102323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algorithms can be broadly categorized as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</a:t>
            </a:r>
          </a:p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many features, then learn useful properties of the structure of this dataset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The data is unlabelled used in clustering methods for example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In unsupervised learning, there is no instructor or teacher, the 	algorithm must learn to make sense of the data without this guide.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Experience - 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0171" y="1570001"/>
            <a:ext cx="11965343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Supervised learning algorithms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experience a dataset containing features, but each example is also associated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Classify iris plants into three different species based on their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measurements 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 An instructor or teacher shows the machine learning system what to do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Data set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machine learning algorithms simply experience a dataset. A dataset can be described in many ways. In all cases, a dataset is a collection of examples, which are in turn collections of features.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common way of describing a dataset is with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 matrix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sample per row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– One feature per column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0171" y="1470348"/>
            <a:ext cx="10666972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Attempts to split data into K groups that are closest to K centroids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Unsupervised learning – uses only the positions of each data point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uncover interesting groupings of people / things / behaviour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Example: Where do millionaires live?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What genres of music / movies / etc. naturally fall out of data?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Create your own stereotypes from demographic data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1" descr="page102image180608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984" y="4081871"/>
            <a:ext cx="1879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Sounds fancy! Wow! Unsupervised machine learning! Clusters! K! 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Actually how it works is really simple.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Randomly pick K centroids (k-means)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Assign each data point to the centroid it’s closest to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Recompute the centroids based on the average position of 	each centroid’s points </a:t>
            </a:r>
          </a:p>
          <a:p>
            <a:pPr marL="0" indent="0">
              <a:buClr>
                <a:srgbClr val="942D6D"/>
              </a:buClr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Iterate until points stop changing assignment to centroids</a:t>
            </a:r>
          </a:p>
          <a:p>
            <a:pPr>
              <a:buClr>
                <a:srgbClr val="942D6D"/>
              </a:buClr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want to predict the cluster for new points, just find the centroid they’re closest to.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Graphical example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8844"/>
            <a:ext cx="12192000" cy="257440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K-means clustering technique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0535" y="1115065"/>
            <a:ext cx="11445875" cy="4505325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Choosing K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Try increasing K values until you stop getting large reductions in squared error (distances from each point to their centroids)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Avoiding local minima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The random choice of initial centroids can yield different results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Run it a few times just to make sure your initial results aren’t wacky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Labelling the clusters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K-Means does not attempt to assign any meaning to the clusters you 	find</a:t>
            </a:r>
          </a:p>
          <a:p>
            <a:pPr lvl="1"/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▫ It’s up to you to dig into the data and try to determine that</a:t>
            </a:r>
            <a:r>
              <a:rPr lang="en-US" alt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91" y="555477"/>
            <a:ext cx="9097686" cy="1068223"/>
          </a:xfrm>
        </p:spPr>
        <p:txBody>
          <a:bodyPr/>
          <a:lstStyle/>
          <a:p>
            <a:r>
              <a:rPr lang="en-US" dirty="0">
                <a:solidFill>
                  <a:srgbClr val="942D6D"/>
                </a:solidFill>
              </a:rPr>
              <a:t>K- Means clustering tutorial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620546" y="3897977"/>
            <a:ext cx="5003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https://www.youtube.com/watch?v=1XqG0kaJVHY</a:t>
            </a:r>
            <a:r>
              <a:rPr lang="en-GB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0546" y="4518353"/>
            <a:ext cx="4930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https://www.youtube.com/watch?v=4jv1pUrG0Zk</a:t>
            </a:r>
            <a:r>
              <a:rPr lang="en-GB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8480" y="1815678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https://developers.google.com/machine-learning/clustering/clustering-algorithms</a:t>
            </a:r>
            <a:r>
              <a:rPr lang="en-GB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8480" y="3274362"/>
            <a:ext cx="6038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6"/>
              </a:rPr>
              <a:t>https://www.w3schools.com/python/python_ml_k-means.asp</a:t>
            </a:r>
            <a:r>
              <a:rPr lang="en-GB" dirty="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5" ma:contentTypeDescription="Create a new document." ma:contentTypeScope="" ma:versionID="0a40da80dfba2f26db4fd96ff563ad7b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11a481746c084991ab5e77ba1922d2a7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339b10e-c275-4384-8e68-845348d9a81e}" ma:internalName="TaxCatchAll" ma:showField="CatchAllData" ma:web="5086911d-6e48-4cf3-b087-1eb55996a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b1a28a2-5857-4321-9bd8-c602fba5c8bc">
      <Terms xmlns="http://schemas.microsoft.com/office/infopath/2007/PartnerControls"/>
    </lcf76f155ced4ddcb4097134ff3c332f>
    <TaxCatchAll xmlns="5086911d-6e48-4cf3-b087-1eb55996afa6" xsi:nil="true"/>
  </documentManagement>
</p:properties>
</file>

<file path=customXml/itemProps1.xml><?xml version="1.0" encoding="utf-8"?>
<ds:datastoreItem xmlns:ds="http://schemas.openxmlformats.org/officeDocument/2006/customXml" ds:itemID="{EEFCEA14-4ED5-4D13-8933-069C2E7AF802}">
  <ds:schemaRefs/>
</ds:datastoreItem>
</file>

<file path=customXml/itemProps2.xml><?xml version="1.0" encoding="utf-8"?>
<ds:datastoreItem xmlns:ds="http://schemas.openxmlformats.org/officeDocument/2006/customXml" ds:itemID="{C1AF7C75-521D-423C-91DF-73A05C8AFF9E}">
  <ds:schemaRefs/>
</ds:datastoreItem>
</file>

<file path=customXml/itemProps3.xml><?xml version="1.0" encoding="utf-8"?>
<ds:datastoreItem xmlns:ds="http://schemas.openxmlformats.org/officeDocument/2006/customXml" ds:itemID="{C4278CF7-4C24-4081-B81E-AA252697A98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0</TotalTime>
  <Words>1219</Words>
  <Application>Microsoft Office PowerPoint</Application>
  <PresentationFormat>Widescreen</PresentationFormat>
  <Paragraphs>104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1_Back cover</vt:lpstr>
      <vt:lpstr>Applied Machine learning</vt:lpstr>
      <vt:lpstr>Applied Machine learning </vt:lpstr>
      <vt:lpstr>Machine learning</vt:lpstr>
      <vt:lpstr>PowerPoint Presentation</vt:lpstr>
      <vt:lpstr>Learning objectives</vt:lpstr>
      <vt:lpstr>Classification - key concepts</vt:lpstr>
      <vt:lpstr>Predict unseen data</vt:lpstr>
      <vt:lpstr>Learning algorithm</vt:lpstr>
      <vt:lpstr>Task : T</vt:lpstr>
      <vt:lpstr>Task : T</vt:lpstr>
      <vt:lpstr>Task : T</vt:lpstr>
      <vt:lpstr>Task : T</vt:lpstr>
      <vt:lpstr>Task : T</vt:lpstr>
      <vt:lpstr>Performance measure</vt:lpstr>
      <vt:lpstr>Performance measure</vt:lpstr>
      <vt:lpstr>Experience - E</vt:lpstr>
      <vt:lpstr>Experience - E</vt:lpstr>
      <vt:lpstr>Data set</vt:lpstr>
      <vt:lpstr>K-means Clustering</vt:lpstr>
      <vt:lpstr>K-means Clustering</vt:lpstr>
      <vt:lpstr>Graphical example</vt:lpstr>
      <vt:lpstr>K-means clustering technique</vt:lpstr>
      <vt:lpstr>K- Means clustering tutorial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Somdip Dey</cp:lastModifiedBy>
  <cp:revision>54</cp:revision>
  <dcterms:created xsi:type="dcterms:W3CDTF">2021-07-24T10:34:00Z</dcterms:created>
  <dcterms:modified xsi:type="dcterms:W3CDTF">2026-01-30T12:46:17Z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  <property fmtid="{D5CDD505-2E9C-101B-9397-08002B2CF9AE}" pid="3" name="MediaServiceImageTags">
    <vt:lpwstr/>
  </property>
  <property fmtid="{D5CDD505-2E9C-101B-9397-08002B2CF9AE}" pid="4" name="ICV">
    <vt:lpwstr>9781D861733E466FA3FA2CB5143BA501_13</vt:lpwstr>
  </property>
  <property fmtid="{D5CDD505-2E9C-101B-9397-08002B2CF9AE}" pid="5" name="KSOProductBuildVer">
    <vt:lpwstr>1033-12.2.0.22549</vt:lpwstr>
  </property>
</Properties>
</file>