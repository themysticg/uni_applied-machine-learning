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6.xml" ContentType="application/vnd.openxmlformats-officedocument.theme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2" r:id="rId2"/>
    <p:sldMasterId id="2147483658" r:id="rId3"/>
    <p:sldMasterId id="2147483710" r:id="rId4"/>
    <p:sldMasterId id="2147483706" r:id="rId5"/>
  </p:sldMasterIdLst>
  <p:notesMasterIdLst>
    <p:notesMasterId r:id="rId21"/>
  </p:notesMasterIdLst>
  <p:sldIdLst>
    <p:sldId id="261" r:id="rId6"/>
    <p:sldId id="257" r:id="rId7"/>
    <p:sldId id="265" r:id="rId8"/>
    <p:sldId id="306" r:id="rId9"/>
    <p:sldId id="311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12" r:id="rId19"/>
    <p:sldId id="26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>
    <p:extLst>
      <p:ext uri="{19B8F6BF-5375-455C-9EA6-DF929625EA0E}">
        <p15:presenceInfo xmlns:p15="http://schemas.microsoft.com/office/powerpoint/2012/main" userId="Tharind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768"/>
    <a:srgbClr val="0D3E63"/>
    <a:srgbClr val="942D6D"/>
    <a:srgbClr val="232C58"/>
    <a:srgbClr val="942F6D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40" autoAdjust="0"/>
    <p:restoredTop sz="73061" autoAdjust="0"/>
  </p:normalViewPr>
  <p:slideViewPr>
    <p:cSldViewPr snapToGrid="0">
      <p:cViewPr varScale="1">
        <p:scale>
          <a:sx n="92" d="100"/>
          <a:sy n="92" d="100"/>
        </p:scale>
        <p:origin x="152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ommentAuthors" Target="commentAuthors.xml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12/13/21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5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471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301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5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308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4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045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10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36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0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6FC8F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3868" y="839558"/>
            <a:ext cx="2149506" cy="1065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38" y="789413"/>
            <a:ext cx="3468947" cy="1619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00" y="5835495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7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702" y="788182"/>
            <a:ext cx="3466926" cy="1620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0456" y="843742"/>
            <a:ext cx="2149506" cy="10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9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230" y="536045"/>
            <a:ext cx="1605949" cy="720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5982061"/>
            <a:ext cx="12192000" cy="875939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3239" y="6092032"/>
            <a:ext cx="1253879" cy="6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64" y="5569783"/>
            <a:ext cx="1433004" cy="710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91" y="5568969"/>
            <a:ext cx="160595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200" b="1" kern="1200" cap="all" spc="-50" baseline="0">
          <a:solidFill>
            <a:srgbClr val="0D3E6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/>
          <a:stretch/>
        </p:blipFill>
        <p:spPr>
          <a:xfrm>
            <a:off x="1814513" y="3016664"/>
            <a:ext cx="8562975" cy="38413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60" y="1067668"/>
            <a:ext cx="3854386" cy="180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9792" y="4898051"/>
            <a:ext cx="1433004" cy="7106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07" y="5412938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3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playground.tensorflow.org/#activation=tanh&amp;batchSize=10&amp;dataset=circle&amp;regDataset=reg-plane&amp;learningRate=0.03&amp;regularizationRate=0&amp;noise=0&amp;networkShape=4,2&amp;seed=0.30956&amp;showTestData=false&amp;discretize=false&amp;percTrainData=50&amp;x=true&amp;y=true&amp;xTimesY=false&amp;xSquared=false&amp;ySquared=false&amp;cosX=false&amp;sinX=false&amp;cosY=false&amp;sinY=false&amp;collectStats=false&amp;problem=classification&amp;initZero=false&amp;hideText=false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145804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236519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D52EB-A3E0-3F4C-9EBC-AC778DE3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F0A4-9481-7245-BC4A-7DDD70435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OVERVIEW OF DEEP NEURAL NETWORK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E8E5-BE8D-1A44-B2E2-3F645E098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768" y="1704061"/>
            <a:ext cx="6551188" cy="39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A340-02CC-904F-8C88-B5AA849D9854}"/>
              </a:ext>
            </a:extLst>
          </p:cNvPr>
          <p:cNvSpPr txBox="1">
            <a:spLocks/>
          </p:cNvSpPr>
          <p:nvPr/>
        </p:nvSpPr>
        <p:spPr>
          <a:xfrm>
            <a:off x="1591827" y="2985581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Module 1 – OVERVIEW OF DEEP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17418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 to Deep Neural Network (DNN)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ML performance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Overfitting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Tuning your DNN Topology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 to CNN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99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0171" y="1070621"/>
            <a:ext cx="7363854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 do you train a MLP’s weights? How does it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learn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Backpropagation... or more specifically: Gradient Descent using reverse-mode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autodiff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each training step: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Compute the output error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Compute how much each neuron in the previous hidden layer contributed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Back-propagate that error in a reverse pass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Tweak weights to reduce the error using gradient descent 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A4E9678-4C19-C741-9EB9-CD0168A0F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723" y="1869937"/>
            <a:ext cx="4691277" cy="273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55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Activation function (AKA filter)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790" y="1331069"/>
            <a:ext cx="10712388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Step functions don’t work with gradient descent – there is no gradient!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Mathematically, they have no useful derivative.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Alternatives: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• Logistic function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• Hyperbolic tangent function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• Exponential linear unit (ELU)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•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ReLU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function (Rectified Linear Unit) </a:t>
            </a:r>
          </a:p>
          <a:p>
            <a:pPr>
              <a:buClr>
                <a:srgbClr val="942D6D"/>
              </a:buClr>
            </a:pP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ReLU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common. Fast to compute and works well.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• Also: “Leaky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ReLU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”, “Noisy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ReLU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• ELU can sometimes lead to faster learning though. </a:t>
            </a:r>
          </a:p>
          <a:p>
            <a:pPr>
              <a:buClr>
                <a:srgbClr val="942D6D"/>
              </a:buClr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1" descr="page17image1782336">
            <a:extLst>
              <a:ext uri="{FF2B5EF4-FFF2-40B4-BE49-F238E27FC236}">
                <a16:creationId xmlns:a16="http://schemas.microsoft.com/office/drawing/2014/main" id="{2E52A64C-A5CD-A54A-B56B-2D2678A8B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584" y="1623701"/>
            <a:ext cx="4933416" cy="279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951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ML Performance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0171" y="1331069"/>
            <a:ext cx="7219102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Method used to train a ML algorithm </a:t>
            </a:r>
          </a:p>
          <a:p>
            <a:pPr marL="457200" lvl="1" indent="0">
              <a:buClr>
                <a:srgbClr val="942D6D"/>
              </a:buClr>
              <a:buNone/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 Sample the training set </a:t>
            </a:r>
          </a:p>
          <a:p>
            <a:pPr marL="457200" lvl="1" indent="0">
              <a:buClr>
                <a:srgbClr val="942D6D"/>
              </a:buClr>
              <a:buNone/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 Choose parameters to reduce the training set error </a:t>
            </a:r>
          </a:p>
          <a:p>
            <a:pPr marL="457200" lvl="1" indent="0">
              <a:buClr>
                <a:srgbClr val="942D6D"/>
              </a:buClr>
              <a:buNone/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 Sample the test set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Then it is proved that the expected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training error ≤ expected test error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Conclusion: </a:t>
            </a:r>
          </a:p>
          <a:p>
            <a:pPr marL="457200" lvl="1" indent="0">
              <a:buClr>
                <a:srgbClr val="942D6D"/>
              </a:buClr>
              <a:buNone/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 Make the training error small </a:t>
            </a:r>
          </a:p>
          <a:p>
            <a:pPr marL="457200" lvl="1" indent="0">
              <a:buClr>
                <a:srgbClr val="942D6D"/>
              </a:buClr>
              <a:buNone/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 Make the gap between training and test error small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89240B1-9FCB-684D-AF81-0AF06DDC4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889" y="1423166"/>
            <a:ext cx="4642590" cy="339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81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Avoid overfitting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0171" y="1331069"/>
            <a:ext cx="8159411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With thousands of weights to tune, overfitting is a problem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Early stopping (when performance starts dropping)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Regularization terms added to cost function during training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Dropout – ignore say 50% of all neurons randomly at each training step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- Works surprisingly well!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- Forces your model to spread out its learning </a:t>
            </a:r>
          </a:p>
          <a:p>
            <a:pPr>
              <a:buClr>
                <a:srgbClr val="942D6D"/>
              </a:buClr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1" descr="page19image1789504">
            <a:extLst>
              <a:ext uri="{FF2B5EF4-FFF2-40B4-BE49-F238E27FC236}">
                <a16:creationId xmlns:a16="http://schemas.microsoft.com/office/drawing/2014/main" id="{EEE72C2E-17FA-644E-BBFD-6867D2C4A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114" y="1467236"/>
            <a:ext cx="2730500" cy="383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6343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790" y="1331069"/>
            <a:ext cx="7173750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Trial &amp; error is one way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	Evaluate a smaller network with less neurons in the hidden layers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	Evaluate a larger network with more layers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-      Try reducing the size of each layer as you progress – form a 	funnel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More layers can yield faster learning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Or just use more layers and neurons than you need, and don’t care because you use early stopping.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1" descr="page20image1816384">
            <a:extLst>
              <a:ext uri="{FF2B5EF4-FFF2-40B4-BE49-F238E27FC236}">
                <a16:creationId xmlns:a16="http://schemas.microsoft.com/office/drawing/2014/main" id="{CC8B5143-820C-3A43-A7D6-6BD9EEE4A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027" y="1994285"/>
            <a:ext cx="440690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191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DNN Simulator Activity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Browse the Simulator below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hlinkClick r:id="rId2"/>
              </a:rPr>
              <a:t>https://playground.tensorflow.org/#activation=tanh&amp;batchSize=10&amp;dataset=circle&amp;regDataset=reg-plane&amp;learningRate=0.03&amp;regularizationRate=0&amp;noise=0&amp;networkShape=4,2&amp;seed=0.30956&amp;showTestData=false&amp;discretize=false&amp;percTrainData=50&amp;x=true&amp;y=true&amp;xTimesY=fal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Find the best DNN to classify the Spiral data set.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500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326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686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023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62778" y="1121436"/>
            <a:ext cx="4140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+44 (0)207 016 8000</a:t>
            </a:r>
          </a:p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info@rcl.ac.uk</a:t>
            </a:r>
          </a:p>
        </p:txBody>
      </p:sp>
    </p:spTree>
    <p:extLst>
      <p:ext uri="{BB962C8B-B14F-4D97-AF65-F5344CB8AC3E}">
        <p14:creationId xmlns:p14="http://schemas.microsoft.com/office/powerpoint/2010/main" val="138112676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lue-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626083B1-0830-460F-AA05-F809A184AD55}"/>
    </a:ext>
  </a:extLst>
</a:theme>
</file>

<file path=ppt/theme/theme2.xml><?xml version="1.0" encoding="utf-8"?>
<a:theme xmlns:a="http://schemas.openxmlformats.org/drawingml/2006/main" name="Pearson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2DF3C6F-D641-4496-AE49-B1B2B2E63DA0}"/>
    </a:ext>
  </a:extLst>
</a:theme>
</file>

<file path=ppt/theme/theme3.xml><?xml version="1.0" encoding="utf-8"?>
<a:theme xmlns:a="http://schemas.openxmlformats.org/drawingml/2006/main" name="Light blue-insid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4F60302-919A-40C2-AA8C-08C631E4BB03}"/>
    </a:ext>
  </a:extLst>
</a:theme>
</file>

<file path=ppt/theme/theme4.xml><?xml version="1.0" encoding="utf-8"?>
<a:theme xmlns:a="http://schemas.openxmlformats.org/drawingml/2006/main" name="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1A762B6E-1460-46E8-A288-DB6DA20E3E72}"/>
    </a:ext>
  </a:extLst>
</a:theme>
</file>

<file path=ppt/theme/theme5.xml><?xml version="1.0" encoding="utf-8"?>
<a:theme xmlns:a="http://schemas.openxmlformats.org/drawingml/2006/main" name="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848B4BB2-990F-4FF4-835D-66EEAC45A09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6AD14CB602547BFCB7D842FEF14EE" ma:contentTypeVersion="12" ma:contentTypeDescription="Create a new document." ma:contentTypeScope="" ma:versionID="7eb5c53f2e1d37f62fa8f0bcfdfd5d6f">
  <xsd:schema xmlns:xsd="http://www.w3.org/2001/XMLSchema" xmlns:xs="http://www.w3.org/2001/XMLSchema" xmlns:p="http://schemas.microsoft.com/office/2006/metadata/properties" xmlns:ns2="6b1a28a2-5857-4321-9bd8-c602fba5c8bc" xmlns:ns3="5086911d-6e48-4cf3-b087-1eb55996afa6" targetNamespace="http://schemas.microsoft.com/office/2006/metadata/properties" ma:root="true" ma:fieldsID="8facba7d21f799de60139a8943772e56" ns2:_="" ns3:_="">
    <xsd:import namespace="6b1a28a2-5857-4321-9bd8-c602fba5c8bc"/>
    <xsd:import namespace="5086911d-6e48-4cf3-b087-1eb55996a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a28a2-5857-4321-9bd8-c602fba5c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6911d-6e48-4cf3-b087-1eb55996a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D796A01-825F-4466-80FA-D4AC531FBABD}"/>
</file>

<file path=customXml/itemProps2.xml><?xml version="1.0" encoding="utf-8"?>
<ds:datastoreItem xmlns:ds="http://schemas.openxmlformats.org/officeDocument/2006/customXml" ds:itemID="{A54AF2CC-6807-4CD6-B9F6-3EF078D87BEA}"/>
</file>

<file path=customXml/itemProps3.xml><?xml version="1.0" encoding="utf-8"?>
<ds:datastoreItem xmlns:ds="http://schemas.openxmlformats.org/officeDocument/2006/customXml" ds:itemID="{DD87A38F-29B1-4C1E-BE7B-6E4155FCCC84}"/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232</TotalTime>
  <Words>504</Words>
  <Application>Microsoft Macintosh PowerPoint</Application>
  <PresentationFormat>Widescreen</PresentationFormat>
  <Paragraphs>62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Light blue-Cover</vt:lpstr>
      <vt:lpstr>Pearson slide</vt:lpstr>
      <vt:lpstr>Light blue-inside slide</vt:lpstr>
      <vt:lpstr>With picture</vt:lpstr>
      <vt:lpstr>Back cover</vt:lpstr>
      <vt:lpstr>Machine learning</vt:lpstr>
      <vt:lpstr>Machine learning </vt:lpstr>
      <vt:lpstr>Machine learning</vt:lpstr>
      <vt:lpstr>PowerPoint Presentation</vt:lpstr>
      <vt:lpstr>Learning objectives</vt:lpstr>
      <vt:lpstr>Learning objectives</vt:lpstr>
      <vt:lpstr>Activation function (AKA filter)</vt:lpstr>
      <vt:lpstr>ML Performance</vt:lpstr>
      <vt:lpstr>Avoid overfitting</vt:lpstr>
      <vt:lpstr>Learning objectives</vt:lpstr>
      <vt:lpstr>DNN Simulator Activity</vt:lpstr>
      <vt:lpstr>Learning objectives</vt:lpstr>
      <vt:lpstr>Learning objectives</vt:lpstr>
      <vt:lpstr>Learning objectives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Nalinda Somasiri</cp:lastModifiedBy>
  <cp:revision>43</cp:revision>
  <dcterms:created xsi:type="dcterms:W3CDTF">2021-07-24T10:34:01Z</dcterms:created>
  <dcterms:modified xsi:type="dcterms:W3CDTF">2021-12-13T13:06:45Z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0x010100E386AD14CB602547BFCB7D842FEF14EE</vt:lpwstr>
  </property>
</Properties>
</file>