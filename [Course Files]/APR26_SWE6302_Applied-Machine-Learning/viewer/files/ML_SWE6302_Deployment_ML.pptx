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slideLayouts/slideLayout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51" r:id="rId5"/>
    <p:sldMasterId id="2147483653" r:id="rId6"/>
    <p:sldMasterId id="2147483656" r:id="rId7"/>
    <p:sldMasterId id="2147483658" r:id="rId8"/>
  </p:sldMasterIdLst>
  <p:notesMasterIdLst>
    <p:notesMasterId r:id="rId42"/>
  </p:notesMasterIdLst>
  <p:sldIdLst>
    <p:sldId id="261" r:id="rId9"/>
    <p:sldId id="257" r:id="rId10"/>
    <p:sldId id="265" r:id="rId11"/>
    <p:sldId id="306" r:id="rId12"/>
    <p:sldId id="311" r:id="rId13"/>
    <p:sldId id="356" r:id="rId14"/>
    <p:sldId id="359" r:id="rId15"/>
    <p:sldId id="360" r:id="rId16"/>
    <p:sldId id="333" r:id="rId17"/>
    <p:sldId id="334" r:id="rId18"/>
    <p:sldId id="336" r:id="rId19"/>
    <p:sldId id="339" r:id="rId20"/>
    <p:sldId id="340" r:id="rId21"/>
    <p:sldId id="341" r:id="rId22"/>
    <p:sldId id="342" r:id="rId23"/>
    <p:sldId id="343" r:id="rId24"/>
    <p:sldId id="361" r:id="rId25"/>
    <p:sldId id="362" r:id="rId26"/>
    <p:sldId id="363" r:id="rId27"/>
    <p:sldId id="364" r:id="rId28"/>
    <p:sldId id="365" r:id="rId29"/>
    <p:sldId id="366" r:id="rId30"/>
    <p:sldId id="367" r:id="rId31"/>
    <p:sldId id="368" r:id="rId32"/>
    <p:sldId id="369" r:id="rId33"/>
    <p:sldId id="370" r:id="rId34"/>
    <p:sldId id="371" r:id="rId35"/>
    <p:sldId id="372" r:id="rId36"/>
    <p:sldId id="374" r:id="rId37"/>
    <p:sldId id="375" r:id="rId38"/>
    <p:sldId id="376" r:id="rId39"/>
    <p:sldId id="373" r:id="rId40"/>
    <p:sldId id="377"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rindu" initials="T"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6768"/>
    <a:srgbClr val="0D3E63"/>
    <a:srgbClr val="942D6D"/>
    <a:srgbClr val="232C58"/>
    <a:srgbClr val="942F6D"/>
    <a:srgbClr val="6FC8F0"/>
    <a:srgbClr val="B0E1F7"/>
    <a:srgbClr val="71C5E8"/>
    <a:srgbClr val="093E62"/>
    <a:srgbClr val="1665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05" autoAdjust="0"/>
    <p:restoredTop sz="90741" autoAdjust="0"/>
  </p:normalViewPr>
  <p:slideViewPr>
    <p:cSldViewPr snapToGrid="0">
      <p:cViewPr varScale="1">
        <p:scale>
          <a:sx n="29" d="100"/>
          <a:sy n="29" d="100"/>
        </p:scale>
        <p:origin x="1144" y="40"/>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commentAuthors" Target="commentAuthor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theme" Target="theme/theme1.xml"/><Relationship Id="rId20" Type="http://schemas.openxmlformats.org/officeDocument/2006/relationships/slide" Target="slides/slide12.xml"/><Relationship Id="rId41"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218DF-9495-47FB-843C-0D1FCB3E09C9}" type="datetimeFigureOut">
              <a:rPr lang="en-US" smtClean="0"/>
              <a:t>1/30/2026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CCC11-19A3-4E27-AB70-5FB3E1779C6E}"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6</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9</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10</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11</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12</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13</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14</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15</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16</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17</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18</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19</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20</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21</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22</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23</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24</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25</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26</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27</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28</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29</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30</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32</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5.xml"/><Relationship Id="rId6" Type="http://schemas.openxmlformats.org/officeDocument/2006/relationships/image" Target="../media/image12.svg"/><Relationship Id="rId5" Type="http://schemas.openxmlformats.org/officeDocument/2006/relationships/image" Target="../media/image6.png"/><Relationship Id="rId4" Type="http://schemas.openxmlformats.org/officeDocument/2006/relationships/image" Target="../media/image11.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ght blue-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2905802"/>
            <a:ext cx="10515600" cy="1186075"/>
          </a:xfrm>
          <a:prstGeom prst="rect">
            <a:avLst/>
          </a:prstGeom>
        </p:spPr>
        <p:txBody>
          <a:bodyPr anchor="b"/>
          <a:lstStyle>
            <a:lvl1pPr algn="ctr">
              <a:lnSpc>
                <a:spcPts val="4500"/>
              </a:lnSpc>
              <a:defRPr sz="5200" b="1" cap="all" spc="-50" baseline="0">
                <a:solidFill>
                  <a:schemeClr val="bg1"/>
                </a:solidFill>
                <a:latin typeface="+mn-lt"/>
              </a:defRPr>
            </a:lvl1pPr>
          </a:lstStyle>
          <a:p>
            <a:r>
              <a:rPr lang="en-US" dirty="0"/>
              <a:t>Click to edit title  </a:t>
            </a:r>
            <a:endParaRPr lang="en-GB" dirty="0"/>
          </a:p>
        </p:txBody>
      </p:sp>
      <p:sp>
        <p:nvSpPr>
          <p:cNvPr id="5" name="Text Placeholder 5"/>
          <p:cNvSpPr>
            <a:spLocks noGrp="1"/>
          </p:cNvSpPr>
          <p:nvPr>
            <p:ph type="body" sz="quarter" idx="10"/>
          </p:nvPr>
        </p:nvSpPr>
        <p:spPr>
          <a:xfrm>
            <a:off x="838200" y="4304585"/>
            <a:ext cx="10515600" cy="1290414"/>
          </a:xfrm>
          <a:prstGeom prst="rect">
            <a:avLst/>
          </a:prstGeom>
        </p:spPr>
        <p:txBody>
          <a:bodyPr/>
          <a:lstStyle>
            <a:lvl1pPr marL="0" indent="0" algn="ctr">
              <a:buNone/>
              <a:defRPr sz="2800" spc="-50" baseline="0">
                <a:solidFill>
                  <a:schemeClr val="bg1"/>
                </a:solidFill>
              </a:defRPr>
            </a:lvl1pPr>
          </a:lstStyle>
          <a:p>
            <a:pPr lvl="0"/>
            <a:r>
              <a:rPr lang="en-GB"/>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DE934FF-F4E1-47C5-9CA5-30A81DDE2BE4}" type="datetimeFigureOut">
              <a:rPr lang="en-US" smtClean="0"/>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earson slide with 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rgbClr val="942F6D"/>
                </a:solidFill>
                <a:latin typeface="+mn-lt"/>
              </a:defRPr>
            </a:lvl1pPr>
          </a:lstStyle>
          <a:p>
            <a:r>
              <a:rPr lang="en-US" dirty="0"/>
              <a:t>Click to edit title </a:t>
            </a:r>
            <a:endParaRPr lang="en-GB" dirty="0"/>
          </a:p>
        </p:txBody>
      </p:sp>
      <p:sp>
        <p:nvSpPr>
          <p:cNvPr id="6" name="Text Placeholder 5"/>
          <p:cNvSpPr>
            <a:spLocks noGrp="1"/>
          </p:cNvSpPr>
          <p:nvPr>
            <p:ph type="body" sz="quarter" idx="10"/>
          </p:nvPr>
        </p:nvSpPr>
        <p:spPr>
          <a:xfrm>
            <a:off x="838200" y="4495084"/>
            <a:ext cx="10515600" cy="1820257"/>
          </a:xfrm>
          <a:prstGeom prst="rect">
            <a:avLst/>
          </a:prstGeom>
        </p:spPr>
        <p:txBody>
          <a:bodyPr/>
          <a:lstStyle>
            <a:lvl1pPr marL="0" indent="0" algn="ctr">
              <a:buNone/>
              <a:defRPr sz="2800" spc="-50" baseline="0">
                <a:solidFill>
                  <a:srgbClr val="656768"/>
                </a:solidFill>
              </a:defRPr>
            </a:lvl1pPr>
          </a:lstStyle>
          <a:p>
            <a:pPr lvl="0"/>
            <a:r>
              <a:rPr lang="en-US" dirty="0"/>
              <a:t>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ght blue-slide with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01791" y="555478"/>
            <a:ext cx="9097686"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 </a:t>
            </a:r>
            <a:endParaRPr lang="en-GB" dirty="0"/>
          </a:p>
        </p:txBody>
      </p:sp>
      <p:sp>
        <p:nvSpPr>
          <p:cNvPr id="9" name="Text Placeholder 8"/>
          <p:cNvSpPr>
            <a:spLocks noGrp="1"/>
          </p:cNvSpPr>
          <p:nvPr>
            <p:ph type="body" sz="quarter" idx="10" hasCustomPrompt="1"/>
          </p:nvPr>
        </p:nvSpPr>
        <p:spPr>
          <a:xfrm>
            <a:off x="601791" y="1811976"/>
            <a:ext cx="10994852" cy="4033348"/>
          </a:xfrm>
          <a:prstGeom prst="rect">
            <a:avLst/>
          </a:prstGeom>
        </p:spPr>
        <p:txBody>
          <a:bodyPr/>
          <a:lstStyle>
            <a:lvl1pPr>
              <a:buClr>
                <a:srgbClr val="942F6D"/>
              </a:buClr>
              <a:defRPr baseline="0">
                <a:solidFill>
                  <a:srgbClr val="656768"/>
                </a:solidFill>
              </a:defRPr>
            </a:lvl1pPr>
            <a:lvl2pPr>
              <a:buClr>
                <a:srgbClr val="942F6D"/>
              </a:buClr>
              <a:defRPr>
                <a:solidFill>
                  <a:srgbClr val="656768"/>
                </a:solidFill>
              </a:defRPr>
            </a:lvl2pPr>
            <a:lvl3pPr>
              <a:buClr>
                <a:srgbClr val="942F6D"/>
              </a:buClr>
              <a:defRPr>
                <a:solidFill>
                  <a:srgbClr val="656768"/>
                </a:solidFill>
              </a:defRPr>
            </a:lvl3pPr>
            <a:lvl4pPr>
              <a:buClr>
                <a:srgbClr val="942F6D"/>
              </a:buClr>
              <a:defRPr>
                <a:solidFill>
                  <a:srgbClr val="656768"/>
                </a:solidFill>
              </a:defRPr>
            </a:lvl4pPr>
            <a:lvl5pPr>
              <a:buClr>
                <a:srgbClr val="942F6D"/>
              </a:buClr>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6281159" y="0"/>
            <a:ext cx="5910840" cy="6858000"/>
          </a:xfrm>
          <a:prstGeom prst="rect">
            <a:avLst/>
          </a:prstGeom>
        </p:spPr>
        <p:txBody>
          <a:bodyPr anchor="ctr">
            <a:normAutofit/>
          </a:bodyPr>
          <a:lstStyle>
            <a:lvl1pPr marL="0" indent="0" algn="ctr">
              <a:lnSpc>
                <a:spcPct val="150000"/>
              </a:lnSpc>
              <a:buNone/>
              <a:defRPr sz="2800" baseline="0"/>
            </a:lvl1pPr>
          </a:lstStyle>
          <a:p>
            <a:r>
              <a:rPr lang="en-GB" dirty="0"/>
              <a:t>Click to add picture </a:t>
            </a:r>
          </a:p>
        </p:txBody>
      </p:sp>
      <p:sp>
        <p:nvSpPr>
          <p:cNvPr id="8" name="Title Placeholder 1"/>
          <p:cNvSpPr>
            <a:spLocks noGrp="1"/>
          </p:cNvSpPr>
          <p:nvPr>
            <p:ph type="title" hasCustomPrompt="1"/>
          </p:nvPr>
        </p:nvSpPr>
        <p:spPr>
          <a:xfrm>
            <a:off x="601791" y="555478"/>
            <a:ext cx="5491361"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a:t>
            </a:r>
            <a:endParaRPr lang="en-GB" dirty="0"/>
          </a:p>
        </p:txBody>
      </p:sp>
      <p:sp>
        <p:nvSpPr>
          <p:cNvPr id="4" name="Text Placeholder 3"/>
          <p:cNvSpPr>
            <a:spLocks noGrp="1"/>
          </p:cNvSpPr>
          <p:nvPr>
            <p:ph type="body" sz="quarter" idx="11" hasCustomPrompt="1"/>
          </p:nvPr>
        </p:nvSpPr>
        <p:spPr>
          <a:xfrm>
            <a:off x="601791" y="1760537"/>
            <a:ext cx="5491361" cy="3845503"/>
          </a:xfrm>
          <a:prstGeom prst="rect">
            <a:avLst/>
          </a:prstGeom>
        </p:spPr>
        <p:txBody>
          <a:bodyPr/>
          <a:lstStyle>
            <a:lvl1pPr marL="0" indent="0">
              <a:buClr>
                <a:srgbClr val="6FC8F0"/>
              </a:buClr>
              <a:buNone/>
              <a:defRPr baseline="0">
                <a:solidFill>
                  <a:srgbClr val="656768"/>
                </a:solidFill>
              </a:defRPr>
            </a:lvl1pPr>
            <a:lvl2pPr marL="457200" indent="0">
              <a:buClr>
                <a:srgbClr val="6FC8F0"/>
              </a:buClr>
              <a:buNone/>
              <a:defRPr>
                <a:solidFill>
                  <a:srgbClr val="656768"/>
                </a:solidFill>
              </a:defRPr>
            </a:lvl2pPr>
            <a:lvl3pPr marL="914400" indent="0">
              <a:buClr>
                <a:srgbClr val="6FC8F0"/>
              </a:buClr>
              <a:buNone/>
              <a:defRPr>
                <a:solidFill>
                  <a:srgbClr val="656768"/>
                </a:solidFill>
              </a:defRPr>
            </a:lvl3pPr>
            <a:lvl4pPr marL="1371600" indent="0">
              <a:buClr>
                <a:srgbClr val="6FC8F0"/>
              </a:buClr>
              <a:buNone/>
              <a:defRPr>
                <a:solidFill>
                  <a:srgbClr val="656768"/>
                </a:solidFill>
              </a:defRPr>
            </a:lvl4pPr>
            <a:lvl5pPr marL="1828800" indent="0">
              <a:buClr>
                <a:srgbClr val="6FC8F0"/>
              </a:buClr>
              <a:buNone/>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A picture containing text, clipart&#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79233" y="927488"/>
            <a:ext cx="2495310" cy="1152049"/>
          </a:xfrm>
          <a:prstGeom prst="rect">
            <a:avLst/>
          </a:prstGeom>
        </p:spPr>
      </p:pic>
      <p:pic>
        <p:nvPicPr>
          <p:cNvPr id="14" name="Graphic 13"/>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169667" y="1033477"/>
            <a:ext cx="3314700" cy="723931"/>
          </a:xfrm>
          <a:prstGeom prst="rect">
            <a:avLst/>
          </a:prstGeom>
        </p:spPr>
      </p:pic>
      <p:sp>
        <p:nvSpPr>
          <p:cNvPr id="2" name="Isosceles Triangle 1"/>
          <p:cNvSpPr/>
          <p:nvPr userDrawn="1"/>
        </p:nvSpPr>
        <p:spPr>
          <a:xfrm rot="5400000">
            <a:off x="1747328" y="5566954"/>
            <a:ext cx="155700" cy="9988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65">
              <a:ln>
                <a:noFill/>
              </a:ln>
            </a:endParaRPr>
          </a:p>
        </p:txBody>
      </p:sp>
      <p:pic>
        <p:nvPicPr>
          <p:cNvPr id="3" name="Graphic 2"/>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013106" y="5538064"/>
            <a:ext cx="1371600" cy="180983"/>
          </a:xfrm>
          <a:prstGeom prst="rect">
            <a:avLst/>
          </a:prstGeom>
        </p:spPr>
      </p:pic>
      <p:pic>
        <p:nvPicPr>
          <p:cNvPr id="5" name="Picture 4"/>
          <p:cNvPicPr>
            <a:picLocks noChangeAspect="1"/>
          </p:cNvPicPr>
          <p:nvPr userDrawn="1"/>
        </p:nvPicPr>
        <p:blipFill>
          <a:blip r:embed="rId7" cstate="print">
            <a:extLst>
              <a:ext uri="{28A0092B-C50C-407E-A947-70E740481C1C}">
                <a14:useLocalDpi xmlns:a14="http://schemas.microsoft.com/office/drawing/2010/main" val="0"/>
              </a:ext>
            </a:extLst>
          </a:blip>
          <a:srcRect/>
          <a:stretch>
            <a:fillRect/>
          </a:stretch>
        </p:blipFill>
        <p:spPr>
          <a:xfrm>
            <a:off x="8856512" y="5065192"/>
            <a:ext cx="1451310" cy="43337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svg"/><Relationship Id="rId2" Type="http://schemas.openxmlformats.org/officeDocument/2006/relationships/theme" Target="../theme/them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7" Type="http://schemas.openxmlformats.org/officeDocument/2006/relationships/image" Target="../media/image7.svg"/><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svg"/><Relationship Id="rId2" Type="http://schemas.openxmlformats.org/officeDocument/2006/relationships/theme" Target="../theme/theme4.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theme" Target="../theme/theme5.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6FC8F0"/>
              </a:solidFill>
            </a:endParaRPr>
          </a:p>
        </p:txBody>
      </p:sp>
      <p:pic>
        <p:nvPicPr>
          <p:cNvPr id="2" name="Picture 1" descr="A picture containing text, clipart&#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38091" y="651936"/>
            <a:ext cx="1835181" cy="847242"/>
          </a:xfrm>
          <a:prstGeom prst="rect">
            <a:avLst/>
          </a:prstGeom>
        </p:spPr>
      </p:pic>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10122171" y="5895580"/>
            <a:ext cx="1451310" cy="43335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pic>
        <p:nvPicPr>
          <p:cNvPr id="3" name="Picture 2" descr="A picture containing text, sign, clipart&#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17063" y="677074"/>
            <a:ext cx="1559570" cy="72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10248624" y="5611775"/>
            <a:ext cx="1328009" cy="396539"/>
          </a:xfrm>
          <a:prstGeom prst="rect">
            <a:avLst/>
          </a:prstGeom>
        </p:spPr>
      </p:pic>
      <p:sp>
        <p:nvSpPr>
          <p:cNvPr id="5" name="Rectangle 4"/>
          <p:cNvSpPr/>
          <p:nvPr userDrawn="1"/>
        </p:nvSpPr>
        <p:spPr>
          <a:xfrm>
            <a:off x="0" y="6502400"/>
            <a:ext cx="12192000" cy="355600"/>
          </a:xfrm>
          <a:prstGeom prst="rect">
            <a:avLst/>
          </a:prstGeom>
          <a:solidFill>
            <a:srgbClr val="942F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Graphic 5"/>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535747" y="6603728"/>
            <a:ext cx="1371600" cy="180975"/>
          </a:xfrm>
          <a:prstGeom prst="rect">
            <a:avLst/>
          </a:prstGeom>
        </p:spPr>
      </p:pic>
      <p:sp>
        <p:nvSpPr>
          <p:cNvPr id="8" name="Isosceles Triangle 7"/>
          <p:cNvSpPr/>
          <p:nvPr userDrawn="1"/>
        </p:nvSpPr>
        <p:spPr>
          <a:xfrm rot="5400000">
            <a:off x="10297085" y="6626156"/>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noFill/>
            </a:endParaRPr>
          </a:p>
        </p:txBody>
      </p:sp>
    </p:spTree>
  </p:cSld>
  <p:clrMap bg1="lt1" tx1="dk1" bg2="lt2" tx2="dk2" accent1="accent1" accent2="accent2" accent3="accent3" accent4="accent4" accent5="accent5" accent6="accent6" hlink="hlink" folHlink="folHlink"/>
  <p:sldLayoutIdLst>
    <p:sldLayoutId id="214748365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descr="A picture containing text, sign, clipart&#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17063" y="677074"/>
            <a:ext cx="1559570" cy="72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10248624" y="5611775"/>
            <a:ext cx="1328009" cy="396539"/>
          </a:xfrm>
          <a:prstGeom prst="rect">
            <a:avLst/>
          </a:prstGeom>
        </p:spPr>
      </p:pic>
      <p:sp>
        <p:nvSpPr>
          <p:cNvPr id="4" name="Rectangle 4"/>
          <p:cNvSpPr/>
          <p:nvPr userDrawn="1"/>
        </p:nvSpPr>
        <p:spPr>
          <a:xfrm>
            <a:off x="0" y="6502400"/>
            <a:ext cx="12192000" cy="355600"/>
          </a:xfrm>
          <a:prstGeom prst="rect">
            <a:avLst/>
          </a:prstGeom>
          <a:solidFill>
            <a:srgbClr val="942F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Graphic 5"/>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535747" y="6603728"/>
            <a:ext cx="1371600" cy="180975"/>
          </a:xfrm>
          <a:prstGeom prst="rect">
            <a:avLst/>
          </a:prstGeom>
        </p:spPr>
      </p:pic>
      <p:sp>
        <p:nvSpPr>
          <p:cNvPr id="8" name="Isosceles Triangle 7"/>
          <p:cNvSpPr/>
          <p:nvPr userDrawn="1"/>
        </p:nvSpPr>
        <p:spPr>
          <a:xfrm rot="5400000">
            <a:off x="10297085" y="6626156"/>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noFill/>
            </a:endParaRP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Lst>
  <p:txStyles>
    <p:title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pic>
        <p:nvPicPr>
          <p:cNvPr id="3" name="Picture 2" descr="A picture containing text, sign, clipart&#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17063" y="677074"/>
            <a:ext cx="1559570" cy="72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10248624" y="5611775"/>
            <a:ext cx="1328009" cy="396539"/>
          </a:xfrm>
          <a:prstGeom prst="rect">
            <a:avLst/>
          </a:prstGeom>
        </p:spPr>
      </p:pic>
      <p:sp>
        <p:nvSpPr>
          <p:cNvPr id="5" name="Rectangle 4"/>
          <p:cNvSpPr/>
          <p:nvPr userDrawn="1"/>
        </p:nvSpPr>
        <p:spPr>
          <a:xfrm>
            <a:off x="0" y="6502400"/>
            <a:ext cx="12192000" cy="355600"/>
          </a:xfrm>
          <a:prstGeom prst="rect">
            <a:avLst/>
          </a:prstGeom>
          <a:solidFill>
            <a:srgbClr val="942F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 name="Graphic 5"/>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535747" y="6603728"/>
            <a:ext cx="1371600" cy="180975"/>
          </a:xfrm>
          <a:prstGeom prst="rect">
            <a:avLst/>
          </a:prstGeom>
        </p:spPr>
      </p:pic>
      <p:sp>
        <p:nvSpPr>
          <p:cNvPr id="8" name="Isosceles Triangle 7"/>
          <p:cNvSpPr/>
          <p:nvPr userDrawn="1"/>
        </p:nvSpPr>
        <p:spPr>
          <a:xfrm rot="5400000">
            <a:off x="10297085" y="6626156"/>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noFill/>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ts val="3500"/>
        </a:lnSpc>
        <a:spcBef>
          <a:spcPct val="0"/>
        </a:spcBef>
        <a:buNone/>
        <a:defRPr sz="4200" b="1" kern="1200" cap="all" spc="-50" baseline="0">
          <a:solidFill>
            <a:srgbClr val="0D3E63"/>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0" y="0"/>
            <a:ext cx="12192000" cy="6858294"/>
          </a:xfrm>
          <a:prstGeom prst="rect">
            <a:avLst/>
          </a:prstGeom>
        </p:spPr>
      </p:pic>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845820" rtl="0" eaLnBrk="1" latinLnBrk="0" hangingPunct="1">
        <a:lnSpc>
          <a:spcPct val="90000"/>
        </a:lnSpc>
        <a:spcBef>
          <a:spcPct val="0"/>
        </a:spcBef>
        <a:buNone/>
        <a:defRPr sz="4070" kern="1200">
          <a:solidFill>
            <a:schemeClr val="tx1"/>
          </a:solidFill>
          <a:latin typeface="+mj-lt"/>
          <a:ea typeface="+mj-ea"/>
          <a:cs typeface="+mj-cs"/>
        </a:defRPr>
      </a:lvl1pPr>
    </p:titleStyle>
    <p:bodyStyle>
      <a:lvl1pPr marL="211455" indent="-211455" algn="l" defTabSz="845820" rtl="0" eaLnBrk="1" latinLnBrk="0" hangingPunct="1">
        <a:lnSpc>
          <a:spcPct val="90000"/>
        </a:lnSpc>
        <a:spcBef>
          <a:spcPts val="925"/>
        </a:spcBef>
        <a:buFont typeface="Arial" panose="020B0604020202020204" pitchFamily="34" charset="0"/>
        <a:buChar char="•"/>
        <a:defRPr sz="2590" kern="1200">
          <a:solidFill>
            <a:schemeClr val="tx1"/>
          </a:solidFill>
          <a:latin typeface="+mn-lt"/>
          <a:ea typeface="+mn-ea"/>
          <a:cs typeface="+mn-cs"/>
        </a:defRPr>
      </a:lvl1pPr>
      <a:lvl2pPr marL="634365" indent="-211455" algn="l" defTabSz="845820" rtl="0" eaLnBrk="1" latinLnBrk="0" hangingPunct="1">
        <a:lnSpc>
          <a:spcPct val="90000"/>
        </a:lnSpc>
        <a:spcBef>
          <a:spcPct val="93000"/>
        </a:spcBef>
        <a:buFont typeface="Arial" panose="020B0604020202020204" pitchFamily="34" charset="0"/>
        <a:buChar char="•"/>
        <a:defRPr sz="2220" kern="1200">
          <a:solidFill>
            <a:schemeClr val="tx1"/>
          </a:solidFill>
          <a:latin typeface="+mn-lt"/>
          <a:ea typeface="+mn-ea"/>
          <a:cs typeface="+mn-cs"/>
        </a:defRPr>
      </a:lvl2pPr>
      <a:lvl3pPr marL="1057275" indent="-211455" algn="l" defTabSz="845820" rtl="0" eaLnBrk="1" latinLnBrk="0" hangingPunct="1">
        <a:lnSpc>
          <a:spcPct val="90000"/>
        </a:lnSpc>
        <a:spcBef>
          <a:spcPct val="93000"/>
        </a:spcBef>
        <a:buFont typeface="Arial" panose="020B0604020202020204" pitchFamily="34" charset="0"/>
        <a:buChar char="•"/>
        <a:defRPr sz="1850" kern="1200">
          <a:solidFill>
            <a:schemeClr val="tx1"/>
          </a:solidFill>
          <a:latin typeface="+mn-lt"/>
          <a:ea typeface="+mn-ea"/>
          <a:cs typeface="+mn-cs"/>
        </a:defRPr>
      </a:lvl3pPr>
      <a:lvl4pPr marL="148018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4pPr>
      <a:lvl5pPr marL="190309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5pPr>
      <a:lvl6pPr marL="232600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6pPr>
      <a:lvl7pPr marL="274891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7pPr>
      <a:lvl8pPr marL="3171190"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8pPr>
      <a:lvl9pPr marL="3594100"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9pPr>
    </p:bodyStyle>
    <p:otherStyle>
      <a:defPPr>
        <a:defRPr lang="en-US"/>
      </a:defPPr>
      <a:lvl1pPr marL="0" algn="l" defTabSz="845820" rtl="0" eaLnBrk="1" latinLnBrk="0" hangingPunct="1">
        <a:defRPr sz="1665" kern="1200">
          <a:solidFill>
            <a:schemeClr val="tx1"/>
          </a:solidFill>
          <a:latin typeface="+mn-lt"/>
          <a:ea typeface="+mn-ea"/>
          <a:cs typeface="+mn-cs"/>
        </a:defRPr>
      </a:lvl1pPr>
      <a:lvl2pPr marL="422910" algn="l" defTabSz="845820" rtl="0" eaLnBrk="1" latinLnBrk="0" hangingPunct="1">
        <a:defRPr sz="1665" kern="1200">
          <a:solidFill>
            <a:schemeClr val="tx1"/>
          </a:solidFill>
          <a:latin typeface="+mn-lt"/>
          <a:ea typeface="+mn-ea"/>
          <a:cs typeface="+mn-cs"/>
        </a:defRPr>
      </a:lvl2pPr>
      <a:lvl3pPr marL="845820" algn="l" defTabSz="845820" rtl="0" eaLnBrk="1" latinLnBrk="0" hangingPunct="1">
        <a:defRPr sz="1665" kern="1200">
          <a:solidFill>
            <a:schemeClr val="tx1"/>
          </a:solidFill>
          <a:latin typeface="+mn-lt"/>
          <a:ea typeface="+mn-ea"/>
          <a:cs typeface="+mn-cs"/>
        </a:defRPr>
      </a:lvl3pPr>
      <a:lvl4pPr marL="1268730" algn="l" defTabSz="845820" rtl="0" eaLnBrk="1" latinLnBrk="0" hangingPunct="1">
        <a:defRPr sz="1665" kern="1200">
          <a:solidFill>
            <a:schemeClr val="tx1"/>
          </a:solidFill>
          <a:latin typeface="+mn-lt"/>
          <a:ea typeface="+mn-ea"/>
          <a:cs typeface="+mn-cs"/>
        </a:defRPr>
      </a:lvl4pPr>
      <a:lvl5pPr marL="1691640" algn="l" defTabSz="845820" rtl="0" eaLnBrk="1" latinLnBrk="0" hangingPunct="1">
        <a:defRPr sz="1665" kern="1200">
          <a:solidFill>
            <a:schemeClr val="tx1"/>
          </a:solidFill>
          <a:latin typeface="+mn-lt"/>
          <a:ea typeface="+mn-ea"/>
          <a:cs typeface="+mn-cs"/>
        </a:defRPr>
      </a:lvl5pPr>
      <a:lvl6pPr marL="2114550" algn="l" defTabSz="845820" rtl="0" eaLnBrk="1" latinLnBrk="0" hangingPunct="1">
        <a:defRPr sz="1665" kern="1200">
          <a:solidFill>
            <a:schemeClr val="tx1"/>
          </a:solidFill>
          <a:latin typeface="+mn-lt"/>
          <a:ea typeface="+mn-ea"/>
          <a:cs typeface="+mn-cs"/>
        </a:defRPr>
      </a:lvl6pPr>
      <a:lvl7pPr marL="2537460" algn="l" defTabSz="845820" rtl="0" eaLnBrk="1" latinLnBrk="0" hangingPunct="1">
        <a:defRPr sz="1665" kern="1200">
          <a:solidFill>
            <a:schemeClr val="tx1"/>
          </a:solidFill>
          <a:latin typeface="+mn-lt"/>
          <a:ea typeface="+mn-ea"/>
          <a:cs typeface="+mn-cs"/>
        </a:defRPr>
      </a:lvl7pPr>
      <a:lvl8pPr marL="2959735" algn="l" defTabSz="845820" rtl="0" eaLnBrk="1" latinLnBrk="0" hangingPunct="1">
        <a:defRPr sz="1665" kern="1200">
          <a:solidFill>
            <a:schemeClr val="tx1"/>
          </a:solidFill>
          <a:latin typeface="+mn-lt"/>
          <a:ea typeface="+mn-ea"/>
          <a:cs typeface="+mn-cs"/>
        </a:defRPr>
      </a:lvl8pPr>
      <a:lvl9pPr marL="3382645" algn="l" defTabSz="845820" rtl="0" eaLnBrk="1" latinLnBrk="0" hangingPunct="1">
        <a:defRPr sz="16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olFxW7kdtP8" TargetMode="External"/><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hyperlink" Target="https://www.youtube.com/watch?v=IzcX9bTJLj8" TargetMode="External"/><Relationship Id="rId5" Type="http://schemas.openxmlformats.org/officeDocument/2006/relationships/hyperlink" Target="https://www.youtube.com/watch?v=rADYARpj-V8" TargetMode="External"/><Relationship Id="rId4" Type="http://schemas.openxmlformats.org/officeDocument/2006/relationships/hyperlink" Target="https://www.youtube.com/watch?v=iUUSamG4P80"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3.jpeg"/><Relationship Id="rId7" Type="http://schemas.openxmlformats.org/officeDocument/2006/relationships/hyperlink" Target="https://colab.research.google.com/drive/1mB_IFQAd7qbMAhQ2C23a2NEbrNSl_i3R?usp=sharing" TargetMode="External"/><Relationship Id="rId2" Type="http://schemas.openxmlformats.org/officeDocument/2006/relationships/image" Target="../media/image32.jpeg"/><Relationship Id="rId1" Type="http://schemas.openxmlformats.org/officeDocument/2006/relationships/slideLayout" Target="../slideLayouts/slideLayout5.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Applied Machine learning</a:t>
            </a:r>
          </a:p>
        </p:txBody>
      </p:sp>
      <p:sp>
        <p:nvSpPr>
          <p:cNvPr id="3" name="Text Placeholder 2"/>
          <p:cNvSpPr>
            <a:spLocks noGrp="1"/>
          </p:cNvSpPr>
          <p:nvPr>
            <p:ph type="body" sz="quarter" idx="10"/>
          </p:nvPr>
        </p:nvSpPr>
        <p:spPr/>
        <p:txBody>
          <a:bodyPr/>
          <a:lstStyle/>
          <a:p>
            <a:r>
              <a:rPr lang="en-GB" dirty="0"/>
              <a:t>Regent College London</a:t>
            </a:r>
          </a:p>
          <a:p>
            <a:r>
              <a:rPr lang="en-GB" dirty="0"/>
              <a:t>SWE6302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Applied Machine learning </a:t>
            </a:r>
          </a:p>
        </p:txBody>
      </p:sp>
      <p:sp>
        <p:nvSpPr>
          <p:cNvPr id="3" name="Text Placeholder 2"/>
          <p:cNvSpPr>
            <a:spLocks noGrp="1"/>
          </p:cNvSpPr>
          <p:nvPr>
            <p:ph type="body" sz="quarter" idx="10"/>
          </p:nvPr>
        </p:nvSpPr>
        <p:spPr/>
        <p:txBody>
          <a:bodyPr/>
          <a:lstStyle/>
          <a:p>
            <a:r>
              <a:rPr lang="en-GB" dirty="0"/>
              <a:t>SWE6302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Applied Machine learning</a:t>
            </a:r>
            <a:endParaRPr lang="en-US" dirty="0"/>
          </a:p>
        </p:txBody>
      </p:sp>
      <p:sp>
        <p:nvSpPr>
          <p:cNvPr id="4" name="Text Placeholder 3"/>
          <p:cNvSpPr>
            <a:spLocks noGrp="1"/>
          </p:cNvSpPr>
          <p:nvPr>
            <p:ph type="body" sz="quarter" idx="11"/>
          </p:nvPr>
        </p:nvSpPr>
        <p:spPr>
          <a:xfrm>
            <a:off x="6952426" y="2192337"/>
            <a:ext cx="4732209" cy="3845503"/>
          </a:xfrm>
        </p:spPr>
        <p:txBody>
          <a:bodyPr/>
          <a:lstStyle/>
          <a:p>
            <a:endParaRPr lang="en-US" dirty="0"/>
          </a:p>
          <a:p>
            <a:r>
              <a:rPr lang="en-GB" dirty="0"/>
              <a:t>Deployment of Machine Learning Models and Introduction to Deep Learning</a:t>
            </a:r>
            <a:endParaRPr lang="en-US" dirty="0"/>
          </a:p>
        </p:txBody>
      </p:sp>
      <p:pic>
        <p:nvPicPr>
          <p:cNvPr id="5" name="Picture 4"/>
          <p:cNvPicPr>
            <a:picLocks noChangeAspect="1"/>
          </p:cNvPicPr>
          <p:nvPr/>
        </p:nvPicPr>
        <p:blipFill>
          <a:blip r:embed="rId2"/>
          <a:stretch>
            <a:fillRect/>
          </a:stretch>
        </p:blipFill>
        <p:spPr>
          <a:xfrm>
            <a:off x="206018" y="1623416"/>
            <a:ext cx="6551188" cy="395845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591827" y="2985581"/>
            <a:ext cx="10515600" cy="1186075"/>
          </a:xfrm>
          <a:prstGeom prst="rect">
            <a:avLst/>
          </a:prstGeom>
        </p:spPr>
        <p:txBody>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r>
              <a:rPr lang="en-GB" dirty="0"/>
              <a:t>Module 1 – Deployment of Machine Learning Models and Introduction to Deep Learning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Learning objectives</a:t>
            </a:r>
            <a:endParaRPr lang="en-US" dirty="0">
              <a:solidFill>
                <a:srgbClr val="942D6D"/>
              </a:solidFill>
            </a:endParaRPr>
          </a:p>
        </p:txBody>
      </p:sp>
      <p:sp>
        <p:nvSpPr>
          <p:cNvPr id="3" name="Text Placeholder 2"/>
          <p:cNvSpPr>
            <a:spLocks noGrp="1"/>
          </p:cNvSpPr>
          <p:nvPr>
            <p:ph type="body" sz="quarter" idx="10"/>
          </p:nvPr>
        </p:nvSpPr>
        <p:spPr>
          <a:xfrm>
            <a:off x="877821" y="1521449"/>
            <a:ext cx="10712388" cy="3815101"/>
          </a:xfrm>
        </p:spPr>
        <p:txBody>
          <a:bodyPr/>
          <a:lstStyle/>
          <a:p>
            <a:r>
              <a:rPr lang="en-US" dirty="0">
                <a:solidFill>
                  <a:schemeClr val="tx1">
                    <a:lumMod val="75000"/>
                    <a:lumOff val="25000"/>
                  </a:schemeClr>
                </a:solidFill>
              </a:rPr>
              <a:t>Understand the ML Components</a:t>
            </a:r>
          </a:p>
          <a:p>
            <a:r>
              <a:rPr lang="en-GB" dirty="0">
                <a:solidFill>
                  <a:schemeClr val="tx1">
                    <a:lumMod val="75000"/>
                    <a:lumOff val="25000"/>
                  </a:schemeClr>
                </a:solidFill>
              </a:rPr>
              <a:t>Understand the ML model flow</a:t>
            </a:r>
          </a:p>
          <a:p>
            <a:r>
              <a:rPr lang="en-GB" dirty="0">
                <a:solidFill>
                  <a:schemeClr val="tx1">
                    <a:lumMod val="75000"/>
                    <a:lumOff val="25000"/>
                  </a:schemeClr>
                </a:solidFill>
              </a:rPr>
              <a:t>Understand the ML basic paradigm</a:t>
            </a:r>
          </a:p>
          <a:p>
            <a:r>
              <a:rPr lang="en-GB" dirty="0">
                <a:solidFill>
                  <a:schemeClr val="tx1">
                    <a:lumMod val="75000"/>
                    <a:lumOff val="25000"/>
                  </a:schemeClr>
                </a:solidFill>
              </a:rPr>
              <a:t>Understand the ML modelling</a:t>
            </a:r>
          </a:p>
          <a:p>
            <a:r>
              <a:rPr lang="en-GB" dirty="0">
                <a:solidFill>
                  <a:schemeClr val="tx1">
                    <a:lumMod val="75000"/>
                    <a:lumOff val="25000"/>
                  </a:schemeClr>
                </a:solidFill>
              </a:rPr>
              <a:t>Understand the core concepts of DL</a:t>
            </a:r>
          </a:p>
          <a:p>
            <a:endParaRPr lang="en-US"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Recap - AI, ML, Dl</a:t>
            </a:r>
            <a:endParaRPr lang="en-US" dirty="0"/>
          </a:p>
        </p:txBody>
      </p:sp>
      <p:sp>
        <p:nvSpPr>
          <p:cNvPr id="7" name="Oval 6"/>
          <p:cNvSpPr/>
          <p:nvPr/>
        </p:nvSpPr>
        <p:spPr>
          <a:xfrm>
            <a:off x="542810" y="1495923"/>
            <a:ext cx="3977089" cy="3866154"/>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NZ" sz="1800" b="0" i="0" u="none" strike="noStrike" kern="1200" cap="none" spc="0" normalizeH="0" baseline="0" noProof="0" dirty="0" err="1">
                <a:ln>
                  <a:noFill/>
                </a:ln>
                <a:solidFill>
                  <a:prstClr val="white"/>
                </a:solidFill>
                <a:effectLst/>
                <a:uLnTx/>
                <a:uFillTx/>
                <a:latin typeface="Calibri" panose="020F0502020204030204"/>
                <a:ea typeface="+mn-ea"/>
                <a:cs typeface="+mn-cs"/>
              </a:rPr>
              <a:t>Artifical</a:t>
            </a:r>
            <a:endPar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Oval 7"/>
          <p:cNvSpPr/>
          <p:nvPr/>
        </p:nvSpPr>
        <p:spPr>
          <a:xfrm>
            <a:off x="1458127" y="2663710"/>
            <a:ext cx="2146453" cy="2598144"/>
          </a:xfrm>
          <a:prstGeom prst="ellipse">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NZ"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Oval 8"/>
          <p:cNvSpPr/>
          <p:nvPr/>
        </p:nvSpPr>
        <p:spPr>
          <a:xfrm>
            <a:off x="1926802" y="3787434"/>
            <a:ext cx="1209101" cy="12853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NZ"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8"/>
          <p:cNvSpPr txBox="1"/>
          <p:nvPr/>
        </p:nvSpPr>
        <p:spPr>
          <a:xfrm>
            <a:off x="1225853" y="2094187"/>
            <a:ext cx="2610997" cy="400110"/>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NZ" sz="2000" b="1" i="0" u="none" strike="noStrike" kern="1200" cap="none" spc="0" normalizeH="0" baseline="0" noProof="0" dirty="0">
                <a:ln>
                  <a:noFill/>
                </a:ln>
                <a:solidFill>
                  <a:prstClr val="black"/>
                </a:solidFill>
                <a:effectLst/>
                <a:uLnTx/>
                <a:uFillTx/>
                <a:latin typeface="Calibri" panose="020F0502020204030204"/>
                <a:ea typeface="+mn-ea"/>
                <a:cs typeface="+mn-cs"/>
              </a:rPr>
              <a:t>Artificial Intelligence</a:t>
            </a:r>
          </a:p>
        </p:txBody>
      </p:sp>
      <p:sp>
        <p:nvSpPr>
          <p:cNvPr id="11" name="TextBox 9"/>
          <p:cNvSpPr txBox="1"/>
          <p:nvPr/>
        </p:nvSpPr>
        <p:spPr>
          <a:xfrm>
            <a:off x="1598369" y="3278243"/>
            <a:ext cx="1888659" cy="369332"/>
          </a:xfrm>
          <a:prstGeom prst="rect">
            <a:avLst/>
          </a:prstGeom>
          <a:noFill/>
        </p:spPr>
        <p:txBody>
          <a:bodyPr wrap="none" rtlCol="0">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NZ" sz="1800" b="1" i="0" u="none" strike="noStrike" kern="1200" cap="none" spc="0" normalizeH="0" baseline="0" noProof="0" dirty="0">
                <a:ln>
                  <a:noFill/>
                </a:ln>
                <a:solidFill>
                  <a:prstClr val="white"/>
                </a:solidFill>
                <a:effectLst/>
                <a:uLnTx/>
                <a:uFillTx/>
                <a:latin typeface="Calibri" panose="020F0502020204030204"/>
                <a:ea typeface="+mn-ea"/>
                <a:cs typeface="+mn-cs"/>
              </a:rPr>
              <a:t>Machine Learning</a:t>
            </a:r>
          </a:p>
        </p:txBody>
      </p:sp>
      <p:sp>
        <p:nvSpPr>
          <p:cNvPr id="12" name="TextBox 10"/>
          <p:cNvSpPr txBox="1"/>
          <p:nvPr/>
        </p:nvSpPr>
        <p:spPr>
          <a:xfrm>
            <a:off x="1926802" y="4171269"/>
            <a:ext cx="1209101" cy="646331"/>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NZ" sz="1800" b="1" i="0" u="none" strike="noStrike" kern="1200" cap="none" spc="0" normalizeH="0" baseline="0" noProof="0" dirty="0">
                <a:ln>
                  <a:noFill/>
                </a:ln>
                <a:solidFill>
                  <a:prstClr val="white"/>
                </a:solidFill>
                <a:effectLst/>
                <a:uLnTx/>
                <a:uFillTx/>
                <a:latin typeface="Calibri" panose="020F0502020204030204"/>
                <a:ea typeface="+mn-ea"/>
                <a:cs typeface="+mn-cs"/>
              </a:rPr>
              <a:t>Deep Learning</a:t>
            </a:r>
          </a:p>
        </p:txBody>
      </p:sp>
      <p:sp>
        <p:nvSpPr>
          <p:cNvPr id="13" name="Rectangle 12"/>
          <p:cNvSpPr/>
          <p:nvPr/>
        </p:nvSpPr>
        <p:spPr>
          <a:xfrm>
            <a:off x="5215538" y="2980015"/>
            <a:ext cx="2710149" cy="9897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t>Machine Learning </a:t>
            </a:r>
            <a:b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t>is a subset of </a:t>
            </a:r>
            <a:b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t>Artificial Intelligence</a:t>
            </a:r>
          </a:p>
        </p:txBody>
      </p:sp>
      <p:sp>
        <p:nvSpPr>
          <p:cNvPr id="14" name="Rectangle 13"/>
          <p:cNvSpPr/>
          <p:nvPr/>
        </p:nvSpPr>
        <p:spPr>
          <a:xfrm>
            <a:off x="5215538" y="4162416"/>
            <a:ext cx="2710149" cy="10331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t>Deep Learning </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t>is a subset of</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t>Machine Learning</a:t>
            </a:r>
          </a:p>
        </p:txBody>
      </p:sp>
      <p:sp>
        <p:nvSpPr>
          <p:cNvPr id="15" name="Rectangle 14"/>
          <p:cNvSpPr/>
          <p:nvPr/>
        </p:nvSpPr>
        <p:spPr>
          <a:xfrm>
            <a:off x="8429598" y="4162416"/>
            <a:ext cx="2961704" cy="10097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NZ" sz="1200" b="0" i="0" u="none" strike="noStrike" kern="1200" cap="none" spc="0" normalizeH="0" baseline="0" noProof="0" dirty="0">
                <a:ln>
                  <a:noFill/>
                </a:ln>
                <a:solidFill>
                  <a:prstClr val="white"/>
                </a:solidFill>
                <a:effectLst/>
                <a:uLnTx/>
                <a:uFillTx/>
                <a:latin typeface="Calibri" panose="020F0502020204030204"/>
                <a:ea typeface="+mn-ea"/>
                <a:cs typeface="+mn-cs"/>
              </a:rPr>
              <a:t>Deep Learning uses neural networks to simulate human like decision making</a:t>
            </a:r>
          </a:p>
        </p:txBody>
      </p:sp>
      <p:cxnSp>
        <p:nvCxnSpPr>
          <p:cNvPr id="16" name="Straight Arrow Connector 15"/>
          <p:cNvCxnSpPr>
            <a:stCxn id="13" idx="1"/>
          </p:cNvCxnSpPr>
          <p:nvPr/>
        </p:nvCxnSpPr>
        <p:spPr>
          <a:xfrm flipH="1">
            <a:off x="3604580" y="3474894"/>
            <a:ext cx="1610958" cy="0"/>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4" idx="1"/>
          </p:cNvCxnSpPr>
          <p:nvPr/>
        </p:nvCxnSpPr>
        <p:spPr>
          <a:xfrm flipH="1" flipV="1">
            <a:off x="3135903" y="4667298"/>
            <a:ext cx="2079635" cy="11692"/>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Double Brace 17"/>
          <p:cNvSpPr/>
          <p:nvPr/>
        </p:nvSpPr>
        <p:spPr>
          <a:xfrm>
            <a:off x="8155467" y="4126554"/>
            <a:ext cx="3493723" cy="1045625"/>
          </a:xfrm>
          <a:prstGeom prst="bracePair">
            <a:avLst>
              <a:gd name="adj" fmla="val 10752"/>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algn="l" rtl="0" eaLnBrk="0" fontAlgn="base" hangingPunct="0">
              <a:spcBef>
                <a:spcPct val="0"/>
              </a:spcBef>
              <a:spcAft>
                <a:spcPct val="0"/>
              </a:spcAft>
              <a:defRPr kern="1200">
                <a:solidFill>
                  <a:schemeClr val="tx1"/>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mn-lt"/>
                <a:ea typeface="+mn-ea"/>
                <a:cs typeface="+mn-cs"/>
              </a:defRPr>
            </a:lvl2pPr>
            <a:lvl3pPr marL="914400" algn="l" rtl="0" eaLnBrk="0" fontAlgn="base" hangingPunct="0">
              <a:spcBef>
                <a:spcPct val="0"/>
              </a:spcBef>
              <a:spcAft>
                <a:spcPct val="0"/>
              </a:spcAft>
              <a:defRPr kern="1200">
                <a:solidFill>
                  <a:schemeClr val="tx1"/>
                </a:solidFill>
                <a:latin typeface="+mn-lt"/>
                <a:ea typeface="+mn-ea"/>
                <a:cs typeface="+mn-cs"/>
              </a:defRPr>
            </a:lvl3pPr>
            <a:lvl4pPr marL="1371600" algn="l" rtl="0" eaLnBrk="0" fontAlgn="base" hangingPunct="0">
              <a:spcBef>
                <a:spcPct val="0"/>
              </a:spcBef>
              <a:spcAft>
                <a:spcPct val="0"/>
              </a:spcAft>
              <a:defRPr kern="1200">
                <a:solidFill>
                  <a:schemeClr val="tx1"/>
                </a:solidFill>
                <a:latin typeface="+mn-lt"/>
                <a:ea typeface="+mn-ea"/>
                <a:cs typeface="+mn-cs"/>
              </a:defRPr>
            </a:lvl4pPr>
            <a:lvl5pPr marL="1828800" algn="l" rtl="0" eaLnBrk="0" fontAlgn="base" hangingPunct="0">
              <a:spcBef>
                <a:spcPct val="0"/>
              </a:spcBef>
              <a:spcAft>
                <a:spcPct val="0"/>
              </a:spcAft>
              <a:defRPr kern="1200">
                <a:solidFill>
                  <a:schemeClr val="tx1"/>
                </a:solidFill>
                <a:latin typeface="+mn-lt"/>
                <a:ea typeface="+mn-ea"/>
                <a:cs typeface="+mn-cs"/>
              </a:defRPr>
            </a:lvl5pPr>
            <a:lvl6pPr marL="2286000" algn="l" defTabSz="914400" rtl="0" eaLnBrk="1" latinLnBrk="0" hangingPunct="1">
              <a:defRPr kern="1200">
                <a:solidFill>
                  <a:schemeClr val="tx1"/>
                </a:solidFill>
                <a:latin typeface="+mn-lt"/>
                <a:ea typeface="+mn-ea"/>
                <a:cs typeface="+mn-cs"/>
              </a:defRPr>
            </a:lvl6pPr>
            <a:lvl7pPr marL="2743200" algn="l" defTabSz="914400" rtl="0" eaLnBrk="1" latinLnBrk="0" hangingPunct="1">
              <a:defRPr kern="1200">
                <a:solidFill>
                  <a:schemeClr val="tx1"/>
                </a:solidFill>
                <a:latin typeface="+mn-lt"/>
                <a:ea typeface="+mn-ea"/>
                <a:cs typeface="+mn-cs"/>
              </a:defRPr>
            </a:lvl7pPr>
            <a:lvl8pPr marL="3200400" algn="l" defTabSz="914400" rtl="0" eaLnBrk="1" latinLnBrk="0" hangingPunct="1">
              <a:defRPr kern="1200">
                <a:solidFill>
                  <a:schemeClr val="tx1"/>
                </a:solidFill>
                <a:latin typeface="+mn-lt"/>
                <a:ea typeface="+mn-ea"/>
                <a:cs typeface="+mn-cs"/>
              </a:defRPr>
            </a:lvl8pPr>
            <a:lvl9pPr marL="3657600" algn="l" defTabSz="914400" rtl="0" eaLnBrk="1" latinLnBrk="0" hangingPunct="1">
              <a:defRPr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NZ"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Rectangle 18"/>
          <p:cNvSpPr/>
          <p:nvPr/>
        </p:nvSpPr>
        <p:spPr>
          <a:xfrm>
            <a:off x="8429598" y="2987943"/>
            <a:ext cx="2961704" cy="10097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lvl="0" algn="ctr" eaLnBrk="1" fontAlgn="auto" hangingPunct="1">
              <a:spcBef>
                <a:spcPts val="0"/>
              </a:spcBef>
              <a:spcAft>
                <a:spcPts val="0"/>
              </a:spcAft>
              <a:defRPr/>
            </a:pPr>
            <a:r>
              <a:rPr lang="en-US" sz="1200" dirty="0"/>
              <a:t>Machine learning focuses on developing algorithms that allow computers to learn from data and make predictions or decisions without being explicitly programmed.</a:t>
            </a:r>
            <a:endParaRPr kumimoji="0" lang="en-NZ" sz="1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Double Brace 19"/>
          <p:cNvSpPr/>
          <p:nvPr/>
        </p:nvSpPr>
        <p:spPr>
          <a:xfrm>
            <a:off x="8155467" y="2952081"/>
            <a:ext cx="3493723" cy="1045625"/>
          </a:xfrm>
          <a:prstGeom prst="bracePair">
            <a:avLst>
              <a:gd name="adj" fmla="val 10752"/>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algn="l" rtl="0" eaLnBrk="0" fontAlgn="base" hangingPunct="0">
              <a:spcBef>
                <a:spcPct val="0"/>
              </a:spcBef>
              <a:spcAft>
                <a:spcPct val="0"/>
              </a:spcAft>
              <a:defRPr kern="1200">
                <a:solidFill>
                  <a:schemeClr val="tx1"/>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mn-lt"/>
                <a:ea typeface="+mn-ea"/>
                <a:cs typeface="+mn-cs"/>
              </a:defRPr>
            </a:lvl2pPr>
            <a:lvl3pPr marL="914400" algn="l" rtl="0" eaLnBrk="0" fontAlgn="base" hangingPunct="0">
              <a:spcBef>
                <a:spcPct val="0"/>
              </a:spcBef>
              <a:spcAft>
                <a:spcPct val="0"/>
              </a:spcAft>
              <a:defRPr kern="1200">
                <a:solidFill>
                  <a:schemeClr val="tx1"/>
                </a:solidFill>
                <a:latin typeface="+mn-lt"/>
                <a:ea typeface="+mn-ea"/>
                <a:cs typeface="+mn-cs"/>
              </a:defRPr>
            </a:lvl3pPr>
            <a:lvl4pPr marL="1371600" algn="l" rtl="0" eaLnBrk="0" fontAlgn="base" hangingPunct="0">
              <a:spcBef>
                <a:spcPct val="0"/>
              </a:spcBef>
              <a:spcAft>
                <a:spcPct val="0"/>
              </a:spcAft>
              <a:defRPr kern="1200">
                <a:solidFill>
                  <a:schemeClr val="tx1"/>
                </a:solidFill>
                <a:latin typeface="+mn-lt"/>
                <a:ea typeface="+mn-ea"/>
                <a:cs typeface="+mn-cs"/>
              </a:defRPr>
            </a:lvl4pPr>
            <a:lvl5pPr marL="1828800" algn="l" rtl="0" eaLnBrk="0" fontAlgn="base" hangingPunct="0">
              <a:spcBef>
                <a:spcPct val="0"/>
              </a:spcBef>
              <a:spcAft>
                <a:spcPct val="0"/>
              </a:spcAft>
              <a:defRPr kern="1200">
                <a:solidFill>
                  <a:schemeClr val="tx1"/>
                </a:solidFill>
                <a:latin typeface="+mn-lt"/>
                <a:ea typeface="+mn-ea"/>
                <a:cs typeface="+mn-cs"/>
              </a:defRPr>
            </a:lvl5pPr>
            <a:lvl6pPr marL="2286000" algn="l" defTabSz="914400" rtl="0" eaLnBrk="1" latinLnBrk="0" hangingPunct="1">
              <a:defRPr kern="1200">
                <a:solidFill>
                  <a:schemeClr val="tx1"/>
                </a:solidFill>
                <a:latin typeface="+mn-lt"/>
                <a:ea typeface="+mn-ea"/>
                <a:cs typeface="+mn-cs"/>
              </a:defRPr>
            </a:lvl6pPr>
            <a:lvl7pPr marL="2743200" algn="l" defTabSz="914400" rtl="0" eaLnBrk="1" latinLnBrk="0" hangingPunct="1">
              <a:defRPr kern="1200">
                <a:solidFill>
                  <a:schemeClr val="tx1"/>
                </a:solidFill>
                <a:latin typeface="+mn-lt"/>
                <a:ea typeface="+mn-ea"/>
                <a:cs typeface="+mn-cs"/>
              </a:defRPr>
            </a:lvl7pPr>
            <a:lvl8pPr marL="3200400" algn="l" defTabSz="914400" rtl="0" eaLnBrk="1" latinLnBrk="0" hangingPunct="1">
              <a:defRPr kern="1200">
                <a:solidFill>
                  <a:schemeClr val="tx1"/>
                </a:solidFill>
                <a:latin typeface="+mn-lt"/>
                <a:ea typeface="+mn-ea"/>
                <a:cs typeface="+mn-cs"/>
              </a:defRPr>
            </a:lvl8pPr>
            <a:lvl9pPr marL="3657600" algn="l" defTabSz="914400" rtl="0" eaLnBrk="1" latinLnBrk="0" hangingPunct="1">
              <a:defRPr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NZ"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p:cNvSpPr txBox="1"/>
          <p:nvPr/>
        </p:nvSpPr>
        <p:spPr>
          <a:xfrm>
            <a:off x="4688143" y="1535358"/>
            <a:ext cx="6820712" cy="1323439"/>
          </a:xfrm>
          <a:prstGeom prst="rect">
            <a:avLst/>
          </a:prstGeom>
          <a:noFill/>
        </p:spPr>
        <p:txBody>
          <a:bodyPr wrap="square" rtlCol="0">
            <a:spAutoFit/>
          </a:bodyPr>
          <a:lstStyle/>
          <a:p>
            <a:r>
              <a:rPr lang="en-GB" sz="1600" dirty="0"/>
              <a:t>Artificial Intelligence is the capability of a machine to imitate intelligent human behaviour. </a:t>
            </a:r>
          </a:p>
          <a:p>
            <a:r>
              <a:rPr lang="en-GB" sz="1600" dirty="0"/>
              <a:t>AI is achieved by mimicking a human brain, by understanding how it thinks, how it learns, decides, and work while trying to solve a problem.</a:t>
            </a:r>
          </a:p>
          <a:p>
            <a:endParaRPr lang="en-GB"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Simplified Diagrammatic Implementation of ML </a:t>
            </a:r>
            <a:endParaRPr lang="en-US" dirty="0"/>
          </a:p>
        </p:txBody>
      </p:sp>
      <p:grpSp>
        <p:nvGrpSpPr>
          <p:cNvPr id="6" name="Group 5"/>
          <p:cNvGrpSpPr/>
          <p:nvPr/>
        </p:nvGrpSpPr>
        <p:grpSpPr>
          <a:xfrm>
            <a:off x="708440" y="1787321"/>
            <a:ext cx="10775119" cy="3283353"/>
            <a:chOff x="483072" y="2398988"/>
            <a:chExt cx="10775119" cy="2591023"/>
          </a:xfrm>
        </p:grpSpPr>
        <p:sp>
          <p:nvSpPr>
            <p:cNvPr id="7" name="Rectangle 6"/>
            <p:cNvSpPr/>
            <p:nvPr/>
          </p:nvSpPr>
          <p:spPr>
            <a:xfrm>
              <a:off x="678380" y="2398988"/>
              <a:ext cx="1999507" cy="8236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t>Training Data</a:t>
              </a:r>
            </a:p>
          </p:txBody>
        </p:sp>
        <p:sp>
          <p:nvSpPr>
            <p:cNvPr id="8" name="Rectangle 7"/>
            <p:cNvSpPr/>
            <p:nvPr/>
          </p:nvSpPr>
          <p:spPr>
            <a:xfrm>
              <a:off x="4310826" y="2409914"/>
              <a:ext cx="2165558" cy="8236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t>Machine Learning Algorithm</a:t>
              </a:r>
            </a:p>
          </p:txBody>
        </p:sp>
        <p:sp>
          <p:nvSpPr>
            <p:cNvPr id="9" name="Rectangle 8"/>
            <p:cNvSpPr/>
            <p:nvPr/>
          </p:nvSpPr>
          <p:spPr>
            <a:xfrm>
              <a:off x="4310826" y="4166359"/>
              <a:ext cx="2165558" cy="8236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t>Trained Model</a:t>
              </a:r>
            </a:p>
          </p:txBody>
        </p:sp>
        <p:sp>
          <p:nvSpPr>
            <p:cNvPr id="10" name="Rectangle 9"/>
            <p:cNvSpPr/>
            <p:nvPr/>
          </p:nvSpPr>
          <p:spPr>
            <a:xfrm>
              <a:off x="678379" y="4166359"/>
              <a:ext cx="1999507" cy="8236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t>“Live” Data / Test Data</a:t>
              </a:r>
            </a:p>
          </p:txBody>
        </p:sp>
        <p:sp>
          <p:nvSpPr>
            <p:cNvPr id="11" name="Rectangle 10"/>
            <p:cNvSpPr/>
            <p:nvPr/>
          </p:nvSpPr>
          <p:spPr>
            <a:xfrm>
              <a:off x="8563230" y="4166359"/>
              <a:ext cx="1999507" cy="8236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NZ" sz="1800" b="0" i="0" u="none" strike="noStrike" kern="1200" cap="none" spc="0" normalizeH="0" baseline="0" noProof="0" dirty="0">
                  <a:ln>
                    <a:noFill/>
                  </a:ln>
                  <a:solidFill>
                    <a:prstClr val="white"/>
                  </a:solidFill>
                  <a:effectLst/>
                  <a:uLnTx/>
                  <a:uFillTx/>
                  <a:latin typeface="Calibri" panose="020F0502020204030204"/>
                  <a:ea typeface="+mn-ea"/>
                  <a:cs typeface="+mn-cs"/>
                </a:rPr>
                <a:t>Prediction</a:t>
              </a:r>
            </a:p>
          </p:txBody>
        </p:sp>
        <p:cxnSp>
          <p:nvCxnSpPr>
            <p:cNvPr id="12" name="Straight Arrow Connector 11"/>
            <p:cNvCxnSpPr>
              <a:stCxn id="7" idx="3"/>
              <a:endCxn id="8" idx="1"/>
            </p:cNvCxnSpPr>
            <p:nvPr/>
          </p:nvCxnSpPr>
          <p:spPr>
            <a:xfrm>
              <a:off x="2677887" y="2810814"/>
              <a:ext cx="1632939" cy="10926"/>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2595956" y="4602844"/>
              <a:ext cx="178813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endCxn id="11" idx="1"/>
            </p:cNvCxnSpPr>
            <p:nvPr/>
          </p:nvCxnSpPr>
          <p:spPr>
            <a:xfrm flipV="1">
              <a:off x="6228403" y="4578185"/>
              <a:ext cx="2334827" cy="21701"/>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8" idx="2"/>
              <a:endCxn id="9" idx="0"/>
            </p:cNvCxnSpPr>
            <p:nvPr/>
          </p:nvCxnSpPr>
          <p:spPr>
            <a:xfrm>
              <a:off x="5393605" y="3233566"/>
              <a:ext cx="0" cy="932793"/>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83072" y="3671899"/>
              <a:ext cx="10775119"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5"/>
            <p:cNvSpPr txBox="1"/>
            <p:nvPr/>
          </p:nvSpPr>
          <p:spPr>
            <a:xfrm>
              <a:off x="1017212" y="3302567"/>
              <a:ext cx="966658"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NZ" sz="1800" b="0" i="0" u="none" strike="noStrike" kern="1200" cap="none" spc="0" normalizeH="0" baseline="0" noProof="0" dirty="0">
                  <a:ln>
                    <a:noFill/>
                  </a:ln>
                  <a:solidFill>
                    <a:prstClr val="black"/>
                  </a:solidFill>
                  <a:effectLst/>
                  <a:uLnTx/>
                  <a:uFillTx/>
                  <a:latin typeface="Calibri" panose="020F0502020204030204"/>
                  <a:ea typeface="+mn-ea"/>
                  <a:cs typeface="+mn-cs"/>
                </a:rPr>
                <a:t>Training</a:t>
              </a:r>
            </a:p>
          </p:txBody>
        </p:sp>
        <p:sp>
          <p:nvSpPr>
            <p:cNvPr id="18" name="TextBox 16"/>
            <p:cNvSpPr txBox="1"/>
            <p:nvPr/>
          </p:nvSpPr>
          <p:spPr>
            <a:xfrm>
              <a:off x="1017212" y="3678062"/>
              <a:ext cx="1190637" cy="369332"/>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NZ" sz="1800" b="0" i="0" u="none" strike="noStrike" kern="1200" cap="none" spc="0" normalizeH="0" baseline="0" noProof="0" dirty="0">
                  <a:ln>
                    <a:noFill/>
                  </a:ln>
                  <a:solidFill>
                    <a:prstClr val="black"/>
                  </a:solidFill>
                  <a:effectLst/>
                  <a:uLnTx/>
                  <a:uFillTx/>
                  <a:latin typeface="Calibri" panose="020F0502020204030204"/>
                  <a:ea typeface="+mn-ea"/>
                  <a:cs typeface="+mn-cs"/>
                </a:rPr>
                <a:t>Prediction</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ML in Mathematical Representation</a:t>
            </a:r>
            <a:endParaRPr lang="en-US" dirty="0"/>
          </a:p>
        </p:txBody>
      </p:sp>
      <p:pic>
        <p:nvPicPr>
          <p:cNvPr id="3" name="Picture 2"/>
          <p:cNvPicPr>
            <a:picLocks noChangeAspect="1"/>
          </p:cNvPicPr>
          <p:nvPr/>
        </p:nvPicPr>
        <p:blipFill>
          <a:blip r:embed="rId2"/>
          <a:stretch>
            <a:fillRect/>
          </a:stretch>
        </p:blipFill>
        <p:spPr>
          <a:xfrm>
            <a:off x="2596891" y="1657522"/>
            <a:ext cx="6998217" cy="354295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Machine Learning components</a:t>
            </a:r>
            <a:endParaRPr lang="en-US" dirty="0">
              <a:solidFill>
                <a:srgbClr val="942D6D"/>
              </a:solidFill>
            </a:endParaRPr>
          </a:p>
        </p:txBody>
      </p:sp>
      <p:sp>
        <p:nvSpPr>
          <p:cNvPr id="3" name="Text Placeholder 2"/>
          <p:cNvSpPr>
            <a:spLocks noGrp="1"/>
          </p:cNvSpPr>
          <p:nvPr>
            <p:ph type="body" sz="quarter" idx="10"/>
          </p:nvPr>
        </p:nvSpPr>
        <p:spPr>
          <a:xfrm>
            <a:off x="486298" y="1623752"/>
            <a:ext cx="11705702" cy="3815101"/>
          </a:xfrm>
        </p:spPr>
        <p:txBody>
          <a:bodyPr/>
          <a:lstStyle/>
          <a:p>
            <a:r>
              <a:rPr lang="en-GB" dirty="0">
                <a:solidFill>
                  <a:schemeClr val="tx1">
                    <a:lumMod val="75000"/>
                    <a:lumOff val="25000"/>
                  </a:schemeClr>
                </a:solidFill>
              </a:rPr>
              <a:t>DATA – Without data, ML does not exist. Without quality, reliable and DIVERSE data, your ML system is rubbish (“Garbage in – Garbage out”)</a:t>
            </a:r>
          </a:p>
          <a:p>
            <a:endParaRPr lang="en-GB" dirty="0">
              <a:solidFill>
                <a:schemeClr val="tx1">
                  <a:lumMod val="75000"/>
                  <a:lumOff val="25000"/>
                </a:schemeClr>
              </a:solidFill>
            </a:endParaRPr>
          </a:p>
          <a:p>
            <a:r>
              <a:rPr lang="en-GB" dirty="0">
                <a:solidFill>
                  <a:schemeClr val="tx1">
                    <a:lumMod val="75000"/>
                    <a:lumOff val="25000"/>
                  </a:schemeClr>
                </a:solidFill>
              </a:rPr>
              <a:t>A </a:t>
            </a:r>
            <a:r>
              <a:rPr lang="en-GB" i="1" dirty="0">
                <a:solidFill>
                  <a:schemeClr val="tx1">
                    <a:lumMod val="75000"/>
                    <a:lumOff val="25000"/>
                  </a:schemeClr>
                </a:solidFill>
              </a:rPr>
              <a:t>feature</a:t>
            </a:r>
            <a:r>
              <a:rPr lang="en-GB" dirty="0">
                <a:solidFill>
                  <a:schemeClr val="tx1">
                    <a:lumMod val="75000"/>
                    <a:lumOff val="25000"/>
                  </a:schemeClr>
                </a:solidFill>
              </a:rPr>
              <a:t> (predictor, variable) is an individual measurable property or characteristic of a phenomenon being observed – House price, price product, X-Rays, . . .</a:t>
            </a:r>
          </a:p>
          <a:p>
            <a:endParaRPr lang="en-GB" dirty="0">
              <a:solidFill>
                <a:schemeClr val="tx1">
                  <a:lumMod val="75000"/>
                  <a:lumOff val="25000"/>
                </a:schemeClr>
              </a:solidFill>
            </a:endParaRPr>
          </a:p>
          <a:p>
            <a:r>
              <a:rPr lang="en-GB" dirty="0">
                <a:solidFill>
                  <a:schemeClr val="tx1">
                    <a:lumMod val="75000"/>
                    <a:lumOff val="25000"/>
                  </a:schemeClr>
                </a:solidFill>
              </a:rPr>
              <a:t>Algorithms: Linear regression, Support Vector Machines(SVM), K-Means, Neural Networks, …</a:t>
            </a:r>
            <a:endParaRPr lang="en-US" dirty="0">
              <a:solidFill>
                <a:schemeClr val="tx1">
                  <a:lumMod val="75000"/>
                  <a:lumOff val="25000"/>
                </a:schemeClr>
              </a:solidFill>
            </a:endParaRPr>
          </a:p>
          <a:p>
            <a:endParaRPr lang="en-US" dirty="0">
              <a:solidFill>
                <a:schemeClr val="bg2">
                  <a:lumMod val="25000"/>
                </a:schemeClr>
              </a:solidFill>
            </a:endParaRP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5645" y="277838"/>
            <a:ext cx="9097686" cy="1068223"/>
          </a:xfrm>
        </p:spPr>
        <p:txBody>
          <a:bodyPr/>
          <a:lstStyle/>
          <a:p>
            <a:r>
              <a:rPr lang="en-GB" dirty="0">
                <a:solidFill>
                  <a:srgbClr val="942D6D"/>
                </a:solidFill>
              </a:rPr>
              <a:t>Roadmap to solve complex problems</a:t>
            </a:r>
            <a:endParaRPr lang="en-US" dirty="0">
              <a:solidFill>
                <a:srgbClr val="942D6D"/>
              </a:solidFill>
            </a:endParaRPr>
          </a:p>
        </p:txBody>
      </p:sp>
      <p:sp>
        <p:nvSpPr>
          <p:cNvPr id="3" name="Text Placeholder 2"/>
          <p:cNvSpPr>
            <a:spLocks noGrp="1"/>
          </p:cNvSpPr>
          <p:nvPr>
            <p:ph type="body" sz="quarter" idx="10"/>
          </p:nvPr>
        </p:nvSpPr>
        <p:spPr>
          <a:xfrm>
            <a:off x="486298" y="5598268"/>
            <a:ext cx="11705702" cy="1068224"/>
          </a:xfrm>
        </p:spPr>
        <p:txBody>
          <a:bodyPr/>
          <a:lstStyle/>
          <a:p>
            <a:r>
              <a:rPr lang="en-GB" dirty="0">
                <a:solidFill>
                  <a:schemeClr val="tx1">
                    <a:lumMod val="75000"/>
                    <a:lumOff val="25000"/>
                  </a:schemeClr>
                </a:solidFill>
              </a:rPr>
              <a:t>…with a Machine Learning Framework Remember: </a:t>
            </a:r>
          </a:p>
          <a:p>
            <a:r>
              <a:rPr lang="en-GB" dirty="0">
                <a:solidFill>
                  <a:schemeClr val="bg1"/>
                </a:solidFill>
              </a:rPr>
              <a:t>ML is about </a:t>
            </a:r>
            <a:r>
              <a:rPr lang="en-GB" b="1" dirty="0">
                <a:solidFill>
                  <a:schemeClr val="bg1"/>
                </a:solidFill>
              </a:rPr>
              <a:t>predict results based on incoming data</a:t>
            </a:r>
          </a:p>
          <a:p>
            <a:endParaRPr lang="en-US" dirty="0">
              <a:solidFill>
                <a:schemeClr val="bg2">
                  <a:lumMod val="25000"/>
                </a:schemeClr>
              </a:solidFill>
            </a:endParaRPr>
          </a:p>
        </p:txBody>
      </p:sp>
      <p:pic>
        <p:nvPicPr>
          <p:cNvPr id="7" name="Picture 6"/>
          <p:cNvPicPr>
            <a:picLocks noChangeAspect="1"/>
          </p:cNvPicPr>
          <p:nvPr/>
        </p:nvPicPr>
        <p:blipFill>
          <a:blip r:embed="rId3"/>
          <a:stretch>
            <a:fillRect/>
          </a:stretch>
        </p:blipFill>
        <p:spPr>
          <a:xfrm>
            <a:off x="0" y="915827"/>
            <a:ext cx="12192000" cy="452599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What is ML?</a:t>
            </a:r>
            <a:endParaRPr lang="en-US" dirty="0">
              <a:solidFill>
                <a:srgbClr val="942D6D"/>
              </a:solidFill>
            </a:endParaRPr>
          </a:p>
        </p:txBody>
      </p:sp>
      <p:sp>
        <p:nvSpPr>
          <p:cNvPr id="3" name="Text Placeholder 2"/>
          <p:cNvSpPr>
            <a:spLocks noGrp="1"/>
          </p:cNvSpPr>
          <p:nvPr>
            <p:ph type="body" sz="quarter" idx="10"/>
          </p:nvPr>
        </p:nvSpPr>
        <p:spPr>
          <a:xfrm>
            <a:off x="486298" y="1382452"/>
            <a:ext cx="11705702" cy="3815101"/>
          </a:xfrm>
        </p:spPr>
        <p:txBody>
          <a:bodyPr/>
          <a:lstStyle/>
          <a:p>
            <a:r>
              <a:rPr lang="en-GB" dirty="0">
                <a:solidFill>
                  <a:schemeClr val="tx1">
                    <a:lumMod val="75000"/>
                    <a:lumOff val="25000"/>
                  </a:schemeClr>
                </a:solidFill>
              </a:rPr>
              <a:t>It is a class of methods for automatically creating models from data </a:t>
            </a:r>
            <a:r>
              <a:rPr lang="en-GB" dirty="0">
                <a:solidFill>
                  <a:schemeClr val="tx1">
                    <a:lumMod val="75000"/>
                    <a:lumOff val="25000"/>
                  </a:schemeClr>
                </a:solidFill>
                <a:sym typeface="Wingdings" panose="05000000000000000000" pitchFamily="2" charset="2"/>
              </a:rPr>
              <a:t> </a:t>
            </a:r>
            <a:r>
              <a:rPr lang="en-GB" dirty="0">
                <a:solidFill>
                  <a:schemeClr val="tx1">
                    <a:lumMod val="75000"/>
                    <a:lumOff val="25000"/>
                  </a:schemeClr>
                </a:solidFill>
              </a:rPr>
              <a:t>algorithms turn a data set into a model.</a:t>
            </a:r>
          </a:p>
          <a:p>
            <a:endParaRPr lang="en-GB" dirty="0">
              <a:solidFill>
                <a:schemeClr val="tx1">
                  <a:lumMod val="75000"/>
                  <a:lumOff val="25000"/>
                </a:schemeClr>
              </a:solidFill>
            </a:endParaRPr>
          </a:p>
          <a:p>
            <a:r>
              <a:rPr lang="en-GB" dirty="0">
                <a:solidFill>
                  <a:schemeClr val="tx1">
                    <a:lumMod val="75000"/>
                    <a:lumOff val="25000"/>
                  </a:schemeClr>
                </a:solidFill>
              </a:rPr>
              <a:t>It is a technique where machines apply statistical learning techniques to automatically identify patterns in data. </a:t>
            </a:r>
          </a:p>
          <a:p>
            <a:endParaRPr lang="en-GB" dirty="0">
              <a:solidFill>
                <a:schemeClr val="tx1">
                  <a:lumMod val="75000"/>
                  <a:lumOff val="25000"/>
                </a:schemeClr>
              </a:solidFill>
            </a:endParaRPr>
          </a:p>
          <a:p>
            <a:r>
              <a:rPr lang="en-GB" dirty="0">
                <a:solidFill>
                  <a:schemeClr val="tx1">
                    <a:lumMod val="75000"/>
                    <a:lumOff val="25000"/>
                  </a:schemeClr>
                </a:solidFill>
              </a:rPr>
              <a:t>A system that learns from experience. Whereas a rule-based system will perform a task the same way every time, the performance of a machine learning system can be improved through training, by exposing the algorithm to more data.</a:t>
            </a:r>
          </a:p>
          <a:p>
            <a:endParaRPr lang="en-US" dirty="0">
              <a:solidFill>
                <a:schemeClr val="bg2">
                  <a:lumMod val="25000"/>
                </a:schemeClr>
              </a:solidFill>
            </a:endParaRP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How things are learned</a:t>
            </a:r>
            <a:endParaRPr lang="en-US" dirty="0">
              <a:solidFill>
                <a:srgbClr val="942D6D"/>
              </a:solidFill>
            </a:endParaRPr>
          </a:p>
        </p:txBody>
      </p:sp>
      <p:sp>
        <p:nvSpPr>
          <p:cNvPr id="3" name="Text Placeholder 2"/>
          <p:cNvSpPr>
            <a:spLocks noGrp="1"/>
          </p:cNvSpPr>
          <p:nvPr>
            <p:ph type="body" sz="quarter" idx="10"/>
          </p:nvPr>
        </p:nvSpPr>
        <p:spPr>
          <a:xfrm>
            <a:off x="107950" y="1188085"/>
            <a:ext cx="10217150" cy="3815080"/>
          </a:xfrm>
        </p:spPr>
        <p:txBody>
          <a:bodyPr/>
          <a:lstStyle/>
          <a:p>
            <a:pPr>
              <a:buFont typeface="Wingdings" panose="05000000000000000000" pitchFamily="2" charset="2"/>
              <a:buChar char="§"/>
            </a:pPr>
            <a:r>
              <a:rPr lang="en-GB" dirty="0">
                <a:solidFill>
                  <a:schemeClr val="tx1">
                    <a:lumMod val="75000"/>
                    <a:lumOff val="25000"/>
                  </a:schemeClr>
                </a:solidFill>
              </a:rPr>
              <a:t>Generally, with machine learning, the inputs and outputs are used by the computer to generate a program that can be used with future collected data to compute the outputs.</a:t>
            </a:r>
          </a:p>
          <a:p>
            <a:pPr>
              <a:buFont typeface="Wingdings" panose="05000000000000000000" pitchFamily="2" charset="2"/>
              <a:buChar char="§"/>
            </a:pPr>
            <a:r>
              <a:rPr lang="en-GB" dirty="0">
                <a:solidFill>
                  <a:schemeClr val="tx1">
                    <a:lumMod val="75000"/>
                    <a:lumOff val="25000"/>
                  </a:schemeClr>
                </a:solidFill>
              </a:rPr>
              <a:t>There are two categories of knowledge in this realm, Declarative and Imperative Knowledge </a:t>
            </a:r>
          </a:p>
          <a:p>
            <a:pPr lvl="1">
              <a:buFont typeface="Wingdings" panose="05000000000000000000" pitchFamily="2" charset="2"/>
              <a:buChar char="§"/>
            </a:pPr>
            <a:r>
              <a:rPr lang="en-GB" sz="2800" dirty="0">
                <a:solidFill>
                  <a:schemeClr val="tx1">
                    <a:lumMod val="75000"/>
                    <a:lumOff val="25000"/>
                  </a:schemeClr>
                </a:solidFill>
              </a:rPr>
              <a:t>–  </a:t>
            </a:r>
            <a:r>
              <a:rPr lang="en-GB" sz="2800" b="1" i="1" dirty="0">
                <a:solidFill>
                  <a:schemeClr val="tx1">
                    <a:lumMod val="75000"/>
                    <a:lumOff val="25000"/>
                  </a:schemeClr>
                </a:solidFill>
              </a:rPr>
              <a:t>Declarative Knowledge </a:t>
            </a:r>
            <a:r>
              <a:rPr lang="en-GB" sz="2800" dirty="0">
                <a:solidFill>
                  <a:schemeClr val="tx1">
                    <a:lumMod val="75000"/>
                    <a:lumOff val="25000"/>
                  </a:schemeClr>
                </a:solidFill>
              </a:rPr>
              <a:t>is based on the principal of </a:t>
            </a:r>
            <a:r>
              <a:rPr lang="en-GB" sz="2800" b="1" dirty="0">
                <a:solidFill>
                  <a:schemeClr val="tx1">
                    <a:lumMod val="75000"/>
                    <a:lumOff val="25000"/>
                  </a:schemeClr>
                </a:solidFill>
              </a:rPr>
              <a:t>memorization </a:t>
            </a:r>
            <a:r>
              <a:rPr lang="en-GB" sz="2800" dirty="0">
                <a:solidFill>
                  <a:schemeClr val="tx1">
                    <a:lumMod val="75000"/>
                    <a:lumOff val="25000"/>
                  </a:schemeClr>
                </a:solidFill>
              </a:rPr>
              <a:t>(accumulating individual facts); it is limited by the time and memory available </a:t>
            </a:r>
          </a:p>
          <a:p>
            <a:pPr lvl="1">
              <a:buFont typeface="Wingdings" panose="05000000000000000000" pitchFamily="2" charset="2"/>
              <a:buChar char="§"/>
            </a:pPr>
            <a:r>
              <a:rPr lang="en-GB" sz="2800" dirty="0">
                <a:solidFill>
                  <a:schemeClr val="tx1">
                    <a:lumMod val="75000"/>
                    <a:lumOff val="25000"/>
                  </a:schemeClr>
                </a:solidFill>
              </a:rPr>
              <a:t>–  </a:t>
            </a:r>
            <a:r>
              <a:rPr lang="en-GB" sz="2800" b="1" i="1" dirty="0">
                <a:solidFill>
                  <a:schemeClr val="tx1">
                    <a:lumMod val="75000"/>
                    <a:lumOff val="25000"/>
                  </a:schemeClr>
                </a:solidFill>
              </a:rPr>
              <a:t>Imperative Knowledge </a:t>
            </a:r>
            <a:r>
              <a:rPr lang="en-GB" sz="2800" dirty="0">
                <a:solidFill>
                  <a:schemeClr val="tx1">
                    <a:lumMod val="75000"/>
                    <a:lumOff val="25000"/>
                  </a:schemeClr>
                </a:solidFill>
              </a:rPr>
              <a:t>is based on principal of </a:t>
            </a:r>
            <a:r>
              <a:rPr lang="en-GB" sz="2800" b="1" dirty="0">
                <a:solidFill>
                  <a:schemeClr val="tx1">
                    <a:lumMod val="75000"/>
                    <a:lumOff val="25000"/>
                  </a:schemeClr>
                </a:solidFill>
              </a:rPr>
              <a:t>generalisation </a:t>
            </a:r>
            <a:r>
              <a:rPr lang="en-GB" sz="2800" dirty="0">
                <a:solidFill>
                  <a:schemeClr val="tx1">
                    <a:lumMod val="75000"/>
                    <a:lumOff val="25000"/>
                  </a:schemeClr>
                </a:solidFill>
              </a:rPr>
              <a:t>(deducing new facts from old facts); limited by accuracy of deduction process since it is essentially a predictive activity and assumes past trends will allow prediction of the future </a:t>
            </a:r>
          </a:p>
          <a:p>
            <a:endParaRPr lang="en-US" dirty="0">
              <a:solidFill>
                <a:schemeClr val="bg2">
                  <a:lumMod val="25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Use of generalization</a:t>
            </a:r>
            <a:endParaRPr lang="en-US" dirty="0">
              <a:solidFill>
                <a:srgbClr val="942D6D"/>
              </a:solidFill>
            </a:endParaRPr>
          </a:p>
        </p:txBody>
      </p:sp>
      <p:sp>
        <p:nvSpPr>
          <p:cNvPr id="3" name="Text Placeholder 2"/>
          <p:cNvSpPr>
            <a:spLocks noGrp="1"/>
          </p:cNvSpPr>
          <p:nvPr>
            <p:ph type="body" sz="quarter" idx="10"/>
          </p:nvPr>
        </p:nvSpPr>
        <p:spPr>
          <a:xfrm>
            <a:off x="486298" y="1382452"/>
            <a:ext cx="11705702" cy="3815101"/>
          </a:xfrm>
        </p:spPr>
        <p:txBody>
          <a:bodyPr/>
          <a:lstStyle/>
          <a:p>
            <a:r>
              <a:rPr lang="en-GB" dirty="0">
                <a:solidFill>
                  <a:schemeClr val="tx1">
                    <a:lumMod val="75000"/>
                    <a:lumOff val="25000"/>
                  </a:schemeClr>
                </a:solidFill>
              </a:rPr>
              <a:t>Humans use generalisation to learn </a:t>
            </a:r>
          </a:p>
          <a:p>
            <a:r>
              <a:rPr lang="en-GB" dirty="0">
                <a:solidFill>
                  <a:schemeClr val="tx1">
                    <a:lumMod val="75000"/>
                    <a:lumOff val="25000"/>
                  </a:schemeClr>
                </a:solidFill>
              </a:rPr>
              <a:t>When computer scientists speak about machine learning, most often they mean the discipline of writing programs that can automatically learn to </a:t>
            </a:r>
            <a:r>
              <a:rPr lang="en-GB" b="1" dirty="0">
                <a:solidFill>
                  <a:schemeClr val="tx1">
                    <a:lumMod val="75000"/>
                    <a:lumOff val="25000"/>
                  </a:schemeClr>
                </a:solidFill>
              </a:rPr>
              <a:t>make useful inferences </a:t>
            </a:r>
            <a:r>
              <a:rPr lang="en-GB" dirty="0">
                <a:solidFill>
                  <a:schemeClr val="tx1">
                    <a:lumMod val="75000"/>
                    <a:lumOff val="25000"/>
                  </a:schemeClr>
                </a:solidFill>
              </a:rPr>
              <a:t>from </a:t>
            </a:r>
            <a:r>
              <a:rPr lang="en-GB" b="1" dirty="0">
                <a:solidFill>
                  <a:schemeClr val="tx1">
                    <a:lumMod val="75000"/>
                    <a:lumOff val="25000"/>
                  </a:schemeClr>
                </a:solidFill>
              </a:rPr>
              <a:t>implicit patterns </a:t>
            </a:r>
            <a:r>
              <a:rPr lang="en-GB" dirty="0">
                <a:solidFill>
                  <a:schemeClr val="tx1">
                    <a:lumMod val="75000"/>
                    <a:lumOff val="25000"/>
                  </a:schemeClr>
                </a:solidFill>
              </a:rPr>
              <a:t>in data </a:t>
            </a:r>
          </a:p>
          <a:p>
            <a:pPr marL="0" indent="0">
              <a:buNone/>
            </a:pPr>
            <a:r>
              <a:rPr lang="en-GB" dirty="0">
                <a:solidFill>
                  <a:schemeClr val="tx1">
                    <a:lumMod val="75000"/>
                    <a:lumOff val="25000"/>
                  </a:schemeClr>
                </a:solidFill>
              </a:rPr>
              <a:t>	E.g.- linear regression </a:t>
            </a:r>
          </a:p>
          <a:p>
            <a:r>
              <a:rPr lang="en-GB" dirty="0">
                <a:solidFill>
                  <a:schemeClr val="tx1">
                    <a:lumMod val="75000"/>
                    <a:lumOff val="25000"/>
                  </a:schemeClr>
                </a:solidFill>
              </a:rPr>
              <a:t> But.. </a:t>
            </a:r>
          </a:p>
          <a:p>
            <a:r>
              <a:rPr lang="en-GB" dirty="0">
                <a:solidFill>
                  <a:schemeClr val="tx1">
                    <a:lumMod val="75000"/>
                    <a:lumOff val="25000"/>
                  </a:schemeClr>
                </a:solidFill>
              </a:rPr>
              <a:t>A student of political science might observe the behaviour of a large number of politicians and generalise from those observations that all the politicians lie on the campaign trail </a:t>
            </a:r>
          </a:p>
          <a:p>
            <a:endParaRPr lang="en-US" dirty="0">
              <a:solidFill>
                <a:schemeClr val="bg2">
                  <a:lumMod val="25000"/>
                </a:schemeClr>
              </a:solidFill>
            </a:endParaRP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Basic paradigm of ml</a:t>
            </a:r>
            <a:endParaRPr lang="en-US" dirty="0">
              <a:solidFill>
                <a:srgbClr val="942D6D"/>
              </a:solidFill>
            </a:endParaRPr>
          </a:p>
        </p:txBody>
      </p:sp>
      <p:sp>
        <p:nvSpPr>
          <p:cNvPr id="3" name="Text Placeholder 2"/>
          <p:cNvSpPr>
            <a:spLocks noGrp="1"/>
          </p:cNvSpPr>
          <p:nvPr>
            <p:ph type="body" sz="quarter" idx="10"/>
          </p:nvPr>
        </p:nvSpPr>
        <p:spPr>
          <a:xfrm>
            <a:off x="486298" y="1382452"/>
            <a:ext cx="11705702" cy="3815101"/>
          </a:xfrm>
        </p:spPr>
        <p:txBody>
          <a:bodyPr/>
          <a:lstStyle/>
          <a:p>
            <a:r>
              <a:rPr lang="en-GB" dirty="0">
                <a:solidFill>
                  <a:schemeClr val="tx1">
                    <a:lumMod val="75000"/>
                    <a:lumOff val="25000"/>
                  </a:schemeClr>
                </a:solidFill>
              </a:rPr>
              <a:t>Observe a set of examples: </a:t>
            </a:r>
            <a:r>
              <a:rPr lang="en-GB" b="1" dirty="0">
                <a:solidFill>
                  <a:schemeClr val="tx1">
                    <a:lumMod val="75000"/>
                    <a:lumOff val="25000"/>
                  </a:schemeClr>
                </a:solidFill>
              </a:rPr>
              <a:t>Training Data</a:t>
            </a:r>
            <a:br>
              <a:rPr lang="en-GB" b="1" dirty="0">
                <a:solidFill>
                  <a:schemeClr val="tx1">
                    <a:lumMod val="75000"/>
                    <a:lumOff val="25000"/>
                  </a:schemeClr>
                </a:solidFill>
              </a:rPr>
            </a:br>
            <a:r>
              <a:rPr lang="en-GB" b="1" dirty="0">
                <a:solidFill>
                  <a:schemeClr val="tx1">
                    <a:lumMod val="75000"/>
                    <a:lumOff val="25000"/>
                  </a:schemeClr>
                </a:solidFill>
              </a:rPr>
              <a:t>	- </a:t>
            </a:r>
            <a:r>
              <a:rPr lang="en-GB" dirty="0">
                <a:solidFill>
                  <a:schemeClr val="tx1">
                    <a:lumMod val="75000"/>
                    <a:lumOff val="25000"/>
                  </a:schemeClr>
                </a:solidFill>
              </a:rPr>
              <a:t>This set represents an incomplete information about a phenomenon </a:t>
            </a:r>
          </a:p>
          <a:p>
            <a:r>
              <a:rPr lang="en-GB" dirty="0">
                <a:solidFill>
                  <a:schemeClr val="tx1">
                    <a:lumMod val="75000"/>
                    <a:lumOff val="25000"/>
                  </a:schemeClr>
                </a:solidFill>
              </a:rPr>
              <a:t>Use inference to create a model of a process able to “generate” the training data </a:t>
            </a:r>
          </a:p>
          <a:p>
            <a:r>
              <a:rPr lang="en-GB" dirty="0">
                <a:solidFill>
                  <a:schemeClr val="tx1">
                    <a:lumMod val="75000"/>
                    <a:lumOff val="25000"/>
                  </a:schemeClr>
                </a:solidFill>
              </a:rPr>
              <a:t>Use the model to make predications about previously unseen data </a:t>
            </a:r>
          </a:p>
          <a:p>
            <a:r>
              <a:rPr lang="en-GB" dirty="0">
                <a:solidFill>
                  <a:schemeClr val="tx1">
                    <a:lumMod val="75000"/>
                    <a:lumOff val="25000"/>
                  </a:schemeClr>
                </a:solidFill>
              </a:rPr>
              <a:t>Variations of paradigm: </a:t>
            </a:r>
          </a:p>
          <a:p>
            <a:pPr marL="0" indent="0">
              <a:buNone/>
            </a:pPr>
            <a:r>
              <a:rPr lang="en-GB" dirty="0">
                <a:solidFill>
                  <a:schemeClr val="tx1">
                    <a:lumMod val="75000"/>
                    <a:lumOff val="25000"/>
                  </a:schemeClr>
                </a:solidFill>
              </a:rPr>
              <a:t>	- Supervised: find a rule that predicts a label/feature for previously 	unseen data, using a set of label/feature pairs </a:t>
            </a:r>
          </a:p>
          <a:p>
            <a:pPr marL="0" indent="0">
              <a:buNone/>
            </a:pPr>
            <a:r>
              <a:rPr lang="en-GB" dirty="0">
                <a:solidFill>
                  <a:schemeClr val="tx1">
                    <a:lumMod val="75000"/>
                    <a:lumOff val="25000"/>
                  </a:schemeClr>
                </a:solidFill>
              </a:rPr>
              <a:t>	- Unsupervised: group feature vectors (without labels) into natural 		clusters </a:t>
            </a:r>
          </a:p>
          <a:p>
            <a:endParaRPr lang="en-US" dirty="0">
              <a:solidFill>
                <a:schemeClr val="bg2">
                  <a:lumMod val="25000"/>
                </a:schemeClr>
              </a:solidFill>
            </a:endParaRP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GB" dirty="0">
                <a:solidFill>
                  <a:srgbClr val="942D6D"/>
                </a:solidFill>
              </a:rPr>
              <a:t>Is the model learning In the correct way</a:t>
            </a:r>
            <a:endParaRPr lang="en-US" dirty="0">
              <a:solidFill>
                <a:srgbClr val="942D6D"/>
              </a:solidFill>
            </a:endParaRPr>
          </a:p>
        </p:txBody>
      </p:sp>
      <p:sp>
        <p:nvSpPr>
          <p:cNvPr id="3" name="Text Placeholder 2"/>
          <p:cNvSpPr>
            <a:spLocks noGrp="1"/>
          </p:cNvSpPr>
          <p:nvPr>
            <p:ph type="body" sz="quarter" idx="10"/>
          </p:nvPr>
        </p:nvSpPr>
        <p:spPr>
          <a:xfrm>
            <a:off x="486298" y="1382452"/>
            <a:ext cx="11705702" cy="3815101"/>
          </a:xfrm>
        </p:spPr>
        <p:txBody>
          <a:bodyPr/>
          <a:lstStyle/>
          <a:p>
            <a:r>
              <a:rPr lang="en-GB" dirty="0">
                <a:solidFill>
                  <a:schemeClr val="tx1">
                    <a:lumMod val="75000"/>
                    <a:lumOff val="25000"/>
                  </a:schemeClr>
                </a:solidFill>
              </a:rPr>
              <a:t>Every machine learning approach has at least the 3 following components: </a:t>
            </a:r>
          </a:p>
          <a:p>
            <a:pPr marL="0" indent="0">
              <a:buNone/>
            </a:pPr>
            <a:r>
              <a:rPr lang="en-GB" dirty="0">
                <a:solidFill>
                  <a:schemeClr val="tx1">
                    <a:lumMod val="75000"/>
                    <a:lumOff val="25000"/>
                  </a:schemeClr>
                </a:solidFill>
              </a:rPr>
              <a:t>	- A model </a:t>
            </a:r>
          </a:p>
          <a:p>
            <a:pPr marL="0" indent="0">
              <a:buNone/>
            </a:pPr>
            <a:r>
              <a:rPr lang="en-GB" dirty="0">
                <a:solidFill>
                  <a:schemeClr val="tx1">
                    <a:lumMod val="75000"/>
                    <a:lumOff val="25000"/>
                  </a:schemeClr>
                </a:solidFill>
              </a:rPr>
              <a:t>	- An objective function for assessing the quality of the model </a:t>
            </a:r>
          </a:p>
          <a:p>
            <a:pPr marL="0" indent="0">
              <a:buNone/>
            </a:pPr>
            <a:r>
              <a:rPr lang="en-GB" dirty="0">
                <a:solidFill>
                  <a:schemeClr val="tx1">
                    <a:lumMod val="75000"/>
                    <a:lumOff val="25000"/>
                  </a:schemeClr>
                </a:solidFill>
              </a:rPr>
              <a:t>	- An optimization method for enhancing the model 	  	   	(minimizing or maximizing the objective function) </a:t>
            </a:r>
          </a:p>
          <a:p>
            <a:r>
              <a:rPr lang="en-GB" dirty="0">
                <a:solidFill>
                  <a:schemeClr val="tx1">
                    <a:lumMod val="75000"/>
                    <a:lumOff val="25000"/>
                  </a:schemeClr>
                </a:solidFill>
              </a:rPr>
              <a:t> Also, we need to have a metric (quantifiable measure) to compare the models! </a:t>
            </a:r>
          </a:p>
          <a:p>
            <a:endParaRPr lang="en-US" dirty="0">
              <a:solidFill>
                <a:schemeClr val="bg2">
                  <a:lumMod val="25000"/>
                </a:schemeClr>
              </a:solidFill>
            </a:endParaRP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US" dirty="0">
                <a:solidFill>
                  <a:srgbClr val="942D6D"/>
                </a:solidFill>
              </a:rPr>
              <a:t>Online resources</a:t>
            </a: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8" name="Rectangle 7"/>
          <p:cNvSpPr/>
          <p:nvPr/>
        </p:nvSpPr>
        <p:spPr>
          <a:xfrm>
            <a:off x="3648086" y="3244334"/>
            <a:ext cx="4948727" cy="369332"/>
          </a:xfrm>
          <a:prstGeom prst="rect">
            <a:avLst/>
          </a:prstGeom>
        </p:spPr>
        <p:txBody>
          <a:bodyPr wrap="none">
            <a:spAutoFit/>
          </a:bodyPr>
          <a:lstStyle/>
          <a:p>
            <a:r>
              <a:rPr lang="en-GB" dirty="0">
                <a:hlinkClick r:id="rId3"/>
              </a:rPr>
              <a:t>https://www.youtube.com/watch?v=olFxW7kdtP8</a:t>
            </a:r>
            <a:r>
              <a:rPr lang="en-GB" dirty="0"/>
              <a:t> </a:t>
            </a:r>
          </a:p>
        </p:txBody>
      </p:sp>
      <p:sp>
        <p:nvSpPr>
          <p:cNvPr id="9" name="Rectangle 8"/>
          <p:cNvSpPr/>
          <p:nvPr/>
        </p:nvSpPr>
        <p:spPr>
          <a:xfrm>
            <a:off x="3571270" y="4036814"/>
            <a:ext cx="5078442" cy="369332"/>
          </a:xfrm>
          <a:prstGeom prst="rect">
            <a:avLst/>
          </a:prstGeom>
        </p:spPr>
        <p:txBody>
          <a:bodyPr wrap="none">
            <a:spAutoFit/>
          </a:bodyPr>
          <a:lstStyle/>
          <a:p>
            <a:r>
              <a:rPr lang="en-GB" dirty="0">
                <a:hlinkClick r:id="rId4"/>
              </a:rPr>
              <a:t>https://www.youtube.com/watch?v=iUUSamG4P80</a:t>
            </a:r>
            <a:r>
              <a:rPr lang="en-GB" dirty="0"/>
              <a:t> </a:t>
            </a:r>
          </a:p>
        </p:txBody>
      </p:sp>
      <p:sp>
        <p:nvSpPr>
          <p:cNvPr id="10" name="Rectangle 9"/>
          <p:cNvSpPr/>
          <p:nvPr/>
        </p:nvSpPr>
        <p:spPr>
          <a:xfrm>
            <a:off x="3571270" y="4829294"/>
            <a:ext cx="4914230" cy="369332"/>
          </a:xfrm>
          <a:prstGeom prst="rect">
            <a:avLst/>
          </a:prstGeom>
        </p:spPr>
        <p:txBody>
          <a:bodyPr wrap="none">
            <a:spAutoFit/>
          </a:bodyPr>
          <a:lstStyle/>
          <a:p>
            <a:r>
              <a:rPr lang="en-GB" dirty="0">
                <a:hlinkClick r:id="rId5"/>
              </a:rPr>
              <a:t>https://www.youtube.com/watch?v=rADYARpj-V8</a:t>
            </a:r>
            <a:r>
              <a:rPr lang="en-GB" dirty="0"/>
              <a:t> </a:t>
            </a:r>
          </a:p>
        </p:txBody>
      </p:sp>
      <p:sp>
        <p:nvSpPr>
          <p:cNvPr id="11" name="Rectangle 10"/>
          <p:cNvSpPr/>
          <p:nvPr/>
        </p:nvSpPr>
        <p:spPr>
          <a:xfrm>
            <a:off x="3571270" y="5437108"/>
            <a:ext cx="4763099" cy="369332"/>
          </a:xfrm>
          <a:prstGeom prst="rect">
            <a:avLst/>
          </a:prstGeom>
        </p:spPr>
        <p:txBody>
          <a:bodyPr wrap="none">
            <a:spAutoFit/>
          </a:bodyPr>
          <a:lstStyle/>
          <a:p>
            <a:r>
              <a:rPr lang="en-GB" dirty="0">
                <a:hlinkClick r:id="rId6"/>
              </a:rPr>
              <a:t>https://www.youtube.com/watch?v=IzcX9bTJLj8</a:t>
            </a:r>
            <a:r>
              <a:rPr lang="en-GB" dirty="0"/>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US" dirty="0">
                <a:solidFill>
                  <a:srgbClr val="942D6D"/>
                </a:solidFill>
              </a:rPr>
              <a:t>Limitations of ML</a:t>
            </a: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3" name="Picture 2"/>
          <p:cNvPicPr>
            <a:picLocks noChangeAspect="1" noChangeArrowheads="1"/>
          </p:cNvPicPr>
          <p:nvPr/>
        </p:nvPicPr>
        <p:blipFill rotWithShape="1">
          <a:blip r:embed="rId3"/>
          <a:srcRect l="-98" t="22411"/>
          <a:stretch>
            <a:fillRect/>
          </a:stretch>
        </p:blipFill>
        <p:spPr bwMode="auto">
          <a:xfrm>
            <a:off x="1357111" y="1534778"/>
            <a:ext cx="9477778" cy="4114055"/>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US" dirty="0">
                <a:solidFill>
                  <a:srgbClr val="942D6D"/>
                </a:solidFill>
              </a:rPr>
              <a:t>Deep Learning (DL) to the rescue</a:t>
            </a: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7" name="Picture 6"/>
          <p:cNvPicPr>
            <a:picLocks noChangeAspect="1" noChangeArrowheads="1"/>
          </p:cNvPicPr>
          <p:nvPr/>
        </p:nvPicPr>
        <p:blipFill>
          <a:blip r:embed="rId3"/>
          <a:srcRect l="-618" t="23902"/>
          <a:stretch>
            <a:fillRect/>
          </a:stretch>
        </p:blipFill>
        <p:spPr bwMode="auto">
          <a:xfrm>
            <a:off x="489585" y="1328420"/>
            <a:ext cx="10158730" cy="4180205"/>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US" dirty="0">
                <a:solidFill>
                  <a:srgbClr val="942D6D"/>
                </a:solidFill>
              </a:rPr>
              <a:t>What is Deep Learning (An example)</a:t>
            </a: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3" name="Content Placeholder 3"/>
          <p:cNvPicPr>
            <a:picLocks noGrp="1" noChangeAspect="1"/>
          </p:cNvPicPr>
          <p:nvPr/>
        </p:nvPicPr>
        <p:blipFill>
          <a:blip r:embed="rId3"/>
          <a:srcRect t="17595"/>
          <a:stretch>
            <a:fillRect/>
          </a:stretch>
        </p:blipFill>
        <p:spPr bwMode="auto">
          <a:xfrm>
            <a:off x="1795456" y="1442454"/>
            <a:ext cx="8601087" cy="4255746"/>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US" dirty="0">
                <a:solidFill>
                  <a:srgbClr val="942D6D"/>
                </a:solidFill>
              </a:rPr>
              <a:t>Difference between DL and ML</a:t>
            </a: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7" name="Picture 6"/>
          <p:cNvPicPr>
            <a:picLocks noChangeAspect="1" noChangeArrowheads="1"/>
          </p:cNvPicPr>
          <p:nvPr/>
        </p:nvPicPr>
        <p:blipFill>
          <a:blip r:embed="rId3"/>
          <a:srcRect/>
          <a:stretch>
            <a:fillRect/>
          </a:stretch>
        </p:blipFill>
        <p:spPr bwMode="auto">
          <a:xfrm>
            <a:off x="2264864" y="1421295"/>
            <a:ext cx="7662271" cy="4298064"/>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US" dirty="0">
                <a:solidFill>
                  <a:srgbClr val="942D6D"/>
                </a:solidFill>
              </a:rPr>
              <a:t>Processing DL with CPU vs GPU</a:t>
            </a: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3" name="TextBox 2"/>
          <p:cNvSpPr txBox="1"/>
          <p:nvPr/>
        </p:nvSpPr>
        <p:spPr>
          <a:xfrm>
            <a:off x="629500" y="1507838"/>
            <a:ext cx="11013205" cy="646331"/>
          </a:xfrm>
          <a:prstGeom prst="rect">
            <a:avLst/>
          </a:prstGeom>
          <a:noFill/>
        </p:spPr>
        <p:txBody>
          <a:bodyPr wrap="square" rtlCol="0">
            <a:spAutoFit/>
          </a:bodyPr>
          <a:lstStyle/>
          <a:p>
            <a:r>
              <a:rPr lang="en-US" dirty="0"/>
              <a:t>Deep Learning can run on CPUs, but GPUs are far more efficient because they perform many parallel computations at once, significantly speeding up training for large neural networks.</a:t>
            </a:r>
            <a:endParaRPr lang="en-GB" dirty="0"/>
          </a:p>
        </p:txBody>
      </p:sp>
      <p:pic>
        <p:nvPicPr>
          <p:cNvPr id="8" name="Picture 7"/>
          <p:cNvPicPr>
            <a:picLocks noChangeAspect="1" noChangeArrowheads="1"/>
          </p:cNvPicPr>
          <p:nvPr/>
        </p:nvPicPr>
        <p:blipFill>
          <a:blip r:embed="rId3"/>
          <a:srcRect l="11052" t="23722" r="10897" b="4056"/>
          <a:stretch>
            <a:fillRect/>
          </a:stretch>
        </p:blipFill>
        <p:spPr bwMode="auto">
          <a:xfrm>
            <a:off x="2900510" y="2322010"/>
            <a:ext cx="6390979" cy="3326823"/>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US" dirty="0">
                <a:solidFill>
                  <a:srgbClr val="942D6D"/>
                </a:solidFill>
              </a:rPr>
              <a:t>Deep Learning</a:t>
            </a: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3" name="Picture 2"/>
          <p:cNvPicPr>
            <a:picLocks noChangeAspect="1" noChangeArrowheads="1"/>
          </p:cNvPicPr>
          <p:nvPr/>
        </p:nvPicPr>
        <p:blipFill>
          <a:blip r:embed="rId3"/>
          <a:srcRect l="3026" t="40000" r="3269" b="29268"/>
          <a:stretch>
            <a:fillRect/>
          </a:stretch>
        </p:blipFill>
        <p:spPr bwMode="auto">
          <a:xfrm>
            <a:off x="629500" y="1839950"/>
            <a:ext cx="9873559" cy="1817649"/>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US" dirty="0">
                <a:solidFill>
                  <a:srgbClr val="942D6D"/>
                </a:solidFill>
              </a:rPr>
              <a:t>Structure of biological Neuron</a:t>
            </a: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7" name="Picture 6"/>
          <p:cNvPicPr/>
          <p:nvPr/>
        </p:nvPicPr>
        <p:blipFill rotWithShape="1">
          <a:blip r:embed="rId3"/>
          <a:srcRect l="383" r="13840" b="1"/>
          <a:stretch>
            <a:fillRect/>
          </a:stretch>
        </p:blipFill>
        <p:spPr bwMode="auto">
          <a:xfrm>
            <a:off x="2718195" y="1726636"/>
            <a:ext cx="6755609" cy="3404727"/>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US" dirty="0">
                <a:solidFill>
                  <a:srgbClr val="942D6D"/>
                </a:solidFill>
              </a:rPr>
              <a:t>Structure of biological Neuron</a:t>
            </a: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3" name="Content Placeholder 3"/>
          <p:cNvPicPr>
            <a:picLocks noGrp="1" noChangeAspect="1"/>
          </p:cNvPicPr>
          <p:nvPr/>
        </p:nvPicPr>
        <p:blipFill>
          <a:blip r:embed="rId3"/>
          <a:srcRect/>
          <a:stretch>
            <a:fillRect/>
          </a:stretch>
        </p:blipFill>
        <p:spPr bwMode="auto">
          <a:xfrm>
            <a:off x="803962" y="1346061"/>
            <a:ext cx="10584075" cy="931142"/>
          </a:xfrm>
          <a:prstGeom prst="rect">
            <a:avLst/>
          </a:prstGeom>
          <a:noFill/>
          <a:ln w="9525">
            <a:noFill/>
            <a:miter lim="800000"/>
            <a:headEnd/>
            <a:tailEnd/>
          </a:ln>
        </p:spPr>
      </p:pic>
      <p:pic>
        <p:nvPicPr>
          <p:cNvPr id="8" name="Picture 7"/>
          <p:cNvPicPr>
            <a:picLocks noChangeAspect="1"/>
          </p:cNvPicPr>
          <p:nvPr/>
        </p:nvPicPr>
        <p:blipFill>
          <a:blip r:embed="rId4"/>
          <a:srcRect/>
          <a:stretch>
            <a:fillRect/>
          </a:stretch>
        </p:blipFill>
        <p:spPr bwMode="auto">
          <a:xfrm>
            <a:off x="2532032" y="2277203"/>
            <a:ext cx="7127934" cy="335644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US" dirty="0">
                <a:solidFill>
                  <a:srgbClr val="942D6D"/>
                </a:solidFill>
              </a:rPr>
              <a:t>Artificial Neuron in DL</a:t>
            </a: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3" name="Picture 2"/>
          <p:cNvPicPr>
            <a:picLocks noChangeAspect="1" noChangeArrowheads="1"/>
          </p:cNvPicPr>
          <p:nvPr/>
        </p:nvPicPr>
        <p:blipFill>
          <a:blip r:embed="rId3"/>
          <a:srcRect/>
          <a:stretch>
            <a:fillRect/>
          </a:stretch>
        </p:blipFill>
        <p:spPr bwMode="auto">
          <a:xfrm>
            <a:off x="823807" y="1421296"/>
            <a:ext cx="10544386" cy="4035812"/>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US" dirty="0">
                <a:solidFill>
                  <a:srgbClr val="942D6D"/>
                </a:solidFill>
              </a:rPr>
              <a:t>Some use cases of DL</a:t>
            </a: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7" name="Picture 6"/>
          <p:cNvPicPr>
            <a:picLocks noChangeAspect="1" noChangeArrowheads="1"/>
          </p:cNvPicPr>
          <p:nvPr/>
        </p:nvPicPr>
        <p:blipFill>
          <a:blip r:embed="rId3"/>
          <a:srcRect l="15452" t="21372" r="15604" b="12358"/>
          <a:stretch>
            <a:fillRect/>
          </a:stretch>
        </p:blipFill>
        <p:spPr bwMode="auto">
          <a:xfrm>
            <a:off x="2164400" y="1666361"/>
            <a:ext cx="7863200" cy="4213334"/>
          </a:xfrm>
          <a:prstGeom prst="rect">
            <a:avLst/>
          </a:prstGeom>
          <a:noFill/>
          <a:ln w="9525">
            <a:noFill/>
            <a:miter lim="800000"/>
            <a:headEnd/>
            <a:tailEnd/>
          </a:ln>
          <a:effectLst/>
        </p:spPr>
      </p:pic>
      <p:sp>
        <p:nvSpPr>
          <p:cNvPr id="8" name="TextBox 7"/>
          <p:cNvSpPr txBox="1"/>
          <p:nvPr/>
        </p:nvSpPr>
        <p:spPr>
          <a:xfrm>
            <a:off x="758282" y="1280973"/>
            <a:ext cx="3738011" cy="369332"/>
          </a:xfrm>
          <a:prstGeom prst="rect">
            <a:avLst/>
          </a:prstGeom>
          <a:noFill/>
        </p:spPr>
        <p:txBody>
          <a:bodyPr wrap="none" rtlCol="0">
            <a:spAutoFit/>
          </a:bodyPr>
          <a:lstStyle/>
          <a:p>
            <a:r>
              <a:rPr lang="en-GB" b="1" dirty="0"/>
              <a:t>Automatic Image Caption Generation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US" dirty="0">
                <a:solidFill>
                  <a:srgbClr val="942D6D"/>
                </a:solidFill>
              </a:rPr>
              <a:t>Some use cases of DL</a:t>
            </a: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7" name="Picture 6"/>
          <p:cNvPicPr>
            <a:picLocks noChangeAspect="1" noChangeArrowheads="1"/>
          </p:cNvPicPr>
          <p:nvPr/>
        </p:nvPicPr>
        <p:blipFill rotWithShape="1">
          <a:blip r:embed="rId3"/>
          <a:srcRect l="13294" t="20724" r="12432" b="19675"/>
          <a:stretch>
            <a:fillRect/>
          </a:stretch>
        </p:blipFill>
        <p:spPr bwMode="auto">
          <a:xfrm>
            <a:off x="2406756" y="1967706"/>
            <a:ext cx="7378487" cy="3315702"/>
          </a:xfrm>
          <a:prstGeom prst="rect">
            <a:avLst/>
          </a:prstGeom>
          <a:noFill/>
        </p:spPr>
      </p:pic>
      <p:sp>
        <p:nvSpPr>
          <p:cNvPr id="8" name="TextBox 7"/>
          <p:cNvSpPr txBox="1"/>
          <p:nvPr/>
        </p:nvSpPr>
        <p:spPr>
          <a:xfrm>
            <a:off x="758282" y="1280973"/>
            <a:ext cx="3544240" cy="369332"/>
          </a:xfrm>
          <a:prstGeom prst="rect">
            <a:avLst/>
          </a:prstGeom>
          <a:noFill/>
        </p:spPr>
        <p:txBody>
          <a:bodyPr wrap="none" rtlCol="0">
            <a:spAutoFit/>
          </a:bodyPr>
          <a:lstStyle/>
          <a:p>
            <a:r>
              <a:rPr lang="en-GB" b="1" dirty="0"/>
              <a:t>Automatic Handwriting Generation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US" dirty="0">
                <a:solidFill>
                  <a:srgbClr val="942D6D"/>
                </a:solidFill>
              </a:rPr>
              <a:t>Some use cases of DL</a:t>
            </a: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8" name="TextBox 7"/>
          <p:cNvSpPr txBox="1"/>
          <p:nvPr/>
        </p:nvSpPr>
        <p:spPr>
          <a:xfrm>
            <a:off x="758282" y="1280973"/>
            <a:ext cx="1479444" cy="369332"/>
          </a:xfrm>
          <a:prstGeom prst="rect">
            <a:avLst/>
          </a:prstGeom>
          <a:noFill/>
        </p:spPr>
        <p:txBody>
          <a:bodyPr wrap="none" rtlCol="0">
            <a:spAutoFit/>
          </a:bodyPr>
          <a:lstStyle/>
          <a:p>
            <a:r>
              <a:rPr lang="en-GB" b="1" dirty="0"/>
              <a:t>Style Transfer</a:t>
            </a:r>
          </a:p>
        </p:txBody>
      </p:sp>
      <p:pic>
        <p:nvPicPr>
          <p:cNvPr id="3" name="Picture 2"/>
          <p:cNvPicPr>
            <a:picLocks noChangeAspect="1" noChangeArrowheads="1"/>
          </p:cNvPicPr>
          <p:nvPr/>
        </p:nvPicPr>
        <p:blipFill>
          <a:blip r:embed="rId3"/>
          <a:srcRect/>
          <a:stretch>
            <a:fillRect/>
          </a:stretch>
        </p:blipFill>
        <p:spPr bwMode="auto">
          <a:xfrm>
            <a:off x="1899970" y="1717870"/>
            <a:ext cx="8392059" cy="3823409"/>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US" dirty="0">
                <a:solidFill>
                  <a:srgbClr val="942D6D"/>
                </a:solidFill>
              </a:rPr>
              <a:t>Introduction to Artificial Neural Network (ANN)</a:t>
            </a: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7" name="object 3"/>
          <p:cNvPicPr/>
          <p:nvPr/>
        </p:nvPicPr>
        <p:blipFill>
          <a:blip r:embed="rId3" cstate="print"/>
          <a:stretch>
            <a:fillRect/>
          </a:stretch>
        </p:blipFill>
        <p:spPr>
          <a:xfrm>
            <a:off x="1360449" y="1328746"/>
            <a:ext cx="9471101" cy="429806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US" dirty="0">
                <a:solidFill>
                  <a:srgbClr val="942D6D"/>
                </a:solidFill>
              </a:rPr>
              <a:t>Deep Neural Network in DL</a:t>
            </a: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pic>
        <p:nvPicPr>
          <p:cNvPr id="3" name="object 3"/>
          <p:cNvPicPr/>
          <p:nvPr/>
        </p:nvPicPr>
        <p:blipFill>
          <a:blip r:embed="rId3" cstate="print"/>
          <a:stretch>
            <a:fillRect/>
          </a:stretch>
        </p:blipFill>
        <p:spPr>
          <a:xfrm>
            <a:off x="1531864" y="2176692"/>
            <a:ext cx="8577092" cy="3738134"/>
          </a:xfrm>
          <a:prstGeom prst="rect">
            <a:avLst/>
          </a:prstGeom>
        </p:spPr>
      </p:pic>
      <p:sp>
        <p:nvSpPr>
          <p:cNvPr id="8" name="TextBox 7"/>
          <p:cNvSpPr txBox="1"/>
          <p:nvPr/>
        </p:nvSpPr>
        <p:spPr>
          <a:xfrm>
            <a:off x="629500" y="1346061"/>
            <a:ext cx="10622080" cy="830997"/>
          </a:xfrm>
          <a:prstGeom prst="rect">
            <a:avLst/>
          </a:prstGeom>
          <a:noFill/>
        </p:spPr>
        <p:txBody>
          <a:bodyPr wrap="square" rtlCol="0">
            <a:spAutoFit/>
          </a:bodyPr>
          <a:lstStyle/>
          <a:p>
            <a:pPr marL="285750" indent="-285750">
              <a:buFont typeface="Arial" panose="020B0604020202020204" pitchFamily="34" charset="0"/>
              <a:buChar char="•"/>
            </a:pPr>
            <a:r>
              <a:rPr lang="en-GB" sz="1600" dirty="0"/>
              <a:t>When </a:t>
            </a:r>
            <a:r>
              <a:rPr lang="en-US" sz="1600" b="1" dirty="0"/>
              <a:t>artificial neural networks</a:t>
            </a:r>
            <a:r>
              <a:rPr lang="en-US" sz="1600" dirty="0"/>
              <a:t> (ANN) has multiple hidden layers (hence called "deep"), it forms the basis for Deep Neural Network (DNN).</a:t>
            </a:r>
          </a:p>
          <a:p>
            <a:pPr marL="285750" indent="-285750">
              <a:buFont typeface="Arial" panose="020B0604020202020204" pitchFamily="34" charset="0"/>
              <a:buChar char="•"/>
            </a:pPr>
            <a:r>
              <a:rPr lang="en-US" sz="1600" dirty="0"/>
              <a:t>The field where DNN is used is called </a:t>
            </a:r>
            <a:r>
              <a:rPr lang="en-US" sz="1600" b="1" dirty="0"/>
              <a:t>Deep Learning</a:t>
            </a:r>
            <a:r>
              <a:rPr lang="en-US" sz="1600" dirty="0"/>
              <a:t>.</a:t>
            </a:r>
            <a:endParaRPr lang="en-GB"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nvSpPr>
        <p:spPr>
          <a:xfrm>
            <a:off x="4030629" y="102267"/>
            <a:ext cx="5382260" cy="696595"/>
          </a:xfrm>
          <a:prstGeom prst="rect">
            <a:avLst/>
          </a:prstGeom>
        </p:spPr>
        <p:txBody>
          <a:bodyPr vert="horz" wrap="square" lIns="0" tIns="12700" rIns="0" bIns="0" rtlCol="0">
            <a:spAutoFit/>
          </a:bodyPr>
          <a:lstStyle>
            <a:lvl1pPr>
              <a:defRPr sz="4400" b="0" i="0">
                <a:solidFill>
                  <a:schemeClr val="tx1"/>
                </a:solidFill>
                <a:latin typeface="Calibri Light" panose="020F0302020204030204"/>
                <a:ea typeface="+mj-ea"/>
                <a:cs typeface="Calibri Light" panose="020F0302020204030204"/>
              </a:defRPr>
            </a:lvl1pPr>
          </a:lstStyle>
          <a:p>
            <a:pPr marL="12700">
              <a:lnSpc>
                <a:spcPct val="100000"/>
              </a:lnSpc>
              <a:spcBef>
                <a:spcPts val="100"/>
              </a:spcBef>
            </a:pPr>
            <a:r>
              <a:rPr spc="-20" dirty="0"/>
              <a:t>First</a:t>
            </a:r>
            <a:r>
              <a:rPr spc="-220" dirty="0"/>
              <a:t> </a:t>
            </a:r>
            <a:r>
              <a:rPr dirty="0"/>
              <a:t>Steps:</a:t>
            </a:r>
            <a:r>
              <a:rPr spc="-170" dirty="0"/>
              <a:t> </a:t>
            </a:r>
            <a:r>
              <a:rPr b="1" dirty="0">
                <a:latin typeface="Calibri" panose="020F0502020204030204"/>
                <a:cs typeface="Calibri" panose="020F0502020204030204"/>
              </a:rPr>
              <a:t>Start</a:t>
            </a:r>
            <a:r>
              <a:rPr b="1" spc="-150" dirty="0">
                <a:latin typeface="Calibri" panose="020F0502020204030204"/>
                <a:cs typeface="Calibri" panose="020F0502020204030204"/>
              </a:rPr>
              <a:t> </a:t>
            </a:r>
            <a:r>
              <a:rPr b="1" spc="-10" dirty="0">
                <a:latin typeface="Calibri" panose="020F0502020204030204"/>
                <a:cs typeface="Calibri" panose="020F0502020204030204"/>
              </a:rPr>
              <a:t>Simple</a:t>
            </a:r>
          </a:p>
        </p:txBody>
      </p:sp>
      <p:pic>
        <p:nvPicPr>
          <p:cNvPr id="3" name="object 3"/>
          <p:cNvPicPr/>
          <p:nvPr/>
        </p:nvPicPr>
        <p:blipFill>
          <a:blip r:embed="rId2" cstate="print"/>
          <a:stretch>
            <a:fillRect/>
          </a:stretch>
        </p:blipFill>
        <p:spPr>
          <a:xfrm>
            <a:off x="366426" y="869663"/>
            <a:ext cx="3350260" cy="1866900"/>
          </a:xfrm>
          <a:prstGeom prst="rect">
            <a:avLst/>
          </a:prstGeom>
        </p:spPr>
      </p:pic>
      <p:grpSp>
        <p:nvGrpSpPr>
          <p:cNvPr id="4" name="object 4"/>
          <p:cNvGrpSpPr/>
          <p:nvPr/>
        </p:nvGrpSpPr>
        <p:grpSpPr>
          <a:xfrm>
            <a:off x="4026566" y="824738"/>
            <a:ext cx="5186680" cy="4544060"/>
            <a:chOff x="5278120" y="980439"/>
            <a:chExt cx="5186680" cy="4544060"/>
          </a:xfrm>
        </p:grpSpPr>
        <p:pic>
          <p:nvPicPr>
            <p:cNvPr id="31" name="object 5"/>
            <p:cNvPicPr/>
            <p:nvPr/>
          </p:nvPicPr>
          <p:blipFill>
            <a:blip r:embed="rId3" cstate="print"/>
            <a:stretch>
              <a:fillRect/>
            </a:stretch>
          </p:blipFill>
          <p:spPr>
            <a:xfrm>
              <a:off x="5781040" y="980439"/>
              <a:ext cx="4683760" cy="4544060"/>
            </a:xfrm>
            <a:prstGeom prst="rect">
              <a:avLst/>
            </a:prstGeom>
          </p:spPr>
        </p:pic>
        <p:sp>
          <p:nvSpPr>
            <p:cNvPr id="32" name="object 6"/>
            <p:cNvSpPr/>
            <p:nvPr/>
          </p:nvSpPr>
          <p:spPr>
            <a:xfrm>
              <a:off x="5278120" y="1071879"/>
              <a:ext cx="454659" cy="452120"/>
            </a:xfrm>
            <a:custGeom>
              <a:avLst/>
              <a:gdLst/>
              <a:ahLst/>
              <a:cxnLst/>
              <a:rect l="l" t="t" r="r" b="b"/>
              <a:pathLst>
                <a:path w="454660" h="452119">
                  <a:moveTo>
                    <a:pt x="227202" y="0"/>
                  </a:moveTo>
                  <a:lnTo>
                    <a:pt x="181482" y="4572"/>
                  </a:lnTo>
                  <a:lnTo>
                    <a:pt x="138810" y="17780"/>
                  </a:lnTo>
                  <a:lnTo>
                    <a:pt x="100202" y="38608"/>
                  </a:lnTo>
                  <a:lnTo>
                    <a:pt x="66547" y="66167"/>
                  </a:lnTo>
                  <a:lnTo>
                    <a:pt x="38862" y="99695"/>
                  </a:lnTo>
                  <a:lnTo>
                    <a:pt x="17906" y="138049"/>
                  </a:lnTo>
                  <a:lnTo>
                    <a:pt x="4571" y="180467"/>
                  </a:lnTo>
                  <a:lnTo>
                    <a:pt x="0" y="225933"/>
                  </a:lnTo>
                  <a:lnTo>
                    <a:pt x="4571" y="271525"/>
                  </a:lnTo>
                  <a:lnTo>
                    <a:pt x="17906" y="313944"/>
                  </a:lnTo>
                  <a:lnTo>
                    <a:pt x="38862" y="352298"/>
                  </a:lnTo>
                  <a:lnTo>
                    <a:pt x="66547" y="385825"/>
                  </a:lnTo>
                  <a:lnTo>
                    <a:pt x="100202" y="413385"/>
                  </a:lnTo>
                  <a:lnTo>
                    <a:pt x="138810" y="434213"/>
                  </a:lnTo>
                  <a:lnTo>
                    <a:pt x="181482" y="447421"/>
                  </a:lnTo>
                  <a:lnTo>
                    <a:pt x="227202" y="451993"/>
                  </a:lnTo>
                  <a:lnTo>
                    <a:pt x="273050" y="447421"/>
                  </a:lnTo>
                  <a:lnTo>
                    <a:pt x="315721" y="434213"/>
                  </a:lnTo>
                  <a:lnTo>
                    <a:pt x="354329" y="413385"/>
                  </a:lnTo>
                  <a:lnTo>
                    <a:pt x="387984" y="385825"/>
                  </a:lnTo>
                  <a:lnTo>
                    <a:pt x="415670" y="352298"/>
                  </a:lnTo>
                  <a:lnTo>
                    <a:pt x="436625" y="313944"/>
                  </a:lnTo>
                  <a:lnTo>
                    <a:pt x="449960" y="271525"/>
                  </a:lnTo>
                  <a:lnTo>
                    <a:pt x="454532" y="225933"/>
                  </a:lnTo>
                  <a:lnTo>
                    <a:pt x="449960" y="180467"/>
                  </a:lnTo>
                  <a:lnTo>
                    <a:pt x="436625" y="138049"/>
                  </a:lnTo>
                  <a:lnTo>
                    <a:pt x="415670" y="99695"/>
                  </a:lnTo>
                  <a:lnTo>
                    <a:pt x="387984" y="66167"/>
                  </a:lnTo>
                  <a:lnTo>
                    <a:pt x="354329" y="38608"/>
                  </a:lnTo>
                  <a:lnTo>
                    <a:pt x="315721" y="17780"/>
                  </a:lnTo>
                  <a:lnTo>
                    <a:pt x="273050" y="4572"/>
                  </a:lnTo>
                  <a:lnTo>
                    <a:pt x="227202" y="0"/>
                  </a:lnTo>
                  <a:close/>
                </a:path>
              </a:pathLst>
            </a:custGeom>
            <a:solidFill>
              <a:srgbClr val="000000"/>
            </a:solidFill>
          </p:spPr>
          <p:txBody>
            <a:bodyPr wrap="square" lIns="0" tIns="0" rIns="0" bIns="0" rtlCol="0"/>
            <a:lstStyle>
              <a:defPPr>
                <a:defRPr kern="0"/>
              </a:defPPr>
            </a:lstStyle>
            <a:p>
              <a:endParaRPr/>
            </a:p>
          </p:txBody>
        </p:sp>
        <p:sp>
          <p:nvSpPr>
            <p:cNvPr id="33" name="object 7"/>
            <p:cNvSpPr/>
            <p:nvPr/>
          </p:nvSpPr>
          <p:spPr>
            <a:xfrm>
              <a:off x="5279390" y="1073149"/>
              <a:ext cx="454659" cy="452120"/>
            </a:xfrm>
            <a:custGeom>
              <a:avLst/>
              <a:gdLst/>
              <a:ahLst/>
              <a:cxnLst/>
              <a:rect l="l" t="t" r="r" b="b"/>
              <a:pathLst>
                <a:path w="454660" h="452119">
                  <a:moveTo>
                    <a:pt x="0" y="225933"/>
                  </a:moveTo>
                  <a:lnTo>
                    <a:pt x="4572" y="180466"/>
                  </a:lnTo>
                  <a:lnTo>
                    <a:pt x="17907" y="138049"/>
                  </a:lnTo>
                  <a:lnTo>
                    <a:pt x="38862" y="99695"/>
                  </a:lnTo>
                  <a:lnTo>
                    <a:pt x="66548" y="66166"/>
                  </a:lnTo>
                  <a:lnTo>
                    <a:pt x="100202" y="38608"/>
                  </a:lnTo>
                  <a:lnTo>
                    <a:pt x="138811" y="17779"/>
                  </a:lnTo>
                  <a:lnTo>
                    <a:pt x="181483" y="4572"/>
                  </a:lnTo>
                  <a:lnTo>
                    <a:pt x="227202" y="0"/>
                  </a:lnTo>
                  <a:lnTo>
                    <a:pt x="273050" y="4572"/>
                  </a:lnTo>
                  <a:lnTo>
                    <a:pt x="315722" y="17779"/>
                  </a:lnTo>
                  <a:lnTo>
                    <a:pt x="354330" y="38608"/>
                  </a:lnTo>
                  <a:lnTo>
                    <a:pt x="387985" y="66166"/>
                  </a:lnTo>
                  <a:lnTo>
                    <a:pt x="415671" y="99695"/>
                  </a:lnTo>
                  <a:lnTo>
                    <a:pt x="436625" y="138049"/>
                  </a:lnTo>
                  <a:lnTo>
                    <a:pt x="449961" y="180466"/>
                  </a:lnTo>
                  <a:lnTo>
                    <a:pt x="454533" y="225933"/>
                  </a:lnTo>
                  <a:lnTo>
                    <a:pt x="449961" y="271525"/>
                  </a:lnTo>
                  <a:lnTo>
                    <a:pt x="436625" y="313944"/>
                  </a:lnTo>
                  <a:lnTo>
                    <a:pt x="415671" y="352298"/>
                  </a:lnTo>
                  <a:lnTo>
                    <a:pt x="387985" y="385825"/>
                  </a:lnTo>
                  <a:lnTo>
                    <a:pt x="354330" y="413385"/>
                  </a:lnTo>
                  <a:lnTo>
                    <a:pt x="315722" y="434213"/>
                  </a:lnTo>
                  <a:lnTo>
                    <a:pt x="273050" y="447421"/>
                  </a:lnTo>
                  <a:lnTo>
                    <a:pt x="227202" y="451992"/>
                  </a:lnTo>
                  <a:lnTo>
                    <a:pt x="181483" y="447421"/>
                  </a:lnTo>
                  <a:lnTo>
                    <a:pt x="138811" y="434213"/>
                  </a:lnTo>
                  <a:lnTo>
                    <a:pt x="100202" y="413385"/>
                  </a:lnTo>
                  <a:lnTo>
                    <a:pt x="66548" y="385825"/>
                  </a:lnTo>
                  <a:lnTo>
                    <a:pt x="38862" y="352298"/>
                  </a:lnTo>
                  <a:lnTo>
                    <a:pt x="17907" y="313944"/>
                  </a:lnTo>
                  <a:lnTo>
                    <a:pt x="4572" y="271525"/>
                  </a:lnTo>
                  <a:lnTo>
                    <a:pt x="0" y="225933"/>
                  </a:lnTo>
                  <a:close/>
                </a:path>
              </a:pathLst>
            </a:custGeom>
            <a:ln w="12192">
              <a:solidFill>
                <a:srgbClr val="000000"/>
              </a:solidFill>
            </a:ln>
          </p:spPr>
          <p:txBody>
            <a:bodyPr wrap="square" lIns="0" tIns="0" rIns="0" bIns="0" rtlCol="0"/>
            <a:lstStyle>
              <a:defPPr>
                <a:defRPr kern="0"/>
              </a:defPPr>
            </a:lstStyle>
            <a:p>
              <a:endParaRPr/>
            </a:p>
          </p:txBody>
        </p:sp>
        <p:sp>
          <p:nvSpPr>
            <p:cNvPr id="34" name="object 8"/>
            <p:cNvSpPr/>
            <p:nvPr/>
          </p:nvSpPr>
          <p:spPr>
            <a:xfrm>
              <a:off x="5278120" y="1689099"/>
              <a:ext cx="454659" cy="452120"/>
            </a:xfrm>
            <a:custGeom>
              <a:avLst/>
              <a:gdLst/>
              <a:ahLst/>
              <a:cxnLst/>
              <a:rect l="l" t="t" r="r" b="b"/>
              <a:pathLst>
                <a:path w="454660" h="452119">
                  <a:moveTo>
                    <a:pt x="227202" y="0"/>
                  </a:moveTo>
                  <a:lnTo>
                    <a:pt x="181482" y="4572"/>
                  </a:lnTo>
                  <a:lnTo>
                    <a:pt x="138810" y="17779"/>
                  </a:lnTo>
                  <a:lnTo>
                    <a:pt x="100202" y="38608"/>
                  </a:lnTo>
                  <a:lnTo>
                    <a:pt x="66547" y="66166"/>
                  </a:lnTo>
                  <a:lnTo>
                    <a:pt x="38862" y="99695"/>
                  </a:lnTo>
                  <a:lnTo>
                    <a:pt x="17906" y="138049"/>
                  </a:lnTo>
                  <a:lnTo>
                    <a:pt x="4571" y="180466"/>
                  </a:lnTo>
                  <a:lnTo>
                    <a:pt x="0" y="225933"/>
                  </a:lnTo>
                  <a:lnTo>
                    <a:pt x="4571" y="271525"/>
                  </a:lnTo>
                  <a:lnTo>
                    <a:pt x="17906" y="313944"/>
                  </a:lnTo>
                  <a:lnTo>
                    <a:pt x="38862" y="352298"/>
                  </a:lnTo>
                  <a:lnTo>
                    <a:pt x="66547" y="385825"/>
                  </a:lnTo>
                  <a:lnTo>
                    <a:pt x="100202" y="413385"/>
                  </a:lnTo>
                  <a:lnTo>
                    <a:pt x="138810" y="434213"/>
                  </a:lnTo>
                  <a:lnTo>
                    <a:pt x="181482" y="447421"/>
                  </a:lnTo>
                  <a:lnTo>
                    <a:pt x="227202" y="451992"/>
                  </a:lnTo>
                  <a:lnTo>
                    <a:pt x="273050" y="447421"/>
                  </a:lnTo>
                  <a:lnTo>
                    <a:pt x="315721" y="434213"/>
                  </a:lnTo>
                  <a:lnTo>
                    <a:pt x="354329" y="413385"/>
                  </a:lnTo>
                  <a:lnTo>
                    <a:pt x="387984" y="385825"/>
                  </a:lnTo>
                  <a:lnTo>
                    <a:pt x="415670" y="352298"/>
                  </a:lnTo>
                  <a:lnTo>
                    <a:pt x="436625" y="313944"/>
                  </a:lnTo>
                  <a:lnTo>
                    <a:pt x="449960" y="271525"/>
                  </a:lnTo>
                  <a:lnTo>
                    <a:pt x="454532" y="225933"/>
                  </a:lnTo>
                  <a:lnTo>
                    <a:pt x="449960" y="180466"/>
                  </a:lnTo>
                  <a:lnTo>
                    <a:pt x="436625" y="138049"/>
                  </a:lnTo>
                  <a:lnTo>
                    <a:pt x="415670" y="99695"/>
                  </a:lnTo>
                  <a:lnTo>
                    <a:pt x="387984" y="66166"/>
                  </a:lnTo>
                  <a:lnTo>
                    <a:pt x="354329" y="38608"/>
                  </a:lnTo>
                  <a:lnTo>
                    <a:pt x="315721" y="17779"/>
                  </a:lnTo>
                  <a:lnTo>
                    <a:pt x="273050" y="4572"/>
                  </a:lnTo>
                  <a:lnTo>
                    <a:pt x="227202" y="0"/>
                  </a:lnTo>
                  <a:close/>
                </a:path>
              </a:pathLst>
            </a:custGeom>
            <a:solidFill>
              <a:srgbClr val="000000"/>
            </a:solidFill>
          </p:spPr>
          <p:txBody>
            <a:bodyPr wrap="square" lIns="0" tIns="0" rIns="0" bIns="0" rtlCol="0"/>
            <a:lstStyle>
              <a:defPPr>
                <a:defRPr kern="0"/>
              </a:defPPr>
            </a:lstStyle>
            <a:p>
              <a:endParaRPr/>
            </a:p>
          </p:txBody>
        </p:sp>
        <p:sp>
          <p:nvSpPr>
            <p:cNvPr id="35" name="object 9"/>
            <p:cNvSpPr/>
            <p:nvPr/>
          </p:nvSpPr>
          <p:spPr>
            <a:xfrm>
              <a:off x="5279390" y="1690369"/>
              <a:ext cx="454659" cy="452120"/>
            </a:xfrm>
            <a:custGeom>
              <a:avLst/>
              <a:gdLst/>
              <a:ahLst/>
              <a:cxnLst/>
              <a:rect l="l" t="t" r="r" b="b"/>
              <a:pathLst>
                <a:path w="454660" h="452119">
                  <a:moveTo>
                    <a:pt x="0" y="225932"/>
                  </a:moveTo>
                  <a:lnTo>
                    <a:pt x="4572" y="180466"/>
                  </a:lnTo>
                  <a:lnTo>
                    <a:pt x="17907" y="138049"/>
                  </a:lnTo>
                  <a:lnTo>
                    <a:pt x="38862" y="99694"/>
                  </a:lnTo>
                  <a:lnTo>
                    <a:pt x="66548" y="66166"/>
                  </a:lnTo>
                  <a:lnTo>
                    <a:pt x="100202" y="38607"/>
                  </a:lnTo>
                  <a:lnTo>
                    <a:pt x="138811" y="17779"/>
                  </a:lnTo>
                  <a:lnTo>
                    <a:pt x="181483" y="4571"/>
                  </a:lnTo>
                  <a:lnTo>
                    <a:pt x="227202" y="0"/>
                  </a:lnTo>
                  <a:lnTo>
                    <a:pt x="273050" y="4571"/>
                  </a:lnTo>
                  <a:lnTo>
                    <a:pt x="315722" y="17779"/>
                  </a:lnTo>
                  <a:lnTo>
                    <a:pt x="354330" y="38607"/>
                  </a:lnTo>
                  <a:lnTo>
                    <a:pt x="387985" y="66166"/>
                  </a:lnTo>
                  <a:lnTo>
                    <a:pt x="415671" y="99694"/>
                  </a:lnTo>
                  <a:lnTo>
                    <a:pt x="436625" y="138049"/>
                  </a:lnTo>
                  <a:lnTo>
                    <a:pt x="449961" y="180466"/>
                  </a:lnTo>
                  <a:lnTo>
                    <a:pt x="454533" y="225932"/>
                  </a:lnTo>
                  <a:lnTo>
                    <a:pt x="449961" y="271525"/>
                  </a:lnTo>
                  <a:lnTo>
                    <a:pt x="436625" y="313943"/>
                  </a:lnTo>
                  <a:lnTo>
                    <a:pt x="415671" y="352297"/>
                  </a:lnTo>
                  <a:lnTo>
                    <a:pt x="387985" y="385825"/>
                  </a:lnTo>
                  <a:lnTo>
                    <a:pt x="354330" y="413384"/>
                  </a:lnTo>
                  <a:lnTo>
                    <a:pt x="315722" y="434213"/>
                  </a:lnTo>
                  <a:lnTo>
                    <a:pt x="273050" y="447420"/>
                  </a:lnTo>
                  <a:lnTo>
                    <a:pt x="227202" y="451992"/>
                  </a:lnTo>
                  <a:lnTo>
                    <a:pt x="181483" y="447420"/>
                  </a:lnTo>
                  <a:lnTo>
                    <a:pt x="138811" y="434213"/>
                  </a:lnTo>
                  <a:lnTo>
                    <a:pt x="100202" y="413384"/>
                  </a:lnTo>
                  <a:lnTo>
                    <a:pt x="66548" y="385825"/>
                  </a:lnTo>
                  <a:lnTo>
                    <a:pt x="38862" y="352297"/>
                  </a:lnTo>
                  <a:lnTo>
                    <a:pt x="17907" y="313943"/>
                  </a:lnTo>
                  <a:lnTo>
                    <a:pt x="4572" y="271525"/>
                  </a:lnTo>
                  <a:lnTo>
                    <a:pt x="0" y="225932"/>
                  </a:lnTo>
                  <a:close/>
                </a:path>
              </a:pathLst>
            </a:custGeom>
            <a:ln w="12192">
              <a:solidFill>
                <a:srgbClr val="000000"/>
              </a:solidFill>
            </a:ln>
          </p:spPr>
          <p:txBody>
            <a:bodyPr wrap="square" lIns="0" tIns="0" rIns="0" bIns="0" rtlCol="0"/>
            <a:lstStyle>
              <a:defPPr>
                <a:defRPr kern="0"/>
              </a:defPPr>
            </a:lstStyle>
            <a:p>
              <a:endParaRPr/>
            </a:p>
          </p:txBody>
        </p:sp>
        <p:sp>
          <p:nvSpPr>
            <p:cNvPr id="36" name="object 10"/>
            <p:cNvSpPr/>
            <p:nvPr/>
          </p:nvSpPr>
          <p:spPr>
            <a:xfrm>
              <a:off x="5278120" y="2306319"/>
              <a:ext cx="454659" cy="452120"/>
            </a:xfrm>
            <a:custGeom>
              <a:avLst/>
              <a:gdLst/>
              <a:ahLst/>
              <a:cxnLst/>
              <a:rect l="l" t="t" r="r" b="b"/>
              <a:pathLst>
                <a:path w="454660" h="452119">
                  <a:moveTo>
                    <a:pt x="227202" y="0"/>
                  </a:moveTo>
                  <a:lnTo>
                    <a:pt x="181482" y="4571"/>
                  </a:lnTo>
                  <a:lnTo>
                    <a:pt x="138810" y="17779"/>
                  </a:lnTo>
                  <a:lnTo>
                    <a:pt x="100202" y="38607"/>
                  </a:lnTo>
                  <a:lnTo>
                    <a:pt x="66547" y="66166"/>
                  </a:lnTo>
                  <a:lnTo>
                    <a:pt x="38862" y="99694"/>
                  </a:lnTo>
                  <a:lnTo>
                    <a:pt x="17906" y="138049"/>
                  </a:lnTo>
                  <a:lnTo>
                    <a:pt x="4571" y="180466"/>
                  </a:lnTo>
                  <a:lnTo>
                    <a:pt x="0" y="225932"/>
                  </a:lnTo>
                  <a:lnTo>
                    <a:pt x="4571" y="271525"/>
                  </a:lnTo>
                  <a:lnTo>
                    <a:pt x="17906" y="313943"/>
                  </a:lnTo>
                  <a:lnTo>
                    <a:pt x="38862" y="352297"/>
                  </a:lnTo>
                  <a:lnTo>
                    <a:pt x="66547" y="385825"/>
                  </a:lnTo>
                  <a:lnTo>
                    <a:pt x="100202" y="413384"/>
                  </a:lnTo>
                  <a:lnTo>
                    <a:pt x="138810" y="434213"/>
                  </a:lnTo>
                  <a:lnTo>
                    <a:pt x="181482" y="447420"/>
                  </a:lnTo>
                  <a:lnTo>
                    <a:pt x="227202" y="451992"/>
                  </a:lnTo>
                  <a:lnTo>
                    <a:pt x="273050" y="447420"/>
                  </a:lnTo>
                  <a:lnTo>
                    <a:pt x="315721" y="434213"/>
                  </a:lnTo>
                  <a:lnTo>
                    <a:pt x="354329" y="413384"/>
                  </a:lnTo>
                  <a:lnTo>
                    <a:pt x="387984" y="385825"/>
                  </a:lnTo>
                  <a:lnTo>
                    <a:pt x="415670" y="352297"/>
                  </a:lnTo>
                  <a:lnTo>
                    <a:pt x="436625" y="313943"/>
                  </a:lnTo>
                  <a:lnTo>
                    <a:pt x="449960" y="271525"/>
                  </a:lnTo>
                  <a:lnTo>
                    <a:pt x="454532" y="225932"/>
                  </a:lnTo>
                  <a:lnTo>
                    <a:pt x="449960" y="180466"/>
                  </a:lnTo>
                  <a:lnTo>
                    <a:pt x="436625" y="138049"/>
                  </a:lnTo>
                  <a:lnTo>
                    <a:pt x="415670" y="99694"/>
                  </a:lnTo>
                  <a:lnTo>
                    <a:pt x="387984" y="66166"/>
                  </a:lnTo>
                  <a:lnTo>
                    <a:pt x="354329" y="38607"/>
                  </a:lnTo>
                  <a:lnTo>
                    <a:pt x="315721" y="17779"/>
                  </a:lnTo>
                  <a:lnTo>
                    <a:pt x="273050" y="4571"/>
                  </a:lnTo>
                  <a:lnTo>
                    <a:pt x="227202" y="0"/>
                  </a:lnTo>
                  <a:close/>
                </a:path>
              </a:pathLst>
            </a:custGeom>
            <a:solidFill>
              <a:srgbClr val="000000"/>
            </a:solidFill>
          </p:spPr>
          <p:txBody>
            <a:bodyPr wrap="square" lIns="0" tIns="0" rIns="0" bIns="0" rtlCol="0"/>
            <a:lstStyle>
              <a:defPPr>
                <a:defRPr kern="0"/>
              </a:defPPr>
            </a:lstStyle>
            <a:p>
              <a:endParaRPr dirty="0"/>
            </a:p>
          </p:txBody>
        </p:sp>
        <p:sp>
          <p:nvSpPr>
            <p:cNvPr id="37" name="object 11"/>
            <p:cNvSpPr/>
            <p:nvPr/>
          </p:nvSpPr>
          <p:spPr>
            <a:xfrm>
              <a:off x="5279390" y="2307589"/>
              <a:ext cx="454659" cy="452120"/>
            </a:xfrm>
            <a:custGeom>
              <a:avLst/>
              <a:gdLst/>
              <a:ahLst/>
              <a:cxnLst/>
              <a:rect l="l" t="t" r="r" b="b"/>
              <a:pathLst>
                <a:path w="454660" h="452119">
                  <a:moveTo>
                    <a:pt x="0" y="225933"/>
                  </a:moveTo>
                  <a:lnTo>
                    <a:pt x="4572" y="180467"/>
                  </a:lnTo>
                  <a:lnTo>
                    <a:pt x="17907" y="138049"/>
                  </a:lnTo>
                  <a:lnTo>
                    <a:pt x="38862" y="99695"/>
                  </a:lnTo>
                  <a:lnTo>
                    <a:pt x="66548" y="66167"/>
                  </a:lnTo>
                  <a:lnTo>
                    <a:pt x="100202" y="38608"/>
                  </a:lnTo>
                  <a:lnTo>
                    <a:pt x="138811" y="17780"/>
                  </a:lnTo>
                  <a:lnTo>
                    <a:pt x="181483" y="4572"/>
                  </a:lnTo>
                  <a:lnTo>
                    <a:pt x="227202" y="0"/>
                  </a:lnTo>
                  <a:lnTo>
                    <a:pt x="273050" y="4572"/>
                  </a:lnTo>
                  <a:lnTo>
                    <a:pt x="315722" y="17780"/>
                  </a:lnTo>
                  <a:lnTo>
                    <a:pt x="354330" y="38608"/>
                  </a:lnTo>
                  <a:lnTo>
                    <a:pt x="387985" y="66167"/>
                  </a:lnTo>
                  <a:lnTo>
                    <a:pt x="415671" y="99695"/>
                  </a:lnTo>
                  <a:lnTo>
                    <a:pt x="436625" y="138049"/>
                  </a:lnTo>
                  <a:lnTo>
                    <a:pt x="449961" y="180467"/>
                  </a:lnTo>
                  <a:lnTo>
                    <a:pt x="454533" y="225933"/>
                  </a:lnTo>
                  <a:lnTo>
                    <a:pt x="449961" y="271525"/>
                  </a:lnTo>
                  <a:lnTo>
                    <a:pt x="436625" y="313944"/>
                  </a:lnTo>
                  <a:lnTo>
                    <a:pt x="415671" y="352298"/>
                  </a:lnTo>
                  <a:lnTo>
                    <a:pt x="387985" y="385825"/>
                  </a:lnTo>
                  <a:lnTo>
                    <a:pt x="354330" y="413385"/>
                  </a:lnTo>
                  <a:lnTo>
                    <a:pt x="315722" y="434213"/>
                  </a:lnTo>
                  <a:lnTo>
                    <a:pt x="273050" y="447421"/>
                  </a:lnTo>
                  <a:lnTo>
                    <a:pt x="227202" y="451993"/>
                  </a:lnTo>
                  <a:lnTo>
                    <a:pt x="181483" y="447421"/>
                  </a:lnTo>
                  <a:lnTo>
                    <a:pt x="138811" y="434213"/>
                  </a:lnTo>
                  <a:lnTo>
                    <a:pt x="100202" y="413385"/>
                  </a:lnTo>
                  <a:lnTo>
                    <a:pt x="66548" y="385825"/>
                  </a:lnTo>
                  <a:lnTo>
                    <a:pt x="38862" y="352298"/>
                  </a:lnTo>
                  <a:lnTo>
                    <a:pt x="17907" y="313944"/>
                  </a:lnTo>
                  <a:lnTo>
                    <a:pt x="4572" y="271525"/>
                  </a:lnTo>
                  <a:lnTo>
                    <a:pt x="0" y="225933"/>
                  </a:lnTo>
                  <a:close/>
                </a:path>
              </a:pathLst>
            </a:custGeom>
            <a:ln w="12192">
              <a:solidFill>
                <a:srgbClr val="000000"/>
              </a:solidFill>
            </a:ln>
          </p:spPr>
          <p:txBody>
            <a:bodyPr wrap="square" lIns="0" tIns="0" rIns="0" bIns="0" rtlCol="0"/>
            <a:lstStyle>
              <a:defPPr>
                <a:defRPr kern="0"/>
              </a:defPPr>
            </a:lstStyle>
            <a:p>
              <a:endParaRPr/>
            </a:p>
          </p:txBody>
        </p:sp>
      </p:grpSp>
      <p:grpSp>
        <p:nvGrpSpPr>
          <p:cNvPr id="5" name="object 12"/>
          <p:cNvGrpSpPr/>
          <p:nvPr/>
        </p:nvGrpSpPr>
        <p:grpSpPr>
          <a:xfrm>
            <a:off x="2025586" y="3143025"/>
            <a:ext cx="890272" cy="659384"/>
            <a:chOff x="3522979" y="3081020"/>
            <a:chExt cx="995680" cy="993140"/>
          </a:xfrm>
        </p:grpSpPr>
        <p:pic>
          <p:nvPicPr>
            <p:cNvPr id="29" name="object 13"/>
            <p:cNvPicPr/>
            <p:nvPr/>
          </p:nvPicPr>
          <p:blipFill>
            <a:blip r:embed="rId4" cstate="print"/>
            <a:stretch>
              <a:fillRect/>
            </a:stretch>
          </p:blipFill>
          <p:spPr>
            <a:xfrm>
              <a:off x="3665219" y="3086100"/>
              <a:ext cx="848360" cy="985519"/>
            </a:xfrm>
            <a:prstGeom prst="rect">
              <a:avLst/>
            </a:prstGeom>
          </p:spPr>
        </p:pic>
        <p:sp>
          <p:nvSpPr>
            <p:cNvPr id="30" name="object 14"/>
            <p:cNvSpPr/>
            <p:nvPr/>
          </p:nvSpPr>
          <p:spPr>
            <a:xfrm>
              <a:off x="3522979" y="3081020"/>
              <a:ext cx="995680" cy="993140"/>
            </a:xfrm>
            <a:custGeom>
              <a:avLst/>
              <a:gdLst/>
              <a:ahLst/>
              <a:cxnLst/>
              <a:rect l="l" t="t" r="r" b="b"/>
              <a:pathLst>
                <a:path w="995679" h="993139">
                  <a:moveTo>
                    <a:pt x="0" y="993012"/>
                  </a:moveTo>
                  <a:lnTo>
                    <a:pt x="995172" y="993012"/>
                  </a:lnTo>
                  <a:lnTo>
                    <a:pt x="995172" y="0"/>
                  </a:lnTo>
                  <a:lnTo>
                    <a:pt x="0" y="0"/>
                  </a:lnTo>
                  <a:lnTo>
                    <a:pt x="0" y="993012"/>
                  </a:lnTo>
                  <a:close/>
                </a:path>
              </a:pathLst>
            </a:custGeom>
            <a:ln w="9144">
              <a:solidFill>
                <a:srgbClr val="000000"/>
              </a:solidFill>
            </a:ln>
          </p:spPr>
          <p:txBody>
            <a:bodyPr wrap="square" lIns="0" tIns="0" rIns="0" bIns="0" rtlCol="0"/>
            <a:lstStyle>
              <a:defPPr>
                <a:defRPr kern="0"/>
              </a:defPPr>
            </a:lstStyle>
            <a:p>
              <a:endParaRPr/>
            </a:p>
          </p:txBody>
        </p:sp>
      </p:grpSp>
      <p:sp>
        <p:nvSpPr>
          <p:cNvPr id="6" name="object 15"/>
          <p:cNvSpPr txBox="1"/>
          <p:nvPr/>
        </p:nvSpPr>
        <p:spPr>
          <a:xfrm>
            <a:off x="366554" y="3320414"/>
            <a:ext cx="1191260" cy="259045"/>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600" spc="-10" dirty="0">
                <a:latin typeface="Calibri" panose="020F0502020204030204"/>
                <a:cs typeface="Calibri" panose="020F0502020204030204"/>
              </a:rPr>
              <a:t>Input</a:t>
            </a:r>
            <a:r>
              <a:rPr sz="1600" spc="-75" dirty="0">
                <a:latin typeface="Calibri" panose="020F0502020204030204"/>
                <a:cs typeface="Calibri" panose="020F0502020204030204"/>
              </a:rPr>
              <a:t> </a:t>
            </a:r>
            <a:r>
              <a:rPr sz="1600" spc="-10" dirty="0">
                <a:latin typeface="Calibri" panose="020F0502020204030204"/>
                <a:cs typeface="Calibri" panose="020F0502020204030204"/>
              </a:rPr>
              <a:t>Image:</a:t>
            </a:r>
            <a:endParaRPr sz="1600">
              <a:latin typeface="Calibri" panose="020F0502020204030204"/>
              <a:cs typeface="Calibri" panose="020F0502020204030204"/>
            </a:endParaRPr>
          </a:p>
        </p:txBody>
      </p:sp>
      <p:sp>
        <p:nvSpPr>
          <p:cNvPr id="7" name="object 16"/>
          <p:cNvSpPr txBox="1"/>
          <p:nvPr/>
        </p:nvSpPr>
        <p:spPr>
          <a:xfrm>
            <a:off x="291019" y="4217243"/>
            <a:ext cx="1055370" cy="505267"/>
          </a:xfrm>
          <a:prstGeom prst="rect">
            <a:avLst/>
          </a:prstGeom>
        </p:spPr>
        <p:txBody>
          <a:bodyPr vert="horz" wrap="square" lIns="0" tIns="12700" rIns="0" bIns="0" rtlCol="0">
            <a:spAutoFit/>
          </a:bodyPr>
          <a:lstStyle>
            <a:defPPr>
              <a:defRPr kern="0"/>
            </a:defPPr>
          </a:lstStyle>
          <a:p>
            <a:pPr marR="5080" algn="r">
              <a:lnSpc>
                <a:spcPct val="100000"/>
              </a:lnSpc>
              <a:spcBef>
                <a:spcPts val="100"/>
              </a:spcBef>
            </a:pPr>
            <a:r>
              <a:rPr sz="1600" spc="-40" dirty="0">
                <a:latin typeface="Calibri" panose="020F0502020204030204"/>
                <a:cs typeface="Calibri" panose="020F0502020204030204"/>
              </a:rPr>
              <a:t>TensorFlow</a:t>
            </a:r>
            <a:endParaRPr sz="1600" dirty="0">
              <a:latin typeface="Calibri" panose="020F0502020204030204"/>
              <a:cs typeface="Calibri" panose="020F0502020204030204"/>
            </a:endParaRPr>
          </a:p>
          <a:p>
            <a:pPr marR="5715" algn="r">
              <a:lnSpc>
                <a:spcPct val="100000"/>
              </a:lnSpc>
            </a:pPr>
            <a:r>
              <a:rPr sz="1600" spc="-10" dirty="0">
                <a:latin typeface="Calibri" panose="020F0502020204030204"/>
                <a:cs typeface="Calibri" panose="020F0502020204030204"/>
              </a:rPr>
              <a:t>Model:</a:t>
            </a:r>
            <a:endParaRPr sz="1600" dirty="0">
              <a:latin typeface="Calibri" panose="020F0502020204030204"/>
              <a:cs typeface="Calibri" panose="020F0502020204030204"/>
            </a:endParaRPr>
          </a:p>
        </p:txBody>
      </p:sp>
      <p:sp>
        <p:nvSpPr>
          <p:cNvPr id="8" name="object 17"/>
          <p:cNvSpPr txBox="1"/>
          <p:nvPr/>
        </p:nvSpPr>
        <p:spPr>
          <a:xfrm>
            <a:off x="518878" y="5360146"/>
            <a:ext cx="749935" cy="259045"/>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600" spc="-10" dirty="0">
                <a:latin typeface="Calibri" panose="020F0502020204030204"/>
                <a:cs typeface="Calibri" panose="020F0502020204030204"/>
              </a:rPr>
              <a:t>Output:</a:t>
            </a:r>
            <a:endParaRPr sz="1600">
              <a:latin typeface="Calibri" panose="020F0502020204030204"/>
              <a:cs typeface="Calibri" panose="020F0502020204030204"/>
            </a:endParaRPr>
          </a:p>
        </p:txBody>
      </p:sp>
      <p:sp>
        <p:nvSpPr>
          <p:cNvPr id="9" name="object 18"/>
          <p:cNvSpPr txBox="1"/>
          <p:nvPr/>
        </p:nvSpPr>
        <p:spPr>
          <a:xfrm>
            <a:off x="2025459" y="4254073"/>
            <a:ext cx="1280160" cy="589280"/>
          </a:xfrm>
          <a:prstGeom prst="rect">
            <a:avLst/>
          </a:prstGeom>
          <a:ln w="9144">
            <a:solidFill>
              <a:srgbClr val="000000"/>
            </a:solidFill>
          </a:ln>
        </p:spPr>
        <p:txBody>
          <a:bodyPr vert="horz" wrap="square" lIns="0" tIns="21590" rIns="0" bIns="0" rtlCol="0">
            <a:spAutoFit/>
          </a:bodyPr>
          <a:lstStyle>
            <a:defPPr>
              <a:defRPr kern="0"/>
            </a:defPPr>
          </a:lstStyle>
          <a:p>
            <a:pPr marL="331470">
              <a:lnSpc>
                <a:spcPct val="100000"/>
              </a:lnSpc>
              <a:spcBef>
                <a:spcPts val="170"/>
              </a:spcBef>
            </a:pPr>
            <a:r>
              <a:rPr sz="1800" spc="-10" dirty="0">
                <a:latin typeface="Calibri" panose="020F0502020204030204"/>
                <a:cs typeface="Calibri" panose="020F0502020204030204"/>
              </a:rPr>
              <a:t>Neural</a:t>
            </a:r>
            <a:endParaRPr sz="1800">
              <a:latin typeface="Calibri" panose="020F0502020204030204"/>
              <a:cs typeface="Calibri" panose="020F0502020204030204"/>
            </a:endParaRPr>
          </a:p>
          <a:p>
            <a:pPr marL="239395">
              <a:lnSpc>
                <a:spcPct val="100000"/>
              </a:lnSpc>
            </a:pPr>
            <a:r>
              <a:rPr sz="1800" spc="-10" dirty="0">
                <a:latin typeface="Calibri" panose="020F0502020204030204"/>
                <a:cs typeface="Calibri" panose="020F0502020204030204"/>
              </a:rPr>
              <a:t>Network</a:t>
            </a:r>
            <a:endParaRPr sz="1800">
              <a:latin typeface="Calibri" panose="020F0502020204030204"/>
              <a:cs typeface="Calibri" panose="020F0502020204030204"/>
            </a:endParaRPr>
          </a:p>
        </p:txBody>
      </p:sp>
      <p:sp>
        <p:nvSpPr>
          <p:cNvPr id="10" name="object 19"/>
          <p:cNvSpPr txBox="1"/>
          <p:nvPr/>
        </p:nvSpPr>
        <p:spPr>
          <a:xfrm>
            <a:off x="1879046" y="4957662"/>
            <a:ext cx="1427127" cy="1029128"/>
          </a:xfrm>
          <a:prstGeom prst="rect">
            <a:avLst/>
          </a:prstGeom>
        </p:spPr>
        <p:txBody>
          <a:bodyPr vert="horz" wrap="square" lIns="0" tIns="198755" rIns="0" bIns="0" rtlCol="0">
            <a:spAutoFit/>
          </a:bodyPr>
          <a:lstStyle>
            <a:defPPr>
              <a:defRPr kern="0"/>
            </a:defPPr>
          </a:lstStyle>
          <a:p>
            <a:pPr marL="1905" algn="ctr">
              <a:lnSpc>
                <a:spcPct val="100000"/>
              </a:lnSpc>
              <a:spcBef>
                <a:spcPts val="1565"/>
              </a:spcBef>
            </a:pPr>
            <a:r>
              <a:rPr sz="4000" spc="-50" dirty="0">
                <a:latin typeface="Calibri" panose="020F0502020204030204"/>
                <a:cs typeface="Calibri" panose="020F0502020204030204"/>
              </a:rPr>
              <a:t>5</a:t>
            </a:r>
            <a:endParaRPr sz="4000" dirty="0">
              <a:latin typeface="Calibri" panose="020F0502020204030204"/>
              <a:cs typeface="Calibri" panose="020F0502020204030204"/>
            </a:endParaRPr>
          </a:p>
          <a:p>
            <a:pPr algn="ctr">
              <a:lnSpc>
                <a:spcPct val="100000"/>
              </a:lnSpc>
              <a:spcBef>
                <a:spcPts val="400"/>
              </a:spcBef>
            </a:pPr>
            <a:r>
              <a:rPr sz="1100" dirty="0">
                <a:solidFill>
                  <a:srgbClr val="C00000"/>
                </a:solidFill>
                <a:latin typeface="Calibri" panose="020F0502020204030204"/>
                <a:cs typeface="Calibri" panose="020F0502020204030204"/>
              </a:rPr>
              <a:t>(with</a:t>
            </a:r>
            <a:r>
              <a:rPr sz="1100" spc="-70" dirty="0">
                <a:solidFill>
                  <a:srgbClr val="C00000"/>
                </a:solidFill>
                <a:latin typeface="Calibri" panose="020F0502020204030204"/>
                <a:cs typeface="Calibri" panose="020F0502020204030204"/>
              </a:rPr>
              <a:t> </a:t>
            </a:r>
            <a:r>
              <a:rPr sz="1100" dirty="0">
                <a:solidFill>
                  <a:srgbClr val="C00000"/>
                </a:solidFill>
                <a:latin typeface="Calibri" panose="020F0502020204030204"/>
                <a:cs typeface="Calibri" panose="020F0502020204030204"/>
              </a:rPr>
              <a:t>87%</a:t>
            </a:r>
            <a:r>
              <a:rPr sz="1100" spc="-25" dirty="0">
                <a:solidFill>
                  <a:srgbClr val="C00000"/>
                </a:solidFill>
                <a:latin typeface="Calibri" panose="020F0502020204030204"/>
                <a:cs typeface="Calibri" panose="020F0502020204030204"/>
              </a:rPr>
              <a:t> </a:t>
            </a:r>
            <a:r>
              <a:rPr sz="1100" spc="-10" dirty="0">
                <a:solidFill>
                  <a:srgbClr val="C00000"/>
                </a:solidFill>
                <a:latin typeface="Calibri" panose="020F0502020204030204"/>
                <a:cs typeface="Calibri" panose="020F0502020204030204"/>
              </a:rPr>
              <a:t>confidence)</a:t>
            </a:r>
            <a:endParaRPr sz="1100" dirty="0">
              <a:latin typeface="Calibri" panose="020F0502020204030204"/>
              <a:cs typeface="Calibri" panose="020F0502020204030204"/>
            </a:endParaRPr>
          </a:p>
        </p:txBody>
      </p:sp>
      <p:grpSp>
        <p:nvGrpSpPr>
          <p:cNvPr id="11" name="object 20"/>
          <p:cNvGrpSpPr/>
          <p:nvPr/>
        </p:nvGrpSpPr>
        <p:grpSpPr>
          <a:xfrm>
            <a:off x="2473230" y="3768698"/>
            <a:ext cx="114300" cy="485013"/>
            <a:chOff x="3962400" y="4071620"/>
            <a:chExt cx="114300" cy="485013"/>
          </a:xfrm>
        </p:grpSpPr>
        <p:pic>
          <p:nvPicPr>
            <p:cNvPr id="27" name="object 21"/>
            <p:cNvPicPr/>
            <p:nvPr/>
          </p:nvPicPr>
          <p:blipFill>
            <a:blip r:embed="rId5" cstate="print"/>
            <a:stretch>
              <a:fillRect/>
            </a:stretch>
          </p:blipFill>
          <p:spPr>
            <a:xfrm>
              <a:off x="3962400" y="4441952"/>
              <a:ext cx="114300" cy="114681"/>
            </a:xfrm>
            <a:prstGeom prst="rect">
              <a:avLst/>
            </a:prstGeom>
          </p:spPr>
        </p:pic>
        <p:sp>
          <p:nvSpPr>
            <p:cNvPr id="28" name="object 22"/>
            <p:cNvSpPr/>
            <p:nvPr/>
          </p:nvSpPr>
          <p:spPr>
            <a:xfrm>
              <a:off x="4000500" y="4071620"/>
              <a:ext cx="40640" cy="370840"/>
            </a:xfrm>
            <a:custGeom>
              <a:avLst/>
              <a:gdLst/>
              <a:ahLst/>
              <a:cxnLst/>
              <a:rect l="l" t="t" r="r" b="b"/>
              <a:pathLst>
                <a:path w="40639" h="370839">
                  <a:moveTo>
                    <a:pt x="2539" y="0"/>
                  </a:moveTo>
                  <a:lnTo>
                    <a:pt x="0" y="370585"/>
                  </a:lnTo>
                  <a:lnTo>
                    <a:pt x="38100" y="370839"/>
                  </a:lnTo>
                  <a:lnTo>
                    <a:pt x="40639" y="253"/>
                  </a:lnTo>
                  <a:lnTo>
                    <a:pt x="2539" y="0"/>
                  </a:lnTo>
                  <a:close/>
                </a:path>
              </a:pathLst>
            </a:custGeom>
            <a:solidFill>
              <a:srgbClr val="000000"/>
            </a:solidFill>
          </p:spPr>
          <p:txBody>
            <a:bodyPr wrap="square" lIns="0" tIns="0" rIns="0" bIns="0" rtlCol="0"/>
            <a:lstStyle>
              <a:defPPr>
                <a:defRPr kern="0"/>
              </a:defPPr>
            </a:lstStyle>
            <a:p>
              <a:endParaRPr/>
            </a:p>
          </p:txBody>
        </p:sp>
      </p:grpSp>
      <p:pic>
        <p:nvPicPr>
          <p:cNvPr id="12" name="object 23"/>
          <p:cNvPicPr/>
          <p:nvPr/>
        </p:nvPicPr>
        <p:blipFill>
          <a:blip r:embed="rId6" cstate="print"/>
          <a:stretch>
            <a:fillRect/>
          </a:stretch>
        </p:blipFill>
        <p:spPr>
          <a:xfrm>
            <a:off x="2506345" y="4867275"/>
            <a:ext cx="81280" cy="329565"/>
          </a:xfrm>
          <a:prstGeom prst="rect">
            <a:avLst/>
          </a:prstGeom>
        </p:spPr>
      </p:pic>
      <p:sp>
        <p:nvSpPr>
          <p:cNvPr id="13" name="object 24"/>
          <p:cNvSpPr txBox="1"/>
          <p:nvPr/>
        </p:nvSpPr>
        <p:spPr>
          <a:xfrm>
            <a:off x="4183092" y="999680"/>
            <a:ext cx="141605" cy="1519555"/>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800" spc="-50" dirty="0">
                <a:solidFill>
                  <a:srgbClr val="FFFFFF"/>
                </a:solidFill>
                <a:latin typeface="Calibri" panose="020F0502020204030204"/>
                <a:cs typeface="Calibri" panose="020F0502020204030204"/>
              </a:rPr>
              <a:t>1</a:t>
            </a:r>
            <a:endParaRPr sz="1800" dirty="0">
              <a:latin typeface="Calibri" panose="020F0502020204030204"/>
              <a:cs typeface="Calibri" panose="020F0502020204030204"/>
            </a:endParaRPr>
          </a:p>
          <a:p>
            <a:pPr>
              <a:lnSpc>
                <a:spcPct val="100000"/>
              </a:lnSpc>
              <a:spcBef>
                <a:spcPts val="440"/>
              </a:spcBef>
            </a:pPr>
            <a:endParaRPr sz="1800" dirty="0">
              <a:latin typeface="Calibri" panose="020F0502020204030204"/>
              <a:cs typeface="Calibri" panose="020F0502020204030204"/>
            </a:endParaRPr>
          </a:p>
          <a:p>
            <a:pPr marL="12700">
              <a:lnSpc>
                <a:spcPct val="100000"/>
              </a:lnSpc>
            </a:pPr>
            <a:r>
              <a:rPr sz="1800" spc="-50" dirty="0">
                <a:solidFill>
                  <a:srgbClr val="FFFFFF"/>
                </a:solidFill>
                <a:latin typeface="Calibri" panose="020F0502020204030204"/>
                <a:cs typeface="Calibri" panose="020F0502020204030204"/>
              </a:rPr>
              <a:t>2</a:t>
            </a:r>
            <a:endParaRPr sz="1800" dirty="0">
              <a:latin typeface="Calibri" panose="020F0502020204030204"/>
              <a:cs typeface="Calibri" panose="020F0502020204030204"/>
            </a:endParaRPr>
          </a:p>
          <a:p>
            <a:pPr>
              <a:lnSpc>
                <a:spcPct val="100000"/>
              </a:lnSpc>
              <a:spcBef>
                <a:spcPts val="445"/>
              </a:spcBef>
            </a:pPr>
            <a:endParaRPr sz="1800" dirty="0">
              <a:latin typeface="Calibri" panose="020F0502020204030204"/>
              <a:cs typeface="Calibri" panose="020F0502020204030204"/>
            </a:endParaRPr>
          </a:p>
          <a:p>
            <a:pPr marL="12700">
              <a:lnSpc>
                <a:spcPct val="100000"/>
              </a:lnSpc>
            </a:pPr>
            <a:r>
              <a:rPr sz="1800" spc="-50" dirty="0">
                <a:solidFill>
                  <a:srgbClr val="FFFFFF"/>
                </a:solidFill>
                <a:latin typeface="Calibri" panose="020F0502020204030204"/>
                <a:cs typeface="Calibri" panose="020F0502020204030204"/>
              </a:rPr>
              <a:t>3</a:t>
            </a:r>
            <a:endParaRPr sz="1800" dirty="0">
              <a:latin typeface="Calibri" panose="020F0502020204030204"/>
              <a:cs typeface="Calibri" panose="020F0502020204030204"/>
            </a:endParaRPr>
          </a:p>
        </p:txBody>
      </p:sp>
      <p:sp>
        <p:nvSpPr>
          <p:cNvPr id="19" name="object 36"/>
          <p:cNvSpPr txBox="1"/>
          <p:nvPr/>
        </p:nvSpPr>
        <p:spPr>
          <a:xfrm>
            <a:off x="4952396" y="5257895"/>
            <a:ext cx="141605" cy="299720"/>
          </a:xfrm>
          <a:prstGeom prst="rect">
            <a:avLst/>
          </a:prstGeom>
        </p:spPr>
        <p:txBody>
          <a:bodyPr vert="horz" wrap="square" lIns="0" tIns="12700" rIns="0" bIns="0" rtlCol="0">
            <a:spAutoFit/>
          </a:bodyPr>
          <a:lstStyle>
            <a:defPPr>
              <a:defRPr kern="0"/>
            </a:defPPr>
          </a:lstStyle>
          <a:p>
            <a:pPr marL="12700">
              <a:lnSpc>
                <a:spcPct val="100000"/>
              </a:lnSpc>
              <a:spcBef>
                <a:spcPts val="100"/>
              </a:spcBef>
            </a:pPr>
            <a:r>
              <a:rPr sz="1800" spc="-50" dirty="0">
                <a:solidFill>
                  <a:srgbClr val="FFFFFF"/>
                </a:solidFill>
                <a:latin typeface="Calibri" panose="020F0502020204030204"/>
                <a:cs typeface="Calibri" panose="020F0502020204030204"/>
              </a:rPr>
              <a:t>6</a:t>
            </a:r>
            <a:endParaRPr sz="1800">
              <a:latin typeface="Calibri" panose="020F0502020204030204"/>
              <a:cs typeface="Calibri" panose="020F0502020204030204"/>
            </a:endParaRPr>
          </a:p>
        </p:txBody>
      </p:sp>
      <p:sp>
        <p:nvSpPr>
          <p:cNvPr id="20" name="TextBox 36"/>
          <p:cNvSpPr txBox="1"/>
          <p:nvPr/>
        </p:nvSpPr>
        <p:spPr>
          <a:xfrm>
            <a:off x="3716655" y="5438775"/>
            <a:ext cx="6539865" cy="737235"/>
          </a:xfrm>
          <a:prstGeom prst="rect">
            <a:avLst/>
          </a:prstGeom>
          <a:noFill/>
        </p:spPr>
        <p:txBody>
          <a:bodyPr wrap="square" rtlCol="0">
            <a:spAutoFit/>
          </a:bodyPr>
          <a:lstStyle>
            <a:defPPr>
              <a:defRPr kern="0"/>
            </a:defPPr>
          </a:lstStyle>
          <a:p>
            <a:r>
              <a:rPr lang="en-US" sz="1400" b="1" dirty="0"/>
              <a:t>Access Google </a:t>
            </a:r>
            <a:r>
              <a:rPr lang="en-US" sz="1400" b="1" dirty="0" err="1"/>
              <a:t>Colab</a:t>
            </a:r>
            <a:r>
              <a:rPr lang="en-US" sz="1400" b="1" dirty="0"/>
              <a:t> Notebook:</a:t>
            </a:r>
            <a:r>
              <a:rPr lang="en-US" sz="1400" dirty="0"/>
              <a:t> </a:t>
            </a:r>
            <a:r>
              <a:rPr lang="en-US" sz="1400" dirty="0">
                <a:hlinkClick r:id="rId7"/>
              </a:rPr>
              <a:t>https://colab.research.google.com/drive/1mB_IFQAd7qbMAhQ2C23a2NEbrNSl_i3R?usp=sharing</a:t>
            </a:r>
            <a:r>
              <a:rPr lang="en-US" sz="1400" dirty="0"/>
              <a:t> </a:t>
            </a:r>
          </a:p>
        </p:txBody>
      </p:sp>
      <p:sp>
        <p:nvSpPr>
          <p:cNvPr id="38" name="object 10"/>
          <p:cNvSpPr/>
          <p:nvPr/>
        </p:nvSpPr>
        <p:spPr>
          <a:xfrm>
            <a:off x="4020248" y="3033967"/>
            <a:ext cx="454659" cy="452120"/>
          </a:xfrm>
          <a:custGeom>
            <a:avLst/>
            <a:gdLst/>
            <a:ahLst/>
            <a:cxnLst/>
            <a:rect l="l" t="t" r="r" b="b"/>
            <a:pathLst>
              <a:path w="454660" h="452119">
                <a:moveTo>
                  <a:pt x="227202" y="0"/>
                </a:moveTo>
                <a:lnTo>
                  <a:pt x="181482" y="4571"/>
                </a:lnTo>
                <a:lnTo>
                  <a:pt x="138810" y="17779"/>
                </a:lnTo>
                <a:lnTo>
                  <a:pt x="100202" y="38607"/>
                </a:lnTo>
                <a:lnTo>
                  <a:pt x="66547" y="66166"/>
                </a:lnTo>
                <a:lnTo>
                  <a:pt x="38862" y="99694"/>
                </a:lnTo>
                <a:lnTo>
                  <a:pt x="17906" y="138049"/>
                </a:lnTo>
                <a:lnTo>
                  <a:pt x="4571" y="180466"/>
                </a:lnTo>
                <a:lnTo>
                  <a:pt x="0" y="225932"/>
                </a:lnTo>
                <a:lnTo>
                  <a:pt x="4571" y="271525"/>
                </a:lnTo>
                <a:lnTo>
                  <a:pt x="17906" y="313943"/>
                </a:lnTo>
                <a:lnTo>
                  <a:pt x="38862" y="352297"/>
                </a:lnTo>
                <a:lnTo>
                  <a:pt x="66547" y="385825"/>
                </a:lnTo>
                <a:lnTo>
                  <a:pt x="100202" y="413384"/>
                </a:lnTo>
                <a:lnTo>
                  <a:pt x="138810" y="434213"/>
                </a:lnTo>
                <a:lnTo>
                  <a:pt x="181482" y="447420"/>
                </a:lnTo>
                <a:lnTo>
                  <a:pt x="227202" y="451992"/>
                </a:lnTo>
                <a:lnTo>
                  <a:pt x="273050" y="447420"/>
                </a:lnTo>
                <a:lnTo>
                  <a:pt x="315721" y="434213"/>
                </a:lnTo>
                <a:lnTo>
                  <a:pt x="354329" y="413384"/>
                </a:lnTo>
                <a:lnTo>
                  <a:pt x="387984" y="385825"/>
                </a:lnTo>
                <a:lnTo>
                  <a:pt x="415670" y="352297"/>
                </a:lnTo>
                <a:lnTo>
                  <a:pt x="436625" y="313943"/>
                </a:lnTo>
                <a:lnTo>
                  <a:pt x="449960" y="271525"/>
                </a:lnTo>
                <a:lnTo>
                  <a:pt x="454532" y="225932"/>
                </a:lnTo>
                <a:lnTo>
                  <a:pt x="449960" y="180466"/>
                </a:lnTo>
                <a:lnTo>
                  <a:pt x="436625" y="138049"/>
                </a:lnTo>
                <a:lnTo>
                  <a:pt x="415670" y="99694"/>
                </a:lnTo>
                <a:lnTo>
                  <a:pt x="387984" y="66166"/>
                </a:lnTo>
                <a:lnTo>
                  <a:pt x="354329" y="38607"/>
                </a:lnTo>
                <a:lnTo>
                  <a:pt x="315721" y="17779"/>
                </a:lnTo>
                <a:lnTo>
                  <a:pt x="273050" y="4571"/>
                </a:lnTo>
                <a:lnTo>
                  <a:pt x="227202" y="0"/>
                </a:lnTo>
                <a:close/>
              </a:path>
            </a:pathLst>
          </a:custGeom>
          <a:solidFill>
            <a:srgbClr val="000000"/>
          </a:solidFill>
        </p:spPr>
        <p:txBody>
          <a:bodyPr wrap="square" lIns="0" tIns="0" rIns="0" bIns="0" rtlCol="0"/>
          <a:lstStyle>
            <a:defPPr>
              <a:defRPr kern="0"/>
            </a:defPPr>
          </a:lstStyle>
          <a:p>
            <a:r>
              <a:rPr lang="en-GB" dirty="0">
                <a:solidFill>
                  <a:schemeClr val="bg1"/>
                </a:solidFill>
              </a:rPr>
              <a:t>   4</a:t>
            </a:r>
            <a:endParaRPr dirty="0">
              <a:solidFill>
                <a:schemeClr val="bg1"/>
              </a:solidFill>
            </a:endParaRPr>
          </a:p>
        </p:txBody>
      </p:sp>
      <p:sp>
        <p:nvSpPr>
          <p:cNvPr id="39" name="object 10"/>
          <p:cNvSpPr/>
          <p:nvPr/>
        </p:nvSpPr>
        <p:spPr>
          <a:xfrm>
            <a:off x="4039172" y="3844450"/>
            <a:ext cx="454659" cy="452120"/>
          </a:xfrm>
          <a:custGeom>
            <a:avLst/>
            <a:gdLst/>
            <a:ahLst/>
            <a:cxnLst/>
            <a:rect l="l" t="t" r="r" b="b"/>
            <a:pathLst>
              <a:path w="454660" h="452119">
                <a:moveTo>
                  <a:pt x="227202" y="0"/>
                </a:moveTo>
                <a:lnTo>
                  <a:pt x="181482" y="4571"/>
                </a:lnTo>
                <a:lnTo>
                  <a:pt x="138810" y="17779"/>
                </a:lnTo>
                <a:lnTo>
                  <a:pt x="100202" y="38607"/>
                </a:lnTo>
                <a:lnTo>
                  <a:pt x="66547" y="66166"/>
                </a:lnTo>
                <a:lnTo>
                  <a:pt x="38862" y="99694"/>
                </a:lnTo>
                <a:lnTo>
                  <a:pt x="17906" y="138049"/>
                </a:lnTo>
                <a:lnTo>
                  <a:pt x="4571" y="180466"/>
                </a:lnTo>
                <a:lnTo>
                  <a:pt x="0" y="225932"/>
                </a:lnTo>
                <a:lnTo>
                  <a:pt x="4571" y="271525"/>
                </a:lnTo>
                <a:lnTo>
                  <a:pt x="17906" y="313943"/>
                </a:lnTo>
                <a:lnTo>
                  <a:pt x="38862" y="352297"/>
                </a:lnTo>
                <a:lnTo>
                  <a:pt x="66547" y="385825"/>
                </a:lnTo>
                <a:lnTo>
                  <a:pt x="100202" y="413384"/>
                </a:lnTo>
                <a:lnTo>
                  <a:pt x="138810" y="434213"/>
                </a:lnTo>
                <a:lnTo>
                  <a:pt x="181482" y="447420"/>
                </a:lnTo>
                <a:lnTo>
                  <a:pt x="227202" y="451992"/>
                </a:lnTo>
                <a:lnTo>
                  <a:pt x="273050" y="447420"/>
                </a:lnTo>
                <a:lnTo>
                  <a:pt x="315721" y="434213"/>
                </a:lnTo>
                <a:lnTo>
                  <a:pt x="354329" y="413384"/>
                </a:lnTo>
                <a:lnTo>
                  <a:pt x="387984" y="385825"/>
                </a:lnTo>
                <a:lnTo>
                  <a:pt x="415670" y="352297"/>
                </a:lnTo>
                <a:lnTo>
                  <a:pt x="436625" y="313943"/>
                </a:lnTo>
                <a:lnTo>
                  <a:pt x="449960" y="271525"/>
                </a:lnTo>
                <a:lnTo>
                  <a:pt x="454532" y="225932"/>
                </a:lnTo>
                <a:lnTo>
                  <a:pt x="449960" y="180466"/>
                </a:lnTo>
                <a:lnTo>
                  <a:pt x="436625" y="138049"/>
                </a:lnTo>
                <a:lnTo>
                  <a:pt x="415670" y="99694"/>
                </a:lnTo>
                <a:lnTo>
                  <a:pt x="387984" y="66166"/>
                </a:lnTo>
                <a:lnTo>
                  <a:pt x="354329" y="38607"/>
                </a:lnTo>
                <a:lnTo>
                  <a:pt x="315721" y="17779"/>
                </a:lnTo>
                <a:lnTo>
                  <a:pt x="273050" y="4571"/>
                </a:lnTo>
                <a:lnTo>
                  <a:pt x="227202" y="0"/>
                </a:lnTo>
                <a:close/>
              </a:path>
            </a:pathLst>
          </a:custGeom>
          <a:solidFill>
            <a:srgbClr val="000000"/>
          </a:solidFill>
        </p:spPr>
        <p:txBody>
          <a:bodyPr wrap="square" lIns="0" tIns="0" rIns="0" bIns="0" rtlCol="0"/>
          <a:lstStyle>
            <a:defPPr>
              <a:defRPr kern="0"/>
            </a:defPPr>
          </a:lstStyle>
          <a:p>
            <a:r>
              <a:rPr lang="en-GB" dirty="0">
                <a:solidFill>
                  <a:schemeClr val="bg1"/>
                </a:solidFill>
              </a:rPr>
              <a:t>   5</a:t>
            </a:r>
            <a:endParaRPr dirty="0">
              <a:solidFill>
                <a:schemeClr val="bg1"/>
              </a:solidFill>
            </a:endParaRPr>
          </a:p>
        </p:txBody>
      </p:sp>
      <p:sp>
        <p:nvSpPr>
          <p:cNvPr id="40" name="object 10"/>
          <p:cNvSpPr/>
          <p:nvPr/>
        </p:nvSpPr>
        <p:spPr>
          <a:xfrm>
            <a:off x="4040160" y="4415552"/>
            <a:ext cx="454659" cy="452120"/>
          </a:xfrm>
          <a:custGeom>
            <a:avLst/>
            <a:gdLst/>
            <a:ahLst/>
            <a:cxnLst/>
            <a:rect l="l" t="t" r="r" b="b"/>
            <a:pathLst>
              <a:path w="454660" h="452119">
                <a:moveTo>
                  <a:pt x="227202" y="0"/>
                </a:moveTo>
                <a:lnTo>
                  <a:pt x="181482" y="4571"/>
                </a:lnTo>
                <a:lnTo>
                  <a:pt x="138810" y="17779"/>
                </a:lnTo>
                <a:lnTo>
                  <a:pt x="100202" y="38607"/>
                </a:lnTo>
                <a:lnTo>
                  <a:pt x="66547" y="66166"/>
                </a:lnTo>
                <a:lnTo>
                  <a:pt x="38862" y="99694"/>
                </a:lnTo>
                <a:lnTo>
                  <a:pt x="17906" y="138049"/>
                </a:lnTo>
                <a:lnTo>
                  <a:pt x="4571" y="180466"/>
                </a:lnTo>
                <a:lnTo>
                  <a:pt x="0" y="225932"/>
                </a:lnTo>
                <a:lnTo>
                  <a:pt x="4571" y="271525"/>
                </a:lnTo>
                <a:lnTo>
                  <a:pt x="17906" y="313943"/>
                </a:lnTo>
                <a:lnTo>
                  <a:pt x="38862" y="352297"/>
                </a:lnTo>
                <a:lnTo>
                  <a:pt x="66547" y="385825"/>
                </a:lnTo>
                <a:lnTo>
                  <a:pt x="100202" y="413384"/>
                </a:lnTo>
                <a:lnTo>
                  <a:pt x="138810" y="434213"/>
                </a:lnTo>
                <a:lnTo>
                  <a:pt x="181482" y="447420"/>
                </a:lnTo>
                <a:lnTo>
                  <a:pt x="227202" y="451992"/>
                </a:lnTo>
                <a:lnTo>
                  <a:pt x="273050" y="447420"/>
                </a:lnTo>
                <a:lnTo>
                  <a:pt x="315721" y="434213"/>
                </a:lnTo>
                <a:lnTo>
                  <a:pt x="354329" y="413384"/>
                </a:lnTo>
                <a:lnTo>
                  <a:pt x="387984" y="385825"/>
                </a:lnTo>
                <a:lnTo>
                  <a:pt x="415670" y="352297"/>
                </a:lnTo>
                <a:lnTo>
                  <a:pt x="436625" y="313943"/>
                </a:lnTo>
                <a:lnTo>
                  <a:pt x="449960" y="271525"/>
                </a:lnTo>
                <a:lnTo>
                  <a:pt x="454532" y="225932"/>
                </a:lnTo>
                <a:lnTo>
                  <a:pt x="449960" y="180466"/>
                </a:lnTo>
                <a:lnTo>
                  <a:pt x="436625" y="138049"/>
                </a:lnTo>
                <a:lnTo>
                  <a:pt x="415670" y="99694"/>
                </a:lnTo>
                <a:lnTo>
                  <a:pt x="387984" y="66166"/>
                </a:lnTo>
                <a:lnTo>
                  <a:pt x="354329" y="38607"/>
                </a:lnTo>
                <a:lnTo>
                  <a:pt x="315721" y="17779"/>
                </a:lnTo>
                <a:lnTo>
                  <a:pt x="273050" y="4571"/>
                </a:lnTo>
                <a:lnTo>
                  <a:pt x="227202" y="0"/>
                </a:lnTo>
                <a:close/>
              </a:path>
            </a:pathLst>
          </a:custGeom>
          <a:solidFill>
            <a:srgbClr val="000000"/>
          </a:solidFill>
        </p:spPr>
        <p:txBody>
          <a:bodyPr wrap="square" lIns="0" tIns="0" rIns="0" bIns="0" rtlCol="0"/>
          <a:lstStyle>
            <a:defPPr>
              <a:defRPr kern="0"/>
            </a:defPPr>
          </a:lstStyle>
          <a:p>
            <a:r>
              <a:rPr lang="en-GB" dirty="0">
                <a:solidFill>
                  <a:schemeClr val="bg1"/>
                </a:solidFill>
              </a:rPr>
              <a:t>   6</a:t>
            </a:r>
            <a:endParaRPr dirty="0">
              <a:solidFill>
                <a:schemeClr val="bg1"/>
              </a:solidFill>
            </a:endParaRPr>
          </a:p>
        </p:txBody>
      </p:sp>
      <p:sp>
        <p:nvSpPr>
          <p:cNvPr id="41" name="object 10"/>
          <p:cNvSpPr/>
          <p:nvPr/>
        </p:nvSpPr>
        <p:spPr>
          <a:xfrm>
            <a:off x="4039172" y="4923290"/>
            <a:ext cx="454659" cy="452120"/>
          </a:xfrm>
          <a:custGeom>
            <a:avLst/>
            <a:gdLst/>
            <a:ahLst/>
            <a:cxnLst/>
            <a:rect l="l" t="t" r="r" b="b"/>
            <a:pathLst>
              <a:path w="454660" h="452119">
                <a:moveTo>
                  <a:pt x="227202" y="0"/>
                </a:moveTo>
                <a:lnTo>
                  <a:pt x="181482" y="4571"/>
                </a:lnTo>
                <a:lnTo>
                  <a:pt x="138810" y="17779"/>
                </a:lnTo>
                <a:lnTo>
                  <a:pt x="100202" y="38607"/>
                </a:lnTo>
                <a:lnTo>
                  <a:pt x="66547" y="66166"/>
                </a:lnTo>
                <a:lnTo>
                  <a:pt x="38862" y="99694"/>
                </a:lnTo>
                <a:lnTo>
                  <a:pt x="17906" y="138049"/>
                </a:lnTo>
                <a:lnTo>
                  <a:pt x="4571" y="180466"/>
                </a:lnTo>
                <a:lnTo>
                  <a:pt x="0" y="225932"/>
                </a:lnTo>
                <a:lnTo>
                  <a:pt x="4571" y="271525"/>
                </a:lnTo>
                <a:lnTo>
                  <a:pt x="17906" y="313943"/>
                </a:lnTo>
                <a:lnTo>
                  <a:pt x="38862" y="352297"/>
                </a:lnTo>
                <a:lnTo>
                  <a:pt x="66547" y="385825"/>
                </a:lnTo>
                <a:lnTo>
                  <a:pt x="100202" y="413384"/>
                </a:lnTo>
                <a:lnTo>
                  <a:pt x="138810" y="434213"/>
                </a:lnTo>
                <a:lnTo>
                  <a:pt x="181482" y="447420"/>
                </a:lnTo>
                <a:lnTo>
                  <a:pt x="227202" y="451992"/>
                </a:lnTo>
                <a:lnTo>
                  <a:pt x="273050" y="447420"/>
                </a:lnTo>
                <a:lnTo>
                  <a:pt x="315721" y="434213"/>
                </a:lnTo>
                <a:lnTo>
                  <a:pt x="354329" y="413384"/>
                </a:lnTo>
                <a:lnTo>
                  <a:pt x="387984" y="385825"/>
                </a:lnTo>
                <a:lnTo>
                  <a:pt x="415670" y="352297"/>
                </a:lnTo>
                <a:lnTo>
                  <a:pt x="436625" y="313943"/>
                </a:lnTo>
                <a:lnTo>
                  <a:pt x="449960" y="271525"/>
                </a:lnTo>
                <a:lnTo>
                  <a:pt x="454532" y="225932"/>
                </a:lnTo>
                <a:lnTo>
                  <a:pt x="449960" y="180466"/>
                </a:lnTo>
                <a:lnTo>
                  <a:pt x="436625" y="138049"/>
                </a:lnTo>
                <a:lnTo>
                  <a:pt x="415670" y="99694"/>
                </a:lnTo>
                <a:lnTo>
                  <a:pt x="387984" y="66166"/>
                </a:lnTo>
                <a:lnTo>
                  <a:pt x="354329" y="38607"/>
                </a:lnTo>
                <a:lnTo>
                  <a:pt x="315721" y="17779"/>
                </a:lnTo>
                <a:lnTo>
                  <a:pt x="273050" y="4571"/>
                </a:lnTo>
                <a:lnTo>
                  <a:pt x="227202" y="0"/>
                </a:lnTo>
                <a:close/>
              </a:path>
            </a:pathLst>
          </a:custGeom>
          <a:solidFill>
            <a:srgbClr val="000000"/>
          </a:solidFill>
        </p:spPr>
        <p:txBody>
          <a:bodyPr wrap="square" lIns="0" tIns="0" rIns="0" bIns="0" rtlCol="0"/>
          <a:lstStyle>
            <a:defPPr>
              <a:defRPr kern="0"/>
            </a:defPPr>
          </a:lstStyle>
          <a:p>
            <a:r>
              <a:rPr lang="en-GB" dirty="0">
                <a:solidFill>
                  <a:schemeClr val="bg1"/>
                </a:solidFill>
              </a:rPr>
              <a:t>   7</a:t>
            </a:r>
            <a:endParaRPr dirty="0">
              <a:solidFill>
                <a:schemeClr val="bg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9500" y="277838"/>
            <a:ext cx="9097686" cy="1068223"/>
          </a:xfrm>
        </p:spPr>
        <p:txBody>
          <a:bodyPr/>
          <a:lstStyle/>
          <a:p>
            <a:r>
              <a:rPr lang="en-GB" dirty="0"/>
              <a:t>In Summary - ML vs DL</a:t>
            </a:r>
            <a:endParaRPr lang="en-US" dirty="0">
              <a:solidFill>
                <a:srgbClr val="942D6D"/>
              </a:solidFill>
            </a:endParaRPr>
          </a:p>
        </p:txBody>
      </p:sp>
      <p:cxnSp>
        <p:nvCxnSpPr>
          <p:cNvPr id="4" name="Straight Connector 3"/>
          <p:cNvCxnSpPr/>
          <p:nvPr/>
        </p:nvCxnSpPr>
        <p:spPr>
          <a:xfrm flipH="1">
            <a:off x="486298" y="1209167"/>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86298" y="534312"/>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87687" y="1421296"/>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7" name="Text Placeholder 2"/>
          <p:cNvSpPr>
            <a:spLocks noGrp="1"/>
          </p:cNvSpPr>
          <p:nvPr>
            <p:ph type="body" sz="quarter" idx="10"/>
          </p:nvPr>
        </p:nvSpPr>
        <p:spPr>
          <a:xfrm>
            <a:off x="486221" y="1673860"/>
            <a:ext cx="10994852" cy="4473724"/>
          </a:xfrm>
        </p:spPr>
        <p:txBody>
          <a:bodyPr/>
          <a:lstStyle/>
          <a:p>
            <a:r>
              <a:rPr lang="en-US" sz="2200" dirty="0">
                <a:solidFill>
                  <a:schemeClr val="tx1"/>
                </a:solidFill>
              </a:rPr>
              <a:t>Machine learning focuses on developing algorithms that allow computers to learn from data and make predictions or decisions without being explicitly programmed. It includes techniques like </a:t>
            </a:r>
            <a:r>
              <a:rPr lang="en-US" sz="2200" b="1" dirty="0">
                <a:solidFill>
                  <a:schemeClr val="tx1"/>
                </a:solidFill>
              </a:rPr>
              <a:t>supervised learning, unsupervised learning, semi-supervised and reinforcement learning</a:t>
            </a:r>
            <a:r>
              <a:rPr lang="en-US" sz="2200" dirty="0">
                <a:solidFill>
                  <a:schemeClr val="tx1"/>
                </a:solidFill>
              </a:rPr>
              <a:t>. Machine learning models often rely on </a:t>
            </a:r>
            <a:r>
              <a:rPr lang="en-US" sz="2200" b="1" dirty="0">
                <a:solidFill>
                  <a:schemeClr val="tx1"/>
                </a:solidFill>
              </a:rPr>
              <a:t>structured data and require human intervention</a:t>
            </a:r>
            <a:r>
              <a:rPr lang="en-US" sz="2200" dirty="0">
                <a:solidFill>
                  <a:schemeClr val="tx1"/>
                </a:solidFill>
              </a:rPr>
              <a:t> for tasks like feature engineering.</a:t>
            </a:r>
          </a:p>
          <a:p>
            <a:r>
              <a:rPr lang="en-US" sz="2200" dirty="0">
                <a:solidFill>
                  <a:schemeClr val="tx1"/>
                </a:solidFill>
              </a:rPr>
              <a:t>Deep learning, on the other hand, is a specialized branch of machine learning that uses </a:t>
            </a:r>
            <a:r>
              <a:rPr lang="en-US" sz="2200" b="1" dirty="0">
                <a:solidFill>
                  <a:schemeClr val="tx1"/>
                </a:solidFill>
              </a:rPr>
              <a:t>artificial neural networks</a:t>
            </a:r>
            <a:r>
              <a:rPr lang="en-US" sz="2200" dirty="0">
                <a:solidFill>
                  <a:schemeClr val="tx1"/>
                </a:solidFill>
              </a:rPr>
              <a:t> with multiple layers (hence called "deep"). These networks are designed to mimic the structure and functioning of the human brain. Deep learning excels at handling large datasets and complex tasks such as image recognition, natural language processing, and autonomous systems. Unlike traditional machine learning, deep learning models automatically extract features from raw data, reducing the need for manual feature engineering.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Light blue-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earson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ight blue-inside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ith pictur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Back 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75ef6c9-0060-4440-9efa-3aae0a8a23a8">
      <Terms xmlns="http://schemas.microsoft.com/office/infopath/2007/PartnerControls"/>
    </lcf76f155ced4ddcb4097134ff3c332f>
    <TaxCatchAll xmlns="9d301abb-ba59-43ab-9a75-408870ab3cc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4DB369FD76D0546996D1DC1AD8E7EDB" ma:contentTypeVersion="15" ma:contentTypeDescription="Create a new document." ma:contentTypeScope="" ma:versionID="42f89f86421eea578d3a41c8eeed95be">
  <xsd:schema xmlns:xsd="http://www.w3.org/2001/XMLSchema" xmlns:xs="http://www.w3.org/2001/XMLSchema" xmlns:p="http://schemas.microsoft.com/office/2006/metadata/properties" xmlns:ns2="175ef6c9-0060-4440-9efa-3aae0a8a23a8" xmlns:ns3="9d301abb-ba59-43ab-9a75-408870ab3cc0" targetNamespace="http://schemas.microsoft.com/office/2006/metadata/properties" ma:root="true" ma:fieldsID="a6f5839cc4231ddfeadf4fcc49bc0cb9" ns2:_="" ns3:_="">
    <xsd:import namespace="175ef6c9-0060-4440-9efa-3aae0a8a23a8"/>
    <xsd:import namespace="9d301abb-ba59-43ab-9a75-408870ab3cc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5ef6c9-0060-4440-9efa-3aae0a8a23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4247cd83-a7c4-41c3-9ccf-b3de8fb2a78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301abb-ba59-43ab-9a75-408870ab3cc0"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8b33bba8-9c31-41b7-9cc8-b10a3e474c41}" ma:internalName="TaxCatchAll" ma:showField="CatchAllData" ma:web="9d301abb-ba59-43ab-9a75-408870ab3cc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1B3FBCC-7835-4196-897F-2DC9954AC84F}">
  <ds:schemaRefs/>
</ds:datastoreItem>
</file>

<file path=customXml/itemProps2.xml><?xml version="1.0" encoding="utf-8"?>
<ds:datastoreItem xmlns:ds="http://schemas.openxmlformats.org/officeDocument/2006/customXml" ds:itemID="{E8F3AADC-1183-4CE4-B9D6-6F8A377D9A38}">
  <ds:schemaRefs/>
</ds:datastoreItem>
</file>

<file path=customXml/itemProps3.xml><?xml version="1.0" encoding="utf-8"?>
<ds:datastoreItem xmlns:ds="http://schemas.openxmlformats.org/officeDocument/2006/customXml" ds:itemID="{D14068E2-ED65-4CFD-81D7-02A5F8571AFF}">
  <ds:schemaRefs/>
</ds:datastoreItem>
</file>

<file path=docProps/app.xml><?xml version="1.0" encoding="utf-8"?>
<Properties xmlns="http://schemas.openxmlformats.org/officeDocument/2006/extended-properties" xmlns:vt="http://schemas.openxmlformats.org/officeDocument/2006/docPropsVTypes">
  <Template>Light blue-Cover</Template>
  <TotalTime>0</TotalTime>
  <Words>1193</Words>
  <Application>Microsoft Office PowerPoint</Application>
  <PresentationFormat>Widescreen</PresentationFormat>
  <Paragraphs>148</Paragraphs>
  <Slides>33</Slides>
  <Notes>24</Notes>
  <HiddenSlides>0</HiddenSlides>
  <MMClips>0</MMClips>
  <ScaleCrop>false</ScaleCrop>
  <HeadingPairs>
    <vt:vector size="6" baseType="variant">
      <vt:variant>
        <vt:lpstr>Fonts Used</vt:lpstr>
      </vt:variant>
      <vt:variant>
        <vt:i4>3</vt:i4>
      </vt:variant>
      <vt:variant>
        <vt:lpstr>Theme</vt:lpstr>
      </vt:variant>
      <vt:variant>
        <vt:i4>5</vt:i4>
      </vt:variant>
      <vt:variant>
        <vt:lpstr>Slide Titles</vt:lpstr>
      </vt:variant>
      <vt:variant>
        <vt:i4>33</vt:i4>
      </vt:variant>
    </vt:vector>
  </HeadingPairs>
  <TitlesOfParts>
    <vt:vector size="41" baseType="lpstr">
      <vt:lpstr>Arial</vt:lpstr>
      <vt:lpstr>Calibri</vt:lpstr>
      <vt:lpstr>Wingdings</vt:lpstr>
      <vt:lpstr>Light blue-Cover</vt:lpstr>
      <vt:lpstr>Pearson slide</vt:lpstr>
      <vt:lpstr>Light blue-inside slide</vt:lpstr>
      <vt:lpstr>With picture</vt:lpstr>
      <vt:lpstr>1_Back cover</vt:lpstr>
      <vt:lpstr>Applied Machine learning</vt:lpstr>
      <vt:lpstr>Applied Machine learning </vt:lpstr>
      <vt:lpstr>Applied Machine learning</vt:lpstr>
      <vt:lpstr>PowerPoint Presentation</vt:lpstr>
      <vt:lpstr>Learning objectives</vt:lpstr>
      <vt:lpstr>Recap - AI, ML, Dl</vt:lpstr>
      <vt:lpstr>Simplified Diagrammatic Implementation of ML </vt:lpstr>
      <vt:lpstr>ML in Mathematical Representation</vt:lpstr>
      <vt:lpstr>Machine Learning components</vt:lpstr>
      <vt:lpstr>Roadmap to solve complex problems</vt:lpstr>
      <vt:lpstr>What is ML?</vt:lpstr>
      <vt:lpstr>How things are learned</vt:lpstr>
      <vt:lpstr>Use of generalization</vt:lpstr>
      <vt:lpstr>Basic paradigm of ml</vt:lpstr>
      <vt:lpstr>Is the model learning In the correct way</vt:lpstr>
      <vt:lpstr>Online resources</vt:lpstr>
      <vt:lpstr>Limitations of ML</vt:lpstr>
      <vt:lpstr>Deep Learning (DL) to the rescue</vt:lpstr>
      <vt:lpstr>What is Deep Learning (An example)</vt:lpstr>
      <vt:lpstr>Difference between DL and ML</vt:lpstr>
      <vt:lpstr>Processing DL with CPU vs GPU</vt:lpstr>
      <vt:lpstr>Deep Learning</vt:lpstr>
      <vt:lpstr>Structure of biological Neuron</vt:lpstr>
      <vt:lpstr>Structure of biological Neuron</vt:lpstr>
      <vt:lpstr>Artificial Neuron in DL</vt:lpstr>
      <vt:lpstr>Some use cases of DL</vt:lpstr>
      <vt:lpstr>Some use cases of DL</vt:lpstr>
      <vt:lpstr>Some use cases of DL</vt:lpstr>
      <vt:lpstr>Introduction to Artificial Neural Network (ANN)</vt:lpstr>
      <vt:lpstr>Deep Neural Network in DL</vt:lpstr>
      <vt:lpstr>PowerPoint Presentation</vt:lpstr>
      <vt:lpstr>In Summary - ML vs DL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Bachelor’s degree</dc:title>
  <dc:creator>Nalinda Somasiri</dc:creator>
  <cp:lastModifiedBy>Somdip Dey</cp:lastModifiedBy>
  <cp:revision>60</cp:revision>
  <dcterms:created xsi:type="dcterms:W3CDTF">2021-07-24T10:34:00Z</dcterms:created>
  <dcterms:modified xsi:type="dcterms:W3CDTF">2026-01-30T11:35:08Z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0x01010064DB369FD76D0546996D1DC1AD8E7EDB</vt:lpwstr>
  </property>
  <property fmtid="{D5CDD505-2E9C-101B-9397-08002B2CF9AE}" pid="3" name="MediaServiceImageTags">
    <vt:lpwstr/>
  </property>
  <property fmtid="{D5CDD505-2E9C-101B-9397-08002B2CF9AE}" pid="4" name="ICV">
    <vt:lpwstr>720910EC29544A419E49D924627F02E4_13</vt:lpwstr>
  </property>
  <property fmtid="{D5CDD505-2E9C-101B-9397-08002B2CF9AE}" pid="5" name="KSOProductBuildVer">
    <vt:lpwstr>1033-12.2.0.22549</vt:lpwstr>
  </property>
</Properties>
</file>