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  <p:sldMasterId id="2147483732" r:id="rId5"/>
    <p:sldMasterId id="2147483658" r:id="rId6"/>
    <p:sldMasterId id="2147483710" r:id="rId7"/>
    <p:sldMasterId id="2147483706" r:id="rId8"/>
  </p:sldMasterIdLst>
  <p:notesMasterIdLst>
    <p:notesMasterId r:id="rId23"/>
  </p:notesMasterIdLst>
  <p:sldIdLst>
    <p:sldId id="261" r:id="rId9"/>
    <p:sldId id="257" r:id="rId10"/>
    <p:sldId id="265" r:id="rId11"/>
    <p:sldId id="306" r:id="rId12"/>
    <p:sldId id="311" r:id="rId13"/>
    <p:sldId id="333" r:id="rId14"/>
    <p:sldId id="334" r:id="rId15"/>
    <p:sldId id="336" r:id="rId16"/>
    <p:sldId id="339" r:id="rId17"/>
    <p:sldId id="340" r:id="rId18"/>
    <p:sldId id="341" r:id="rId19"/>
    <p:sldId id="342" r:id="rId20"/>
    <p:sldId id="343" r:id="rId21"/>
    <p:sldId id="26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40" autoAdjust="0"/>
    <p:restoredTop sz="73061" autoAdjust="0"/>
  </p:normalViewPr>
  <p:slideViewPr>
    <p:cSldViewPr snapToGrid="0">
      <p:cViewPr varScale="1">
        <p:scale>
          <a:sx n="63" d="100"/>
          <a:sy n="63" d="100"/>
        </p:scale>
        <p:origin x="96" y="23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2/1/2024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378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895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359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32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04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816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044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93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lFxW7kdtP8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watch?v=IzcX9bTJLj8" TargetMode="External"/><Relationship Id="rId5" Type="http://schemas.openxmlformats.org/officeDocument/2006/relationships/hyperlink" Target="https://www.youtube.com/watch?v=rADYARpj-V8" TargetMode="External"/><Relationship Id="rId4" Type="http://schemas.openxmlformats.org/officeDocument/2006/relationships/hyperlink" Target="https://www.youtube.com/watch?v=iUUSamG4P80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/>
              <a:t>Deployment of Machine Learning Models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Deployment of Machine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ML Components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ML model flow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ML basic paradigm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ML modelling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Machine Learning components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298" y="1382452"/>
            <a:ext cx="11705702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– Without data, ML does not exist. Without quality, reliable and DIVERSE data, your ML system is rubbish (“Garbage in – Garbage out”)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 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(predictor, variable) is an individual measurable property or characteristic of a phenomenon being observed – House price, price product, X-Rays, . . .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Algorithms: Linear regression, Support Vector Machines(SVM), K-Means, Neural Networks, …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486298" y="1209167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86298" y="534312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87687" y="1421296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645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45" y="277838"/>
            <a:ext cx="9097686" cy="1068223"/>
          </a:xfrm>
        </p:spPr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Roadmap to solve complex problems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298" y="5598268"/>
            <a:ext cx="11705702" cy="1068224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…with a Machine Learning Framework Remember: </a:t>
            </a:r>
          </a:p>
          <a:p>
            <a:r>
              <a:rPr lang="en-GB" dirty="0">
                <a:solidFill>
                  <a:schemeClr val="bg1"/>
                </a:solidFill>
              </a:rPr>
              <a:t>ML is about </a:t>
            </a:r>
            <a:r>
              <a:rPr lang="en-GB" b="1" dirty="0">
                <a:solidFill>
                  <a:schemeClr val="bg1"/>
                </a:solidFill>
              </a:rPr>
              <a:t>predict results based on incoming data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F03A23-C193-5045-B006-5CD8D15A6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5827"/>
            <a:ext cx="12192000" cy="452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112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What is ML?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298" y="1382452"/>
            <a:ext cx="11705702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is a class of methods for automatically creating models from data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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algorithms turn a data set into a model.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is a technique where machines apply statistical learning techniques to automatically identify patterns in data. 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system that learns from experience. Whereas a rule-based system will perform a task the same way every time, the performance of a machine learning system can be improved through training, by exposing the algorithm to more data.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486298" y="1209167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86298" y="534312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87687" y="1421296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523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How things are learned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298" y="1188337"/>
            <a:ext cx="11705702" cy="3815101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Generally, with machine learning, the inputs and outputs are used by the computer to generate a program that can be used with future collected data to compute the outputs.</a:t>
            </a:r>
          </a:p>
          <a:p>
            <a:pPr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There are two categories of knowledge in this realm, Declarative and Imperative Knowledge </a:t>
            </a:r>
          </a:p>
          <a:p>
            <a:pPr lvl="1">
              <a:buFont typeface="Wingdings" pitchFamily="2" charset="2"/>
              <a:buChar char="§"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 </a:t>
            </a:r>
            <a:r>
              <a:rPr lang="en-GB" sz="28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Declarative Knowledge </a:t>
            </a: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based on the principal of </a:t>
            </a:r>
            <a:r>
              <a:rPr lang="en-GB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memorization </a:t>
            </a: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(accumulating individual facts); it is limited by the time and memory available </a:t>
            </a:r>
          </a:p>
          <a:p>
            <a:pPr lvl="1">
              <a:buFont typeface="Wingdings" pitchFamily="2" charset="2"/>
              <a:buChar char="§"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 </a:t>
            </a:r>
            <a:r>
              <a:rPr lang="en-GB" sz="28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Imperative Knowledge </a:t>
            </a: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based on principal of </a:t>
            </a:r>
            <a:r>
              <a:rPr lang="en-GB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generalisation </a:t>
            </a: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(deducing new facts from old facts); limited by accuracy of deduction process since it is essentially a predictive activity and assumes past trends will allow prediction of the future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486298" y="1209167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86298" y="534312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87687" y="1421296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033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Use of generalization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298" y="1382452"/>
            <a:ext cx="11705702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Humans use generalisation to learn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When computer scientists speak about machine learning, most often they mean the discipline of writing programs that can automatically learn to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useful inferences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implicit patterns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data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E.g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linear regression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But..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student of political science might observe the behaviour of a large number of politicians and generalise from those observations that all the politicians lie on the campaign trail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486298" y="1209167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86298" y="534312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87687" y="1421296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654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Basic paradigm of ml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298" y="1382452"/>
            <a:ext cx="11705702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Observe a set of examples: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Training Data</a:t>
            </a:r>
            <a:b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-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set represents an incomplete information about a phenomenon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inference to create a model of a process able to “generate” the training data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the model to make predications about previously unseen data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Variations of paradigm: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- Supervised: find a rule that predicts a label/feature for previously 	unseen data, using a set of label/feature pairs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- Unsupervised: group feature vectors (without labels) into natural 		clusters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486298" y="1209167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86298" y="534312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87687" y="1421296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414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00" y="277838"/>
            <a:ext cx="9097686" cy="1068223"/>
          </a:xfrm>
        </p:spPr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Is the model learning In the correct way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298" y="1382452"/>
            <a:ext cx="11705702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Every machine learning approach has at least the 3 following components: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- A model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- An objective function for assessing the quality of the model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- An optimization method for enhancing the model 	  	   	(minimizing or maximizing the objective function)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Also, we need to have a metric (quantifiable measure) to compare the models!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486298" y="1209167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86298" y="534312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87687" y="1421296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344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00" y="277838"/>
            <a:ext cx="9097686" cy="1068223"/>
          </a:xfrm>
        </p:spPr>
        <p:txBody>
          <a:bodyPr/>
          <a:lstStyle/>
          <a:p>
            <a:r>
              <a:rPr lang="en-US" dirty="0" smtClean="0">
                <a:solidFill>
                  <a:srgbClr val="942D6D"/>
                </a:solidFill>
              </a:rPr>
              <a:t>Online resources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486298" y="1209167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86298" y="534312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87687" y="1421296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48086" y="3244334"/>
            <a:ext cx="49487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https://</a:t>
            </a:r>
            <a:r>
              <a:rPr lang="en-GB" dirty="0" smtClean="0">
                <a:hlinkClick r:id="rId3"/>
              </a:rPr>
              <a:t>www.youtube.com/watch?v=olFxW7kdtP8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3571270" y="4036814"/>
            <a:ext cx="50784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4"/>
              </a:rPr>
              <a:t>https://</a:t>
            </a:r>
            <a:r>
              <a:rPr lang="en-GB" dirty="0" smtClean="0">
                <a:hlinkClick r:id="rId4"/>
              </a:rPr>
              <a:t>www.youtube.com/watch?v=iUUSamG4P80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3571270" y="4829294"/>
            <a:ext cx="4914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5"/>
              </a:rPr>
              <a:t>https://</a:t>
            </a:r>
            <a:r>
              <a:rPr lang="en-GB" dirty="0" smtClean="0">
                <a:hlinkClick r:id="rId5"/>
              </a:rPr>
              <a:t>www.youtube.com/watch?v=rADYARpj-V8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3571270" y="5437108"/>
            <a:ext cx="4763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6"/>
              </a:rPr>
              <a:t>https://</a:t>
            </a:r>
            <a:r>
              <a:rPr lang="en-GB" dirty="0" smtClean="0">
                <a:hlinkClick r:id="rId6"/>
              </a:rPr>
              <a:t>www.youtube.com/watch?v=IzcX9bTJLj8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1257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DB369FD76D0546996D1DC1AD8E7EDB" ma:contentTypeVersion="15" ma:contentTypeDescription="Create a new document." ma:contentTypeScope="" ma:versionID="42f89f86421eea578d3a41c8eeed95be">
  <xsd:schema xmlns:xsd="http://www.w3.org/2001/XMLSchema" xmlns:xs="http://www.w3.org/2001/XMLSchema" xmlns:p="http://schemas.microsoft.com/office/2006/metadata/properties" xmlns:ns2="175ef6c9-0060-4440-9efa-3aae0a8a23a8" xmlns:ns3="9d301abb-ba59-43ab-9a75-408870ab3cc0" targetNamespace="http://schemas.microsoft.com/office/2006/metadata/properties" ma:root="true" ma:fieldsID="a6f5839cc4231ddfeadf4fcc49bc0cb9" ns2:_="" ns3:_="">
    <xsd:import namespace="175ef6c9-0060-4440-9efa-3aae0a8a23a8"/>
    <xsd:import namespace="9d301abb-ba59-43ab-9a75-408870ab3c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5ef6c9-0060-4440-9efa-3aae0a8a23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4247cd83-a7c4-41c3-9ccf-b3de8fb2a7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301abb-ba59-43ab-9a75-408870ab3cc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b33bba8-9c31-41b7-9cc8-b10a3e474c41}" ma:internalName="TaxCatchAll" ma:showField="CatchAllData" ma:web="9d301abb-ba59-43ab-9a75-408870ab3c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5ef6c9-0060-4440-9efa-3aae0a8a23a8">
      <Terms xmlns="http://schemas.microsoft.com/office/infopath/2007/PartnerControls"/>
    </lcf76f155ced4ddcb4097134ff3c332f>
    <TaxCatchAll xmlns="9d301abb-ba59-43ab-9a75-408870ab3cc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4068E2-ED65-4CFD-81D7-02A5F8571A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5ef6c9-0060-4440-9efa-3aae0a8a23a8"/>
    <ds:schemaRef ds:uri="9d301abb-ba59-43ab-9a75-408870ab3c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8F3AADC-1183-4CE4-B9D6-6F8A377D9A38}">
  <ds:schemaRefs>
    <ds:schemaRef ds:uri="http://schemas.microsoft.com/office/2006/metadata/properties"/>
    <ds:schemaRef ds:uri="http://schemas.microsoft.com/office/infopath/2007/PartnerControls"/>
    <ds:schemaRef ds:uri="175ef6c9-0060-4440-9efa-3aae0a8a23a8"/>
    <ds:schemaRef ds:uri="9d301abb-ba59-43ab-9a75-408870ab3cc0"/>
  </ds:schemaRefs>
</ds:datastoreItem>
</file>

<file path=customXml/itemProps3.xml><?xml version="1.0" encoding="utf-8"?>
<ds:datastoreItem xmlns:ds="http://schemas.openxmlformats.org/officeDocument/2006/customXml" ds:itemID="{61B3FBCC-7835-4196-897F-2DC9954AC8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238</TotalTime>
  <Words>335</Words>
  <Application>Microsoft Office PowerPoint</Application>
  <PresentationFormat>Widescreen</PresentationFormat>
  <Paragraphs>68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Wingdings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Machine Learning components</vt:lpstr>
      <vt:lpstr>Roadmap to solve complex problems</vt:lpstr>
      <vt:lpstr>What is ML?</vt:lpstr>
      <vt:lpstr>How things are learned</vt:lpstr>
      <vt:lpstr>Use of generalization</vt:lpstr>
      <vt:lpstr>Basic paradigm of ml</vt:lpstr>
      <vt:lpstr>Is the model learning In the correct way</vt:lpstr>
      <vt:lpstr>Online 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Maksud</cp:lastModifiedBy>
  <cp:revision>44</cp:revision>
  <dcterms:created xsi:type="dcterms:W3CDTF">2021-07-24T10:34:01Z</dcterms:created>
  <dcterms:modified xsi:type="dcterms:W3CDTF">2024-02-01T12:28:56Z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0x01010064DB369FD76D0546996D1DC1AD8E7EDB</vt:lpwstr>
  </property>
  <property fmtid="{D5CDD505-2E9C-101B-9397-08002B2CF9AE}" pid="3" name="MediaServiceImageTags">
    <vt:lpwstr/>
  </property>
</Properties>
</file>