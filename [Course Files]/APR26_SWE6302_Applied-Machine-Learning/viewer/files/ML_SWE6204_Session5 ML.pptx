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2" r:id="rId5"/>
    <p:sldMasterId id="2147483658" r:id="rId6"/>
    <p:sldMasterId id="2147483710" r:id="rId7"/>
    <p:sldMasterId id="2147483706" r:id="rId8"/>
  </p:sldMasterIdLst>
  <p:notesMasterIdLst>
    <p:notesMasterId r:id="rId25"/>
  </p:notesMasterIdLst>
  <p:sldIdLst>
    <p:sldId id="261" r:id="rId9"/>
    <p:sldId id="257" r:id="rId10"/>
    <p:sldId id="265" r:id="rId11"/>
    <p:sldId id="306" r:id="rId12"/>
    <p:sldId id="311" r:id="rId13"/>
    <p:sldId id="343" r:id="rId14"/>
    <p:sldId id="336" r:id="rId15"/>
    <p:sldId id="344" r:id="rId16"/>
    <p:sldId id="334" r:id="rId17"/>
    <p:sldId id="333" r:id="rId18"/>
    <p:sldId id="339" r:id="rId19"/>
    <p:sldId id="340" r:id="rId20"/>
    <p:sldId id="341" r:id="rId21"/>
    <p:sldId id="342" r:id="rId22"/>
    <p:sldId id="345" r:id="rId23"/>
    <p:sldId id="26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40" autoAdjust="0"/>
    <p:restoredTop sz="65538" autoAdjust="0"/>
  </p:normalViewPr>
  <p:slideViewPr>
    <p:cSldViewPr snapToGrid="0">
      <p:cViewPr varScale="1">
        <p:scale>
          <a:sx n="44" d="100"/>
          <a:sy n="44" d="100"/>
        </p:scale>
        <p:origin x="612" y="4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3/17/2022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22222"/>
                </a:solidFill>
                <a:effectLst/>
                <a:latin typeface="Poppins" panose="00000500000000000000" pitchFamily="2" charset="0"/>
              </a:rPr>
              <a:t>https://www.mygreatlearning.com/blog/what-is-machine-learning/</a:t>
            </a:r>
          </a:p>
          <a:p>
            <a:endParaRPr lang="en-GB" b="0" i="0" dirty="0">
              <a:solidFill>
                <a:srgbClr val="222222"/>
              </a:solidFill>
              <a:effectLst/>
              <a:latin typeface="Poppins" panose="00000500000000000000" pitchFamily="2" charset="0"/>
            </a:endParaRPr>
          </a:p>
          <a:p>
            <a:r>
              <a:rPr lang="en-GB" b="0" i="0" dirty="0">
                <a:solidFill>
                  <a:srgbClr val="222222"/>
                </a:solidFill>
                <a:effectLst/>
                <a:latin typeface="Poppins" panose="00000500000000000000" pitchFamily="2" charset="0"/>
              </a:rPr>
              <a:t>Machine Learning is a subset of Artificial Intelligence. Machine Learning is the study of making machines more human-like in their behaviour and decisions by giving them the ability to learn and develop their own programs. This is done with minimum human intervention, i.e., no explicit programming. The learning process is automated and improved based on the experiences of the machines throughout the process. Good quality data is fed to the machines, and different algorithms are used to build ML models to train the machines on this data. The choice of algorithm depends on the type of data at hand, and the type of activity that needs to be automated. </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6</a:t>
            </a:fld>
            <a:endParaRPr lang="en-US" dirty="0"/>
          </a:p>
        </p:txBody>
      </p:sp>
    </p:spTree>
    <p:extLst>
      <p:ext uri="{BB962C8B-B14F-4D97-AF65-F5344CB8AC3E}">
        <p14:creationId xmlns:p14="http://schemas.microsoft.com/office/powerpoint/2010/main" val="397061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7</a:t>
            </a:fld>
            <a:endParaRPr lang="en-US" dirty="0"/>
          </a:p>
        </p:txBody>
      </p:sp>
    </p:spTree>
    <p:extLst>
      <p:ext uri="{BB962C8B-B14F-4D97-AF65-F5344CB8AC3E}">
        <p14:creationId xmlns:p14="http://schemas.microsoft.com/office/powerpoint/2010/main" val="2253359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22222"/>
                </a:solidFill>
                <a:effectLst/>
                <a:latin typeface="Poppins" panose="00000500000000000000" pitchFamily="2" charset="0"/>
              </a:rPr>
              <a:t>https://www.mygreatlearning.com/blog/what-is-machine-learning/</a:t>
            </a:r>
          </a:p>
          <a:p>
            <a:endParaRPr lang="en-GB" b="0" i="0" dirty="0">
              <a:solidFill>
                <a:srgbClr val="222222"/>
              </a:solidFill>
              <a:effectLst/>
              <a:latin typeface="Poppins" panose="00000500000000000000" pitchFamily="2" charset="0"/>
            </a:endParaRPr>
          </a:p>
          <a:p>
            <a:r>
              <a:rPr lang="en-GB" b="0" i="0" dirty="0">
                <a:solidFill>
                  <a:srgbClr val="222222"/>
                </a:solidFill>
                <a:effectLst/>
                <a:latin typeface="Poppins" panose="00000500000000000000" pitchFamily="2" charset="0"/>
              </a:rPr>
              <a:t> </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extLst>
      <p:ext uri="{BB962C8B-B14F-4D97-AF65-F5344CB8AC3E}">
        <p14:creationId xmlns:p14="http://schemas.microsoft.com/office/powerpoint/2010/main" val="4234768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GB" b="0" i="0" dirty="0">
                <a:solidFill>
                  <a:srgbClr val="333333"/>
                </a:solidFill>
                <a:effectLst/>
                <a:latin typeface="Times New Roman" panose="02020603050405020304" pitchFamily="18" charset="0"/>
              </a:rPr>
              <a:t>Without fresh data, the predictive power of a model may decrease as inputs change over time. The deployment of the ML model may in fact alter the training data that comes in because user experiences change; for example, in a video recommendation system, better recommendations from a model lead to different viewing choices from the user. Feedback loops can help us collect new data to refresh our models. They are particularly useful for models that are personalized, such as recommender systems or predictive text.</a:t>
            </a:r>
          </a:p>
          <a:p>
            <a:pPr algn="l" fontAlgn="base"/>
            <a:r>
              <a:rPr lang="en-GB" b="0" i="0" dirty="0">
                <a:solidFill>
                  <a:srgbClr val="333333"/>
                </a:solidFill>
                <a:effectLst/>
                <a:latin typeface="Times New Roman" panose="02020603050405020304" pitchFamily="18" charset="0"/>
              </a:rPr>
              <a:t>At this point, it is extremely important to have the rest of the pipeline set up robustly. Feeding in new data should cause the pipeline to fail only if the influx of new data causes the data statistics to fall outside ...</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9</a:t>
            </a:fld>
            <a:endParaRPr lang="en-US" dirty="0"/>
          </a:p>
        </p:txBody>
      </p:sp>
    </p:spTree>
    <p:extLst>
      <p:ext uri="{BB962C8B-B14F-4D97-AF65-F5344CB8AC3E}">
        <p14:creationId xmlns:p14="http://schemas.microsoft.com/office/powerpoint/2010/main" val="3417895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22222"/>
                </a:solidFill>
                <a:effectLst/>
                <a:latin typeface="Poppins" panose="00000500000000000000" pitchFamily="2" charset="0"/>
              </a:rPr>
              <a:t> </a:t>
            </a:r>
          </a:p>
        </p:txBody>
      </p:sp>
      <p:sp>
        <p:nvSpPr>
          <p:cNvPr id="4" name="Slide Number Placeholder 3"/>
          <p:cNvSpPr>
            <a:spLocks noGrp="1"/>
          </p:cNvSpPr>
          <p:nvPr>
            <p:ph type="sldNum" sz="quarter" idx="5"/>
          </p:nvPr>
        </p:nvSpPr>
        <p:spPr/>
        <p:txBody>
          <a:bodyPr/>
          <a:lstStyle/>
          <a:p>
            <a:fld id="{1FACCC11-19A3-4E27-AB70-5FB3E1779C6E}" type="slidenum">
              <a:rPr lang="en-US" smtClean="0"/>
              <a:t>10</a:t>
            </a:fld>
            <a:endParaRPr lang="en-US" dirty="0"/>
          </a:p>
        </p:txBody>
      </p:sp>
    </p:spTree>
    <p:extLst>
      <p:ext uri="{BB962C8B-B14F-4D97-AF65-F5344CB8AC3E}">
        <p14:creationId xmlns:p14="http://schemas.microsoft.com/office/powerpoint/2010/main" val="2360378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11</a:t>
            </a:fld>
            <a:endParaRPr lang="en-US" dirty="0"/>
          </a:p>
        </p:txBody>
      </p:sp>
    </p:spTree>
    <p:extLst>
      <p:ext uri="{BB962C8B-B14F-4D97-AF65-F5344CB8AC3E}">
        <p14:creationId xmlns:p14="http://schemas.microsoft.com/office/powerpoint/2010/main" val="60632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12</a:t>
            </a:fld>
            <a:endParaRPr lang="en-US" dirty="0"/>
          </a:p>
        </p:txBody>
      </p:sp>
    </p:spTree>
    <p:extLst>
      <p:ext uri="{BB962C8B-B14F-4D97-AF65-F5344CB8AC3E}">
        <p14:creationId xmlns:p14="http://schemas.microsoft.com/office/powerpoint/2010/main" val="494804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extLst>
      <p:ext uri="{BB962C8B-B14F-4D97-AF65-F5344CB8AC3E}">
        <p14:creationId xmlns:p14="http://schemas.microsoft.com/office/powerpoint/2010/main" val="3854816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14</a:t>
            </a:fld>
            <a:endParaRPr lang="en-US" dirty="0"/>
          </a:p>
        </p:txBody>
      </p:sp>
    </p:spTree>
    <p:extLst>
      <p:ext uri="{BB962C8B-B14F-4D97-AF65-F5344CB8AC3E}">
        <p14:creationId xmlns:p14="http://schemas.microsoft.com/office/powerpoint/2010/main" val="1444044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15</a:t>
            </a:fld>
            <a:endParaRPr lang="en-US" dirty="0"/>
          </a:p>
        </p:txBody>
      </p:sp>
    </p:spTree>
    <p:extLst>
      <p:ext uri="{BB962C8B-B14F-4D97-AF65-F5344CB8AC3E}">
        <p14:creationId xmlns:p14="http://schemas.microsoft.com/office/powerpoint/2010/main" val="3703980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16</a:t>
            </a:fld>
            <a:endParaRPr lang="en-US" dirty="0"/>
          </a:p>
        </p:txBody>
      </p:sp>
    </p:spTree>
    <p:extLst>
      <p:ext uri="{BB962C8B-B14F-4D97-AF65-F5344CB8AC3E}">
        <p14:creationId xmlns:p14="http://schemas.microsoft.com/office/powerpoint/2010/main" val="4058938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ww.mygreatlearning.com/blog/linear-regression-in-machine-learning/#pythonpackages"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t>Deployment of Machine Learning Models </a:t>
            </a:r>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A340-02CC-904F-8C88-B5AA849D9854}"/>
              </a:ext>
            </a:extLst>
          </p:cNvPr>
          <p:cNvSpPr txBox="1">
            <a:spLocks/>
          </p:cNvSpPr>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Deployment of Machine Learning Models</a:t>
            </a:r>
          </a:p>
        </p:txBody>
      </p:sp>
    </p:spTree>
    <p:extLst>
      <p:ext uri="{BB962C8B-B14F-4D97-AF65-F5344CB8AC3E}">
        <p14:creationId xmlns:p14="http://schemas.microsoft.com/office/powerpoint/2010/main" val="174182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Understand the ML Components</a:t>
            </a:r>
          </a:p>
          <a:p>
            <a:r>
              <a:rPr lang="en-GB" dirty="0">
                <a:solidFill>
                  <a:schemeClr val="tx1">
                    <a:lumMod val="75000"/>
                    <a:lumOff val="25000"/>
                  </a:schemeClr>
                </a:solidFill>
              </a:rPr>
              <a:t>Understand the ML model flow</a:t>
            </a:r>
          </a:p>
          <a:p>
            <a:r>
              <a:rPr lang="en-GB" dirty="0">
                <a:solidFill>
                  <a:schemeClr val="tx1">
                    <a:lumMod val="75000"/>
                    <a:lumOff val="25000"/>
                  </a:schemeClr>
                </a:solidFill>
              </a:rPr>
              <a:t>Understand the ML basic paradigm</a:t>
            </a:r>
          </a:p>
          <a:p>
            <a:r>
              <a:rPr lang="en-GB" dirty="0">
                <a:solidFill>
                  <a:schemeClr val="tx1">
                    <a:lumMod val="75000"/>
                    <a:lumOff val="25000"/>
                  </a:schemeClr>
                </a:solidFill>
              </a:rPr>
              <a:t>Understand the ML modelling</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Machine Learning Why?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3"/>
            <a:ext cx="11705702" cy="1244016"/>
          </a:xfrm>
        </p:spPr>
        <p:txBody>
          <a:bodyPr/>
          <a:lstStyle/>
          <a:p>
            <a:endParaRPr lang="en-GB" dirty="0">
              <a:solidFill>
                <a:schemeClr val="tx1">
                  <a:lumMod val="75000"/>
                  <a:lumOff val="25000"/>
                </a:schemeClr>
              </a:solidFill>
            </a:endParaRPr>
          </a:p>
          <a:p>
            <a:pPr algn="l"/>
            <a:r>
              <a:rPr lang="en-GB" b="0" i="0" dirty="0">
                <a:solidFill>
                  <a:srgbClr val="222222"/>
                </a:solidFill>
                <a:effectLst/>
                <a:latin typeface="Poppins" panose="00000500000000000000" pitchFamily="2" charset="0"/>
              </a:rPr>
              <a:t>Machine Learning today has all the attention it needs. Machine Learning can automate many tasks, especially the ones that only humans can perform with their innate intelligence.</a:t>
            </a:r>
          </a:p>
          <a:p>
            <a:pPr algn="l"/>
            <a:r>
              <a:rPr lang="en-GB" b="0" i="0" dirty="0">
                <a:solidFill>
                  <a:srgbClr val="222222"/>
                </a:solidFill>
                <a:effectLst/>
                <a:latin typeface="Poppins" panose="00000500000000000000" pitchFamily="2" charset="0"/>
              </a:rPr>
              <a:t> Replicating this intelligence to machines can be achieved only with the help of machine learning.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1026" name="Picture 2" descr="What is Machine Learning - Machine learning model vs traditional model">
            <a:extLst>
              <a:ext uri="{FF2B5EF4-FFF2-40B4-BE49-F238E27FC236}">
                <a16:creationId xmlns:a16="http://schemas.microsoft.com/office/drawing/2014/main" id="{8D52DA11-057E-4D1C-A3E4-E9C7016B68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498" y="4012245"/>
            <a:ext cx="3371785" cy="1856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385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What is ML?</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It is a class of methods for automatically creating models from data </a:t>
            </a:r>
            <a:r>
              <a:rPr lang="en-GB" dirty="0">
                <a:solidFill>
                  <a:schemeClr val="tx1">
                    <a:lumMod val="75000"/>
                    <a:lumOff val="25000"/>
                  </a:schemeClr>
                </a:solidFill>
                <a:sym typeface="Wingdings" pitchFamily="2" charset="2"/>
              </a:rPr>
              <a:t> </a:t>
            </a:r>
            <a:r>
              <a:rPr lang="en-GB" dirty="0">
                <a:solidFill>
                  <a:schemeClr val="tx1">
                    <a:lumMod val="75000"/>
                    <a:lumOff val="25000"/>
                  </a:schemeClr>
                </a:solidFill>
              </a:rPr>
              <a:t>algorithms turn a data set into a model.</a:t>
            </a:r>
          </a:p>
          <a:p>
            <a:endParaRPr lang="en-GB" dirty="0">
              <a:solidFill>
                <a:schemeClr val="tx1">
                  <a:lumMod val="75000"/>
                  <a:lumOff val="25000"/>
                </a:schemeClr>
              </a:solidFill>
            </a:endParaRPr>
          </a:p>
          <a:p>
            <a:r>
              <a:rPr lang="en-GB" dirty="0">
                <a:solidFill>
                  <a:schemeClr val="tx1">
                    <a:lumMod val="75000"/>
                    <a:lumOff val="25000"/>
                  </a:schemeClr>
                </a:solidFill>
              </a:rPr>
              <a:t>It is a technique where machines apply statistical learning techniques to automatically identify patterns in data. </a:t>
            </a:r>
          </a:p>
          <a:p>
            <a:endParaRPr lang="en-GB" dirty="0">
              <a:solidFill>
                <a:schemeClr val="tx1">
                  <a:lumMod val="75000"/>
                  <a:lumOff val="25000"/>
                </a:schemeClr>
              </a:solidFill>
            </a:endParaRPr>
          </a:p>
          <a:p>
            <a:r>
              <a:rPr lang="en-GB" dirty="0">
                <a:solidFill>
                  <a:schemeClr val="tx1">
                    <a:lumMod val="75000"/>
                    <a:lumOff val="25000"/>
                  </a:schemeClr>
                </a:solidFill>
              </a:rPr>
              <a:t>A system that learns from experience. Whereas a rule-based system will perform a task the same way every time, the performance of a machine learning system can be improved through training, by exposing the algorithm to more data.</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27523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Machine Learning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605091" y="1001693"/>
            <a:ext cx="11705702" cy="1244016"/>
          </a:xfrm>
        </p:spPr>
        <p:txBody>
          <a:bodyPr/>
          <a:lstStyle/>
          <a:p>
            <a:endParaRPr lang="en-GB" dirty="0">
              <a:solidFill>
                <a:schemeClr val="tx1">
                  <a:lumMod val="75000"/>
                  <a:lumOff val="25000"/>
                </a:schemeClr>
              </a:solidFill>
            </a:endParaRPr>
          </a:p>
          <a:p>
            <a:pPr marL="0" indent="0" algn="l">
              <a:buNone/>
            </a:pPr>
            <a:r>
              <a:rPr lang="en-GB" b="1" i="0" dirty="0">
                <a:solidFill>
                  <a:srgbClr val="111111"/>
                </a:solidFill>
                <a:effectLst/>
                <a:latin typeface="Poppins" panose="00000500000000000000" pitchFamily="2" charset="0"/>
              </a:rPr>
              <a:t>There are Seven Steps of Machine Learning</a:t>
            </a:r>
          </a:p>
          <a:p>
            <a:pPr algn="l"/>
            <a:endParaRPr lang="en-GB" b="0" i="0" dirty="0">
              <a:solidFill>
                <a:srgbClr val="111111"/>
              </a:solidFill>
              <a:effectLst/>
              <a:latin typeface="Poppins" panose="00000500000000000000" pitchFamily="2" charset="0"/>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2050" name="Picture 2" descr="what is machine learning - 7 steps of machine learning">
            <a:extLst>
              <a:ext uri="{FF2B5EF4-FFF2-40B4-BE49-F238E27FC236}">
                <a16:creationId xmlns:a16="http://schemas.microsoft.com/office/drawing/2014/main" id="{BD77E7B3-B4AF-4293-8B80-B499D75C6D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4246" y="2245709"/>
            <a:ext cx="5325111" cy="3550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240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a:xfrm>
            <a:off x="615645" y="277838"/>
            <a:ext cx="9097686" cy="1068223"/>
          </a:xfrm>
        </p:spPr>
        <p:txBody>
          <a:bodyPr/>
          <a:lstStyle/>
          <a:p>
            <a:r>
              <a:rPr lang="en-GB" dirty="0">
                <a:solidFill>
                  <a:srgbClr val="942D6D"/>
                </a:solidFill>
              </a:rPr>
              <a:t>Roadmap to solve complex problems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5598268"/>
            <a:ext cx="11705702" cy="1068224"/>
          </a:xfrm>
        </p:spPr>
        <p:txBody>
          <a:bodyPr/>
          <a:lstStyle/>
          <a:p>
            <a:r>
              <a:rPr lang="en-GB" dirty="0">
                <a:solidFill>
                  <a:schemeClr val="tx1">
                    <a:lumMod val="75000"/>
                    <a:lumOff val="25000"/>
                  </a:schemeClr>
                </a:solidFill>
              </a:rPr>
              <a:t>…with a Machine Learning Framework Remember: </a:t>
            </a:r>
          </a:p>
          <a:p>
            <a:r>
              <a:rPr lang="en-GB" dirty="0">
                <a:solidFill>
                  <a:schemeClr val="bg1"/>
                </a:solidFill>
              </a:rPr>
              <a:t>ML is about </a:t>
            </a:r>
            <a:r>
              <a:rPr lang="en-GB" b="1" dirty="0">
                <a:solidFill>
                  <a:schemeClr val="bg1"/>
                </a:solidFill>
              </a:rPr>
              <a:t>predict results based on incoming data</a:t>
            </a:r>
          </a:p>
          <a:p>
            <a:endParaRPr lang="en-US" dirty="0">
              <a:solidFill>
                <a:schemeClr val="bg2">
                  <a:lumMod val="25000"/>
                </a:schemeClr>
              </a:solidFill>
            </a:endParaRPr>
          </a:p>
        </p:txBody>
      </p:sp>
      <p:pic>
        <p:nvPicPr>
          <p:cNvPr id="7" name="Picture 6">
            <a:extLst>
              <a:ext uri="{FF2B5EF4-FFF2-40B4-BE49-F238E27FC236}">
                <a16:creationId xmlns:a16="http://schemas.microsoft.com/office/drawing/2014/main" id="{63F03A23-C193-5045-B006-5CD8D15A6F71}"/>
              </a:ext>
            </a:extLst>
          </p:cNvPr>
          <p:cNvPicPr>
            <a:picLocks noChangeAspect="1"/>
          </p:cNvPicPr>
          <p:nvPr/>
        </p:nvPicPr>
        <p:blipFill>
          <a:blip r:embed="rId3"/>
          <a:stretch>
            <a:fillRect/>
          </a:stretch>
        </p:blipFill>
        <p:spPr>
          <a:xfrm>
            <a:off x="0" y="915827"/>
            <a:ext cx="12192000" cy="4525996"/>
          </a:xfrm>
          <a:prstGeom prst="rect">
            <a:avLst/>
          </a:prstGeom>
        </p:spPr>
      </p:pic>
    </p:spTree>
    <p:extLst>
      <p:ext uri="{BB962C8B-B14F-4D97-AF65-F5344CB8AC3E}">
        <p14:creationId xmlns:p14="http://schemas.microsoft.com/office/powerpoint/2010/main" val="1013112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Machine Learning components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DATA – Without data, ML does not exist. Without quality, reliable and DIVERSE data, your ML system is rubbish (“Garbage in – Garbage out”)</a:t>
            </a:r>
          </a:p>
          <a:p>
            <a:endParaRPr lang="en-GB" dirty="0">
              <a:solidFill>
                <a:schemeClr val="tx1">
                  <a:lumMod val="75000"/>
                  <a:lumOff val="25000"/>
                </a:schemeClr>
              </a:solidFill>
            </a:endParaRPr>
          </a:p>
          <a:p>
            <a:r>
              <a:rPr lang="en-GB" dirty="0">
                <a:solidFill>
                  <a:schemeClr val="tx1">
                    <a:lumMod val="75000"/>
                    <a:lumOff val="25000"/>
                  </a:schemeClr>
                </a:solidFill>
              </a:rPr>
              <a:t>A </a:t>
            </a:r>
            <a:r>
              <a:rPr lang="en-GB" i="1" dirty="0">
                <a:solidFill>
                  <a:schemeClr val="tx1">
                    <a:lumMod val="75000"/>
                    <a:lumOff val="25000"/>
                  </a:schemeClr>
                </a:solidFill>
              </a:rPr>
              <a:t>feature</a:t>
            </a:r>
            <a:r>
              <a:rPr lang="en-GB" dirty="0">
                <a:solidFill>
                  <a:schemeClr val="tx1">
                    <a:lumMod val="75000"/>
                    <a:lumOff val="25000"/>
                  </a:schemeClr>
                </a:solidFill>
              </a:rPr>
              <a:t> (predictor, variable) is an individual measurable property or characteristic of a phenomenon being observed – House price, price product, X-Rays, . . .</a:t>
            </a:r>
          </a:p>
          <a:p>
            <a:endParaRPr lang="en-GB" dirty="0">
              <a:solidFill>
                <a:schemeClr val="tx1">
                  <a:lumMod val="75000"/>
                  <a:lumOff val="25000"/>
                </a:schemeClr>
              </a:solidFill>
            </a:endParaRPr>
          </a:p>
          <a:p>
            <a:r>
              <a:rPr lang="en-GB" dirty="0">
                <a:solidFill>
                  <a:schemeClr val="tx1">
                    <a:lumMod val="75000"/>
                    <a:lumOff val="25000"/>
                  </a:schemeClr>
                </a:solidFill>
              </a:rPr>
              <a:t>Algorithms: Linear regression, Support Vector Machines(SVM), K-Means, Neural Networks, …</a:t>
            </a:r>
            <a:endParaRPr lang="en-US" dirty="0">
              <a:solidFill>
                <a:schemeClr val="tx1">
                  <a:lumMod val="75000"/>
                  <a:lumOff val="25000"/>
                </a:schemeClr>
              </a:solidFill>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93645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How things are learned</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188337"/>
            <a:ext cx="11705702" cy="3815101"/>
          </a:xfrm>
        </p:spPr>
        <p:txBody>
          <a:bodyPr/>
          <a:lstStyle/>
          <a:p>
            <a:pPr>
              <a:buFont typeface="Wingdings" pitchFamily="2" charset="2"/>
              <a:buChar char="§"/>
            </a:pPr>
            <a:r>
              <a:rPr lang="en-GB" dirty="0">
                <a:solidFill>
                  <a:schemeClr val="tx1">
                    <a:lumMod val="75000"/>
                    <a:lumOff val="25000"/>
                  </a:schemeClr>
                </a:solidFill>
              </a:rPr>
              <a:t>Generally, with machine learning, the inputs and outputs are used by the computer to generate a program that can be used with future collected data to compute the outputs.</a:t>
            </a:r>
          </a:p>
          <a:p>
            <a:pPr>
              <a:buFont typeface="Wingdings" pitchFamily="2" charset="2"/>
              <a:buChar char="§"/>
            </a:pPr>
            <a:r>
              <a:rPr lang="en-GB" dirty="0">
                <a:solidFill>
                  <a:schemeClr val="tx1">
                    <a:lumMod val="75000"/>
                    <a:lumOff val="25000"/>
                  </a:schemeClr>
                </a:solidFill>
              </a:rPr>
              <a:t>There are two categories of knowledge in this realm, Declarative and Imperative Knowledge </a:t>
            </a:r>
          </a:p>
          <a:p>
            <a:pPr lvl="1">
              <a:buFont typeface="Wingdings" pitchFamily="2" charset="2"/>
              <a:buChar char="§"/>
            </a:pPr>
            <a:r>
              <a:rPr lang="en-GB" sz="2800" dirty="0">
                <a:solidFill>
                  <a:schemeClr val="tx1">
                    <a:lumMod val="75000"/>
                    <a:lumOff val="25000"/>
                  </a:schemeClr>
                </a:solidFill>
              </a:rPr>
              <a:t>–  </a:t>
            </a:r>
            <a:r>
              <a:rPr lang="en-GB" sz="2800" b="1" i="1" dirty="0">
                <a:solidFill>
                  <a:schemeClr val="tx1">
                    <a:lumMod val="75000"/>
                    <a:lumOff val="25000"/>
                  </a:schemeClr>
                </a:solidFill>
              </a:rPr>
              <a:t>Declarative Knowledge </a:t>
            </a:r>
            <a:r>
              <a:rPr lang="en-GB" sz="2800" dirty="0">
                <a:solidFill>
                  <a:schemeClr val="tx1">
                    <a:lumMod val="75000"/>
                    <a:lumOff val="25000"/>
                  </a:schemeClr>
                </a:solidFill>
              </a:rPr>
              <a:t>is based on the principal of </a:t>
            </a:r>
            <a:r>
              <a:rPr lang="en-GB" sz="2800" b="1" dirty="0">
                <a:solidFill>
                  <a:schemeClr val="tx1">
                    <a:lumMod val="75000"/>
                    <a:lumOff val="25000"/>
                  </a:schemeClr>
                </a:solidFill>
              </a:rPr>
              <a:t>memorization </a:t>
            </a:r>
            <a:r>
              <a:rPr lang="en-GB" sz="2800" dirty="0">
                <a:solidFill>
                  <a:schemeClr val="tx1">
                    <a:lumMod val="75000"/>
                    <a:lumOff val="25000"/>
                  </a:schemeClr>
                </a:solidFill>
              </a:rPr>
              <a:t>(accumulating individual facts); it is limited by the time and memory available </a:t>
            </a:r>
          </a:p>
          <a:p>
            <a:pPr lvl="1">
              <a:buFont typeface="Wingdings" pitchFamily="2" charset="2"/>
              <a:buChar char="§"/>
            </a:pPr>
            <a:r>
              <a:rPr lang="en-GB" sz="2800" dirty="0">
                <a:solidFill>
                  <a:schemeClr val="tx1">
                    <a:lumMod val="75000"/>
                    <a:lumOff val="25000"/>
                  </a:schemeClr>
                </a:solidFill>
              </a:rPr>
              <a:t>–  </a:t>
            </a:r>
            <a:r>
              <a:rPr lang="en-GB" sz="2800" b="1" i="1" dirty="0">
                <a:solidFill>
                  <a:schemeClr val="tx1">
                    <a:lumMod val="75000"/>
                    <a:lumOff val="25000"/>
                  </a:schemeClr>
                </a:solidFill>
              </a:rPr>
              <a:t>Imperative Knowledge </a:t>
            </a:r>
            <a:r>
              <a:rPr lang="en-GB" sz="2800" dirty="0">
                <a:solidFill>
                  <a:schemeClr val="tx1">
                    <a:lumMod val="75000"/>
                    <a:lumOff val="25000"/>
                  </a:schemeClr>
                </a:solidFill>
              </a:rPr>
              <a:t>is based on principal of </a:t>
            </a:r>
            <a:r>
              <a:rPr lang="en-GB" sz="2800" b="1" dirty="0">
                <a:solidFill>
                  <a:schemeClr val="tx1">
                    <a:lumMod val="75000"/>
                    <a:lumOff val="25000"/>
                  </a:schemeClr>
                </a:solidFill>
              </a:rPr>
              <a:t>generalisation </a:t>
            </a:r>
            <a:r>
              <a:rPr lang="en-GB" sz="2800" dirty="0">
                <a:solidFill>
                  <a:schemeClr val="tx1">
                    <a:lumMod val="75000"/>
                    <a:lumOff val="25000"/>
                  </a:schemeClr>
                </a:solidFill>
              </a:rPr>
              <a:t>(deducing new facts from old facts); limited by accuracy of deduction process since it is essentially a predictive activity and assumes past trends will allow prediction of the future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4033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Use of generalization</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Humans use generalisation to learn </a:t>
            </a:r>
          </a:p>
          <a:p>
            <a:r>
              <a:rPr lang="en-GB" dirty="0">
                <a:solidFill>
                  <a:schemeClr val="tx1">
                    <a:lumMod val="75000"/>
                    <a:lumOff val="25000"/>
                  </a:schemeClr>
                </a:solidFill>
              </a:rPr>
              <a:t>When computer scientists speak about machine learning, most often they mean the discipline of writing programs that can automatically learn to </a:t>
            </a:r>
            <a:r>
              <a:rPr lang="en-GB" b="1" dirty="0">
                <a:solidFill>
                  <a:schemeClr val="tx1">
                    <a:lumMod val="75000"/>
                    <a:lumOff val="25000"/>
                  </a:schemeClr>
                </a:solidFill>
              </a:rPr>
              <a:t>make useful inferences </a:t>
            </a:r>
            <a:r>
              <a:rPr lang="en-GB" dirty="0">
                <a:solidFill>
                  <a:schemeClr val="tx1">
                    <a:lumMod val="75000"/>
                    <a:lumOff val="25000"/>
                  </a:schemeClr>
                </a:solidFill>
              </a:rPr>
              <a:t>from </a:t>
            </a:r>
            <a:r>
              <a:rPr lang="en-GB" b="1" dirty="0">
                <a:solidFill>
                  <a:schemeClr val="tx1">
                    <a:lumMod val="75000"/>
                    <a:lumOff val="25000"/>
                  </a:schemeClr>
                </a:solidFill>
              </a:rPr>
              <a:t>implicit patterns </a:t>
            </a:r>
            <a:r>
              <a:rPr lang="en-GB" dirty="0">
                <a:solidFill>
                  <a:schemeClr val="tx1">
                    <a:lumMod val="75000"/>
                    <a:lumOff val="25000"/>
                  </a:schemeClr>
                </a:solidFill>
              </a:rPr>
              <a:t>in data </a:t>
            </a:r>
          </a:p>
          <a:p>
            <a:pPr marL="0" indent="0">
              <a:buNone/>
            </a:pPr>
            <a:r>
              <a:rPr lang="en-GB" dirty="0">
                <a:solidFill>
                  <a:schemeClr val="tx1">
                    <a:lumMod val="75000"/>
                    <a:lumOff val="25000"/>
                  </a:schemeClr>
                </a:solidFill>
              </a:rPr>
              <a:t>	</a:t>
            </a:r>
            <a:r>
              <a:rPr lang="en-GB" dirty="0" err="1">
                <a:solidFill>
                  <a:schemeClr val="tx1">
                    <a:lumMod val="75000"/>
                    <a:lumOff val="25000"/>
                  </a:schemeClr>
                </a:solidFill>
              </a:rPr>
              <a:t>E.g</a:t>
            </a:r>
            <a:r>
              <a:rPr lang="en-GB" dirty="0">
                <a:solidFill>
                  <a:schemeClr val="tx1">
                    <a:lumMod val="75000"/>
                    <a:lumOff val="25000"/>
                  </a:schemeClr>
                </a:solidFill>
              </a:rPr>
              <a:t>- linear regression </a:t>
            </a:r>
          </a:p>
          <a:p>
            <a:r>
              <a:rPr lang="en-GB" dirty="0">
                <a:solidFill>
                  <a:schemeClr val="tx1">
                    <a:lumMod val="75000"/>
                    <a:lumOff val="25000"/>
                  </a:schemeClr>
                </a:solidFill>
              </a:rPr>
              <a:t> But.. </a:t>
            </a:r>
          </a:p>
          <a:p>
            <a:r>
              <a:rPr lang="en-GB" dirty="0">
                <a:solidFill>
                  <a:schemeClr val="tx1">
                    <a:lumMod val="75000"/>
                    <a:lumOff val="25000"/>
                  </a:schemeClr>
                </a:solidFill>
              </a:rPr>
              <a:t>A student of political science might observe the behaviour of a large number of politicians and generalise from those observations that all the politicians lie on the campaign trail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95654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Basic paradigm of ml</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Observe a set of examples: </a:t>
            </a:r>
            <a:r>
              <a:rPr lang="en-GB" b="1" dirty="0">
                <a:solidFill>
                  <a:schemeClr val="tx1">
                    <a:lumMod val="75000"/>
                    <a:lumOff val="25000"/>
                  </a:schemeClr>
                </a:solidFill>
              </a:rPr>
              <a:t>Training Data</a:t>
            </a:r>
            <a:br>
              <a:rPr lang="en-GB" b="1" dirty="0">
                <a:solidFill>
                  <a:schemeClr val="tx1">
                    <a:lumMod val="75000"/>
                    <a:lumOff val="25000"/>
                  </a:schemeClr>
                </a:solidFill>
              </a:rPr>
            </a:br>
            <a:r>
              <a:rPr lang="en-GB" b="1" dirty="0">
                <a:solidFill>
                  <a:schemeClr val="tx1">
                    <a:lumMod val="75000"/>
                    <a:lumOff val="25000"/>
                  </a:schemeClr>
                </a:solidFill>
              </a:rPr>
              <a:t>	- </a:t>
            </a:r>
            <a:r>
              <a:rPr lang="en-GB" dirty="0">
                <a:solidFill>
                  <a:schemeClr val="tx1">
                    <a:lumMod val="75000"/>
                    <a:lumOff val="25000"/>
                  </a:schemeClr>
                </a:solidFill>
              </a:rPr>
              <a:t>This set represents an incomplete information about a phenomenon </a:t>
            </a:r>
          </a:p>
          <a:p>
            <a:r>
              <a:rPr lang="en-GB" dirty="0">
                <a:solidFill>
                  <a:schemeClr val="tx1">
                    <a:lumMod val="75000"/>
                    <a:lumOff val="25000"/>
                  </a:schemeClr>
                </a:solidFill>
              </a:rPr>
              <a:t>Use inference to create a model of a process able to “generate” the training data </a:t>
            </a:r>
          </a:p>
          <a:p>
            <a:r>
              <a:rPr lang="en-GB" dirty="0">
                <a:solidFill>
                  <a:schemeClr val="tx1">
                    <a:lumMod val="75000"/>
                    <a:lumOff val="25000"/>
                  </a:schemeClr>
                </a:solidFill>
              </a:rPr>
              <a:t>Use the model to make predications about previously unseen data </a:t>
            </a:r>
          </a:p>
          <a:p>
            <a:r>
              <a:rPr lang="en-GB" dirty="0">
                <a:solidFill>
                  <a:schemeClr val="tx1">
                    <a:lumMod val="75000"/>
                    <a:lumOff val="25000"/>
                  </a:schemeClr>
                </a:solidFill>
              </a:rPr>
              <a:t>Variations of paradigm: </a:t>
            </a:r>
          </a:p>
          <a:p>
            <a:pPr marL="0" indent="0">
              <a:buNone/>
            </a:pPr>
            <a:r>
              <a:rPr lang="en-GB" dirty="0">
                <a:solidFill>
                  <a:schemeClr val="tx1">
                    <a:lumMod val="75000"/>
                    <a:lumOff val="25000"/>
                  </a:schemeClr>
                </a:solidFill>
              </a:rPr>
              <a:t>	- Supervised: find a rule that predicts a label/feature for previously 	unseen data, using a set of label/feature pairs </a:t>
            </a:r>
          </a:p>
          <a:p>
            <a:pPr marL="0" indent="0">
              <a:buNone/>
            </a:pPr>
            <a:r>
              <a:rPr lang="en-GB" dirty="0">
                <a:solidFill>
                  <a:schemeClr val="tx1">
                    <a:lumMod val="75000"/>
                    <a:lumOff val="25000"/>
                  </a:schemeClr>
                </a:solidFill>
              </a:rPr>
              <a:t>	- Unsupervised: group feature vectors (without labels) into natural 		clusters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60414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a:xfrm>
            <a:off x="629500" y="277838"/>
            <a:ext cx="9097686" cy="1068223"/>
          </a:xfrm>
        </p:spPr>
        <p:txBody>
          <a:bodyPr/>
          <a:lstStyle/>
          <a:p>
            <a:r>
              <a:rPr lang="en-GB" dirty="0">
                <a:solidFill>
                  <a:srgbClr val="942D6D"/>
                </a:solidFill>
              </a:rPr>
              <a:t>Is the model learning In the correct way</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Every machine learning approach has at least the 3 following components: </a:t>
            </a:r>
          </a:p>
          <a:p>
            <a:pPr marL="0" indent="0">
              <a:buNone/>
            </a:pPr>
            <a:r>
              <a:rPr lang="en-GB" dirty="0">
                <a:solidFill>
                  <a:schemeClr val="tx1">
                    <a:lumMod val="75000"/>
                    <a:lumOff val="25000"/>
                  </a:schemeClr>
                </a:solidFill>
              </a:rPr>
              <a:t>	- A model </a:t>
            </a:r>
          </a:p>
          <a:p>
            <a:pPr marL="0" indent="0">
              <a:buNone/>
            </a:pPr>
            <a:r>
              <a:rPr lang="en-GB" dirty="0">
                <a:solidFill>
                  <a:schemeClr val="tx1">
                    <a:lumMod val="75000"/>
                    <a:lumOff val="25000"/>
                  </a:schemeClr>
                </a:solidFill>
              </a:rPr>
              <a:t>	- An objective function for assessing the quality of the model </a:t>
            </a:r>
          </a:p>
          <a:p>
            <a:pPr marL="0" indent="0">
              <a:buNone/>
            </a:pPr>
            <a:r>
              <a:rPr lang="en-GB" dirty="0">
                <a:solidFill>
                  <a:schemeClr val="tx1">
                    <a:lumMod val="75000"/>
                    <a:lumOff val="25000"/>
                  </a:schemeClr>
                </a:solidFill>
              </a:rPr>
              <a:t>	- An optimization method for enhancing the model 	  	   	(minimizing or maximizing the objective function) </a:t>
            </a:r>
          </a:p>
          <a:p>
            <a:r>
              <a:rPr lang="en-GB" dirty="0">
                <a:solidFill>
                  <a:schemeClr val="tx1">
                    <a:lumMod val="75000"/>
                    <a:lumOff val="25000"/>
                  </a:schemeClr>
                </a:solidFill>
              </a:rPr>
              <a:t> Also, we need to have a metric (quantifiable measure) to compare the models!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57344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a:xfrm>
            <a:off x="629500" y="277838"/>
            <a:ext cx="9097686" cy="1068223"/>
          </a:xfrm>
        </p:spPr>
        <p:txBody>
          <a:bodyPr/>
          <a:lstStyle/>
          <a:p>
            <a:r>
              <a:rPr lang="en-GB" dirty="0">
                <a:solidFill>
                  <a:srgbClr val="942D6D"/>
                </a:solidFill>
              </a:rPr>
              <a:t>REFERENCE</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2"/>
            <a:ext cx="11705702" cy="4266378"/>
          </a:xfrm>
        </p:spPr>
        <p:txBody>
          <a:bodyPr/>
          <a:lstStyle/>
          <a:p>
            <a:r>
              <a:rPr lang="en-GB" sz="2000" b="0" i="0" dirty="0">
                <a:solidFill>
                  <a:srgbClr val="111111"/>
                </a:solidFill>
                <a:effectLst/>
              </a:rPr>
              <a:t>GreatLEarningTeam,2022.What is Machine Learning? How Machine Learning Works and future of it?. [Online].Available at: </a:t>
            </a:r>
            <a:r>
              <a:rPr lang="en-GB" sz="2000" b="0" i="0" dirty="0">
                <a:solidFill>
                  <a:srgbClr val="222222"/>
                </a:solidFill>
                <a:effectLst/>
              </a:rPr>
              <a:t>https://www.mygreatlearning.com/blog/what-is-machine-learning/</a:t>
            </a:r>
          </a:p>
          <a:p>
            <a:pPr algn="l"/>
            <a:r>
              <a:rPr lang="en-GB" sz="2000" dirty="0"/>
              <a:t>Oreilly,2022.Chapter 13 Feedback Loops.</a:t>
            </a:r>
            <a:r>
              <a:rPr lang="en-GB" sz="2000" b="0" i="0" dirty="0">
                <a:solidFill>
                  <a:srgbClr val="111111"/>
                </a:solidFill>
                <a:effectLst/>
              </a:rPr>
              <a:t> [Online].Available at: </a:t>
            </a:r>
            <a:r>
              <a:rPr lang="en-GB" sz="2000" dirty="0"/>
              <a:t>https://www.oreilly.com/library/view/building-machine-learning/9781492053187/ch13.html</a:t>
            </a:r>
          </a:p>
          <a:p>
            <a:r>
              <a:rPr lang="en-GB" sz="2000" dirty="0" err="1"/>
              <a:t>Goyal,A</a:t>
            </a:r>
            <a:r>
              <a:rPr lang="en-GB" sz="2000" dirty="0"/>
              <a:t>. Feedback loop in machine learning. .</a:t>
            </a:r>
            <a:r>
              <a:rPr lang="en-GB" sz="2000" b="0" i="0" dirty="0">
                <a:solidFill>
                  <a:srgbClr val="111111"/>
                </a:solidFill>
                <a:effectLst/>
              </a:rPr>
              <a:t> [Online].Available at: </a:t>
            </a:r>
            <a:r>
              <a:rPr lang="en-GB" sz="2000" dirty="0"/>
              <a:t>https://www.impira.com/blog/feedback-loop</a:t>
            </a:r>
          </a:p>
          <a:p>
            <a:pPr algn="l"/>
            <a:r>
              <a:rPr lang="en-GB" sz="2000" b="0" i="0" dirty="0">
                <a:solidFill>
                  <a:srgbClr val="111111"/>
                </a:solidFill>
                <a:effectLst/>
                <a:hlinkClick r:id="rId3"/>
              </a:rPr>
              <a:t>https://www.mygreatlearning.com/blog/linear-regression-in-machine-learning/#pythonpackages</a:t>
            </a:r>
            <a:r>
              <a:rPr lang="en-GB" sz="2000" b="0" i="0" dirty="0">
                <a:solidFill>
                  <a:srgbClr val="111111"/>
                </a:solidFill>
                <a:effectLst/>
              </a:rPr>
              <a:t> (Use for 80:20 train test)</a:t>
            </a:r>
          </a:p>
          <a:p>
            <a:r>
              <a:rPr lang="en-GB" sz="2000" b="0" i="0" dirty="0">
                <a:solidFill>
                  <a:srgbClr val="111111"/>
                </a:solidFill>
                <a:effectLst/>
              </a:rPr>
              <a:t>Aich,A.2021.</a:t>
            </a:r>
            <a:r>
              <a:rPr lang="en-GB" sz="2000" b="1" i="0" dirty="0">
                <a:effectLst/>
              </a:rPr>
              <a:t> What is Machine Learning and Why It Matters: Everything You Need to Know </a:t>
            </a:r>
            <a:r>
              <a:rPr lang="en-GB" sz="2000" b="0" i="0" dirty="0">
                <a:solidFill>
                  <a:srgbClr val="111111"/>
                </a:solidFill>
                <a:effectLst/>
              </a:rPr>
              <a:t>[Online].Available at</a:t>
            </a:r>
            <a:r>
              <a:rPr lang="en-GB" sz="2000" b="0" i="0">
                <a:solidFill>
                  <a:srgbClr val="111111"/>
                </a:solidFill>
                <a:effectLst/>
              </a:rPr>
              <a:t>: https</a:t>
            </a:r>
            <a:r>
              <a:rPr lang="en-GB" sz="2000" b="0" i="0" dirty="0">
                <a:solidFill>
                  <a:srgbClr val="111111"/>
                </a:solidFill>
                <a:effectLst/>
              </a:rPr>
              <a:t>://www.knowledgehut.com/blog/data-science/what-is-machine-learning</a:t>
            </a:r>
          </a:p>
          <a:p>
            <a:pPr algn="l"/>
            <a:endParaRPr lang="en-GB" sz="2000" b="0" i="0" dirty="0">
              <a:solidFill>
                <a:srgbClr val="111111"/>
              </a:solidFill>
              <a:effectLst/>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79498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2" ma:contentTypeDescription="Create a new document." ma:contentTypeScope="" ma:versionID="7eb5c53f2e1d37f62fa8f0bcfdfd5d6f">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8facba7d21f799de60139a8943772e56"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850776-AC34-4C97-B5C4-620377667A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1a28a2-5857-4321-9bd8-c602fba5c8bc"/>
    <ds:schemaRef ds:uri="5086911d-6e48-4cf3-b087-1eb55996af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B3FBCC-7835-4196-897F-2DC9954AC84F}">
  <ds:schemaRefs>
    <ds:schemaRef ds:uri="http://schemas.microsoft.com/sharepoint/v3/contenttype/forms"/>
  </ds:schemaRefs>
</ds:datastoreItem>
</file>

<file path=customXml/itemProps3.xml><?xml version="1.0" encoding="utf-8"?>
<ds:datastoreItem xmlns:ds="http://schemas.openxmlformats.org/officeDocument/2006/customXml" ds:itemID="{E8F3AADC-1183-4CE4-B9D6-6F8A377D9A3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Light blue-Cover</Template>
  <TotalTime>250</TotalTime>
  <Words>1122</Words>
  <Application>Microsoft Office PowerPoint</Application>
  <PresentationFormat>Widescreen</PresentationFormat>
  <Paragraphs>88</Paragraphs>
  <Slides>16</Slides>
  <Notes>11</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16</vt:i4>
      </vt:variant>
    </vt:vector>
  </HeadingPairs>
  <TitlesOfParts>
    <vt:vector size="26" baseType="lpstr">
      <vt:lpstr>Arial</vt:lpstr>
      <vt:lpstr>Calibri</vt:lpstr>
      <vt:lpstr>Poppins</vt:lpstr>
      <vt:lpstr>Times New Roman</vt:lpstr>
      <vt:lpstr>Wingdings</vt:lpstr>
      <vt:lpstr>Light blue-Cover</vt:lpstr>
      <vt:lpstr>Pearson slide</vt:lpstr>
      <vt:lpstr>Light blue-inside slide</vt:lpstr>
      <vt:lpstr>With picture</vt:lpstr>
      <vt:lpstr>Back cover</vt:lpstr>
      <vt:lpstr>Machine learning</vt:lpstr>
      <vt:lpstr>Machine learning </vt:lpstr>
      <vt:lpstr>Machine learning</vt:lpstr>
      <vt:lpstr>PowerPoint Presentation</vt:lpstr>
      <vt:lpstr>Learning objectives</vt:lpstr>
      <vt:lpstr>Machine Learning Why?  </vt:lpstr>
      <vt:lpstr>What is ML?</vt:lpstr>
      <vt:lpstr>Machine Learning  </vt:lpstr>
      <vt:lpstr>Roadmap to solve complex problems</vt:lpstr>
      <vt:lpstr>Machine Learning components</vt:lpstr>
      <vt:lpstr>How things are learned</vt:lpstr>
      <vt:lpstr>Use of generalization</vt:lpstr>
      <vt:lpstr>Basic paradigm of ml</vt:lpstr>
      <vt:lpstr>Is the model learning In the correct way</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kusumlata Sheoran</cp:lastModifiedBy>
  <cp:revision>55</cp:revision>
  <dcterms:created xsi:type="dcterms:W3CDTF">2021-07-24T10:34:01Z</dcterms:created>
  <dcterms:modified xsi:type="dcterms:W3CDTF">2022-03-17T10:17:48Z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ies>
</file>