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1" r:id="rId5"/>
    <p:sldMasterId id="2147483653" r:id="rId6"/>
    <p:sldMasterId id="2147483656" r:id="rId7"/>
    <p:sldMasterId id="2147483658" r:id="rId8"/>
  </p:sldMasterIdLst>
  <p:notesMasterIdLst>
    <p:notesMasterId r:id="rId60"/>
  </p:notesMasterIdLst>
  <p:sldIdLst>
    <p:sldId id="261" r:id="rId9"/>
    <p:sldId id="257" r:id="rId10"/>
    <p:sldId id="265" r:id="rId11"/>
    <p:sldId id="306" r:id="rId12"/>
    <p:sldId id="311" r:id="rId13"/>
    <p:sldId id="356" r:id="rId14"/>
    <p:sldId id="359" r:id="rId15"/>
    <p:sldId id="361" r:id="rId16"/>
    <p:sldId id="362" r:id="rId17"/>
    <p:sldId id="363" r:id="rId18"/>
    <p:sldId id="364" r:id="rId19"/>
    <p:sldId id="366" r:id="rId20"/>
    <p:sldId id="369" r:id="rId21"/>
    <p:sldId id="374" r:id="rId22"/>
    <p:sldId id="375" r:id="rId23"/>
    <p:sldId id="376" r:id="rId24"/>
    <p:sldId id="373" r:id="rId25"/>
    <p:sldId id="378" r:id="rId26"/>
    <p:sldId id="379" r:id="rId27"/>
    <p:sldId id="380" r:id="rId28"/>
    <p:sldId id="381" r:id="rId29"/>
    <p:sldId id="382" r:id="rId30"/>
    <p:sldId id="383" r:id="rId31"/>
    <p:sldId id="384" r:id="rId32"/>
    <p:sldId id="385" r:id="rId33"/>
    <p:sldId id="386" r:id="rId34"/>
    <p:sldId id="387" r:id="rId35"/>
    <p:sldId id="388" r:id="rId36"/>
    <p:sldId id="389" r:id="rId37"/>
    <p:sldId id="390" r:id="rId38"/>
    <p:sldId id="391" r:id="rId39"/>
    <p:sldId id="392" r:id="rId40"/>
    <p:sldId id="393" r:id="rId41"/>
    <p:sldId id="408" r:id="rId42"/>
    <p:sldId id="394" r:id="rId43"/>
    <p:sldId id="395" r:id="rId44"/>
    <p:sldId id="396" r:id="rId45"/>
    <p:sldId id="397" r:id="rId46"/>
    <p:sldId id="398" r:id="rId47"/>
    <p:sldId id="399" r:id="rId48"/>
    <p:sldId id="400" r:id="rId49"/>
    <p:sldId id="401" r:id="rId50"/>
    <p:sldId id="402" r:id="rId51"/>
    <p:sldId id="403" r:id="rId52"/>
    <p:sldId id="404" r:id="rId53"/>
    <p:sldId id="405" r:id="rId54"/>
    <p:sldId id="406" r:id="rId55"/>
    <p:sldId id="407" r:id="rId56"/>
    <p:sldId id="409" r:id="rId57"/>
    <p:sldId id="410" r:id="rId58"/>
    <p:sldId id="37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2D6D"/>
    <a:srgbClr val="656768"/>
    <a:srgbClr val="0D3E63"/>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25" autoAdjust="0"/>
    <p:restoredTop sz="90741" autoAdjust="0"/>
  </p:normalViewPr>
  <p:slideViewPr>
    <p:cSldViewPr snapToGrid="0">
      <p:cViewPr varScale="1">
        <p:scale>
          <a:sx n="51" d="100"/>
          <a:sy n="51" d="100"/>
        </p:scale>
        <p:origin x="632" y="4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5" Type="http://schemas.openxmlformats.org/officeDocument/2006/relationships/slideMaster" Target="slideMasters/slideMaster2.xml"/><Relationship Id="rId61" Type="http://schemas.openxmlformats.org/officeDocument/2006/relationships/commentAuthors" Target="commentAuthor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6</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9</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10</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11</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12</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14</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15</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17</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DD57A-BC7A-C077-8AEF-99EC22113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607B2-FFA9-F298-8A1D-A2356F1E3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CAF82-C491-A326-5285-3C3C7F6E09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3C5628-4206-CD81-B407-F9FDFC847B32}"/>
              </a:ext>
            </a:extLst>
          </p:cNvPr>
          <p:cNvSpPr>
            <a:spLocks noGrp="1"/>
          </p:cNvSpPr>
          <p:nvPr>
            <p:ph type="sldNum" sz="quarter" idx="5"/>
          </p:nvPr>
        </p:nvSpPr>
        <p:spPr/>
        <p:txBody>
          <a:bodyPr/>
          <a:lstStyle/>
          <a:p>
            <a:fld id="{1FACCC11-19A3-4E27-AB70-5FB3E1779C6E}" type="slidenum">
              <a:rPr lang="en-US" smtClean="0"/>
              <a:t>18</a:t>
            </a:fld>
            <a:endParaRPr lang="en-US" dirty="0"/>
          </a:p>
        </p:txBody>
      </p:sp>
    </p:spTree>
    <p:extLst>
      <p:ext uri="{BB962C8B-B14F-4D97-AF65-F5344CB8AC3E}">
        <p14:creationId xmlns:p14="http://schemas.microsoft.com/office/powerpoint/2010/main" val="3943363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5F721-9039-7EA6-8391-47A325DC4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8E206-416D-F1DD-64FF-713C527E2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0CB98-B839-0A1A-CC08-82728DA01A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BC85D8-0E8A-C616-7FC9-1518511D8B36}"/>
              </a:ext>
            </a:extLst>
          </p:cNvPr>
          <p:cNvSpPr>
            <a:spLocks noGrp="1"/>
          </p:cNvSpPr>
          <p:nvPr>
            <p:ph type="sldNum" sz="quarter" idx="5"/>
          </p:nvPr>
        </p:nvSpPr>
        <p:spPr/>
        <p:txBody>
          <a:bodyPr/>
          <a:lstStyle/>
          <a:p>
            <a:fld id="{1FACCC11-19A3-4E27-AB70-5FB3E1779C6E}" type="slidenum">
              <a:rPr lang="en-US" smtClean="0"/>
              <a:t>19</a:t>
            </a:fld>
            <a:endParaRPr lang="en-US" dirty="0"/>
          </a:p>
        </p:txBody>
      </p:sp>
    </p:spTree>
    <p:extLst>
      <p:ext uri="{BB962C8B-B14F-4D97-AF65-F5344CB8AC3E}">
        <p14:creationId xmlns:p14="http://schemas.microsoft.com/office/powerpoint/2010/main" val="2434748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C300E-8B5F-26C6-DB12-931537481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F196A-F3EB-20E2-8EE2-57270DE91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D5A53-D027-970B-3660-C9AF3E1392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F0AE89-E387-F535-F7E7-54716B95772B}"/>
              </a:ext>
            </a:extLst>
          </p:cNvPr>
          <p:cNvSpPr>
            <a:spLocks noGrp="1"/>
          </p:cNvSpPr>
          <p:nvPr>
            <p:ph type="sldNum" sz="quarter" idx="5"/>
          </p:nvPr>
        </p:nvSpPr>
        <p:spPr/>
        <p:txBody>
          <a:bodyPr/>
          <a:lstStyle/>
          <a:p>
            <a:fld id="{1FACCC11-19A3-4E27-AB70-5FB3E1779C6E}" type="slidenum">
              <a:rPr lang="en-US" smtClean="0"/>
              <a:t>20</a:t>
            </a:fld>
            <a:endParaRPr lang="en-US" dirty="0"/>
          </a:p>
        </p:txBody>
      </p:sp>
    </p:spTree>
    <p:extLst>
      <p:ext uri="{BB962C8B-B14F-4D97-AF65-F5344CB8AC3E}">
        <p14:creationId xmlns:p14="http://schemas.microsoft.com/office/powerpoint/2010/main" val="2174462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3C849-13D8-1B4C-2280-A77A80F9D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52725-A689-85E5-9782-4CD7C59B3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6A2BE-8965-D57D-0B64-8B4000D9C6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240FEF-623B-07C1-A40D-9C367F376C70}"/>
              </a:ext>
            </a:extLst>
          </p:cNvPr>
          <p:cNvSpPr>
            <a:spLocks noGrp="1"/>
          </p:cNvSpPr>
          <p:nvPr>
            <p:ph type="sldNum" sz="quarter" idx="5"/>
          </p:nvPr>
        </p:nvSpPr>
        <p:spPr/>
        <p:txBody>
          <a:bodyPr/>
          <a:lstStyle/>
          <a:p>
            <a:fld id="{1FACCC11-19A3-4E27-AB70-5FB3E1779C6E}" type="slidenum">
              <a:rPr lang="en-US" smtClean="0"/>
              <a:t>21</a:t>
            </a:fld>
            <a:endParaRPr lang="en-US" dirty="0"/>
          </a:p>
        </p:txBody>
      </p:sp>
    </p:spTree>
    <p:extLst>
      <p:ext uri="{BB962C8B-B14F-4D97-AF65-F5344CB8AC3E}">
        <p14:creationId xmlns:p14="http://schemas.microsoft.com/office/powerpoint/2010/main" val="12666012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64917-DA1C-3055-BAB8-D6F7EB407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70032-4246-0047-C4FB-4A21CA3510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DA27A-1EE9-7AAD-01AD-8EC9934635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241AD8-80A1-BAA2-5257-E06CC81745B8}"/>
              </a:ext>
            </a:extLst>
          </p:cNvPr>
          <p:cNvSpPr>
            <a:spLocks noGrp="1"/>
          </p:cNvSpPr>
          <p:nvPr>
            <p:ph type="sldNum" sz="quarter" idx="5"/>
          </p:nvPr>
        </p:nvSpPr>
        <p:spPr/>
        <p:txBody>
          <a:bodyPr/>
          <a:lstStyle/>
          <a:p>
            <a:fld id="{1FACCC11-19A3-4E27-AB70-5FB3E1779C6E}" type="slidenum">
              <a:rPr lang="en-US" smtClean="0"/>
              <a:t>22</a:t>
            </a:fld>
            <a:endParaRPr lang="en-US" dirty="0"/>
          </a:p>
        </p:txBody>
      </p:sp>
    </p:spTree>
    <p:extLst>
      <p:ext uri="{BB962C8B-B14F-4D97-AF65-F5344CB8AC3E}">
        <p14:creationId xmlns:p14="http://schemas.microsoft.com/office/powerpoint/2010/main" val="3475324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B6610-3F2D-4F3B-DC8C-B29C94824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F3808-F2F5-98FF-27B4-3D8D0DE40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44EB2-0985-A48C-B143-92D612AD9B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7AF9C8-949C-2A0F-76F6-A328FD5E419A}"/>
              </a:ext>
            </a:extLst>
          </p:cNvPr>
          <p:cNvSpPr>
            <a:spLocks noGrp="1"/>
          </p:cNvSpPr>
          <p:nvPr>
            <p:ph type="sldNum" sz="quarter" idx="5"/>
          </p:nvPr>
        </p:nvSpPr>
        <p:spPr/>
        <p:txBody>
          <a:bodyPr/>
          <a:lstStyle/>
          <a:p>
            <a:fld id="{1FACCC11-19A3-4E27-AB70-5FB3E1779C6E}" type="slidenum">
              <a:rPr lang="en-US" smtClean="0"/>
              <a:t>23</a:t>
            </a:fld>
            <a:endParaRPr lang="en-US" dirty="0"/>
          </a:p>
        </p:txBody>
      </p:sp>
    </p:spTree>
    <p:extLst>
      <p:ext uri="{BB962C8B-B14F-4D97-AF65-F5344CB8AC3E}">
        <p14:creationId xmlns:p14="http://schemas.microsoft.com/office/powerpoint/2010/main" val="3492967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133AA-EB57-054C-9CC4-7F5E86C33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42343-14E0-6E9B-995F-8462054713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C42FF-E3E5-86A5-E2F1-56B1CA23A9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5A0D63-F79A-0206-559A-94CF27BD41B1}"/>
              </a:ext>
            </a:extLst>
          </p:cNvPr>
          <p:cNvSpPr>
            <a:spLocks noGrp="1"/>
          </p:cNvSpPr>
          <p:nvPr>
            <p:ph type="sldNum" sz="quarter" idx="5"/>
          </p:nvPr>
        </p:nvSpPr>
        <p:spPr/>
        <p:txBody>
          <a:bodyPr/>
          <a:lstStyle/>
          <a:p>
            <a:fld id="{1FACCC11-19A3-4E27-AB70-5FB3E1779C6E}" type="slidenum">
              <a:rPr lang="en-US" smtClean="0"/>
              <a:t>24</a:t>
            </a:fld>
            <a:endParaRPr lang="en-US" dirty="0"/>
          </a:p>
        </p:txBody>
      </p:sp>
    </p:spTree>
    <p:extLst>
      <p:ext uri="{BB962C8B-B14F-4D97-AF65-F5344CB8AC3E}">
        <p14:creationId xmlns:p14="http://schemas.microsoft.com/office/powerpoint/2010/main" val="4027308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A744C-71C3-DBF7-D1BC-037CD2895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22BCD-12BB-1834-67B0-77CCED85F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A3A2D3-9B41-5920-02A5-B22CF6DD3C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3059D6-EBB0-1963-F610-AAF7358CC7C4}"/>
              </a:ext>
            </a:extLst>
          </p:cNvPr>
          <p:cNvSpPr>
            <a:spLocks noGrp="1"/>
          </p:cNvSpPr>
          <p:nvPr>
            <p:ph type="sldNum" sz="quarter" idx="5"/>
          </p:nvPr>
        </p:nvSpPr>
        <p:spPr/>
        <p:txBody>
          <a:bodyPr/>
          <a:lstStyle/>
          <a:p>
            <a:fld id="{1FACCC11-19A3-4E27-AB70-5FB3E1779C6E}" type="slidenum">
              <a:rPr lang="en-US" smtClean="0"/>
              <a:t>25</a:t>
            </a:fld>
            <a:endParaRPr lang="en-US" dirty="0"/>
          </a:p>
        </p:txBody>
      </p:sp>
    </p:spTree>
    <p:extLst>
      <p:ext uri="{BB962C8B-B14F-4D97-AF65-F5344CB8AC3E}">
        <p14:creationId xmlns:p14="http://schemas.microsoft.com/office/powerpoint/2010/main" val="35446241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6BA72-1C91-DF43-38B5-180EAB2A3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0A23C-4709-9EBB-C162-4F0ECAB2E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50A4E9-B83A-3F20-F1BA-404AC84D4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F55F7-C105-EB68-DA57-F77FB36C6120}"/>
              </a:ext>
            </a:extLst>
          </p:cNvPr>
          <p:cNvSpPr>
            <a:spLocks noGrp="1"/>
          </p:cNvSpPr>
          <p:nvPr>
            <p:ph type="sldNum" sz="quarter" idx="5"/>
          </p:nvPr>
        </p:nvSpPr>
        <p:spPr/>
        <p:txBody>
          <a:bodyPr/>
          <a:lstStyle/>
          <a:p>
            <a:fld id="{1FACCC11-19A3-4E27-AB70-5FB3E1779C6E}" type="slidenum">
              <a:rPr lang="en-US" smtClean="0"/>
              <a:t>26</a:t>
            </a:fld>
            <a:endParaRPr lang="en-US" dirty="0"/>
          </a:p>
        </p:txBody>
      </p:sp>
    </p:spTree>
    <p:extLst>
      <p:ext uri="{BB962C8B-B14F-4D97-AF65-F5344CB8AC3E}">
        <p14:creationId xmlns:p14="http://schemas.microsoft.com/office/powerpoint/2010/main" val="857936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5760D-A244-A6F8-911E-5D0B1C185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CCDEA-1375-684D-7A05-48034165F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0B6A5-26CF-5E4F-21C2-24BE62A499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6C2886-6DD3-B417-378B-3591C7FC3BCD}"/>
              </a:ext>
            </a:extLst>
          </p:cNvPr>
          <p:cNvSpPr>
            <a:spLocks noGrp="1"/>
          </p:cNvSpPr>
          <p:nvPr>
            <p:ph type="sldNum" sz="quarter" idx="5"/>
          </p:nvPr>
        </p:nvSpPr>
        <p:spPr/>
        <p:txBody>
          <a:bodyPr/>
          <a:lstStyle/>
          <a:p>
            <a:fld id="{1FACCC11-19A3-4E27-AB70-5FB3E1779C6E}" type="slidenum">
              <a:rPr lang="en-US" smtClean="0"/>
              <a:t>27</a:t>
            </a:fld>
            <a:endParaRPr lang="en-US" dirty="0"/>
          </a:p>
        </p:txBody>
      </p:sp>
    </p:spTree>
    <p:extLst>
      <p:ext uri="{BB962C8B-B14F-4D97-AF65-F5344CB8AC3E}">
        <p14:creationId xmlns:p14="http://schemas.microsoft.com/office/powerpoint/2010/main" val="446511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E07F8-EF8D-64FA-8B71-A35DCD6E9C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E7DBA-F047-0E61-D1E8-5BBAC91B61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34C02-9EE7-F381-F727-C25FE6FABE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A4C1BA-A5F9-CE00-3F3E-E6F1D410CFC0}"/>
              </a:ext>
            </a:extLst>
          </p:cNvPr>
          <p:cNvSpPr>
            <a:spLocks noGrp="1"/>
          </p:cNvSpPr>
          <p:nvPr>
            <p:ph type="sldNum" sz="quarter" idx="5"/>
          </p:nvPr>
        </p:nvSpPr>
        <p:spPr/>
        <p:txBody>
          <a:bodyPr/>
          <a:lstStyle/>
          <a:p>
            <a:fld id="{1FACCC11-19A3-4E27-AB70-5FB3E1779C6E}" type="slidenum">
              <a:rPr lang="en-US" smtClean="0"/>
              <a:t>28</a:t>
            </a:fld>
            <a:endParaRPr lang="en-US" dirty="0"/>
          </a:p>
        </p:txBody>
      </p:sp>
    </p:spTree>
    <p:extLst>
      <p:ext uri="{BB962C8B-B14F-4D97-AF65-F5344CB8AC3E}">
        <p14:creationId xmlns:p14="http://schemas.microsoft.com/office/powerpoint/2010/main" val="31909644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F83A3-B4B2-309A-FC7B-4E82ED9EB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DC696-B42B-5FBA-CBDE-F6386CC2E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9356D0-A1B9-CABC-349F-E5E2DFDD92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5815-5962-D185-14CC-0A5D56922330}"/>
              </a:ext>
            </a:extLst>
          </p:cNvPr>
          <p:cNvSpPr>
            <a:spLocks noGrp="1"/>
          </p:cNvSpPr>
          <p:nvPr>
            <p:ph type="sldNum" sz="quarter" idx="5"/>
          </p:nvPr>
        </p:nvSpPr>
        <p:spPr/>
        <p:txBody>
          <a:bodyPr/>
          <a:lstStyle/>
          <a:p>
            <a:fld id="{1FACCC11-19A3-4E27-AB70-5FB3E1779C6E}" type="slidenum">
              <a:rPr lang="en-US" smtClean="0"/>
              <a:t>29</a:t>
            </a:fld>
            <a:endParaRPr lang="en-US" dirty="0"/>
          </a:p>
        </p:txBody>
      </p:sp>
    </p:spTree>
    <p:extLst>
      <p:ext uri="{BB962C8B-B14F-4D97-AF65-F5344CB8AC3E}">
        <p14:creationId xmlns:p14="http://schemas.microsoft.com/office/powerpoint/2010/main" val="31314622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C8E56-4E5B-4C1D-494E-319E8BD87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29CF0-9BC7-6791-A3AE-32454D1FB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7C82E-B756-99E2-680B-31C5286790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11E1DA-EFD0-8D55-FFA6-96B30889DF9F}"/>
              </a:ext>
            </a:extLst>
          </p:cNvPr>
          <p:cNvSpPr>
            <a:spLocks noGrp="1"/>
          </p:cNvSpPr>
          <p:nvPr>
            <p:ph type="sldNum" sz="quarter" idx="5"/>
          </p:nvPr>
        </p:nvSpPr>
        <p:spPr/>
        <p:txBody>
          <a:bodyPr/>
          <a:lstStyle/>
          <a:p>
            <a:fld id="{1FACCC11-19A3-4E27-AB70-5FB3E1779C6E}" type="slidenum">
              <a:rPr lang="en-US" smtClean="0"/>
              <a:t>30</a:t>
            </a:fld>
            <a:endParaRPr lang="en-US" dirty="0"/>
          </a:p>
        </p:txBody>
      </p:sp>
    </p:spTree>
    <p:extLst>
      <p:ext uri="{BB962C8B-B14F-4D97-AF65-F5344CB8AC3E}">
        <p14:creationId xmlns:p14="http://schemas.microsoft.com/office/powerpoint/2010/main" val="1667026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D681B-BC6B-FC77-7E70-4336A3D8D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D77CB-4F25-848E-F7D5-66FB2343A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6957A-2A5A-5755-88F9-7821D5D3DC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C85F38-3B36-3F18-0FEB-0E260ED5F2EE}"/>
              </a:ext>
            </a:extLst>
          </p:cNvPr>
          <p:cNvSpPr>
            <a:spLocks noGrp="1"/>
          </p:cNvSpPr>
          <p:nvPr>
            <p:ph type="sldNum" sz="quarter" idx="5"/>
          </p:nvPr>
        </p:nvSpPr>
        <p:spPr/>
        <p:txBody>
          <a:bodyPr/>
          <a:lstStyle/>
          <a:p>
            <a:fld id="{1FACCC11-19A3-4E27-AB70-5FB3E1779C6E}" type="slidenum">
              <a:rPr lang="en-US" smtClean="0"/>
              <a:t>31</a:t>
            </a:fld>
            <a:endParaRPr lang="en-US" dirty="0"/>
          </a:p>
        </p:txBody>
      </p:sp>
    </p:spTree>
    <p:extLst>
      <p:ext uri="{BB962C8B-B14F-4D97-AF65-F5344CB8AC3E}">
        <p14:creationId xmlns:p14="http://schemas.microsoft.com/office/powerpoint/2010/main" val="9833390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4EE8B-5D4B-D11D-94BF-529EB70C4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B82F4-9E0A-7D6B-157C-7C48535B62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42CDD-09C0-8FD1-6FD2-FEA1AB03B1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0887E9-937C-0253-A58F-3A06F1D326DA}"/>
              </a:ext>
            </a:extLst>
          </p:cNvPr>
          <p:cNvSpPr>
            <a:spLocks noGrp="1"/>
          </p:cNvSpPr>
          <p:nvPr>
            <p:ph type="sldNum" sz="quarter" idx="5"/>
          </p:nvPr>
        </p:nvSpPr>
        <p:spPr/>
        <p:txBody>
          <a:bodyPr/>
          <a:lstStyle/>
          <a:p>
            <a:fld id="{1FACCC11-19A3-4E27-AB70-5FB3E1779C6E}" type="slidenum">
              <a:rPr lang="en-US" smtClean="0"/>
              <a:t>32</a:t>
            </a:fld>
            <a:endParaRPr lang="en-US" dirty="0"/>
          </a:p>
        </p:txBody>
      </p:sp>
    </p:spTree>
    <p:extLst>
      <p:ext uri="{BB962C8B-B14F-4D97-AF65-F5344CB8AC3E}">
        <p14:creationId xmlns:p14="http://schemas.microsoft.com/office/powerpoint/2010/main" val="3183166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EEB4C-4745-9F30-F11D-0AB79A09B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4958D-CE63-F4D5-895B-19FCFAC9F5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F72BEA-D09F-BD1B-E92A-885AF142DD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50DFFA-8130-60AD-A6C0-1A7B94C5C516}"/>
              </a:ext>
            </a:extLst>
          </p:cNvPr>
          <p:cNvSpPr>
            <a:spLocks noGrp="1"/>
          </p:cNvSpPr>
          <p:nvPr>
            <p:ph type="sldNum" sz="quarter" idx="5"/>
          </p:nvPr>
        </p:nvSpPr>
        <p:spPr/>
        <p:txBody>
          <a:bodyPr/>
          <a:lstStyle/>
          <a:p>
            <a:fld id="{1FACCC11-19A3-4E27-AB70-5FB3E1779C6E}" type="slidenum">
              <a:rPr lang="en-US" smtClean="0"/>
              <a:t>33</a:t>
            </a:fld>
            <a:endParaRPr lang="en-US" dirty="0"/>
          </a:p>
        </p:txBody>
      </p:sp>
    </p:spTree>
    <p:extLst>
      <p:ext uri="{BB962C8B-B14F-4D97-AF65-F5344CB8AC3E}">
        <p14:creationId xmlns:p14="http://schemas.microsoft.com/office/powerpoint/2010/main" val="14493535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02849-518A-77FF-163A-39B7ED600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50B1C-2B15-29BE-8C77-777235B87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632FB8-F9D2-6470-8CE4-71950B5990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25EF61-9317-6EEE-1179-7AA15C8841E6}"/>
              </a:ext>
            </a:extLst>
          </p:cNvPr>
          <p:cNvSpPr>
            <a:spLocks noGrp="1"/>
          </p:cNvSpPr>
          <p:nvPr>
            <p:ph type="sldNum" sz="quarter" idx="5"/>
          </p:nvPr>
        </p:nvSpPr>
        <p:spPr/>
        <p:txBody>
          <a:bodyPr/>
          <a:lstStyle/>
          <a:p>
            <a:fld id="{1FACCC11-19A3-4E27-AB70-5FB3E1779C6E}" type="slidenum">
              <a:rPr lang="en-US" smtClean="0"/>
              <a:t>34</a:t>
            </a:fld>
            <a:endParaRPr lang="en-US" dirty="0"/>
          </a:p>
        </p:txBody>
      </p:sp>
    </p:spTree>
    <p:extLst>
      <p:ext uri="{BB962C8B-B14F-4D97-AF65-F5344CB8AC3E}">
        <p14:creationId xmlns:p14="http://schemas.microsoft.com/office/powerpoint/2010/main" val="42004056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1D3C8-875C-E30F-2650-AE17868BE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1E585-25F1-0A57-943D-0FC3144F0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96880-D110-B074-8111-EBA7CE3CC8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156B7F-4CD2-A645-6A6B-5B2B14D6F4F9}"/>
              </a:ext>
            </a:extLst>
          </p:cNvPr>
          <p:cNvSpPr>
            <a:spLocks noGrp="1"/>
          </p:cNvSpPr>
          <p:nvPr>
            <p:ph type="sldNum" sz="quarter" idx="5"/>
          </p:nvPr>
        </p:nvSpPr>
        <p:spPr/>
        <p:txBody>
          <a:bodyPr/>
          <a:lstStyle/>
          <a:p>
            <a:fld id="{1FACCC11-19A3-4E27-AB70-5FB3E1779C6E}" type="slidenum">
              <a:rPr lang="en-US" smtClean="0"/>
              <a:t>35</a:t>
            </a:fld>
            <a:endParaRPr lang="en-US" dirty="0"/>
          </a:p>
        </p:txBody>
      </p:sp>
    </p:spTree>
    <p:extLst>
      <p:ext uri="{BB962C8B-B14F-4D97-AF65-F5344CB8AC3E}">
        <p14:creationId xmlns:p14="http://schemas.microsoft.com/office/powerpoint/2010/main" val="34102597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920C3-6128-84BB-39A1-3F3868F57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CC188-9EF0-80E3-BB62-349EE734B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93476-4D1F-3FB6-5819-885ADEB5F6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412761-3779-CCC2-80C7-1E5DFED1AE65}"/>
              </a:ext>
            </a:extLst>
          </p:cNvPr>
          <p:cNvSpPr>
            <a:spLocks noGrp="1"/>
          </p:cNvSpPr>
          <p:nvPr>
            <p:ph type="sldNum" sz="quarter" idx="5"/>
          </p:nvPr>
        </p:nvSpPr>
        <p:spPr/>
        <p:txBody>
          <a:bodyPr/>
          <a:lstStyle/>
          <a:p>
            <a:fld id="{1FACCC11-19A3-4E27-AB70-5FB3E1779C6E}" type="slidenum">
              <a:rPr lang="en-US" smtClean="0"/>
              <a:t>36</a:t>
            </a:fld>
            <a:endParaRPr lang="en-US" dirty="0"/>
          </a:p>
        </p:txBody>
      </p:sp>
    </p:spTree>
    <p:extLst>
      <p:ext uri="{BB962C8B-B14F-4D97-AF65-F5344CB8AC3E}">
        <p14:creationId xmlns:p14="http://schemas.microsoft.com/office/powerpoint/2010/main" val="9214342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F9ACD-8C11-84BE-111A-20C4A6704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C7BC0-96AA-A948-10FF-CF7CAE67C0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43C9F-6AE8-966E-A220-63AC1B1E09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F73EDC-7037-2589-4DBC-26CC9270B2D4}"/>
              </a:ext>
            </a:extLst>
          </p:cNvPr>
          <p:cNvSpPr>
            <a:spLocks noGrp="1"/>
          </p:cNvSpPr>
          <p:nvPr>
            <p:ph type="sldNum" sz="quarter" idx="5"/>
          </p:nvPr>
        </p:nvSpPr>
        <p:spPr/>
        <p:txBody>
          <a:bodyPr/>
          <a:lstStyle/>
          <a:p>
            <a:fld id="{1FACCC11-19A3-4E27-AB70-5FB3E1779C6E}" type="slidenum">
              <a:rPr lang="en-US" smtClean="0"/>
              <a:t>37</a:t>
            </a:fld>
            <a:endParaRPr lang="en-US" dirty="0"/>
          </a:p>
        </p:txBody>
      </p:sp>
    </p:spTree>
    <p:extLst>
      <p:ext uri="{BB962C8B-B14F-4D97-AF65-F5344CB8AC3E}">
        <p14:creationId xmlns:p14="http://schemas.microsoft.com/office/powerpoint/2010/main" val="26733338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FE3E3-2D3C-E79D-09C7-09994409E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E905B-9147-995C-6E04-91360458D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FC412-460F-A3F1-02CB-3CC86A9677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D68A00-292C-38B8-3A98-82FF061CF78D}"/>
              </a:ext>
            </a:extLst>
          </p:cNvPr>
          <p:cNvSpPr>
            <a:spLocks noGrp="1"/>
          </p:cNvSpPr>
          <p:nvPr>
            <p:ph type="sldNum" sz="quarter" idx="5"/>
          </p:nvPr>
        </p:nvSpPr>
        <p:spPr/>
        <p:txBody>
          <a:bodyPr/>
          <a:lstStyle/>
          <a:p>
            <a:fld id="{1FACCC11-19A3-4E27-AB70-5FB3E1779C6E}" type="slidenum">
              <a:rPr lang="en-US" smtClean="0"/>
              <a:t>38</a:t>
            </a:fld>
            <a:endParaRPr lang="en-US" dirty="0"/>
          </a:p>
        </p:txBody>
      </p:sp>
    </p:spTree>
    <p:extLst>
      <p:ext uri="{BB962C8B-B14F-4D97-AF65-F5344CB8AC3E}">
        <p14:creationId xmlns:p14="http://schemas.microsoft.com/office/powerpoint/2010/main" val="27865658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12373-E822-CE8D-BBB8-372FB5AAB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10414-9D86-3055-86BC-FA6E167EC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5B7E4-DB57-5C2D-1A0B-8B03F0F76E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3A8F1E-0BED-4775-5716-5CA1E40A0D20}"/>
              </a:ext>
            </a:extLst>
          </p:cNvPr>
          <p:cNvSpPr>
            <a:spLocks noGrp="1"/>
          </p:cNvSpPr>
          <p:nvPr>
            <p:ph type="sldNum" sz="quarter" idx="5"/>
          </p:nvPr>
        </p:nvSpPr>
        <p:spPr/>
        <p:txBody>
          <a:bodyPr/>
          <a:lstStyle/>
          <a:p>
            <a:fld id="{1FACCC11-19A3-4E27-AB70-5FB3E1779C6E}" type="slidenum">
              <a:rPr lang="en-US" smtClean="0"/>
              <a:t>39</a:t>
            </a:fld>
            <a:endParaRPr lang="en-US" dirty="0"/>
          </a:p>
        </p:txBody>
      </p:sp>
    </p:spTree>
    <p:extLst>
      <p:ext uri="{BB962C8B-B14F-4D97-AF65-F5344CB8AC3E}">
        <p14:creationId xmlns:p14="http://schemas.microsoft.com/office/powerpoint/2010/main" val="7923655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F38CE-5B1A-C242-F973-75A91E880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AC3CF-97F9-FA03-ED2B-B407663F8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FEA0B-E4A9-08B4-D659-688CA2319B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FEF668-EDEC-3C68-C4D8-866A39DAEF21}"/>
              </a:ext>
            </a:extLst>
          </p:cNvPr>
          <p:cNvSpPr>
            <a:spLocks noGrp="1"/>
          </p:cNvSpPr>
          <p:nvPr>
            <p:ph type="sldNum" sz="quarter" idx="5"/>
          </p:nvPr>
        </p:nvSpPr>
        <p:spPr/>
        <p:txBody>
          <a:bodyPr/>
          <a:lstStyle/>
          <a:p>
            <a:fld id="{1FACCC11-19A3-4E27-AB70-5FB3E1779C6E}" type="slidenum">
              <a:rPr lang="en-US" smtClean="0"/>
              <a:t>40</a:t>
            </a:fld>
            <a:endParaRPr lang="en-US" dirty="0"/>
          </a:p>
        </p:txBody>
      </p:sp>
    </p:spTree>
    <p:extLst>
      <p:ext uri="{BB962C8B-B14F-4D97-AF65-F5344CB8AC3E}">
        <p14:creationId xmlns:p14="http://schemas.microsoft.com/office/powerpoint/2010/main" val="24001905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56F9F-1B77-7B06-E2A9-D6E387228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8369F2-58F5-4E18-ACD0-E83D50B4F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61663-CDCC-2158-80CC-197A2F11DA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036FA5-10F5-6949-0AAE-0A0C849A05CC}"/>
              </a:ext>
            </a:extLst>
          </p:cNvPr>
          <p:cNvSpPr>
            <a:spLocks noGrp="1"/>
          </p:cNvSpPr>
          <p:nvPr>
            <p:ph type="sldNum" sz="quarter" idx="5"/>
          </p:nvPr>
        </p:nvSpPr>
        <p:spPr/>
        <p:txBody>
          <a:bodyPr/>
          <a:lstStyle/>
          <a:p>
            <a:fld id="{1FACCC11-19A3-4E27-AB70-5FB3E1779C6E}" type="slidenum">
              <a:rPr lang="en-US" smtClean="0"/>
              <a:t>41</a:t>
            </a:fld>
            <a:endParaRPr lang="en-US" dirty="0"/>
          </a:p>
        </p:txBody>
      </p:sp>
    </p:spTree>
    <p:extLst>
      <p:ext uri="{BB962C8B-B14F-4D97-AF65-F5344CB8AC3E}">
        <p14:creationId xmlns:p14="http://schemas.microsoft.com/office/powerpoint/2010/main" val="42611214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62E45-5E77-BF23-2E7E-2C149AA92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3744B-E42A-FBFF-3F86-42696A7154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473DE-D213-38E5-2B28-64A8908C85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F283EC-5E22-6C0E-447A-9ECBD1FA3908}"/>
              </a:ext>
            </a:extLst>
          </p:cNvPr>
          <p:cNvSpPr>
            <a:spLocks noGrp="1"/>
          </p:cNvSpPr>
          <p:nvPr>
            <p:ph type="sldNum" sz="quarter" idx="5"/>
          </p:nvPr>
        </p:nvSpPr>
        <p:spPr/>
        <p:txBody>
          <a:bodyPr/>
          <a:lstStyle/>
          <a:p>
            <a:fld id="{1FACCC11-19A3-4E27-AB70-5FB3E1779C6E}" type="slidenum">
              <a:rPr lang="en-US" smtClean="0"/>
              <a:t>42</a:t>
            </a:fld>
            <a:endParaRPr lang="en-US" dirty="0"/>
          </a:p>
        </p:txBody>
      </p:sp>
    </p:spTree>
    <p:extLst>
      <p:ext uri="{BB962C8B-B14F-4D97-AF65-F5344CB8AC3E}">
        <p14:creationId xmlns:p14="http://schemas.microsoft.com/office/powerpoint/2010/main" val="24424703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0B095-B473-FF96-5CE2-587476241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1877E-A371-BD5E-B49C-6E5924C59D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A2077-3DD0-8F5C-B852-960F3C8032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93FEEB-85CD-753F-742D-04EB5982AAA8}"/>
              </a:ext>
            </a:extLst>
          </p:cNvPr>
          <p:cNvSpPr>
            <a:spLocks noGrp="1"/>
          </p:cNvSpPr>
          <p:nvPr>
            <p:ph type="sldNum" sz="quarter" idx="5"/>
          </p:nvPr>
        </p:nvSpPr>
        <p:spPr/>
        <p:txBody>
          <a:bodyPr/>
          <a:lstStyle/>
          <a:p>
            <a:fld id="{1FACCC11-19A3-4E27-AB70-5FB3E1779C6E}" type="slidenum">
              <a:rPr lang="en-US" smtClean="0"/>
              <a:t>43</a:t>
            </a:fld>
            <a:endParaRPr lang="en-US" dirty="0"/>
          </a:p>
        </p:txBody>
      </p:sp>
    </p:spTree>
    <p:extLst>
      <p:ext uri="{BB962C8B-B14F-4D97-AF65-F5344CB8AC3E}">
        <p14:creationId xmlns:p14="http://schemas.microsoft.com/office/powerpoint/2010/main" val="3102407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D121C-E803-316D-07F3-901C56D3E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9F393-6937-2C6D-3D00-D2BE025D00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77422-0CB5-639D-9057-74406CFA84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EB481B-8DEF-01A4-99AC-50F3789361B1}"/>
              </a:ext>
            </a:extLst>
          </p:cNvPr>
          <p:cNvSpPr>
            <a:spLocks noGrp="1"/>
          </p:cNvSpPr>
          <p:nvPr>
            <p:ph type="sldNum" sz="quarter" idx="5"/>
          </p:nvPr>
        </p:nvSpPr>
        <p:spPr/>
        <p:txBody>
          <a:bodyPr/>
          <a:lstStyle/>
          <a:p>
            <a:fld id="{1FACCC11-19A3-4E27-AB70-5FB3E1779C6E}" type="slidenum">
              <a:rPr lang="en-US" smtClean="0"/>
              <a:t>44</a:t>
            </a:fld>
            <a:endParaRPr lang="en-US" dirty="0"/>
          </a:p>
        </p:txBody>
      </p:sp>
    </p:spTree>
    <p:extLst>
      <p:ext uri="{BB962C8B-B14F-4D97-AF65-F5344CB8AC3E}">
        <p14:creationId xmlns:p14="http://schemas.microsoft.com/office/powerpoint/2010/main" val="888977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005E2-1667-6D93-0BAE-5381F09FB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1BD87-72C6-1A0F-2227-2ECF887547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81B77-DD4C-BCD8-D989-28AF8384E6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F15148-4DF6-4DCE-C841-495DD5D54524}"/>
              </a:ext>
            </a:extLst>
          </p:cNvPr>
          <p:cNvSpPr>
            <a:spLocks noGrp="1"/>
          </p:cNvSpPr>
          <p:nvPr>
            <p:ph type="sldNum" sz="quarter" idx="5"/>
          </p:nvPr>
        </p:nvSpPr>
        <p:spPr/>
        <p:txBody>
          <a:bodyPr/>
          <a:lstStyle/>
          <a:p>
            <a:fld id="{1FACCC11-19A3-4E27-AB70-5FB3E1779C6E}" type="slidenum">
              <a:rPr lang="en-US" smtClean="0"/>
              <a:t>45</a:t>
            </a:fld>
            <a:endParaRPr lang="en-US" dirty="0"/>
          </a:p>
        </p:txBody>
      </p:sp>
    </p:spTree>
    <p:extLst>
      <p:ext uri="{BB962C8B-B14F-4D97-AF65-F5344CB8AC3E}">
        <p14:creationId xmlns:p14="http://schemas.microsoft.com/office/powerpoint/2010/main" val="19027907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74018-F961-4B34-1883-D8AFBE32A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4FFAE-25B1-6957-0595-85F93A685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8AF73-541A-D403-4F44-188E3BD59A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7ED85A-1243-785E-A746-DB2C1B1F00D2}"/>
              </a:ext>
            </a:extLst>
          </p:cNvPr>
          <p:cNvSpPr>
            <a:spLocks noGrp="1"/>
          </p:cNvSpPr>
          <p:nvPr>
            <p:ph type="sldNum" sz="quarter" idx="5"/>
          </p:nvPr>
        </p:nvSpPr>
        <p:spPr/>
        <p:txBody>
          <a:bodyPr/>
          <a:lstStyle/>
          <a:p>
            <a:fld id="{1FACCC11-19A3-4E27-AB70-5FB3E1779C6E}" type="slidenum">
              <a:rPr lang="en-US" smtClean="0"/>
              <a:t>46</a:t>
            </a:fld>
            <a:endParaRPr lang="en-US" dirty="0"/>
          </a:p>
        </p:txBody>
      </p:sp>
    </p:spTree>
    <p:extLst>
      <p:ext uri="{BB962C8B-B14F-4D97-AF65-F5344CB8AC3E}">
        <p14:creationId xmlns:p14="http://schemas.microsoft.com/office/powerpoint/2010/main" val="29622858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870C-C5E1-DD2A-80F1-DA603B375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18CE5-4F17-55EA-B392-E02B5578CE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47D8D7-CDFC-5BD2-968C-B615C42438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25E020-564B-4341-3F74-2F830B7BFE44}"/>
              </a:ext>
            </a:extLst>
          </p:cNvPr>
          <p:cNvSpPr>
            <a:spLocks noGrp="1"/>
          </p:cNvSpPr>
          <p:nvPr>
            <p:ph type="sldNum" sz="quarter" idx="5"/>
          </p:nvPr>
        </p:nvSpPr>
        <p:spPr/>
        <p:txBody>
          <a:bodyPr/>
          <a:lstStyle/>
          <a:p>
            <a:fld id="{1FACCC11-19A3-4E27-AB70-5FB3E1779C6E}" type="slidenum">
              <a:rPr lang="en-US" smtClean="0"/>
              <a:t>47</a:t>
            </a:fld>
            <a:endParaRPr lang="en-US" dirty="0"/>
          </a:p>
        </p:txBody>
      </p:sp>
    </p:spTree>
    <p:extLst>
      <p:ext uri="{BB962C8B-B14F-4D97-AF65-F5344CB8AC3E}">
        <p14:creationId xmlns:p14="http://schemas.microsoft.com/office/powerpoint/2010/main" val="30842884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0FC41-4306-456C-6E92-016DE4DF8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8BCF20-05F0-8D78-9252-6B4A83DC0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36185-F475-DB87-6EEB-E315541B1A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731EF5-F871-6A23-44D4-60B7E9CC5613}"/>
              </a:ext>
            </a:extLst>
          </p:cNvPr>
          <p:cNvSpPr>
            <a:spLocks noGrp="1"/>
          </p:cNvSpPr>
          <p:nvPr>
            <p:ph type="sldNum" sz="quarter" idx="5"/>
          </p:nvPr>
        </p:nvSpPr>
        <p:spPr/>
        <p:txBody>
          <a:bodyPr/>
          <a:lstStyle/>
          <a:p>
            <a:fld id="{1FACCC11-19A3-4E27-AB70-5FB3E1779C6E}" type="slidenum">
              <a:rPr lang="en-US" smtClean="0"/>
              <a:t>48</a:t>
            </a:fld>
            <a:endParaRPr lang="en-US" dirty="0"/>
          </a:p>
        </p:txBody>
      </p:sp>
    </p:spTree>
    <p:extLst>
      <p:ext uri="{BB962C8B-B14F-4D97-AF65-F5344CB8AC3E}">
        <p14:creationId xmlns:p14="http://schemas.microsoft.com/office/powerpoint/2010/main" val="25011241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358C3-33EF-79ED-19E8-D0A5A28B4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F1C2A-0BB9-F159-3C78-462215F6CA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45D2C-64C8-3456-EC86-74D1141074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389E20-4040-0C62-7D58-D529B3F6C540}"/>
              </a:ext>
            </a:extLst>
          </p:cNvPr>
          <p:cNvSpPr>
            <a:spLocks noGrp="1"/>
          </p:cNvSpPr>
          <p:nvPr>
            <p:ph type="sldNum" sz="quarter" idx="5"/>
          </p:nvPr>
        </p:nvSpPr>
        <p:spPr/>
        <p:txBody>
          <a:bodyPr/>
          <a:lstStyle/>
          <a:p>
            <a:fld id="{1FACCC11-19A3-4E27-AB70-5FB3E1779C6E}" type="slidenum">
              <a:rPr lang="en-US" smtClean="0"/>
              <a:t>49</a:t>
            </a:fld>
            <a:endParaRPr lang="en-US" dirty="0"/>
          </a:p>
        </p:txBody>
      </p:sp>
    </p:spTree>
    <p:extLst>
      <p:ext uri="{BB962C8B-B14F-4D97-AF65-F5344CB8AC3E}">
        <p14:creationId xmlns:p14="http://schemas.microsoft.com/office/powerpoint/2010/main" val="30003223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32CA7-8AD0-290A-1D8C-1DBBF1BA5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149B3-664A-668E-60BE-F5740ED60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5B7A3A-E58E-2BAA-D795-FFB5D9C64F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8777F3-EC70-9E0A-7BBF-5328F3732023}"/>
              </a:ext>
            </a:extLst>
          </p:cNvPr>
          <p:cNvSpPr>
            <a:spLocks noGrp="1"/>
          </p:cNvSpPr>
          <p:nvPr>
            <p:ph type="sldNum" sz="quarter" idx="5"/>
          </p:nvPr>
        </p:nvSpPr>
        <p:spPr/>
        <p:txBody>
          <a:bodyPr/>
          <a:lstStyle/>
          <a:p>
            <a:fld id="{1FACCC11-19A3-4E27-AB70-5FB3E1779C6E}" type="slidenum">
              <a:rPr lang="en-US" smtClean="0"/>
              <a:t>50</a:t>
            </a:fld>
            <a:endParaRPr lang="en-US" dirty="0"/>
          </a:p>
        </p:txBody>
      </p:sp>
    </p:spTree>
    <p:extLst>
      <p:ext uri="{BB962C8B-B14F-4D97-AF65-F5344CB8AC3E}">
        <p14:creationId xmlns:p14="http://schemas.microsoft.com/office/powerpoint/2010/main" val="3788233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5.xml"/><Relationship Id="rId6" Type="http://schemas.openxmlformats.org/officeDocument/2006/relationships/image" Target="../media/image12.svg"/><Relationship Id="rId5" Type="http://schemas.openxmlformats.org/officeDocument/2006/relationships/image" Target="../media/image6.png"/><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2905802"/>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3045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E934FF-F4E1-47C5-9CA5-30A81DDE2BE4}"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hasCustomPrompt="1"/>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9233" y="927488"/>
            <a:ext cx="2495310" cy="1152049"/>
          </a:xfrm>
          <a:prstGeom prst="rect">
            <a:avLst/>
          </a:prstGeom>
        </p:spPr>
      </p:pic>
      <p:pic>
        <p:nvPicPr>
          <p:cNvPr id="14" name="Graphic 13"/>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169667" y="1033477"/>
            <a:ext cx="3314700" cy="723931"/>
          </a:xfrm>
          <a:prstGeom prst="rect">
            <a:avLst/>
          </a:prstGeom>
        </p:spPr>
      </p:pic>
      <p:sp>
        <p:nvSpPr>
          <p:cNvPr id="2" name="Isosceles Triangle 1"/>
          <p:cNvSpPr/>
          <p:nvPr userDrawn="1"/>
        </p:nvSpPr>
        <p:spPr>
          <a:xfrm rot="5400000">
            <a:off x="1747328" y="5566954"/>
            <a:ext cx="155700" cy="998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65">
              <a:ln>
                <a:noFill/>
              </a:ln>
            </a:endParaRPr>
          </a:p>
        </p:txBody>
      </p:sp>
      <p:pic>
        <p:nvPicPr>
          <p:cNvPr id="3" name="Graphic 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013106" y="5538064"/>
            <a:ext cx="1371600" cy="180983"/>
          </a:xfrm>
          <a:prstGeom prst="rect">
            <a:avLst/>
          </a:prstGeom>
        </p:spPr>
      </p:pic>
      <p:pic>
        <p:nvPicPr>
          <p:cNvPr id="5" name="Picture 4"/>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a:xfrm>
            <a:off x="8856512" y="5065192"/>
            <a:ext cx="1451310" cy="4333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7.sv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2" name="Picture 1" descr="A picture containing text,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38091" y="651936"/>
            <a:ext cx="1835181" cy="847242"/>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122171" y="5895580"/>
            <a:ext cx="1451310" cy="43335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4"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0" y="0"/>
            <a:ext cx="12192000" cy="6858294"/>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845820" rtl="0" eaLnBrk="1" latinLnBrk="0" hangingPunct="1">
        <a:lnSpc>
          <a:spcPct val="90000"/>
        </a:lnSpc>
        <a:spcBef>
          <a:spcPct val="0"/>
        </a:spcBef>
        <a:buNone/>
        <a:defRPr sz="4070" kern="1200">
          <a:solidFill>
            <a:schemeClr val="tx1"/>
          </a:solidFill>
          <a:latin typeface="+mj-lt"/>
          <a:ea typeface="+mj-ea"/>
          <a:cs typeface="+mj-cs"/>
        </a:defRPr>
      </a:lvl1pPr>
    </p:titleStyle>
    <p:bodyStyle>
      <a:lvl1pPr marL="211455" indent="-211455" algn="l" defTabSz="845820" rtl="0" eaLnBrk="1" latinLnBrk="0" hangingPunct="1">
        <a:lnSpc>
          <a:spcPct val="90000"/>
        </a:lnSpc>
        <a:spcBef>
          <a:spcPts val="925"/>
        </a:spcBef>
        <a:buFont typeface="Arial" panose="020B0604020202020204" pitchFamily="34" charset="0"/>
        <a:buChar char="•"/>
        <a:defRPr sz="2590" kern="1200">
          <a:solidFill>
            <a:schemeClr val="tx1"/>
          </a:solidFill>
          <a:latin typeface="+mn-lt"/>
          <a:ea typeface="+mn-ea"/>
          <a:cs typeface="+mn-cs"/>
        </a:defRPr>
      </a:lvl1pPr>
      <a:lvl2pPr marL="634365" indent="-211455" algn="l" defTabSz="845820" rtl="0" eaLnBrk="1" latinLnBrk="0" hangingPunct="1">
        <a:lnSpc>
          <a:spcPct val="90000"/>
        </a:lnSpc>
        <a:spcBef>
          <a:spcPct val="93000"/>
        </a:spcBef>
        <a:buFont typeface="Arial" panose="020B0604020202020204" pitchFamily="34" charset="0"/>
        <a:buChar char="•"/>
        <a:defRPr sz="2220" kern="1200">
          <a:solidFill>
            <a:schemeClr val="tx1"/>
          </a:solidFill>
          <a:latin typeface="+mn-lt"/>
          <a:ea typeface="+mn-ea"/>
          <a:cs typeface="+mn-cs"/>
        </a:defRPr>
      </a:lvl2pPr>
      <a:lvl3pPr marL="1057275" indent="-211455" algn="l" defTabSz="845820" rtl="0" eaLnBrk="1" latinLnBrk="0" hangingPunct="1">
        <a:lnSpc>
          <a:spcPct val="90000"/>
        </a:lnSpc>
        <a:spcBef>
          <a:spcPct val="93000"/>
        </a:spcBef>
        <a:buFont typeface="Arial" panose="020B0604020202020204" pitchFamily="34" charset="0"/>
        <a:buChar char="•"/>
        <a:defRPr sz="1850" kern="1200">
          <a:solidFill>
            <a:schemeClr val="tx1"/>
          </a:solidFill>
          <a:latin typeface="+mn-lt"/>
          <a:ea typeface="+mn-ea"/>
          <a:cs typeface="+mn-cs"/>
        </a:defRPr>
      </a:lvl3pPr>
      <a:lvl4pPr marL="148018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4pPr>
      <a:lvl5pPr marL="190309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5pPr>
      <a:lvl6pPr marL="232600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6pPr>
      <a:lvl7pPr marL="274891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7pPr>
      <a:lvl8pPr marL="317119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8pPr>
      <a:lvl9pPr marL="359410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9pPr>
    </p:bodyStyle>
    <p:otherStyle>
      <a:defPPr>
        <a:defRPr lang="en-US"/>
      </a:defPPr>
      <a:lvl1pPr marL="0" algn="l" defTabSz="845820" rtl="0" eaLnBrk="1" latinLnBrk="0" hangingPunct="1">
        <a:defRPr sz="1665" kern="1200">
          <a:solidFill>
            <a:schemeClr val="tx1"/>
          </a:solidFill>
          <a:latin typeface="+mn-lt"/>
          <a:ea typeface="+mn-ea"/>
          <a:cs typeface="+mn-cs"/>
        </a:defRPr>
      </a:lvl1pPr>
      <a:lvl2pPr marL="422910" algn="l" defTabSz="845820" rtl="0" eaLnBrk="1" latinLnBrk="0" hangingPunct="1">
        <a:defRPr sz="1665" kern="1200">
          <a:solidFill>
            <a:schemeClr val="tx1"/>
          </a:solidFill>
          <a:latin typeface="+mn-lt"/>
          <a:ea typeface="+mn-ea"/>
          <a:cs typeface="+mn-cs"/>
        </a:defRPr>
      </a:lvl2pPr>
      <a:lvl3pPr marL="845820" algn="l" defTabSz="845820" rtl="0" eaLnBrk="1" latinLnBrk="0" hangingPunct="1">
        <a:defRPr sz="1665" kern="1200">
          <a:solidFill>
            <a:schemeClr val="tx1"/>
          </a:solidFill>
          <a:latin typeface="+mn-lt"/>
          <a:ea typeface="+mn-ea"/>
          <a:cs typeface="+mn-cs"/>
        </a:defRPr>
      </a:lvl3pPr>
      <a:lvl4pPr marL="1268730" algn="l" defTabSz="845820" rtl="0" eaLnBrk="1" latinLnBrk="0" hangingPunct="1">
        <a:defRPr sz="1665" kern="1200">
          <a:solidFill>
            <a:schemeClr val="tx1"/>
          </a:solidFill>
          <a:latin typeface="+mn-lt"/>
          <a:ea typeface="+mn-ea"/>
          <a:cs typeface="+mn-cs"/>
        </a:defRPr>
      </a:lvl4pPr>
      <a:lvl5pPr marL="1691640" algn="l" defTabSz="845820" rtl="0" eaLnBrk="1" latinLnBrk="0" hangingPunct="1">
        <a:defRPr sz="1665" kern="1200">
          <a:solidFill>
            <a:schemeClr val="tx1"/>
          </a:solidFill>
          <a:latin typeface="+mn-lt"/>
          <a:ea typeface="+mn-ea"/>
          <a:cs typeface="+mn-cs"/>
        </a:defRPr>
      </a:lvl5pPr>
      <a:lvl6pPr marL="2114550" algn="l" defTabSz="845820" rtl="0" eaLnBrk="1" latinLnBrk="0" hangingPunct="1">
        <a:defRPr sz="1665" kern="1200">
          <a:solidFill>
            <a:schemeClr val="tx1"/>
          </a:solidFill>
          <a:latin typeface="+mn-lt"/>
          <a:ea typeface="+mn-ea"/>
          <a:cs typeface="+mn-cs"/>
        </a:defRPr>
      </a:lvl6pPr>
      <a:lvl7pPr marL="2537460" algn="l" defTabSz="845820" rtl="0" eaLnBrk="1" latinLnBrk="0" hangingPunct="1">
        <a:defRPr sz="1665" kern="1200">
          <a:solidFill>
            <a:schemeClr val="tx1"/>
          </a:solidFill>
          <a:latin typeface="+mn-lt"/>
          <a:ea typeface="+mn-ea"/>
          <a:cs typeface="+mn-cs"/>
        </a:defRPr>
      </a:lvl7pPr>
      <a:lvl8pPr marL="2959735" algn="l" defTabSz="845820" rtl="0" eaLnBrk="1" latinLnBrk="0" hangingPunct="1">
        <a:defRPr sz="1665" kern="1200">
          <a:solidFill>
            <a:schemeClr val="tx1"/>
          </a:solidFill>
          <a:latin typeface="+mn-lt"/>
          <a:ea typeface="+mn-ea"/>
          <a:cs typeface="+mn-cs"/>
        </a:defRPr>
      </a:lvl8pPr>
      <a:lvl9pPr marL="3382645" algn="l" defTabSz="845820" rtl="0" eaLnBrk="1" latinLnBrk="0" hangingPunct="1">
        <a:defRPr sz="16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hyperlink" Target="https://colab.research.google.com/drive/1mB_IFQAd7qbMAhQ2C23a2NEbrNSl_i3R?usp=sharing" TargetMode="External"/><Relationship Id="rId2" Type="http://schemas.openxmlformats.org/officeDocument/2006/relationships/image" Target="../media/image23.jpe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9.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hyperlink" Target="https://colab.research.google.com/drive/1mB_IFQAd7qbMAhQ2C23a2NEbrNSl_i3R?usp=sharing"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38.jp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8" Type="http://schemas.openxmlformats.org/officeDocument/2006/relationships/hyperlink" Target="https://keras.io/api/layers/initializers/#ones-class" TargetMode="External"/><Relationship Id="rId3" Type="http://schemas.openxmlformats.org/officeDocument/2006/relationships/image" Target="../media/image39.png"/><Relationship Id="rId7" Type="http://schemas.openxmlformats.org/officeDocument/2006/relationships/hyperlink" Target="https://keras.io/api/layers/initializers/#zeros-class" TargetMode="External"/><Relationship Id="rId12" Type="http://schemas.openxmlformats.org/officeDocument/2006/relationships/hyperlink" Target="https://keras.io/api/layers/initializers/#heuniform-class" TargetMode="External"/><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hyperlink" Target="https://keras.io/api/layers/initializers/#truncatednormal-class" TargetMode="External"/><Relationship Id="rId11" Type="http://schemas.openxmlformats.org/officeDocument/2006/relationships/hyperlink" Target="https://keras.io/api/layers/initializers/#henormal-class" TargetMode="External"/><Relationship Id="rId5" Type="http://schemas.openxmlformats.org/officeDocument/2006/relationships/hyperlink" Target="https://keras.io/api/layers/initializers/#randomuniform-class" TargetMode="External"/><Relationship Id="rId10" Type="http://schemas.openxmlformats.org/officeDocument/2006/relationships/hyperlink" Target="https://keras.io/api/layers/initializers/#glorotuniform-class" TargetMode="External"/><Relationship Id="rId4" Type="http://schemas.openxmlformats.org/officeDocument/2006/relationships/hyperlink" Target="https://keras.io/api/layers/initializers/#randomnormal-class" TargetMode="External"/><Relationship Id="rId9" Type="http://schemas.openxmlformats.org/officeDocument/2006/relationships/hyperlink" Target="https://keras.io/api/layers/initializers/#glorotnormal-class" TargetMode="External"/></Relationships>
</file>

<file path=ppt/slides/_rels/slide33.xml.rels><?xml version="1.0" encoding="UTF-8" standalone="yes"?>
<Relationships xmlns="http://schemas.openxmlformats.org/package/2006/relationships"><Relationship Id="rId8" Type="http://schemas.openxmlformats.org/officeDocument/2006/relationships/hyperlink" Target="https://keras.io/api/layers/activations/#tanh-function" TargetMode="External"/><Relationship Id="rId3" Type="http://schemas.openxmlformats.org/officeDocument/2006/relationships/hyperlink" Target="https://keras.io/api/layers/activations/#relu-function" TargetMode="External"/><Relationship Id="rId7" Type="http://schemas.openxmlformats.org/officeDocument/2006/relationships/hyperlink" Target="https://keras.io/api/layers/activations/#softsign-function"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hyperlink" Target="https://keras.io/api/layers/activations/#softplus-function" TargetMode="External"/><Relationship Id="rId11" Type="http://schemas.openxmlformats.org/officeDocument/2006/relationships/hyperlink" Target="https://keras.io/api/layers/activations/#exponential-function" TargetMode="External"/><Relationship Id="rId5" Type="http://schemas.openxmlformats.org/officeDocument/2006/relationships/hyperlink" Target="https://keras.io/api/layers/activations/#softmax-function" TargetMode="External"/><Relationship Id="rId10" Type="http://schemas.openxmlformats.org/officeDocument/2006/relationships/hyperlink" Target="https://keras.io/api/layers/activations/#elu-function" TargetMode="External"/><Relationship Id="rId4" Type="http://schemas.openxmlformats.org/officeDocument/2006/relationships/hyperlink" Target="https://keras.io/api/layers/activations/#sigmoid-function" TargetMode="External"/><Relationship Id="rId9" Type="http://schemas.openxmlformats.org/officeDocument/2006/relationships/hyperlink" Target="https://keras.io/api/layers/activations/#selu-function"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44.jpg"/></Relationships>
</file>

<file path=ppt/slides/_rels/slide38.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hyperlink" Target="https://keras.io/api/losses/regression_losses/#mean_squared_error-function" TargetMode="External"/><Relationship Id="rId13" Type="http://schemas.openxmlformats.org/officeDocument/2006/relationships/hyperlink" Target="https://keras.io/api/losses/regression_losses/#huber-class" TargetMode="External"/><Relationship Id="rId3" Type="http://schemas.openxmlformats.org/officeDocument/2006/relationships/hyperlink" Target="https://keras.io/api/losses/regression_losses/#meansquarederror-class" TargetMode="External"/><Relationship Id="rId7" Type="http://schemas.openxmlformats.org/officeDocument/2006/relationships/hyperlink" Target="https://keras.io/api/losses/regression_losses/#cosinesimilarity-class" TargetMode="External"/><Relationship Id="rId12" Type="http://schemas.openxmlformats.org/officeDocument/2006/relationships/hyperlink" Target="https://keras.io/api/losses/regression_losses/#cosine_similarity-function" TargetMode="External"/><Relationship Id="rId17" Type="http://schemas.openxmlformats.org/officeDocument/2006/relationships/image" Target="../media/image48.jpg"/><Relationship Id="rId2" Type="http://schemas.openxmlformats.org/officeDocument/2006/relationships/notesSlide" Target="../notesSlides/notesSlide34.xml"/><Relationship Id="rId16" Type="http://schemas.openxmlformats.org/officeDocument/2006/relationships/hyperlink" Target="https://keras.io/api/losses/regression_losses/#log_cosh-function" TargetMode="External"/><Relationship Id="rId1" Type="http://schemas.openxmlformats.org/officeDocument/2006/relationships/slideLayout" Target="../slideLayouts/slideLayout4.xml"/><Relationship Id="rId6" Type="http://schemas.openxmlformats.org/officeDocument/2006/relationships/hyperlink" Target="https://keras.io/api/losses/regression_losses/#meansquaredlogarithmicerror-class" TargetMode="External"/><Relationship Id="rId11" Type="http://schemas.openxmlformats.org/officeDocument/2006/relationships/hyperlink" Target="https://keras.io/api/losses/regression_losses/#mean_squared_logarithmic_error-function" TargetMode="External"/><Relationship Id="rId5" Type="http://schemas.openxmlformats.org/officeDocument/2006/relationships/hyperlink" Target="https://keras.io/api/losses/regression_losses/#meanabsolutepercentageerror-class" TargetMode="External"/><Relationship Id="rId15" Type="http://schemas.openxmlformats.org/officeDocument/2006/relationships/hyperlink" Target="https://keras.io/api/losses/regression_losses/#logcosh-class" TargetMode="External"/><Relationship Id="rId10" Type="http://schemas.openxmlformats.org/officeDocument/2006/relationships/hyperlink" Target="https://keras.io/api/losses/regression_losses/#mean_absolute_percentage_error-function" TargetMode="External"/><Relationship Id="rId4" Type="http://schemas.openxmlformats.org/officeDocument/2006/relationships/hyperlink" Target="https://keras.io/api/losses/regression_losses/#meanabsoluteerror-class" TargetMode="External"/><Relationship Id="rId9" Type="http://schemas.openxmlformats.org/officeDocument/2006/relationships/hyperlink" Target="https://keras.io/api/losses/regression_losses/#mean_absolute_error-function" TargetMode="External"/><Relationship Id="rId14" Type="http://schemas.openxmlformats.org/officeDocument/2006/relationships/hyperlink" Target="https://keras.io/api/losses/regression_losses/#huber-function"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https://keras.io/api/losses/probabilistic_losses/#categorical_crossentropy-function" TargetMode="External"/><Relationship Id="rId13" Type="http://schemas.openxmlformats.org/officeDocument/2006/relationships/image" Target="../media/image48.jpg"/><Relationship Id="rId3" Type="http://schemas.openxmlformats.org/officeDocument/2006/relationships/hyperlink" Target="https://keras.io/api/losses/probabilistic_losses/#binarycrossentropy-class" TargetMode="External"/><Relationship Id="rId7" Type="http://schemas.openxmlformats.org/officeDocument/2006/relationships/hyperlink" Target="https://keras.io/api/losses/probabilistic_losses/#binary_crossentropy-function" TargetMode="External"/><Relationship Id="rId12" Type="http://schemas.openxmlformats.org/officeDocument/2006/relationships/hyperlink" Target="https://keras.io/api/losses/probabilistic_losses/#kl_divergence-function" TargetMode="External"/><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hyperlink" Target="https://keras.io/api/losses/probabilistic_losses/#poisson-class" TargetMode="External"/><Relationship Id="rId11" Type="http://schemas.openxmlformats.org/officeDocument/2006/relationships/hyperlink" Target="https://keras.io/api/losses/probabilistic_losses/#kldivergence-class" TargetMode="External"/><Relationship Id="rId5" Type="http://schemas.openxmlformats.org/officeDocument/2006/relationships/hyperlink" Target="https://keras.io/api/losses/probabilistic_losses/#sparsecategoricalcrossentropy-class" TargetMode="External"/><Relationship Id="rId10" Type="http://schemas.openxmlformats.org/officeDocument/2006/relationships/hyperlink" Target="https://keras.io/api/losses/probabilistic_losses/#poisson-function" TargetMode="External"/><Relationship Id="rId4" Type="http://schemas.openxmlformats.org/officeDocument/2006/relationships/hyperlink" Target="https://keras.io/api/losses/probabilistic_losses/#categoricalcrossentropy-class" TargetMode="External"/><Relationship Id="rId9" Type="http://schemas.openxmlformats.org/officeDocument/2006/relationships/hyperlink" Target="https://keras.io/api/losses/probabilistic_losses/#sparse_categorical_crossentropy-function"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keras.io/api/optimizers/adamax" TargetMode="External"/><Relationship Id="rId3" Type="http://schemas.openxmlformats.org/officeDocument/2006/relationships/hyperlink" Target="https://keras.io/api/optimizers/sgd" TargetMode="External"/><Relationship Id="rId7" Type="http://schemas.openxmlformats.org/officeDocument/2006/relationships/hyperlink" Target="https://keras.io/api/optimizers/adagrad" TargetMode="External"/><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hyperlink" Target="https://keras.io/api/optimizers/adadelta" TargetMode="External"/><Relationship Id="rId11" Type="http://schemas.openxmlformats.org/officeDocument/2006/relationships/image" Target="../media/image48.jpg"/><Relationship Id="rId5" Type="http://schemas.openxmlformats.org/officeDocument/2006/relationships/hyperlink" Target="https://keras.io/api/optimizers/adam" TargetMode="External"/><Relationship Id="rId10" Type="http://schemas.openxmlformats.org/officeDocument/2006/relationships/hyperlink" Target="https://keras.io/api/optimizers/ftrl" TargetMode="External"/><Relationship Id="rId4" Type="http://schemas.openxmlformats.org/officeDocument/2006/relationships/hyperlink" Target="https://keras.io/api/optimizers/rmsprop" TargetMode="External"/><Relationship Id="rId9" Type="http://schemas.openxmlformats.org/officeDocument/2006/relationships/hyperlink" Target="https://keras.io/api/optimizers/Nadam"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hyperlink" Target="https://arxiv.org/abs/1804.07612" TargetMode="External"/><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53.jpg"/></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SWE6302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 </a:t>
            </a:r>
          </a:p>
        </p:txBody>
      </p:sp>
      <p:sp>
        <p:nvSpPr>
          <p:cNvPr id="3" name="Text Placeholder 2"/>
          <p:cNvSpPr>
            <a:spLocks noGrp="1"/>
          </p:cNvSpPr>
          <p:nvPr>
            <p:ph type="body" sz="quarter" idx="10"/>
          </p:nvPr>
        </p:nvSpPr>
        <p:spPr/>
        <p:txBody>
          <a:bodyPr/>
          <a:lstStyle/>
          <a:p>
            <a:r>
              <a:rPr lang="en-GB" dirty="0"/>
              <a:t>SWE6302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Machine learning</a:t>
            </a:r>
            <a:endParaRPr lang="en-US" dirty="0"/>
          </a:p>
        </p:txBody>
      </p:sp>
      <p:sp>
        <p:nvSpPr>
          <p:cNvPr id="4" name="Text Placeholder 3"/>
          <p:cNvSpPr>
            <a:spLocks noGrp="1"/>
          </p:cNvSpPr>
          <p:nvPr>
            <p:ph type="body" sz="quarter" idx="11"/>
          </p:nvPr>
        </p:nvSpPr>
        <p:spPr>
          <a:xfrm>
            <a:off x="6952426" y="2192337"/>
            <a:ext cx="4732209" cy="3845503"/>
          </a:xfrm>
        </p:spPr>
        <p:txBody>
          <a:bodyPr/>
          <a:lstStyle/>
          <a:p>
            <a:endParaRPr lang="en-US" dirty="0"/>
          </a:p>
          <a:p>
            <a:r>
              <a:rPr lang="en-GB" dirty="0"/>
              <a:t>More About Deep Learning</a:t>
            </a:r>
            <a:endParaRPr lang="en-US" dirty="0"/>
          </a:p>
        </p:txBody>
      </p:sp>
      <p:pic>
        <p:nvPicPr>
          <p:cNvPr id="5" name="Picture 4"/>
          <p:cNvPicPr>
            <a:picLocks noChangeAspect="1"/>
          </p:cNvPicPr>
          <p:nvPr/>
        </p:nvPicPr>
        <p:blipFill>
          <a:blip r:embed="rId2"/>
          <a:stretch>
            <a:fillRect/>
          </a:stretch>
        </p:blipFill>
        <p:spPr>
          <a:xfrm>
            <a:off x="206018" y="1623416"/>
            <a:ext cx="6551188" cy="39584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Deployment of Machine Learning Models and Introduction to Deep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Understand the core concepts of DL</a:t>
            </a:r>
          </a:p>
          <a:p>
            <a:r>
              <a:rPr lang="en-GB" dirty="0">
                <a:solidFill>
                  <a:schemeClr val="tx1">
                    <a:lumMod val="75000"/>
                    <a:lumOff val="25000"/>
                  </a:schemeClr>
                </a:solidFill>
              </a:rPr>
              <a:t>Understand Artificial Neural Network (ANN)</a:t>
            </a:r>
          </a:p>
          <a:p>
            <a:r>
              <a:rPr lang="en-GB" dirty="0">
                <a:solidFill>
                  <a:schemeClr val="tx1">
                    <a:lumMod val="75000"/>
                    <a:lumOff val="25000"/>
                  </a:schemeClr>
                </a:solidFill>
              </a:rPr>
              <a:t>Understand Perceptron</a:t>
            </a:r>
          </a:p>
          <a:p>
            <a:r>
              <a:rPr lang="en-GB" dirty="0">
                <a:solidFill>
                  <a:schemeClr val="tx1">
                    <a:lumMod val="75000"/>
                    <a:lumOff val="25000"/>
                  </a:schemeClr>
                </a:solidFill>
              </a:rPr>
              <a:t>Understand Convolutional Neural Network (CNN)</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Recap - AI, ML, Dl</a:t>
            </a:r>
            <a:endParaRPr lang="en-US" dirty="0"/>
          </a:p>
        </p:txBody>
      </p:sp>
      <p:sp>
        <p:nvSpPr>
          <p:cNvPr id="7" name="Oval 6"/>
          <p:cNvSpPr/>
          <p:nvPr/>
        </p:nvSpPr>
        <p:spPr>
          <a:xfrm>
            <a:off x="542810" y="1495923"/>
            <a:ext cx="3977089" cy="3866154"/>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err="1">
                <a:ln>
                  <a:noFill/>
                </a:ln>
                <a:solidFill>
                  <a:prstClr val="white"/>
                </a:solidFill>
                <a:effectLst/>
                <a:uLnTx/>
                <a:uFillTx/>
                <a:latin typeface="Calibri" panose="020F0502020204030204"/>
                <a:ea typeface="+mn-ea"/>
                <a:cs typeface="+mn-cs"/>
              </a:rPr>
              <a:t>Artifical</a:t>
            </a:r>
            <a:endPar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Oval 7"/>
          <p:cNvSpPr/>
          <p:nvPr/>
        </p:nvSpPr>
        <p:spPr>
          <a:xfrm>
            <a:off x="1458127" y="2663710"/>
            <a:ext cx="2146453" cy="2598144"/>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p:cNvSpPr/>
          <p:nvPr/>
        </p:nvSpPr>
        <p:spPr>
          <a:xfrm>
            <a:off x="1926802" y="3787434"/>
            <a:ext cx="1209101" cy="12853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8"/>
          <p:cNvSpPr txBox="1"/>
          <p:nvPr/>
        </p:nvSpPr>
        <p:spPr>
          <a:xfrm>
            <a:off x="1225853" y="2094187"/>
            <a:ext cx="2610997" cy="40011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2000" b="1" i="0" u="none" strike="noStrike" kern="1200" cap="none" spc="0" normalizeH="0" baseline="0" noProof="0" dirty="0">
                <a:ln>
                  <a:noFill/>
                </a:ln>
                <a:solidFill>
                  <a:prstClr val="black"/>
                </a:solidFill>
                <a:effectLst/>
                <a:uLnTx/>
                <a:uFillTx/>
                <a:latin typeface="Calibri" panose="020F0502020204030204"/>
                <a:ea typeface="+mn-ea"/>
                <a:cs typeface="+mn-cs"/>
              </a:rPr>
              <a:t>Artificial Intelligence</a:t>
            </a:r>
          </a:p>
        </p:txBody>
      </p:sp>
      <p:sp>
        <p:nvSpPr>
          <p:cNvPr id="11" name="TextBox 9"/>
          <p:cNvSpPr txBox="1"/>
          <p:nvPr/>
        </p:nvSpPr>
        <p:spPr>
          <a:xfrm>
            <a:off x="1598369" y="3278243"/>
            <a:ext cx="1888659" cy="369332"/>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1" i="0" u="none" strike="noStrike" kern="1200" cap="none" spc="0" normalizeH="0" baseline="0" noProof="0" dirty="0">
                <a:ln>
                  <a:noFill/>
                </a:ln>
                <a:solidFill>
                  <a:prstClr val="white"/>
                </a:solidFill>
                <a:effectLst/>
                <a:uLnTx/>
                <a:uFillTx/>
                <a:latin typeface="Calibri" panose="020F0502020204030204"/>
                <a:ea typeface="+mn-ea"/>
                <a:cs typeface="+mn-cs"/>
              </a:rPr>
              <a:t>Machine Learning</a:t>
            </a:r>
          </a:p>
        </p:txBody>
      </p:sp>
      <p:sp>
        <p:nvSpPr>
          <p:cNvPr id="12" name="TextBox 10"/>
          <p:cNvSpPr txBox="1"/>
          <p:nvPr/>
        </p:nvSpPr>
        <p:spPr>
          <a:xfrm>
            <a:off x="1926802" y="4171269"/>
            <a:ext cx="1209101" cy="646331"/>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1" i="0" u="none" strike="noStrike" kern="1200" cap="none" spc="0" normalizeH="0" baseline="0" noProof="0" dirty="0">
                <a:ln>
                  <a:noFill/>
                </a:ln>
                <a:solidFill>
                  <a:prstClr val="white"/>
                </a:solidFill>
                <a:effectLst/>
                <a:uLnTx/>
                <a:uFillTx/>
                <a:latin typeface="Calibri" panose="020F0502020204030204"/>
                <a:ea typeface="+mn-ea"/>
                <a:cs typeface="+mn-cs"/>
              </a:rPr>
              <a:t>Deep Learning</a:t>
            </a:r>
          </a:p>
        </p:txBody>
      </p:sp>
      <p:sp>
        <p:nvSpPr>
          <p:cNvPr id="13" name="Rectangle 12"/>
          <p:cNvSpPr/>
          <p:nvPr/>
        </p:nvSpPr>
        <p:spPr>
          <a:xfrm>
            <a:off x="5215538" y="2980015"/>
            <a:ext cx="2710149" cy="989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Machine Learning </a:t>
            </a:r>
            <a:b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is a subset of </a:t>
            </a:r>
            <a:b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Artificial Intelligence</a:t>
            </a:r>
          </a:p>
        </p:txBody>
      </p:sp>
      <p:sp>
        <p:nvSpPr>
          <p:cNvPr id="14" name="Rectangle 13"/>
          <p:cNvSpPr/>
          <p:nvPr/>
        </p:nvSpPr>
        <p:spPr>
          <a:xfrm>
            <a:off x="5215538" y="4162416"/>
            <a:ext cx="2710149" cy="10331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Deep Learning </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is a subset of</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Machine Learning</a:t>
            </a:r>
          </a:p>
        </p:txBody>
      </p:sp>
      <p:sp>
        <p:nvSpPr>
          <p:cNvPr id="15" name="Rectangle 14"/>
          <p:cNvSpPr/>
          <p:nvPr/>
        </p:nvSpPr>
        <p:spPr>
          <a:xfrm>
            <a:off x="8429598" y="4162416"/>
            <a:ext cx="2961704" cy="1009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200" b="0" i="0" u="none" strike="noStrike" kern="1200" cap="none" spc="0" normalizeH="0" baseline="0" noProof="0" dirty="0">
                <a:ln>
                  <a:noFill/>
                </a:ln>
                <a:solidFill>
                  <a:prstClr val="white"/>
                </a:solidFill>
                <a:effectLst/>
                <a:uLnTx/>
                <a:uFillTx/>
                <a:latin typeface="Calibri" panose="020F0502020204030204"/>
                <a:ea typeface="+mn-ea"/>
                <a:cs typeface="+mn-cs"/>
              </a:rPr>
              <a:t>Deep Learning uses neural networks to simulate human like decision making</a:t>
            </a:r>
          </a:p>
        </p:txBody>
      </p:sp>
      <p:cxnSp>
        <p:nvCxnSpPr>
          <p:cNvPr id="16" name="Straight Arrow Connector 15"/>
          <p:cNvCxnSpPr>
            <a:stCxn id="13" idx="1"/>
          </p:cNvCxnSpPr>
          <p:nvPr/>
        </p:nvCxnSpPr>
        <p:spPr>
          <a:xfrm flipH="1">
            <a:off x="3604580" y="3474894"/>
            <a:ext cx="1610958"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1"/>
          </p:cNvCxnSpPr>
          <p:nvPr/>
        </p:nvCxnSpPr>
        <p:spPr>
          <a:xfrm flipH="1" flipV="1">
            <a:off x="3135903" y="4667298"/>
            <a:ext cx="2079635" cy="1169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Double Brace 17"/>
          <p:cNvSpPr/>
          <p:nvPr/>
        </p:nvSpPr>
        <p:spPr>
          <a:xfrm>
            <a:off x="8155467" y="4126554"/>
            <a:ext cx="3493723" cy="1045625"/>
          </a:xfrm>
          <a:prstGeom prst="bracePair">
            <a:avLst>
              <a:gd name="adj" fmla="val 10752"/>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eaLnBrk="0" fontAlgn="base" hangingPunct="0">
              <a:spcBef>
                <a:spcPct val="0"/>
              </a:spcBef>
              <a:spcAft>
                <a:spcPct val="0"/>
              </a:spcAft>
              <a:defRPr kern="1200">
                <a:solidFill>
                  <a:schemeClr val="tx1"/>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mn-lt"/>
                <a:ea typeface="+mn-ea"/>
                <a:cs typeface="+mn-cs"/>
              </a:defRPr>
            </a:lvl2pPr>
            <a:lvl3pPr marL="914400" algn="l" rtl="0" eaLnBrk="0" fontAlgn="base" hangingPunct="0">
              <a:spcBef>
                <a:spcPct val="0"/>
              </a:spcBef>
              <a:spcAft>
                <a:spcPct val="0"/>
              </a:spcAft>
              <a:defRPr kern="1200">
                <a:solidFill>
                  <a:schemeClr val="tx1"/>
                </a:solidFill>
                <a:latin typeface="+mn-lt"/>
                <a:ea typeface="+mn-ea"/>
                <a:cs typeface="+mn-cs"/>
              </a:defRPr>
            </a:lvl3pPr>
            <a:lvl4pPr marL="1371600" algn="l" rtl="0" eaLnBrk="0" fontAlgn="base" hangingPunct="0">
              <a:spcBef>
                <a:spcPct val="0"/>
              </a:spcBef>
              <a:spcAft>
                <a:spcPct val="0"/>
              </a:spcAft>
              <a:defRPr kern="1200">
                <a:solidFill>
                  <a:schemeClr val="tx1"/>
                </a:solidFill>
                <a:latin typeface="+mn-lt"/>
                <a:ea typeface="+mn-ea"/>
                <a:cs typeface="+mn-cs"/>
              </a:defRPr>
            </a:lvl4pPr>
            <a:lvl5pPr marL="1828800" algn="l"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Rectangle 18"/>
          <p:cNvSpPr/>
          <p:nvPr/>
        </p:nvSpPr>
        <p:spPr>
          <a:xfrm>
            <a:off x="8429598" y="2987943"/>
            <a:ext cx="2961704" cy="1009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en-US" sz="1200" dirty="0"/>
              <a:t>Machine learning focuses on developing algorithms that allow computers to learn from data and make predictions or decisions without being explicitly programmed.</a:t>
            </a:r>
            <a:endParaRPr kumimoji="0" lang="en-NZ"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Double Brace 19"/>
          <p:cNvSpPr/>
          <p:nvPr/>
        </p:nvSpPr>
        <p:spPr>
          <a:xfrm>
            <a:off x="8155467" y="2952081"/>
            <a:ext cx="3493723" cy="1045625"/>
          </a:xfrm>
          <a:prstGeom prst="bracePair">
            <a:avLst>
              <a:gd name="adj" fmla="val 10752"/>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eaLnBrk="0" fontAlgn="base" hangingPunct="0">
              <a:spcBef>
                <a:spcPct val="0"/>
              </a:spcBef>
              <a:spcAft>
                <a:spcPct val="0"/>
              </a:spcAft>
              <a:defRPr kern="1200">
                <a:solidFill>
                  <a:schemeClr val="tx1"/>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mn-lt"/>
                <a:ea typeface="+mn-ea"/>
                <a:cs typeface="+mn-cs"/>
              </a:defRPr>
            </a:lvl2pPr>
            <a:lvl3pPr marL="914400" algn="l" rtl="0" eaLnBrk="0" fontAlgn="base" hangingPunct="0">
              <a:spcBef>
                <a:spcPct val="0"/>
              </a:spcBef>
              <a:spcAft>
                <a:spcPct val="0"/>
              </a:spcAft>
              <a:defRPr kern="1200">
                <a:solidFill>
                  <a:schemeClr val="tx1"/>
                </a:solidFill>
                <a:latin typeface="+mn-lt"/>
                <a:ea typeface="+mn-ea"/>
                <a:cs typeface="+mn-cs"/>
              </a:defRPr>
            </a:lvl3pPr>
            <a:lvl4pPr marL="1371600" algn="l" rtl="0" eaLnBrk="0" fontAlgn="base" hangingPunct="0">
              <a:spcBef>
                <a:spcPct val="0"/>
              </a:spcBef>
              <a:spcAft>
                <a:spcPct val="0"/>
              </a:spcAft>
              <a:defRPr kern="1200">
                <a:solidFill>
                  <a:schemeClr val="tx1"/>
                </a:solidFill>
                <a:latin typeface="+mn-lt"/>
                <a:ea typeface="+mn-ea"/>
                <a:cs typeface="+mn-cs"/>
              </a:defRPr>
            </a:lvl4pPr>
            <a:lvl5pPr marL="1828800" algn="l"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p:cNvSpPr txBox="1"/>
          <p:nvPr/>
        </p:nvSpPr>
        <p:spPr>
          <a:xfrm>
            <a:off x="4688143" y="1535358"/>
            <a:ext cx="6820712" cy="1323439"/>
          </a:xfrm>
          <a:prstGeom prst="rect">
            <a:avLst/>
          </a:prstGeom>
          <a:noFill/>
        </p:spPr>
        <p:txBody>
          <a:bodyPr wrap="square" rtlCol="0">
            <a:spAutoFit/>
          </a:bodyPr>
          <a:lstStyle/>
          <a:p>
            <a:r>
              <a:rPr lang="en-GB" sz="1600" dirty="0"/>
              <a:t>Artificial Intelligence is the capability of a machine to imitate intelligent human behaviour. </a:t>
            </a:r>
          </a:p>
          <a:p>
            <a:r>
              <a:rPr lang="en-GB" sz="1600" dirty="0"/>
              <a:t>AI is achieved by mimicking a human brain, by understanding how it thinks, how it learns, decides, and work while trying to solve a problem.</a:t>
            </a:r>
          </a:p>
          <a:p>
            <a:endParaRPr lang="en-GB"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Simplified Diagrammatic Implementation of ML </a:t>
            </a:r>
            <a:endParaRPr lang="en-US" dirty="0"/>
          </a:p>
        </p:txBody>
      </p:sp>
      <p:grpSp>
        <p:nvGrpSpPr>
          <p:cNvPr id="6" name="Group 5"/>
          <p:cNvGrpSpPr/>
          <p:nvPr/>
        </p:nvGrpSpPr>
        <p:grpSpPr>
          <a:xfrm>
            <a:off x="708440" y="1787321"/>
            <a:ext cx="10775119" cy="3283353"/>
            <a:chOff x="483072" y="2398988"/>
            <a:chExt cx="10775119" cy="2591023"/>
          </a:xfrm>
        </p:grpSpPr>
        <p:sp>
          <p:nvSpPr>
            <p:cNvPr id="7" name="Rectangle 6"/>
            <p:cNvSpPr/>
            <p:nvPr/>
          </p:nvSpPr>
          <p:spPr>
            <a:xfrm>
              <a:off x="678380" y="2398988"/>
              <a:ext cx="1999507"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Training Data</a:t>
              </a:r>
            </a:p>
          </p:txBody>
        </p:sp>
        <p:sp>
          <p:nvSpPr>
            <p:cNvPr id="8" name="Rectangle 7"/>
            <p:cNvSpPr/>
            <p:nvPr/>
          </p:nvSpPr>
          <p:spPr>
            <a:xfrm>
              <a:off x="4310826" y="2409914"/>
              <a:ext cx="2165558"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Machine Learning Algorithm</a:t>
              </a:r>
            </a:p>
          </p:txBody>
        </p:sp>
        <p:sp>
          <p:nvSpPr>
            <p:cNvPr id="9" name="Rectangle 8"/>
            <p:cNvSpPr/>
            <p:nvPr/>
          </p:nvSpPr>
          <p:spPr>
            <a:xfrm>
              <a:off x="4310826" y="4166359"/>
              <a:ext cx="2165558"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Trained Model</a:t>
              </a:r>
            </a:p>
          </p:txBody>
        </p:sp>
        <p:sp>
          <p:nvSpPr>
            <p:cNvPr id="10" name="Rectangle 9"/>
            <p:cNvSpPr/>
            <p:nvPr/>
          </p:nvSpPr>
          <p:spPr>
            <a:xfrm>
              <a:off x="678379" y="4166359"/>
              <a:ext cx="1999507"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“Live” Data / Test Data</a:t>
              </a:r>
            </a:p>
          </p:txBody>
        </p:sp>
        <p:sp>
          <p:nvSpPr>
            <p:cNvPr id="11" name="Rectangle 10"/>
            <p:cNvSpPr/>
            <p:nvPr/>
          </p:nvSpPr>
          <p:spPr>
            <a:xfrm>
              <a:off x="8563230" y="4166359"/>
              <a:ext cx="1999507"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Prediction</a:t>
              </a:r>
            </a:p>
          </p:txBody>
        </p:sp>
        <p:cxnSp>
          <p:nvCxnSpPr>
            <p:cNvPr id="12" name="Straight Arrow Connector 11"/>
            <p:cNvCxnSpPr>
              <a:stCxn id="7" idx="3"/>
              <a:endCxn id="8" idx="1"/>
            </p:cNvCxnSpPr>
            <p:nvPr/>
          </p:nvCxnSpPr>
          <p:spPr>
            <a:xfrm>
              <a:off x="2677887" y="2810814"/>
              <a:ext cx="1632939" cy="10926"/>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595956" y="4602844"/>
              <a:ext cx="178813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11" idx="1"/>
            </p:cNvCxnSpPr>
            <p:nvPr/>
          </p:nvCxnSpPr>
          <p:spPr>
            <a:xfrm flipV="1">
              <a:off x="6228403" y="4578185"/>
              <a:ext cx="2334827" cy="2170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2"/>
              <a:endCxn id="9" idx="0"/>
            </p:cNvCxnSpPr>
            <p:nvPr/>
          </p:nvCxnSpPr>
          <p:spPr>
            <a:xfrm>
              <a:off x="5393605" y="3233566"/>
              <a:ext cx="0" cy="932793"/>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83072" y="3671899"/>
              <a:ext cx="10775119"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5"/>
            <p:cNvSpPr txBox="1"/>
            <p:nvPr/>
          </p:nvSpPr>
          <p:spPr>
            <a:xfrm>
              <a:off x="1017212" y="3302567"/>
              <a:ext cx="966658"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black"/>
                  </a:solidFill>
                  <a:effectLst/>
                  <a:uLnTx/>
                  <a:uFillTx/>
                  <a:latin typeface="Calibri" panose="020F0502020204030204"/>
                  <a:ea typeface="+mn-ea"/>
                  <a:cs typeface="+mn-cs"/>
                </a:rPr>
                <a:t>Training</a:t>
              </a:r>
            </a:p>
          </p:txBody>
        </p:sp>
        <p:sp>
          <p:nvSpPr>
            <p:cNvPr id="18" name="TextBox 16"/>
            <p:cNvSpPr txBox="1"/>
            <p:nvPr/>
          </p:nvSpPr>
          <p:spPr>
            <a:xfrm>
              <a:off x="1017212" y="3678062"/>
              <a:ext cx="1190637"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black"/>
                  </a:solidFill>
                  <a:effectLst/>
                  <a:uLnTx/>
                  <a:uFillTx/>
                  <a:latin typeface="Calibri" panose="020F0502020204030204"/>
                  <a:ea typeface="+mn-ea"/>
                  <a:cs typeface="+mn-cs"/>
                </a:rPr>
                <a:t>Prediction</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Limitations of ML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Picture 2"/>
          <p:cNvPicPr>
            <a:picLocks noChangeAspect="1" noChangeArrowheads="1"/>
          </p:cNvPicPr>
          <p:nvPr/>
        </p:nvPicPr>
        <p:blipFill rotWithShape="1">
          <a:blip r:embed="rId3"/>
          <a:srcRect l="-98" t="22411"/>
          <a:stretch>
            <a:fillRect/>
          </a:stretch>
        </p:blipFill>
        <p:spPr bwMode="auto">
          <a:xfrm>
            <a:off x="1357111" y="1534778"/>
            <a:ext cx="9477778" cy="411405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Deep Learning (DL) to the rescue</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noChangeArrowheads="1"/>
          </p:cNvPicPr>
          <p:nvPr/>
        </p:nvPicPr>
        <p:blipFill>
          <a:blip r:embed="rId3"/>
          <a:srcRect l="-618" t="23902"/>
          <a:stretch>
            <a:fillRect/>
          </a:stretch>
        </p:blipFill>
        <p:spPr bwMode="auto">
          <a:xfrm>
            <a:off x="489585" y="1328420"/>
            <a:ext cx="10158730" cy="418020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What is Deep Learning (An example)</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Content Placeholder 3"/>
          <p:cNvPicPr>
            <a:picLocks noGrp="1" noChangeAspect="1"/>
          </p:cNvPicPr>
          <p:nvPr/>
        </p:nvPicPr>
        <p:blipFill>
          <a:blip r:embed="rId3"/>
          <a:srcRect t="17595"/>
          <a:stretch>
            <a:fillRect/>
          </a:stretch>
        </p:blipFill>
        <p:spPr bwMode="auto">
          <a:xfrm>
            <a:off x="1795456" y="1442454"/>
            <a:ext cx="8601087" cy="4255746"/>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Difference between DL and ML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noChangeArrowheads="1"/>
          </p:cNvPicPr>
          <p:nvPr/>
        </p:nvPicPr>
        <p:blipFill>
          <a:blip r:embed="rId3"/>
          <a:srcRect/>
          <a:stretch>
            <a:fillRect/>
          </a:stretch>
        </p:blipFill>
        <p:spPr bwMode="auto">
          <a:xfrm>
            <a:off x="2264864" y="1421295"/>
            <a:ext cx="7662271" cy="429806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Deep Learning</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Picture 2"/>
          <p:cNvPicPr>
            <a:picLocks noChangeAspect="1" noChangeArrowheads="1"/>
          </p:cNvPicPr>
          <p:nvPr/>
        </p:nvPicPr>
        <p:blipFill>
          <a:blip r:embed="rId3"/>
          <a:srcRect l="3026" t="40000" r="3269" b="29268"/>
          <a:stretch>
            <a:fillRect/>
          </a:stretch>
        </p:blipFill>
        <p:spPr bwMode="auto">
          <a:xfrm>
            <a:off x="629500" y="1839950"/>
            <a:ext cx="9873559" cy="1817649"/>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Artificial Neuron in DL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Picture 2"/>
          <p:cNvPicPr>
            <a:picLocks noChangeAspect="1" noChangeArrowheads="1"/>
          </p:cNvPicPr>
          <p:nvPr/>
        </p:nvPicPr>
        <p:blipFill>
          <a:blip r:embed="rId3"/>
          <a:srcRect/>
          <a:stretch>
            <a:fillRect/>
          </a:stretch>
        </p:blipFill>
        <p:spPr bwMode="auto">
          <a:xfrm>
            <a:off x="823807" y="1421296"/>
            <a:ext cx="10544386" cy="4035812"/>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Introduction to Artificial Neural Network (ANN)</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object 3"/>
          <p:cNvPicPr/>
          <p:nvPr/>
        </p:nvPicPr>
        <p:blipFill>
          <a:blip r:embed="rId3" cstate="print"/>
          <a:stretch>
            <a:fillRect/>
          </a:stretch>
        </p:blipFill>
        <p:spPr>
          <a:xfrm>
            <a:off x="1360449" y="1328746"/>
            <a:ext cx="9471101" cy="42980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Deep Neural Network in DL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object 3"/>
          <p:cNvPicPr/>
          <p:nvPr/>
        </p:nvPicPr>
        <p:blipFill>
          <a:blip r:embed="rId3" cstate="print"/>
          <a:stretch>
            <a:fillRect/>
          </a:stretch>
        </p:blipFill>
        <p:spPr>
          <a:xfrm>
            <a:off x="1531864" y="2176692"/>
            <a:ext cx="8577092" cy="3738134"/>
          </a:xfrm>
          <a:prstGeom prst="rect">
            <a:avLst/>
          </a:prstGeom>
        </p:spPr>
      </p:pic>
      <p:sp>
        <p:nvSpPr>
          <p:cNvPr id="8" name="TextBox 7"/>
          <p:cNvSpPr txBox="1"/>
          <p:nvPr/>
        </p:nvSpPr>
        <p:spPr>
          <a:xfrm>
            <a:off x="629500" y="1346061"/>
            <a:ext cx="10622080" cy="830997"/>
          </a:xfrm>
          <a:prstGeom prst="rect">
            <a:avLst/>
          </a:prstGeom>
          <a:noFill/>
        </p:spPr>
        <p:txBody>
          <a:bodyPr wrap="square" rtlCol="0">
            <a:spAutoFit/>
          </a:bodyPr>
          <a:lstStyle/>
          <a:p>
            <a:pPr marL="285750" indent="-285750">
              <a:buFont typeface="Arial" panose="020B0604020202020204" pitchFamily="34" charset="0"/>
              <a:buChar char="•"/>
            </a:pPr>
            <a:r>
              <a:rPr lang="en-GB" sz="1600" dirty="0"/>
              <a:t>When </a:t>
            </a:r>
            <a:r>
              <a:rPr lang="en-US" sz="1600" b="1" dirty="0"/>
              <a:t>artificial neural networks</a:t>
            </a:r>
            <a:r>
              <a:rPr lang="en-US" sz="1600" dirty="0"/>
              <a:t> (ANN) has multiple hidden layers (hence called "deep"), it forms the basis for Deep Neural Network (DNN).</a:t>
            </a:r>
          </a:p>
          <a:p>
            <a:pPr marL="285750" indent="-285750">
              <a:buFont typeface="Arial" panose="020B0604020202020204" pitchFamily="34" charset="0"/>
              <a:buChar char="•"/>
            </a:pPr>
            <a:r>
              <a:rPr lang="en-US" sz="1600" dirty="0"/>
              <a:t>The field where DNN is used is called </a:t>
            </a:r>
            <a:r>
              <a:rPr lang="en-US" sz="1600" b="1" dirty="0"/>
              <a:t>Deep Learning</a:t>
            </a:r>
            <a:r>
              <a:rPr lang="en-US" sz="1600" dirty="0"/>
              <a:t>.</a:t>
            </a:r>
            <a:endParaRPr lang="en-GB"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nvSpPr>
        <p:spPr>
          <a:xfrm>
            <a:off x="4030629" y="102267"/>
            <a:ext cx="5382260" cy="696595"/>
          </a:xfrm>
          <a:prstGeom prst="rect">
            <a:avLst/>
          </a:prstGeom>
        </p:spPr>
        <p:txBody>
          <a:bodyPr vert="horz" wrap="square" lIns="0" tIns="12700" rIns="0" bIns="0" rtlCol="0">
            <a:spAutoFit/>
          </a:bodyPr>
          <a:lstStyle>
            <a:lvl1pPr>
              <a:defRPr sz="4400" b="0" i="0">
                <a:solidFill>
                  <a:schemeClr val="tx1"/>
                </a:solidFill>
                <a:latin typeface="Calibri Light" panose="020F0302020204030204"/>
                <a:ea typeface="+mj-ea"/>
                <a:cs typeface="Calibri Light" panose="020F0302020204030204"/>
              </a:defRPr>
            </a:lvl1pPr>
          </a:lstStyle>
          <a:p>
            <a:pPr marL="12700">
              <a:lnSpc>
                <a:spcPct val="100000"/>
              </a:lnSpc>
              <a:spcBef>
                <a:spcPts val="100"/>
              </a:spcBef>
            </a:pPr>
            <a:r>
              <a:rPr spc="-20" dirty="0"/>
              <a:t>First</a:t>
            </a:r>
            <a:r>
              <a:rPr spc="-220" dirty="0"/>
              <a:t> </a:t>
            </a:r>
            <a:r>
              <a:rPr dirty="0"/>
              <a:t>Steps:</a:t>
            </a:r>
            <a:r>
              <a:rPr spc="-170" dirty="0"/>
              <a:t> </a:t>
            </a:r>
            <a:r>
              <a:rPr b="1" dirty="0">
                <a:latin typeface="Calibri" panose="020F0502020204030204"/>
                <a:cs typeface="Calibri" panose="020F0502020204030204"/>
              </a:rPr>
              <a:t>Start</a:t>
            </a:r>
            <a:r>
              <a:rPr b="1" spc="-150" dirty="0">
                <a:latin typeface="Calibri" panose="020F0502020204030204"/>
                <a:cs typeface="Calibri" panose="020F0502020204030204"/>
              </a:rPr>
              <a:t> </a:t>
            </a:r>
            <a:r>
              <a:rPr b="1" spc="-10" dirty="0">
                <a:latin typeface="Calibri" panose="020F0502020204030204"/>
                <a:cs typeface="Calibri" panose="020F0502020204030204"/>
              </a:rPr>
              <a:t>Simple</a:t>
            </a:r>
          </a:p>
        </p:txBody>
      </p:sp>
      <p:pic>
        <p:nvPicPr>
          <p:cNvPr id="3" name="object 3"/>
          <p:cNvPicPr/>
          <p:nvPr/>
        </p:nvPicPr>
        <p:blipFill>
          <a:blip r:embed="rId2" cstate="print"/>
          <a:stretch>
            <a:fillRect/>
          </a:stretch>
        </p:blipFill>
        <p:spPr>
          <a:xfrm>
            <a:off x="366426" y="869663"/>
            <a:ext cx="3350260" cy="1866900"/>
          </a:xfrm>
          <a:prstGeom prst="rect">
            <a:avLst/>
          </a:prstGeom>
        </p:spPr>
      </p:pic>
      <p:grpSp>
        <p:nvGrpSpPr>
          <p:cNvPr id="4" name="object 4"/>
          <p:cNvGrpSpPr/>
          <p:nvPr/>
        </p:nvGrpSpPr>
        <p:grpSpPr>
          <a:xfrm>
            <a:off x="4026566" y="824738"/>
            <a:ext cx="5186680" cy="4544060"/>
            <a:chOff x="5278120" y="980439"/>
            <a:chExt cx="5186680" cy="4544060"/>
          </a:xfrm>
        </p:grpSpPr>
        <p:pic>
          <p:nvPicPr>
            <p:cNvPr id="31" name="object 5"/>
            <p:cNvPicPr/>
            <p:nvPr/>
          </p:nvPicPr>
          <p:blipFill>
            <a:blip r:embed="rId3" cstate="print"/>
            <a:stretch>
              <a:fillRect/>
            </a:stretch>
          </p:blipFill>
          <p:spPr>
            <a:xfrm>
              <a:off x="5781040" y="980439"/>
              <a:ext cx="4683760" cy="4544060"/>
            </a:xfrm>
            <a:prstGeom prst="rect">
              <a:avLst/>
            </a:prstGeom>
          </p:spPr>
        </p:pic>
        <p:sp>
          <p:nvSpPr>
            <p:cNvPr id="32" name="object 6"/>
            <p:cNvSpPr/>
            <p:nvPr/>
          </p:nvSpPr>
          <p:spPr>
            <a:xfrm>
              <a:off x="5278120" y="1071879"/>
              <a:ext cx="454659" cy="452120"/>
            </a:xfrm>
            <a:custGeom>
              <a:avLst/>
              <a:gdLst/>
              <a:ahLst/>
              <a:cxnLst/>
              <a:rect l="l" t="t" r="r" b="b"/>
              <a:pathLst>
                <a:path w="454660" h="452119">
                  <a:moveTo>
                    <a:pt x="227202" y="0"/>
                  </a:moveTo>
                  <a:lnTo>
                    <a:pt x="181482" y="4572"/>
                  </a:lnTo>
                  <a:lnTo>
                    <a:pt x="138810" y="17780"/>
                  </a:lnTo>
                  <a:lnTo>
                    <a:pt x="100202" y="38608"/>
                  </a:lnTo>
                  <a:lnTo>
                    <a:pt x="66547" y="66167"/>
                  </a:lnTo>
                  <a:lnTo>
                    <a:pt x="38862" y="99695"/>
                  </a:lnTo>
                  <a:lnTo>
                    <a:pt x="17906" y="138049"/>
                  </a:lnTo>
                  <a:lnTo>
                    <a:pt x="4571" y="180467"/>
                  </a:lnTo>
                  <a:lnTo>
                    <a:pt x="0" y="225933"/>
                  </a:lnTo>
                  <a:lnTo>
                    <a:pt x="4571" y="271525"/>
                  </a:lnTo>
                  <a:lnTo>
                    <a:pt x="17906" y="313944"/>
                  </a:lnTo>
                  <a:lnTo>
                    <a:pt x="38862" y="352298"/>
                  </a:lnTo>
                  <a:lnTo>
                    <a:pt x="66547" y="385825"/>
                  </a:lnTo>
                  <a:lnTo>
                    <a:pt x="100202" y="413385"/>
                  </a:lnTo>
                  <a:lnTo>
                    <a:pt x="138810" y="434213"/>
                  </a:lnTo>
                  <a:lnTo>
                    <a:pt x="181482" y="447421"/>
                  </a:lnTo>
                  <a:lnTo>
                    <a:pt x="227202" y="451993"/>
                  </a:lnTo>
                  <a:lnTo>
                    <a:pt x="273050" y="447421"/>
                  </a:lnTo>
                  <a:lnTo>
                    <a:pt x="315721" y="434213"/>
                  </a:lnTo>
                  <a:lnTo>
                    <a:pt x="354329" y="413385"/>
                  </a:lnTo>
                  <a:lnTo>
                    <a:pt x="387984" y="385825"/>
                  </a:lnTo>
                  <a:lnTo>
                    <a:pt x="415670" y="352298"/>
                  </a:lnTo>
                  <a:lnTo>
                    <a:pt x="436625" y="313944"/>
                  </a:lnTo>
                  <a:lnTo>
                    <a:pt x="449960" y="271525"/>
                  </a:lnTo>
                  <a:lnTo>
                    <a:pt x="454532" y="225933"/>
                  </a:lnTo>
                  <a:lnTo>
                    <a:pt x="449960" y="180467"/>
                  </a:lnTo>
                  <a:lnTo>
                    <a:pt x="436625" y="138049"/>
                  </a:lnTo>
                  <a:lnTo>
                    <a:pt x="415670" y="99695"/>
                  </a:lnTo>
                  <a:lnTo>
                    <a:pt x="387984" y="66167"/>
                  </a:lnTo>
                  <a:lnTo>
                    <a:pt x="354329" y="38608"/>
                  </a:lnTo>
                  <a:lnTo>
                    <a:pt x="315721" y="17780"/>
                  </a:lnTo>
                  <a:lnTo>
                    <a:pt x="273050" y="4572"/>
                  </a:lnTo>
                  <a:lnTo>
                    <a:pt x="227202" y="0"/>
                  </a:lnTo>
                  <a:close/>
                </a:path>
              </a:pathLst>
            </a:custGeom>
            <a:solidFill>
              <a:srgbClr val="000000"/>
            </a:solidFill>
          </p:spPr>
          <p:txBody>
            <a:bodyPr wrap="square" lIns="0" tIns="0" rIns="0" bIns="0" rtlCol="0"/>
            <a:lstStyle>
              <a:defPPr>
                <a:defRPr kern="0"/>
              </a:defPPr>
            </a:lstStyle>
            <a:p>
              <a:endParaRPr/>
            </a:p>
          </p:txBody>
        </p:sp>
        <p:sp>
          <p:nvSpPr>
            <p:cNvPr id="33" name="object 7"/>
            <p:cNvSpPr/>
            <p:nvPr/>
          </p:nvSpPr>
          <p:spPr>
            <a:xfrm>
              <a:off x="5279390" y="1073149"/>
              <a:ext cx="454659" cy="452120"/>
            </a:xfrm>
            <a:custGeom>
              <a:avLst/>
              <a:gdLst/>
              <a:ahLst/>
              <a:cxnLst/>
              <a:rect l="l" t="t" r="r" b="b"/>
              <a:pathLst>
                <a:path w="454660" h="452119">
                  <a:moveTo>
                    <a:pt x="0" y="225933"/>
                  </a:moveTo>
                  <a:lnTo>
                    <a:pt x="4572" y="180466"/>
                  </a:lnTo>
                  <a:lnTo>
                    <a:pt x="17907" y="138049"/>
                  </a:lnTo>
                  <a:lnTo>
                    <a:pt x="38862" y="99695"/>
                  </a:lnTo>
                  <a:lnTo>
                    <a:pt x="66548" y="66166"/>
                  </a:lnTo>
                  <a:lnTo>
                    <a:pt x="100202" y="38608"/>
                  </a:lnTo>
                  <a:lnTo>
                    <a:pt x="138811" y="17779"/>
                  </a:lnTo>
                  <a:lnTo>
                    <a:pt x="181483" y="4572"/>
                  </a:lnTo>
                  <a:lnTo>
                    <a:pt x="227202" y="0"/>
                  </a:lnTo>
                  <a:lnTo>
                    <a:pt x="273050" y="4572"/>
                  </a:lnTo>
                  <a:lnTo>
                    <a:pt x="315722" y="17779"/>
                  </a:lnTo>
                  <a:lnTo>
                    <a:pt x="354330" y="38608"/>
                  </a:lnTo>
                  <a:lnTo>
                    <a:pt x="387985" y="66166"/>
                  </a:lnTo>
                  <a:lnTo>
                    <a:pt x="415671" y="99695"/>
                  </a:lnTo>
                  <a:lnTo>
                    <a:pt x="436625" y="138049"/>
                  </a:lnTo>
                  <a:lnTo>
                    <a:pt x="449961" y="180466"/>
                  </a:lnTo>
                  <a:lnTo>
                    <a:pt x="454533" y="225933"/>
                  </a:lnTo>
                  <a:lnTo>
                    <a:pt x="449961" y="271525"/>
                  </a:lnTo>
                  <a:lnTo>
                    <a:pt x="436625" y="313944"/>
                  </a:lnTo>
                  <a:lnTo>
                    <a:pt x="415671" y="352298"/>
                  </a:lnTo>
                  <a:lnTo>
                    <a:pt x="387985" y="385825"/>
                  </a:lnTo>
                  <a:lnTo>
                    <a:pt x="354330" y="413385"/>
                  </a:lnTo>
                  <a:lnTo>
                    <a:pt x="315722" y="434213"/>
                  </a:lnTo>
                  <a:lnTo>
                    <a:pt x="273050" y="447421"/>
                  </a:lnTo>
                  <a:lnTo>
                    <a:pt x="227202" y="451992"/>
                  </a:lnTo>
                  <a:lnTo>
                    <a:pt x="181483" y="447421"/>
                  </a:lnTo>
                  <a:lnTo>
                    <a:pt x="138811" y="434213"/>
                  </a:lnTo>
                  <a:lnTo>
                    <a:pt x="100202" y="413385"/>
                  </a:lnTo>
                  <a:lnTo>
                    <a:pt x="66548" y="385825"/>
                  </a:lnTo>
                  <a:lnTo>
                    <a:pt x="38862" y="352298"/>
                  </a:lnTo>
                  <a:lnTo>
                    <a:pt x="17907" y="313944"/>
                  </a:lnTo>
                  <a:lnTo>
                    <a:pt x="4572" y="271525"/>
                  </a:lnTo>
                  <a:lnTo>
                    <a:pt x="0" y="225933"/>
                  </a:lnTo>
                  <a:close/>
                </a:path>
              </a:pathLst>
            </a:custGeom>
            <a:ln w="12192">
              <a:solidFill>
                <a:srgbClr val="000000"/>
              </a:solidFill>
            </a:ln>
          </p:spPr>
          <p:txBody>
            <a:bodyPr wrap="square" lIns="0" tIns="0" rIns="0" bIns="0" rtlCol="0"/>
            <a:lstStyle>
              <a:defPPr>
                <a:defRPr kern="0"/>
              </a:defPPr>
            </a:lstStyle>
            <a:p>
              <a:endParaRPr/>
            </a:p>
          </p:txBody>
        </p:sp>
        <p:sp>
          <p:nvSpPr>
            <p:cNvPr id="34" name="object 8"/>
            <p:cNvSpPr/>
            <p:nvPr/>
          </p:nvSpPr>
          <p:spPr>
            <a:xfrm>
              <a:off x="5278120" y="1689099"/>
              <a:ext cx="454659" cy="452120"/>
            </a:xfrm>
            <a:custGeom>
              <a:avLst/>
              <a:gdLst/>
              <a:ahLst/>
              <a:cxnLst/>
              <a:rect l="l" t="t" r="r" b="b"/>
              <a:pathLst>
                <a:path w="454660" h="452119">
                  <a:moveTo>
                    <a:pt x="227202" y="0"/>
                  </a:moveTo>
                  <a:lnTo>
                    <a:pt x="181482" y="4572"/>
                  </a:lnTo>
                  <a:lnTo>
                    <a:pt x="138810" y="17779"/>
                  </a:lnTo>
                  <a:lnTo>
                    <a:pt x="100202" y="38608"/>
                  </a:lnTo>
                  <a:lnTo>
                    <a:pt x="66547" y="66166"/>
                  </a:lnTo>
                  <a:lnTo>
                    <a:pt x="38862" y="99695"/>
                  </a:lnTo>
                  <a:lnTo>
                    <a:pt x="17906" y="138049"/>
                  </a:lnTo>
                  <a:lnTo>
                    <a:pt x="4571" y="180466"/>
                  </a:lnTo>
                  <a:lnTo>
                    <a:pt x="0" y="225933"/>
                  </a:lnTo>
                  <a:lnTo>
                    <a:pt x="4571" y="271525"/>
                  </a:lnTo>
                  <a:lnTo>
                    <a:pt x="17906" y="313944"/>
                  </a:lnTo>
                  <a:lnTo>
                    <a:pt x="38862" y="352298"/>
                  </a:lnTo>
                  <a:lnTo>
                    <a:pt x="66547" y="385825"/>
                  </a:lnTo>
                  <a:lnTo>
                    <a:pt x="100202" y="413385"/>
                  </a:lnTo>
                  <a:lnTo>
                    <a:pt x="138810" y="434213"/>
                  </a:lnTo>
                  <a:lnTo>
                    <a:pt x="181482" y="447421"/>
                  </a:lnTo>
                  <a:lnTo>
                    <a:pt x="227202" y="451992"/>
                  </a:lnTo>
                  <a:lnTo>
                    <a:pt x="273050" y="447421"/>
                  </a:lnTo>
                  <a:lnTo>
                    <a:pt x="315721" y="434213"/>
                  </a:lnTo>
                  <a:lnTo>
                    <a:pt x="354329" y="413385"/>
                  </a:lnTo>
                  <a:lnTo>
                    <a:pt x="387984" y="385825"/>
                  </a:lnTo>
                  <a:lnTo>
                    <a:pt x="415670" y="352298"/>
                  </a:lnTo>
                  <a:lnTo>
                    <a:pt x="436625" y="313944"/>
                  </a:lnTo>
                  <a:lnTo>
                    <a:pt x="449960" y="271525"/>
                  </a:lnTo>
                  <a:lnTo>
                    <a:pt x="454532" y="225933"/>
                  </a:lnTo>
                  <a:lnTo>
                    <a:pt x="449960" y="180466"/>
                  </a:lnTo>
                  <a:lnTo>
                    <a:pt x="436625" y="138049"/>
                  </a:lnTo>
                  <a:lnTo>
                    <a:pt x="415670" y="99695"/>
                  </a:lnTo>
                  <a:lnTo>
                    <a:pt x="387984" y="66166"/>
                  </a:lnTo>
                  <a:lnTo>
                    <a:pt x="354329" y="38608"/>
                  </a:lnTo>
                  <a:lnTo>
                    <a:pt x="315721" y="17779"/>
                  </a:lnTo>
                  <a:lnTo>
                    <a:pt x="273050" y="4572"/>
                  </a:lnTo>
                  <a:lnTo>
                    <a:pt x="227202" y="0"/>
                  </a:lnTo>
                  <a:close/>
                </a:path>
              </a:pathLst>
            </a:custGeom>
            <a:solidFill>
              <a:srgbClr val="000000"/>
            </a:solidFill>
          </p:spPr>
          <p:txBody>
            <a:bodyPr wrap="square" lIns="0" tIns="0" rIns="0" bIns="0" rtlCol="0"/>
            <a:lstStyle>
              <a:defPPr>
                <a:defRPr kern="0"/>
              </a:defPPr>
            </a:lstStyle>
            <a:p>
              <a:endParaRPr/>
            </a:p>
          </p:txBody>
        </p:sp>
        <p:sp>
          <p:nvSpPr>
            <p:cNvPr id="35" name="object 9"/>
            <p:cNvSpPr/>
            <p:nvPr/>
          </p:nvSpPr>
          <p:spPr>
            <a:xfrm>
              <a:off x="5279390" y="1690369"/>
              <a:ext cx="454659" cy="452120"/>
            </a:xfrm>
            <a:custGeom>
              <a:avLst/>
              <a:gdLst/>
              <a:ahLst/>
              <a:cxnLst/>
              <a:rect l="l" t="t" r="r" b="b"/>
              <a:pathLst>
                <a:path w="454660" h="452119">
                  <a:moveTo>
                    <a:pt x="0" y="225932"/>
                  </a:moveTo>
                  <a:lnTo>
                    <a:pt x="4572" y="180466"/>
                  </a:lnTo>
                  <a:lnTo>
                    <a:pt x="17907" y="138049"/>
                  </a:lnTo>
                  <a:lnTo>
                    <a:pt x="38862" y="99694"/>
                  </a:lnTo>
                  <a:lnTo>
                    <a:pt x="66548" y="66166"/>
                  </a:lnTo>
                  <a:lnTo>
                    <a:pt x="100202" y="38607"/>
                  </a:lnTo>
                  <a:lnTo>
                    <a:pt x="138811" y="17779"/>
                  </a:lnTo>
                  <a:lnTo>
                    <a:pt x="181483" y="4571"/>
                  </a:lnTo>
                  <a:lnTo>
                    <a:pt x="227202" y="0"/>
                  </a:lnTo>
                  <a:lnTo>
                    <a:pt x="273050" y="4571"/>
                  </a:lnTo>
                  <a:lnTo>
                    <a:pt x="315722" y="17779"/>
                  </a:lnTo>
                  <a:lnTo>
                    <a:pt x="354330" y="38607"/>
                  </a:lnTo>
                  <a:lnTo>
                    <a:pt x="387985" y="66166"/>
                  </a:lnTo>
                  <a:lnTo>
                    <a:pt x="415671" y="99694"/>
                  </a:lnTo>
                  <a:lnTo>
                    <a:pt x="436625" y="138049"/>
                  </a:lnTo>
                  <a:lnTo>
                    <a:pt x="449961" y="180466"/>
                  </a:lnTo>
                  <a:lnTo>
                    <a:pt x="454533" y="225932"/>
                  </a:lnTo>
                  <a:lnTo>
                    <a:pt x="449961" y="271525"/>
                  </a:lnTo>
                  <a:lnTo>
                    <a:pt x="436625" y="313943"/>
                  </a:lnTo>
                  <a:lnTo>
                    <a:pt x="415671" y="352297"/>
                  </a:lnTo>
                  <a:lnTo>
                    <a:pt x="387985" y="385825"/>
                  </a:lnTo>
                  <a:lnTo>
                    <a:pt x="354330" y="413384"/>
                  </a:lnTo>
                  <a:lnTo>
                    <a:pt x="315722" y="434213"/>
                  </a:lnTo>
                  <a:lnTo>
                    <a:pt x="273050" y="447420"/>
                  </a:lnTo>
                  <a:lnTo>
                    <a:pt x="227202" y="451992"/>
                  </a:lnTo>
                  <a:lnTo>
                    <a:pt x="181483" y="447420"/>
                  </a:lnTo>
                  <a:lnTo>
                    <a:pt x="138811" y="434213"/>
                  </a:lnTo>
                  <a:lnTo>
                    <a:pt x="100202" y="413384"/>
                  </a:lnTo>
                  <a:lnTo>
                    <a:pt x="66548" y="385825"/>
                  </a:lnTo>
                  <a:lnTo>
                    <a:pt x="38862" y="352297"/>
                  </a:lnTo>
                  <a:lnTo>
                    <a:pt x="17907" y="313943"/>
                  </a:lnTo>
                  <a:lnTo>
                    <a:pt x="4572" y="271525"/>
                  </a:lnTo>
                  <a:lnTo>
                    <a:pt x="0" y="225932"/>
                  </a:lnTo>
                  <a:close/>
                </a:path>
              </a:pathLst>
            </a:custGeom>
            <a:ln w="12192">
              <a:solidFill>
                <a:srgbClr val="000000"/>
              </a:solidFill>
            </a:ln>
          </p:spPr>
          <p:txBody>
            <a:bodyPr wrap="square" lIns="0" tIns="0" rIns="0" bIns="0" rtlCol="0"/>
            <a:lstStyle>
              <a:defPPr>
                <a:defRPr kern="0"/>
              </a:defPPr>
            </a:lstStyle>
            <a:p>
              <a:endParaRPr/>
            </a:p>
          </p:txBody>
        </p:sp>
        <p:sp>
          <p:nvSpPr>
            <p:cNvPr id="36" name="object 10"/>
            <p:cNvSpPr/>
            <p:nvPr/>
          </p:nvSpPr>
          <p:spPr>
            <a:xfrm>
              <a:off x="5278120" y="2306319"/>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endParaRPr dirty="0"/>
            </a:p>
          </p:txBody>
        </p:sp>
        <p:sp>
          <p:nvSpPr>
            <p:cNvPr id="37" name="object 11"/>
            <p:cNvSpPr/>
            <p:nvPr/>
          </p:nvSpPr>
          <p:spPr>
            <a:xfrm>
              <a:off x="5279390" y="2307589"/>
              <a:ext cx="454659" cy="452120"/>
            </a:xfrm>
            <a:custGeom>
              <a:avLst/>
              <a:gdLst/>
              <a:ahLst/>
              <a:cxnLst/>
              <a:rect l="l" t="t" r="r" b="b"/>
              <a:pathLst>
                <a:path w="454660" h="452119">
                  <a:moveTo>
                    <a:pt x="0" y="225933"/>
                  </a:moveTo>
                  <a:lnTo>
                    <a:pt x="4572" y="180467"/>
                  </a:lnTo>
                  <a:lnTo>
                    <a:pt x="17907" y="138049"/>
                  </a:lnTo>
                  <a:lnTo>
                    <a:pt x="38862" y="99695"/>
                  </a:lnTo>
                  <a:lnTo>
                    <a:pt x="66548" y="66167"/>
                  </a:lnTo>
                  <a:lnTo>
                    <a:pt x="100202" y="38608"/>
                  </a:lnTo>
                  <a:lnTo>
                    <a:pt x="138811" y="17780"/>
                  </a:lnTo>
                  <a:lnTo>
                    <a:pt x="181483" y="4572"/>
                  </a:lnTo>
                  <a:lnTo>
                    <a:pt x="227202" y="0"/>
                  </a:lnTo>
                  <a:lnTo>
                    <a:pt x="273050" y="4572"/>
                  </a:lnTo>
                  <a:lnTo>
                    <a:pt x="315722" y="17780"/>
                  </a:lnTo>
                  <a:lnTo>
                    <a:pt x="354330" y="38608"/>
                  </a:lnTo>
                  <a:lnTo>
                    <a:pt x="387985" y="66167"/>
                  </a:lnTo>
                  <a:lnTo>
                    <a:pt x="415671" y="99695"/>
                  </a:lnTo>
                  <a:lnTo>
                    <a:pt x="436625" y="138049"/>
                  </a:lnTo>
                  <a:lnTo>
                    <a:pt x="449961" y="180467"/>
                  </a:lnTo>
                  <a:lnTo>
                    <a:pt x="454533" y="225933"/>
                  </a:lnTo>
                  <a:lnTo>
                    <a:pt x="449961" y="271525"/>
                  </a:lnTo>
                  <a:lnTo>
                    <a:pt x="436625" y="313944"/>
                  </a:lnTo>
                  <a:lnTo>
                    <a:pt x="415671" y="352298"/>
                  </a:lnTo>
                  <a:lnTo>
                    <a:pt x="387985" y="385825"/>
                  </a:lnTo>
                  <a:lnTo>
                    <a:pt x="354330" y="413385"/>
                  </a:lnTo>
                  <a:lnTo>
                    <a:pt x="315722" y="434213"/>
                  </a:lnTo>
                  <a:lnTo>
                    <a:pt x="273050" y="447421"/>
                  </a:lnTo>
                  <a:lnTo>
                    <a:pt x="227202" y="451993"/>
                  </a:lnTo>
                  <a:lnTo>
                    <a:pt x="181483" y="447421"/>
                  </a:lnTo>
                  <a:lnTo>
                    <a:pt x="138811" y="434213"/>
                  </a:lnTo>
                  <a:lnTo>
                    <a:pt x="100202" y="413385"/>
                  </a:lnTo>
                  <a:lnTo>
                    <a:pt x="66548" y="385825"/>
                  </a:lnTo>
                  <a:lnTo>
                    <a:pt x="38862" y="352298"/>
                  </a:lnTo>
                  <a:lnTo>
                    <a:pt x="17907" y="313944"/>
                  </a:lnTo>
                  <a:lnTo>
                    <a:pt x="4572" y="271525"/>
                  </a:lnTo>
                  <a:lnTo>
                    <a:pt x="0" y="225933"/>
                  </a:lnTo>
                  <a:close/>
                </a:path>
              </a:pathLst>
            </a:custGeom>
            <a:ln w="12192">
              <a:solidFill>
                <a:srgbClr val="000000"/>
              </a:solidFill>
            </a:ln>
          </p:spPr>
          <p:txBody>
            <a:bodyPr wrap="square" lIns="0" tIns="0" rIns="0" bIns="0" rtlCol="0"/>
            <a:lstStyle>
              <a:defPPr>
                <a:defRPr kern="0"/>
              </a:defPPr>
            </a:lstStyle>
            <a:p>
              <a:endParaRPr/>
            </a:p>
          </p:txBody>
        </p:sp>
      </p:grpSp>
      <p:grpSp>
        <p:nvGrpSpPr>
          <p:cNvPr id="5" name="object 12"/>
          <p:cNvGrpSpPr/>
          <p:nvPr/>
        </p:nvGrpSpPr>
        <p:grpSpPr>
          <a:xfrm>
            <a:off x="2025586" y="3143025"/>
            <a:ext cx="890272" cy="659384"/>
            <a:chOff x="3522979" y="3081020"/>
            <a:chExt cx="995680" cy="993140"/>
          </a:xfrm>
        </p:grpSpPr>
        <p:pic>
          <p:nvPicPr>
            <p:cNvPr id="29" name="object 13"/>
            <p:cNvPicPr/>
            <p:nvPr/>
          </p:nvPicPr>
          <p:blipFill>
            <a:blip r:embed="rId4" cstate="print"/>
            <a:stretch>
              <a:fillRect/>
            </a:stretch>
          </p:blipFill>
          <p:spPr>
            <a:xfrm>
              <a:off x="3665219" y="3086100"/>
              <a:ext cx="848360" cy="985519"/>
            </a:xfrm>
            <a:prstGeom prst="rect">
              <a:avLst/>
            </a:prstGeom>
          </p:spPr>
        </p:pic>
        <p:sp>
          <p:nvSpPr>
            <p:cNvPr id="30" name="object 14"/>
            <p:cNvSpPr/>
            <p:nvPr/>
          </p:nvSpPr>
          <p:spPr>
            <a:xfrm>
              <a:off x="3522979" y="3081020"/>
              <a:ext cx="995680" cy="993140"/>
            </a:xfrm>
            <a:custGeom>
              <a:avLst/>
              <a:gdLst/>
              <a:ahLst/>
              <a:cxnLst/>
              <a:rect l="l" t="t" r="r" b="b"/>
              <a:pathLst>
                <a:path w="995679" h="993139">
                  <a:moveTo>
                    <a:pt x="0" y="993012"/>
                  </a:moveTo>
                  <a:lnTo>
                    <a:pt x="995172" y="993012"/>
                  </a:lnTo>
                  <a:lnTo>
                    <a:pt x="995172" y="0"/>
                  </a:lnTo>
                  <a:lnTo>
                    <a:pt x="0" y="0"/>
                  </a:lnTo>
                  <a:lnTo>
                    <a:pt x="0" y="993012"/>
                  </a:lnTo>
                  <a:close/>
                </a:path>
              </a:pathLst>
            </a:custGeom>
            <a:ln w="9144">
              <a:solidFill>
                <a:srgbClr val="000000"/>
              </a:solidFill>
            </a:ln>
          </p:spPr>
          <p:txBody>
            <a:bodyPr wrap="square" lIns="0" tIns="0" rIns="0" bIns="0" rtlCol="0"/>
            <a:lstStyle>
              <a:defPPr>
                <a:defRPr kern="0"/>
              </a:defPPr>
            </a:lstStyle>
            <a:p>
              <a:endParaRPr/>
            </a:p>
          </p:txBody>
        </p:sp>
      </p:grpSp>
      <p:sp>
        <p:nvSpPr>
          <p:cNvPr id="6" name="object 15"/>
          <p:cNvSpPr txBox="1"/>
          <p:nvPr/>
        </p:nvSpPr>
        <p:spPr>
          <a:xfrm>
            <a:off x="366554" y="3320414"/>
            <a:ext cx="1191260" cy="25904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600" spc="-10" dirty="0">
                <a:latin typeface="Calibri" panose="020F0502020204030204"/>
                <a:cs typeface="Calibri" panose="020F0502020204030204"/>
              </a:rPr>
              <a:t>Input</a:t>
            </a:r>
            <a:r>
              <a:rPr sz="1600" spc="-75" dirty="0">
                <a:latin typeface="Calibri" panose="020F0502020204030204"/>
                <a:cs typeface="Calibri" panose="020F0502020204030204"/>
              </a:rPr>
              <a:t> </a:t>
            </a:r>
            <a:r>
              <a:rPr sz="1600" spc="-10" dirty="0">
                <a:latin typeface="Calibri" panose="020F0502020204030204"/>
                <a:cs typeface="Calibri" panose="020F0502020204030204"/>
              </a:rPr>
              <a:t>Image:</a:t>
            </a:r>
            <a:endParaRPr sz="1600">
              <a:latin typeface="Calibri" panose="020F0502020204030204"/>
              <a:cs typeface="Calibri" panose="020F0502020204030204"/>
            </a:endParaRPr>
          </a:p>
        </p:txBody>
      </p:sp>
      <p:sp>
        <p:nvSpPr>
          <p:cNvPr id="7" name="object 16"/>
          <p:cNvSpPr txBox="1"/>
          <p:nvPr/>
        </p:nvSpPr>
        <p:spPr>
          <a:xfrm>
            <a:off x="291019" y="4217243"/>
            <a:ext cx="1055370" cy="505267"/>
          </a:xfrm>
          <a:prstGeom prst="rect">
            <a:avLst/>
          </a:prstGeom>
        </p:spPr>
        <p:txBody>
          <a:bodyPr vert="horz" wrap="square" lIns="0" tIns="12700" rIns="0" bIns="0" rtlCol="0">
            <a:spAutoFit/>
          </a:bodyPr>
          <a:lstStyle>
            <a:defPPr>
              <a:defRPr kern="0"/>
            </a:defPPr>
          </a:lstStyle>
          <a:p>
            <a:pPr marR="5080" algn="r">
              <a:lnSpc>
                <a:spcPct val="100000"/>
              </a:lnSpc>
              <a:spcBef>
                <a:spcPts val="100"/>
              </a:spcBef>
            </a:pPr>
            <a:r>
              <a:rPr sz="1600" spc="-40" dirty="0">
                <a:latin typeface="Calibri" panose="020F0502020204030204"/>
                <a:cs typeface="Calibri" panose="020F0502020204030204"/>
              </a:rPr>
              <a:t>TensorFlow</a:t>
            </a:r>
            <a:endParaRPr sz="1600" dirty="0">
              <a:latin typeface="Calibri" panose="020F0502020204030204"/>
              <a:cs typeface="Calibri" panose="020F0502020204030204"/>
            </a:endParaRPr>
          </a:p>
          <a:p>
            <a:pPr marR="5715" algn="r">
              <a:lnSpc>
                <a:spcPct val="100000"/>
              </a:lnSpc>
            </a:pPr>
            <a:r>
              <a:rPr sz="1600" spc="-10" dirty="0">
                <a:latin typeface="Calibri" panose="020F0502020204030204"/>
                <a:cs typeface="Calibri" panose="020F0502020204030204"/>
              </a:rPr>
              <a:t>Model:</a:t>
            </a:r>
            <a:endParaRPr sz="1600" dirty="0">
              <a:latin typeface="Calibri" panose="020F0502020204030204"/>
              <a:cs typeface="Calibri" panose="020F0502020204030204"/>
            </a:endParaRPr>
          </a:p>
        </p:txBody>
      </p:sp>
      <p:sp>
        <p:nvSpPr>
          <p:cNvPr id="8" name="object 17"/>
          <p:cNvSpPr txBox="1"/>
          <p:nvPr/>
        </p:nvSpPr>
        <p:spPr>
          <a:xfrm>
            <a:off x="518878" y="5360146"/>
            <a:ext cx="749935" cy="25904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600" spc="-10" dirty="0">
                <a:latin typeface="Calibri" panose="020F0502020204030204"/>
                <a:cs typeface="Calibri" panose="020F0502020204030204"/>
              </a:rPr>
              <a:t>Output:</a:t>
            </a:r>
            <a:endParaRPr sz="1600">
              <a:latin typeface="Calibri" panose="020F0502020204030204"/>
              <a:cs typeface="Calibri" panose="020F0502020204030204"/>
            </a:endParaRPr>
          </a:p>
        </p:txBody>
      </p:sp>
      <p:sp>
        <p:nvSpPr>
          <p:cNvPr id="9" name="object 18"/>
          <p:cNvSpPr txBox="1"/>
          <p:nvPr/>
        </p:nvSpPr>
        <p:spPr>
          <a:xfrm>
            <a:off x="2025459" y="4254073"/>
            <a:ext cx="1280160" cy="589280"/>
          </a:xfrm>
          <a:prstGeom prst="rect">
            <a:avLst/>
          </a:prstGeom>
          <a:ln w="9144">
            <a:solidFill>
              <a:srgbClr val="000000"/>
            </a:solidFill>
          </a:ln>
        </p:spPr>
        <p:txBody>
          <a:bodyPr vert="horz" wrap="square" lIns="0" tIns="21590" rIns="0" bIns="0" rtlCol="0">
            <a:spAutoFit/>
          </a:bodyPr>
          <a:lstStyle>
            <a:defPPr>
              <a:defRPr kern="0"/>
            </a:defPPr>
          </a:lstStyle>
          <a:p>
            <a:pPr marL="331470">
              <a:lnSpc>
                <a:spcPct val="100000"/>
              </a:lnSpc>
              <a:spcBef>
                <a:spcPts val="170"/>
              </a:spcBef>
            </a:pPr>
            <a:r>
              <a:rPr sz="1800" spc="-10" dirty="0">
                <a:latin typeface="Calibri" panose="020F0502020204030204"/>
                <a:cs typeface="Calibri" panose="020F0502020204030204"/>
              </a:rPr>
              <a:t>Neural</a:t>
            </a:r>
            <a:endParaRPr sz="1800">
              <a:latin typeface="Calibri" panose="020F0502020204030204"/>
              <a:cs typeface="Calibri" panose="020F0502020204030204"/>
            </a:endParaRPr>
          </a:p>
          <a:p>
            <a:pPr marL="239395">
              <a:lnSpc>
                <a:spcPct val="100000"/>
              </a:lnSpc>
            </a:pPr>
            <a:r>
              <a:rPr sz="1800" spc="-10" dirty="0">
                <a:latin typeface="Calibri" panose="020F0502020204030204"/>
                <a:cs typeface="Calibri" panose="020F0502020204030204"/>
              </a:rPr>
              <a:t>Network</a:t>
            </a:r>
            <a:endParaRPr sz="1800">
              <a:latin typeface="Calibri" panose="020F0502020204030204"/>
              <a:cs typeface="Calibri" panose="020F0502020204030204"/>
            </a:endParaRPr>
          </a:p>
        </p:txBody>
      </p:sp>
      <p:sp>
        <p:nvSpPr>
          <p:cNvPr id="10" name="object 19"/>
          <p:cNvSpPr txBox="1"/>
          <p:nvPr/>
        </p:nvSpPr>
        <p:spPr>
          <a:xfrm>
            <a:off x="1879046" y="4957662"/>
            <a:ext cx="1427127" cy="1029128"/>
          </a:xfrm>
          <a:prstGeom prst="rect">
            <a:avLst/>
          </a:prstGeom>
        </p:spPr>
        <p:txBody>
          <a:bodyPr vert="horz" wrap="square" lIns="0" tIns="198755" rIns="0" bIns="0" rtlCol="0">
            <a:spAutoFit/>
          </a:bodyPr>
          <a:lstStyle>
            <a:defPPr>
              <a:defRPr kern="0"/>
            </a:defPPr>
          </a:lstStyle>
          <a:p>
            <a:pPr marL="1905" algn="ctr">
              <a:lnSpc>
                <a:spcPct val="100000"/>
              </a:lnSpc>
              <a:spcBef>
                <a:spcPts val="1565"/>
              </a:spcBef>
            </a:pPr>
            <a:r>
              <a:rPr sz="4000" spc="-50" dirty="0">
                <a:latin typeface="Calibri" panose="020F0502020204030204"/>
                <a:cs typeface="Calibri" panose="020F0502020204030204"/>
              </a:rPr>
              <a:t>5</a:t>
            </a:r>
            <a:endParaRPr sz="4000" dirty="0">
              <a:latin typeface="Calibri" panose="020F0502020204030204"/>
              <a:cs typeface="Calibri" panose="020F0502020204030204"/>
            </a:endParaRPr>
          </a:p>
          <a:p>
            <a:pPr algn="ctr">
              <a:lnSpc>
                <a:spcPct val="100000"/>
              </a:lnSpc>
              <a:spcBef>
                <a:spcPts val="400"/>
              </a:spcBef>
            </a:pPr>
            <a:r>
              <a:rPr sz="1100" dirty="0">
                <a:solidFill>
                  <a:srgbClr val="C00000"/>
                </a:solidFill>
                <a:latin typeface="Calibri" panose="020F0502020204030204"/>
                <a:cs typeface="Calibri" panose="020F0502020204030204"/>
              </a:rPr>
              <a:t>(with</a:t>
            </a:r>
            <a:r>
              <a:rPr sz="1100" spc="-70" dirty="0">
                <a:solidFill>
                  <a:srgbClr val="C00000"/>
                </a:solidFill>
                <a:latin typeface="Calibri" panose="020F0502020204030204"/>
                <a:cs typeface="Calibri" panose="020F0502020204030204"/>
              </a:rPr>
              <a:t> </a:t>
            </a:r>
            <a:r>
              <a:rPr sz="1100" dirty="0">
                <a:solidFill>
                  <a:srgbClr val="C00000"/>
                </a:solidFill>
                <a:latin typeface="Calibri" panose="020F0502020204030204"/>
                <a:cs typeface="Calibri" panose="020F0502020204030204"/>
              </a:rPr>
              <a:t>87%</a:t>
            </a:r>
            <a:r>
              <a:rPr sz="1100" spc="-25" dirty="0">
                <a:solidFill>
                  <a:srgbClr val="C00000"/>
                </a:solidFill>
                <a:latin typeface="Calibri" panose="020F0502020204030204"/>
                <a:cs typeface="Calibri" panose="020F0502020204030204"/>
              </a:rPr>
              <a:t> </a:t>
            </a:r>
            <a:r>
              <a:rPr sz="1100" spc="-10" dirty="0">
                <a:solidFill>
                  <a:srgbClr val="C00000"/>
                </a:solidFill>
                <a:latin typeface="Calibri" panose="020F0502020204030204"/>
                <a:cs typeface="Calibri" panose="020F0502020204030204"/>
              </a:rPr>
              <a:t>confidence)</a:t>
            </a:r>
            <a:endParaRPr sz="1100" dirty="0">
              <a:latin typeface="Calibri" panose="020F0502020204030204"/>
              <a:cs typeface="Calibri" panose="020F0502020204030204"/>
            </a:endParaRPr>
          </a:p>
        </p:txBody>
      </p:sp>
      <p:grpSp>
        <p:nvGrpSpPr>
          <p:cNvPr id="11" name="object 20"/>
          <p:cNvGrpSpPr/>
          <p:nvPr/>
        </p:nvGrpSpPr>
        <p:grpSpPr>
          <a:xfrm>
            <a:off x="2473230" y="3768698"/>
            <a:ext cx="114300" cy="485013"/>
            <a:chOff x="3962400" y="4071620"/>
            <a:chExt cx="114300" cy="485013"/>
          </a:xfrm>
        </p:grpSpPr>
        <p:pic>
          <p:nvPicPr>
            <p:cNvPr id="27" name="object 21"/>
            <p:cNvPicPr/>
            <p:nvPr/>
          </p:nvPicPr>
          <p:blipFill>
            <a:blip r:embed="rId5" cstate="print"/>
            <a:stretch>
              <a:fillRect/>
            </a:stretch>
          </p:blipFill>
          <p:spPr>
            <a:xfrm>
              <a:off x="3962400" y="4441952"/>
              <a:ext cx="114300" cy="114681"/>
            </a:xfrm>
            <a:prstGeom prst="rect">
              <a:avLst/>
            </a:prstGeom>
          </p:spPr>
        </p:pic>
        <p:sp>
          <p:nvSpPr>
            <p:cNvPr id="28" name="object 22"/>
            <p:cNvSpPr/>
            <p:nvPr/>
          </p:nvSpPr>
          <p:spPr>
            <a:xfrm>
              <a:off x="4000500" y="4071620"/>
              <a:ext cx="40640" cy="370840"/>
            </a:xfrm>
            <a:custGeom>
              <a:avLst/>
              <a:gdLst/>
              <a:ahLst/>
              <a:cxnLst/>
              <a:rect l="l" t="t" r="r" b="b"/>
              <a:pathLst>
                <a:path w="40639" h="370839">
                  <a:moveTo>
                    <a:pt x="2539" y="0"/>
                  </a:moveTo>
                  <a:lnTo>
                    <a:pt x="0" y="370585"/>
                  </a:lnTo>
                  <a:lnTo>
                    <a:pt x="38100" y="370839"/>
                  </a:lnTo>
                  <a:lnTo>
                    <a:pt x="40639" y="253"/>
                  </a:lnTo>
                  <a:lnTo>
                    <a:pt x="2539" y="0"/>
                  </a:lnTo>
                  <a:close/>
                </a:path>
              </a:pathLst>
            </a:custGeom>
            <a:solidFill>
              <a:srgbClr val="000000"/>
            </a:solidFill>
          </p:spPr>
          <p:txBody>
            <a:bodyPr wrap="square" lIns="0" tIns="0" rIns="0" bIns="0" rtlCol="0"/>
            <a:lstStyle>
              <a:defPPr>
                <a:defRPr kern="0"/>
              </a:defPPr>
            </a:lstStyle>
            <a:p>
              <a:endParaRPr/>
            </a:p>
          </p:txBody>
        </p:sp>
      </p:grpSp>
      <p:pic>
        <p:nvPicPr>
          <p:cNvPr id="12" name="object 23"/>
          <p:cNvPicPr/>
          <p:nvPr/>
        </p:nvPicPr>
        <p:blipFill>
          <a:blip r:embed="rId6" cstate="print"/>
          <a:stretch>
            <a:fillRect/>
          </a:stretch>
        </p:blipFill>
        <p:spPr>
          <a:xfrm>
            <a:off x="2506345" y="4867275"/>
            <a:ext cx="81280" cy="329565"/>
          </a:xfrm>
          <a:prstGeom prst="rect">
            <a:avLst/>
          </a:prstGeom>
        </p:spPr>
      </p:pic>
      <p:sp>
        <p:nvSpPr>
          <p:cNvPr id="13" name="object 24"/>
          <p:cNvSpPr txBox="1"/>
          <p:nvPr/>
        </p:nvSpPr>
        <p:spPr>
          <a:xfrm>
            <a:off x="4183092" y="1043335"/>
            <a:ext cx="141605" cy="151955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50" dirty="0">
                <a:solidFill>
                  <a:srgbClr val="FFFFFF"/>
                </a:solidFill>
                <a:latin typeface="Calibri" panose="020F0502020204030204"/>
                <a:cs typeface="Calibri" panose="020F0502020204030204"/>
              </a:rPr>
              <a:t>1</a:t>
            </a:r>
            <a:endParaRPr sz="1800" dirty="0">
              <a:latin typeface="Calibri" panose="020F0502020204030204"/>
              <a:cs typeface="Calibri" panose="020F0502020204030204"/>
            </a:endParaRPr>
          </a:p>
          <a:p>
            <a:pPr>
              <a:lnSpc>
                <a:spcPct val="100000"/>
              </a:lnSpc>
              <a:spcBef>
                <a:spcPts val="440"/>
              </a:spcBef>
            </a:pPr>
            <a:endParaRPr sz="1800" dirty="0">
              <a:latin typeface="Calibri" panose="020F0502020204030204"/>
              <a:cs typeface="Calibri" panose="020F0502020204030204"/>
            </a:endParaRPr>
          </a:p>
          <a:p>
            <a:pPr marL="12700">
              <a:lnSpc>
                <a:spcPct val="100000"/>
              </a:lnSpc>
            </a:pPr>
            <a:r>
              <a:rPr sz="1800" spc="-50" dirty="0">
                <a:solidFill>
                  <a:srgbClr val="FFFFFF"/>
                </a:solidFill>
                <a:latin typeface="Calibri" panose="020F0502020204030204"/>
                <a:cs typeface="Calibri" panose="020F0502020204030204"/>
              </a:rPr>
              <a:t>2</a:t>
            </a:r>
            <a:endParaRPr sz="1800" dirty="0">
              <a:latin typeface="Calibri" panose="020F0502020204030204"/>
              <a:cs typeface="Calibri" panose="020F0502020204030204"/>
            </a:endParaRPr>
          </a:p>
          <a:p>
            <a:pPr>
              <a:lnSpc>
                <a:spcPct val="100000"/>
              </a:lnSpc>
              <a:spcBef>
                <a:spcPts val="445"/>
              </a:spcBef>
            </a:pPr>
            <a:endParaRPr sz="1800" dirty="0">
              <a:latin typeface="Calibri" panose="020F0502020204030204"/>
              <a:cs typeface="Calibri" panose="020F0502020204030204"/>
            </a:endParaRPr>
          </a:p>
          <a:p>
            <a:pPr marL="12700">
              <a:lnSpc>
                <a:spcPct val="100000"/>
              </a:lnSpc>
            </a:pPr>
            <a:r>
              <a:rPr sz="1800" spc="-50" dirty="0">
                <a:solidFill>
                  <a:srgbClr val="FFFFFF"/>
                </a:solidFill>
                <a:latin typeface="Calibri" panose="020F0502020204030204"/>
                <a:cs typeface="Calibri" panose="020F0502020204030204"/>
              </a:rPr>
              <a:t>3</a:t>
            </a:r>
            <a:endParaRPr sz="1800" dirty="0">
              <a:latin typeface="Calibri" panose="020F0502020204030204"/>
              <a:cs typeface="Calibri" panose="020F0502020204030204"/>
            </a:endParaRPr>
          </a:p>
        </p:txBody>
      </p:sp>
      <p:sp>
        <p:nvSpPr>
          <p:cNvPr id="19" name="object 36"/>
          <p:cNvSpPr txBox="1"/>
          <p:nvPr/>
        </p:nvSpPr>
        <p:spPr>
          <a:xfrm>
            <a:off x="4952396" y="5257895"/>
            <a:ext cx="141605"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50" dirty="0">
                <a:solidFill>
                  <a:srgbClr val="FFFFFF"/>
                </a:solidFill>
                <a:latin typeface="Calibri" panose="020F0502020204030204"/>
                <a:cs typeface="Calibri" panose="020F0502020204030204"/>
              </a:rPr>
              <a:t>6</a:t>
            </a:r>
            <a:endParaRPr sz="1800">
              <a:latin typeface="Calibri" panose="020F0502020204030204"/>
              <a:cs typeface="Calibri" panose="020F0502020204030204"/>
            </a:endParaRPr>
          </a:p>
        </p:txBody>
      </p:sp>
      <p:sp>
        <p:nvSpPr>
          <p:cNvPr id="20" name="TextBox 36"/>
          <p:cNvSpPr txBox="1"/>
          <p:nvPr/>
        </p:nvSpPr>
        <p:spPr>
          <a:xfrm>
            <a:off x="3716655" y="5438775"/>
            <a:ext cx="6539865" cy="737235"/>
          </a:xfrm>
          <a:prstGeom prst="rect">
            <a:avLst/>
          </a:prstGeom>
          <a:noFill/>
        </p:spPr>
        <p:txBody>
          <a:bodyPr wrap="square" rtlCol="0">
            <a:spAutoFit/>
          </a:bodyPr>
          <a:lstStyle>
            <a:defPPr>
              <a:defRPr kern="0"/>
            </a:defPPr>
          </a:lstStyle>
          <a:p>
            <a:r>
              <a:rPr lang="en-US" sz="1400" b="1" dirty="0"/>
              <a:t>Access Google </a:t>
            </a:r>
            <a:r>
              <a:rPr lang="en-US" sz="1400" b="1" dirty="0" err="1"/>
              <a:t>Colab</a:t>
            </a:r>
            <a:r>
              <a:rPr lang="en-US" sz="1400" b="1" dirty="0"/>
              <a:t> Notebook:</a:t>
            </a:r>
            <a:r>
              <a:rPr lang="en-US" sz="1400" dirty="0"/>
              <a:t> </a:t>
            </a:r>
            <a:r>
              <a:rPr lang="en-US" sz="1400" dirty="0">
                <a:hlinkClick r:id="rId7"/>
              </a:rPr>
              <a:t>https://colab.research.google.com/drive/1mB_IFQAd7qbMAhQ2C23a2NEbrNSl_i3R?usp=sharing</a:t>
            </a:r>
            <a:r>
              <a:rPr lang="en-US" sz="1400" dirty="0"/>
              <a:t> </a:t>
            </a:r>
          </a:p>
        </p:txBody>
      </p:sp>
      <p:sp>
        <p:nvSpPr>
          <p:cNvPr id="38" name="object 10"/>
          <p:cNvSpPr/>
          <p:nvPr/>
        </p:nvSpPr>
        <p:spPr>
          <a:xfrm>
            <a:off x="3997251" y="3127339"/>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r>
              <a:rPr lang="en-GB" dirty="0">
                <a:solidFill>
                  <a:schemeClr val="bg1"/>
                </a:solidFill>
              </a:rPr>
              <a:t>   4</a:t>
            </a:r>
            <a:endParaRPr dirty="0">
              <a:solidFill>
                <a:schemeClr val="bg1"/>
              </a:solidFill>
            </a:endParaRPr>
          </a:p>
        </p:txBody>
      </p:sp>
      <p:sp>
        <p:nvSpPr>
          <p:cNvPr id="39" name="object 10"/>
          <p:cNvSpPr/>
          <p:nvPr/>
        </p:nvSpPr>
        <p:spPr>
          <a:xfrm>
            <a:off x="4001447" y="3874607"/>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r>
              <a:rPr lang="en-GB" dirty="0">
                <a:solidFill>
                  <a:schemeClr val="bg1"/>
                </a:solidFill>
              </a:rPr>
              <a:t>   5</a:t>
            </a:r>
            <a:endParaRPr dirty="0">
              <a:solidFill>
                <a:schemeClr val="bg1"/>
              </a:solidFill>
            </a:endParaRPr>
          </a:p>
        </p:txBody>
      </p:sp>
      <p:sp>
        <p:nvSpPr>
          <p:cNvPr id="40" name="object 10"/>
          <p:cNvSpPr/>
          <p:nvPr/>
        </p:nvSpPr>
        <p:spPr>
          <a:xfrm>
            <a:off x="3997251" y="4444504"/>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r>
              <a:rPr lang="en-GB" dirty="0">
                <a:solidFill>
                  <a:schemeClr val="bg1"/>
                </a:solidFill>
              </a:rPr>
              <a:t>   6</a:t>
            </a:r>
            <a:endParaRPr dirty="0">
              <a:solidFill>
                <a:schemeClr val="bg1"/>
              </a:solidFill>
            </a:endParaRPr>
          </a:p>
        </p:txBody>
      </p:sp>
      <p:sp>
        <p:nvSpPr>
          <p:cNvPr id="41" name="object 10"/>
          <p:cNvSpPr/>
          <p:nvPr/>
        </p:nvSpPr>
        <p:spPr>
          <a:xfrm>
            <a:off x="3995755" y="4970299"/>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r>
              <a:rPr lang="en-GB" dirty="0">
                <a:solidFill>
                  <a:schemeClr val="bg1"/>
                </a:solidFill>
              </a:rPr>
              <a:t>   7</a:t>
            </a:r>
            <a:endParaRPr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GB" dirty="0"/>
              <a:t>In Summary - ML vs DL</a:t>
            </a:r>
            <a:endParaRPr lang="en-US" dirty="0">
              <a:solidFill>
                <a:srgbClr val="942D6D"/>
              </a:solidFill>
            </a:endParaRP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Text Placeholder 2"/>
          <p:cNvSpPr>
            <a:spLocks noGrp="1"/>
          </p:cNvSpPr>
          <p:nvPr>
            <p:ph type="body" sz="quarter" idx="10"/>
          </p:nvPr>
        </p:nvSpPr>
        <p:spPr>
          <a:xfrm>
            <a:off x="486221" y="1673860"/>
            <a:ext cx="10994852" cy="4473724"/>
          </a:xfrm>
        </p:spPr>
        <p:txBody>
          <a:bodyPr/>
          <a:lstStyle/>
          <a:p>
            <a:r>
              <a:rPr lang="en-US" sz="2200" dirty="0">
                <a:solidFill>
                  <a:schemeClr val="tx1"/>
                </a:solidFill>
              </a:rPr>
              <a:t>Machine learning focuses on developing algorithms that allow computers to learn from data and make predictions or decisions without being explicitly programmed. It includes techniques like </a:t>
            </a:r>
            <a:r>
              <a:rPr lang="en-US" sz="2200" b="1" dirty="0">
                <a:solidFill>
                  <a:schemeClr val="tx1"/>
                </a:solidFill>
              </a:rPr>
              <a:t>supervised learning, unsupervised learning, semi-supervised and reinforcement learning</a:t>
            </a:r>
            <a:r>
              <a:rPr lang="en-US" sz="2200" dirty="0">
                <a:solidFill>
                  <a:schemeClr val="tx1"/>
                </a:solidFill>
              </a:rPr>
              <a:t>. Machine learning models often rely on </a:t>
            </a:r>
            <a:r>
              <a:rPr lang="en-US" sz="2200" b="1" dirty="0">
                <a:solidFill>
                  <a:schemeClr val="tx1"/>
                </a:solidFill>
              </a:rPr>
              <a:t>structured data and require human intervention</a:t>
            </a:r>
            <a:r>
              <a:rPr lang="en-US" sz="2200" dirty="0">
                <a:solidFill>
                  <a:schemeClr val="tx1"/>
                </a:solidFill>
              </a:rPr>
              <a:t> for tasks like feature engineering.</a:t>
            </a:r>
          </a:p>
          <a:p>
            <a:r>
              <a:rPr lang="en-US" sz="2200" dirty="0">
                <a:solidFill>
                  <a:schemeClr val="tx1"/>
                </a:solidFill>
              </a:rPr>
              <a:t>Deep learning, on the other hand, is a specialized branch of machine learning that uses </a:t>
            </a:r>
            <a:r>
              <a:rPr lang="en-US" sz="2200" b="1" dirty="0">
                <a:solidFill>
                  <a:schemeClr val="tx1"/>
                </a:solidFill>
              </a:rPr>
              <a:t>artificial neural networks</a:t>
            </a:r>
            <a:r>
              <a:rPr lang="en-US" sz="2200" dirty="0">
                <a:solidFill>
                  <a:schemeClr val="tx1"/>
                </a:solidFill>
              </a:rPr>
              <a:t> with multiple layers (hence called "deep"). These networks are designed to mimic the structure and functioning of the human brain. Deep learning excels at handling large datasets and complex tasks such as image recognition, natural language processing, and autonomous systems. Unlike traditional machine learning, deep learning models automatically extract features from raw data, reducing the need for manual feature engineering.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2C58B-319E-CDC3-8F27-47635509B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D106A-096B-FD87-1508-B02671266B3A}"/>
              </a:ext>
            </a:extLst>
          </p:cNvPr>
          <p:cNvSpPr>
            <a:spLocks noGrp="1"/>
          </p:cNvSpPr>
          <p:nvPr>
            <p:ph type="title"/>
          </p:nvPr>
        </p:nvSpPr>
        <p:spPr>
          <a:xfrm>
            <a:off x="629500" y="277838"/>
            <a:ext cx="9097686" cy="1068223"/>
          </a:xfrm>
        </p:spPr>
        <p:txBody>
          <a:bodyPr/>
          <a:lstStyle/>
          <a:p>
            <a:r>
              <a:rPr lang="en-US" sz="4400" dirty="0">
                <a:solidFill>
                  <a:srgbClr val="942D6D"/>
                </a:solidFill>
              </a:rPr>
              <a:t>Simplest representation of an Artificial Neuron: Perceptron</a:t>
            </a:r>
            <a:endParaRPr lang="en-US" dirty="0">
              <a:solidFill>
                <a:srgbClr val="942D6D"/>
              </a:solidFill>
            </a:endParaRPr>
          </a:p>
        </p:txBody>
      </p:sp>
      <p:cxnSp>
        <p:nvCxnSpPr>
          <p:cNvPr id="4" name="Straight Connector 3">
            <a:extLst>
              <a:ext uri="{FF2B5EF4-FFF2-40B4-BE49-F238E27FC236}">
                <a16:creationId xmlns:a16="http://schemas.microsoft.com/office/drawing/2014/main" id="{7CFA150F-0DD9-64C9-420E-148DD903C413}"/>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23B474CF-A139-AC58-A869-94EF95E78529}"/>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A0C8885F-613B-AFA4-D078-15FF49005B85}"/>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9" name="Picture 8" descr="A black background with white text and yellow arrows&#10;&#10;Description automatically generated">
            <a:extLst>
              <a:ext uri="{FF2B5EF4-FFF2-40B4-BE49-F238E27FC236}">
                <a16:creationId xmlns:a16="http://schemas.microsoft.com/office/drawing/2014/main" id="{2864008F-E95F-2912-6E46-C447EB34E0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91840" y="1690421"/>
            <a:ext cx="5608320" cy="3477157"/>
          </a:xfrm>
          <a:prstGeom prst="rect">
            <a:avLst/>
          </a:prstGeom>
        </p:spPr>
      </p:pic>
    </p:spTree>
    <p:extLst>
      <p:ext uri="{BB962C8B-B14F-4D97-AF65-F5344CB8AC3E}">
        <p14:creationId xmlns:p14="http://schemas.microsoft.com/office/powerpoint/2010/main" val="255158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31970-4CBB-B853-58A3-2794FC6A9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6D3DE-8673-5816-6978-27A0D2EBCC6B}"/>
              </a:ext>
            </a:extLst>
          </p:cNvPr>
          <p:cNvSpPr>
            <a:spLocks noGrp="1"/>
          </p:cNvSpPr>
          <p:nvPr>
            <p:ph type="title"/>
          </p:nvPr>
        </p:nvSpPr>
        <p:spPr>
          <a:xfrm>
            <a:off x="629500" y="277838"/>
            <a:ext cx="9097686" cy="1068223"/>
          </a:xfrm>
        </p:spPr>
        <p:txBody>
          <a:bodyPr/>
          <a:lstStyle/>
          <a:p>
            <a:r>
              <a:rPr lang="en-GB" spc="-25" dirty="0" err="1"/>
              <a:t>Perceptrons</a:t>
            </a:r>
            <a:endParaRPr lang="en-US" dirty="0">
              <a:solidFill>
                <a:srgbClr val="942D6D"/>
              </a:solidFill>
            </a:endParaRPr>
          </a:p>
        </p:txBody>
      </p:sp>
      <p:cxnSp>
        <p:nvCxnSpPr>
          <p:cNvPr id="4" name="Straight Connector 3">
            <a:extLst>
              <a:ext uri="{FF2B5EF4-FFF2-40B4-BE49-F238E27FC236}">
                <a16:creationId xmlns:a16="http://schemas.microsoft.com/office/drawing/2014/main" id="{7FF2EF10-D01F-3A6F-63B6-08C94F5B00CF}"/>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598875E4-E42B-D039-29E3-AC686FFE1D4B}"/>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932C6622-F47D-941E-5DFD-14BE2CA54C01}"/>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Text Placeholder 2">
            <a:extLst>
              <a:ext uri="{FF2B5EF4-FFF2-40B4-BE49-F238E27FC236}">
                <a16:creationId xmlns:a16="http://schemas.microsoft.com/office/drawing/2014/main" id="{59DB3545-9AB7-F5ED-1BB4-7D2CFA5811A6}"/>
              </a:ext>
            </a:extLst>
          </p:cNvPr>
          <p:cNvSpPr>
            <a:spLocks noGrp="1"/>
          </p:cNvSpPr>
          <p:nvPr>
            <p:ph type="body" sz="quarter" idx="10"/>
          </p:nvPr>
        </p:nvSpPr>
        <p:spPr>
          <a:xfrm>
            <a:off x="486221" y="1673860"/>
            <a:ext cx="10994852" cy="4473724"/>
          </a:xfrm>
        </p:spPr>
        <p:txBody>
          <a:bodyPr/>
          <a:lstStyle/>
          <a:p>
            <a:pPr marL="278765" indent="-227965">
              <a:lnSpc>
                <a:spcPts val="3180"/>
              </a:lnSpc>
              <a:spcBef>
                <a:spcPts val="100"/>
              </a:spcBef>
              <a:buFont typeface="Arial"/>
              <a:buChar char="•"/>
              <a:tabLst>
                <a:tab pos="278765" algn="l"/>
              </a:tabLst>
            </a:pPr>
            <a:r>
              <a:rPr lang="en-US" sz="2400" spc="-10" dirty="0">
                <a:cs typeface="Calibri"/>
              </a:rPr>
              <a:t>Rosenblatt</a:t>
            </a:r>
            <a:r>
              <a:rPr lang="en-US" sz="2400" spc="-80" dirty="0">
                <a:cs typeface="Calibri"/>
              </a:rPr>
              <a:t> </a:t>
            </a:r>
            <a:r>
              <a:rPr lang="en-US" sz="2400" spc="-10" dirty="0">
                <a:cs typeface="Calibri"/>
              </a:rPr>
              <a:t>introduced</a:t>
            </a:r>
            <a:r>
              <a:rPr lang="en-US" sz="2400" spc="-90" dirty="0">
                <a:cs typeface="Calibri"/>
              </a:rPr>
              <a:t> </a:t>
            </a:r>
            <a:r>
              <a:rPr lang="en-US" sz="2400" dirty="0">
                <a:cs typeface="Calibri"/>
              </a:rPr>
              <a:t>weights</a:t>
            </a:r>
            <a:r>
              <a:rPr lang="en-US" sz="2400" spc="-40" dirty="0">
                <a:cs typeface="Calibri"/>
              </a:rPr>
              <a:t> </a:t>
            </a:r>
            <a:r>
              <a:rPr lang="en-US" sz="2400" dirty="0">
                <a:latin typeface="Cambria Math"/>
                <a:cs typeface="Cambria Math"/>
              </a:rPr>
              <a:t>𝑤</a:t>
            </a:r>
            <a:r>
              <a:rPr lang="en-US" baseline="-16260" dirty="0">
                <a:latin typeface="Cambria Math"/>
                <a:cs typeface="Cambria Math"/>
              </a:rPr>
              <a:t>1</a:t>
            </a:r>
            <a:r>
              <a:rPr lang="en-US" sz="2400" dirty="0">
                <a:cs typeface="Calibri"/>
              </a:rPr>
              <a:t>,</a:t>
            </a:r>
            <a:r>
              <a:rPr lang="en-US" sz="2400" spc="-40" dirty="0">
                <a:cs typeface="Calibri"/>
              </a:rPr>
              <a:t> </a:t>
            </a:r>
            <a:r>
              <a:rPr lang="en-US" sz="2400" dirty="0">
                <a:latin typeface="Cambria Math"/>
                <a:cs typeface="Cambria Math"/>
              </a:rPr>
              <a:t>𝑤</a:t>
            </a:r>
            <a:r>
              <a:rPr lang="en-US" baseline="-16260" dirty="0">
                <a:latin typeface="Cambria Math"/>
                <a:cs typeface="Cambria Math"/>
              </a:rPr>
              <a:t>2</a:t>
            </a:r>
            <a:r>
              <a:rPr lang="en-US" sz="2400" dirty="0">
                <a:cs typeface="Calibri"/>
              </a:rPr>
              <a:t>,…,</a:t>
            </a:r>
            <a:r>
              <a:rPr lang="en-US" sz="2400" spc="-35" dirty="0">
                <a:cs typeface="Calibri"/>
              </a:rPr>
              <a:t> </a:t>
            </a:r>
            <a:r>
              <a:rPr lang="en-US" sz="2400" dirty="0">
                <a:cs typeface="Calibri"/>
              </a:rPr>
              <a:t>which</a:t>
            </a:r>
            <a:r>
              <a:rPr lang="en-US" sz="2400" spc="-40" dirty="0">
                <a:cs typeface="Calibri"/>
              </a:rPr>
              <a:t> </a:t>
            </a:r>
            <a:r>
              <a:rPr lang="en-US" sz="2400" dirty="0">
                <a:cs typeface="Calibri"/>
              </a:rPr>
              <a:t>are</a:t>
            </a:r>
            <a:r>
              <a:rPr lang="en-US" sz="2400" spc="-45" dirty="0">
                <a:cs typeface="Calibri"/>
              </a:rPr>
              <a:t> </a:t>
            </a:r>
            <a:r>
              <a:rPr lang="en-US" sz="2400" dirty="0">
                <a:cs typeface="Calibri"/>
              </a:rPr>
              <a:t>real</a:t>
            </a:r>
            <a:r>
              <a:rPr lang="en-US" sz="2400" spc="-80" dirty="0">
                <a:cs typeface="Calibri"/>
              </a:rPr>
              <a:t> </a:t>
            </a:r>
            <a:r>
              <a:rPr lang="en-US" sz="2400" spc="-10" dirty="0">
                <a:cs typeface="Calibri"/>
              </a:rPr>
              <a:t>numbers</a:t>
            </a:r>
            <a:endParaRPr lang="en-US" sz="2400" dirty="0">
              <a:cs typeface="Calibri"/>
            </a:endParaRPr>
          </a:p>
          <a:p>
            <a:pPr marL="279400">
              <a:lnSpc>
                <a:spcPts val="3180"/>
              </a:lnSpc>
            </a:pPr>
            <a:r>
              <a:rPr lang="en-US" sz="2400" dirty="0">
                <a:cs typeface="Calibri"/>
              </a:rPr>
              <a:t>expressing</a:t>
            </a:r>
            <a:r>
              <a:rPr lang="en-US" sz="2400" spc="-95" dirty="0">
                <a:cs typeface="Calibri"/>
              </a:rPr>
              <a:t> </a:t>
            </a:r>
            <a:r>
              <a:rPr lang="en-US" sz="2400" dirty="0">
                <a:cs typeface="Calibri"/>
              </a:rPr>
              <a:t>the</a:t>
            </a:r>
            <a:r>
              <a:rPr lang="en-US" sz="2400" spc="-50" dirty="0">
                <a:cs typeface="Calibri"/>
              </a:rPr>
              <a:t> </a:t>
            </a:r>
            <a:r>
              <a:rPr lang="en-US" sz="2400" dirty="0">
                <a:cs typeface="Calibri"/>
              </a:rPr>
              <a:t>importance</a:t>
            </a:r>
            <a:r>
              <a:rPr lang="en-US" sz="2400" spc="-65" dirty="0">
                <a:cs typeface="Calibri"/>
              </a:rPr>
              <a:t> </a:t>
            </a:r>
            <a:r>
              <a:rPr lang="en-US" sz="2400" dirty="0">
                <a:cs typeface="Calibri"/>
              </a:rPr>
              <a:t>of</a:t>
            </a:r>
            <a:r>
              <a:rPr lang="en-US" sz="2400" spc="-45" dirty="0">
                <a:cs typeface="Calibri"/>
              </a:rPr>
              <a:t> </a:t>
            </a:r>
            <a:r>
              <a:rPr lang="en-US" sz="2400" dirty="0">
                <a:cs typeface="Calibri"/>
              </a:rPr>
              <a:t>the</a:t>
            </a:r>
            <a:r>
              <a:rPr lang="en-US" sz="2400" spc="-50" dirty="0">
                <a:cs typeface="Calibri"/>
              </a:rPr>
              <a:t> </a:t>
            </a:r>
            <a:r>
              <a:rPr lang="en-US" sz="2400" dirty="0">
                <a:cs typeface="Calibri"/>
              </a:rPr>
              <a:t>respective</a:t>
            </a:r>
            <a:r>
              <a:rPr lang="en-US" sz="2400" spc="-65" dirty="0">
                <a:cs typeface="Calibri"/>
              </a:rPr>
              <a:t> </a:t>
            </a:r>
            <a:r>
              <a:rPr lang="en-US" sz="2400" dirty="0">
                <a:cs typeface="Calibri"/>
              </a:rPr>
              <a:t>inputs</a:t>
            </a:r>
            <a:r>
              <a:rPr lang="en-US" sz="2400" spc="-40" dirty="0">
                <a:cs typeface="Calibri"/>
              </a:rPr>
              <a:t> </a:t>
            </a:r>
            <a:r>
              <a:rPr lang="en-US" sz="2400" dirty="0">
                <a:cs typeface="Calibri"/>
              </a:rPr>
              <a:t>to</a:t>
            </a:r>
            <a:r>
              <a:rPr lang="en-US" sz="2400" spc="-55" dirty="0">
                <a:cs typeface="Calibri"/>
              </a:rPr>
              <a:t> </a:t>
            </a:r>
            <a:r>
              <a:rPr lang="en-US" sz="2400" dirty="0">
                <a:cs typeface="Calibri"/>
              </a:rPr>
              <a:t>the</a:t>
            </a:r>
            <a:r>
              <a:rPr lang="en-US" sz="2400" spc="-45" dirty="0">
                <a:cs typeface="Calibri"/>
              </a:rPr>
              <a:t> </a:t>
            </a:r>
            <a:r>
              <a:rPr lang="en-US" sz="2400" spc="-10" dirty="0">
                <a:cs typeface="Calibri"/>
              </a:rPr>
              <a:t>output.</a:t>
            </a:r>
            <a:endParaRPr lang="en-US" sz="2400" dirty="0">
              <a:cs typeface="Calibri"/>
            </a:endParaRPr>
          </a:p>
          <a:p>
            <a:pPr marL="279400" marR="43180">
              <a:lnSpc>
                <a:spcPts val="3120"/>
              </a:lnSpc>
              <a:spcBef>
                <a:spcPts val="985"/>
              </a:spcBef>
              <a:buFont typeface="Arial"/>
              <a:buChar char="•"/>
              <a:tabLst>
                <a:tab pos="279400" algn="l"/>
              </a:tabLst>
            </a:pPr>
            <a:r>
              <a:rPr lang="en-US" sz="2400" dirty="0">
                <a:cs typeface="Calibri"/>
              </a:rPr>
              <a:t>The</a:t>
            </a:r>
            <a:r>
              <a:rPr lang="en-US" sz="2400" spc="-45" dirty="0">
                <a:cs typeface="Calibri"/>
              </a:rPr>
              <a:t> </a:t>
            </a:r>
            <a:r>
              <a:rPr lang="en-US" sz="2400" dirty="0">
                <a:cs typeface="Calibri"/>
              </a:rPr>
              <a:t>neurons</a:t>
            </a:r>
            <a:r>
              <a:rPr lang="en-US" sz="2400" spc="-60" dirty="0">
                <a:cs typeface="Calibri"/>
              </a:rPr>
              <a:t> </a:t>
            </a:r>
            <a:r>
              <a:rPr lang="en-US" sz="2400" dirty="0">
                <a:cs typeface="Calibri"/>
              </a:rPr>
              <a:t>output,</a:t>
            </a:r>
            <a:r>
              <a:rPr lang="en-US" sz="2400" spc="-45" dirty="0">
                <a:cs typeface="Calibri"/>
              </a:rPr>
              <a:t> </a:t>
            </a:r>
            <a:r>
              <a:rPr lang="en-US" sz="2400" dirty="0">
                <a:cs typeface="Calibri"/>
              </a:rPr>
              <a:t>0</a:t>
            </a:r>
            <a:r>
              <a:rPr lang="en-US" sz="2400" spc="-35" dirty="0">
                <a:cs typeface="Calibri"/>
              </a:rPr>
              <a:t> </a:t>
            </a:r>
            <a:r>
              <a:rPr lang="en-US" sz="2400" dirty="0">
                <a:cs typeface="Calibri"/>
              </a:rPr>
              <a:t>or</a:t>
            </a:r>
            <a:r>
              <a:rPr lang="en-US" sz="2400" spc="-50" dirty="0">
                <a:cs typeface="Calibri"/>
              </a:rPr>
              <a:t> </a:t>
            </a:r>
            <a:r>
              <a:rPr lang="en-US" sz="2400" dirty="0">
                <a:cs typeface="Calibri"/>
              </a:rPr>
              <a:t>1,</a:t>
            </a:r>
            <a:r>
              <a:rPr lang="en-US" sz="2400" spc="-35" dirty="0">
                <a:cs typeface="Calibri"/>
              </a:rPr>
              <a:t> </a:t>
            </a:r>
            <a:r>
              <a:rPr lang="en-US" sz="2400" dirty="0">
                <a:cs typeface="Calibri"/>
              </a:rPr>
              <a:t>is</a:t>
            </a:r>
            <a:r>
              <a:rPr lang="en-US" sz="2400" spc="-35" dirty="0">
                <a:cs typeface="Calibri"/>
              </a:rPr>
              <a:t> </a:t>
            </a:r>
            <a:r>
              <a:rPr lang="en-US" sz="2400" dirty="0">
                <a:cs typeface="Calibri"/>
              </a:rPr>
              <a:t>determined</a:t>
            </a:r>
            <a:r>
              <a:rPr lang="en-US" sz="2400" spc="-75" dirty="0">
                <a:cs typeface="Calibri"/>
              </a:rPr>
              <a:t> </a:t>
            </a:r>
            <a:r>
              <a:rPr lang="en-US" sz="2400" dirty="0">
                <a:cs typeface="Calibri"/>
              </a:rPr>
              <a:t>by</a:t>
            </a:r>
            <a:r>
              <a:rPr lang="en-US" sz="2400" spc="-45" dirty="0">
                <a:cs typeface="Calibri"/>
              </a:rPr>
              <a:t> </a:t>
            </a:r>
            <a:r>
              <a:rPr lang="en-US" sz="2400" dirty="0">
                <a:cs typeface="Calibri"/>
              </a:rPr>
              <a:t>whether</a:t>
            </a:r>
            <a:r>
              <a:rPr lang="en-US" sz="2400" spc="-65" dirty="0">
                <a:cs typeface="Calibri"/>
              </a:rPr>
              <a:t> </a:t>
            </a:r>
            <a:r>
              <a:rPr lang="en-US" sz="2400" dirty="0">
                <a:cs typeface="Calibri"/>
              </a:rPr>
              <a:t>the</a:t>
            </a:r>
            <a:r>
              <a:rPr lang="en-US" sz="2400" spc="-35" dirty="0">
                <a:cs typeface="Calibri"/>
              </a:rPr>
              <a:t> </a:t>
            </a:r>
            <a:r>
              <a:rPr lang="en-US" sz="2400" spc="-10" dirty="0">
                <a:cs typeface="Calibri"/>
              </a:rPr>
              <a:t>weighted </a:t>
            </a:r>
            <a:r>
              <a:rPr lang="en-US" sz="2400" dirty="0">
                <a:cs typeface="Calibri"/>
              </a:rPr>
              <a:t>sum</a:t>
            </a:r>
            <a:r>
              <a:rPr lang="en-US" sz="2400" spc="-5" dirty="0">
                <a:cs typeface="Calibri"/>
              </a:rPr>
              <a:t> </a:t>
            </a:r>
            <a:r>
              <a:rPr lang="en-US" sz="2400" spc="-160" dirty="0">
                <a:latin typeface="Cambria Math"/>
                <a:cs typeface="Cambria Math"/>
              </a:rPr>
              <a:t>Σ</a:t>
            </a:r>
            <a:r>
              <a:rPr lang="en-US" spc="397" baseline="-16260" dirty="0">
                <a:latin typeface="Cambria Math"/>
                <a:cs typeface="Cambria Math"/>
              </a:rPr>
              <a:t>𝑗</a:t>
            </a:r>
            <a:r>
              <a:rPr lang="en-US" sz="2400" spc="-265" dirty="0">
                <a:latin typeface="Cambria Math"/>
                <a:cs typeface="Cambria Math"/>
              </a:rPr>
              <a:t>𝑤</a:t>
            </a:r>
            <a:r>
              <a:rPr lang="en-US" spc="397" baseline="-16260" dirty="0">
                <a:latin typeface="Cambria Math"/>
                <a:cs typeface="Cambria Math"/>
              </a:rPr>
              <a:t>𝑗</a:t>
            </a:r>
            <a:r>
              <a:rPr lang="en-US" sz="2400" spc="-190" dirty="0">
                <a:latin typeface="Cambria Math"/>
                <a:cs typeface="Cambria Math"/>
              </a:rPr>
              <a:t>𝑥</a:t>
            </a:r>
            <a:r>
              <a:rPr lang="en-US" spc="127" baseline="-16260" dirty="0">
                <a:latin typeface="Cambria Math"/>
                <a:cs typeface="Cambria Math"/>
              </a:rPr>
              <a:t>𝑗</a:t>
            </a:r>
            <a:r>
              <a:rPr lang="en-US" spc="494" baseline="-16260" dirty="0">
                <a:latin typeface="Cambria Math"/>
                <a:cs typeface="Cambria Math"/>
              </a:rPr>
              <a:t> </a:t>
            </a:r>
            <a:r>
              <a:rPr lang="en-US" sz="2400" dirty="0">
                <a:cs typeface="Calibri"/>
              </a:rPr>
              <a:t>is</a:t>
            </a:r>
            <a:r>
              <a:rPr lang="en-US" sz="2400" spc="-15" dirty="0">
                <a:cs typeface="Calibri"/>
              </a:rPr>
              <a:t> </a:t>
            </a:r>
            <a:r>
              <a:rPr lang="en-US" sz="2400" dirty="0">
                <a:cs typeface="Calibri"/>
              </a:rPr>
              <a:t>less</a:t>
            </a:r>
            <a:r>
              <a:rPr lang="en-US" sz="2400" spc="-25" dirty="0">
                <a:cs typeface="Calibri"/>
              </a:rPr>
              <a:t> </a:t>
            </a:r>
            <a:r>
              <a:rPr lang="en-US" sz="2400" dirty="0">
                <a:cs typeface="Calibri"/>
              </a:rPr>
              <a:t>than</a:t>
            </a:r>
            <a:r>
              <a:rPr lang="en-US" sz="2400" spc="-20" dirty="0">
                <a:cs typeface="Calibri"/>
              </a:rPr>
              <a:t> </a:t>
            </a:r>
            <a:r>
              <a:rPr lang="en-US" sz="2400" dirty="0">
                <a:cs typeface="Calibri"/>
              </a:rPr>
              <a:t>or</a:t>
            </a:r>
            <a:r>
              <a:rPr lang="en-US" sz="2400" spc="-15" dirty="0">
                <a:cs typeface="Calibri"/>
              </a:rPr>
              <a:t> </a:t>
            </a:r>
            <a:r>
              <a:rPr lang="en-US" sz="2400" dirty="0">
                <a:cs typeface="Calibri"/>
              </a:rPr>
              <a:t>greater</a:t>
            </a:r>
            <a:r>
              <a:rPr lang="en-US" sz="2400" spc="-40" dirty="0">
                <a:cs typeface="Calibri"/>
              </a:rPr>
              <a:t> </a:t>
            </a:r>
            <a:r>
              <a:rPr lang="en-US" sz="2400" dirty="0">
                <a:cs typeface="Calibri"/>
              </a:rPr>
              <a:t>than</a:t>
            </a:r>
            <a:r>
              <a:rPr lang="en-US" sz="2400" spc="-20" dirty="0">
                <a:cs typeface="Calibri"/>
              </a:rPr>
              <a:t> </a:t>
            </a:r>
            <a:r>
              <a:rPr lang="en-US" sz="2400" dirty="0">
                <a:cs typeface="Calibri"/>
              </a:rPr>
              <a:t>some</a:t>
            </a:r>
            <a:r>
              <a:rPr lang="en-US" sz="2400" spc="-15" dirty="0">
                <a:cs typeface="Calibri"/>
              </a:rPr>
              <a:t> </a:t>
            </a:r>
            <a:r>
              <a:rPr lang="en-US" sz="2400" dirty="0">
                <a:cs typeface="Calibri"/>
              </a:rPr>
              <a:t>threshold</a:t>
            </a:r>
            <a:r>
              <a:rPr lang="en-US" sz="2400" spc="-40" dirty="0">
                <a:cs typeface="Calibri"/>
              </a:rPr>
              <a:t> </a:t>
            </a:r>
            <a:r>
              <a:rPr lang="en-US" sz="2400" spc="-10" dirty="0">
                <a:cs typeface="Calibri"/>
              </a:rPr>
              <a:t>value.</a:t>
            </a:r>
            <a:endParaRPr lang="en-US" sz="2400" dirty="0">
              <a:cs typeface="Calibri"/>
            </a:endParaRPr>
          </a:p>
          <a:p>
            <a:pPr marL="279400" marR="1030605">
              <a:lnSpc>
                <a:spcPts val="3040"/>
              </a:lnSpc>
              <a:buFont typeface="Arial"/>
              <a:buChar char="•"/>
              <a:tabLst>
                <a:tab pos="279400" algn="l"/>
              </a:tabLst>
            </a:pPr>
            <a:r>
              <a:rPr lang="en-US" sz="2400" dirty="0">
                <a:cs typeface="Calibri"/>
              </a:rPr>
              <a:t>Just</a:t>
            </a:r>
            <a:r>
              <a:rPr lang="en-US" sz="2400" spc="-60" dirty="0">
                <a:cs typeface="Calibri"/>
              </a:rPr>
              <a:t> </a:t>
            </a:r>
            <a:r>
              <a:rPr lang="en-US" sz="2400" dirty="0">
                <a:cs typeface="Calibri"/>
              </a:rPr>
              <a:t>like</a:t>
            </a:r>
            <a:r>
              <a:rPr lang="en-US" sz="2400" spc="-40" dirty="0">
                <a:cs typeface="Calibri"/>
              </a:rPr>
              <a:t> </a:t>
            </a:r>
            <a:r>
              <a:rPr lang="en-US" sz="2400" dirty="0">
                <a:cs typeface="Calibri"/>
              </a:rPr>
              <a:t>the</a:t>
            </a:r>
            <a:r>
              <a:rPr lang="en-US" sz="2400" spc="-70" dirty="0">
                <a:cs typeface="Calibri"/>
              </a:rPr>
              <a:t> </a:t>
            </a:r>
            <a:r>
              <a:rPr lang="en-US" sz="2400" dirty="0">
                <a:cs typeface="Calibri"/>
              </a:rPr>
              <a:t>weight,</a:t>
            </a:r>
            <a:r>
              <a:rPr lang="en-US" sz="2400" spc="-80" dirty="0">
                <a:cs typeface="Calibri"/>
              </a:rPr>
              <a:t> </a:t>
            </a:r>
            <a:r>
              <a:rPr lang="en-US" sz="2400" dirty="0">
                <a:cs typeface="Calibri"/>
              </a:rPr>
              <a:t>the</a:t>
            </a:r>
            <a:r>
              <a:rPr lang="en-US" sz="2400" spc="-55" dirty="0">
                <a:cs typeface="Calibri"/>
              </a:rPr>
              <a:t> </a:t>
            </a:r>
            <a:r>
              <a:rPr lang="en-US" sz="2400" dirty="0">
                <a:cs typeface="Calibri"/>
              </a:rPr>
              <a:t>threshold</a:t>
            </a:r>
            <a:r>
              <a:rPr lang="en-US" sz="2400" spc="-75" dirty="0">
                <a:cs typeface="Calibri"/>
              </a:rPr>
              <a:t> </a:t>
            </a:r>
            <a:r>
              <a:rPr lang="en-US" sz="2400" dirty="0">
                <a:cs typeface="Calibri"/>
              </a:rPr>
              <a:t>is</a:t>
            </a:r>
            <a:r>
              <a:rPr lang="en-US" sz="2400" spc="-45" dirty="0">
                <a:cs typeface="Calibri"/>
              </a:rPr>
              <a:t> </a:t>
            </a:r>
            <a:r>
              <a:rPr lang="en-US" sz="2400" dirty="0">
                <a:cs typeface="Calibri"/>
              </a:rPr>
              <a:t>a</a:t>
            </a:r>
            <a:r>
              <a:rPr lang="en-US" sz="2400" spc="-40" dirty="0">
                <a:cs typeface="Calibri"/>
              </a:rPr>
              <a:t> </a:t>
            </a:r>
            <a:r>
              <a:rPr lang="en-US" sz="2400" dirty="0">
                <a:cs typeface="Calibri"/>
              </a:rPr>
              <a:t>real</a:t>
            </a:r>
            <a:r>
              <a:rPr lang="en-US" sz="2400" spc="-80" dirty="0">
                <a:cs typeface="Calibri"/>
              </a:rPr>
              <a:t> </a:t>
            </a:r>
            <a:r>
              <a:rPr lang="en-US" sz="2400" dirty="0">
                <a:cs typeface="Calibri"/>
              </a:rPr>
              <a:t>number</a:t>
            </a:r>
            <a:r>
              <a:rPr lang="en-US" sz="2400" spc="-45" dirty="0">
                <a:cs typeface="Calibri"/>
              </a:rPr>
              <a:t> </a:t>
            </a:r>
            <a:r>
              <a:rPr lang="en-US" sz="2400" dirty="0">
                <a:cs typeface="Calibri"/>
              </a:rPr>
              <a:t>which</a:t>
            </a:r>
            <a:r>
              <a:rPr lang="en-US" sz="2400" spc="-55" dirty="0">
                <a:cs typeface="Calibri"/>
              </a:rPr>
              <a:t> </a:t>
            </a:r>
            <a:r>
              <a:rPr lang="en-US" sz="2400" dirty="0">
                <a:cs typeface="Calibri"/>
              </a:rPr>
              <a:t>is</a:t>
            </a:r>
            <a:r>
              <a:rPr lang="en-US" sz="2400" spc="-45" dirty="0">
                <a:cs typeface="Calibri"/>
              </a:rPr>
              <a:t> </a:t>
            </a:r>
            <a:r>
              <a:rPr lang="en-US" sz="2400" spc="-50" dirty="0">
                <a:cs typeface="Calibri"/>
              </a:rPr>
              <a:t>a </a:t>
            </a:r>
            <a:r>
              <a:rPr lang="en-US" sz="2400" dirty="0">
                <a:cs typeface="Calibri"/>
              </a:rPr>
              <a:t>parameter</a:t>
            </a:r>
            <a:r>
              <a:rPr lang="en-US" sz="2400" spc="-80" dirty="0">
                <a:cs typeface="Calibri"/>
              </a:rPr>
              <a:t> </a:t>
            </a:r>
            <a:r>
              <a:rPr lang="en-US" sz="2400" dirty="0">
                <a:cs typeface="Calibri"/>
              </a:rPr>
              <a:t>of</a:t>
            </a:r>
            <a:r>
              <a:rPr lang="en-US" sz="2400" spc="-65" dirty="0">
                <a:cs typeface="Calibri"/>
              </a:rPr>
              <a:t> </a:t>
            </a:r>
            <a:r>
              <a:rPr lang="en-US" sz="2400" dirty="0">
                <a:cs typeface="Calibri"/>
              </a:rPr>
              <a:t>the</a:t>
            </a:r>
            <a:r>
              <a:rPr lang="en-US" sz="2400" spc="-50" dirty="0">
                <a:cs typeface="Calibri"/>
              </a:rPr>
              <a:t> </a:t>
            </a:r>
            <a:r>
              <a:rPr lang="en-US" sz="2400" spc="-10" dirty="0">
                <a:cs typeface="Calibri"/>
              </a:rPr>
              <a:t>neuron.</a:t>
            </a:r>
            <a:endParaRPr lang="en-US" sz="2400" dirty="0">
              <a:cs typeface="Calibri"/>
            </a:endParaRPr>
          </a:p>
        </p:txBody>
      </p:sp>
      <p:pic>
        <p:nvPicPr>
          <p:cNvPr id="3" name="object 4">
            <a:extLst>
              <a:ext uri="{FF2B5EF4-FFF2-40B4-BE49-F238E27FC236}">
                <a16:creationId xmlns:a16="http://schemas.microsoft.com/office/drawing/2014/main" id="{010B4E4E-4C77-D6B8-EBAA-C789EC87FD39}"/>
              </a:ext>
            </a:extLst>
          </p:cNvPr>
          <p:cNvPicPr/>
          <p:nvPr/>
        </p:nvPicPr>
        <p:blipFill>
          <a:blip r:embed="rId3" cstate="print"/>
          <a:stretch>
            <a:fillRect/>
          </a:stretch>
        </p:blipFill>
        <p:spPr>
          <a:xfrm>
            <a:off x="3861958" y="4488767"/>
            <a:ext cx="4468084" cy="806547"/>
          </a:xfrm>
          <a:prstGeom prst="rect">
            <a:avLst/>
          </a:prstGeom>
        </p:spPr>
      </p:pic>
    </p:spTree>
    <p:extLst>
      <p:ext uri="{BB962C8B-B14F-4D97-AF65-F5344CB8AC3E}">
        <p14:creationId xmlns:p14="http://schemas.microsoft.com/office/powerpoint/2010/main" val="2532661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EC56A-C5EE-E0C1-63D1-0A388FFCB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C6BAF-8D0F-A3DD-DB3D-BA1A10DD37E1}"/>
              </a:ext>
            </a:extLst>
          </p:cNvPr>
          <p:cNvSpPr>
            <a:spLocks noGrp="1"/>
          </p:cNvSpPr>
          <p:nvPr>
            <p:ph type="title"/>
          </p:nvPr>
        </p:nvSpPr>
        <p:spPr>
          <a:xfrm>
            <a:off x="629500" y="277838"/>
            <a:ext cx="9097686" cy="1068223"/>
          </a:xfrm>
        </p:spPr>
        <p:txBody>
          <a:bodyPr/>
          <a:lstStyle/>
          <a:p>
            <a:r>
              <a:rPr lang="en-GB" spc="-25" dirty="0"/>
              <a:t>Perceptron</a:t>
            </a:r>
            <a:r>
              <a:rPr lang="en-GB" spc="-160" dirty="0"/>
              <a:t> </a:t>
            </a:r>
            <a:r>
              <a:rPr lang="en-GB" spc="-10" dirty="0"/>
              <a:t>Example</a:t>
            </a:r>
            <a:endParaRPr lang="en-US" dirty="0">
              <a:solidFill>
                <a:srgbClr val="942D6D"/>
              </a:solidFill>
            </a:endParaRPr>
          </a:p>
        </p:txBody>
      </p:sp>
      <p:cxnSp>
        <p:nvCxnSpPr>
          <p:cNvPr id="4" name="Straight Connector 3">
            <a:extLst>
              <a:ext uri="{FF2B5EF4-FFF2-40B4-BE49-F238E27FC236}">
                <a16:creationId xmlns:a16="http://schemas.microsoft.com/office/drawing/2014/main" id="{8B459A79-E95B-6F71-0FC0-11F6FB05ADEB}"/>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F8AA72C8-9D4C-E6E9-85AF-DB67CFD6372D}"/>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36C5FE09-9C3E-8A4A-1C55-3B7064FCC8D2}"/>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Text Placeholder 2">
            <a:extLst>
              <a:ext uri="{FF2B5EF4-FFF2-40B4-BE49-F238E27FC236}">
                <a16:creationId xmlns:a16="http://schemas.microsoft.com/office/drawing/2014/main" id="{C9A99A77-D4F0-C1C3-018F-DA1EB7EE1CCC}"/>
              </a:ext>
            </a:extLst>
          </p:cNvPr>
          <p:cNvSpPr>
            <a:spLocks noGrp="1"/>
          </p:cNvSpPr>
          <p:nvPr>
            <p:ph type="body" sz="quarter" idx="10"/>
          </p:nvPr>
        </p:nvSpPr>
        <p:spPr>
          <a:xfrm>
            <a:off x="486221" y="1673860"/>
            <a:ext cx="10994852" cy="4473724"/>
          </a:xfrm>
        </p:spPr>
        <p:txBody>
          <a:bodyPr/>
          <a:lstStyle/>
          <a:p>
            <a:pPr marL="241300" marR="5080">
              <a:lnSpc>
                <a:spcPct val="90100"/>
              </a:lnSpc>
              <a:spcBef>
                <a:spcPts val="430"/>
              </a:spcBef>
              <a:buFont typeface="Arial"/>
              <a:buChar char="•"/>
              <a:tabLst>
                <a:tab pos="241300" algn="l"/>
              </a:tabLst>
            </a:pPr>
            <a:r>
              <a:rPr lang="en-US" sz="2400" dirty="0">
                <a:cs typeface="Calibri"/>
              </a:rPr>
              <a:t>Suppose</a:t>
            </a:r>
            <a:r>
              <a:rPr lang="en-US" sz="2400" spc="-45" dirty="0">
                <a:cs typeface="Calibri"/>
              </a:rPr>
              <a:t> </a:t>
            </a:r>
            <a:r>
              <a:rPr lang="en-US" sz="2400" dirty="0">
                <a:cs typeface="Calibri"/>
              </a:rPr>
              <a:t>the</a:t>
            </a:r>
            <a:r>
              <a:rPr lang="en-US" sz="2400" spc="-50" dirty="0">
                <a:cs typeface="Calibri"/>
              </a:rPr>
              <a:t> </a:t>
            </a:r>
            <a:r>
              <a:rPr lang="en-US" sz="2400" spc="-10" dirty="0">
                <a:cs typeface="Calibri"/>
              </a:rPr>
              <a:t>weekend</a:t>
            </a:r>
            <a:r>
              <a:rPr lang="en-US" sz="2400" spc="-90" dirty="0">
                <a:cs typeface="Calibri"/>
              </a:rPr>
              <a:t> </a:t>
            </a:r>
            <a:r>
              <a:rPr lang="en-US" sz="2400" dirty="0">
                <a:cs typeface="Calibri"/>
              </a:rPr>
              <a:t>is</a:t>
            </a:r>
            <a:r>
              <a:rPr lang="en-US" sz="2400" spc="-50" dirty="0">
                <a:cs typeface="Calibri"/>
              </a:rPr>
              <a:t> </a:t>
            </a:r>
            <a:r>
              <a:rPr lang="en-US" sz="2400" dirty="0">
                <a:cs typeface="Calibri"/>
              </a:rPr>
              <a:t>coming</a:t>
            </a:r>
            <a:r>
              <a:rPr lang="en-US" sz="2400" spc="-60" dirty="0">
                <a:cs typeface="Calibri"/>
              </a:rPr>
              <a:t> </a:t>
            </a:r>
            <a:r>
              <a:rPr lang="en-US" sz="2400" dirty="0">
                <a:cs typeface="Calibri"/>
              </a:rPr>
              <a:t>up,</a:t>
            </a:r>
            <a:r>
              <a:rPr lang="en-US" sz="2400" spc="-55" dirty="0">
                <a:cs typeface="Calibri"/>
              </a:rPr>
              <a:t> </a:t>
            </a:r>
            <a:r>
              <a:rPr lang="en-US" sz="2400" dirty="0">
                <a:cs typeface="Calibri"/>
              </a:rPr>
              <a:t>and</a:t>
            </a:r>
            <a:r>
              <a:rPr lang="en-US" sz="2400" spc="-55" dirty="0">
                <a:cs typeface="Calibri"/>
              </a:rPr>
              <a:t> </a:t>
            </a:r>
            <a:r>
              <a:rPr lang="en-US" sz="2400" dirty="0">
                <a:cs typeface="Calibri"/>
              </a:rPr>
              <a:t>you've</a:t>
            </a:r>
            <a:r>
              <a:rPr lang="en-US" sz="2400" spc="-45" dirty="0">
                <a:cs typeface="Calibri"/>
              </a:rPr>
              <a:t> </a:t>
            </a:r>
            <a:r>
              <a:rPr lang="en-US" sz="2400" dirty="0">
                <a:cs typeface="Calibri"/>
              </a:rPr>
              <a:t>heard</a:t>
            </a:r>
            <a:r>
              <a:rPr lang="en-US" sz="2400" spc="-70" dirty="0">
                <a:cs typeface="Calibri"/>
              </a:rPr>
              <a:t> </a:t>
            </a:r>
            <a:r>
              <a:rPr lang="en-US" sz="2400" dirty="0">
                <a:cs typeface="Calibri"/>
              </a:rPr>
              <a:t>that</a:t>
            </a:r>
            <a:r>
              <a:rPr lang="en-US" sz="2400" spc="-60" dirty="0">
                <a:cs typeface="Calibri"/>
              </a:rPr>
              <a:t> </a:t>
            </a:r>
            <a:r>
              <a:rPr lang="en-US" sz="2400" spc="-10" dirty="0">
                <a:cs typeface="Calibri"/>
              </a:rPr>
              <a:t>there's </a:t>
            </a:r>
            <a:r>
              <a:rPr lang="en-US" sz="2400" dirty="0">
                <a:cs typeface="Calibri"/>
              </a:rPr>
              <a:t>going</a:t>
            </a:r>
            <a:r>
              <a:rPr lang="en-US" sz="2400" spc="-40" dirty="0">
                <a:cs typeface="Calibri"/>
              </a:rPr>
              <a:t> </a:t>
            </a:r>
            <a:r>
              <a:rPr lang="en-US" sz="2400" dirty="0">
                <a:cs typeface="Calibri"/>
              </a:rPr>
              <a:t>to</a:t>
            </a:r>
            <a:r>
              <a:rPr lang="en-US" sz="2400" spc="-55" dirty="0">
                <a:cs typeface="Calibri"/>
              </a:rPr>
              <a:t> </a:t>
            </a:r>
            <a:r>
              <a:rPr lang="en-US" sz="2400" dirty="0">
                <a:cs typeface="Calibri"/>
              </a:rPr>
              <a:t>be</a:t>
            </a:r>
            <a:r>
              <a:rPr lang="en-US" sz="2400" spc="-50" dirty="0">
                <a:cs typeface="Calibri"/>
              </a:rPr>
              <a:t> </a:t>
            </a:r>
            <a:r>
              <a:rPr lang="en-US" sz="2400" dirty="0">
                <a:cs typeface="Calibri"/>
              </a:rPr>
              <a:t>a</a:t>
            </a:r>
            <a:r>
              <a:rPr lang="en-US" sz="2400" spc="-60" dirty="0">
                <a:cs typeface="Calibri"/>
              </a:rPr>
              <a:t> </a:t>
            </a:r>
            <a:r>
              <a:rPr lang="en-US" sz="2400" dirty="0">
                <a:cs typeface="Calibri"/>
              </a:rPr>
              <a:t>cheese</a:t>
            </a:r>
            <a:r>
              <a:rPr lang="en-US" sz="2400" spc="-45" dirty="0">
                <a:cs typeface="Calibri"/>
              </a:rPr>
              <a:t> </a:t>
            </a:r>
            <a:r>
              <a:rPr lang="en-US" sz="2400" spc="-10" dirty="0">
                <a:cs typeface="Calibri"/>
              </a:rPr>
              <a:t>festival</a:t>
            </a:r>
            <a:r>
              <a:rPr lang="en-US" sz="2400" spc="-80" dirty="0">
                <a:cs typeface="Calibri"/>
              </a:rPr>
              <a:t> </a:t>
            </a:r>
            <a:r>
              <a:rPr lang="en-US" sz="2400" dirty="0">
                <a:cs typeface="Calibri"/>
              </a:rPr>
              <a:t>in</a:t>
            </a:r>
            <a:r>
              <a:rPr lang="en-US" sz="2400" spc="-50" dirty="0">
                <a:cs typeface="Calibri"/>
              </a:rPr>
              <a:t> </a:t>
            </a:r>
            <a:r>
              <a:rPr lang="en-US" sz="2400" dirty="0">
                <a:cs typeface="Calibri"/>
              </a:rPr>
              <a:t>your</a:t>
            </a:r>
            <a:r>
              <a:rPr lang="en-US" sz="2400" spc="-35" dirty="0">
                <a:cs typeface="Calibri"/>
              </a:rPr>
              <a:t> </a:t>
            </a:r>
            <a:r>
              <a:rPr lang="en-US" sz="2400" spc="-20" dirty="0">
                <a:cs typeface="Calibri"/>
              </a:rPr>
              <a:t>city.</a:t>
            </a:r>
            <a:r>
              <a:rPr lang="en-US" sz="2400" spc="-45" dirty="0">
                <a:cs typeface="Calibri"/>
              </a:rPr>
              <a:t> </a:t>
            </a:r>
            <a:r>
              <a:rPr lang="en-US" sz="2400" spc="-35" dirty="0">
                <a:cs typeface="Calibri"/>
              </a:rPr>
              <a:t>You </a:t>
            </a:r>
            <a:r>
              <a:rPr lang="en-US" sz="2400" dirty="0">
                <a:cs typeface="Calibri"/>
              </a:rPr>
              <a:t>like</a:t>
            </a:r>
            <a:r>
              <a:rPr lang="en-US" sz="2400" spc="-45" dirty="0">
                <a:cs typeface="Calibri"/>
              </a:rPr>
              <a:t> </a:t>
            </a:r>
            <a:r>
              <a:rPr lang="en-US" sz="2400" dirty="0">
                <a:cs typeface="Calibri"/>
              </a:rPr>
              <a:t>cheese</a:t>
            </a:r>
            <a:r>
              <a:rPr lang="en-US" sz="2400" spc="-70" dirty="0">
                <a:cs typeface="Calibri"/>
              </a:rPr>
              <a:t> </a:t>
            </a:r>
            <a:r>
              <a:rPr lang="en-US" sz="2400" dirty="0">
                <a:cs typeface="Calibri"/>
              </a:rPr>
              <a:t>and</a:t>
            </a:r>
            <a:r>
              <a:rPr lang="en-US" sz="2400" spc="-45" dirty="0">
                <a:cs typeface="Calibri"/>
              </a:rPr>
              <a:t> </a:t>
            </a:r>
            <a:r>
              <a:rPr lang="en-US" sz="2400" spc="-25" dirty="0">
                <a:cs typeface="Calibri"/>
              </a:rPr>
              <a:t>are </a:t>
            </a:r>
            <a:r>
              <a:rPr lang="en-US" sz="2400" dirty="0">
                <a:cs typeface="Calibri"/>
              </a:rPr>
              <a:t>trying</a:t>
            </a:r>
            <a:r>
              <a:rPr lang="en-US" sz="2400" spc="-30" dirty="0">
                <a:cs typeface="Calibri"/>
              </a:rPr>
              <a:t> </a:t>
            </a:r>
            <a:r>
              <a:rPr lang="en-US" sz="2400" dirty="0">
                <a:cs typeface="Calibri"/>
              </a:rPr>
              <a:t>to</a:t>
            </a:r>
            <a:r>
              <a:rPr lang="en-US" sz="2400" spc="-35" dirty="0">
                <a:cs typeface="Calibri"/>
              </a:rPr>
              <a:t> </a:t>
            </a:r>
            <a:r>
              <a:rPr lang="en-US" sz="2400" dirty="0">
                <a:cs typeface="Calibri"/>
              </a:rPr>
              <a:t>decide</a:t>
            </a:r>
            <a:r>
              <a:rPr lang="en-US" sz="2400" spc="-50" dirty="0">
                <a:cs typeface="Calibri"/>
              </a:rPr>
              <a:t> </a:t>
            </a:r>
            <a:r>
              <a:rPr lang="en-US" sz="2400" dirty="0">
                <a:cs typeface="Calibri"/>
              </a:rPr>
              <a:t>whether</a:t>
            </a:r>
            <a:r>
              <a:rPr lang="en-US" sz="2400" spc="-55" dirty="0">
                <a:cs typeface="Calibri"/>
              </a:rPr>
              <a:t> </a:t>
            </a:r>
            <a:r>
              <a:rPr lang="en-US" sz="2400" dirty="0">
                <a:cs typeface="Calibri"/>
              </a:rPr>
              <a:t>or</a:t>
            </a:r>
            <a:r>
              <a:rPr lang="en-US" sz="2400" spc="-25" dirty="0">
                <a:cs typeface="Calibri"/>
              </a:rPr>
              <a:t> </a:t>
            </a:r>
            <a:r>
              <a:rPr lang="en-US" sz="2400" dirty="0">
                <a:cs typeface="Calibri"/>
              </a:rPr>
              <a:t>not</a:t>
            </a:r>
            <a:r>
              <a:rPr lang="en-US" sz="2400" spc="-20" dirty="0">
                <a:cs typeface="Calibri"/>
              </a:rPr>
              <a:t> </a:t>
            </a:r>
            <a:r>
              <a:rPr lang="en-US" sz="2400" dirty="0">
                <a:cs typeface="Calibri"/>
              </a:rPr>
              <a:t>to</a:t>
            </a:r>
            <a:r>
              <a:rPr lang="en-US" sz="2400" spc="-35" dirty="0">
                <a:cs typeface="Calibri"/>
              </a:rPr>
              <a:t> </a:t>
            </a:r>
            <a:r>
              <a:rPr lang="en-US" sz="2400" dirty="0">
                <a:cs typeface="Calibri"/>
              </a:rPr>
              <a:t>go</a:t>
            </a:r>
            <a:r>
              <a:rPr lang="en-US" sz="2400" spc="-40" dirty="0">
                <a:cs typeface="Calibri"/>
              </a:rPr>
              <a:t> </a:t>
            </a:r>
            <a:r>
              <a:rPr lang="en-US" sz="2400" dirty="0">
                <a:cs typeface="Calibri"/>
              </a:rPr>
              <a:t>to</a:t>
            </a:r>
            <a:r>
              <a:rPr lang="en-US" sz="2400" spc="-35" dirty="0">
                <a:cs typeface="Calibri"/>
              </a:rPr>
              <a:t> </a:t>
            </a:r>
            <a:r>
              <a:rPr lang="en-US" sz="2400" dirty="0">
                <a:cs typeface="Calibri"/>
              </a:rPr>
              <a:t>the</a:t>
            </a:r>
            <a:r>
              <a:rPr lang="en-US" sz="2400" spc="-25" dirty="0">
                <a:cs typeface="Calibri"/>
              </a:rPr>
              <a:t> </a:t>
            </a:r>
            <a:r>
              <a:rPr lang="en-US" sz="2400" spc="-10" dirty="0">
                <a:cs typeface="Calibri"/>
              </a:rPr>
              <a:t>festival.</a:t>
            </a:r>
            <a:r>
              <a:rPr lang="en-US" sz="2400" spc="-55" dirty="0">
                <a:cs typeface="Calibri"/>
              </a:rPr>
              <a:t> </a:t>
            </a:r>
            <a:r>
              <a:rPr lang="en-US" sz="2400" spc="-50" dirty="0">
                <a:cs typeface="Calibri"/>
              </a:rPr>
              <a:t>You</a:t>
            </a:r>
            <a:r>
              <a:rPr lang="en-US" sz="2400" spc="-30" dirty="0">
                <a:cs typeface="Calibri"/>
              </a:rPr>
              <a:t> </a:t>
            </a:r>
            <a:r>
              <a:rPr lang="en-US" sz="2400" dirty="0">
                <a:cs typeface="Calibri"/>
              </a:rPr>
              <a:t>might</a:t>
            </a:r>
            <a:r>
              <a:rPr lang="en-US" sz="2400" spc="-40" dirty="0">
                <a:cs typeface="Calibri"/>
              </a:rPr>
              <a:t> </a:t>
            </a:r>
            <a:r>
              <a:rPr lang="en-US" sz="2400" spc="-20" dirty="0">
                <a:cs typeface="Calibri"/>
              </a:rPr>
              <a:t>make </a:t>
            </a:r>
            <a:r>
              <a:rPr lang="en-US" sz="2400" dirty="0">
                <a:cs typeface="Calibri"/>
              </a:rPr>
              <a:t>your</a:t>
            </a:r>
            <a:r>
              <a:rPr lang="en-US" sz="2400" spc="-40" dirty="0">
                <a:cs typeface="Calibri"/>
              </a:rPr>
              <a:t> </a:t>
            </a:r>
            <a:r>
              <a:rPr lang="en-US" sz="2400" dirty="0">
                <a:cs typeface="Calibri"/>
              </a:rPr>
              <a:t>decision</a:t>
            </a:r>
            <a:r>
              <a:rPr lang="en-US" sz="2400" spc="-65" dirty="0">
                <a:cs typeface="Calibri"/>
              </a:rPr>
              <a:t> </a:t>
            </a:r>
            <a:r>
              <a:rPr lang="en-US" sz="2400" dirty="0">
                <a:cs typeface="Calibri"/>
              </a:rPr>
              <a:t>by</a:t>
            </a:r>
            <a:r>
              <a:rPr lang="en-US" sz="2400" spc="-55" dirty="0">
                <a:cs typeface="Calibri"/>
              </a:rPr>
              <a:t> </a:t>
            </a:r>
            <a:r>
              <a:rPr lang="en-US" sz="2400" dirty="0">
                <a:cs typeface="Calibri"/>
              </a:rPr>
              <a:t>weighing</a:t>
            </a:r>
            <a:r>
              <a:rPr lang="en-US" sz="2400" spc="-65" dirty="0">
                <a:cs typeface="Calibri"/>
              </a:rPr>
              <a:t> </a:t>
            </a:r>
            <a:r>
              <a:rPr lang="en-US" sz="2400" dirty="0">
                <a:cs typeface="Calibri"/>
              </a:rPr>
              <a:t>up</a:t>
            </a:r>
            <a:r>
              <a:rPr lang="en-US" sz="2400" spc="-55" dirty="0">
                <a:cs typeface="Calibri"/>
              </a:rPr>
              <a:t> </a:t>
            </a:r>
            <a:r>
              <a:rPr lang="en-US" sz="2400" dirty="0">
                <a:cs typeface="Calibri"/>
              </a:rPr>
              <a:t>three</a:t>
            </a:r>
            <a:r>
              <a:rPr lang="en-US" sz="2400" spc="-65" dirty="0">
                <a:cs typeface="Calibri"/>
              </a:rPr>
              <a:t> </a:t>
            </a:r>
            <a:r>
              <a:rPr lang="en-US" sz="2400" spc="-10" dirty="0">
                <a:cs typeface="Calibri"/>
              </a:rPr>
              <a:t>factors:</a:t>
            </a:r>
            <a:endParaRPr lang="en-US" sz="2400" dirty="0">
              <a:cs typeface="Calibri"/>
            </a:endParaRPr>
          </a:p>
          <a:p>
            <a:pPr>
              <a:lnSpc>
                <a:spcPct val="100000"/>
              </a:lnSpc>
              <a:spcBef>
                <a:spcPts val="1265"/>
              </a:spcBef>
            </a:pPr>
            <a:endParaRPr lang="en-US" sz="2400" dirty="0">
              <a:cs typeface="Calibri"/>
            </a:endParaRPr>
          </a:p>
          <a:p>
            <a:pPr marL="365125" indent="-352425">
              <a:lnSpc>
                <a:spcPct val="100000"/>
              </a:lnSpc>
              <a:buAutoNum type="arabicPeriod"/>
              <a:tabLst>
                <a:tab pos="365125" algn="l"/>
              </a:tabLst>
            </a:pPr>
            <a:r>
              <a:rPr lang="en-US" sz="2400" dirty="0">
                <a:cs typeface="Calibri"/>
              </a:rPr>
              <a:t>Is</a:t>
            </a:r>
            <a:r>
              <a:rPr lang="en-US" sz="2400" spc="-35" dirty="0">
                <a:cs typeface="Calibri"/>
              </a:rPr>
              <a:t> </a:t>
            </a:r>
            <a:r>
              <a:rPr lang="en-US" sz="2400" dirty="0">
                <a:cs typeface="Calibri"/>
              </a:rPr>
              <a:t>the</a:t>
            </a:r>
            <a:r>
              <a:rPr lang="en-US" sz="2400" spc="-40" dirty="0">
                <a:cs typeface="Calibri"/>
              </a:rPr>
              <a:t> </a:t>
            </a:r>
            <a:r>
              <a:rPr lang="en-US" sz="2400" dirty="0">
                <a:cs typeface="Calibri"/>
              </a:rPr>
              <a:t>weather</a:t>
            </a:r>
            <a:r>
              <a:rPr lang="en-US" sz="2400" spc="-80" dirty="0">
                <a:cs typeface="Calibri"/>
              </a:rPr>
              <a:t> </a:t>
            </a:r>
            <a:r>
              <a:rPr lang="en-US" sz="2400" spc="-20" dirty="0">
                <a:cs typeface="Calibri"/>
              </a:rPr>
              <a:t>good?</a:t>
            </a:r>
            <a:endParaRPr lang="en-US" sz="2400" dirty="0">
              <a:cs typeface="Calibri"/>
            </a:endParaRPr>
          </a:p>
          <a:p>
            <a:pPr marL="364490" indent="-351790">
              <a:lnSpc>
                <a:spcPct val="100000"/>
              </a:lnSpc>
              <a:spcBef>
                <a:spcPts val="665"/>
              </a:spcBef>
              <a:buAutoNum type="arabicPeriod"/>
              <a:tabLst>
                <a:tab pos="364490" algn="l"/>
              </a:tabLst>
            </a:pPr>
            <a:r>
              <a:rPr lang="en-US" sz="2400" dirty="0">
                <a:cs typeface="Calibri"/>
              </a:rPr>
              <a:t>Does</a:t>
            </a:r>
            <a:r>
              <a:rPr lang="en-US" sz="2400" spc="-55" dirty="0">
                <a:cs typeface="Calibri"/>
              </a:rPr>
              <a:t> </a:t>
            </a:r>
            <a:r>
              <a:rPr lang="en-US" sz="2400" dirty="0">
                <a:cs typeface="Calibri"/>
              </a:rPr>
              <a:t>your</a:t>
            </a:r>
            <a:r>
              <a:rPr lang="en-US" sz="2400" spc="-45" dirty="0">
                <a:cs typeface="Calibri"/>
              </a:rPr>
              <a:t> </a:t>
            </a:r>
            <a:r>
              <a:rPr lang="en-US" sz="2400" dirty="0">
                <a:cs typeface="Calibri"/>
              </a:rPr>
              <a:t>boyfriend</a:t>
            </a:r>
            <a:r>
              <a:rPr lang="en-US" sz="2400" spc="-100" dirty="0">
                <a:cs typeface="Calibri"/>
              </a:rPr>
              <a:t> </a:t>
            </a:r>
            <a:r>
              <a:rPr lang="en-US" sz="2400" dirty="0">
                <a:cs typeface="Calibri"/>
              </a:rPr>
              <a:t>or</a:t>
            </a:r>
            <a:r>
              <a:rPr lang="en-US" sz="2400" spc="-50" dirty="0">
                <a:cs typeface="Calibri"/>
              </a:rPr>
              <a:t> </a:t>
            </a:r>
            <a:r>
              <a:rPr lang="en-US" sz="2400" dirty="0">
                <a:cs typeface="Calibri"/>
              </a:rPr>
              <a:t>girlfriend</a:t>
            </a:r>
            <a:r>
              <a:rPr lang="en-US" sz="2400" spc="-95" dirty="0">
                <a:cs typeface="Calibri"/>
              </a:rPr>
              <a:t> </a:t>
            </a:r>
            <a:r>
              <a:rPr lang="en-US" sz="2400" dirty="0">
                <a:cs typeface="Calibri"/>
              </a:rPr>
              <a:t>want</a:t>
            </a:r>
            <a:r>
              <a:rPr lang="en-US" sz="2400" spc="-45" dirty="0">
                <a:cs typeface="Calibri"/>
              </a:rPr>
              <a:t> </a:t>
            </a:r>
            <a:r>
              <a:rPr lang="en-US" sz="2400" dirty="0">
                <a:cs typeface="Calibri"/>
              </a:rPr>
              <a:t>to</a:t>
            </a:r>
            <a:r>
              <a:rPr lang="en-US" sz="2400" spc="-55" dirty="0">
                <a:cs typeface="Calibri"/>
              </a:rPr>
              <a:t> </a:t>
            </a:r>
            <a:r>
              <a:rPr lang="en-US" sz="2400" spc="-10" dirty="0">
                <a:cs typeface="Calibri"/>
              </a:rPr>
              <a:t>accompany</a:t>
            </a:r>
            <a:r>
              <a:rPr lang="en-US" sz="2400" spc="-60" dirty="0">
                <a:cs typeface="Calibri"/>
              </a:rPr>
              <a:t> </a:t>
            </a:r>
            <a:r>
              <a:rPr lang="en-US" sz="2400" spc="-20" dirty="0">
                <a:cs typeface="Calibri"/>
              </a:rPr>
              <a:t>you?</a:t>
            </a:r>
            <a:endParaRPr lang="en-US" sz="2400" dirty="0">
              <a:cs typeface="Calibri"/>
            </a:endParaRPr>
          </a:p>
          <a:p>
            <a:pPr marL="365125" indent="-352425">
              <a:lnSpc>
                <a:spcPct val="100000"/>
              </a:lnSpc>
              <a:spcBef>
                <a:spcPts val="680"/>
              </a:spcBef>
              <a:buAutoNum type="arabicPeriod"/>
              <a:tabLst>
                <a:tab pos="365125" algn="l"/>
              </a:tabLst>
            </a:pPr>
            <a:r>
              <a:rPr lang="en-US" sz="2400" dirty="0">
                <a:cs typeface="Calibri"/>
              </a:rPr>
              <a:t>Is</a:t>
            </a:r>
            <a:r>
              <a:rPr lang="en-US" sz="2400" spc="-45" dirty="0">
                <a:cs typeface="Calibri"/>
              </a:rPr>
              <a:t> </a:t>
            </a:r>
            <a:r>
              <a:rPr lang="en-US" sz="2400" dirty="0">
                <a:cs typeface="Calibri"/>
              </a:rPr>
              <a:t>the</a:t>
            </a:r>
            <a:r>
              <a:rPr lang="en-US" sz="2400" spc="-55" dirty="0">
                <a:cs typeface="Calibri"/>
              </a:rPr>
              <a:t> </a:t>
            </a:r>
            <a:r>
              <a:rPr lang="en-US" sz="2400" spc="-10" dirty="0">
                <a:cs typeface="Calibri"/>
              </a:rPr>
              <a:t>festival</a:t>
            </a:r>
            <a:r>
              <a:rPr lang="en-US" sz="2400" spc="-85" dirty="0">
                <a:cs typeface="Calibri"/>
              </a:rPr>
              <a:t> </a:t>
            </a:r>
            <a:r>
              <a:rPr lang="en-US" sz="2400" dirty="0">
                <a:cs typeface="Calibri"/>
              </a:rPr>
              <a:t>near</a:t>
            </a:r>
            <a:r>
              <a:rPr lang="en-US" sz="2400" spc="-70" dirty="0">
                <a:cs typeface="Calibri"/>
              </a:rPr>
              <a:t> </a:t>
            </a:r>
            <a:r>
              <a:rPr lang="en-US" sz="2400" dirty="0">
                <a:cs typeface="Calibri"/>
              </a:rPr>
              <a:t>public</a:t>
            </a:r>
            <a:r>
              <a:rPr lang="en-US" sz="2400" spc="-45" dirty="0">
                <a:cs typeface="Calibri"/>
              </a:rPr>
              <a:t> </a:t>
            </a:r>
            <a:r>
              <a:rPr lang="en-US" sz="2400" dirty="0">
                <a:cs typeface="Calibri"/>
              </a:rPr>
              <a:t>transit?</a:t>
            </a:r>
            <a:r>
              <a:rPr lang="en-US" sz="2400" spc="-60" dirty="0">
                <a:cs typeface="Calibri"/>
              </a:rPr>
              <a:t> </a:t>
            </a:r>
            <a:r>
              <a:rPr lang="en-US" sz="2400" spc="-30" dirty="0">
                <a:cs typeface="Calibri"/>
              </a:rPr>
              <a:t>(You</a:t>
            </a:r>
            <a:r>
              <a:rPr lang="en-US" sz="2400" spc="-55" dirty="0">
                <a:cs typeface="Calibri"/>
              </a:rPr>
              <a:t> </a:t>
            </a:r>
            <a:r>
              <a:rPr lang="en-US" sz="2400" dirty="0">
                <a:cs typeface="Calibri"/>
              </a:rPr>
              <a:t>don't</a:t>
            </a:r>
            <a:r>
              <a:rPr lang="en-US" sz="2400" spc="-55" dirty="0">
                <a:cs typeface="Calibri"/>
              </a:rPr>
              <a:t> </a:t>
            </a:r>
            <a:r>
              <a:rPr lang="en-US" sz="2400" dirty="0">
                <a:cs typeface="Calibri"/>
              </a:rPr>
              <a:t>own</a:t>
            </a:r>
            <a:r>
              <a:rPr lang="en-US" sz="2400" spc="-40" dirty="0">
                <a:cs typeface="Calibri"/>
              </a:rPr>
              <a:t> </a:t>
            </a:r>
            <a:r>
              <a:rPr lang="en-US" sz="2400" dirty="0">
                <a:cs typeface="Calibri"/>
              </a:rPr>
              <a:t>a</a:t>
            </a:r>
            <a:r>
              <a:rPr lang="en-US" sz="2400" spc="-65" dirty="0">
                <a:cs typeface="Calibri"/>
              </a:rPr>
              <a:t> </a:t>
            </a:r>
            <a:r>
              <a:rPr lang="en-US" sz="2400" spc="-10" dirty="0">
                <a:cs typeface="Calibri"/>
              </a:rPr>
              <a:t>car).</a:t>
            </a:r>
            <a:endParaRPr lang="en-US" sz="2400" dirty="0">
              <a:cs typeface="Calibri"/>
            </a:endParaRPr>
          </a:p>
        </p:txBody>
      </p:sp>
    </p:spTree>
    <p:extLst>
      <p:ext uri="{BB962C8B-B14F-4D97-AF65-F5344CB8AC3E}">
        <p14:creationId xmlns:p14="http://schemas.microsoft.com/office/powerpoint/2010/main" val="1184572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C431-642A-81BF-9E08-F742C819F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79593-03A8-FCBC-A39B-00A8941F4E4E}"/>
              </a:ext>
            </a:extLst>
          </p:cNvPr>
          <p:cNvSpPr>
            <a:spLocks noGrp="1"/>
          </p:cNvSpPr>
          <p:nvPr>
            <p:ph type="title"/>
          </p:nvPr>
        </p:nvSpPr>
        <p:spPr>
          <a:xfrm>
            <a:off x="629500" y="277838"/>
            <a:ext cx="9097686" cy="1068223"/>
          </a:xfrm>
        </p:spPr>
        <p:txBody>
          <a:bodyPr/>
          <a:lstStyle/>
          <a:p>
            <a:r>
              <a:rPr lang="en-GB" spc="-25" dirty="0"/>
              <a:t>Perceptron</a:t>
            </a:r>
            <a:r>
              <a:rPr lang="en-GB" spc="-160" dirty="0"/>
              <a:t> </a:t>
            </a:r>
            <a:r>
              <a:rPr lang="en-GB" spc="-10" dirty="0"/>
              <a:t>Example</a:t>
            </a:r>
            <a:endParaRPr lang="en-US" dirty="0">
              <a:solidFill>
                <a:srgbClr val="942D6D"/>
              </a:solidFill>
            </a:endParaRPr>
          </a:p>
        </p:txBody>
      </p:sp>
      <p:cxnSp>
        <p:nvCxnSpPr>
          <p:cNvPr id="4" name="Straight Connector 3">
            <a:extLst>
              <a:ext uri="{FF2B5EF4-FFF2-40B4-BE49-F238E27FC236}">
                <a16:creationId xmlns:a16="http://schemas.microsoft.com/office/drawing/2014/main" id="{0569D21C-1F3F-AF9B-81A6-F910DFE078C4}"/>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B40C2985-2EA1-DB0A-8FA1-28A63B9ACB12}"/>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FF7425D0-D6EA-566C-EB54-EE261C8CBEA5}"/>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Text Placeholder 2">
            <a:extLst>
              <a:ext uri="{FF2B5EF4-FFF2-40B4-BE49-F238E27FC236}">
                <a16:creationId xmlns:a16="http://schemas.microsoft.com/office/drawing/2014/main" id="{2F4774A9-41C5-C6FF-0DCD-5697509A9D5F}"/>
              </a:ext>
            </a:extLst>
          </p:cNvPr>
          <p:cNvSpPr>
            <a:spLocks noGrp="1"/>
          </p:cNvSpPr>
          <p:nvPr>
            <p:ph type="body" sz="quarter" idx="10"/>
          </p:nvPr>
        </p:nvSpPr>
        <p:spPr>
          <a:xfrm>
            <a:off x="486221" y="1673860"/>
            <a:ext cx="10994852" cy="4473724"/>
          </a:xfrm>
        </p:spPr>
        <p:txBody>
          <a:bodyPr/>
          <a:lstStyle/>
          <a:p>
            <a:pPr marL="279400" marR="43180">
              <a:spcBef>
                <a:spcPts val="434"/>
              </a:spcBef>
              <a:buFont typeface="Arial"/>
              <a:buChar char="•"/>
              <a:tabLst>
                <a:tab pos="279400" algn="l"/>
              </a:tabLst>
            </a:pPr>
            <a:r>
              <a:rPr lang="en-US" sz="2400" dirty="0">
                <a:cs typeface="Calibri"/>
              </a:rPr>
              <a:t>We</a:t>
            </a:r>
            <a:r>
              <a:rPr lang="en-US" sz="2400" spc="-80" dirty="0">
                <a:cs typeface="Calibri"/>
              </a:rPr>
              <a:t> </a:t>
            </a:r>
            <a:r>
              <a:rPr lang="en-US" sz="2400" dirty="0">
                <a:cs typeface="Calibri"/>
              </a:rPr>
              <a:t>can</a:t>
            </a:r>
            <a:r>
              <a:rPr lang="en-US" sz="2400" spc="-95" dirty="0">
                <a:cs typeface="Calibri"/>
              </a:rPr>
              <a:t> </a:t>
            </a:r>
            <a:r>
              <a:rPr lang="en-US" sz="2400" dirty="0">
                <a:cs typeface="Calibri"/>
              </a:rPr>
              <a:t>represent</a:t>
            </a:r>
            <a:r>
              <a:rPr lang="en-US" sz="2400" spc="-130" dirty="0">
                <a:cs typeface="Calibri"/>
              </a:rPr>
              <a:t> </a:t>
            </a:r>
            <a:r>
              <a:rPr lang="en-US" sz="2400" dirty="0">
                <a:cs typeface="Calibri"/>
              </a:rPr>
              <a:t>these</a:t>
            </a:r>
            <a:r>
              <a:rPr lang="en-US" sz="2400" spc="-105" dirty="0">
                <a:cs typeface="Calibri"/>
              </a:rPr>
              <a:t> </a:t>
            </a:r>
            <a:r>
              <a:rPr lang="en-US" sz="2400" dirty="0">
                <a:cs typeface="Calibri"/>
              </a:rPr>
              <a:t>three</a:t>
            </a:r>
            <a:r>
              <a:rPr lang="en-US" sz="2400" spc="-80" dirty="0">
                <a:cs typeface="Calibri"/>
              </a:rPr>
              <a:t> </a:t>
            </a:r>
            <a:r>
              <a:rPr lang="en-US" sz="2400" dirty="0">
                <a:cs typeface="Calibri"/>
              </a:rPr>
              <a:t>factors</a:t>
            </a:r>
            <a:r>
              <a:rPr lang="en-US" sz="2400" spc="-105" dirty="0">
                <a:cs typeface="Calibri"/>
              </a:rPr>
              <a:t> </a:t>
            </a:r>
            <a:r>
              <a:rPr lang="en-US" sz="2400" dirty="0">
                <a:cs typeface="Calibri"/>
              </a:rPr>
              <a:t>by</a:t>
            </a:r>
            <a:r>
              <a:rPr lang="en-US" sz="2400" spc="-85" dirty="0">
                <a:cs typeface="Calibri"/>
              </a:rPr>
              <a:t> </a:t>
            </a:r>
            <a:r>
              <a:rPr lang="en-US" sz="2400" dirty="0">
                <a:cs typeface="Calibri"/>
              </a:rPr>
              <a:t>corresponding</a:t>
            </a:r>
            <a:r>
              <a:rPr lang="en-US" sz="2400" spc="-120" dirty="0">
                <a:cs typeface="Calibri"/>
              </a:rPr>
              <a:t> </a:t>
            </a:r>
            <a:r>
              <a:rPr lang="en-US" sz="2400" spc="-10" dirty="0">
                <a:cs typeface="Calibri"/>
              </a:rPr>
              <a:t>binary </a:t>
            </a:r>
            <a:r>
              <a:rPr lang="en-US" sz="2400" dirty="0">
                <a:cs typeface="Calibri"/>
              </a:rPr>
              <a:t>variables</a:t>
            </a:r>
            <a:r>
              <a:rPr lang="en-US" sz="2400" spc="-50" dirty="0">
                <a:cs typeface="Calibri"/>
              </a:rPr>
              <a:t> </a:t>
            </a:r>
            <a:r>
              <a:rPr lang="en-US" sz="2400" dirty="0">
                <a:latin typeface="Cambria Math"/>
                <a:cs typeface="Cambria Math"/>
              </a:rPr>
              <a:t>𝑥</a:t>
            </a:r>
            <a:r>
              <a:rPr lang="en-US" baseline="-16260" dirty="0">
                <a:latin typeface="Cambria Math"/>
                <a:cs typeface="Cambria Math"/>
              </a:rPr>
              <a:t>1</a:t>
            </a:r>
            <a:r>
              <a:rPr lang="en-US" sz="2400" dirty="0">
                <a:cs typeface="Calibri"/>
              </a:rPr>
              <a:t>,</a:t>
            </a:r>
            <a:r>
              <a:rPr lang="en-US" sz="2400" spc="-25" dirty="0">
                <a:cs typeface="Calibri"/>
              </a:rPr>
              <a:t> </a:t>
            </a:r>
            <a:r>
              <a:rPr lang="en-US" sz="2400" dirty="0">
                <a:latin typeface="Cambria Math"/>
                <a:cs typeface="Cambria Math"/>
              </a:rPr>
              <a:t>𝑥</a:t>
            </a:r>
            <a:r>
              <a:rPr lang="en-US" baseline="-16260" dirty="0">
                <a:latin typeface="Cambria Math"/>
                <a:cs typeface="Cambria Math"/>
              </a:rPr>
              <a:t>2</a:t>
            </a:r>
            <a:r>
              <a:rPr lang="en-US" spc="382" baseline="-16260" dirty="0">
                <a:latin typeface="Cambria Math"/>
                <a:cs typeface="Cambria Math"/>
              </a:rPr>
              <a:t> </a:t>
            </a:r>
            <a:r>
              <a:rPr lang="en-US" sz="2400" dirty="0">
                <a:cs typeface="Calibri"/>
              </a:rPr>
              <a:t>and</a:t>
            </a:r>
            <a:r>
              <a:rPr lang="en-US" sz="2400" spc="-25" dirty="0">
                <a:cs typeface="Calibri"/>
              </a:rPr>
              <a:t> </a:t>
            </a:r>
            <a:r>
              <a:rPr lang="en-US" sz="2400" dirty="0">
                <a:latin typeface="Cambria Math"/>
                <a:cs typeface="Cambria Math"/>
              </a:rPr>
              <a:t>𝑥</a:t>
            </a:r>
            <a:r>
              <a:rPr lang="en-US" baseline="-16260" dirty="0">
                <a:latin typeface="Cambria Math"/>
                <a:cs typeface="Cambria Math"/>
              </a:rPr>
              <a:t>3</a:t>
            </a:r>
            <a:r>
              <a:rPr lang="en-US" spc="382" baseline="-16260" dirty="0">
                <a:latin typeface="Cambria Math"/>
                <a:cs typeface="Cambria Math"/>
              </a:rPr>
              <a:t> </a:t>
            </a:r>
            <a:r>
              <a:rPr lang="en-US" sz="2400" dirty="0">
                <a:cs typeface="Calibri"/>
              </a:rPr>
              <a:t>.</a:t>
            </a:r>
            <a:r>
              <a:rPr lang="en-US" sz="2400" spc="-15" dirty="0">
                <a:cs typeface="Calibri"/>
              </a:rPr>
              <a:t> </a:t>
            </a:r>
            <a:r>
              <a:rPr lang="en-US" sz="2400" dirty="0">
                <a:cs typeface="Calibri"/>
              </a:rPr>
              <a:t>For</a:t>
            </a:r>
            <a:r>
              <a:rPr lang="en-US" sz="2400" spc="-25" dirty="0">
                <a:cs typeface="Calibri"/>
              </a:rPr>
              <a:t> </a:t>
            </a:r>
            <a:r>
              <a:rPr lang="en-US" sz="2400" dirty="0">
                <a:cs typeface="Calibri"/>
              </a:rPr>
              <a:t>instance,</a:t>
            </a:r>
            <a:r>
              <a:rPr lang="en-US" sz="2400" spc="-40" dirty="0">
                <a:cs typeface="Calibri"/>
              </a:rPr>
              <a:t> </a:t>
            </a:r>
            <a:r>
              <a:rPr lang="en-US" sz="2400" dirty="0">
                <a:cs typeface="Calibri"/>
              </a:rPr>
              <a:t>we'd</a:t>
            </a:r>
            <a:r>
              <a:rPr lang="en-US" sz="2400" spc="-50" dirty="0">
                <a:cs typeface="Calibri"/>
              </a:rPr>
              <a:t> </a:t>
            </a:r>
            <a:r>
              <a:rPr lang="en-US" sz="2400" dirty="0">
                <a:cs typeface="Calibri"/>
              </a:rPr>
              <a:t>have</a:t>
            </a:r>
            <a:r>
              <a:rPr lang="en-US" sz="2400" spc="-25" dirty="0">
                <a:cs typeface="Calibri"/>
              </a:rPr>
              <a:t> </a:t>
            </a:r>
            <a:r>
              <a:rPr lang="en-US" sz="2400" dirty="0">
                <a:latin typeface="Cambria Math"/>
                <a:cs typeface="Cambria Math"/>
              </a:rPr>
              <a:t>𝑥</a:t>
            </a:r>
            <a:r>
              <a:rPr lang="en-US" baseline="-16260" dirty="0">
                <a:latin typeface="Cambria Math"/>
                <a:cs typeface="Cambria Math"/>
              </a:rPr>
              <a:t>1</a:t>
            </a:r>
            <a:r>
              <a:rPr lang="en-US" spc="352" baseline="-16260" dirty="0">
                <a:latin typeface="Cambria Math"/>
                <a:cs typeface="Cambria Math"/>
              </a:rPr>
              <a:t> </a:t>
            </a:r>
            <a:r>
              <a:rPr lang="en-US" sz="2400" dirty="0">
                <a:cs typeface="Calibri"/>
              </a:rPr>
              <a:t>=1</a:t>
            </a:r>
            <a:r>
              <a:rPr lang="en-US" sz="2400" spc="-25" dirty="0">
                <a:cs typeface="Calibri"/>
              </a:rPr>
              <a:t> </a:t>
            </a:r>
            <a:r>
              <a:rPr lang="en-US" sz="2400" dirty="0">
                <a:cs typeface="Calibri"/>
              </a:rPr>
              <a:t>if</a:t>
            </a:r>
            <a:r>
              <a:rPr lang="en-US" sz="2400" spc="-40" dirty="0">
                <a:cs typeface="Calibri"/>
              </a:rPr>
              <a:t> </a:t>
            </a:r>
            <a:r>
              <a:rPr lang="en-US" sz="2400" dirty="0">
                <a:cs typeface="Calibri"/>
              </a:rPr>
              <a:t>the</a:t>
            </a:r>
            <a:r>
              <a:rPr lang="en-US" sz="2400" spc="-40" dirty="0">
                <a:cs typeface="Calibri"/>
              </a:rPr>
              <a:t> </a:t>
            </a:r>
            <a:r>
              <a:rPr lang="en-US" sz="2400" spc="-10" dirty="0">
                <a:cs typeface="Calibri"/>
              </a:rPr>
              <a:t>weather </a:t>
            </a:r>
            <a:r>
              <a:rPr lang="en-US" sz="2400" dirty="0">
                <a:cs typeface="Calibri"/>
              </a:rPr>
              <a:t>is</a:t>
            </a:r>
            <a:r>
              <a:rPr lang="en-US" sz="2400" spc="-40" dirty="0">
                <a:cs typeface="Calibri"/>
              </a:rPr>
              <a:t> </a:t>
            </a:r>
            <a:r>
              <a:rPr lang="en-US" sz="2400" dirty="0">
                <a:cs typeface="Calibri"/>
              </a:rPr>
              <a:t>good,</a:t>
            </a:r>
            <a:r>
              <a:rPr lang="en-US" sz="2400" spc="-40" dirty="0">
                <a:cs typeface="Calibri"/>
              </a:rPr>
              <a:t> </a:t>
            </a:r>
            <a:r>
              <a:rPr lang="en-US" sz="2400" dirty="0">
                <a:cs typeface="Calibri"/>
              </a:rPr>
              <a:t>and</a:t>
            </a:r>
            <a:r>
              <a:rPr lang="en-US" sz="2400" spc="-15" dirty="0">
                <a:cs typeface="Calibri"/>
              </a:rPr>
              <a:t> </a:t>
            </a:r>
            <a:r>
              <a:rPr lang="en-US" sz="2400" dirty="0">
                <a:latin typeface="Cambria Math"/>
                <a:cs typeface="Cambria Math"/>
              </a:rPr>
              <a:t>𝑥</a:t>
            </a:r>
            <a:r>
              <a:rPr lang="en-US" baseline="-16260" dirty="0">
                <a:latin typeface="Cambria Math"/>
                <a:cs typeface="Cambria Math"/>
              </a:rPr>
              <a:t>1</a:t>
            </a:r>
            <a:r>
              <a:rPr lang="en-US" spc="359" baseline="-16260" dirty="0">
                <a:latin typeface="Cambria Math"/>
                <a:cs typeface="Cambria Math"/>
              </a:rPr>
              <a:t> </a:t>
            </a:r>
            <a:r>
              <a:rPr lang="en-US" sz="2400" dirty="0">
                <a:cs typeface="Calibri"/>
              </a:rPr>
              <a:t>=0</a:t>
            </a:r>
            <a:r>
              <a:rPr lang="en-US" sz="2400" spc="-20" dirty="0">
                <a:cs typeface="Calibri"/>
              </a:rPr>
              <a:t> </a:t>
            </a:r>
            <a:r>
              <a:rPr lang="en-US" sz="2400" dirty="0">
                <a:cs typeface="Calibri"/>
              </a:rPr>
              <a:t>if</a:t>
            </a:r>
            <a:r>
              <a:rPr lang="en-US" sz="2400" spc="-40" dirty="0">
                <a:cs typeface="Calibri"/>
              </a:rPr>
              <a:t> </a:t>
            </a:r>
            <a:r>
              <a:rPr lang="en-US" sz="2400" dirty="0">
                <a:cs typeface="Calibri"/>
              </a:rPr>
              <a:t>the</a:t>
            </a:r>
            <a:r>
              <a:rPr lang="en-US" sz="2400" spc="-25" dirty="0">
                <a:cs typeface="Calibri"/>
              </a:rPr>
              <a:t> </a:t>
            </a:r>
            <a:r>
              <a:rPr lang="en-US" sz="2400" dirty="0">
                <a:cs typeface="Calibri"/>
              </a:rPr>
              <a:t>weather</a:t>
            </a:r>
            <a:r>
              <a:rPr lang="en-US" sz="2400" spc="-70" dirty="0">
                <a:cs typeface="Calibri"/>
              </a:rPr>
              <a:t> </a:t>
            </a:r>
            <a:r>
              <a:rPr lang="en-US" sz="2400" dirty="0">
                <a:cs typeface="Calibri"/>
              </a:rPr>
              <a:t>is</a:t>
            </a:r>
            <a:r>
              <a:rPr lang="en-US" sz="2400" spc="-30" dirty="0">
                <a:cs typeface="Calibri"/>
              </a:rPr>
              <a:t> </a:t>
            </a:r>
            <a:r>
              <a:rPr lang="en-US" sz="2400" dirty="0">
                <a:cs typeface="Calibri"/>
              </a:rPr>
              <a:t>bad.</a:t>
            </a:r>
            <a:r>
              <a:rPr lang="en-US" sz="2400" spc="-30" dirty="0">
                <a:cs typeface="Calibri"/>
              </a:rPr>
              <a:t> </a:t>
            </a:r>
            <a:r>
              <a:rPr lang="en-US" sz="2400" spc="-10" dirty="0">
                <a:cs typeface="Calibri"/>
              </a:rPr>
              <a:t>Similarly, </a:t>
            </a:r>
            <a:r>
              <a:rPr lang="en-US" sz="2400" dirty="0">
                <a:latin typeface="Cambria Math"/>
                <a:cs typeface="Cambria Math"/>
              </a:rPr>
              <a:t>𝑥</a:t>
            </a:r>
            <a:r>
              <a:rPr lang="en-US" baseline="-16260" dirty="0">
                <a:latin typeface="Cambria Math"/>
                <a:cs typeface="Cambria Math"/>
              </a:rPr>
              <a:t>2</a:t>
            </a:r>
            <a:r>
              <a:rPr lang="en-US" sz="2400" dirty="0">
                <a:cs typeface="Calibri"/>
              </a:rPr>
              <a:t>=1 if</a:t>
            </a:r>
            <a:r>
              <a:rPr lang="en-US" sz="2400" spc="-35" dirty="0">
                <a:cs typeface="Calibri"/>
              </a:rPr>
              <a:t> </a:t>
            </a:r>
            <a:r>
              <a:rPr lang="en-US" sz="2400" spc="-20" dirty="0">
                <a:cs typeface="Calibri"/>
              </a:rPr>
              <a:t>your </a:t>
            </a:r>
            <a:r>
              <a:rPr lang="en-US" sz="2400" dirty="0">
                <a:cs typeface="Calibri"/>
              </a:rPr>
              <a:t>boyfriend</a:t>
            </a:r>
            <a:r>
              <a:rPr lang="en-US" sz="2400" spc="-80" dirty="0">
                <a:cs typeface="Calibri"/>
              </a:rPr>
              <a:t> </a:t>
            </a:r>
            <a:r>
              <a:rPr lang="en-US" sz="2400" dirty="0">
                <a:cs typeface="Calibri"/>
              </a:rPr>
              <a:t>or</a:t>
            </a:r>
            <a:r>
              <a:rPr lang="en-US" sz="2400" spc="-20" dirty="0">
                <a:cs typeface="Calibri"/>
              </a:rPr>
              <a:t> </a:t>
            </a:r>
            <a:r>
              <a:rPr lang="en-US" sz="2400" dirty="0">
                <a:cs typeface="Calibri"/>
              </a:rPr>
              <a:t>girlfriend</a:t>
            </a:r>
            <a:r>
              <a:rPr lang="en-US" sz="2400" spc="-80" dirty="0">
                <a:cs typeface="Calibri"/>
              </a:rPr>
              <a:t> </a:t>
            </a:r>
            <a:r>
              <a:rPr lang="en-US" sz="2400" dirty="0">
                <a:cs typeface="Calibri"/>
              </a:rPr>
              <a:t>wants</a:t>
            </a:r>
            <a:r>
              <a:rPr lang="en-US" sz="2400" spc="-30" dirty="0">
                <a:cs typeface="Calibri"/>
              </a:rPr>
              <a:t> </a:t>
            </a:r>
            <a:r>
              <a:rPr lang="en-US" sz="2400" dirty="0">
                <a:cs typeface="Calibri"/>
              </a:rPr>
              <a:t>to</a:t>
            </a:r>
            <a:r>
              <a:rPr lang="en-US" sz="2400" spc="-40" dirty="0">
                <a:cs typeface="Calibri"/>
              </a:rPr>
              <a:t> </a:t>
            </a:r>
            <a:r>
              <a:rPr lang="en-US" sz="2400" dirty="0">
                <a:cs typeface="Calibri"/>
              </a:rPr>
              <a:t>go,</a:t>
            </a:r>
            <a:r>
              <a:rPr lang="en-US" sz="2400" spc="-30" dirty="0">
                <a:cs typeface="Calibri"/>
              </a:rPr>
              <a:t> </a:t>
            </a:r>
            <a:r>
              <a:rPr lang="en-US" sz="2400" dirty="0">
                <a:cs typeface="Calibri"/>
              </a:rPr>
              <a:t>and</a:t>
            </a:r>
            <a:r>
              <a:rPr lang="en-US" sz="2400" spc="10" dirty="0">
                <a:cs typeface="Calibri"/>
              </a:rPr>
              <a:t> </a:t>
            </a:r>
            <a:r>
              <a:rPr lang="en-US" sz="2400" dirty="0">
                <a:latin typeface="Cambria Math"/>
                <a:cs typeface="Cambria Math"/>
              </a:rPr>
              <a:t>𝑥</a:t>
            </a:r>
            <a:r>
              <a:rPr lang="en-US" baseline="-16260" dirty="0">
                <a:latin typeface="Cambria Math"/>
                <a:cs typeface="Cambria Math"/>
              </a:rPr>
              <a:t>2</a:t>
            </a:r>
            <a:r>
              <a:rPr lang="en-US" sz="2400" dirty="0">
                <a:cs typeface="Calibri"/>
              </a:rPr>
              <a:t>=0 if</a:t>
            </a:r>
            <a:r>
              <a:rPr lang="en-US" sz="2400" spc="-45" dirty="0">
                <a:cs typeface="Calibri"/>
              </a:rPr>
              <a:t> </a:t>
            </a:r>
            <a:r>
              <a:rPr lang="en-US" sz="2400" dirty="0">
                <a:cs typeface="Calibri"/>
              </a:rPr>
              <a:t>not.</a:t>
            </a:r>
            <a:r>
              <a:rPr lang="en-US" sz="2400" spc="-35" dirty="0">
                <a:cs typeface="Calibri"/>
              </a:rPr>
              <a:t> </a:t>
            </a:r>
            <a:r>
              <a:rPr lang="en-US" sz="2400" dirty="0">
                <a:cs typeface="Calibri"/>
              </a:rPr>
              <a:t>And</a:t>
            </a:r>
            <a:r>
              <a:rPr lang="en-US" sz="2400" spc="-40" dirty="0">
                <a:cs typeface="Calibri"/>
              </a:rPr>
              <a:t> </a:t>
            </a:r>
            <a:r>
              <a:rPr lang="en-US" sz="2400" spc="-10" dirty="0">
                <a:cs typeface="Calibri"/>
              </a:rPr>
              <a:t>similarly, </a:t>
            </a:r>
            <a:r>
              <a:rPr lang="en-US" sz="2400" dirty="0">
                <a:cs typeface="Calibri"/>
              </a:rPr>
              <a:t>again</a:t>
            </a:r>
            <a:r>
              <a:rPr lang="en-US" sz="2400" spc="-55" dirty="0">
                <a:cs typeface="Calibri"/>
              </a:rPr>
              <a:t> </a:t>
            </a:r>
            <a:r>
              <a:rPr lang="en-US" sz="2400" dirty="0">
                <a:cs typeface="Calibri"/>
              </a:rPr>
              <a:t>for</a:t>
            </a:r>
            <a:r>
              <a:rPr lang="en-US" sz="2400" spc="-40" dirty="0">
                <a:cs typeface="Calibri"/>
              </a:rPr>
              <a:t> </a:t>
            </a:r>
            <a:r>
              <a:rPr lang="en-US" sz="2400" dirty="0">
                <a:latin typeface="Cambria Math"/>
                <a:cs typeface="Cambria Math"/>
              </a:rPr>
              <a:t>𝑥</a:t>
            </a:r>
            <a:r>
              <a:rPr lang="en-US" baseline="-16260" dirty="0">
                <a:latin typeface="Cambria Math"/>
                <a:cs typeface="Cambria Math"/>
              </a:rPr>
              <a:t>3</a:t>
            </a:r>
            <a:r>
              <a:rPr lang="en-US" spc="367" baseline="-16260" dirty="0">
                <a:latin typeface="Cambria Math"/>
                <a:cs typeface="Cambria Math"/>
              </a:rPr>
              <a:t> </a:t>
            </a:r>
            <a:r>
              <a:rPr lang="en-US" sz="2400" dirty="0">
                <a:cs typeface="Calibri"/>
              </a:rPr>
              <a:t>and</a:t>
            </a:r>
            <a:r>
              <a:rPr lang="en-US" sz="2400" spc="-45" dirty="0">
                <a:cs typeface="Calibri"/>
              </a:rPr>
              <a:t> </a:t>
            </a:r>
            <a:r>
              <a:rPr lang="en-US" sz="2400" dirty="0">
                <a:cs typeface="Calibri"/>
              </a:rPr>
              <a:t>public</a:t>
            </a:r>
            <a:r>
              <a:rPr lang="en-US" sz="2400" spc="-40" dirty="0">
                <a:cs typeface="Calibri"/>
              </a:rPr>
              <a:t> </a:t>
            </a:r>
            <a:r>
              <a:rPr lang="en-US" sz="2400" spc="-10" dirty="0">
                <a:cs typeface="Calibri"/>
              </a:rPr>
              <a:t>transit.</a:t>
            </a:r>
            <a:endParaRPr lang="en-US" sz="2400" dirty="0">
              <a:cs typeface="Calibri"/>
            </a:endParaRPr>
          </a:p>
          <a:p>
            <a:pPr>
              <a:lnSpc>
                <a:spcPct val="100000"/>
              </a:lnSpc>
              <a:spcBef>
                <a:spcPts val="1595"/>
              </a:spcBef>
              <a:buFont typeface="Arial"/>
              <a:buChar char="•"/>
            </a:pPr>
            <a:endParaRPr lang="en-US" sz="2400" dirty="0">
              <a:cs typeface="Calibri"/>
            </a:endParaRPr>
          </a:p>
          <a:p>
            <a:pPr marL="279400" marR="297815">
              <a:lnSpc>
                <a:spcPct val="90200"/>
              </a:lnSpc>
              <a:buFont typeface="Arial"/>
              <a:buChar char="•"/>
              <a:tabLst>
                <a:tab pos="279400" algn="l"/>
              </a:tabLst>
            </a:pPr>
            <a:r>
              <a:rPr lang="en-US" sz="2400" spc="-45" dirty="0">
                <a:cs typeface="Calibri"/>
              </a:rPr>
              <a:t>Now, </a:t>
            </a:r>
            <a:r>
              <a:rPr lang="en-US" sz="2400" dirty="0">
                <a:cs typeface="Calibri"/>
              </a:rPr>
              <a:t>suppose</a:t>
            </a:r>
            <a:r>
              <a:rPr lang="en-US" sz="2400" spc="-95" dirty="0">
                <a:cs typeface="Calibri"/>
              </a:rPr>
              <a:t> </a:t>
            </a:r>
            <a:r>
              <a:rPr lang="en-US" sz="2400" dirty="0">
                <a:cs typeface="Calibri"/>
              </a:rPr>
              <a:t>you</a:t>
            </a:r>
            <a:r>
              <a:rPr lang="en-US" sz="2400" spc="-60" dirty="0">
                <a:cs typeface="Calibri"/>
              </a:rPr>
              <a:t> </a:t>
            </a:r>
            <a:r>
              <a:rPr lang="en-US" sz="2400" dirty="0">
                <a:cs typeface="Calibri"/>
              </a:rPr>
              <a:t>absolutely</a:t>
            </a:r>
            <a:r>
              <a:rPr lang="en-US" sz="2400" spc="-85" dirty="0">
                <a:cs typeface="Calibri"/>
              </a:rPr>
              <a:t> </a:t>
            </a:r>
            <a:r>
              <a:rPr lang="en-US" sz="2400" dirty="0">
                <a:cs typeface="Calibri"/>
              </a:rPr>
              <a:t>adore</a:t>
            </a:r>
            <a:r>
              <a:rPr lang="en-US" sz="2400" spc="-95" dirty="0">
                <a:cs typeface="Calibri"/>
              </a:rPr>
              <a:t> </a:t>
            </a:r>
            <a:r>
              <a:rPr lang="en-US" sz="2400" dirty="0">
                <a:cs typeface="Calibri"/>
              </a:rPr>
              <a:t>cheese,</a:t>
            </a:r>
            <a:r>
              <a:rPr lang="en-US" sz="2400" spc="-90" dirty="0">
                <a:cs typeface="Calibri"/>
              </a:rPr>
              <a:t> </a:t>
            </a:r>
            <a:r>
              <a:rPr lang="en-US" sz="2400" dirty="0">
                <a:cs typeface="Calibri"/>
              </a:rPr>
              <a:t>so</a:t>
            </a:r>
            <a:r>
              <a:rPr lang="en-US" sz="2400" spc="-65" dirty="0">
                <a:cs typeface="Calibri"/>
              </a:rPr>
              <a:t> </a:t>
            </a:r>
            <a:r>
              <a:rPr lang="en-US" sz="2400" dirty="0">
                <a:cs typeface="Calibri"/>
              </a:rPr>
              <a:t>much</a:t>
            </a:r>
            <a:r>
              <a:rPr lang="en-US" sz="2400" spc="-65" dirty="0">
                <a:cs typeface="Calibri"/>
              </a:rPr>
              <a:t> </a:t>
            </a:r>
            <a:r>
              <a:rPr lang="en-US" sz="2400" dirty="0">
                <a:cs typeface="Calibri"/>
              </a:rPr>
              <a:t>so</a:t>
            </a:r>
            <a:r>
              <a:rPr lang="en-US" sz="2400" spc="-75" dirty="0">
                <a:cs typeface="Calibri"/>
              </a:rPr>
              <a:t> </a:t>
            </a:r>
            <a:r>
              <a:rPr lang="en-US" sz="2400" dirty="0">
                <a:cs typeface="Calibri"/>
              </a:rPr>
              <a:t>that</a:t>
            </a:r>
            <a:r>
              <a:rPr lang="en-US" sz="2400" spc="-80" dirty="0">
                <a:cs typeface="Calibri"/>
              </a:rPr>
              <a:t> </a:t>
            </a:r>
            <a:r>
              <a:rPr lang="en-US" sz="2400" spc="-10" dirty="0">
                <a:cs typeface="Calibri"/>
              </a:rPr>
              <a:t>you're </a:t>
            </a:r>
            <a:r>
              <a:rPr lang="en-US" sz="2400" dirty="0">
                <a:cs typeface="Calibri"/>
              </a:rPr>
              <a:t>happy</a:t>
            </a:r>
            <a:r>
              <a:rPr lang="en-US" sz="2400" spc="-65" dirty="0">
                <a:cs typeface="Calibri"/>
              </a:rPr>
              <a:t> </a:t>
            </a:r>
            <a:r>
              <a:rPr lang="en-US" sz="2400" dirty="0">
                <a:cs typeface="Calibri"/>
              </a:rPr>
              <a:t>to</a:t>
            </a:r>
            <a:r>
              <a:rPr lang="en-US" sz="2400" spc="-25" dirty="0">
                <a:cs typeface="Calibri"/>
              </a:rPr>
              <a:t> </a:t>
            </a:r>
            <a:r>
              <a:rPr lang="en-US" sz="2400" dirty="0">
                <a:cs typeface="Calibri"/>
              </a:rPr>
              <a:t>go</a:t>
            </a:r>
            <a:r>
              <a:rPr lang="en-US" sz="2400" spc="-50" dirty="0">
                <a:cs typeface="Calibri"/>
              </a:rPr>
              <a:t> </a:t>
            </a:r>
            <a:r>
              <a:rPr lang="en-US" sz="2400" dirty="0">
                <a:cs typeface="Calibri"/>
              </a:rPr>
              <a:t>to</a:t>
            </a:r>
            <a:r>
              <a:rPr lang="en-US" sz="2400" spc="-45" dirty="0">
                <a:cs typeface="Calibri"/>
              </a:rPr>
              <a:t> </a:t>
            </a:r>
            <a:r>
              <a:rPr lang="en-US" sz="2400" dirty="0">
                <a:cs typeface="Calibri"/>
              </a:rPr>
              <a:t>the</a:t>
            </a:r>
            <a:r>
              <a:rPr lang="en-US" sz="2400" spc="-45" dirty="0">
                <a:cs typeface="Calibri"/>
              </a:rPr>
              <a:t> </a:t>
            </a:r>
            <a:r>
              <a:rPr lang="en-US" sz="2400" spc="-10" dirty="0">
                <a:cs typeface="Calibri"/>
              </a:rPr>
              <a:t>festival</a:t>
            </a:r>
            <a:r>
              <a:rPr lang="en-US" sz="2400" spc="-70" dirty="0">
                <a:cs typeface="Calibri"/>
              </a:rPr>
              <a:t> </a:t>
            </a:r>
            <a:r>
              <a:rPr lang="en-US" sz="2400" dirty="0">
                <a:cs typeface="Calibri"/>
              </a:rPr>
              <a:t>even</a:t>
            </a:r>
            <a:r>
              <a:rPr lang="en-US" sz="2400" spc="-35" dirty="0">
                <a:cs typeface="Calibri"/>
              </a:rPr>
              <a:t> </a:t>
            </a:r>
            <a:r>
              <a:rPr lang="en-US" sz="2400" dirty="0">
                <a:cs typeface="Calibri"/>
              </a:rPr>
              <a:t>if</a:t>
            </a:r>
            <a:r>
              <a:rPr lang="en-US" sz="2400" spc="-50" dirty="0">
                <a:cs typeface="Calibri"/>
              </a:rPr>
              <a:t> </a:t>
            </a:r>
            <a:r>
              <a:rPr lang="en-US" sz="2400" dirty="0">
                <a:cs typeface="Calibri"/>
              </a:rPr>
              <a:t>your</a:t>
            </a:r>
            <a:r>
              <a:rPr lang="en-US" sz="2400" spc="-40" dirty="0">
                <a:cs typeface="Calibri"/>
              </a:rPr>
              <a:t> </a:t>
            </a:r>
            <a:r>
              <a:rPr lang="en-US" sz="2400" dirty="0">
                <a:cs typeface="Calibri"/>
              </a:rPr>
              <a:t>boyfriend</a:t>
            </a:r>
            <a:r>
              <a:rPr lang="en-US" sz="2400" spc="-60" dirty="0">
                <a:cs typeface="Calibri"/>
              </a:rPr>
              <a:t> </a:t>
            </a:r>
            <a:r>
              <a:rPr lang="en-US" sz="2400" dirty="0">
                <a:cs typeface="Calibri"/>
              </a:rPr>
              <a:t>or</a:t>
            </a:r>
            <a:r>
              <a:rPr lang="en-US" sz="2400" spc="-35" dirty="0">
                <a:cs typeface="Calibri"/>
              </a:rPr>
              <a:t> </a:t>
            </a:r>
            <a:r>
              <a:rPr lang="en-US" sz="2400" dirty="0">
                <a:cs typeface="Calibri"/>
              </a:rPr>
              <a:t>girlfriend</a:t>
            </a:r>
            <a:r>
              <a:rPr lang="en-US" sz="2400" spc="-80" dirty="0">
                <a:cs typeface="Calibri"/>
              </a:rPr>
              <a:t> </a:t>
            </a:r>
            <a:r>
              <a:rPr lang="en-US" sz="2400" spc="-25" dirty="0">
                <a:cs typeface="Calibri"/>
              </a:rPr>
              <a:t>is </a:t>
            </a:r>
            <a:r>
              <a:rPr lang="en-US" sz="2400" spc="-10" dirty="0">
                <a:cs typeface="Calibri"/>
              </a:rPr>
              <a:t>uninterested</a:t>
            </a:r>
            <a:r>
              <a:rPr lang="en-US" sz="2400" spc="-65" dirty="0">
                <a:cs typeface="Calibri"/>
              </a:rPr>
              <a:t> </a:t>
            </a:r>
            <a:r>
              <a:rPr lang="en-US" sz="2400" dirty="0">
                <a:cs typeface="Calibri"/>
              </a:rPr>
              <a:t>and</a:t>
            </a:r>
            <a:r>
              <a:rPr lang="en-US" sz="2400" spc="-50" dirty="0">
                <a:cs typeface="Calibri"/>
              </a:rPr>
              <a:t> </a:t>
            </a:r>
            <a:r>
              <a:rPr lang="en-US" sz="2400" dirty="0">
                <a:cs typeface="Calibri"/>
              </a:rPr>
              <a:t>the</a:t>
            </a:r>
            <a:r>
              <a:rPr lang="en-US" sz="2400" spc="-35" dirty="0">
                <a:cs typeface="Calibri"/>
              </a:rPr>
              <a:t> </a:t>
            </a:r>
            <a:r>
              <a:rPr lang="en-US" sz="2400" spc="-10" dirty="0">
                <a:cs typeface="Calibri"/>
              </a:rPr>
              <a:t>festival</a:t>
            </a:r>
            <a:r>
              <a:rPr lang="en-US" sz="2400" spc="-80" dirty="0">
                <a:cs typeface="Calibri"/>
              </a:rPr>
              <a:t> </a:t>
            </a:r>
            <a:r>
              <a:rPr lang="en-US" sz="2400" dirty="0">
                <a:cs typeface="Calibri"/>
              </a:rPr>
              <a:t>is</a:t>
            </a:r>
            <a:r>
              <a:rPr lang="en-US" sz="2400" spc="-40" dirty="0">
                <a:cs typeface="Calibri"/>
              </a:rPr>
              <a:t> </a:t>
            </a:r>
            <a:r>
              <a:rPr lang="en-US" sz="2400" dirty="0">
                <a:cs typeface="Calibri"/>
              </a:rPr>
              <a:t>hard</a:t>
            </a:r>
            <a:r>
              <a:rPr lang="en-US" sz="2400" spc="-50" dirty="0">
                <a:cs typeface="Calibri"/>
              </a:rPr>
              <a:t> </a:t>
            </a:r>
            <a:r>
              <a:rPr lang="en-US" sz="2400" dirty="0">
                <a:cs typeface="Calibri"/>
              </a:rPr>
              <a:t>to</a:t>
            </a:r>
            <a:r>
              <a:rPr lang="en-US" sz="2400" spc="-50" dirty="0">
                <a:cs typeface="Calibri"/>
              </a:rPr>
              <a:t> </a:t>
            </a:r>
            <a:r>
              <a:rPr lang="en-US" sz="2400" dirty="0">
                <a:cs typeface="Calibri"/>
              </a:rPr>
              <a:t>get</a:t>
            </a:r>
            <a:r>
              <a:rPr lang="en-US" sz="2400" spc="-50" dirty="0">
                <a:cs typeface="Calibri"/>
              </a:rPr>
              <a:t> </a:t>
            </a:r>
            <a:r>
              <a:rPr lang="en-US" sz="2400" spc="-25" dirty="0">
                <a:cs typeface="Calibri"/>
              </a:rPr>
              <a:t>to.</a:t>
            </a:r>
            <a:endParaRPr lang="en-US" sz="2400" dirty="0">
              <a:cs typeface="Calibri"/>
            </a:endParaRPr>
          </a:p>
        </p:txBody>
      </p:sp>
    </p:spTree>
    <p:extLst>
      <p:ext uri="{BB962C8B-B14F-4D97-AF65-F5344CB8AC3E}">
        <p14:creationId xmlns:p14="http://schemas.microsoft.com/office/powerpoint/2010/main" val="780158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6074C-7FA0-6428-30B5-3AD402B4C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AA542-9103-F901-CAFF-59A302ED1178}"/>
              </a:ext>
            </a:extLst>
          </p:cNvPr>
          <p:cNvSpPr>
            <a:spLocks noGrp="1"/>
          </p:cNvSpPr>
          <p:nvPr>
            <p:ph type="title"/>
          </p:nvPr>
        </p:nvSpPr>
        <p:spPr>
          <a:xfrm>
            <a:off x="629500" y="277838"/>
            <a:ext cx="9097686" cy="1068223"/>
          </a:xfrm>
        </p:spPr>
        <p:txBody>
          <a:bodyPr/>
          <a:lstStyle/>
          <a:p>
            <a:r>
              <a:rPr lang="en-GB" spc="-25" dirty="0"/>
              <a:t>Perceptron</a:t>
            </a:r>
            <a:r>
              <a:rPr lang="en-GB" spc="-160" dirty="0"/>
              <a:t> </a:t>
            </a:r>
            <a:r>
              <a:rPr lang="en-GB" spc="-10" dirty="0"/>
              <a:t>Example</a:t>
            </a:r>
            <a:endParaRPr lang="en-US" dirty="0">
              <a:solidFill>
                <a:srgbClr val="942D6D"/>
              </a:solidFill>
            </a:endParaRPr>
          </a:p>
        </p:txBody>
      </p:sp>
      <p:cxnSp>
        <p:nvCxnSpPr>
          <p:cNvPr id="4" name="Straight Connector 3">
            <a:extLst>
              <a:ext uri="{FF2B5EF4-FFF2-40B4-BE49-F238E27FC236}">
                <a16:creationId xmlns:a16="http://schemas.microsoft.com/office/drawing/2014/main" id="{A99BBE54-61C4-7DCF-661F-01A70E230AC6}"/>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2B60F3FC-F039-27D2-55FF-B40671D7ECA2}"/>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349C6E89-BB28-5584-C56B-955FEF48F271}"/>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Text Placeholder 2">
            <a:extLst>
              <a:ext uri="{FF2B5EF4-FFF2-40B4-BE49-F238E27FC236}">
                <a16:creationId xmlns:a16="http://schemas.microsoft.com/office/drawing/2014/main" id="{3EB87EB5-4D1B-0636-2E22-600DA27E14D1}"/>
              </a:ext>
            </a:extLst>
          </p:cNvPr>
          <p:cNvSpPr>
            <a:spLocks noGrp="1"/>
          </p:cNvSpPr>
          <p:nvPr>
            <p:ph type="body" sz="quarter" idx="10"/>
          </p:nvPr>
        </p:nvSpPr>
        <p:spPr>
          <a:xfrm>
            <a:off x="486221" y="1673860"/>
            <a:ext cx="10994852" cy="4473724"/>
          </a:xfrm>
        </p:spPr>
        <p:txBody>
          <a:bodyPr/>
          <a:lstStyle/>
          <a:p>
            <a:pPr marL="240029" marR="319405" indent="-227329">
              <a:lnSpc>
                <a:spcPct val="69400"/>
              </a:lnSpc>
              <a:spcBef>
                <a:spcPts val="980"/>
              </a:spcBef>
              <a:buFont typeface="Arial"/>
              <a:buChar char="•"/>
              <a:tabLst>
                <a:tab pos="241300" algn="l"/>
              </a:tabLst>
            </a:pPr>
            <a:r>
              <a:rPr lang="en-US" sz="2400" dirty="0">
                <a:cs typeface="Calibri"/>
              </a:rPr>
              <a:t>But</a:t>
            </a:r>
            <a:r>
              <a:rPr lang="en-US" sz="2400" spc="-65" dirty="0">
                <a:cs typeface="Calibri"/>
              </a:rPr>
              <a:t> </a:t>
            </a:r>
            <a:r>
              <a:rPr lang="en-US" sz="2400" dirty="0">
                <a:cs typeface="Calibri"/>
              </a:rPr>
              <a:t>perhaps</a:t>
            </a:r>
            <a:r>
              <a:rPr lang="en-US" sz="2400" spc="-45" dirty="0">
                <a:cs typeface="Calibri"/>
              </a:rPr>
              <a:t> </a:t>
            </a:r>
            <a:r>
              <a:rPr lang="en-US" sz="2400" dirty="0">
                <a:cs typeface="Calibri"/>
              </a:rPr>
              <a:t>you</a:t>
            </a:r>
            <a:r>
              <a:rPr lang="en-US" sz="2400" spc="-65" dirty="0">
                <a:cs typeface="Calibri"/>
              </a:rPr>
              <a:t> </a:t>
            </a:r>
            <a:r>
              <a:rPr lang="en-US" sz="2400" dirty="0">
                <a:cs typeface="Calibri"/>
              </a:rPr>
              <a:t>really</a:t>
            </a:r>
            <a:r>
              <a:rPr lang="en-US" sz="2400" spc="-65" dirty="0">
                <a:cs typeface="Calibri"/>
              </a:rPr>
              <a:t> </a:t>
            </a:r>
            <a:r>
              <a:rPr lang="en-US" sz="2400" dirty="0">
                <a:cs typeface="Calibri"/>
              </a:rPr>
              <a:t>loathe</a:t>
            </a:r>
            <a:r>
              <a:rPr lang="en-US" sz="2400" spc="-55" dirty="0">
                <a:cs typeface="Calibri"/>
              </a:rPr>
              <a:t> </a:t>
            </a:r>
            <a:r>
              <a:rPr lang="en-US" sz="2400" dirty="0">
                <a:cs typeface="Calibri"/>
              </a:rPr>
              <a:t>bad</a:t>
            </a:r>
            <a:r>
              <a:rPr lang="en-US" sz="2400" spc="-45" dirty="0">
                <a:cs typeface="Calibri"/>
              </a:rPr>
              <a:t> </a:t>
            </a:r>
            <a:r>
              <a:rPr lang="en-US" sz="2400" spc="-35" dirty="0">
                <a:cs typeface="Calibri"/>
              </a:rPr>
              <a:t>weather,</a:t>
            </a:r>
            <a:r>
              <a:rPr lang="en-US" sz="2400" spc="-80" dirty="0">
                <a:cs typeface="Calibri"/>
              </a:rPr>
              <a:t> </a:t>
            </a:r>
            <a:r>
              <a:rPr lang="en-US" sz="2400" dirty="0">
                <a:cs typeface="Calibri"/>
              </a:rPr>
              <a:t>and</a:t>
            </a:r>
            <a:r>
              <a:rPr lang="en-US" sz="2400" spc="-45" dirty="0">
                <a:cs typeface="Calibri"/>
              </a:rPr>
              <a:t> </a:t>
            </a:r>
            <a:r>
              <a:rPr lang="en-US" sz="2400" dirty="0">
                <a:cs typeface="Calibri"/>
              </a:rPr>
              <a:t>there's</a:t>
            </a:r>
            <a:r>
              <a:rPr lang="en-US" sz="2400" spc="-60" dirty="0">
                <a:cs typeface="Calibri"/>
              </a:rPr>
              <a:t> </a:t>
            </a:r>
            <a:r>
              <a:rPr lang="en-US" sz="2400" dirty="0">
                <a:cs typeface="Calibri"/>
              </a:rPr>
              <a:t>no</a:t>
            </a:r>
            <a:r>
              <a:rPr lang="en-US" sz="2400" spc="-70" dirty="0">
                <a:cs typeface="Calibri"/>
              </a:rPr>
              <a:t> </a:t>
            </a:r>
            <a:r>
              <a:rPr lang="en-US" sz="2400" dirty="0">
                <a:cs typeface="Calibri"/>
              </a:rPr>
              <a:t>way</a:t>
            </a:r>
            <a:r>
              <a:rPr lang="en-US" sz="2400" spc="-65" dirty="0">
                <a:cs typeface="Calibri"/>
              </a:rPr>
              <a:t> </a:t>
            </a:r>
            <a:r>
              <a:rPr lang="en-US" sz="2400" dirty="0">
                <a:cs typeface="Calibri"/>
              </a:rPr>
              <a:t>you'd</a:t>
            </a:r>
            <a:r>
              <a:rPr lang="en-US" sz="2400" spc="-45" dirty="0">
                <a:cs typeface="Calibri"/>
              </a:rPr>
              <a:t> </a:t>
            </a:r>
            <a:r>
              <a:rPr lang="en-US" sz="2400" dirty="0">
                <a:cs typeface="Calibri"/>
              </a:rPr>
              <a:t>go</a:t>
            </a:r>
            <a:r>
              <a:rPr lang="en-US" sz="2400" spc="-65" dirty="0">
                <a:cs typeface="Calibri"/>
              </a:rPr>
              <a:t> </a:t>
            </a:r>
            <a:r>
              <a:rPr lang="en-US" sz="2400" dirty="0">
                <a:cs typeface="Calibri"/>
              </a:rPr>
              <a:t>to</a:t>
            </a:r>
            <a:r>
              <a:rPr lang="en-US" sz="2400" spc="-65" dirty="0">
                <a:cs typeface="Calibri"/>
              </a:rPr>
              <a:t> </a:t>
            </a:r>
            <a:r>
              <a:rPr lang="en-US" sz="2400" spc="-25" dirty="0">
                <a:cs typeface="Calibri"/>
              </a:rPr>
              <a:t>the 	</a:t>
            </a:r>
            <a:r>
              <a:rPr lang="en-US" sz="2400" spc="-10" dirty="0">
                <a:cs typeface="Calibri"/>
              </a:rPr>
              <a:t>festival</a:t>
            </a:r>
            <a:r>
              <a:rPr lang="en-US" sz="2400" spc="-65" dirty="0">
                <a:cs typeface="Calibri"/>
              </a:rPr>
              <a:t> </a:t>
            </a:r>
            <a:r>
              <a:rPr lang="en-US" sz="2400" dirty="0">
                <a:cs typeface="Calibri"/>
              </a:rPr>
              <a:t>if</a:t>
            </a:r>
            <a:r>
              <a:rPr lang="en-US" sz="2400" spc="-45" dirty="0">
                <a:cs typeface="Calibri"/>
              </a:rPr>
              <a:t> </a:t>
            </a:r>
            <a:r>
              <a:rPr lang="en-US" sz="2400" dirty="0">
                <a:cs typeface="Calibri"/>
              </a:rPr>
              <a:t>the</a:t>
            </a:r>
            <a:r>
              <a:rPr lang="en-US" sz="2400" spc="-50" dirty="0">
                <a:cs typeface="Calibri"/>
              </a:rPr>
              <a:t> </a:t>
            </a:r>
            <a:r>
              <a:rPr lang="en-US" sz="2400" dirty="0">
                <a:cs typeface="Calibri"/>
              </a:rPr>
              <a:t>weather</a:t>
            </a:r>
            <a:r>
              <a:rPr lang="en-US" sz="2400" spc="-60" dirty="0">
                <a:cs typeface="Calibri"/>
              </a:rPr>
              <a:t> </a:t>
            </a:r>
            <a:r>
              <a:rPr lang="en-US" sz="2400" dirty="0">
                <a:cs typeface="Calibri"/>
              </a:rPr>
              <a:t>is</a:t>
            </a:r>
            <a:r>
              <a:rPr lang="en-US" sz="2400" spc="-50" dirty="0">
                <a:cs typeface="Calibri"/>
              </a:rPr>
              <a:t> </a:t>
            </a:r>
            <a:r>
              <a:rPr lang="en-US" sz="2400" spc="-20" dirty="0">
                <a:cs typeface="Calibri"/>
              </a:rPr>
              <a:t>bad.</a:t>
            </a:r>
            <a:endParaRPr lang="en-US" sz="2400" dirty="0">
              <a:cs typeface="Calibri"/>
            </a:endParaRPr>
          </a:p>
          <a:p>
            <a:pPr marL="240029" marR="311150" indent="-227329">
              <a:lnSpc>
                <a:spcPct val="70200"/>
              </a:lnSpc>
              <a:buFont typeface="Arial"/>
              <a:buChar char="•"/>
              <a:tabLst>
                <a:tab pos="241300" algn="l"/>
              </a:tabLst>
            </a:pPr>
            <a:r>
              <a:rPr lang="en-US" sz="2400" spc="-40" dirty="0">
                <a:cs typeface="Calibri"/>
              </a:rPr>
              <a:t>You</a:t>
            </a:r>
            <a:r>
              <a:rPr lang="en-US" sz="2400" spc="-30" dirty="0">
                <a:cs typeface="Calibri"/>
              </a:rPr>
              <a:t> </a:t>
            </a:r>
            <a:r>
              <a:rPr lang="en-US" sz="2400" dirty="0">
                <a:cs typeface="Calibri"/>
              </a:rPr>
              <a:t>can</a:t>
            </a:r>
            <a:r>
              <a:rPr lang="en-US" sz="2400" spc="-35" dirty="0">
                <a:cs typeface="Calibri"/>
              </a:rPr>
              <a:t> </a:t>
            </a:r>
            <a:r>
              <a:rPr lang="en-US" sz="2400" dirty="0">
                <a:cs typeface="Calibri"/>
              </a:rPr>
              <a:t>use</a:t>
            </a:r>
            <a:r>
              <a:rPr lang="en-US" sz="2400" spc="-35" dirty="0">
                <a:cs typeface="Calibri"/>
              </a:rPr>
              <a:t> </a:t>
            </a:r>
            <a:r>
              <a:rPr lang="en-US" sz="2400" spc="-10" dirty="0" err="1">
                <a:cs typeface="Calibri"/>
              </a:rPr>
              <a:t>perceptrons</a:t>
            </a:r>
            <a:r>
              <a:rPr lang="en-US" sz="2400" spc="-30" dirty="0">
                <a:cs typeface="Calibri"/>
              </a:rPr>
              <a:t> </a:t>
            </a:r>
            <a:r>
              <a:rPr lang="en-US" sz="2400" dirty="0">
                <a:cs typeface="Calibri"/>
              </a:rPr>
              <a:t>to</a:t>
            </a:r>
            <a:r>
              <a:rPr lang="en-US" sz="2400" spc="-35" dirty="0">
                <a:cs typeface="Calibri"/>
              </a:rPr>
              <a:t> </a:t>
            </a:r>
            <a:r>
              <a:rPr lang="en-US" sz="2400" dirty="0">
                <a:cs typeface="Calibri"/>
              </a:rPr>
              <a:t>model</a:t>
            </a:r>
            <a:r>
              <a:rPr lang="en-US" sz="2400" spc="-50" dirty="0">
                <a:cs typeface="Calibri"/>
              </a:rPr>
              <a:t> </a:t>
            </a:r>
            <a:r>
              <a:rPr lang="en-US" sz="2400" dirty="0">
                <a:cs typeface="Calibri"/>
              </a:rPr>
              <a:t>this</a:t>
            </a:r>
            <a:r>
              <a:rPr lang="en-US" sz="2400" spc="-30" dirty="0">
                <a:cs typeface="Calibri"/>
              </a:rPr>
              <a:t> </a:t>
            </a:r>
            <a:r>
              <a:rPr lang="en-US" sz="2400" dirty="0">
                <a:cs typeface="Calibri"/>
              </a:rPr>
              <a:t>kind</a:t>
            </a:r>
            <a:r>
              <a:rPr lang="en-US" sz="2400" spc="-60" dirty="0">
                <a:cs typeface="Calibri"/>
              </a:rPr>
              <a:t> </a:t>
            </a:r>
            <a:r>
              <a:rPr lang="en-US" sz="2400" dirty="0">
                <a:cs typeface="Calibri"/>
              </a:rPr>
              <a:t>of</a:t>
            </a:r>
            <a:r>
              <a:rPr lang="en-US" sz="2400" spc="-30" dirty="0">
                <a:cs typeface="Calibri"/>
              </a:rPr>
              <a:t> </a:t>
            </a:r>
            <a:r>
              <a:rPr lang="en-US" sz="2400" spc="-10" dirty="0">
                <a:cs typeface="Calibri"/>
              </a:rPr>
              <a:t>decision-</a:t>
            </a:r>
            <a:r>
              <a:rPr lang="en-US" sz="2400" dirty="0">
                <a:cs typeface="Calibri"/>
              </a:rPr>
              <a:t>making.</a:t>
            </a:r>
            <a:r>
              <a:rPr lang="en-US" sz="2400" spc="-75" dirty="0">
                <a:cs typeface="Calibri"/>
              </a:rPr>
              <a:t> </a:t>
            </a:r>
            <a:r>
              <a:rPr lang="en-US" sz="2400" dirty="0">
                <a:cs typeface="Calibri"/>
              </a:rPr>
              <a:t>One</a:t>
            </a:r>
            <a:r>
              <a:rPr lang="en-US" sz="2400" spc="-30" dirty="0">
                <a:cs typeface="Calibri"/>
              </a:rPr>
              <a:t> </a:t>
            </a:r>
            <a:r>
              <a:rPr lang="en-US" sz="2400" dirty="0">
                <a:cs typeface="Calibri"/>
              </a:rPr>
              <a:t>way</a:t>
            </a:r>
            <a:r>
              <a:rPr lang="en-US" sz="2400" spc="-50" dirty="0">
                <a:cs typeface="Calibri"/>
              </a:rPr>
              <a:t> </a:t>
            </a:r>
            <a:r>
              <a:rPr lang="en-US" sz="2400" dirty="0">
                <a:cs typeface="Calibri"/>
              </a:rPr>
              <a:t>to</a:t>
            </a:r>
            <a:r>
              <a:rPr lang="en-US" sz="2400" spc="-40" dirty="0">
                <a:cs typeface="Calibri"/>
              </a:rPr>
              <a:t> </a:t>
            </a:r>
            <a:r>
              <a:rPr lang="en-US" sz="2400" spc="-25" dirty="0">
                <a:cs typeface="Calibri"/>
              </a:rPr>
              <a:t>do 	</a:t>
            </a:r>
            <a:r>
              <a:rPr lang="en-US" sz="2400" dirty="0">
                <a:cs typeface="Calibri"/>
              </a:rPr>
              <a:t>this</a:t>
            </a:r>
            <a:r>
              <a:rPr lang="en-US" sz="2400" spc="-55" dirty="0">
                <a:cs typeface="Calibri"/>
              </a:rPr>
              <a:t> </a:t>
            </a:r>
            <a:r>
              <a:rPr lang="en-US" sz="2400" dirty="0">
                <a:cs typeface="Calibri"/>
              </a:rPr>
              <a:t>is</a:t>
            </a:r>
            <a:r>
              <a:rPr lang="en-US" sz="2400" spc="-45" dirty="0">
                <a:cs typeface="Calibri"/>
              </a:rPr>
              <a:t> </a:t>
            </a:r>
            <a:r>
              <a:rPr lang="en-US" sz="2400" dirty="0">
                <a:cs typeface="Calibri"/>
              </a:rPr>
              <a:t>to</a:t>
            </a:r>
            <a:r>
              <a:rPr lang="en-US" sz="2400" spc="-60" dirty="0">
                <a:cs typeface="Calibri"/>
              </a:rPr>
              <a:t> </a:t>
            </a:r>
            <a:r>
              <a:rPr lang="en-US" sz="2400" dirty="0">
                <a:cs typeface="Calibri"/>
              </a:rPr>
              <a:t>choose</a:t>
            </a:r>
            <a:r>
              <a:rPr lang="en-US" sz="2400" spc="-40" dirty="0">
                <a:cs typeface="Calibri"/>
              </a:rPr>
              <a:t> </a:t>
            </a:r>
            <a:r>
              <a:rPr lang="en-US" sz="2400" dirty="0">
                <a:cs typeface="Calibri"/>
              </a:rPr>
              <a:t>a</a:t>
            </a:r>
            <a:r>
              <a:rPr lang="en-US" sz="2400" spc="-35" dirty="0">
                <a:cs typeface="Calibri"/>
              </a:rPr>
              <a:t> </a:t>
            </a:r>
            <a:r>
              <a:rPr lang="en-US" sz="2400" dirty="0">
                <a:cs typeface="Calibri"/>
              </a:rPr>
              <a:t>weight</a:t>
            </a:r>
            <a:r>
              <a:rPr lang="en-US" sz="2400" spc="-65" dirty="0">
                <a:cs typeface="Calibri"/>
              </a:rPr>
              <a:t> </a:t>
            </a:r>
            <a:r>
              <a:rPr lang="en-US" sz="2400" dirty="0">
                <a:cs typeface="Calibri"/>
              </a:rPr>
              <a:t>for</a:t>
            </a:r>
            <a:r>
              <a:rPr lang="en-US" sz="2400" spc="-35" dirty="0">
                <a:cs typeface="Calibri"/>
              </a:rPr>
              <a:t> </a:t>
            </a:r>
            <a:r>
              <a:rPr lang="en-US" sz="2400" dirty="0">
                <a:cs typeface="Calibri"/>
              </a:rPr>
              <a:t>the</a:t>
            </a:r>
            <a:r>
              <a:rPr lang="en-US" sz="2400" spc="-35" dirty="0">
                <a:cs typeface="Calibri"/>
              </a:rPr>
              <a:t> </a:t>
            </a:r>
            <a:r>
              <a:rPr lang="en-US" sz="2400" dirty="0">
                <a:cs typeface="Calibri"/>
              </a:rPr>
              <a:t>weather</a:t>
            </a:r>
            <a:r>
              <a:rPr lang="en-US" sz="2400" spc="-40" dirty="0">
                <a:cs typeface="Calibri"/>
              </a:rPr>
              <a:t> </a:t>
            </a:r>
            <a:r>
              <a:rPr lang="en-US" sz="2400" dirty="0">
                <a:cs typeface="Calibri"/>
              </a:rPr>
              <a:t>w1=6,</a:t>
            </a:r>
            <a:r>
              <a:rPr lang="en-US" sz="2400" spc="-60" dirty="0">
                <a:cs typeface="Calibri"/>
              </a:rPr>
              <a:t> </a:t>
            </a:r>
            <a:r>
              <a:rPr lang="en-US" sz="2400" dirty="0">
                <a:cs typeface="Calibri"/>
              </a:rPr>
              <a:t>and</a:t>
            </a:r>
            <a:r>
              <a:rPr lang="en-US" sz="2400" spc="-40" dirty="0">
                <a:cs typeface="Calibri"/>
              </a:rPr>
              <a:t> </a:t>
            </a:r>
            <a:r>
              <a:rPr lang="en-US" sz="2400" dirty="0">
                <a:cs typeface="Calibri"/>
              </a:rPr>
              <a:t>w2=2</a:t>
            </a:r>
            <a:r>
              <a:rPr lang="en-US" sz="2400" spc="-55" dirty="0">
                <a:cs typeface="Calibri"/>
              </a:rPr>
              <a:t> </a:t>
            </a:r>
            <a:r>
              <a:rPr lang="en-US" sz="2400" dirty="0">
                <a:cs typeface="Calibri"/>
              </a:rPr>
              <a:t>and</a:t>
            </a:r>
            <a:r>
              <a:rPr lang="en-US" sz="2400" spc="-25" dirty="0">
                <a:cs typeface="Calibri"/>
              </a:rPr>
              <a:t> </a:t>
            </a:r>
            <a:r>
              <a:rPr lang="en-US" sz="2400" dirty="0">
                <a:cs typeface="Calibri"/>
              </a:rPr>
              <a:t>w3=2</a:t>
            </a:r>
            <a:r>
              <a:rPr lang="en-US" sz="2400" spc="-75" dirty="0">
                <a:cs typeface="Calibri"/>
              </a:rPr>
              <a:t> </a:t>
            </a:r>
            <a:r>
              <a:rPr lang="en-US" sz="2400" dirty="0">
                <a:cs typeface="Calibri"/>
              </a:rPr>
              <a:t>for</a:t>
            </a:r>
            <a:r>
              <a:rPr lang="en-US" sz="2400" spc="-25" dirty="0">
                <a:cs typeface="Calibri"/>
              </a:rPr>
              <a:t> the 	</a:t>
            </a:r>
            <a:r>
              <a:rPr lang="en-US" sz="2400" dirty="0">
                <a:cs typeface="Calibri"/>
              </a:rPr>
              <a:t>other</a:t>
            </a:r>
            <a:r>
              <a:rPr lang="en-US" sz="2400" spc="-40" dirty="0">
                <a:cs typeface="Calibri"/>
              </a:rPr>
              <a:t> </a:t>
            </a:r>
            <a:r>
              <a:rPr lang="en-US" sz="2400" spc="-10" dirty="0">
                <a:cs typeface="Calibri"/>
              </a:rPr>
              <a:t>conditions.</a:t>
            </a:r>
            <a:endParaRPr lang="en-US" sz="2400" dirty="0">
              <a:cs typeface="Calibri"/>
            </a:endParaRPr>
          </a:p>
          <a:p>
            <a:pPr marL="240029" marR="5080" indent="-227329">
              <a:lnSpc>
                <a:spcPct val="69800"/>
              </a:lnSpc>
              <a:spcBef>
                <a:spcPts val="1010"/>
              </a:spcBef>
              <a:buFont typeface="Arial"/>
              <a:buChar char="•"/>
              <a:tabLst>
                <a:tab pos="241300" algn="l"/>
              </a:tabLst>
            </a:pPr>
            <a:r>
              <a:rPr lang="en-US" sz="2400" dirty="0">
                <a:cs typeface="Calibri"/>
              </a:rPr>
              <a:t>The</a:t>
            </a:r>
            <a:r>
              <a:rPr lang="en-US" sz="2400" spc="-30" dirty="0">
                <a:cs typeface="Calibri"/>
              </a:rPr>
              <a:t> </a:t>
            </a:r>
            <a:r>
              <a:rPr lang="en-US" sz="2400" dirty="0">
                <a:cs typeface="Calibri"/>
              </a:rPr>
              <a:t>larger</a:t>
            </a:r>
            <a:r>
              <a:rPr lang="en-US" sz="2400" spc="-40" dirty="0">
                <a:cs typeface="Calibri"/>
              </a:rPr>
              <a:t> </a:t>
            </a:r>
            <a:r>
              <a:rPr lang="en-US" sz="2400" dirty="0">
                <a:cs typeface="Calibri"/>
              </a:rPr>
              <a:t>value</a:t>
            </a:r>
            <a:r>
              <a:rPr lang="en-US" sz="2400" spc="-30" dirty="0">
                <a:cs typeface="Calibri"/>
              </a:rPr>
              <a:t> </a:t>
            </a:r>
            <a:r>
              <a:rPr lang="en-US" sz="2400" dirty="0">
                <a:cs typeface="Calibri"/>
              </a:rPr>
              <a:t>of</a:t>
            </a:r>
            <a:r>
              <a:rPr lang="en-US" sz="2400" spc="-65" dirty="0">
                <a:cs typeface="Calibri"/>
              </a:rPr>
              <a:t> </a:t>
            </a:r>
            <a:r>
              <a:rPr lang="en-US" sz="2400" dirty="0">
                <a:cs typeface="Calibri"/>
              </a:rPr>
              <a:t>w</a:t>
            </a:r>
            <a:r>
              <a:rPr lang="en-US" sz="2400" spc="-40" dirty="0">
                <a:cs typeface="Calibri"/>
              </a:rPr>
              <a:t> </a:t>
            </a:r>
            <a:r>
              <a:rPr lang="en-US" sz="2400" dirty="0">
                <a:cs typeface="Calibri"/>
              </a:rPr>
              <a:t>indicates</a:t>
            </a:r>
            <a:r>
              <a:rPr lang="en-US" sz="2400" spc="-60" dirty="0">
                <a:cs typeface="Calibri"/>
              </a:rPr>
              <a:t> </a:t>
            </a:r>
            <a:r>
              <a:rPr lang="en-US" sz="2400" dirty="0">
                <a:cs typeface="Calibri"/>
              </a:rPr>
              <a:t>that</a:t>
            </a:r>
            <a:r>
              <a:rPr lang="en-US" sz="2400" spc="-50" dirty="0">
                <a:cs typeface="Calibri"/>
              </a:rPr>
              <a:t> </a:t>
            </a:r>
            <a:r>
              <a:rPr lang="en-US" sz="2400" dirty="0">
                <a:cs typeface="Calibri"/>
              </a:rPr>
              <a:t>the</a:t>
            </a:r>
            <a:r>
              <a:rPr lang="en-US" sz="2400" spc="-40" dirty="0">
                <a:cs typeface="Calibri"/>
              </a:rPr>
              <a:t> </a:t>
            </a:r>
            <a:r>
              <a:rPr lang="en-US" sz="2400" dirty="0">
                <a:cs typeface="Calibri"/>
              </a:rPr>
              <a:t>weather</a:t>
            </a:r>
            <a:r>
              <a:rPr lang="en-US" sz="2400" spc="-50" dirty="0">
                <a:cs typeface="Calibri"/>
              </a:rPr>
              <a:t> </a:t>
            </a:r>
            <a:r>
              <a:rPr lang="en-US" sz="2400" spc="-20" dirty="0">
                <a:cs typeface="Calibri"/>
              </a:rPr>
              <a:t>matters</a:t>
            </a:r>
            <a:r>
              <a:rPr lang="en-US" sz="2400" spc="-65" dirty="0">
                <a:cs typeface="Calibri"/>
              </a:rPr>
              <a:t> </a:t>
            </a:r>
            <a:r>
              <a:rPr lang="en-US" sz="2400" dirty="0">
                <a:cs typeface="Calibri"/>
              </a:rPr>
              <a:t>a</a:t>
            </a:r>
            <a:r>
              <a:rPr lang="en-US" sz="2400" spc="-35" dirty="0">
                <a:cs typeface="Calibri"/>
              </a:rPr>
              <a:t> </a:t>
            </a:r>
            <a:r>
              <a:rPr lang="en-US" sz="2400" dirty="0">
                <a:cs typeface="Calibri"/>
              </a:rPr>
              <a:t>lot</a:t>
            </a:r>
            <a:r>
              <a:rPr lang="en-US" sz="2400" spc="-80" dirty="0">
                <a:cs typeface="Calibri"/>
              </a:rPr>
              <a:t> </a:t>
            </a:r>
            <a:r>
              <a:rPr lang="en-US" sz="2400" dirty="0">
                <a:cs typeface="Calibri"/>
              </a:rPr>
              <a:t>to</a:t>
            </a:r>
            <a:r>
              <a:rPr lang="en-US" sz="2400" spc="-50" dirty="0">
                <a:cs typeface="Calibri"/>
              </a:rPr>
              <a:t> </a:t>
            </a:r>
            <a:r>
              <a:rPr lang="en-US" sz="2400" dirty="0">
                <a:cs typeface="Calibri"/>
              </a:rPr>
              <a:t>you,</a:t>
            </a:r>
            <a:r>
              <a:rPr lang="en-US" sz="2400" spc="-40" dirty="0">
                <a:cs typeface="Calibri"/>
              </a:rPr>
              <a:t> </a:t>
            </a:r>
            <a:r>
              <a:rPr lang="en-US" sz="2400" dirty="0">
                <a:cs typeface="Calibri"/>
              </a:rPr>
              <a:t>much</a:t>
            </a:r>
            <a:r>
              <a:rPr lang="en-US" sz="2400" spc="-45" dirty="0">
                <a:cs typeface="Calibri"/>
              </a:rPr>
              <a:t> </a:t>
            </a:r>
            <a:r>
              <a:rPr lang="en-US" sz="2400" spc="-20" dirty="0">
                <a:cs typeface="Calibri"/>
              </a:rPr>
              <a:t>more 	</a:t>
            </a:r>
            <a:r>
              <a:rPr lang="en-US" sz="2400" dirty="0">
                <a:cs typeface="Calibri"/>
              </a:rPr>
              <a:t>than</a:t>
            </a:r>
            <a:r>
              <a:rPr lang="en-US" sz="2400" spc="-35" dirty="0">
                <a:cs typeface="Calibri"/>
              </a:rPr>
              <a:t> </a:t>
            </a:r>
            <a:r>
              <a:rPr lang="en-US" sz="2400" dirty="0">
                <a:cs typeface="Calibri"/>
              </a:rPr>
              <a:t>whether</a:t>
            </a:r>
            <a:r>
              <a:rPr lang="en-US" sz="2400" spc="-40" dirty="0">
                <a:cs typeface="Calibri"/>
              </a:rPr>
              <a:t> </a:t>
            </a:r>
            <a:r>
              <a:rPr lang="en-US" sz="2400" dirty="0">
                <a:cs typeface="Calibri"/>
              </a:rPr>
              <a:t>your</a:t>
            </a:r>
            <a:r>
              <a:rPr lang="en-US" sz="2400" spc="-45" dirty="0">
                <a:cs typeface="Calibri"/>
              </a:rPr>
              <a:t> </a:t>
            </a:r>
            <a:r>
              <a:rPr lang="en-US" sz="2400" dirty="0">
                <a:cs typeface="Calibri"/>
              </a:rPr>
              <a:t>boyfriend</a:t>
            </a:r>
            <a:r>
              <a:rPr lang="en-US" sz="2400" spc="-45" dirty="0">
                <a:cs typeface="Calibri"/>
              </a:rPr>
              <a:t> </a:t>
            </a:r>
            <a:r>
              <a:rPr lang="en-US" sz="2400" dirty="0">
                <a:cs typeface="Calibri"/>
              </a:rPr>
              <a:t>or</a:t>
            </a:r>
            <a:r>
              <a:rPr lang="en-US" sz="2400" spc="-65" dirty="0">
                <a:cs typeface="Calibri"/>
              </a:rPr>
              <a:t> </a:t>
            </a:r>
            <a:r>
              <a:rPr lang="en-US" sz="2400" dirty="0">
                <a:cs typeface="Calibri"/>
              </a:rPr>
              <a:t>girlfriend</a:t>
            </a:r>
            <a:r>
              <a:rPr lang="en-US" sz="2400" spc="-60" dirty="0">
                <a:cs typeface="Calibri"/>
              </a:rPr>
              <a:t> </a:t>
            </a:r>
            <a:r>
              <a:rPr lang="en-US" sz="2400" dirty="0">
                <a:cs typeface="Calibri"/>
              </a:rPr>
              <a:t>joins</a:t>
            </a:r>
            <a:r>
              <a:rPr lang="en-US" sz="2400" spc="-65" dirty="0">
                <a:cs typeface="Calibri"/>
              </a:rPr>
              <a:t> </a:t>
            </a:r>
            <a:r>
              <a:rPr lang="en-US" sz="2400" dirty="0">
                <a:cs typeface="Calibri"/>
              </a:rPr>
              <a:t>you,</a:t>
            </a:r>
            <a:r>
              <a:rPr lang="en-US" sz="2400" spc="-55" dirty="0">
                <a:cs typeface="Calibri"/>
              </a:rPr>
              <a:t> </a:t>
            </a:r>
            <a:r>
              <a:rPr lang="en-US" sz="2400" dirty="0">
                <a:cs typeface="Calibri"/>
              </a:rPr>
              <a:t>or</a:t>
            </a:r>
            <a:r>
              <a:rPr lang="en-US" sz="2400" spc="-40" dirty="0">
                <a:cs typeface="Calibri"/>
              </a:rPr>
              <a:t> </a:t>
            </a:r>
            <a:r>
              <a:rPr lang="en-US" sz="2400" dirty="0">
                <a:cs typeface="Calibri"/>
              </a:rPr>
              <a:t>the</a:t>
            </a:r>
            <a:r>
              <a:rPr lang="en-US" sz="2400" spc="-40" dirty="0">
                <a:cs typeface="Calibri"/>
              </a:rPr>
              <a:t> </a:t>
            </a:r>
            <a:r>
              <a:rPr lang="en-US" sz="2400" dirty="0">
                <a:cs typeface="Calibri"/>
              </a:rPr>
              <a:t>nearness</a:t>
            </a:r>
            <a:r>
              <a:rPr lang="en-US" sz="2400" spc="-50" dirty="0">
                <a:cs typeface="Calibri"/>
              </a:rPr>
              <a:t> </a:t>
            </a:r>
            <a:r>
              <a:rPr lang="en-US" sz="2400" dirty="0">
                <a:cs typeface="Calibri"/>
              </a:rPr>
              <a:t>of</a:t>
            </a:r>
            <a:r>
              <a:rPr lang="en-US" sz="2400" spc="-45" dirty="0">
                <a:cs typeface="Calibri"/>
              </a:rPr>
              <a:t> </a:t>
            </a:r>
            <a:r>
              <a:rPr lang="en-US" sz="2400" spc="-10" dirty="0">
                <a:cs typeface="Calibri"/>
              </a:rPr>
              <a:t>public 	transit.</a:t>
            </a:r>
            <a:endParaRPr lang="en-US" sz="2400" dirty="0">
              <a:cs typeface="Calibri"/>
            </a:endParaRPr>
          </a:p>
          <a:p>
            <a:pPr marL="240029" indent="-227329">
              <a:lnSpc>
                <a:spcPct val="100000"/>
              </a:lnSpc>
              <a:spcBef>
                <a:spcPts val="140"/>
              </a:spcBef>
              <a:buFont typeface="Arial"/>
              <a:buChar char="•"/>
              <a:tabLst>
                <a:tab pos="240029" algn="l"/>
              </a:tabLst>
            </a:pPr>
            <a:r>
              <a:rPr lang="en-US" sz="2400" spc="-20" dirty="0">
                <a:cs typeface="Calibri"/>
              </a:rPr>
              <a:t>Finally,</a:t>
            </a:r>
            <a:r>
              <a:rPr lang="en-US" sz="2400" spc="-45" dirty="0">
                <a:cs typeface="Calibri"/>
              </a:rPr>
              <a:t> </a:t>
            </a:r>
            <a:r>
              <a:rPr lang="en-US" sz="2400" dirty="0">
                <a:cs typeface="Calibri"/>
              </a:rPr>
              <a:t>suppose</a:t>
            </a:r>
            <a:r>
              <a:rPr lang="en-US" sz="2400" spc="-40" dirty="0">
                <a:cs typeface="Calibri"/>
              </a:rPr>
              <a:t> </a:t>
            </a:r>
            <a:r>
              <a:rPr lang="en-US" sz="2400" dirty="0">
                <a:cs typeface="Calibri"/>
              </a:rPr>
              <a:t>you</a:t>
            </a:r>
            <a:r>
              <a:rPr lang="en-US" sz="2400" spc="-45" dirty="0">
                <a:cs typeface="Calibri"/>
              </a:rPr>
              <a:t> </a:t>
            </a:r>
            <a:r>
              <a:rPr lang="en-US" sz="2400" dirty="0">
                <a:cs typeface="Calibri"/>
              </a:rPr>
              <a:t>choose</a:t>
            </a:r>
            <a:r>
              <a:rPr lang="en-US" sz="2400" spc="-40" dirty="0">
                <a:cs typeface="Calibri"/>
              </a:rPr>
              <a:t> </a:t>
            </a:r>
            <a:r>
              <a:rPr lang="en-US" sz="2400" dirty="0">
                <a:cs typeface="Calibri"/>
              </a:rPr>
              <a:t>a</a:t>
            </a:r>
            <a:r>
              <a:rPr lang="en-US" sz="2400" spc="-50" dirty="0">
                <a:cs typeface="Calibri"/>
              </a:rPr>
              <a:t> </a:t>
            </a:r>
            <a:r>
              <a:rPr lang="en-US" sz="2400" dirty="0">
                <a:cs typeface="Calibri"/>
              </a:rPr>
              <a:t>threshold</a:t>
            </a:r>
            <a:r>
              <a:rPr lang="en-US" sz="2400" spc="-45" dirty="0">
                <a:cs typeface="Calibri"/>
              </a:rPr>
              <a:t> </a:t>
            </a:r>
            <a:r>
              <a:rPr lang="en-US" sz="2400" dirty="0">
                <a:cs typeface="Calibri"/>
              </a:rPr>
              <a:t>of</a:t>
            </a:r>
            <a:r>
              <a:rPr lang="en-US" sz="2400" spc="-40" dirty="0">
                <a:cs typeface="Calibri"/>
              </a:rPr>
              <a:t> </a:t>
            </a:r>
            <a:r>
              <a:rPr lang="en-US" sz="2400" dirty="0">
                <a:cs typeface="Calibri"/>
              </a:rPr>
              <a:t>for</a:t>
            </a:r>
            <a:r>
              <a:rPr lang="en-US" sz="2400" spc="-50" dirty="0">
                <a:cs typeface="Calibri"/>
              </a:rPr>
              <a:t> </a:t>
            </a:r>
            <a:r>
              <a:rPr lang="en-US" sz="2400" dirty="0">
                <a:cs typeface="Calibri"/>
              </a:rPr>
              <a:t>the</a:t>
            </a:r>
            <a:r>
              <a:rPr lang="en-US" sz="2400" spc="-40" dirty="0">
                <a:cs typeface="Calibri"/>
              </a:rPr>
              <a:t> </a:t>
            </a:r>
            <a:r>
              <a:rPr lang="en-US" sz="2400" spc="-10" dirty="0">
                <a:cs typeface="Calibri"/>
              </a:rPr>
              <a:t>perceptron.</a:t>
            </a:r>
            <a:endParaRPr lang="en-US" sz="2400" dirty="0">
              <a:cs typeface="Calibri"/>
            </a:endParaRPr>
          </a:p>
          <a:p>
            <a:pPr marL="240029" marR="129539" indent="-227329">
              <a:lnSpc>
                <a:spcPct val="69800"/>
              </a:lnSpc>
              <a:spcBef>
                <a:spcPts val="1010"/>
              </a:spcBef>
              <a:buFont typeface="Arial"/>
              <a:buChar char="•"/>
              <a:tabLst>
                <a:tab pos="241300" algn="l"/>
              </a:tabLst>
            </a:pPr>
            <a:r>
              <a:rPr lang="en-US" sz="2400" dirty="0">
                <a:cs typeface="Calibri"/>
              </a:rPr>
              <a:t>With</a:t>
            </a:r>
            <a:r>
              <a:rPr lang="en-US" sz="2400" spc="-70" dirty="0">
                <a:cs typeface="Calibri"/>
              </a:rPr>
              <a:t> </a:t>
            </a:r>
            <a:r>
              <a:rPr lang="en-US" sz="2400" dirty="0">
                <a:cs typeface="Calibri"/>
              </a:rPr>
              <a:t>these</a:t>
            </a:r>
            <a:r>
              <a:rPr lang="en-US" sz="2400" spc="-40" dirty="0">
                <a:cs typeface="Calibri"/>
              </a:rPr>
              <a:t> </a:t>
            </a:r>
            <a:r>
              <a:rPr lang="en-US" sz="2400" dirty="0">
                <a:cs typeface="Calibri"/>
              </a:rPr>
              <a:t>choices,</a:t>
            </a:r>
            <a:r>
              <a:rPr lang="en-US" sz="2400" spc="-60" dirty="0">
                <a:cs typeface="Calibri"/>
              </a:rPr>
              <a:t> </a:t>
            </a:r>
            <a:r>
              <a:rPr lang="en-US" sz="2400" dirty="0">
                <a:cs typeface="Calibri"/>
              </a:rPr>
              <a:t>the</a:t>
            </a:r>
            <a:r>
              <a:rPr lang="en-US" sz="2400" spc="-40" dirty="0">
                <a:cs typeface="Calibri"/>
              </a:rPr>
              <a:t> </a:t>
            </a:r>
            <a:r>
              <a:rPr lang="en-US" sz="2400" spc="-10" dirty="0">
                <a:cs typeface="Calibri"/>
              </a:rPr>
              <a:t>perceptron</a:t>
            </a:r>
            <a:r>
              <a:rPr lang="en-US" sz="2400" spc="-40" dirty="0">
                <a:cs typeface="Calibri"/>
              </a:rPr>
              <a:t> </a:t>
            </a:r>
            <a:r>
              <a:rPr lang="en-US" sz="2400" dirty="0">
                <a:cs typeface="Calibri"/>
              </a:rPr>
              <a:t>implements</a:t>
            </a:r>
            <a:r>
              <a:rPr lang="en-US" sz="2400" spc="-85" dirty="0">
                <a:cs typeface="Calibri"/>
              </a:rPr>
              <a:t> </a:t>
            </a:r>
            <a:r>
              <a:rPr lang="en-US" sz="2400" dirty="0">
                <a:cs typeface="Calibri"/>
              </a:rPr>
              <a:t>the</a:t>
            </a:r>
            <a:r>
              <a:rPr lang="en-US" sz="2400" spc="-45" dirty="0">
                <a:cs typeface="Calibri"/>
              </a:rPr>
              <a:t> </a:t>
            </a:r>
            <a:r>
              <a:rPr lang="en-US" sz="2400" dirty="0">
                <a:cs typeface="Calibri"/>
              </a:rPr>
              <a:t>desired</a:t>
            </a:r>
            <a:r>
              <a:rPr lang="en-US" sz="2400" spc="-60" dirty="0">
                <a:cs typeface="Calibri"/>
              </a:rPr>
              <a:t> </a:t>
            </a:r>
            <a:r>
              <a:rPr lang="en-US" sz="2400" spc="-10" dirty="0">
                <a:cs typeface="Calibri"/>
              </a:rPr>
              <a:t>decision-making 	</a:t>
            </a:r>
            <a:r>
              <a:rPr lang="en-US" sz="2400" dirty="0">
                <a:cs typeface="Calibri"/>
              </a:rPr>
              <a:t>model,</a:t>
            </a:r>
            <a:r>
              <a:rPr lang="en-US" sz="2400" spc="-80" dirty="0">
                <a:cs typeface="Calibri"/>
              </a:rPr>
              <a:t> </a:t>
            </a:r>
            <a:r>
              <a:rPr lang="en-US" sz="2400" dirty="0">
                <a:cs typeface="Calibri"/>
              </a:rPr>
              <a:t>outputting</a:t>
            </a:r>
            <a:r>
              <a:rPr lang="en-US" sz="2400" spc="-55" dirty="0">
                <a:cs typeface="Calibri"/>
              </a:rPr>
              <a:t> </a:t>
            </a:r>
            <a:r>
              <a:rPr lang="en-US" sz="2400" spc="-10" dirty="0">
                <a:cs typeface="Calibri"/>
              </a:rPr>
              <a:t>whenever</a:t>
            </a:r>
            <a:r>
              <a:rPr lang="en-US" sz="2400" spc="-55" dirty="0">
                <a:cs typeface="Calibri"/>
              </a:rPr>
              <a:t> </a:t>
            </a:r>
            <a:r>
              <a:rPr lang="en-US" sz="2400" dirty="0">
                <a:cs typeface="Calibri"/>
              </a:rPr>
              <a:t>the</a:t>
            </a:r>
            <a:r>
              <a:rPr lang="en-US" sz="2400" spc="-60" dirty="0">
                <a:cs typeface="Calibri"/>
              </a:rPr>
              <a:t> </a:t>
            </a:r>
            <a:r>
              <a:rPr lang="en-US" sz="2400" dirty="0">
                <a:cs typeface="Calibri"/>
              </a:rPr>
              <a:t>weather</a:t>
            </a:r>
            <a:r>
              <a:rPr lang="en-US" sz="2400" spc="-70" dirty="0">
                <a:cs typeface="Calibri"/>
              </a:rPr>
              <a:t> </a:t>
            </a:r>
            <a:r>
              <a:rPr lang="en-US" sz="2400" dirty="0">
                <a:cs typeface="Calibri"/>
              </a:rPr>
              <a:t>is</a:t>
            </a:r>
            <a:r>
              <a:rPr lang="en-US" sz="2400" spc="-75" dirty="0">
                <a:cs typeface="Calibri"/>
              </a:rPr>
              <a:t> </a:t>
            </a:r>
            <a:r>
              <a:rPr lang="en-US" sz="2400" dirty="0">
                <a:cs typeface="Calibri"/>
              </a:rPr>
              <a:t>good,</a:t>
            </a:r>
            <a:r>
              <a:rPr lang="en-US" sz="2400" spc="-50" dirty="0">
                <a:cs typeface="Calibri"/>
              </a:rPr>
              <a:t> </a:t>
            </a:r>
            <a:r>
              <a:rPr lang="en-US" sz="2400" dirty="0">
                <a:cs typeface="Calibri"/>
              </a:rPr>
              <a:t>and</a:t>
            </a:r>
            <a:r>
              <a:rPr lang="en-US" sz="2400" spc="-65" dirty="0">
                <a:cs typeface="Calibri"/>
              </a:rPr>
              <a:t> </a:t>
            </a:r>
            <a:r>
              <a:rPr lang="en-US" sz="2400" dirty="0">
                <a:cs typeface="Calibri"/>
              </a:rPr>
              <a:t>whenever</a:t>
            </a:r>
            <a:r>
              <a:rPr lang="en-US" sz="2400" spc="-40" dirty="0">
                <a:cs typeface="Calibri"/>
              </a:rPr>
              <a:t> </a:t>
            </a:r>
            <a:r>
              <a:rPr lang="en-US" sz="2400" dirty="0">
                <a:cs typeface="Calibri"/>
              </a:rPr>
              <a:t>the</a:t>
            </a:r>
            <a:r>
              <a:rPr lang="en-US" sz="2400" spc="-60" dirty="0">
                <a:cs typeface="Calibri"/>
              </a:rPr>
              <a:t> </a:t>
            </a:r>
            <a:r>
              <a:rPr lang="en-US" sz="2400" dirty="0">
                <a:cs typeface="Calibri"/>
              </a:rPr>
              <a:t>weather</a:t>
            </a:r>
            <a:r>
              <a:rPr lang="en-US" sz="2400" spc="-65" dirty="0">
                <a:cs typeface="Calibri"/>
              </a:rPr>
              <a:t> </a:t>
            </a:r>
            <a:r>
              <a:rPr lang="en-US" sz="2400" spc="-25" dirty="0">
                <a:cs typeface="Calibri"/>
              </a:rPr>
              <a:t>is 	</a:t>
            </a:r>
            <a:r>
              <a:rPr lang="en-US" sz="2400" spc="-20" dirty="0">
                <a:cs typeface="Calibri"/>
              </a:rPr>
              <a:t>bad.</a:t>
            </a:r>
            <a:endParaRPr lang="en-US" sz="2400" dirty="0">
              <a:cs typeface="Calibri"/>
            </a:endParaRPr>
          </a:p>
          <a:p>
            <a:pPr marL="240029" indent="-227329">
              <a:lnSpc>
                <a:spcPts val="2450"/>
              </a:lnSpc>
              <a:spcBef>
                <a:spcPts val="140"/>
              </a:spcBef>
              <a:buFont typeface="Arial"/>
              <a:buChar char="•"/>
              <a:tabLst>
                <a:tab pos="240029" algn="l"/>
              </a:tabLst>
            </a:pPr>
            <a:r>
              <a:rPr lang="en-US" sz="2400" dirty="0">
                <a:cs typeface="Calibri"/>
              </a:rPr>
              <a:t>It</a:t>
            </a:r>
            <a:r>
              <a:rPr lang="en-US" sz="2400" spc="-60" dirty="0">
                <a:cs typeface="Calibri"/>
              </a:rPr>
              <a:t> </a:t>
            </a:r>
            <a:r>
              <a:rPr lang="en-US" sz="2400" dirty="0">
                <a:cs typeface="Calibri"/>
              </a:rPr>
              <a:t>makes</a:t>
            </a:r>
            <a:r>
              <a:rPr lang="en-US" sz="2400" spc="-65" dirty="0">
                <a:cs typeface="Calibri"/>
              </a:rPr>
              <a:t> </a:t>
            </a:r>
            <a:r>
              <a:rPr lang="en-US" sz="2400" dirty="0">
                <a:cs typeface="Calibri"/>
              </a:rPr>
              <a:t>no</a:t>
            </a:r>
            <a:r>
              <a:rPr lang="en-US" sz="2400" spc="-55" dirty="0">
                <a:cs typeface="Calibri"/>
              </a:rPr>
              <a:t> </a:t>
            </a:r>
            <a:r>
              <a:rPr lang="en-US" sz="2400" spc="-10" dirty="0">
                <a:cs typeface="Calibri"/>
              </a:rPr>
              <a:t>difference</a:t>
            </a:r>
            <a:r>
              <a:rPr lang="en-US" sz="2400" spc="-45" dirty="0">
                <a:cs typeface="Calibri"/>
              </a:rPr>
              <a:t> </a:t>
            </a:r>
            <a:r>
              <a:rPr lang="en-US" sz="2400" dirty="0">
                <a:cs typeface="Calibri"/>
              </a:rPr>
              <a:t>to</a:t>
            </a:r>
            <a:r>
              <a:rPr lang="en-US" sz="2400" spc="-75" dirty="0">
                <a:cs typeface="Calibri"/>
              </a:rPr>
              <a:t> </a:t>
            </a:r>
            <a:r>
              <a:rPr lang="en-US" sz="2400" dirty="0">
                <a:cs typeface="Calibri"/>
              </a:rPr>
              <a:t>the</a:t>
            </a:r>
            <a:r>
              <a:rPr lang="en-US" sz="2400" spc="-50" dirty="0">
                <a:cs typeface="Calibri"/>
              </a:rPr>
              <a:t> </a:t>
            </a:r>
            <a:r>
              <a:rPr lang="en-US" sz="2400" dirty="0">
                <a:cs typeface="Calibri"/>
              </a:rPr>
              <a:t>output</a:t>
            </a:r>
            <a:r>
              <a:rPr lang="en-US" sz="2400" spc="-35" dirty="0">
                <a:cs typeface="Calibri"/>
              </a:rPr>
              <a:t> </a:t>
            </a:r>
            <a:r>
              <a:rPr lang="en-US" sz="2400" dirty="0">
                <a:cs typeface="Calibri"/>
              </a:rPr>
              <a:t>whether</a:t>
            </a:r>
            <a:r>
              <a:rPr lang="en-US" sz="2400" spc="-45" dirty="0">
                <a:cs typeface="Calibri"/>
              </a:rPr>
              <a:t> </a:t>
            </a:r>
            <a:r>
              <a:rPr lang="en-US" sz="2400" dirty="0">
                <a:cs typeface="Calibri"/>
              </a:rPr>
              <a:t>your</a:t>
            </a:r>
            <a:r>
              <a:rPr lang="en-US" sz="2400" spc="-50" dirty="0">
                <a:cs typeface="Calibri"/>
              </a:rPr>
              <a:t> </a:t>
            </a:r>
            <a:r>
              <a:rPr lang="en-US" sz="2400" dirty="0">
                <a:cs typeface="Calibri"/>
              </a:rPr>
              <a:t>boyfriend</a:t>
            </a:r>
            <a:r>
              <a:rPr lang="en-US" sz="2400" spc="-50" dirty="0">
                <a:cs typeface="Calibri"/>
              </a:rPr>
              <a:t> </a:t>
            </a:r>
            <a:r>
              <a:rPr lang="en-US" sz="2400" dirty="0">
                <a:cs typeface="Calibri"/>
              </a:rPr>
              <a:t>or</a:t>
            </a:r>
            <a:r>
              <a:rPr lang="en-US" sz="2400" spc="-70" dirty="0">
                <a:cs typeface="Calibri"/>
              </a:rPr>
              <a:t> </a:t>
            </a:r>
            <a:r>
              <a:rPr lang="en-US" sz="2400" dirty="0">
                <a:cs typeface="Calibri"/>
              </a:rPr>
              <a:t>girlfriend</a:t>
            </a:r>
            <a:r>
              <a:rPr lang="en-US" sz="2400" spc="-65" dirty="0">
                <a:cs typeface="Calibri"/>
              </a:rPr>
              <a:t> </a:t>
            </a:r>
            <a:r>
              <a:rPr lang="en-US" sz="2400" spc="-10" dirty="0">
                <a:cs typeface="Calibri"/>
              </a:rPr>
              <a:t>wants </a:t>
            </a:r>
            <a:r>
              <a:rPr lang="en-US" sz="2400" dirty="0">
                <a:cs typeface="Calibri"/>
              </a:rPr>
              <a:t>to</a:t>
            </a:r>
            <a:r>
              <a:rPr lang="en-US" sz="2400" spc="-50" dirty="0">
                <a:cs typeface="Calibri"/>
              </a:rPr>
              <a:t> </a:t>
            </a:r>
            <a:r>
              <a:rPr lang="en-US" sz="2400" dirty="0">
                <a:cs typeface="Calibri"/>
              </a:rPr>
              <a:t>go,</a:t>
            </a:r>
            <a:r>
              <a:rPr lang="en-US" sz="2400" spc="-35" dirty="0">
                <a:cs typeface="Calibri"/>
              </a:rPr>
              <a:t> </a:t>
            </a:r>
            <a:r>
              <a:rPr lang="en-US" sz="2400" dirty="0">
                <a:cs typeface="Calibri"/>
              </a:rPr>
              <a:t>or</a:t>
            </a:r>
            <a:r>
              <a:rPr lang="en-US" sz="2400" spc="-35" dirty="0">
                <a:cs typeface="Calibri"/>
              </a:rPr>
              <a:t> </a:t>
            </a:r>
            <a:r>
              <a:rPr lang="en-US" sz="2400" dirty="0">
                <a:cs typeface="Calibri"/>
              </a:rPr>
              <a:t>whether</a:t>
            </a:r>
            <a:r>
              <a:rPr lang="en-US" sz="2400" spc="-35" dirty="0">
                <a:cs typeface="Calibri"/>
              </a:rPr>
              <a:t> </a:t>
            </a:r>
            <a:r>
              <a:rPr lang="en-US" sz="2400" dirty="0">
                <a:cs typeface="Calibri"/>
              </a:rPr>
              <a:t>public</a:t>
            </a:r>
            <a:r>
              <a:rPr lang="en-US" sz="2400" spc="-55" dirty="0">
                <a:cs typeface="Calibri"/>
              </a:rPr>
              <a:t> </a:t>
            </a:r>
            <a:r>
              <a:rPr lang="en-US" sz="2400" dirty="0">
                <a:cs typeface="Calibri"/>
              </a:rPr>
              <a:t>transit</a:t>
            </a:r>
            <a:r>
              <a:rPr lang="en-US" sz="2400" spc="-60" dirty="0">
                <a:cs typeface="Calibri"/>
              </a:rPr>
              <a:t> </a:t>
            </a:r>
            <a:r>
              <a:rPr lang="en-US" sz="2400" dirty="0">
                <a:cs typeface="Calibri"/>
              </a:rPr>
              <a:t>is</a:t>
            </a:r>
            <a:r>
              <a:rPr lang="en-US" sz="2400" spc="-60" dirty="0">
                <a:cs typeface="Calibri"/>
              </a:rPr>
              <a:t> </a:t>
            </a:r>
            <a:r>
              <a:rPr lang="en-US" sz="2400" spc="-10" dirty="0">
                <a:cs typeface="Calibri"/>
              </a:rPr>
              <a:t>nearby.</a:t>
            </a:r>
            <a:endParaRPr lang="en-US" sz="2400" dirty="0">
              <a:cs typeface="Calibri"/>
            </a:endParaRPr>
          </a:p>
        </p:txBody>
      </p:sp>
    </p:spTree>
    <p:extLst>
      <p:ext uri="{BB962C8B-B14F-4D97-AF65-F5344CB8AC3E}">
        <p14:creationId xmlns:p14="http://schemas.microsoft.com/office/powerpoint/2010/main" val="885353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7F01B-0C0E-A955-96FE-C325E90D6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A0A9D-BC0B-C8F8-4A2A-4483D8848AED}"/>
              </a:ext>
            </a:extLst>
          </p:cNvPr>
          <p:cNvSpPr>
            <a:spLocks noGrp="1"/>
          </p:cNvSpPr>
          <p:nvPr>
            <p:ph type="title"/>
          </p:nvPr>
        </p:nvSpPr>
        <p:spPr>
          <a:xfrm>
            <a:off x="629500" y="277838"/>
            <a:ext cx="9097686" cy="1068223"/>
          </a:xfrm>
        </p:spPr>
        <p:txBody>
          <a:bodyPr/>
          <a:lstStyle/>
          <a:p>
            <a:r>
              <a:rPr lang="en-GB" spc="-25" dirty="0"/>
              <a:t>Perceptron</a:t>
            </a:r>
            <a:r>
              <a:rPr lang="en-GB" spc="-160" dirty="0"/>
              <a:t> </a:t>
            </a:r>
            <a:r>
              <a:rPr lang="en-GB" spc="-10" dirty="0"/>
              <a:t>Example</a:t>
            </a:r>
            <a:endParaRPr lang="en-US" dirty="0">
              <a:solidFill>
                <a:srgbClr val="942D6D"/>
              </a:solidFill>
            </a:endParaRPr>
          </a:p>
        </p:txBody>
      </p:sp>
      <p:cxnSp>
        <p:nvCxnSpPr>
          <p:cNvPr id="4" name="Straight Connector 3">
            <a:extLst>
              <a:ext uri="{FF2B5EF4-FFF2-40B4-BE49-F238E27FC236}">
                <a16:creationId xmlns:a16="http://schemas.microsoft.com/office/drawing/2014/main" id="{928EBDF7-213B-DAB6-D82A-550A3709648C}"/>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F3FCA4BE-E1E5-F41B-598F-BD2C30BAFCCA}"/>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0A88D35F-33CF-E48D-29B7-4BEAFBBDBA69}"/>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9" name="table">
            <a:extLst>
              <a:ext uri="{FF2B5EF4-FFF2-40B4-BE49-F238E27FC236}">
                <a16:creationId xmlns:a16="http://schemas.microsoft.com/office/drawing/2014/main" id="{01F7E310-CC5B-B74C-E709-24449C6015AF}"/>
              </a:ext>
            </a:extLst>
          </p:cNvPr>
          <p:cNvPicPr>
            <a:picLocks noChangeAspect="1"/>
          </p:cNvPicPr>
          <p:nvPr/>
        </p:nvPicPr>
        <p:blipFill>
          <a:blip r:embed="rId3"/>
          <a:stretch>
            <a:fillRect/>
          </a:stretch>
        </p:blipFill>
        <p:spPr>
          <a:xfrm>
            <a:off x="838517" y="2138998"/>
            <a:ext cx="10514965" cy="2580005"/>
          </a:xfrm>
          <a:prstGeom prst="rect">
            <a:avLst/>
          </a:prstGeom>
        </p:spPr>
      </p:pic>
    </p:spTree>
    <p:extLst>
      <p:ext uri="{BB962C8B-B14F-4D97-AF65-F5344CB8AC3E}">
        <p14:creationId xmlns:p14="http://schemas.microsoft.com/office/powerpoint/2010/main" val="755286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DEC1C-F532-D5E8-E2AE-3B48AB1A3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62CB1-B789-F4AC-7585-5DE9EE4527F6}"/>
              </a:ext>
            </a:extLst>
          </p:cNvPr>
          <p:cNvSpPr>
            <a:spLocks noGrp="1"/>
          </p:cNvSpPr>
          <p:nvPr>
            <p:ph type="title"/>
          </p:nvPr>
        </p:nvSpPr>
        <p:spPr>
          <a:xfrm>
            <a:off x="629500" y="277838"/>
            <a:ext cx="9097686" cy="1068223"/>
          </a:xfrm>
        </p:spPr>
        <p:txBody>
          <a:bodyPr/>
          <a:lstStyle/>
          <a:p>
            <a:r>
              <a:rPr lang="en-GB" spc="-25" dirty="0"/>
              <a:t>Perceptron</a:t>
            </a:r>
            <a:r>
              <a:rPr lang="en-GB" spc="-160" dirty="0"/>
              <a:t> </a:t>
            </a:r>
            <a:r>
              <a:rPr lang="en-GB" spc="-10" dirty="0"/>
              <a:t>Example</a:t>
            </a:r>
            <a:endParaRPr lang="en-US" dirty="0">
              <a:solidFill>
                <a:srgbClr val="942D6D"/>
              </a:solidFill>
            </a:endParaRPr>
          </a:p>
        </p:txBody>
      </p:sp>
      <p:cxnSp>
        <p:nvCxnSpPr>
          <p:cNvPr id="4" name="Straight Connector 3">
            <a:extLst>
              <a:ext uri="{FF2B5EF4-FFF2-40B4-BE49-F238E27FC236}">
                <a16:creationId xmlns:a16="http://schemas.microsoft.com/office/drawing/2014/main" id="{AD7E92F4-09B1-30E5-5DC1-5A3465EAB7C1}"/>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E57947D6-CD33-6456-3725-81CC50F215AB}"/>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2B7D919E-6BBB-2E6E-B523-160151069325}"/>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table">
            <a:extLst>
              <a:ext uri="{FF2B5EF4-FFF2-40B4-BE49-F238E27FC236}">
                <a16:creationId xmlns:a16="http://schemas.microsoft.com/office/drawing/2014/main" id="{84C0D0DE-0448-560A-9F86-3F0143E77DDC}"/>
              </a:ext>
            </a:extLst>
          </p:cNvPr>
          <p:cNvPicPr>
            <a:picLocks noChangeAspect="1"/>
          </p:cNvPicPr>
          <p:nvPr/>
        </p:nvPicPr>
        <p:blipFill>
          <a:blip r:embed="rId3"/>
          <a:stretch>
            <a:fillRect/>
          </a:stretch>
        </p:blipFill>
        <p:spPr>
          <a:xfrm>
            <a:off x="944250" y="1675765"/>
            <a:ext cx="10303501" cy="3506470"/>
          </a:xfrm>
          <a:prstGeom prst="rect">
            <a:avLst/>
          </a:prstGeom>
        </p:spPr>
      </p:pic>
      <p:pic>
        <p:nvPicPr>
          <p:cNvPr id="7" name="object 4">
            <a:extLst>
              <a:ext uri="{FF2B5EF4-FFF2-40B4-BE49-F238E27FC236}">
                <a16:creationId xmlns:a16="http://schemas.microsoft.com/office/drawing/2014/main" id="{0CB8FD15-FED0-E091-09CE-995215A2DC72}"/>
              </a:ext>
            </a:extLst>
          </p:cNvPr>
          <p:cNvPicPr/>
          <p:nvPr/>
        </p:nvPicPr>
        <p:blipFill>
          <a:blip r:embed="rId4" cstate="print"/>
          <a:stretch>
            <a:fillRect/>
          </a:stretch>
        </p:blipFill>
        <p:spPr>
          <a:xfrm>
            <a:off x="3861958" y="5316085"/>
            <a:ext cx="4468084" cy="806547"/>
          </a:xfrm>
          <a:prstGeom prst="rect">
            <a:avLst/>
          </a:prstGeom>
        </p:spPr>
      </p:pic>
    </p:spTree>
    <p:extLst>
      <p:ext uri="{BB962C8B-B14F-4D97-AF65-F5344CB8AC3E}">
        <p14:creationId xmlns:p14="http://schemas.microsoft.com/office/powerpoint/2010/main" val="1679655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CE095-F1AD-7E43-0611-14AE84A38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816DD-E795-9CAF-11BD-6301A647F055}"/>
              </a:ext>
            </a:extLst>
          </p:cNvPr>
          <p:cNvSpPr>
            <a:spLocks noGrp="1"/>
          </p:cNvSpPr>
          <p:nvPr>
            <p:ph type="title"/>
          </p:nvPr>
        </p:nvSpPr>
        <p:spPr>
          <a:xfrm>
            <a:off x="629500" y="277838"/>
            <a:ext cx="9097686" cy="1068223"/>
          </a:xfrm>
        </p:spPr>
        <p:txBody>
          <a:bodyPr/>
          <a:lstStyle/>
          <a:p>
            <a:r>
              <a:rPr lang="en-GB" spc="-25" dirty="0"/>
              <a:t>Classroom Group Exercise</a:t>
            </a:r>
            <a:endParaRPr lang="en-US" dirty="0">
              <a:solidFill>
                <a:srgbClr val="942D6D"/>
              </a:solidFill>
            </a:endParaRPr>
          </a:p>
        </p:txBody>
      </p:sp>
      <p:cxnSp>
        <p:nvCxnSpPr>
          <p:cNvPr id="4" name="Straight Connector 3">
            <a:extLst>
              <a:ext uri="{FF2B5EF4-FFF2-40B4-BE49-F238E27FC236}">
                <a16:creationId xmlns:a16="http://schemas.microsoft.com/office/drawing/2014/main" id="{D1B3B8B3-FD88-682F-F3EF-39EACBA4ECD0}"/>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FE17C256-19C4-2F0F-11EA-255EA4935EC0}"/>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F9D0AEED-F88B-0BEF-4496-0C4646629FF7}"/>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EC8B4C5A-CDA2-161E-2CC7-B8B692FF4218}"/>
              </a:ext>
            </a:extLst>
          </p:cNvPr>
          <p:cNvSpPr txBox="1"/>
          <p:nvPr/>
        </p:nvSpPr>
        <p:spPr>
          <a:xfrm>
            <a:off x="719488" y="1567283"/>
            <a:ext cx="6097604" cy="3323987"/>
          </a:xfrm>
          <a:prstGeom prst="rect">
            <a:avLst/>
          </a:prstGeom>
          <a:noFill/>
        </p:spPr>
        <p:txBody>
          <a:bodyPr wrap="square">
            <a:spAutoFit/>
          </a:bodyPr>
          <a:lstStyle/>
          <a:p>
            <a:pPr>
              <a:spcAft>
                <a:spcPts val="600"/>
              </a:spcAft>
            </a:pPr>
            <a:r>
              <a:rPr lang="en-US" sz="1800" dirty="0"/>
              <a:t>Taking the same example of the festival visit, in a group, what do you think will be the answer to visit the festival if the following data are given:</a:t>
            </a:r>
          </a:p>
          <a:p>
            <a:pPr marL="285750" indent="-285750">
              <a:spcAft>
                <a:spcPts val="600"/>
              </a:spcAft>
              <a:buFont typeface="Arial" panose="020B0604020202020204" pitchFamily="34" charset="0"/>
              <a:buChar char="•"/>
            </a:pPr>
            <a:r>
              <a:rPr lang="en-US" sz="1800" dirty="0"/>
              <a:t>Weather is bad</a:t>
            </a:r>
          </a:p>
          <a:p>
            <a:pPr marL="285750" indent="-285750">
              <a:spcAft>
                <a:spcPts val="600"/>
              </a:spcAft>
              <a:buFont typeface="Arial" panose="020B0604020202020204" pitchFamily="34" charset="0"/>
              <a:buChar char="•"/>
            </a:pPr>
            <a:r>
              <a:rPr lang="en-GB" sz="1800" dirty="0">
                <a:latin typeface="Calibri"/>
                <a:cs typeface="Calibri"/>
              </a:rPr>
              <a:t>boyfriend</a:t>
            </a:r>
            <a:r>
              <a:rPr lang="en-GB" sz="1800" spc="-45" dirty="0">
                <a:latin typeface="Calibri"/>
                <a:cs typeface="Calibri"/>
              </a:rPr>
              <a:t> </a:t>
            </a:r>
            <a:r>
              <a:rPr lang="en-GB" sz="1800" dirty="0">
                <a:latin typeface="Calibri"/>
                <a:cs typeface="Calibri"/>
              </a:rPr>
              <a:t>or</a:t>
            </a:r>
            <a:r>
              <a:rPr lang="en-GB" sz="1800" spc="-40" dirty="0">
                <a:latin typeface="Calibri"/>
                <a:cs typeface="Calibri"/>
              </a:rPr>
              <a:t> </a:t>
            </a:r>
            <a:r>
              <a:rPr lang="en-GB" sz="1800" dirty="0">
                <a:latin typeface="Calibri"/>
                <a:cs typeface="Calibri"/>
              </a:rPr>
              <a:t>girlfriend</a:t>
            </a:r>
            <a:r>
              <a:rPr lang="en-GB" sz="1800" spc="-65" dirty="0">
                <a:latin typeface="Calibri"/>
                <a:cs typeface="Calibri"/>
              </a:rPr>
              <a:t> </a:t>
            </a:r>
            <a:r>
              <a:rPr lang="en-GB" sz="1800" dirty="0">
                <a:latin typeface="Calibri"/>
                <a:cs typeface="Calibri"/>
              </a:rPr>
              <a:t>wants</a:t>
            </a:r>
            <a:r>
              <a:rPr lang="en-GB" sz="1800" spc="-65" dirty="0">
                <a:latin typeface="Calibri"/>
                <a:cs typeface="Calibri"/>
              </a:rPr>
              <a:t> </a:t>
            </a:r>
            <a:r>
              <a:rPr lang="en-GB" sz="1800" dirty="0">
                <a:latin typeface="Calibri"/>
                <a:cs typeface="Calibri"/>
              </a:rPr>
              <a:t>to</a:t>
            </a:r>
            <a:r>
              <a:rPr lang="en-GB" sz="1800" spc="-50" dirty="0">
                <a:latin typeface="Calibri"/>
                <a:cs typeface="Calibri"/>
              </a:rPr>
              <a:t> </a:t>
            </a:r>
            <a:r>
              <a:rPr lang="en-GB" sz="1800" spc="-25" dirty="0">
                <a:latin typeface="Calibri"/>
                <a:cs typeface="Calibri"/>
              </a:rPr>
              <a:t>go</a:t>
            </a:r>
          </a:p>
          <a:p>
            <a:pPr marL="285750" indent="-285750">
              <a:spcAft>
                <a:spcPts val="600"/>
              </a:spcAft>
              <a:buFont typeface="Arial" panose="020B0604020202020204" pitchFamily="34" charset="0"/>
              <a:buChar char="•"/>
            </a:pPr>
            <a:r>
              <a:rPr lang="en-GB" sz="1800" spc="-10" dirty="0">
                <a:latin typeface="Calibri"/>
                <a:cs typeface="Calibri"/>
              </a:rPr>
              <a:t>festival</a:t>
            </a:r>
            <a:r>
              <a:rPr lang="en-GB" sz="1800" spc="-55" dirty="0">
                <a:latin typeface="Calibri"/>
                <a:cs typeface="Calibri"/>
              </a:rPr>
              <a:t> </a:t>
            </a:r>
            <a:r>
              <a:rPr lang="en-GB" sz="1800" dirty="0">
                <a:latin typeface="Calibri"/>
                <a:cs typeface="Calibri"/>
              </a:rPr>
              <a:t>is</a:t>
            </a:r>
            <a:r>
              <a:rPr lang="en-GB" sz="1800" spc="-40" dirty="0">
                <a:latin typeface="Calibri"/>
                <a:cs typeface="Calibri"/>
              </a:rPr>
              <a:t> </a:t>
            </a:r>
            <a:r>
              <a:rPr lang="en-GB" sz="1800" dirty="0">
                <a:latin typeface="Calibri"/>
                <a:cs typeface="Calibri"/>
              </a:rPr>
              <a:t>close</a:t>
            </a:r>
            <a:r>
              <a:rPr lang="en-GB" sz="1800" spc="-55" dirty="0">
                <a:latin typeface="Calibri"/>
                <a:cs typeface="Calibri"/>
              </a:rPr>
              <a:t> </a:t>
            </a:r>
            <a:r>
              <a:rPr lang="en-GB" sz="1800" dirty="0">
                <a:latin typeface="Calibri"/>
                <a:cs typeface="Calibri"/>
              </a:rPr>
              <a:t>to</a:t>
            </a:r>
            <a:r>
              <a:rPr lang="en-GB" sz="1800" spc="-65" dirty="0">
                <a:latin typeface="Calibri"/>
                <a:cs typeface="Calibri"/>
              </a:rPr>
              <a:t> </a:t>
            </a:r>
            <a:r>
              <a:rPr lang="en-GB" sz="1800" dirty="0">
                <a:latin typeface="Calibri"/>
                <a:cs typeface="Calibri"/>
              </a:rPr>
              <a:t>public</a:t>
            </a:r>
            <a:r>
              <a:rPr lang="en-GB" sz="1800" spc="-50" dirty="0">
                <a:latin typeface="Calibri"/>
                <a:cs typeface="Calibri"/>
              </a:rPr>
              <a:t> </a:t>
            </a:r>
            <a:r>
              <a:rPr lang="en-GB" sz="1800" spc="-10" dirty="0">
                <a:latin typeface="Calibri"/>
                <a:cs typeface="Calibri"/>
              </a:rPr>
              <a:t>transit</a:t>
            </a:r>
            <a:endParaRPr lang="en-GB" sz="1800" dirty="0">
              <a:latin typeface="Calibri"/>
              <a:cs typeface="Calibri"/>
            </a:endParaRPr>
          </a:p>
          <a:p>
            <a:pPr>
              <a:spcAft>
                <a:spcPts val="600"/>
              </a:spcAft>
            </a:pPr>
            <a:endParaRPr lang="en-US" sz="1800" dirty="0"/>
          </a:p>
          <a:p>
            <a:pPr>
              <a:spcAft>
                <a:spcPts val="600"/>
              </a:spcAft>
            </a:pPr>
            <a:r>
              <a:rPr lang="en-US" sz="1800" dirty="0"/>
              <a:t>You have 10 minutes to discuss this in your group and present the working solution in a </a:t>
            </a:r>
            <a:r>
              <a:rPr lang="en-US" sz="1800" dirty="0" err="1"/>
              <a:t>powerpoint</a:t>
            </a:r>
            <a:r>
              <a:rPr lang="en-US" sz="1800" dirty="0"/>
              <a:t>.</a:t>
            </a:r>
          </a:p>
          <a:p>
            <a:pPr>
              <a:spcAft>
                <a:spcPts val="600"/>
              </a:spcAft>
            </a:pPr>
            <a:endParaRPr lang="en-US" sz="1800" dirty="0"/>
          </a:p>
        </p:txBody>
      </p:sp>
    </p:spTree>
    <p:extLst>
      <p:ext uri="{BB962C8B-B14F-4D97-AF65-F5344CB8AC3E}">
        <p14:creationId xmlns:p14="http://schemas.microsoft.com/office/powerpoint/2010/main" val="268924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0CB63-F93D-5C81-AED0-FF9816531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BDC9E-82D5-A01A-83B7-C24F271D3676}"/>
              </a:ext>
            </a:extLst>
          </p:cNvPr>
          <p:cNvSpPr>
            <a:spLocks noGrp="1"/>
          </p:cNvSpPr>
          <p:nvPr>
            <p:ph type="title"/>
          </p:nvPr>
        </p:nvSpPr>
        <p:spPr>
          <a:xfrm>
            <a:off x="629500" y="277838"/>
            <a:ext cx="9097686" cy="1068223"/>
          </a:xfrm>
        </p:spPr>
        <p:txBody>
          <a:bodyPr/>
          <a:lstStyle/>
          <a:p>
            <a:r>
              <a:rPr lang="en-GB" spc="-25" dirty="0"/>
              <a:t>Perceptron</a:t>
            </a:r>
            <a:r>
              <a:rPr lang="en-GB" spc="-155" dirty="0"/>
              <a:t> </a:t>
            </a:r>
            <a:r>
              <a:rPr lang="en-GB" dirty="0"/>
              <a:t>and</a:t>
            </a:r>
            <a:r>
              <a:rPr lang="en-GB" spc="-130" dirty="0"/>
              <a:t> </a:t>
            </a:r>
            <a:r>
              <a:rPr lang="en-GB" dirty="0"/>
              <a:t>Neural</a:t>
            </a:r>
            <a:r>
              <a:rPr lang="en-GB" spc="-145" dirty="0"/>
              <a:t> </a:t>
            </a:r>
            <a:r>
              <a:rPr lang="en-GB" spc="-10" dirty="0"/>
              <a:t>Networks</a:t>
            </a:r>
            <a:endParaRPr lang="en-US" dirty="0">
              <a:solidFill>
                <a:srgbClr val="942D6D"/>
              </a:solidFill>
            </a:endParaRPr>
          </a:p>
        </p:txBody>
      </p:sp>
      <p:cxnSp>
        <p:nvCxnSpPr>
          <p:cNvPr id="4" name="Straight Connector 3">
            <a:extLst>
              <a:ext uri="{FF2B5EF4-FFF2-40B4-BE49-F238E27FC236}">
                <a16:creationId xmlns:a16="http://schemas.microsoft.com/office/drawing/2014/main" id="{F293F364-EB1D-A2CA-DC3D-79903D9627E1}"/>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A9BAEC41-1BFD-2C59-D968-294129838747}"/>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6C73E1EE-D225-0603-A3BF-54EAC8815E60}"/>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3" name="object 3">
            <a:extLst>
              <a:ext uri="{FF2B5EF4-FFF2-40B4-BE49-F238E27FC236}">
                <a16:creationId xmlns:a16="http://schemas.microsoft.com/office/drawing/2014/main" id="{F8BEB799-C8C6-BFD8-EBE1-BD04281341A0}"/>
              </a:ext>
            </a:extLst>
          </p:cNvPr>
          <p:cNvSpPr txBox="1"/>
          <p:nvPr/>
        </p:nvSpPr>
        <p:spPr>
          <a:xfrm>
            <a:off x="984535" y="1768687"/>
            <a:ext cx="4141470" cy="574040"/>
          </a:xfrm>
          <a:prstGeom prst="rect">
            <a:avLst/>
          </a:prstGeom>
        </p:spPr>
        <p:txBody>
          <a:bodyPr vert="horz" wrap="square" lIns="0" tIns="12700" rIns="0" bIns="0" rtlCol="0">
            <a:spAutoFit/>
          </a:bodyPr>
          <a:lstStyle>
            <a:defPPr>
              <a:defRPr kern="0"/>
            </a:defPPr>
          </a:lstStyle>
          <a:p>
            <a:pPr marL="240665" indent="-227965">
              <a:lnSpc>
                <a:spcPct val="100000"/>
              </a:lnSpc>
              <a:spcBef>
                <a:spcPts val="100"/>
              </a:spcBef>
              <a:buFont typeface="Arial"/>
              <a:buChar char="•"/>
              <a:tabLst>
                <a:tab pos="240665" algn="l"/>
              </a:tabLst>
            </a:pPr>
            <a:r>
              <a:rPr sz="3600" dirty="0">
                <a:latin typeface="Calibri"/>
                <a:cs typeface="Calibri"/>
              </a:rPr>
              <a:t>Threshold</a:t>
            </a:r>
            <a:r>
              <a:rPr sz="3600" spc="-80" dirty="0">
                <a:latin typeface="Calibri"/>
                <a:cs typeface="Calibri"/>
              </a:rPr>
              <a:t> </a:t>
            </a:r>
            <a:r>
              <a:rPr sz="3600" dirty="0">
                <a:latin typeface="Calibri"/>
                <a:cs typeface="Calibri"/>
              </a:rPr>
              <a:t>=</a:t>
            </a:r>
            <a:r>
              <a:rPr sz="3600" spc="-15" dirty="0">
                <a:latin typeface="Calibri"/>
                <a:cs typeface="Calibri"/>
              </a:rPr>
              <a:t> </a:t>
            </a:r>
            <a:r>
              <a:rPr sz="3600" dirty="0">
                <a:latin typeface="Calibri"/>
                <a:cs typeface="Calibri"/>
              </a:rPr>
              <a:t>-</a:t>
            </a:r>
            <a:r>
              <a:rPr sz="3600" spc="-45" dirty="0">
                <a:latin typeface="Calibri"/>
                <a:cs typeface="Calibri"/>
              </a:rPr>
              <a:t> </a:t>
            </a:r>
            <a:r>
              <a:rPr sz="3600" dirty="0">
                <a:latin typeface="Calibri"/>
                <a:cs typeface="Calibri"/>
              </a:rPr>
              <a:t>bias</a:t>
            </a:r>
            <a:r>
              <a:rPr sz="3600" spc="-40" dirty="0">
                <a:latin typeface="Calibri"/>
                <a:cs typeface="Calibri"/>
              </a:rPr>
              <a:t> </a:t>
            </a:r>
            <a:r>
              <a:rPr sz="3600" spc="-25" dirty="0">
                <a:latin typeface="Calibri"/>
                <a:cs typeface="Calibri"/>
              </a:rPr>
              <a:t>(b)</a:t>
            </a:r>
            <a:endParaRPr sz="3600">
              <a:latin typeface="Calibri"/>
              <a:cs typeface="Calibri"/>
            </a:endParaRPr>
          </a:p>
        </p:txBody>
      </p:sp>
      <p:pic>
        <p:nvPicPr>
          <p:cNvPr id="8" name="object 4">
            <a:extLst>
              <a:ext uri="{FF2B5EF4-FFF2-40B4-BE49-F238E27FC236}">
                <a16:creationId xmlns:a16="http://schemas.microsoft.com/office/drawing/2014/main" id="{917A5249-7E7E-A2E6-9EDF-E778DBE8EFCA}"/>
              </a:ext>
            </a:extLst>
          </p:cNvPr>
          <p:cNvPicPr/>
          <p:nvPr/>
        </p:nvPicPr>
        <p:blipFill>
          <a:blip r:embed="rId3" cstate="print"/>
          <a:stretch>
            <a:fillRect/>
          </a:stretch>
        </p:blipFill>
        <p:spPr>
          <a:xfrm>
            <a:off x="2464979" y="3101298"/>
            <a:ext cx="4465869" cy="804672"/>
          </a:xfrm>
          <a:prstGeom prst="rect">
            <a:avLst/>
          </a:prstGeom>
        </p:spPr>
      </p:pic>
      <p:sp>
        <p:nvSpPr>
          <p:cNvPr id="9" name="object 5">
            <a:extLst>
              <a:ext uri="{FF2B5EF4-FFF2-40B4-BE49-F238E27FC236}">
                <a16:creationId xmlns:a16="http://schemas.microsoft.com/office/drawing/2014/main" id="{CA4B66CE-473B-D3A3-4C1B-146B134DD5C1}"/>
              </a:ext>
            </a:extLst>
          </p:cNvPr>
          <p:cNvSpPr txBox="1"/>
          <p:nvPr/>
        </p:nvSpPr>
        <p:spPr>
          <a:xfrm>
            <a:off x="682275" y="4484794"/>
            <a:ext cx="2918460" cy="604520"/>
          </a:xfrm>
          <a:prstGeom prst="rect">
            <a:avLst/>
          </a:prstGeom>
        </p:spPr>
        <p:txBody>
          <a:bodyPr vert="horz" wrap="square" lIns="0" tIns="12065" rIns="0" bIns="0" rtlCol="0">
            <a:spAutoFit/>
          </a:bodyPr>
          <a:lstStyle>
            <a:defPPr>
              <a:defRPr kern="0"/>
            </a:defPPr>
          </a:lstStyle>
          <a:p>
            <a:pPr marL="38100">
              <a:lnSpc>
                <a:spcPct val="100000"/>
              </a:lnSpc>
              <a:spcBef>
                <a:spcPts val="95"/>
              </a:spcBef>
              <a:tabLst>
                <a:tab pos="1394460" algn="l"/>
              </a:tabLst>
            </a:pPr>
            <a:r>
              <a:rPr sz="3600" spc="-225" dirty="0">
                <a:latin typeface="Cambria Math"/>
                <a:cs typeface="Cambria Math"/>
              </a:rPr>
              <a:t>Σ</a:t>
            </a:r>
            <a:r>
              <a:rPr sz="3900" spc="509" baseline="-16025" dirty="0">
                <a:latin typeface="Cambria Math"/>
                <a:cs typeface="Cambria Math"/>
              </a:rPr>
              <a:t>𝑗</a:t>
            </a:r>
            <a:r>
              <a:rPr sz="3600" spc="-355" dirty="0">
                <a:latin typeface="Cambria Math"/>
                <a:cs typeface="Cambria Math"/>
              </a:rPr>
              <a:t>𝑤</a:t>
            </a:r>
            <a:r>
              <a:rPr sz="3900" spc="509" baseline="-16025" dirty="0">
                <a:latin typeface="Cambria Math"/>
                <a:cs typeface="Cambria Math"/>
              </a:rPr>
              <a:t>𝑗</a:t>
            </a:r>
            <a:r>
              <a:rPr sz="3600" spc="-260" dirty="0">
                <a:latin typeface="Cambria Math"/>
                <a:cs typeface="Cambria Math"/>
              </a:rPr>
              <a:t>𝑥</a:t>
            </a:r>
            <a:r>
              <a:rPr sz="3900" spc="142" baseline="-16025" dirty="0">
                <a:latin typeface="Cambria Math"/>
                <a:cs typeface="Cambria Math"/>
              </a:rPr>
              <a:t>𝑗</a:t>
            </a:r>
            <a:r>
              <a:rPr sz="3900" baseline="-16025" dirty="0">
                <a:latin typeface="Cambria Math"/>
                <a:cs typeface="Cambria Math"/>
              </a:rPr>
              <a:t>	</a:t>
            </a:r>
            <a:r>
              <a:rPr sz="3800" i="1" spc="-180" dirty="0">
                <a:latin typeface="Cambria Math"/>
                <a:cs typeface="Cambria Math"/>
              </a:rPr>
              <a:t>+</a:t>
            </a:r>
            <a:r>
              <a:rPr sz="3800" i="1" spc="-70" dirty="0">
                <a:latin typeface="Cambria Math"/>
                <a:cs typeface="Cambria Math"/>
              </a:rPr>
              <a:t> </a:t>
            </a:r>
            <a:r>
              <a:rPr sz="3800" i="1" dirty="0">
                <a:latin typeface="Cambria Math"/>
                <a:cs typeface="Cambria Math"/>
              </a:rPr>
              <a:t>b</a:t>
            </a:r>
            <a:r>
              <a:rPr sz="3800" i="1" spc="-120" dirty="0">
                <a:latin typeface="Cambria Math"/>
                <a:cs typeface="Cambria Math"/>
              </a:rPr>
              <a:t> </a:t>
            </a:r>
            <a:r>
              <a:rPr sz="3800" i="1" spc="-180" dirty="0">
                <a:latin typeface="Cambria Math"/>
                <a:cs typeface="Cambria Math"/>
              </a:rPr>
              <a:t>=</a:t>
            </a:r>
            <a:r>
              <a:rPr sz="3800" i="1" spc="-70" dirty="0">
                <a:latin typeface="Cambria Math"/>
                <a:cs typeface="Cambria Math"/>
              </a:rPr>
              <a:t> </a:t>
            </a:r>
            <a:r>
              <a:rPr sz="3800" i="1" spc="-50" dirty="0">
                <a:latin typeface="Cambria Math"/>
                <a:cs typeface="Cambria Math"/>
              </a:rPr>
              <a:t>0</a:t>
            </a:r>
            <a:endParaRPr sz="3800">
              <a:latin typeface="Cambria Math"/>
              <a:cs typeface="Cambria Math"/>
            </a:endParaRPr>
          </a:p>
        </p:txBody>
      </p:sp>
      <p:sp>
        <p:nvSpPr>
          <p:cNvPr id="10" name="object 6">
            <a:extLst>
              <a:ext uri="{FF2B5EF4-FFF2-40B4-BE49-F238E27FC236}">
                <a16:creationId xmlns:a16="http://schemas.microsoft.com/office/drawing/2014/main" id="{337F5E41-BAAD-F5F1-C08C-62A3C642D4CC}"/>
              </a:ext>
            </a:extLst>
          </p:cNvPr>
          <p:cNvSpPr txBox="1"/>
          <p:nvPr/>
        </p:nvSpPr>
        <p:spPr>
          <a:xfrm>
            <a:off x="3951954" y="4509538"/>
            <a:ext cx="7557770" cy="57467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3600" dirty="0">
                <a:latin typeface="Cambria Math"/>
                <a:cs typeface="Cambria Math"/>
              </a:rPr>
              <a:t>Fundamental</a:t>
            </a:r>
            <a:r>
              <a:rPr sz="3600" spc="-75" dirty="0">
                <a:latin typeface="Cambria Math"/>
                <a:cs typeface="Cambria Math"/>
              </a:rPr>
              <a:t> </a:t>
            </a:r>
            <a:r>
              <a:rPr sz="3600" dirty="0">
                <a:latin typeface="Cambria Math"/>
                <a:cs typeface="Cambria Math"/>
              </a:rPr>
              <a:t>Eqn</a:t>
            </a:r>
            <a:r>
              <a:rPr sz="3600" spc="-100" dirty="0">
                <a:latin typeface="Cambria Math"/>
                <a:cs typeface="Cambria Math"/>
              </a:rPr>
              <a:t> </a:t>
            </a:r>
            <a:r>
              <a:rPr sz="3600" dirty="0">
                <a:latin typeface="Cambria Math"/>
                <a:cs typeface="Cambria Math"/>
              </a:rPr>
              <a:t>for</a:t>
            </a:r>
            <a:r>
              <a:rPr sz="3600" spc="-110" dirty="0">
                <a:latin typeface="Cambria Math"/>
                <a:cs typeface="Cambria Math"/>
              </a:rPr>
              <a:t> </a:t>
            </a:r>
            <a:r>
              <a:rPr sz="3600" dirty="0">
                <a:latin typeface="Cambria Math"/>
                <a:cs typeface="Cambria Math"/>
              </a:rPr>
              <a:t>Neural</a:t>
            </a:r>
            <a:r>
              <a:rPr sz="3600" spc="-95" dirty="0">
                <a:latin typeface="Cambria Math"/>
                <a:cs typeface="Cambria Math"/>
              </a:rPr>
              <a:t> </a:t>
            </a:r>
            <a:r>
              <a:rPr sz="3600" spc="-10" dirty="0">
                <a:latin typeface="Cambria Math"/>
                <a:cs typeface="Cambria Math"/>
              </a:rPr>
              <a:t>Networks</a:t>
            </a:r>
            <a:endParaRPr sz="3600">
              <a:latin typeface="Cambria Math"/>
              <a:cs typeface="Cambria Math"/>
            </a:endParaRPr>
          </a:p>
        </p:txBody>
      </p:sp>
    </p:spTree>
    <p:extLst>
      <p:ext uri="{BB962C8B-B14F-4D97-AF65-F5344CB8AC3E}">
        <p14:creationId xmlns:p14="http://schemas.microsoft.com/office/powerpoint/2010/main" val="2986288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821FF-8872-AE2D-4832-B6B9C9658BB1}"/>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BE1B64F-4C78-52F5-D38D-47BEEA5EBCE8}"/>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8C712710-1842-65AF-D7EB-973DA629FA2F}"/>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CF668741-0D63-0683-0E96-A4770A98D007}"/>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11" name="Title 10">
            <a:extLst>
              <a:ext uri="{FF2B5EF4-FFF2-40B4-BE49-F238E27FC236}">
                <a16:creationId xmlns:a16="http://schemas.microsoft.com/office/drawing/2014/main" id="{9A2F09E2-B33E-48BA-8AE5-89D98EAB4FDD}"/>
              </a:ext>
            </a:extLst>
          </p:cNvPr>
          <p:cNvSpPr>
            <a:spLocks noGrp="1"/>
          </p:cNvSpPr>
          <p:nvPr>
            <p:ph type="title"/>
          </p:nvPr>
        </p:nvSpPr>
        <p:spPr/>
        <p:txBody>
          <a:bodyPr/>
          <a:lstStyle/>
          <a:p>
            <a:r>
              <a:rPr lang="en-US" dirty="0"/>
              <a:t>Deep</a:t>
            </a:r>
            <a:r>
              <a:rPr lang="en-US" spc="-120" dirty="0"/>
              <a:t> </a:t>
            </a:r>
            <a:r>
              <a:rPr lang="en-US" spc="-10" dirty="0"/>
              <a:t>Learning – Multiple Layers of Neurons</a:t>
            </a:r>
            <a:endParaRPr lang="en-GB" dirty="0"/>
          </a:p>
        </p:txBody>
      </p:sp>
      <p:pic>
        <p:nvPicPr>
          <p:cNvPr id="12" name="object 3">
            <a:extLst>
              <a:ext uri="{FF2B5EF4-FFF2-40B4-BE49-F238E27FC236}">
                <a16:creationId xmlns:a16="http://schemas.microsoft.com/office/drawing/2014/main" id="{205D262D-AD11-BC0C-9AC3-7C5EF0B8E243}"/>
              </a:ext>
            </a:extLst>
          </p:cNvPr>
          <p:cNvPicPr/>
          <p:nvPr/>
        </p:nvPicPr>
        <p:blipFill>
          <a:blip r:embed="rId3" cstate="print"/>
          <a:stretch>
            <a:fillRect/>
          </a:stretch>
        </p:blipFill>
        <p:spPr>
          <a:xfrm>
            <a:off x="792202" y="1634073"/>
            <a:ext cx="9097686" cy="3589853"/>
          </a:xfrm>
          <a:prstGeom prst="rect">
            <a:avLst/>
          </a:prstGeom>
        </p:spPr>
      </p:pic>
      <p:sp>
        <p:nvSpPr>
          <p:cNvPr id="13" name="TextBox 3">
            <a:extLst>
              <a:ext uri="{FF2B5EF4-FFF2-40B4-BE49-F238E27FC236}">
                <a16:creationId xmlns:a16="http://schemas.microsoft.com/office/drawing/2014/main" id="{D7B836FC-9F4B-5850-EA00-598234242696}"/>
              </a:ext>
            </a:extLst>
          </p:cNvPr>
          <p:cNvSpPr txBox="1"/>
          <p:nvPr/>
        </p:nvSpPr>
        <p:spPr>
          <a:xfrm>
            <a:off x="807374" y="5385843"/>
            <a:ext cx="9200564" cy="646331"/>
          </a:xfrm>
          <a:prstGeom prst="rect">
            <a:avLst/>
          </a:prstGeom>
          <a:noFill/>
        </p:spPr>
        <p:txBody>
          <a:bodyPr wrap="square" rtlCol="0">
            <a:spAutoFit/>
          </a:bodyPr>
          <a:lstStyle>
            <a:defPPr>
              <a:defRPr kern="0"/>
            </a:defPPr>
          </a:lstStyle>
          <a:p>
            <a:r>
              <a:rPr lang="en-US" dirty="0"/>
              <a:t>Example shown in Google </a:t>
            </a:r>
            <a:r>
              <a:rPr lang="en-US" dirty="0" err="1"/>
              <a:t>Colab</a:t>
            </a:r>
            <a:r>
              <a:rPr lang="en-US" dirty="0"/>
              <a:t> Notebook: </a:t>
            </a:r>
            <a:r>
              <a:rPr lang="en-US" dirty="0">
                <a:hlinkClick r:id="rId4"/>
              </a:rPr>
              <a:t>https://colab.research.google.com/drive/1mB_IFQAd7qbMAhQ2C23a2NEbrNSl_i3R?usp=sharing</a:t>
            </a:r>
            <a:r>
              <a:rPr lang="en-US" dirty="0"/>
              <a:t> </a:t>
            </a:r>
          </a:p>
        </p:txBody>
      </p:sp>
    </p:spTree>
    <p:extLst>
      <p:ext uri="{BB962C8B-B14F-4D97-AF65-F5344CB8AC3E}">
        <p14:creationId xmlns:p14="http://schemas.microsoft.com/office/powerpoint/2010/main" val="1996285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82E1A-782C-23E7-17D9-2E5CDBF9AD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DA621-CD5F-8CD1-2D15-D6B6085E4B6C}"/>
              </a:ext>
            </a:extLst>
          </p:cNvPr>
          <p:cNvSpPr>
            <a:spLocks noGrp="1"/>
          </p:cNvSpPr>
          <p:nvPr>
            <p:ph type="title"/>
          </p:nvPr>
        </p:nvSpPr>
        <p:spPr>
          <a:xfrm>
            <a:off x="629500" y="277838"/>
            <a:ext cx="9097686" cy="1068223"/>
          </a:xfrm>
        </p:spPr>
        <p:txBody>
          <a:bodyPr/>
          <a:lstStyle/>
          <a:p>
            <a:r>
              <a:rPr lang="en-GB" spc="-25" dirty="0"/>
              <a:t>Types of Machine Learning</a:t>
            </a:r>
            <a:endParaRPr lang="en-US" dirty="0">
              <a:solidFill>
                <a:srgbClr val="942D6D"/>
              </a:solidFill>
            </a:endParaRPr>
          </a:p>
        </p:txBody>
      </p:sp>
      <p:cxnSp>
        <p:nvCxnSpPr>
          <p:cNvPr id="4" name="Straight Connector 3">
            <a:extLst>
              <a:ext uri="{FF2B5EF4-FFF2-40B4-BE49-F238E27FC236}">
                <a16:creationId xmlns:a16="http://schemas.microsoft.com/office/drawing/2014/main" id="{04190187-C24B-711B-B633-F99783DAFD7C}"/>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79EC8619-7BBD-707A-48CB-441D34F5F4D4}"/>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58AF0283-AB30-3ACC-7F63-06D528975AC4}"/>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2FBE6FE2-CD9D-69D5-D995-4742329D2C54}"/>
              </a:ext>
            </a:extLst>
          </p:cNvPr>
          <p:cNvPicPr>
            <a:picLocks noChangeAspect="1"/>
          </p:cNvPicPr>
          <p:nvPr/>
        </p:nvPicPr>
        <p:blipFill>
          <a:blip r:embed="rId3"/>
          <a:stretch>
            <a:fillRect/>
          </a:stretch>
        </p:blipFill>
        <p:spPr>
          <a:xfrm>
            <a:off x="2488692" y="1372835"/>
            <a:ext cx="7214616" cy="4112330"/>
          </a:xfrm>
          <a:prstGeom prst="rect">
            <a:avLst/>
          </a:prstGeom>
        </p:spPr>
      </p:pic>
    </p:spTree>
    <p:extLst>
      <p:ext uri="{BB962C8B-B14F-4D97-AF65-F5344CB8AC3E}">
        <p14:creationId xmlns:p14="http://schemas.microsoft.com/office/powerpoint/2010/main" val="2924506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15D34-935B-4152-5811-ABB956090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D1A6A-C4CA-514C-0D0E-EC16D55E1951}"/>
              </a:ext>
            </a:extLst>
          </p:cNvPr>
          <p:cNvSpPr>
            <a:spLocks noGrp="1"/>
          </p:cNvSpPr>
          <p:nvPr>
            <p:ph type="title"/>
          </p:nvPr>
        </p:nvSpPr>
        <p:spPr>
          <a:xfrm>
            <a:off x="629500" y="277838"/>
            <a:ext cx="9097686" cy="1068223"/>
          </a:xfrm>
        </p:spPr>
        <p:txBody>
          <a:bodyPr/>
          <a:lstStyle/>
          <a:p>
            <a:r>
              <a:rPr lang="en-GB" sz="4400" spc="-229" dirty="0"/>
              <a:t>Supervised</a:t>
            </a:r>
            <a:r>
              <a:rPr lang="en-GB" sz="4400" spc="-495" dirty="0"/>
              <a:t> </a:t>
            </a:r>
            <a:r>
              <a:rPr lang="en-GB" sz="4400" spc="-210" dirty="0"/>
              <a:t>Learning</a:t>
            </a:r>
            <a:r>
              <a:rPr lang="en-GB" sz="4400" spc="-365" dirty="0"/>
              <a:t> </a:t>
            </a:r>
            <a:r>
              <a:rPr lang="en-GB" sz="4400" spc="-120" dirty="0" err="1"/>
              <a:t>withNeural</a:t>
            </a:r>
            <a:r>
              <a:rPr lang="en-GB" sz="4400" spc="-235" dirty="0"/>
              <a:t> </a:t>
            </a:r>
            <a:r>
              <a:rPr lang="en-GB" sz="4400" spc="-135" dirty="0"/>
              <a:t>Networks</a:t>
            </a:r>
            <a:endParaRPr lang="en-US" dirty="0">
              <a:solidFill>
                <a:srgbClr val="942D6D"/>
              </a:solidFill>
            </a:endParaRPr>
          </a:p>
        </p:txBody>
      </p:sp>
      <p:cxnSp>
        <p:nvCxnSpPr>
          <p:cNvPr id="4" name="Straight Connector 3">
            <a:extLst>
              <a:ext uri="{FF2B5EF4-FFF2-40B4-BE49-F238E27FC236}">
                <a16:creationId xmlns:a16="http://schemas.microsoft.com/office/drawing/2014/main" id="{D85793D0-8094-BD55-B147-59056514B036}"/>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9CDC073B-93AC-AA13-D113-CCCBFDE7791E}"/>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ADC6BA34-AEBB-58DC-89E4-EA8C15EFD9C7}"/>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3" name="object 2">
            <a:extLst>
              <a:ext uri="{FF2B5EF4-FFF2-40B4-BE49-F238E27FC236}">
                <a16:creationId xmlns:a16="http://schemas.microsoft.com/office/drawing/2014/main" id="{2E875BB0-C529-BFBD-D883-1176FC4764B3}"/>
              </a:ext>
            </a:extLst>
          </p:cNvPr>
          <p:cNvSpPr txBox="1"/>
          <p:nvPr/>
        </p:nvSpPr>
        <p:spPr>
          <a:xfrm>
            <a:off x="629500" y="1328746"/>
            <a:ext cx="10341469" cy="2257028"/>
          </a:xfrm>
          <a:prstGeom prst="rect">
            <a:avLst/>
          </a:prstGeom>
        </p:spPr>
        <p:txBody>
          <a:bodyPr vert="horz" wrap="square" lIns="0" tIns="12700" rIns="0" bIns="0" rtlCol="0">
            <a:spAutoFit/>
          </a:bodyPr>
          <a:lstStyle>
            <a:defPPr>
              <a:defRPr kern="0"/>
            </a:defPPr>
          </a:lstStyle>
          <a:p>
            <a:pPr marL="240665" indent="-227965">
              <a:lnSpc>
                <a:spcPts val="2740"/>
              </a:lnSpc>
              <a:spcBef>
                <a:spcPts val="100"/>
              </a:spcBef>
              <a:buFont typeface="Wingdings"/>
              <a:buChar char=""/>
              <a:tabLst>
                <a:tab pos="240665" algn="l"/>
              </a:tabLst>
            </a:pPr>
            <a:r>
              <a:rPr sz="2400" spc="-114" dirty="0">
                <a:solidFill>
                  <a:srgbClr val="242424"/>
                </a:solidFill>
                <a:latin typeface="Arial"/>
                <a:cs typeface="Arial"/>
              </a:rPr>
              <a:t>There's</a:t>
            </a:r>
            <a:r>
              <a:rPr sz="2400" spc="-265" dirty="0">
                <a:solidFill>
                  <a:srgbClr val="242424"/>
                </a:solidFill>
                <a:latin typeface="Arial"/>
                <a:cs typeface="Arial"/>
              </a:rPr>
              <a:t> </a:t>
            </a:r>
            <a:r>
              <a:rPr sz="2400" spc="-110" dirty="0">
                <a:solidFill>
                  <a:srgbClr val="242424"/>
                </a:solidFill>
                <a:latin typeface="Arial"/>
                <a:cs typeface="Arial"/>
              </a:rPr>
              <a:t>been</a:t>
            </a:r>
            <a:r>
              <a:rPr sz="2400" spc="-204" dirty="0">
                <a:solidFill>
                  <a:srgbClr val="242424"/>
                </a:solidFill>
                <a:latin typeface="Arial"/>
                <a:cs typeface="Arial"/>
              </a:rPr>
              <a:t> </a:t>
            </a:r>
            <a:r>
              <a:rPr sz="2400" spc="-20" dirty="0">
                <a:solidFill>
                  <a:srgbClr val="242424"/>
                </a:solidFill>
                <a:latin typeface="Arial"/>
                <a:cs typeface="Arial"/>
              </a:rPr>
              <a:t>a</a:t>
            </a:r>
            <a:r>
              <a:rPr sz="2400" spc="-305" dirty="0">
                <a:solidFill>
                  <a:srgbClr val="242424"/>
                </a:solidFill>
                <a:latin typeface="Arial"/>
                <a:cs typeface="Arial"/>
              </a:rPr>
              <a:t> </a:t>
            </a:r>
            <a:r>
              <a:rPr sz="2400" dirty="0">
                <a:solidFill>
                  <a:srgbClr val="242424"/>
                </a:solidFill>
                <a:latin typeface="Arial"/>
                <a:cs typeface="Arial"/>
              </a:rPr>
              <a:t>lot</a:t>
            </a:r>
            <a:r>
              <a:rPr sz="2400" spc="-80" dirty="0">
                <a:solidFill>
                  <a:srgbClr val="242424"/>
                </a:solidFill>
                <a:latin typeface="Arial"/>
                <a:cs typeface="Arial"/>
              </a:rPr>
              <a:t> </a:t>
            </a:r>
            <a:r>
              <a:rPr sz="2400" dirty="0">
                <a:solidFill>
                  <a:srgbClr val="242424"/>
                </a:solidFill>
                <a:latin typeface="Arial"/>
                <a:cs typeface="Arial"/>
              </a:rPr>
              <a:t>of</a:t>
            </a:r>
            <a:r>
              <a:rPr sz="2400" spc="-140" dirty="0">
                <a:solidFill>
                  <a:srgbClr val="242424"/>
                </a:solidFill>
                <a:latin typeface="Arial"/>
                <a:cs typeface="Arial"/>
              </a:rPr>
              <a:t> </a:t>
            </a:r>
            <a:r>
              <a:rPr sz="2400" spc="-120" dirty="0">
                <a:solidFill>
                  <a:srgbClr val="242424"/>
                </a:solidFill>
                <a:latin typeface="Arial"/>
                <a:cs typeface="Arial"/>
              </a:rPr>
              <a:t>hype </a:t>
            </a:r>
            <a:r>
              <a:rPr sz="2400" spc="-50" dirty="0">
                <a:solidFill>
                  <a:srgbClr val="242424"/>
                </a:solidFill>
                <a:latin typeface="Arial"/>
                <a:cs typeface="Arial"/>
              </a:rPr>
              <a:t>about</a:t>
            </a:r>
            <a:r>
              <a:rPr sz="2400" spc="-190" dirty="0">
                <a:solidFill>
                  <a:srgbClr val="242424"/>
                </a:solidFill>
                <a:latin typeface="Arial"/>
                <a:cs typeface="Arial"/>
              </a:rPr>
              <a:t> </a:t>
            </a:r>
            <a:r>
              <a:rPr sz="2400" spc="-85" dirty="0">
                <a:solidFill>
                  <a:srgbClr val="242424"/>
                </a:solidFill>
                <a:latin typeface="Arial"/>
                <a:cs typeface="Arial"/>
              </a:rPr>
              <a:t>neural</a:t>
            </a:r>
            <a:r>
              <a:rPr sz="2400" spc="-190" dirty="0">
                <a:solidFill>
                  <a:srgbClr val="242424"/>
                </a:solidFill>
                <a:latin typeface="Arial"/>
                <a:cs typeface="Arial"/>
              </a:rPr>
              <a:t> </a:t>
            </a:r>
            <a:r>
              <a:rPr sz="2400" spc="-85" dirty="0">
                <a:solidFill>
                  <a:srgbClr val="242424"/>
                </a:solidFill>
                <a:latin typeface="Arial"/>
                <a:cs typeface="Arial"/>
              </a:rPr>
              <a:t>networks</a:t>
            </a:r>
            <a:r>
              <a:rPr sz="2400" spc="-100" dirty="0">
                <a:solidFill>
                  <a:srgbClr val="242424"/>
                </a:solidFill>
                <a:latin typeface="Arial"/>
                <a:cs typeface="Arial"/>
              </a:rPr>
              <a:t> and</a:t>
            </a:r>
            <a:r>
              <a:rPr sz="2400" spc="-220" dirty="0">
                <a:solidFill>
                  <a:srgbClr val="242424"/>
                </a:solidFill>
                <a:latin typeface="Arial"/>
                <a:cs typeface="Arial"/>
              </a:rPr>
              <a:t> </a:t>
            </a:r>
            <a:r>
              <a:rPr sz="2400" spc="-120" dirty="0">
                <a:solidFill>
                  <a:srgbClr val="242424"/>
                </a:solidFill>
                <a:latin typeface="Arial"/>
                <a:cs typeface="Arial"/>
              </a:rPr>
              <a:t>perhaps</a:t>
            </a:r>
            <a:r>
              <a:rPr sz="2400" spc="-215" dirty="0">
                <a:solidFill>
                  <a:srgbClr val="242424"/>
                </a:solidFill>
                <a:latin typeface="Arial"/>
                <a:cs typeface="Arial"/>
              </a:rPr>
              <a:t> </a:t>
            </a:r>
            <a:r>
              <a:rPr sz="2400" spc="-120" dirty="0">
                <a:solidFill>
                  <a:srgbClr val="242424"/>
                </a:solidFill>
                <a:latin typeface="Arial"/>
                <a:cs typeface="Arial"/>
              </a:rPr>
              <a:t>some</a:t>
            </a:r>
            <a:r>
              <a:rPr sz="2400" spc="-285" dirty="0">
                <a:solidFill>
                  <a:srgbClr val="242424"/>
                </a:solidFill>
                <a:latin typeface="Arial"/>
                <a:cs typeface="Arial"/>
              </a:rPr>
              <a:t> </a:t>
            </a:r>
            <a:r>
              <a:rPr sz="2400" dirty="0">
                <a:solidFill>
                  <a:srgbClr val="242424"/>
                </a:solidFill>
                <a:latin typeface="Arial"/>
                <a:cs typeface="Arial"/>
              </a:rPr>
              <a:t>of</a:t>
            </a:r>
            <a:r>
              <a:rPr sz="2400" spc="-114" dirty="0">
                <a:solidFill>
                  <a:srgbClr val="242424"/>
                </a:solidFill>
                <a:latin typeface="Arial"/>
                <a:cs typeface="Arial"/>
              </a:rPr>
              <a:t> </a:t>
            </a:r>
            <a:r>
              <a:rPr sz="2400" spc="-10" dirty="0">
                <a:solidFill>
                  <a:srgbClr val="242424"/>
                </a:solidFill>
                <a:latin typeface="Arial"/>
                <a:cs typeface="Arial"/>
              </a:rPr>
              <a:t>that</a:t>
            </a:r>
            <a:r>
              <a:rPr sz="2400" spc="-155" dirty="0">
                <a:solidFill>
                  <a:srgbClr val="242424"/>
                </a:solidFill>
                <a:latin typeface="Arial"/>
                <a:cs typeface="Arial"/>
              </a:rPr>
              <a:t> </a:t>
            </a:r>
            <a:r>
              <a:rPr sz="2400" spc="-120" dirty="0">
                <a:solidFill>
                  <a:srgbClr val="242424"/>
                </a:solidFill>
                <a:latin typeface="Arial"/>
                <a:cs typeface="Arial"/>
              </a:rPr>
              <a:t>hype</a:t>
            </a:r>
            <a:r>
              <a:rPr sz="2400" spc="-145" dirty="0">
                <a:solidFill>
                  <a:srgbClr val="242424"/>
                </a:solidFill>
                <a:latin typeface="Arial"/>
                <a:cs typeface="Arial"/>
              </a:rPr>
              <a:t> </a:t>
            </a:r>
            <a:r>
              <a:rPr sz="2400" spc="-25" dirty="0">
                <a:solidFill>
                  <a:srgbClr val="242424"/>
                </a:solidFill>
                <a:latin typeface="Arial"/>
                <a:cs typeface="Arial"/>
              </a:rPr>
              <a:t>is</a:t>
            </a:r>
            <a:endParaRPr sz="2400" dirty="0">
              <a:latin typeface="Arial"/>
              <a:cs typeface="Arial"/>
            </a:endParaRPr>
          </a:p>
          <a:p>
            <a:pPr marL="241300">
              <a:lnSpc>
                <a:spcPts val="2740"/>
              </a:lnSpc>
            </a:pPr>
            <a:r>
              <a:rPr sz="2400" spc="-35" dirty="0">
                <a:solidFill>
                  <a:srgbClr val="242424"/>
                </a:solidFill>
                <a:latin typeface="Arial"/>
                <a:cs typeface="Arial"/>
              </a:rPr>
              <a:t>justified</a:t>
            </a:r>
            <a:r>
              <a:rPr sz="2400" spc="-65" dirty="0">
                <a:solidFill>
                  <a:srgbClr val="242424"/>
                </a:solidFill>
                <a:latin typeface="Arial"/>
                <a:cs typeface="Arial"/>
              </a:rPr>
              <a:t> </a:t>
            </a:r>
            <a:r>
              <a:rPr sz="2400" spc="-114" dirty="0">
                <a:solidFill>
                  <a:srgbClr val="242424"/>
                </a:solidFill>
                <a:latin typeface="Arial"/>
                <a:cs typeface="Arial"/>
              </a:rPr>
              <a:t>given</a:t>
            </a:r>
            <a:r>
              <a:rPr sz="2400" spc="-160" dirty="0">
                <a:solidFill>
                  <a:srgbClr val="242424"/>
                </a:solidFill>
                <a:latin typeface="Arial"/>
                <a:cs typeface="Arial"/>
              </a:rPr>
              <a:t> </a:t>
            </a:r>
            <a:r>
              <a:rPr sz="2400" spc="-55" dirty="0">
                <a:solidFill>
                  <a:srgbClr val="242424"/>
                </a:solidFill>
                <a:latin typeface="Arial"/>
                <a:cs typeface="Arial"/>
              </a:rPr>
              <a:t>how</a:t>
            </a:r>
            <a:r>
              <a:rPr sz="2400" spc="-140" dirty="0">
                <a:solidFill>
                  <a:srgbClr val="242424"/>
                </a:solidFill>
                <a:latin typeface="Arial"/>
                <a:cs typeface="Arial"/>
              </a:rPr>
              <a:t> </a:t>
            </a:r>
            <a:r>
              <a:rPr sz="2400" spc="-30" dirty="0">
                <a:solidFill>
                  <a:srgbClr val="242424"/>
                </a:solidFill>
                <a:latin typeface="Arial"/>
                <a:cs typeface="Arial"/>
              </a:rPr>
              <a:t>well</a:t>
            </a:r>
            <a:r>
              <a:rPr sz="2400" spc="-70" dirty="0">
                <a:solidFill>
                  <a:srgbClr val="242424"/>
                </a:solidFill>
                <a:latin typeface="Arial"/>
                <a:cs typeface="Arial"/>
              </a:rPr>
              <a:t> </a:t>
            </a:r>
            <a:r>
              <a:rPr sz="2400" spc="-60" dirty="0">
                <a:solidFill>
                  <a:srgbClr val="242424"/>
                </a:solidFill>
                <a:latin typeface="Arial"/>
                <a:cs typeface="Arial"/>
              </a:rPr>
              <a:t>they're</a:t>
            </a:r>
            <a:r>
              <a:rPr sz="2400" spc="-385" dirty="0">
                <a:solidFill>
                  <a:srgbClr val="242424"/>
                </a:solidFill>
                <a:latin typeface="Arial"/>
                <a:cs typeface="Arial"/>
              </a:rPr>
              <a:t> </a:t>
            </a:r>
            <a:r>
              <a:rPr sz="2400" spc="-10" dirty="0">
                <a:solidFill>
                  <a:srgbClr val="242424"/>
                </a:solidFill>
                <a:latin typeface="Arial"/>
                <a:cs typeface="Arial"/>
              </a:rPr>
              <a:t>working.</a:t>
            </a:r>
            <a:endParaRPr sz="2400" dirty="0">
              <a:latin typeface="Arial"/>
              <a:cs typeface="Arial"/>
            </a:endParaRPr>
          </a:p>
          <a:p>
            <a:pPr marL="240665" indent="-227965">
              <a:lnSpc>
                <a:spcPts val="2790"/>
              </a:lnSpc>
              <a:spcBef>
                <a:spcPts val="520"/>
              </a:spcBef>
              <a:buFont typeface="Wingdings"/>
              <a:buChar char=""/>
              <a:tabLst>
                <a:tab pos="240665" algn="l"/>
              </a:tabLst>
            </a:pPr>
            <a:r>
              <a:rPr sz="2400" spc="-65" dirty="0">
                <a:solidFill>
                  <a:srgbClr val="242424"/>
                </a:solidFill>
                <a:latin typeface="Arial"/>
                <a:cs typeface="Arial"/>
              </a:rPr>
              <a:t>But</a:t>
            </a:r>
            <a:r>
              <a:rPr sz="2400" spc="-215" dirty="0">
                <a:solidFill>
                  <a:srgbClr val="242424"/>
                </a:solidFill>
                <a:latin typeface="Arial"/>
                <a:cs typeface="Arial"/>
              </a:rPr>
              <a:t> </a:t>
            </a:r>
            <a:r>
              <a:rPr sz="2400" dirty="0">
                <a:solidFill>
                  <a:srgbClr val="242424"/>
                </a:solidFill>
                <a:latin typeface="Arial"/>
                <a:cs typeface="Arial"/>
              </a:rPr>
              <a:t>it</a:t>
            </a:r>
            <a:r>
              <a:rPr sz="2400" spc="-40" dirty="0">
                <a:solidFill>
                  <a:srgbClr val="242424"/>
                </a:solidFill>
                <a:latin typeface="Arial"/>
                <a:cs typeface="Arial"/>
              </a:rPr>
              <a:t> </a:t>
            </a:r>
            <a:r>
              <a:rPr sz="2400" spc="-60" dirty="0">
                <a:solidFill>
                  <a:srgbClr val="242424"/>
                </a:solidFill>
                <a:latin typeface="Arial"/>
                <a:cs typeface="Arial"/>
              </a:rPr>
              <a:t>turns</a:t>
            </a:r>
            <a:r>
              <a:rPr sz="2400" spc="-114" dirty="0">
                <a:solidFill>
                  <a:srgbClr val="242424"/>
                </a:solidFill>
                <a:latin typeface="Arial"/>
                <a:cs typeface="Arial"/>
              </a:rPr>
              <a:t> </a:t>
            </a:r>
            <a:r>
              <a:rPr sz="2400" spc="-10" dirty="0">
                <a:solidFill>
                  <a:srgbClr val="242424"/>
                </a:solidFill>
                <a:latin typeface="Arial"/>
                <a:cs typeface="Arial"/>
              </a:rPr>
              <a:t>out</a:t>
            </a:r>
            <a:r>
              <a:rPr sz="2400" spc="-105" dirty="0">
                <a:solidFill>
                  <a:srgbClr val="242424"/>
                </a:solidFill>
                <a:latin typeface="Arial"/>
                <a:cs typeface="Arial"/>
              </a:rPr>
              <a:t> </a:t>
            </a:r>
            <a:r>
              <a:rPr sz="2400" spc="-10" dirty="0">
                <a:solidFill>
                  <a:srgbClr val="242424"/>
                </a:solidFill>
                <a:latin typeface="Arial"/>
                <a:cs typeface="Arial"/>
              </a:rPr>
              <a:t>that</a:t>
            </a:r>
            <a:r>
              <a:rPr sz="2400" spc="-145" dirty="0">
                <a:solidFill>
                  <a:srgbClr val="242424"/>
                </a:solidFill>
                <a:latin typeface="Arial"/>
                <a:cs typeface="Arial"/>
              </a:rPr>
              <a:t> </a:t>
            </a:r>
            <a:r>
              <a:rPr sz="2400" spc="-100" dirty="0">
                <a:solidFill>
                  <a:srgbClr val="242424"/>
                </a:solidFill>
                <a:latin typeface="Arial"/>
                <a:cs typeface="Arial"/>
              </a:rPr>
              <a:t>so</a:t>
            </a:r>
            <a:r>
              <a:rPr sz="2400" spc="-260" dirty="0">
                <a:solidFill>
                  <a:srgbClr val="242424"/>
                </a:solidFill>
                <a:latin typeface="Arial"/>
                <a:cs typeface="Arial"/>
              </a:rPr>
              <a:t> </a:t>
            </a:r>
            <a:r>
              <a:rPr sz="2400" spc="-40" dirty="0">
                <a:solidFill>
                  <a:srgbClr val="242424"/>
                </a:solidFill>
                <a:latin typeface="Arial"/>
                <a:cs typeface="Arial"/>
              </a:rPr>
              <a:t>far</a:t>
            </a:r>
            <a:r>
              <a:rPr sz="2400" spc="-160" dirty="0">
                <a:solidFill>
                  <a:srgbClr val="242424"/>
                </a:solidFill>
                <a:latin typeface="Arial"/>
                <a:cs typeface="Arial"/>
              </a:rPr>
              <a:t> </a:t>
            </a:r>
            <a:r>
              <a:rPr sz="2400" spc="-75" dirty="0">
                <a:solidFill>
                  <a:srgbClr val="242424"/>
                </a:solidFill>
                <a:latin typeface="Arial"/>
                <a:cs typeface="Arial"/>
              </a:rPr>
              <a:t>almost</a:t>
            </a:r>
            <a:r>
              <a:rPr sz="2400" spc="-220" dirty="0">
                <a:solidFill>
                  <a:srgbClr val="242424"/>
                </a:solidFill>
                <a:latin typeface="Arial"/>
                <a:cs typeface="Arial"/>
              </a:rPr>
              <a:t> </a:t>
            </a:r>
            <a:r>
              <a:rPr sz="2400" spc="-55" dirty="0">
                <a:solidFill>
                  <a:srgbClr val="242424"/>
                </a:solidFill>
                <a:latin typeface="Arial"/>
                <a:cs typeface="Arial"/>
              </a:rPr>
              <a:t>all</a:t>
            </a:r>
            <a:r>
              <a:rPr sz="2400" spc="-155" dirty="0">
                <a:solidFill>
                  <a:srgbClr val="242424"/>
                </a:solidFill>
                <a:latin typeface="Arial"/>
                <a:cs typeface="Arial"/>
              </a:rPr>
              <a:t> </a:t>
            </a:r>
            <a:r>
              <a:rPr sz="2400" spc="-30" dirty="0">
                <a:solidFill>
                  <a:srgbClr val="242424"/>
                </a:solidFill>
                <a:latin typeface="Arial"/>
                <a:cs typeface="Arial"/>
              </a:rPr>
              <a:t>the</a:t>
            </a:r>
            <a:r>
              <a:rPr sz="2400" spc="-125" dirty="0">
                <a:solidFill>
                  <a:srgbClr val="242424"/>
                </a:solidFill>
                <a:latin typeface="Arial"/>
                <a:cs typeface="Arial"/>
              </a:rPr>
              <a:t> </a:t>
            </a:r>
            <a:r>
              <a:rPr sz="2400" spc="-105" dirty="0">
                <a:solidFill>
                  <a:srgbClr val="242424"/>
                </a:solidFill>
                <a:latin typeface="Arial"/>
                <a:cs typeface="Arial"/>
              </a:rPr>
              <a:t>economic</a:t>
            </a:r>
            <a:r>
              <a:rPr sz="2400" spc="-265" dirty="0">
                <a:solidFill>
                  <a:srgbClr val="242424"/>
                </a:solidFill>
                <a:latin typeface="Arial"/>
                <a:cs typeface="Arial"/>
              </a:rPr>
              <a:t> </a:t>
            </a:r>
            <a:r>
              <a:rPr sz="2400" spc="-114" dirty="0">
                <a:solidFill>
                  <a:srgbClr val="242424"/>
                </a:solidFill>
                <a:latin typeface="Arial"/>
                <a:cs typeface="Arial"/>
              </a:rPr>
              <a:t>value</a:t>
            </a:r>
            <a:r>
              <a:rPr sz="2400" spc="-165" dirty="0">
                <a:solidFill>
                  <a:srgbClr val="242424"/>
                </a:solidFill>
                <a:latin typeface="Arial"/>
                <a:cs typeface="Arial"/>
              </a:rPr>
              <a:t> </a:t>
            </a:r>
            <a:r>
              <a:rPr sz="2400" spc="-105" dirty="0">
                <a:solidFill>
                  <a:srgbClr val="242424"/>
                </a:solidFill>
                <a:latin typeface="Arial"/>
                <a:cs typeface="Arial"/>
              </a:rPr>
              <a:t>created</a:t>
            </a:r>
            <a:r>
              <a:rPr sz="2400" spc="-145" dirty="0">
                <a:solidFill>
                  <a:srgbClr val="242424"/>
                </a:solidFill>
                <a:latin typeface="Arial"/>
                <a:cs typeface="Arial"/>
              </a:rPr>
              <a:t> </a:t>
            </a:r>
            <a:r>
              <a:rPr sz="2400" spc="-50" dirty="0">
                <a:solidFill>
                  <a:srgbClr val="242424"/>
                </a:solidFill>
                <a:latin typeface="Arial"/>
                <a:cs typeface="Arial"/>
              </a:rPr>
              <a:t>by</a:t>
            </a:r>
            <a:r>
              <a:rPr sz="2400" spc="-225" dirty="0">
                <a:solidFill>
                  <a:srgbClr val="242424"/>
                </a:solidFill>
                <a:latin typeface="Arial"/>
                <a:cs typeface="Arial"/>
              </a:rPr>
              <a:t> </a:t>
            </a:r>
            <a:r>
              <a:rPr sz="2400" spc="-20" dirty="0">
                <a:solidFill>
                  <a:srgbClr val="242424"/>
                </a:solidFill>
                <a:latin typeface="Arial"/>
                <a:cs typeface="Arial"/>
              </a:rPr>
              <a:t>a</a:t>
            </a:r>
            <a:r>
              <a:rPr sz="2400" spc="-305" dirty="0">
                <a:solidFill>
                  <a:srgbClr val="242424"/>
                </a:solidFill>
                <a:latin typeface="Arial"/>
                <a:cs typeface="Arial"/>
              </a:rPr>
              <a:t> </a:t>
            </a:r>
            <a:r>
              <a:rPr sz="2400" spc="-85" dirty="0">
                <a:solidFill>
                  <a:srgbClr val="242424"/>
                </a:solidFill>
                <a:latin typeface="Arial"/>
                <a:cs typeface="Arial"/>
              </a:rPr>
              <a:t>neural</a:t>
            </a:r>
            <a:r>
              <a:rPr sz="2400" spc="-170" dirty="0">
                <a:solidFill>
                  <a:srgbClr val="242424"/>
                </a:solidFill>
                <a:latin typeface="Arial"/>
                <a:cs typeface="Arial"/>
              </a:rPr>
              <a:t> </a:t>
            </a:r>
            <a:r>
              <a:rPr sz="2400" spc="-10" dirty="0">
                <a:solidFill>
                  <a:srgbClr val="242424"/>
                </a:solidFill>
                <a:latin typeface="Arial"/>
                <a:cs typeface="Arial"/>
              </a:rPr>
              <a:t>networks</a:t>
            </a:r>
            <a:r>
              <a:rPr lang="en-GB" sz="2400" dirty="0">
                <a:latin typeface="Arial"/>
                <a:cs typeface="Arial"/>
              </a:rPr>
              <a:t> </a:t>
            </a:r>
            <a:r>
              <a:rPr sz="2400" spc="-135" dirty="0">
                <a:solidFill>
                  <a:srgbClr val="242424"/>
                </a:solidFill>
                <a:latin typeface="Arial"/>
                <a:cs typeface="Arial"/>
              </a:rPr>
              <a:t>has</a:t>
            </a:r>
            <a:r>
              <a:rPr sz="2400" spc="-345" dirty="0">
                <a:solidFill>
                  <a:srgbClr val="242424"/>
                </a:solidFill>
                <a:latin typeface="Arial"/>
                <a:cs typeface="Arial"/>
              </a:rPr>
              <a:t> </a:t>
            </a:r>
            <a:r>
              <a:rPr sz="2400" spc="-105" dirty="0">
                <a:solidFill>
                  <a:srgbClr val="242424"/>
                </a:solidFill>
                <a:latin typeface="Arial"/>
                <a:cs typeface="Arial"/>
              </a:rPr>
              <a:t>been</a:t>
            </a:r>
            <a:r>
              <a:rPr sz="2400" spc="-165" dirty="0">
                <a:solidFill>
                  <a:srgbClr val="242424"/>
                </a:solidFill>
                <a:latin typeface="Arial"/>
                <a:cs typeface="Arial"/>
              </a:rPr>
              <a:t> </a:t>
            </a:r>
            <a:r>
              <a:rPr sz="2400" spc="-60" dirty="0">
                <a:solidFill>
                  <a:srgbClr val="242424"/>
                </a:solidFill>
                <a:latin typeface="Arial"/>
                <a:cs typeface="Arial"/>
              </a:rPr>
              <a:t>through</a:t>
            </a:r>
            <a:r>
              <a:rPr sz="2400" spc="-25" dirty="0">
                <a:solidFill>
                  <a:srgbClr val="242424"/>
                </a:solidFill>
                <a:latin typeface="Arial"/>
                <a:cs typeface="Arial"/>
              </a:rPr>
              <a:t> </a:t>
            </a:r>
            <a:r>
              <a:rPr sz="2400" b="1" i="1" spc="-150" dirty="0">
                <a:solidFill>
                  <a:srgbClr val="242424"/>
                </a:solidFill>
                <a:latin typeface="Arial"/>
                <a:cs typeface="Arial"/>
              </a:rPr>
              <a:t>one</a:t>
            </a:r>
            <a:r>
              <a:rPr sz="2400" b="1" i="1" spc="-360" dirty="0">
                <a:solidFill>
                  <a:srgbClr val="242424"/>
                </a:solidFill>
                <a:latin typeface="Arial"/>
                <a:cs typeface="Arial"/>
              </a:rPr>
              <a:t> </a:t>
            </a:r>
            <a:r>
              <a:rPr sz="2400" b="1" i="1" spc="-120" dirty="0">
                <a:solidFill>
                  <a:srgbClr val="242424"/>
                </a:solidFill>
                <a:latin typeface="Arial"/>
                <a:cs typeface="Arial"/>
              </a:rPr>
              <a:t>type</a:t>
            </a:r>
            <a:r>
              <a:rPr sz="2400" b="1" i="1" spc="-245" dirty="0">
                <a:solidFill>
                  <a:srgbClr val="242424"/>
                </a:solidFill>
                <a:latin typeface="Arial"/>
                <a:cs typeface="Arial"/>
              </a:rPr>
              <a:t> </a:t>
            </a:r>
            <a:r>
              <a:rPr sz="2400" b="1" i="1" spc="-75" dirty="0">
                <a:solidFill>
                  <a:srgbClr val="242424"/>
                </a:solidFill>
                <a:latin typeface="Arial"/>
                <a:cs typeface="Arial"/>
              </a:rPr>
              <a:t>of</a:t>
            </a:r>
            <a:r>
              <a:rPr sz="2400" b="1" i="1" spc="-235" dirty="0">
                <a:solidFill>
                  <a:srgbClr val="242424"/>
                </a:solidFill>
                <a:latin typeface="Arial"/>
                <a:cs typeface="Arial"/>
              </a:rPr>
              <a:t> </a:t>
            </a:r>
            <a:r>
              <a:rPr sz="2400" b="1" i="1" spc="-175" dirty="0">
                <a:solidFill>
                  <a:srgbClr val="242424"/>
                </a:solidFill>
                <a:latin typeface="Arial"/>
                <a:cs typeface="Arial"/>
              </a:rPr>
              <a:t>machine</a:t>
            </a:r>
            <a:r>
              <a:rPr sz="2400" b="1" i="1" spc="-330" dirty="0">
                <a:solidFill>
                  <a:srgbClr val="242424"/>
                </a:solidFill>
                <a:latin typeface="Arial"/>
                <a:cs typeface="Arial"/>
              </a:rPr>
              <a:t> </a:t>
            </a:r>
            <a:r>
              <a:rPr sz="2400" b="1" i="1" spc="-140" dirty="0">
                <a:solidFill>
                  <a:srgbClr val="242424"/>
                </a:solidFill>
                <a:latin typeface="Arial"/>
                <a:cs typeface="Arial"/>
              </a:rPr>
              <a:t>learning</a:t>
            </a:r>
            <a:r>
              <a:rPr sz="2400" b="1" i="1" spc="-195" dirty="0">
                <a:solidFill>
                  <a:srgbClr val="242424"/>
                </a:solidFill>
                <a:latin typeface="Arial"/>
                <a:cs typeface="Arial"/>
              </a:rPr>
              <a:t> </a:t>
            </a:r>
            <a:r>
              <a:rPr sz="2400" b="1" i="1" spc="-150" dirty="0">
                <a:solidFill>
                  <a:srgbClr val="242424"/>
                </a:solidFill>
                <a:latin typeface="Arial"/>
                <a:cs typeface="Arial"/>
              </a:rPr>
              <a:t>called</a:t>
            </a:r>
            <a:r>
              <a:rPr sz="2400" b="1" i="1" spc="-305" dirty="0">
                <a:solidFill>
                  <a:srgbClr val="242424"/>
                </a:solidFill>
                <a:latin typeface="Arial"/>
                <a:cs typeface="Arial"/>
              </a:rPr>
              <a:t> </a:t>
            </a:r>
            <a:r>
              <a:rPr sz="2400" b="1" i="1" spc="-215" dirty="0">
                <a:solidFill>
                  <a:srgbClr val="242424"/>
                </a:solidFill>
                <a:latin typeface="Arial"/>
                <a:cs typeface="Arial"/>
              </a:rPr>
              <a:t>supervised</a:t>
            </a:r>
            <a:r>
              <a:rPr sz="2400" b="1" i="1" spc="-160" dirty="0">
                <a:solidFill>
                  <a:srgbClr val="242424"/>
                </a:solidFill>
                <a:latin typeface="Arial"/>
                <a:cs typeface="Arial"/>
              </a:rPr>
              <a:t> </a:t>
            </a:r>
            <a:r>
              <a:rPr sz="2400" b="1" i="1" spc="-10" dirty="0">
                <a:solidFill>
                  <a:srgbClr val="242424"/>
                </a:solidFill>
                <a:latin typeface="Arial"/>
                <a:cs typeface="Arial"/>
              </a:rPr>
              <a:t>learning</a:t>
            </a:r>
            <a:r>
              <a:rPr sz="2800" b="1" i="1" spc="-10" dirty="0">
                <a:solidFill>
                  <a:srgbClr val="242424"/>
                </a:solidFill>
                <a:latin typeface="Arial"/>
                <a:cs typeface="Arial"/>
              </a:rPr>
              <a:t>.</a:t>
            </a:r>
            <a:endParaRPr sz="2800" dirty="0">
              <a:latin typeface="Arial"/>
              <a:cs typeface="Arial"/>
            </a:endParaRPr>
          </a:p>
        </p:txBody>
      </p:sp>
      <p:grpSp>
        <p:nvGrpSpPr>
          <p:cNvPr id="8" name="object 4">
            <a:extLst>
              <a:ext uri="{FF2B5EF4-FFF2-40B4-BE49-F238E27FC236}">
                <a16:creationId xmlns:a16="http://schemas.microsoft.com/office/drawing/2014/main" id="{60CB3712-9981-96E3-DF6B-35B18F7FEBF9}"/>
              </a:ext>
            </a:extLst>
          </p:cNvPr>
          <p:cNvGrpSpPr/>
          <p:nvPr/>
        </p:nvGrpSpPr>
        <p:grpSpPr>
          <a:xfrm>
            <a:off x="4047895" y="3705352"/>
            <a:ext cx="4096209" cy="2098312"/>
            <a:chOff x="3728592" y="2905760"/>
            <a:chExt cx="5409069" cy="3582591"/>
          </a:xfrm>
        </p:grpSpPr>
        <p:pic>
          <p:nvPicPr>
            <p:cNvPr id="9" name="object 5">
              <a:extLst>
                <a:ext uri="{FF2B5EF4-FFF2-40B4-BE49-F238E27FC236}">
                  <a16:creationId xmlns:a16="http://schemas.microsoft.com/office/drawing/2014/main" id="{BDCB6195-5CAC-8F26-AA27-497A547255EA}"/>
                </a:ext>
              </a:extLst>
            </p:cNvPr>
            <p:cNvPicPr/>
            <p:nvPr/>
          </p:nvPicPr>
          <p:blipFill>
            <a:blip r:embed="rId3" cstate="print"/>
            <a:stretch>
              <a:fillRect/>
            </a:stretch>
          </p:blipFill>
          <p:spPr>
            <a:xfrm>
              <a:off x="3728592" y="3164018"/>
              <a:ext cx="5409069" cy="3324333"/>
            </a:xfrm>
            <a:prstGeom prst="rect">
              <a:avLst/>
            </a:prstGeom>
          </p:spPr>
        </p:pic>
        <p:pic>
          <p:nvPicPr>
            <p:cNvPr id="10" name="object 6">
              <a:extLst>
                <a:ext uri="{FF2B5EF4-FFF2-40B4-BE49-F238E27FC236}">
                  <a16:creationId xmlns:a16="http://schemas.microsoft.com/office/drawing/2014/main" id="{0ACB8A98-45B3-D0E8-A1A2-67AAF73E59E1}"/>
                </a:ext>
              </a:extLst>
            </p:cNvPr>
            <p:cNvPicPr/>
            <p:nvPr/>
          </p:nvPicPr>
          <p:blipFill>
            <a:blip r:embed="rId4" cstate="print"/>
            <a:stretch>
              <a:fillRect/>
            </a:stretch>
          </p:blipFill>
          <p:spPr>
            <a:xfrm>
              <a:off x="6764019" y="4020185"/>
              <a:ext cx="92075" cy="94106"/>
            </a:xfrm>
            <a:prstGeom prst="rect">
              <a:avLst/>
            </a:prstGeom>
          </p:spPr>
        </p:pic>
        <p:sp>
          <p:nvSpPr>
            <p:cNvPr id="11" name="object 7">
              <a:extLst>
                <a:ext uri="{FF2B5EF4-FFF2-40B4-BE49-F238E27FC236}">
                  <a16:creationId xmlns:a16="http://schemas.microsoft.com/office/drawing/2014/main" id="{64119A41-B9DE-8FF5-DFC9-0B359B4AA035}"/>
                </a:ext>
              </a:extLst>
            </p:cNvPr>
            <p:cNvSpPr/>
            <p:nvPr/>
          </p:nvSpPr>
          <p:spPr>
            <a:xfrm>
              <a:off x="6772529" y="2905760"/>
              <a:ext cx="1106805" cy="1199515"/>
            </a:xfrm>
            <a:custGeom>
              <a:avLst/>
              <a:gdLst/>
              <a:ahLst/>
              <a:cxnLst/>
              <a:rect l="l" t="t" r="r" b="b"/>
              <a:pathLst>
                <a:path w="1106804" h="1199514">
                  <a:moveTo>
                    <a:pt x="1101978" y="0"/>
                  </a:moveTo>
                  <a:lnTo>
                    <a:pt x="1397" y="1193164"/>
                  </a:lnTo>
                  <a:lnTo>
                    <a:pt x="0" y="1199388"/>
                  </a:lnTo>
                  <a:lnTo>
                    <a:pt x="6096" y="1197483"/>
                  </a:lnTo>
                  <a:lnTo>
                    <a:pt x="1106551" y="4190"/>
                  </a:lnTo>
                  <a:lnTo>
                    <a:pt x="1101978" y="0"/>
                  </a:lnTo>
                  <a:close/>
                </a:path>
              </a:pathLst>
            </a:custGeom>
            <a:solidFill>
              <a:srgbClr val="3492B8"/>
            </a:solidFill>
          </p:spPr>
          <p:txBody>
            <a:bodyPr wrap="square" lIns="0" tIns="0" rIns="0" bIns="0" rtlCol="0"/>
            <a:lstStyle>
              <a:defPPr>
                <a:defRPr kern="0"/>
              </a:defPPr>
            </a:lstStyle>
            <a:p>
              <a:endParaRPr/>
            </a:p>
          </p:txBody>
        </p:sp>
        <p:sp>
          <p:nvSpPr>
            <p:cNvPr id="12" name="object 8">
              <a:extLst>
                <a:ext uri="{FF2B5EF4-FFF2-40B4-BE49-F238E27FC236}">
                  <a16:creationId xmlns:a16="http://schemas.microsoft.com/office/drawing/2014/main" id="{0A61D874-B5B8-114E-AB40-71669EC5DA72}"/>
                </a:ext>
              </a:extLst>
            </p:cNvPr>
            <p:cNvSpPr/>
            <p:nvPr/>
          </p:nvSpPr>
          <p:spPr>
            <a:xfrm>
              <a:off x="5160009" y="3651250"/>
              <a:ext cx="1864360" cy="1346200"/>
            </a:xfrm>
            <a:custGeom>
              <a:avLst/>
              <a:gdLst/>
              <a:ahLst/>
              <a:cxnLst/>
              <a:rect l="l" t="t" r="r" b="b"/>
              <a:pathLst>
                <a:path w="1864359" h="1346200">
                  <a:moveTo>
                    <a:pt x="0" y="672845"/>
                  </a:moveTo>
                  <a:lnTo>
                    <a:pt x="1524" y="633349"/>
                  </a:lnTo>
                  <a:lnTo>
                    <a:pt x="6223" y="594360"/>
                  </a:lnTo>
                  <a:lnTo>
                    <a:pt x="13969" y="556132"/>
                  </a:lnTo>
                  <a:lnTo>
                    <a:pt x="24637" y="518541"/>
                  </a:lnTo>
                  <a:lnTo>
                    <a:pt x="38100" y="481838"/>
                  </a:lnTo>
                  <a:lnTo>
                    <a:pt x="54355" y="445897"/>
                  </a:lnTo>
                  <a:lnTo>
                    <a:pt x="73278" y="410972"/>
                  </a:lnTo>
                  <a:lnTo>
                    <a:pt x="94741" y="376936"/>
                  </a:lnTo>
                  <a:lnTo>
                    <a:pt x="118744" y="344043"/>
                  </a:lnTo>
                  <a:lnTo>
                    <a:pt x="145034" y="312166"/>
                  </a:lnTo>
                  <a:lnTo>
                    <a:pt x="173736" y="281431"/>
                  </a:lnTo>
                  <a:lnTo>
                    <a:pt x="204724" y="251968"/>
                  </a:lnTo>
                  <a:lnTo>
                    <a:pt x="237870" y="223900"/>
                  </a:lnTo>
                  <a:lnTo>
                    <a:pt x="272923" y="197104"/>
                  </a:lnTo>
                  <a:lnTo>
                    <a:pt x="310006" y="171704"/>
                  </a:lnTo>
                  <a:lnTo>
                    <a:pt x="348995" y="147827"/>
                  </a:lnTo>
                  <a:lnTo>
                    <a:pt x="389889" y="125475"/>
                  </a:lnTo>
                  <a:lnTo>
                    <a:pt x="432307" y="104775"/>
                  </a:lnTo>
                  <a:lnTo>
                    <a:pt x="476503" y="85725"/>
                  </a:lnTo>
                  <a:lnTo>
                    <a:pt x="522097" y="68325"/>
                  </a:lnTo>
                  <a:lnTo>
                    <a:pt x="569213" y="52831"/>
                  </a:lnTo>
                  <a:lnTo>
                    <a:pt x="617601" y="39243"/>
                  </a:lnTo>
                  <a:lnTo>
                    <a:pt x="667385" y="27558"/>
                  </a:lnTo>
                  <a:lnTo>
                    <a:pt x="718312" y="17780"/>
                  </a:lnTo>
                  <a:lnTo>
                    <a:pt x="770254" y="10032"/>
                  </a:lnTo>
                  <a:lnTo>
                    <a:pt x="823340" y="4572"/>
                  </a:lnTo>
                  <a:lnTo>
                    <a:pt x="877188" y="1143"/>
                  </a:lnTo>
                  <a:lnTo>
                    <a:pt x="932052" y="0"/>
                  </a:lnTo>
                  <a:lnTo>
                    <a:pt x="986789" y="1143"/>
                  </a:lnTo>
                  <a:lnTo>
                    <a:pt x="1040638" y="4572"/>
                  </a:lnTo>
                  <a:lnTo>
                    <a:pt x="1093724" y="10032"/>
                  </a:lnTo>
                  <a:lnTo>
                    <a:pt x="1145666" y="17780"/>
                  </a:lnTo>
                  <a:lnTo>
                    <a:pt x="1196593" y="27558"/>
                  </a:lnTo>
                  <a:lnTo>
                    <a:pt x="1246251" y="39243"/>
                  </a:lnTo>
                  <a:lnTo>
                    <a:pt x="1294764" y="52831"/>
                  </a:lnTo>
                  <a:lnTo>
                    <a:pt x="1341881" y="68325"/>
                  </a:lnTo>
                  <a:lnTo>
                    <a:pt x="1387474" y="85725"/>
                  </a:lnTo>
                  <a:lnTo>
                    <a:pt x="1431543" y="104775"/>
                  </a:lnTo>
                  <a:lnTo>
                    <a:pt x="1474089" y="125475"/>
                  </a:lnTo>
                  <a:lnTo>
                    <a:pt x="1514856" y="147827"/>
                  </a:lnTo>
                  <a:lnTo>
                    <a:pt x="1553844" y="171704"/>
                  </a:lnTo>
                  <a:lnTo>
                    <a:pt x="1590929" y="197104"/>
                  </a:lnTo>
                  <a:lnTo>
                    <a:pt x="1626108" y="223900"/>
                  </a:lnTo>
                  <a:lnTo>
                    <a:pt x="1659255" y="251968"/>
                  </a:lnTo>
                  <a:lnTo>
                    <a:pt x="1690115" y="281431"/>
                  </a:lnTo>
                  <a:lnTo>
                    <a:pt x="1718817" y="312166"/>
                  </a:lnTo>
                  <a:lnTo>
                    <a:pt x="1745234" y="344043"/>
                  </a:lnTo>
                  <a:lnTo>
                    <a:pt x="1769237" y="376936"/>
                  </a:lnTo>
                  <a:lnTo>
                    <a:pt x="1790699" y="410972"/>
                  </a:lnTo>
                  <a:lnTo>
                    <a:pt x="1809622" y="445897"/>
                  </a:lnTo>
                  <a:lnTo>
                    <a:pt x="1825879" y="481838"/>
                  </a:lnTo>
                  <a:lnTo>
                    <a:pt x="1839340" y="518541"/>
                  </a:lnTo>
                  <a:lnTo>
                    <a:pt x="1850009" y="556132"/>
                  </a:lnTo>
                  <a:lnTo>
                    <a:pt x="1857756" y="594360"/>
                  </a:lnTo>
                  <a:lnTo>
                    <a:pt x="1862328" y="633349"/>
                  </a:lnTo>
                  <a:lnTo>
                    <a:pt x="1863979" y="672845"/>
                  </a:lnTo>
                  <a:lnTo>
                    <a:pt x="1862328" y="712343"/>
                  </a:lnTo>
                  <a:lnTo>
                    <a:pt x="1857756" y="751332"/>
                  </a:lnTo>
                  <a:lnTo>
                    <a:pt x="1850009" y="789558"/>
                  </a:lnTo>
                  <a:lnTo>
                    <a:pt x="1839340" y="827151"/>
                  </a:lnTo>
                  <a:lnTo>
                    <a:pt x="1825879" y="863854"/>
                  </a:lnTo>
                  <a:lnTo>
                    <a:pt x="1809622" y="899794"/>
                  </a:lnTo>
                  <a:lnTo>
                    <a:pt x="1790699" y="934719"/>
                  </a:lnTo>
                  <a:lnTo>
                    <a:pt x="1769237" y="968756"/>
                  </a:lnTo>
                  <a:lnTo>
                    <a:pt x="1745234" y="1001649"/>
                  </a:lnTo>
                  <a:lnTo>
                    <a:pt x="1718817" y="1033526"/>
                  </a:lnTo>
                  <a:lnTo>
                    <a:pt x="1690115" y="1064260"/>
                  </a:lnTo>
                  <a:lnTo>
                    <a:pt x="1659255" y="1093724"/>
                  </a:lnTo>
                  <a:lnTo>
                    <a:pt x="1626108" y="1121791"/>
                  </a:lnTo>
                  <a:lnTo>
                    <a:pt x="1590929" y="1148588"/>
                  </a:lnTo>
                  <a:lnTo>
                    <a:pt x="1553844" y="1173988"/>
                  </a:lnTo>
                  <a:lnTo>
                    <a:pt x="1514856" y="1197864"/>
                  </a:lnTo>
                  <a:lnTo>
                    <a:pt x="1474089" y="1220216"/>
                  </a:lnTo>
                  <a:lnTo>
                    <a:pt x="1431543" y="1240917"/>
                  </a:lnTo>
                  <a:lnTo>
                    <a:pt x="1387474" y="1259967"/>
                  </a:lnTo>
                  <a:lnTo>
                    <a:pt x="1341881" y="1277239"/>
                  </a:lnTo>
                  <a:lnTo>
                    <a:pt x="1294764" y="1292860"/>
                  </a:lnTo>
                  <a:lnTo>
                    <a:pt x="1246251" y="1306449"/>
                  </a:lnTo>
                  <a:lnTo>
                    <a:pt x="1196593" y="1318133"/>
                  </a:lnTo>
                  <a:lnTo>
                    <a:pt x="1145666" y="1327912"/>
                  </a:lnTo>
                  <a:lnTo>
                    <a:pt x="1093724" y="1335532"/>
                  </a:lnTo>
                  <a:lnTo>
                    <a:pt x="1040638" y="1341120"/>
                  </a:lnTo>
                  <a:lnTo>
                    <a:pt x="986789" y="1344549"/>
                  </a:lnTo>
                  <a:lnTo>
                    <a:pt x="932052" y="1345692"/>
                  </a:lnTo>
                  <a:lnTo>
                    <a:pt x="877188" y="1344549"/>
                  </a:lnTo>
                  <a:lnTo>
                    <a:pt x="823340" y="1341120"/>
                  </a:lnTo>
                  <a:lnTo>
                    <a:pt x="770254" y="1335532"/>
                  </a:lnTo>
                  <a:lnTo>
                    <a:pt x="718312" y="1327912"/>
                  </a:lnTo>
                  <a:lnTo>
                    <a:pt x="667385" y="1318133"/>
                  </a:lnTo>
                  <a:lnTo>
                    <a:pt x="617601" y="1306449"/>
                  </a:lnTo>
                  <a:lnTo>
                    <a:pt x="569213" y="1292860"/>
                  </a:lnTo>
                  <a:lnTo>
                    <a:pt x="522097" y="1277239"/>
                  </a:lnTo>
                  <a:lnTo>
                    <a:pt x="476503" y="1259967"/>
                  </a:lnTo>
                  <a:lnTo>
                    <a:pt x="432307" y="1240917"/>
                  </a:lnTo>
                  <a:lnTo>
                    <a:pt x="389889" y="1220216"/>
                  </a:lnTo>
                  <a:lnTo>
                    <a:pt x="348995" y="1197864"/>
                  </a:lnTo>
                  <a:lnTo>
                    <a:pt x="310006" y="1173988"/>
                  </a:lnTo>
                  <a:lnTo>
                    <a:pt x="272923" y="1148588"/>
                  </a:lnTo>
                  <a:lnTo>
                    <a:pt x="237870" y="1121791"/>
                  </a:lnTo>
                  <a:lnTo>
                    <a:pt x="204724" y="1093724"/>
                  </a:lnTo>
                  <a:lnTo>
                    <a:pt x="173736" y="1064260"/>
                  </a:lnTo>
                  <a:lnTo>
                    <a:pt x="145034" y="1033526"/>
                  </a:lnTo>
                  <a:lnTo>
                    <a:pt x="118744" y="1001649"/>
                  </a:lnTo>
                  <a:lnTo>
                    <a:pt x="94741" y="968756"/>
                  </a:lnTo>
                  <a:lnTo>
                    <a:pt x="73278" y="934719"/>
                  </a:lnTo>
                  <a:lnTo>
                    <a:pt x="54355" y="899794"/>
                  </a:lnTo>
                  <a:lnTo>
                    <a:pt x="38100" y="863854"/>
                  </a:lnTo>
                  <a:lnTo>
                    <a:pt x="24637" y="827151"/>
                  </a:lnTo>
                  <a:lnTo>
                    <a:pt x="13969" y="789558"/>
                  </a:lnTo>
                  <a:lnTo>
                    <a:pt x="6223" y="751332"/>
                  </a:lnTo>
                  <a:lnTo>
                    <a:pt x="1524" y="712343"/>
                  </a:lnTo>
                  <a:lnTo>
                    <a:pt x="0" y="672845"/>
                  </a:lnTo>
                  <a:close/>
                </a:path>
              </a:pathLst>
            </a:custGeom>
            <a:ln w="12700">
              <a:solidFill>
                <a:srgbClr val="216B86"/>
              </a:solidFill>
            </a:ln>
          </p:spPr>
          <p:txBody>
            <a:bodyPr wrap="square" lIns="0" tIns="0" rIns="0" bIns="0" rtlCol="0"/>
            <a:lstStyle>
              <a:defPPr>
                <a:defRPr kern="0"/>
              </a:defPPr>
            </a:lstStyle>
            <a:p>
              <a:endParaRPr/>
            </a:p>
          </p:txBody>
        </p:sp>
      </p:grpSp>
    </p:spTree>
    <p:extLst>
      <p:ext uri="{BB962C8B-B14F-4D97-AF65-F5344CB8AC3E}">
        <p14:creationId xmlns:p14="http://schemas.microsoft.com/office/powerpoint/2010/main" val="1982554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DEF4C-61C1-9F7D-9526-D4B3DF4FD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B8455-C23D-F62E-1F51-44FA9F9C695D}"/>
              </a:ext>
            </a:extLst>
          </p:cNvPr>
          <p:cNvSpPr>
            <a:spLocks noGrp="1"/>
          </p:cNvSpPr>
          <p:nvPr>
            <p:ph type="title"/>
          </p:nvPr>
        </p:nvSpPr>
        <p:spPr>
          <a:xfrm>
            <a:off x="629500" y="277838"/>
            <a:ext cx="9097686" cy="1068223"/>
          </a:xfrm>
        </p:spPr>
        <p:txBody>
          <a:bodyPr/>
          <a:lstStyle/>
          <a:p>
            <a:r>
              <a:rPr lang="en-GB" sz="4400" spc="-229" dirty="0"/>
              <a:t>Supervised</a:t>
            </a:r>
            <a:r>
              <a:rPr lang="en-GB" sz="4400" spc="-495" dirty="0"/>
              <a:t> </a:t>
            </a:r>
            <a:r>
              <a:rPr lang="en-GB" sz="4400" spc="-210" dirty="0"/>
              <a:t>Learning</a:t>
            </a:r>
            <a:r>
              <a:rPr lang="en-GB" sz="4400" spc="-365" dirty="0"/>
              <a:t> </a:t>
            </a:r>
            <a:r>
              <a:rPr lang="en-GB" sz="4400" spc="-120" dirty="0" err="1"/>
              <a:t>withNeural</a:t>
            </a:r>
            <a:r>
              <a:rPr lang="en-GB" sz="4400" spc="-235" dirty="0"/>
              <a:t> </a:t>
            </a:r>
            <a:r>
              <a:rPr lang="en-GB" sz="4400" spc="-135" dirty="0"/>
              <a:t>Networks</a:t>
            </a:r>
            <a:endParaRPr lang="en-US" dirty="0">
              <a:solidFill>
                <a:srgbClr val="942D6D"/>
              </a:solidFill>
            </a:endParaRPr>
          </a:p>
        </p:txBody>
      </p:sp>
      <p:cxnSp>
        <p:nvCxnSpPr>
          <p:cNvPr id="4" name="Straight Connector 3">
            <a:extLst>
              <a:ext uri="{FF2B5EF4-FFF2-40B4-BE49-F238E27FC236}">
                <a16:creationId xmlns:a16="http://schemas.microsoft.com/office/drawing/2014/main" id="{D19AFC00-E5D2-65BB-589D-9DE877466828}"/>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2C1B2927-8F48-F594-6DBC-FB38F5D8BFA6}"/>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A0E542B0-D6BC-77B8-625F-A331556EC97A}"/>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7">
            <a:extLst>
              <a:ext uri="{FF2B5EF4-FFF2-40B4-BE49-F238E27FC236}">
                <a16:creationId xmlns:a16="http://schemas.microsoft.com/office/drawing/2014/main" id="{5A4AB9AD-6844-FDD3-BFE5-80BB836792D1}"/>
              </a:ext>
            </a:extLst>
          </p:cNvPr>
          <p:cNvSpPr/>
          <p:nvPr/>
        </p:nvSpPr>
        <p:spPr>
          <a:xfrm>
            <a:off x="3095281" y="4815753"/>
            <a:ext cx="1059180" cy="657860"/>
          </a:xfrm>
          <a:custGeom>
            <a:avLst/>
            <a:gdLst/>
            <a:ahLst/>
            <a:cxnLst/>
            <a:rect l="l" t="t" r="r" b="b"/>
            <a:pathLst>
              <a:path w="1059179" h="657860">
                <a:moveTo>
                  <a:pt x="702183" y="323088"/>
                </a:moveTo>
                <a:lnTo>
                  <a:pt x="619379" y="275590"/>
                </a:lnTo>
                <a:lnTo>
                  <a:pt x="617474" y="276098"/>
                </a:lnTo>
                <a:lnTo>
                  <a:pt x="615696" y="279146"/>
                </a:lnTo>
                <a:lnTo>
                  <a:pt x="616204" y="281178"/>
                </a:lnTo>
                <a:lnTo>
                  <a:pt x="684022" y="320040"/>
                </a:lnTo>
                <a:lnTo>
                  <a:pt x="204470" y="324104"/>
                </a:lnTo>
                <a:lnTo>
                  <a:pt x="204597" y="330581"/>
                </a:lnTo>
                <a:lnTo>
                  <a:pt x="684276" y="326390"/>
                </a:lnTo>
                <a:lnTo>
                  <a:pt x="616966" y="366560"/>
                </a:lnTo>
                <a:lnTo>
                  <a:pt x="616458" y="368503"/>
                </a:lnTo>
                <a:lnTo>
                  <a:pt x="618236" y="371538"/>
                </a:lnTo>
                <a:lnTo>
                  <a:pt x="620268" y="372033"/>
                </a:lnTo>
                <a:lnTo>
                  <a:pt x="702183" y="323088"/>
                </a:lnTo>
                <a:close/>
              </a:path>
              <a:path w="1059179" h="657860">
                <a:moveTo>
                  <a:pt x="710819" y="608609"/>
                </a:moveTo>
                <a:lnTo>
                  <a:pt x="627888" y="561390"/>
                </a:lnTo>
                <a:lnTo>
                  <a:pt x="625983" y="561936"/>
                </a:lnTo>
                <a:lnTo>
                  <a:pt x="624205" y="564997"/>
                </a:lnTo>
                <a:lnTo>
                  <a:pt x="624713" y="566928"/>
                </a:lnTo>
                <a:lnTo>
                  <a:pt x="692785" y="605637"/>
                </a:lnTo>
                <a:lnTo>
                  <a:pt x="0" y="614057"/>
                </a:lnTo>
                <a:lnTo>
                  <a:pt x="127" y="620445"/>
                </a:lnTo>
                <a:lnTo>
                  <a:pt x="692912" y="612013"/>
                </a:lnTo>
                <a:lnTo>
                  <a:pt x="625729" y="652360"/>
                </a:lnTo>
                <a:lnTo>
                  <a:pt x="625221" y="654304"/>
                </a:lnTo>
                <a:lnTo>
                  <a:pt x="627126" y="657326"/>
                </a:lnTo>
                <a:lnTo>
                  <a:pt x="629031" y="657809"/>
                </a:lnTo>
                <a:lnTo>
                  <a:pt x="710819" y="608609"/>
                </a:lnTo>
                <a:close/>
              </a:path>
              <a:path w="1059179" h="657860">
                <a:moveTo>
                  <a:pt x="1059053" y="49149"/>
                </a:moveTo>
                <a:lnTo>
                  <a:pt x="977138" y="0"/>
                </a:lnTo>
                <a:lnTo>
                  <a:pt x="975233" y="381"/>
                </a:lnTo>
                <a:lnTo>
                  <a:pt x="973328" y="3429"/>
                </a:lnTo>
                <a:lnTo>
                  <a:pt x="973836" y="5334"/>
                </a:lnTo>
                <a:lnTo>
                  <a:pt x="1040892" y="45720"/>
                </a:lnTo>
                <a:lnTo>
                  <a:pt x="330962" y="37338"/>
                </a:lnTo>
                <a:lnTo>
                  <a:pt x="330962" y="43688"/>
                </a:lnTo>
                <a:lnTo>
                  <a:pt x="1040892" y="52070"/>
                </a:lnTo>
                <a:lnTo>
                  <a:pt x="972947" y="90805"/>
                </a:lnTo>
                <a:lnTo>
                  <a:pt x="972312" y="92710"/>
                </a:lnTo>
                <a:lnTo>
                  <a:pt x="973963" y="95758"/>
                </a:lnTo>
                <a:lnTo>
                  <a:pt x="976122" y="96393"/>
                </a:lnTo>
                <a:lnTo>
                  <a:pt x="1059053" y="49149"/>
                </a:lnTo>
                <a:close/>
              </a:path>
            </a:pathLst>
          </a:custGeom>
          <a:solidFill>
            <a:srgbClr val="3492B8"/>
          </a:solidFill>
        </p:spPr>
        <p:txBody>
          <a:bodyPr wrap="square" lIns="0" tIns="0" rIns="0" bIns="0" rtlCol="0"/>
          <a:lstStyle>
            <a:defPPr>
              <a:defRPr kern="0"/>
            </a:defPPr>
          </a:lstStyle>
          <a:p>
            <a:endParaRPr/>
          </a:p>
        </p:txBody>
      </p:sp>
      <p:sp>
        <p:nvSpPr>
          <p:cNvPr id="13" name="object 8">
            <a:extLst>
              <a:ext uri="{FF2B5EF4-FFF2-40B4-BE49-F238E27FC236}">
                <a16:creationId xmlns:a16="http://schemas.microsoft.com/office/drawing/2014/main" id="{8E1125BA-6ACD-625E-C1BA-781E20A9148E}"/>
              </a:ext>
            </a:extLst>
          </p:cNvPr>
          <p:cNvSpPr txBox="1"/>
          <p:nvPr/>
        </p:nvSpPr>
        <p:spPr>
          <a:xfrm>
            <a:off x="2181770" y="4636682"/>
            <a:ext cx="1292860" cy="1598295"/>
          </a:xfrm>
          <a:prstGeom prst="rect">
            <a:avLst/>
          </a:prstGeom>
        </p:spPr>
        <p:txBody>
          <a:bodyPr vert="horz" wrap="square" lIns="0" tIns="13970" rIns="0" bIns="0" rtlCol="0">
            <a:spAutoFit/>
          </a:bodyPr>
          <a:lstStyle>
            <a:defPPr>
              <a:defRPr kern="0"/>
            </a:defPPr>
          </a:lstStyle>
          <a:p>
            <a:pPr marL="71120" marR="180340" algn="ctr">
              <a:lnSpc>
                <a:spcPct val="126800"/>
              </a:lnSpc>
              <a:spcBef>
                <a:spcPts val="110"/>
              </a:spcBef>
            </a:pPr>
            <a:r>
              <a:rPr sz="1400" i="1" spc="-10" dirty="0">
                <a:latin typeface="Times New Roman"/>
                <a:cs typeface="Times New Roman"/>
              </a:rPr>
              <a:t>Home</a:t>
            </a:r>
            <a:r>
              <a:rPr sz="1400" i="1" spc="-120" dirty="0">
                <a:latin typeface="Times New Roman"/>
                <a:cs typeface="Times New Roman"/>
              </a:rPr>
              <a:t> </a:t>
            </a:r>
            <a:r>
              <a:rPr sz="1400" i="1" spc="-10" dirty="0">
                <a:latin typeface="Times New Roman"/>
                <a:cs typeface="Times New Roman"/>
              </a:rPr>
              <a:t>features </a:t>
            </a:r>
            <a:r>
              <a:rPr sz="1400" i="1" dirty="0">
                <a:latin typeface="Times New Roman"/>
                <a:cs typeface="Times New Roman"/>
              </a:rPr>
              <a:t>Ad,</a:t>
            </a:r>
            <a:r>
              <a:rPr sz="1400" i="1" spc="-45" dirty="0">
                <a:latin typeface="Times New Roman"/>
                <a:cs typeface="Times New Roman"/>
              </a:rPr>
              <a:t> </a:t>
            </a:r>
            <a:r>
              <a:rPr sz="1400" i="1" dirty="0">
                <a:latin typeface="Times New Roman"/>
                <a:cs typeface="Times New Roman"/>
              </a:rPr>
              <a:t>user</a:t>
            </a:r>
            <a:r>
              <a:rPr sz="1400" i="1" spc="-50" dirty="0">
                <a:latin typeface="Times New Roman"/>
                <a:cs typeface="Times New Roman"/>
              </a:rPr>
              <a:t> </a:t>
            </a:r>
            <a:r>
              <a:rPr sz="1400" i="1" spc="-20" dirty="0">
                <a:latin typeface="Times New Roman"/>
                <a:cs typeface="Times New Roman"/>
              </a:rPr>
              <a:t>info </a:t>
            </a:r>
            <a:r>
              <a:rPr sz="1400" i="1" spc="-10" dirty="0">
                <a:latin typeface="Times New Roman"/>
                <a:cs typeface="Times New Roman"/>
              </a:rPr>
              <a:t>Image</a:t>
            </a:r>
            <a:endParaRPr sz="1400">
              <a:latin typeface="Times New Roman"/>
              <a:cs typeface="Times New Roman"/>
            </a:endParaRPr>
          </a:p>
          <a:p>
            <a:pPr marL="405765" marR="375285" indent="-3175" algn="ctr">
              <a:lnSpc>
                <a:spcPct val="113100"/>
              </a:lnSpc>
              <a:spcBef>
                <a:spcPts val="160"/>
              </a:spcBef>
            </a:pPr>
            <a:r>
              <a:rPr sz="1400" i="1" spc="-10" dirty="0">
                <a:latin typeface="Times New Roman"/>
                <a:cs typeface="Times New Roman"/>
              </a:rPr>
              <a:t>Audio </a:t>
            </a:r>
            <a:r>
              <a:rPr sz="1400" i="1" spc="-55" dirty="0">
                <a:latin typeface="Times New Roman"/>
                <a:cs typeface="Times New Roman"/>
              </a:rPr>
              <a:t>English</a:t>
            </a:r>
            <a:endParaRPr sz="1400">
              <a:latin typeface="Times New Roman"/>
              <a:cs typeface="Times New Roman"/>
            </a:endParaRPr>
          </a:p>
          <a:p>
            <a:pPr algn="ctr">
              <a:lnSpc>
                <a:spcPct val="100000"/>
              </a:lnSpc>
              <a:spcBef>
                <a:spcPts val="340"/>
              </a:spcBef>
            </a:pPr>
            <a:r>
              <a:rPr sz="1400" i="1" dirty="0">
                <a:latin typeface="Times New Roman"/>
                <a:cs typeface="Times New Roman"/>
              </a:rPr>
              <a:t>Image,</a:t>
            </a:r>
            <a:r>
              <a:rPr sz="1400" i="1" spc="-5" dirty="0">
                <a:latin typeface="Times New Roman"/>
                <a:cs typeface="Times New Roman"/>
              </a:rPr>
              <a:t> </a:t>
            </a:r>
            <a:r>
              <a:rPr sz="1400" i="1" spc="-10" dirty="0">
                <a:latin typeface="Times New Roman"/>
                <a:cs typeface="Times New Roman"/>
              </a:rPr>
              <a:t>Radarinfo</a:t>
            </a:r>
            <a:endParaRPr sz="1400">
              <a:latin typeface="Times New Roman"/>
              <a:cs typeface="Times New Roman"/>
            </a:endParaRPr>
          </a:p>
        </p:txBody>
      </p:sp>
      <p:sp>
        <p:nvSpPr>
          <p:cNvPr id="14" name="object 9">
            <a:extLst>
              <a:ext uri="{FF2B5EF4-FFF2-40B4-BE49-F238E27FC236}">
                <a16:creationId xmlns:a16="http://schemas.microsoft.com/office/drawing/2014/main" id="{1E09B0FF-0440-0CF3-6E36-002F74F568F1}"/>
              </a:ext>
            </a:extLst>
          </p:cNvPr>
          <p:cNvSpPr/>
          <p:nvPr/>
        </p:nvSpPr>
        <p:spPr>
          <a:xfrm>
            <a:off x="3138461" y="5590453"/>
            <a:ext cx="731520" cy="325120"/>
          </a:xfrm>
          <a:custGeom>
            <a:avLst/>
            <a:gdLst/>
            <a:ahLst/>
            <a:cxnLst/>
            <a:rect l="l" t="t" r="r" b="b"/>
            <a:pathLst>
              <a:path w="731520" h="325120">
                <a:moveTo>
                  <a:pt x="621665" y="45974"/>
                </a:moveTo>
                <a:lnTo>
                  <a:pt x="537845" y="0"/>
                </a:lnTo>
                <a:lnTo>
                  <a:pt x="535940" y="546"/>
                </a:lnTo>
                <a:lnTo>
                  <a:pt x="534289" y="3606"/>
                </a:lnTo>
                <a:lnTo>
                  <a:pt x="534797" y="5524"/>
                </a:lnTo>
                <a:lnTo>
                  <a:pt x="603377" y="43218"/>
                </a:lnTo>
                <a:lnTo>
                  <a:pt x="0" y="57124"/>
                </a:lnTo>
                <a:lnTo>
                  <a:pt x="127" y="63449"/>
                </a:lnTo>
                <a:lnTo>
                  <a:pt x="603631" y="49542"/>
                </a:lnTo>
                <a:lnTo>
                  <a:pt x="536829" y="90360"/>
                </a:lnTo>
                <a:lnTo>
                  <a:pt x="536321" y="92303"/>
                </a:lnTo>
                <a:lnTo>
                  <a:pt x="538226" y="95288"/>
                </a:lnTo>
                <a:lnTo>
                  <a:pt x="540131" y="95745"/>
                </a:lnTo>
                <a:lnTo>
                  <a:pt x="621665" y="45974"/>
                </a:lnTo>
                <a:close/>
              </a:path>
              <a:path w="731520" h="325120">
                <a:moveTo>
                  <a:pt x="731139" y="275094"/>
                </a:moveTo>
                <a:lnTo>
                  <a:pt x="647446" y="229133"/>
                </a:lnTo>
                <a:lnTo>
                  <a:pt x="645541" y="229679"/>
                </a:lnTo>
                <a:lnTo>
                  <a:pt x="643763" y="232727"/>
                </a:lnTo>
                <a:lnTo>
                  <a:pt x="644398" y="234657"/>
                </a:lnTo>
                <a:lnTo>
                  <a:pt x="713105" y="272351"/>
                </a:lnTo>
                <a:lnTo>
                  <a:pt x="109474" y="286258"/>
                </a:lnTo>
                <a:lnTo>
                  <a:pt x="109601" y="292582"/>
                </a:lnTo>
                <a:lnTo>
                  <a:pt x="713232" y="278676"/>
                </a:lnTo>
                <a:lnTo>
                  <a:pt x="646303" y="319493"/>
                </a:lnTo>
                <a:lnTo>
                  <a:pt x="645922" y="321449"/>
                </a:lnTo>
                <a:lnTo>
                  <a:pt x="647700" y="324408"/>
                </a:lnTo>
                <a:lnTo>
                  <a:pt x="649605" y="324891"/>
                </a:lnTo>
                <a:lnTo>
                  <a:pt x="731139" y="275094"/>
                </a:lnTo>
                <a:close/>
              </a:path>
            </a:pathLst>
          </a:custGeom>
          <a:solidFill>
            <a:srgbClr val="3492B8"/>
          </a:solidFill>
        </p:spPr>
        <p:txBody>
          <a:bodyPr wrap="square" lIns="0" tIns="0" rIns="0" bIns="0" rtlCol="0"/>
          <a:lstStyle>
            <a:defPPr>
              <a:defRPr kern="0"/>
            </a:defPPr>
          </a:lstStyle>
          <a:p>
            <a:endParaRPr/>
          </a:p>
        </p:txBody>
      </p:sp>
      <p:sp>
        <p:nvSpPr>
          <p:cNvPr id="15" name="object 10">
            <a:extLst>
              <a:ext uri="{FF2B5EF4-FFF2-40B4-BE49-F238E27FC236}">
                <a16:creationId xmlns:a16="http://schemas.microsoft.com/office/drawing/2014/main" id="{AAF707E2-87E3-B0E1-E922-7DC72659ACEE}"/>
              </a:ext>
            </a:extLst>
          </p:cNvPr>
          <p:cNvSpPr txBox="1"/>
          <p:nvPr/>
        </p:nvSpPr>
        <p:spPr>
          <a:xfrm>
            <a:off x="3730916" y="4655542"/>
            <a:ext cx="1527810" cy="1577975"/>
          </a:xfrm>
          <a:prstGeom prst="rect">
            <a:avLst/>
          </a:prstGeom>
        </p:spPr>
        <p:txBody>
          <a:bodyPr vert="horz" wrap="square" lIns="0" tIns="88900" rIns="0" bIns="0" rtlCol="0">
            <a:spAutoFit/>
          </a:bodyPr>
          <a:lstStyle>
            <a:defPPr>
              <a:defRPr kern="0"/>
            </a:defPPr>
          </a:lstStyle>
          <a:p>
            <a:pPr marR="118745" algn="ctr">
              <a:lnSpc>
                <a:spcPct val="100000"/>
              </a:lnSpc>
              <a:spcBef>
                <a:spcPts val="700"/>
              </a:spcBef>
            </a:pPr>
            <a:r>
              <a:rPr sz="1400" i="1" spc="-10" dirty="0">
                <a:latin typeface="Times New Roman"/>
                <a:cs typeface="Times New Roman"/>
              </a:rPr>
              <a:t>Price</a:t>
            </a:r>
            <a:endParaRPr sz="1400">
              <a:latin typeface="Times New Roman"/>
              <a:cs typeface="Times New Roman"/>
            </a:endParaRPr>
          </a:p>
          <a:p>
            <a:pPr marR="57785" algn="ctr">
              <a:lnSpc>
                <a:spcPct val="100000"/>
              </a:lnSpc>
              <a:spcBef>
                <a:spcPts val="600"/>
              </a:spcBef>
            </a:pPr>
            <a:r>
              <a:rPr sz="1400" i="1" spc="-80" dirty="0">
                <a:latin typeface="Times New Roman"/>
                <a:cs typeface="Times New Roman"/>
              </a:rPr>
              <a:t>Click</a:t>
            </a:r>
            <a:r>
              <a:rPr sz="1400" i="1" spc="-90" dirty="0">
                <a:latin typeface="Times New Roman"/>
                <a:cs typeface="Times New Roman"/>
              </a:rPr>
              <a:t> </a:t>
            </a:r>
            <a:r>
              <a:rPr sz="1400" i="1" dirty="0">
                <a:latin typeface="Times New Roman"/>
                <a:cs typeface="Times New Roman"/>
              </a:rPr>
              <a:t>on</a:t>
            </a:r>
            <a:r>
              <a:rPr sz="1400" i="1" spc="25" dirty="0">
                <a:latin typeface="Times New Roman"/>
                <a:cs typeface="Times New Roman"/>
              </a:rPr>
              <a:t> </a:t>
            </a:r>
            <a:r>
              <a:rPr sz="1400" i="1" spc="-10" dirty="0">
                <a:latin typeface="Times New Roman"/>
                <a:cs typeface="Times New Roman"/>
              </a:rPr>
              <a:t>ad?(0/1)</a:t>
            </a:r>
            <a:endParaRPr sz="1400">
              <a:latin typeface="Times New Roman"/>
              <a:cs typeface="Times New Roman"/>
            </a:endParaRPr>
          </a:p>
          <a:p>
            <a:pPr marR="6985" algn="ctr">
              <a:lnSpc>
                <a:spcPct val="100000"/>
              </a:lnSpc>
              <a:spcBef>
                <a:spcPts val="600"/>
              </a:spcBef>
            </a:pPr>
            <a:r>
              <a:rPr sz="1400" i="1" spc="-60" dirty="0">
                <a:latin typeface="Arial"/>
                <a:cs typeface="Arial"/>
              </a:rPr>
              <a:t>Object</a:t>
            </a:r>
            <a:r>
              <a:rPr sz="1400" i="1" spc="-155" dirty="0">
                <a:latin typeface="Arial"/>
                <a:cs typeface="Arial"/>
              </a:rPr>
              <a:t> </a:t>
            </a:r>
            <a:r>
              <a:rPr sz="1400" i="1" spc="-10" dirty="0">
                <a:latin typeface="Arial"/>
                <a:cs typeface="Arial"/>
              </a:rPr>
              <a:t>(1,….,1000)</a:t>
            </a:r>
            <a:endParaRPr sz="1400">
              <a:latin typeface="Arial"/>
              <a:cs typeface="Arial"/>
            </a:endParaRPr>
          </a:p>
          <a:p>
            <a:pPr marL="296545" marR="408305" indent="-187960">
              <a:lnSpc>
                <a:spcPts val="1800"/>
              </a:lnSpc>
              <a:spcBef>
                <a:spcPts val="60"/>
              </a:spcBef>
            </a:pPr>
            <a:r>
              <a:rPr sz="1400" i="1" spc="-75" dirty="0">
                <a:latin typeface="Times New Roman"/>
                <a:cs typeface="Times New Roman"/>
              </a:rPr>
              <a:t>Text</a:t>
            </a:r>
            <a:r>
              <a:rPr sz="1400" i="1" spc="-85" dirty="0">
                <a:latin typeface="Times New Roman"/>
                <a:cs typeface="Times New Roman"/>
              </a:rPr>
              <a:t> </a:t>
            </a:r>
            <a:r>
              <a:rPr sz="1400" i="1" spc="-10" dirty="0">
                <a:latin typeface="Times New Roman"/>
                <a:cs typeface="Times New Roman"/>
              </a:rPr>
              <a:t>transcript Chinese</a:t>
            </a:r>
            <a:endParaRPr sz="1400">
              <a:latin typeface="Times New Roman"/>
              <a:cs typeface="Times New Roman"/>
            </a:endParaRPr>
          </a:p>
          <a:p>
            <a:pPr marL="12700">
              <a:lnSpc>
                <a:spcPct val="100000"/>
              </a:lnSpc>
              <a:spcBef>
                <a:spcPts val="40"/>
              </a:spcBef>
            </a:pPr>
            <a:r>
              <a:rPr sz="1400" i="1" spc="-20" dirty="0">
                <a:latin typeface="Times New Roman"/>
                <a:cs typeface="Times New Roman"/>
              </a:rPr>
              <a:t>Position</a:t>
            </a:r>
            <a:r>
              <a:rPr sz="1400" i="1" spc="-15" dirty="0">
                <a:latin typeface="Times New Roman"/>
                <a:cs typeface="Times New Roman"/>
              </a:rPr>
              <a:t> </a:t>
            </a:r>
            <a:r>
              <a:rPr sz="1400" i="1" dirty="0">
                <a:latin typeface="Times New Roman"/>
                <a:cs typeface="Times New Roman"/>
              </a:rPr>
              <a:t>of</a:t>
            </a:r>
            <a:r>
              <a:rPr sz="1400" i="1" spc="30" dirty="0">
                <a:latin typeface="Times New Roman"/>
                <a:cs typeface="Times New Roman"/>
              </a:rPr>
              <a:t> </a:t>
            </a:r>
            <a:r>
              <a:rPr sz="1400" i="1" spc="-10" dirty="0">
                <a:latin typeface="Times New Roman"/>
                <a:cs typeface="Times New Roman"/>
              </a:rPr>
              <a:t>othercars</a:t>
            </a:r>
            <a:endParaRPr sz="1400">
              <a:latin typeface="Times New Roman"/>
              <a:cs typeface="Times New Roman"/>
            </a:endParaRPr>
          </a:p>
        </p:txBody>
      </p:sp>
      <p:pic>
        <p:nvPicPr>
          <p:cNvPr id="16" name="object 11">
            <a:extLst>
              <a:ext uri="{FF2B5EF4-FFF2-40B4-BE49-F238E27FC236}">
                <a16:creationId xmlns:a16="http://schemas.microsoft.com/office/drawing/2014/main" id="{8D9F5F2D-B6A1-22E3-D2A5-8A545291BC84}"/>
              </a:ext>
            </a:extLst>
          </p:cNvPr>
          <p:cNvPicPr/>
          <p:nvPr/>
        </p:nvPicPr>
        <p:blipFill>
          <a:blip r:embed="rId3" cstate="print"/>
          <a:stretch>
            <a:fillRect/>
          </a:stretch>
        </p:blipFill>
        <p:spPr>
          <a:xfrm>
            <a:off x="3524541" y="6065432"/>
            <a:ext cx="215900" cy="91439"/>
          </a:xfrm>
          <a:prstGeom prst="rect">
            <a:avLst/>
          </a:prstGeom>
        </p:spPr>
      </p:pic>
      <p:sp>
        <p:nvSpPr>
          <p:cNvPr id="17" name="object 12">
            <a:extLst>
              <a:ext uri="{FF2B5EF4-FFF2-40B4-BE49-F238E27FC236}">
                <a16:creationId xmlns:a16="http://schemas.microsoft.com/office/drawing/2014/main" id="{9E6B4038-2FAB-9286-37E4-9223710ED0CD}"/>
              </a:ext>
            </a:extLst>
          </p:cNvPr>
          <p:cNvSpPr txBox="1"/>
          <p:nvPr/>
        </p:nvSpPr>
        <p:spPr>
          <a:xfrm>
            <a:off x="5468275" y="4695103"/>
            <a:ext cx="1516380" cy="1534795"/>
          </a:xfrm>
          <a:prstGeom prst="rect">
            <a:avLst/>
          </a:prstGeom>
        </p:spPr>
        <p:txBody>
          <a:bodyPr vert="horz" wrap="square" lIns="0" tIns="22225" rIns="0" bIns="0" rtlCol="0">
            <a:spAutoFit/>
          </a:bodyPr>
          <a:lstStyle>
            <a:defPPr>
              <a:defRPr kern="0"/>
            </a:defPPr>
          </a:lstStyle>
          <a:p>
            <a:pPr marL="12700" marR="15875" indent="198120">
              <a:lnSpc>
                <a:spcPct val="120300"/>
              </a:lnSpc>
              <a:spcBef>
                <a:spcPts val="175"/>
              </a:spcBef>
            </a:pPr>
            <a:r>
              <a:rPr sz="1400" b="1" i="1" spc="-100" dirty="0">
                <a:latin typeface="Arial"/>
                <a:cs typeface="Arial"/>
              </a:rPr>
              <a:t>Real</a:t>
            </a:r>
            <a:r>
              <a:rPr sz="1400" b="1" i="1" spc="-150" dirty="0">
                <a:latin typeface="Arial"/>
                <a:cs typeface="Arial"/>
              </a:rPr>
              <a:t> </a:t>
            </a:r>
            <a:r>
              <a:rPr sz="1400" b="1" i="1" spc="-10" dirty="0">
                <a:latin typeface="Arial"/>
                <a:cs typeface="Arial"/>
              </a:rPr>
              <a:t>Estate </a:t>
            </a:r>
            <a:r>
              <a:rPr sz="1400" b="1" i="1" spc="-95" dirty="0">
                <a:latin typeface="Arial"/>
                <a:cs typeface="Arial"/>
              </a:rPr>
              <a:t>Online</a:t>
            </a:r>
            <a:r>
              <a:rPr sz="1400" b="1" i="1" spc="-180" dirty="0">
                <a:latin typeface="Arial"/>
                <a:cs typeface="Arial"/>
              </a:rPr>
              <a:t> </a:t>
            </a:r>
            <a:r>
              <a:rPr sz="1400" b="1" i="1" spc="-10" dirty="0">
                <a:latin typeface="Arial"/>
                <a:cs typeface="Arial"/>
              </a:rPr>
              <a:t>Advertising </a:t>
            </a:r>
            <a:r>
              <a:rPr sz="1400" b="1" i="1" spc="-105" dirty="0">
                <a:latin typeface="Arial"/>
                <a:cs typeface="Arial"/>
              </a:rPr>
              <a:t>Photo</a:t>
            </a:r>
            <a:r>
              <a:rPr sz="1400" b="1" i="1" spc="-170" dirty="0">
                <a:latin typeface="Arial"/>
                <a:cs typeface="Arial"/>
              </a:rPr>
              <a:t> </a:t>
            </a:r>
            <a:r>
              <a:rPr sz="1400" b="1" i="1" spc="-10" dirty="0">
                <a:latin typeface="Arial"/>
                <a:cs typeface="Arial"/>
              </a:rPr>
              <a:t>tagging </a:t>
            </a:r>
            <a:r>
              <a:rPr sz="1400" b="1" i="1" spc="-140" dirty="0">
                <a:latin typeface="Arial"/>
                <a:cs typeface="Arial"/>
              </a:rPr>
              <a:t>Speech</a:t>
            </a:r>
            <a:r>
              <a:rPr sz="1400" b="1" i="1" spc="-210" dirty="0">
                <a:latin typeface="Arial"/>
                <a:cs typeface="Arial"/>
              </a:rPr>
              <a:t> </a:t>
            </a:r>
            <a:r>
              <a:rPr sz="1400" b="1" i="1" spc="-30" dirty="0">
                <a:latin typeface="Arial"/>
                <a:cs typeface="Arial"/>
              </a:rPr>
              <a:t>recognition </a:t>
            </a:r>
            <a:r>
              <a:rPr sz="1400" b="1" i="1" spc="-80" dirty="0">
                <a:latin typeface="Arial"/>
                <a:cs typeface="Arial"/>
              </a:rPr>
              <a:t>Machine</a:t>
            </a:r>
            <a:r>
              <a:rPr sz="1400" b="1" i="1" spc="-130" dirty="0">
                <a:latin typeface="Arial"/>
                <a:cs typeface="Arial"/>
              </a:rPr>
              <a:t> </a:t>
            </a:r>
            <a:r>
              <a:rPr sz="1400" b="1" i="1" spc="-80" dirty="0">
                <a:latin typeface="Arial"/>
                <a:cs typeface="Arial"/>
              </a:rPr>
              <a:t>translation</a:t>
            </a:r>
            <a:endParaRPr sz="1400">
              <a:latin typeface="Arial"/>
              <a:cs typeface="Arial"/>
            </a:endParaRPr>
          </a:p>
          <a:p>
            <a:pPr marL="19685">
              <a:lnSpc>
                <a:spcPct val="100000"/>
              </a:lnSpc>
              <a:spcBef>
                <a:spcPts val="20"/>
              </a:spcBef>
            </a:pPr>
            <a:r>
              <a:rPr sz="1400" b="1" i="1" spc="-95" dirty="0">
                <a:latin typeface="Arial"/>
                <a:cs typeface="Arial"/>
              </a:rPr>
              <a:t>Autonomousdriving</a:t>
            </a:r>
            <a:endParaRPr sz="1400">
              <a:latin typeface="Arial"/>
              <a:cs typeface="Arial"/>
            </a:endParaRPr>
          </a:p>
        </p:txBody>
      </p:sp>
      <p:grpSp>
        <p:nvGrpSpPr>
          <p:cNvPr id="18" name="object 13">
            <a:extLst>
              <a:ext uri="{FF2B5EF4-FFF2-40B4-BE49-F238E27FC236}">
                <a16:creationId xmlns:a16="http://schemas.microsoft.com/office/drawing/2014/main" id="{54807EF1-45AC-F395-8575-816E19B03E7B}"/>
              </a:ext>
            </a:extLst>
          </p:cNvPr>
          <p:cNvGrpSpPr/>
          <p:nvPr/>
        </p:nvGrpSpPr>
        <p:grpSpPr>
          <a:xfrm>
            <a:off x="6722401" y="4737013"/>
            <a:ext cx="822960" cy="1455420"/>
            <a:chOff x="7503160" y="5166360"/>
            <a:chExt cx="822960" cy="1455420"/>
          </a:xfrm>
        </p:grpSpPr>
        <p:sp>
          <p:nvSpPr>
            <p:cNvPr id="22" name="object 14">
              <a:extLst>
                <a:ext uri="{FF2B5EF4-FFF2-40B4-BE49-F238E27FC236}">
                  <a16:creationId xmlns:a16="http://schemas.microsoft.com/office/drawing/2014/main" id="{CFA1ECF0-1A2C-A02F-3FF5-134E0DF4A2C4}"/>
                </a:ext>
              </a:extLst>
            </p:cNvPr>
            <p:cNvSpPr/>
            <p:nvPr/>
          </p:nvSpPr>
          <p:spPr>
            <a:xfrm>
              <a:off x="7736839" y="5166360"/>
              <a:ext cx="243840" cy="579120"/>
            </a:xfrm>
            <a:custGeom>
              <a:avLst/>
              <a:gdLst/>
              <a:ahLst/>
              <a:cxnLst/>
              <a:rect l="l" t="t" r="r" b="b"/>
              <a:pathLst>
                <a:path w="243840" h="579120">
                  <a:moveTo>
                    <a:pt x="0" y="0"/>
                  </a:moveTo>
                  <a:lnTo>
                    <a:pt x="47370" y="1523"/>
                  </a:lnTo>
                  <a:lnTo>
                    <a:pt x="86105" y="5841"/>
                  </a:lnTo>
                  <a:lnTo>
                    <a:pt x="112140" y="12318"/>
                  </a:lnTo>
                  <a:lnTo>
                    <a:pt x="121665" y="20065"/>
                  </a:lnTo>
                  <a:lnTo>
                    <a:pt x="121665" y="269112"/>
                  </a:lnTo>
                  <a:lnTo>
                    <a:pt x="131317" y="276986"/>
                  </a:lnTo>
                  <a:lnTo>
                    <a:pt x="157352" y="283336"/>
                  </a:lnTo>
                  <a:lnTo>
                    <a:pt x="196087" y="287654"/>
                  </a:lnTo>
                  <a:lnTo>
                    <a:pt x="243458" y="289178"/>
                  </a:lnTo>
                  <a:lnTo>
                    <a:pt x="196087" y="290829"/>
                  </a:lnTo>
                  <a:lnTo>
                    <a:pt x="157352" y="295147"/>
                  </a:lnTo>
                  <a:lnTo>
                    <a:pt x="131317" y="301624"/>
                  </a:lnTo>
                  <a:lnTo>
                    <a:pt x="121665" y="309498"/>
                  </a:lnTo>
                  <a:lnTo>
                    <a:pt x="121665" y="558418"/>
                  </a:lnTo>
                  <a:lnTo>
                    <a:pt x="112140" y="566267"/>
                  </a:lnTo>
                  <a:lnTo>
                    <a:pt x="86105" y="572668"/>
                  </a:lnTo>
                  <a:lnTo>
                    <a:pt x="47370" y="576986"/>
                  </a:lnTo>
                  <a:lnTo>
                    <a:pt x="0" y="578561"/>
                  </a:lnTo>
                </a:path>
              </a:pathLst>
            </a:custGeom>
            <a:ln w="6348">
              <a:solidFill>
                <a:srgbClr val="3492B8"/>
              </a:solidFill>
            </a:ln>
          </p:spPr>
          <p:txBody>
            <a:bodyPr wrap="square" lIns="0" tIns="0" rIns="0" bIns="0" rtlCol="0"/>
            <a:lstStyle>
              <a:defPPr>
                <a:defRPr kern="0"/>
              </a:defPPr>
            </a:lstStyle>
            <a:p>
              <a:endParaRPr/>
            </a:p>
          </p:txBody>
        </p:sp>
        <p:sp>
          <p:nvSpPr>
            <p:cNvPr id="23" name="object 15">
              <a:extLst>
                <a:ext uri="{FF2B5EF4-FFF2-40B4-BE49-F238E27FC236}">
                  <a16:creationId xmlns:a16="http://schemas.microsoft.com/office/drawing/2014/main" id="{90A04248-BF10-C5DE-81C4-8EC953A54B42}"/>
                </a:ext>
              </a:extLst>
            </p:cNvPr>
            <p:cNvSpPr/>
            <p:nvPr/>
          </p:nvSpPr>
          <p:spPr>
            <a:xfrm>
              <a:off x="7503160" y="5819140"/>
              <a:ext cx="822960" cy="802640"/>
            </a:xfrm>
            <a:custGeom>
              <a:avLst/>
              <a:gdLst/>
              <a:ahLst/>
              <a:cxnLst/>
              <a:rect l="l" t="t" r="r" b="b"/>
              <a:pathLst>
                <a:path w="822959" h="802640">
                  <a:moveTo>
                    <a:pt x="497586" y="47472"/>
                  </a:moveTo>
                  <a:lnTo>
                    <a:pt x="414782" y="0"/>
                  </a:lnTo>
                  <a:lnTo>
                    <a:pt x="412750" y="520"/>
                  </a:lnTo>
                  <a:lnTo>
                    <a:pt x="411099" y="3581"/>
                  </a:lnTo>
                  <a:lnTo>
                    <a:pt x="411607" y="5524"/>
                  </a:lnTo>
                  <a:lnTo>
                    <a:pt x="479552" y="44437"/>
                  </a:lnTo>
                  <a:lnTo>
                    <a:pt x="0" y="48564"/>
                  </a:lnTo>
                  <a:lnTo>
                    <a:pt x="127" y="54927"/>
                  </a:lnTo>
                  <a:lnTo>
                    <a:pt x="479552" y="50800"/>
                  </a:lnTo>
                  <a:lnTo>
                    <a:pt x="412369" y="90906"/>
                  </a:lnTo>
                  <a:lnTo>
                    <a:pt x="411861" y="92862"/>
                  </a:lnTo>
                  <a:lnTo>
                    <a:pt x="413639" y="95885"/>
                  </a:lnTo>
                  <a:lnTo>
                    <a:pt x="415544" y="96367"/>
                  </a:lnTo>
                  <a:lnTo>
                    <a:pt x="497586" y="47472"/>
                  </a:lnTo>
                  <a:close/>
                </a:path>
                <a:path w="822959" h="802640">
                  <a:moveTo>
                    <a:pt x="822452" y="753643"/>
                  </a:moveTo>
                  <a:lnTo>
                    <a:pt x="739648" y="706170"/>
                  </a:lnTo>
                  <a:lnTo>
                    <a:pt x="737743" y="706704"/>
                  </a:lnTo>
                  <a:lnTo>
                    <a:pt x="735965" y="709739"/>
                  </a:lnTo>
                  <a:lnTo>
                    <a:pt x="736473" y="711695"/>
                  </a:lnTo>
                  <a:lnTo>
                    <a:pt x="804418" y="750608"/>
                  </a:lnTo>
                  <a:lnTo>
                    <a:pt x="324993" y="754722"/>
                  </a:lnTo>
                  <a:lnTo>
                    <a:pt x="324993" y="761085"/>
                  </a:lnTo>
                  <a:lnTo>
                    <a:pt x="804545" y="756983"/>
                  </a:lnTo>
                  <a:lnTo>
                    <a:pt x="737235" y="797077"/>
                  </a:lnTo>
                  <a:lnTo>
                    <a:pt x="736727" y="799020"/>
                  </a:lnTo>
                  <a:lnTo>
                    <a:pt x="738505" y="802055"/>
                  </a:lnTo>
                  <a:lnTo>
                    <a:pt x="740537" y="802538"/>
                  </a:lnTo>
                  <a:lnTo>
                    <a:pt x="822452" y="753643"/>
                  </a:lnTo>
                  <a:close/>
                </a:path>
              </a:pathLst>
            </a:custGeom>
            <a:solidFill>
              <a:srgbClr val="3492B8"/>
            </a:solidFill>
          </p:spPr>
          <p:txBody>
            <a:bodyPr wrap="square" lIns="0" tIns="0" rIns="0" bIns="0" rtlCol="0"/>
            <a:lstStyle>
              <a:defPPr>
                <a:defRPr kern="0"/>
              </a:defPPr>
            </a:lstStyle>
            <a:p>
              <a:endParaRPr/>
            </a:p>
          </p:txBody>
        </p:sp>
        <p:sp>
          <p:nvSpPr>
            <p:cNvPr id="24" name="object 16">
              <a:extLst>
                <a:ext uri="{FF2B5EF4-FFF2-40B4-BE49-F238E27FC236}">
                  <a16:creationId xmlns:a16="http://schemas.microsoft.com/office/drawing/2014/main" id="{A8CFFC9B-08F1-44D5-8784-6911A761BA47}"/>
                </a:ext>
              </a:extLst>
            </p:cNvPr>
            <p:cNvSpPr/>
            <p:nvPr/>
          </p:nvSpPr>
          <p:spPr>
            <a:xfrm>
              <a:off x="7729219" y="6037580"/>
              <a:ext cx="438784" cy="416559"/>
            </a:xfrm>
            <a:custGeom>
              <a:avLst/>
              <a:gdLst/>
              <a:ahLst/>
              <a:cxnLst/>
              <a:rect l="l" t="t" r="r" b="b"/>
              <a:pathLst>
                <a:path w="438784" h="416560">
                  <a:moveTo>
                    <a:pt x="0" y="0"/>
                  </a:moveTo>
                  <a:lnTo>
                    <a:pt x="69341" y="1765"/>
                  </a:lnTo>
                  <a:lnTo>
                    <a:pt x="129539" y="6680"/>
                  </a:lnTo>
                  <a:lnTo>
                    <a:pt x="177037" y="14185"/>
                  </a:lnTo>
                  <a:lnTo>
                    <a:pt x="219328" y="34658"/>
                  </a:lnTo>
                  <a:lnTo>
                    <a:pt x="219328" y="173329"/>
                  </a:lnTo>
                  <a:lnTo>
                    <a:pt x="230504" y="184277"/>
                  </a:lnTo>
                  <a:lnTo>
                    <a:pt x="261747" y="193789"/>
                  </a:lnTo>
                  <a:lnTo>
                    <a:pt x="309245" y="201295"/>
                  </a:lnTo>
                  <a:lnTo>
                    <a:pt x="369443" y="206222"/>
                  </a:lnTo>
                  <a:lnTo>
                    <a:pt x="438784" y="207987"/>
                  </a:lnTo>
                  <a:lnTo>
                    <a:pt x="369443" y="209753"/>
                  </a:lnTo>
                  <a:lnTo>
                    <a:pt x="309245" y="214668"/>
                  </a:lnTo>
                  <a:lnTo>
                    <a:pt x="261747" y="222173"/>
                  </a:lnTo>
                  <a:lnTo>
                    <a:pt x="230504" y="231686"/>
                  </a:lnTo>
                  <a:lnTo>
                    <a:pt x="219328" y="242633"/>
                  </a:lnTo>
                  <a:lnTo>
                    <a:pt x="219328" y="381317"/>
                  </a:lnTo>
                  <a:lnTo>
                    <a:pt x="208152" y="392264"/>
                  </a:lnTo>
                  <a:lnTo>
                    <a:pt x="177037" y="401777"/>
                  </a:lnTo>
                  <a:lnTo>
                    <a:pt x="129539" y="409282"/>
                  </a:lnTo>
                  <a:lnTo>
                    <a:pt x="69341" y="414210"/>
                  </a:lnTo>
                  <a:lnTo>
                    <a:pt x="0" y="415975"/>
                  </a:lnTo>
                </a:path>
              </a:pathLst>
            </a:custGeom>
            <a:ln w="6348">
              <a:solidFill>
                <a:srgbClr val="3492B8"/>
              </a:solidFill>
            </a:ln>
          </p:spPr>
          <p:txBody>
            <a:bodyPr wrap="square" lIns="0" tIns="0" rIns="0" bIns="0" rtlCol="0"/>
            <a:lstStyle>
              <a:defPPr>
                <a:defRPr kern="0"/>
              </a:defPPr>
            </a:lstStyle>
            <a:p>
              <a:endParaRPr/>
            </a:p>
          </p:txBody>
        </p:sp>
      </p:grpSp>
      <p:sp>
        <p:nvSpPr>
          <p:cNvPr id="19" name="object 17">
            <a:extLst>
              <a:ext uri="{FF2B5EF4-FFF2-40B4-BE49-F238E27FC236}">
                <a16:creationId xmlns:a16="http://schemas.microsoft.com/office/drawing/2014/main" id="{D10BF28C-928B-C531-9049-457C108B2D40}"/>
              </a:ext>
            </a:extLst>
          </p:cNvPr>
          <p:cNvSpPr txBox="1"/>
          <p:nvPr/>
        </p:nvSpPr>
        <p:spPr>
          <a:xfrm>
            <a:off x="7254149" y="4869728"/>
            <a:ext cx="1956435" cy="23876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400" spc="-80" dirty="0">
                <a:latin typeface="Arial"/>
                <a:cs typeface="Arial"/>
              </a:rPr>
              <a:t>Multi</a:t>
            </a:r>
            <a:r>
              <a:rPr sz="1400" spc="-85" dirty="0">
                <a:latin typeface="Arial"/>
                <a:cs typeface="Arial"/>
              </a:rPr>
              <a:t> </a:t>
            </a:r>
            <a:r>
              <a:rPr sz="1400" spc="-80" dirty="0">
                <a:latin typeface="Arial"/>
                <a:cs typeface="Arial"/>
              </a:rPr>
              <a:t>Layer</a:t>
            </a:r>
            <a:r>
              <a:rPr sz="1400" spc="-50" dirty="0">
                <a:latin typeface="Arial"/>
                <a:cs typeface="Arial"/>
              </a:rPr>
              <a:t> </a:t>
            </a:r>
            <a:r>
              <a:rPr sz="1400" spc="-60" dirty="0">
                <a:latin typeface="Arial"/>
                <a:cs typeface="Arial"/>
              </a:rPr>
              <a:t>Neural</a:t>
            </a:r>
            <a:r>
              <a:rPr sz="1400" spc="-170" dirty="0">
                <a:latin typeface="Arial"/>
                <a:cs typeface="Arial"/>
              </a:rPr>
              <a:t> </a:t>
            </a:r>
            <a:r>
              <a:rPr sz="1400" spc="-25" dirty="0">
                <a:latin typeface="Arial"/>
                <a:cs typeface="Arial"/>
              </a:rPr>
              <a:t>Network</a:t>
            </a:r>
            <a:endParaRPr sz="1400">
              <a:latin typeface="Arial"/>
              <a:cs typeface="Arial"/>
            </a:endParaRPr>
          </a:p>
        </p:txBody>
      </p:sp>
      <p:sp>
        <p:nvSpPr>
          <p:cNvPr id="20" name="object 18">
            <a:extLst>
              <a:ext uri="{FF2B5EF4-FFF2-40B4-BE49-F238E27FC236}">
                <a16:creationId xmlns:a16="http://schemas.microsoft.com/office/drawing/2014/main" id="{6BACCB41-F62D-E817-89A7-01BFF4986460}"/>
              </a:ext>
            </a:extLst>
          </p:cNvPr>
          <p:cNvSpPr txBox="1"/>
          <p:nvPr/>
        </p:nvSpPr>
        <p:spPr>
          <a:xfrm>
            <a:off x="7330096" y="5293273"/>
            <a:ext cx="2191385" cy="23876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400" spc="-60" dirty="0">
                <a:latin typeface="Arial"/>
                <a:cs typeface="Arial"/>
              </a:rPr>
              <a:t>Convolutional</a:t>
            </a:r>
            <a:r>
              <a:rPr sz="1400" spc="20" dirty="0">
                <a:latin typeface="Arial"/>
                <a:cs typeface="Arial"/>
              </a:rPr>
              <a:t> </a:t>
            </a:r>
            <a:r>
              <a:rPr sz="1400" spc="-60" dirty="0">
                <a:latin typeface="Arial"/>
                <a:cs typeface="Arial"/>
              </a:rPr>
              <a:t>Neural</a:t>
            </a:r>
            <a:r>
              <a:rPr sz="1400" spc="-175" dirty="0">
                <a:latin typeface="Arial"/>
                <a:cs typeface="Arial"/>
              </a:rPr>
              <a:t> </a:t>
            </a:r>
            <a:r>
              <a:rPr sz="1400" spc="-20" dirty="0">
                <a:latin typeface="Arial"/>
                <a:cs typeface="Arial"/>
              </a:rPr>
              <a:t>Network</a:t>
            </a:r>
            <a:endParaRPr sz="1400">
              <a:latin typeface="Arial"/>
              <a:cs typeface="Arial"/>
            </a:endParaRPr>
          </a:p>
        </p:txBody>
      </p:sp>
      <p:sp>
        <p:nvSpPr>
          <p:cNvPr id="21" name="object 19">
            <a:extLst>
              <a:ext uri="{FF2B5EF4-FFF2-40B4-BE49-F238E27FC236}">
                <a16:creationId xmlns:a16="http://schemas.microsoft.com/office/drawing/2014/main" id="{C825F47C-E23A-C916-6623-72A3F2513B9F}"/>
              </a:ext>
            </a:extLst>
          </p:cNvPr>
          <p:cNvSpPr txBox="1"/>
          <p:nvPr/>
        </p:nvSpPr>
        <p:spPr>
          <a:xfrm>
            <a:off x="7473606" y="5570649"/>
            <a:ext cx="2555875" cy="656590"/>
          </a:xfrm>
          <a:prstGeom prst="rect">
            <a:avLst/>
          </a:prstGeom>
        </p:spPr>
        <p:txBody>
          <a:bodyPr vert="horz" wrap="square" lIns="0" tIns="114935" rIns="0" bIns="0" rtlCol="0">
            <a:spAutoFit/>
          </a:bodyPr>
          <a:lstStyle>
            <a:defPPr>
              <a:defRPr kern="0"/>
            </a:defPPr>
          </a:lstStyle>
          <a:p>
            <a:pPr marL="12700">
              <a:lnSpc>
                <a:spcPct val="100000"/>
              </a:lnSpc>
              <a:spcBef>
                <a:spcPts val="905"/>
              </a:spcBef>
            </a:pPr>
            <a:r>
              <a:rPr sz="1400" spc="-65" dirty="0">
                <a:latin typeface="Arial"/>
                <a:cs typeface="Arial"/>
              </a:rPr>
              <a:t>Recurrent</a:t>
            </a:r>
            <a:r>
              <a:rPr sz="1400" spc="-150" dirty="0">
                <a:latin typeface="Arial"/>
                <a:cs typeface="Arial"/>
              </a:rPr>
              <a:t> </a:t>
            </a:r>
            <a:r>
              <a:rPr sz="1400" spc="-60" dirty="0">
                <a:latin typeface="Arial"/>
                <a:cs typeface="Arial"/>
              </a:rPr>
              <a:t>Neural</a:t>
            </a:r>
            <a:r>
              <a:rPr sz="1400" spc="-105" dirty="0">
                <a:latin typeface="Arial"/>
                <a:cs typeface="Arial"/>
              </a:rPr>
              <a:t> </a:t>
            </a:r>
            <a:r>
              <a:rPr sz="1400" spc="-10" dirty="0">
                <a:latin typeface="Arial"/>
                <a:cs typeface="Arial"/>
              </a:rPr>
              <a:t>Network</a:t>
            </a:r>
            <a:endParaRPr sz="1400">
              <a:latin typeface="Arial"/>
              <a:cs typeface="Arial"/>
            </a:endParaRPr>
          </a:p>
          <a:p>
            <a:pPr marL="203200">
              <a:lnSpc>
                <a:spcPct val="100000"/>
              </a:lnSpc>
              <a:spcBef>
                <a:spcPts val="800"/>
              </a:spcBef>
            </a:pPr>
            <a:r>
              <a:rPr sz="1400" spc="-75" dirty="0">
                <a:latin typeface="Arial"/>
                <a:cs typeface="Arial"/>
              </a:rPr>
              <a:t>Custom</a:t>
            </a:r>
            <a:r>
              <a:rPr sz="1400" spc="-200" dirty="0">
                <a:latin typeface="Arial"/>
                <a:cs typeface="Arial"/>
              </a:rPr>
              <a:t> </a:t>
            </a:r>
            <a:r>
              <a:rPr sz="1400" dirty="0">
                <a:latin typeface="Arial"/>
                <a:cs typeface="Arial"/>
              </a:rPr>
              <a:t>/</a:t>
            </a:r>
            <a:r>
              <a:rPr sz="1400" spc="25" dirty="0">
                <a:latin typeface="Arial"/>
                <a:cs typeface="Arial"/>
              </a:rPr>
              <a:t> </a:t>
            </a:r>
            <a:r>
              <a:rPr sz="1400" spc="-50" dirty="0">
                <a:latin typeface="Arial"/>
                <a:cs typeface="Arial"/>
              </a:rPr>
              <a:t>Hybrid</a:t>
            </a:r>
            <a:r>
              <a:rPr sz="1400" spc="-55" dirty="0">
                <a:latin typeface="Arial"/>
                <a:cs typeface="Arial"/>
              </a:rPr>
              <a:t> </a:t>
            </a:r>
            <a:r>
              <a:rPr sz="1400" spc="-60" dirty="0">
                <a:latin typeface="Arial"/>
                <a:cs typeface="Arial"/>
              </a:rPr>
              <a:t>Neural</a:t>
            </a:r>
            <a:r>
              <a:rPr sz="1400" spc="-114" dirty="0">
                <a:latin typeface="Arial"/>
                <a:cs typeface="Arial"/>
              </a:rPr>
              <a:t> </a:t>
            </a:r>
            <a:r>
              <a:rPr sz="1400" spc="-20" dirty="0">
                <a:latin typeface="Arial"/>
                <a:cs typeface="Arial"/>
              </a:rPr>
              <a:t>Network</a:t>
            </a:r>
            <a:endParaRPr sz="1400">
              <a:latin typeface="Arial"/>
              <a:cs typeface="Arial"/>
            </a:endParaRPr>
          </a:p>
        </p:txBody>
      </p:sp>
      <p:sp>
        <p:nvSpPr>
          <p:cNvPr id="26" name="object 3">
            <a:extLst>
              <a:ext uri="{FF2B5EF4-FFF2-40B4-BE49-F238E27FC236}">
                <a16:creationId xmlns:a16="http://schemas.microsoft.com/office/drawing/2014/main" id="{273D8D9E-4166-FF79-3EC2-10CA300D047B}"/>
              </a:ext>
            </a:extLst>
          </p:cNvPr>
          <p:cNvSpPr txBox="1"/>
          <p:nvPr/>
        </p:nvSpPr>
        <p:spPr>
          <a:xfrm>
            <a:off x="629500" y="1347381"/>
            <a:ext cx="11074813" cy="2583400"/>
          </a:xfrm>
          <a:prstGeom prst="rect">
            <a:avLst/>
          </a:prstGeom>
        </p:spPr>
        <p:txBody>
          <a:bodyPr vert="horz" wrap="square" lIns="0" tIns="89535" rIns="0" bIns="0" rtlCol="0">
            <a:spAutoFit/>
          </a:bodyPr>
          <a:lstStyle>
            <a:defPPr>
              <a:defRPr kern="0"/>
            </a:defPPr>
          </a:lstStyle>
          <a:p>
            <a:pPr marL="131445" indent="-118745">
              <a:lnSpc>
                <a:spcPct val="100000"/>
              </a:lnSpc>
              <a:spcBef>
                <a:spcPts val="705"/>
              </a:spcBef>
              <a:buSzPct val="96428"/>
              <a:buFont typeface="Wingdings"/>
              <a:buChar char=""/>
              <a:tabLst>
                <a:tab pos="131445" algn="l"/>
              </a:tabLst>
            </a:pPr>
            <a:r>
              <a:rPr sz="1200" spc="-105" dirty="0">
                <a:latin typeface="Arial"/>
                <a:cs typeface="Arial"/>
              </a:rPr>
              <a:t>Youhave</a:t>
            </a:r>
            <a:r>
              <a:rPr sz="1200" spc="-150" dirty="0">
                <a:latin typeface="Arial"/>
                <a:cs typeface="Arial"/>
              </a:rPr>
              <a:t> </a:t>
            </a:r>
            <a:r>
              <a:rPr sz="1200" spc="-60" dirty="0">
                <a:latin typeface="Arial"/>
                <a:cs typeface="Arial"/>
              </a:rPr>
              <a:t>some</a:t>
            </a:r>
            <a:r>
              <a:rPr sz="1200" spc="-170" dirty="0">
                <a:latin typeface="Arial"/>
                <a:cs typeface="Arial"/>
              </a:rPr>
              <a:t> </a:t>
            </a:r>
            <a:r>
              <a:rPr sz="1200" b="1" spc="-75" dirty="0">
                <a:latin typeface="Arial"/>
                <a:cs typeface="Arial"/>
              </a:rPr>
              <a:t>input</a:t>
            </a:r>
            <a:r>
              <a:rPr sz="1200" b="1" spc="-90" dirty="0">
                <a:latin typeface="Arial"/>
                <a:cs typeface="Arial"/>
              </a:rPr>
              <a:t> </a:t>
            </a:r>
            <a:r>
              <a:rPr sz="1200" b="1" spc="-35" dirty="0">
                <a:latin typeface="Arial"/>
                <a:cs typeface="Arial"/>
              </a:rPr>
              <a:t>X</a:t>
            </a:r>
            <a:r>
              <a:rPr sz="1200" spc="-35" dirty="0">
                <a:latin typeface="Arial"/>
                <a:cs typeface="Arial"/>
              </a:rPr>
              <a:t>and</a:t>
            </a:r>
            <a:r>
              <a:rPr sz="1200" spc="-125" dirty="0">
                <a:latin typeface="Arial"/>
                <a:cs typeface="Arial"/>
              </a:rPr>
              <a:t> </a:t>
            </a:r>
            <a:r>
              <a:rPr sz="1200" spc="-65" dirty="0">
                <a:latin typeface="Arial"/>
                <a:cs typeface="Arial"/>
              </a:rPr>
              <a:t>you</a:t>
            </a:r>
            <a:r>
              <a:rPr sz="1200" spc="-40" dirty="0">
                <a:latin typeface="Arial"/>
                <a:cs typeface="Arial"/>
              </a:rPr>
              <a:t> </a:t>
            </a:r>
            <a:r>
              <a:rPr sz="1200" spc="-35" dirty="0">
                <a:latin typeface="Arial"/>
                <a:cs typeface="Arial"/>
              </a:rPr>
              <a:t>want</a:t>
            </a:r>
            <a:r>
              <a:rPr sz="1200" spc="20" dirty="0">
                <a:latin typeface="Arial"/>
                <a:cs typeface="Arial"/>
              </a:rPr>
              <a:t> </a:t>
            </a:r>
            <a:r>
              <a:rPr sz="1200" dirty="0">
                <a:latin typeface="Arial"/>
                <a:cs typeface="Arial"/>
              </a:rPr>
              <a:t>to</a:t>
            </a:r>
            <a:r>
              <a:rPr sz="1200" spc="50" dirty="0">
                <a:latin typeface="Arial"/>
                <a:cs typeface="Arial"/>
              </a:rPr>
              <a:t> </a:t>
            </a:r>
            <a:r>
              <a:rPr sz="1200" spc="-40" dirty="0">
                <a:latin typeface="Arial"/>
                <a:cs typeface="Arial"/>
              </a:rPr>
              <a:t>learn</a:t>
            </a:r>
            <a:r>
              <a:rPr sz="1200" spc="-55" dirty="0">
                <a:latin typeface="Arial"/>
                <a:cs typeface="Arial"/>
              </a:rPr>
              <a:t> </a:t>
            </a:r>
            <a:r>
              <a:rPr sz="1200" spc="-10" dirty="0">
                <a:latin typeface="Arial"/>
                <a:cs typeface="Arial"/>
              </a:rPr>
              <a:t>the</a:t>
            </a:r>
            <a:r>
              <a:rPr sz="1200" spc="-15" dirty="0">
                <a:latin typeface="Arial"/>
                <a:cs typeface="Arial"/>
              </a:rPr>
              <a:t> </a:t>
            </a:r>
            <a:r>
              <a:rPr sz="1200" spc="-25" dirty="0">
                <a:latin typeface="Arial"/>
                <a:cs typeface="Arial"/>
              </a:rPr>
              <a:t>function</a:t>
            </a:r>
            <a:r>
              <a:rPr sz="1200" spc="-45" dirty="0">
                <a:latin typeface="Arial"/>
                <a:cs typeface="Arial"/>
              </a:rPr>
              <a:t> </a:t>
            </a:r>
            <a:r>
              <a:rPr sz="1200" spc="-65" dirty="0">
                <a:latin typeface="Arial"/>
                <a:cs typeface="Arial"/>
              </a:rPr>
              <a:t>mapping</a:t>
            </a:r>
            <a:r>
              <a:rPr sz="1200" spc="-170" dirty="0">
                <a:latin typeface="Arial"/>
                <a:cs typeface="Arial"/>
              </a:rPr>
              <a:t> </a:t>
            </a:r>
            <a:r>
              <a:rPr sz="1200" spc="-20" dirty="0">
                <a:latin typeface="Arial"/>
                <a:cs typeface="Arial"/>
              </a:rPr>
              <a:t>tosome</a:t>
            </a:r>
            <a:r>
              <a:rPr sz="1200" spc="-195" dirty="0">
                <a:latin typeface="Arial"/>
                <a:cs typeface="Arial"/>
              </a:rPr>
              <a:t> </a:t>
            </a:r>
            <a:r>
              <a:rPr sz="1200" b="1" spc="-60" dirty="0">
                <a:latin typeface="Arial"/>
                <a:cs typeface="Arial"/>
              </a:rPr>
              <a:t>output</a:t>
            </a:r>
            <a:r>
              <a:rPr sz="1200" b="1" spc="-175" dirty="0">
                <a:latin typeface="Arial"/>
                <a:cs typeface="Arial"/>
              </a:rPr>
              <a:t> </a:t>
            </a:r>
            <a:r>
              <a:rPr sz="1200" b="1" spc="-420" dirty="0">
                <a:latin typeface="Arial"/>
                <a:cs typeface="Arial"/>
              </a:rPr>
              <a:t>Y.</a:t>
            </a:r>
            <a:endParaRPr sz="1200" dirty="0">
              <a:latin typeface="Arial"/>
              <a:cs typeface="Arial"/>
            </a:endParaRPr>
          </a:p>
          <a:p>
            <a:pPr marL="131445" indent="-118745">
              <a:lnSpc>
                <a:spcPct val="100000"/>
              </a:lnSpc>
              <a:spcBef>
                <a:spcPts val="605"/>
              </a:spcBef>
              <a:buSzPct val="96428"/>
              <a:buFont typeface="Wingdings"/>
              <a:buChar char=""/>
              <a:tabLst>
                <a:tab pos="131445" algn="l"/>
              </a:tabLst>
            </a:pPr>
            <a:r>
              <a:rPr lang="en-GB" sz="1200" spc="-95" dirty="0">
                <a:latin typeface="Arial"/>
                <a:cs typeface="Arial"/>
              </a:rPr>
              <a:t>F</a:t>
            </a:r>
            <a:r>
              <a:rPr sz="1200" dirty="0">
                <a:latin typeface="Arial"/>
                <a:cs typeface="Arial"/>
              </a:rPr>
              <a:t>or</a:t>
            </a:r>
            <a:r>
              <a:rPr sz="1200" spc="-110" dirty="0">
                <a:latin typeface="Arial"/>
                <a:cs typeface="Arial"/>
              </a:rPr>
              <a:t> </a:t>
            </a:r>
            <a:r>
              <a:rPr sz="1200" spc="-75" dirty="0">
                <a:latin typeface="Arial"/>
                <a:cs typeface="Arial"/>
              </a:rPr>
              <a:t>example</a:t>
            </a:r>
            <a:r>
              <a:rPr lang="en-GB" sz="1200" spc="-75" dirty="0">
                <a:latin typeface="Arial"/>
                <a:cs typeface="Arial"/>
              </a:rPr>
              <a:t>,</a:t>
            </a:r>
            <a:r>
              <a:rPr sz="1200" spc="-105" dirty="0">
                <a:latin typeface="Arial"/>
                <a:cs typeface="Arial"/>
              </a:rPr>
              <a:t> </a:t>
            </a:r>
            <a:r>
              <a:rPr sz="1200" spc="-45" dirty="0">
                <a:latin typeface="Arial"/>
                <a:cs typeface="Arial"/>
              </a:rPr>
              <a:t>just</a:t>
            </a:r>
            <a:r>
              <a:rPr sz="1200" spc="-30" dirty="0">
                <a:latin typeface="Arial"/>
                <a:cs typeface="Arial"/>
              </a:rPr>
              <a:t> </a:t>
            </a:r>
            <a:r>
              <a:rPr sz="1200" spc="-35" dirty="0">
                <a:latin typeface="Arial"/>
                <a:cs typeface="Arial"/>
              </a:rPr>
              <a:t>now</a:t>
            </a:r>
            <a:r>
              <a:rPr sz="1200" spc="-95" dirty="0">
                <a:latin typeface="Arial"/>
                <a:cs typeface="Arial"/>
              </a:rPr>
              <a:t> </a:t>
            </a:r>
            <a:r>
              <a:rPr sz="1200" spc="-50" dirty="0">
                <a:latin typeface="Arial"/>
                <a:cs typeface="Arial"/>
              </a:rPr>
              <a:t>we</a:t>
            </a:r>
            <a:r>
              <a:rPr sz="1200" spc="-60" dirty="0">
                <a:latin typeface="Arial"/>
                <a:cs typeface="Arial"/>
              </a:rPr>
              <a:t> </a:t>
            </a:r>
            <a:r>
              <a:rPr sz="1200" spc="-80" dirty="0">
                <a:latin typeface="Arial"/>
                <a:cs typeface="Arial"/>
              </a:rPr>
              <a:t>saw</a:t>
            </a:r>
            <a:r>
              <a:rPr sz="1200" spc="-145" dirty="0">
                <a:latin typeface="Arial"/>
                <a:cs typeface="Arial"/>
              </a:rPr>
              <a:t> </a:t>
            </a:r>
            <a:r>
              <a:rPr sz="1200" spc="-20" dirty="0">
                <a:latin typeface="Arial"/>
                <a:cs typeface="Arial"/>
              </a:rPr>
              <a:t>the</a:t>
            </a:r>
            <a:r>
              <a:rPr sz="1200" spc="-60" dirty="0">
                <a:latin typeface="Arial"/>
                <a:cs typeface="Arial"/>
              </a:rPr>
              <a:t> housing</a:t>
            </a:r>
            <a:r>
              <a:rPr sz="1200" spc="-150" dirty="0">
                <a:latin typeface="Arial"/>
                <a:cs typeface="Arial"/>
              </a:rPr>
              <a:t> </a:t>
            </a:r>
            <a:r>
              <a:rPr sz="1200" spc="-40" dirty="0">
                <a:latin typeface="Arial"/>
                <a:cs typeface="Arial"/>
              </a:rPr>
              <a:t>price</a:t>
            </a:r>
            <a:r>
              <a:rPr sz="1200" spc="-170" dirty="0">
                <a:latin typeface="Arial"/>
                <a:cs typeface="Arial"/>
              </a:rPr>
              <a:t> </a:t>
            </a:r>
            <a:r>
              <a:rPr sz="1200" spc="-40" dirty="0">
                <a:latin typeface="Arial"/>
                <a:cs typeface="Arial"/>
              </a:rPr>
              <a:t>prediction</a:t>
            </a:r>
            <a:r>
              <a:rPr sz="1200" spc="5" dirty="0">
                <a:latin typeface="Arial"/>
                <a:cs typeface="Arial"/>
              </a:rPr>
              <a:t> </a:t>
            </a:r>
            <a:r>
              <a:rPr sz="1200" spc="-45" dirty="0">
                <a:latin typeface="Arial"/>
                <a:cs typeface="Arial"/>
              </a:rPr>
              <a:t>application</a:t>
            </a:r>
            <a:r>
              <a:rPr sz="1200" spc="-105" dirty="0">
                <a:latin typeface="Arial"/>
                <a:cs typeface="Arial"/>
              </a:rPr>
              <a:t> </a:t>
            </a:r>
            <a:r>
              <a:rPr sz="1200" spc="-50" dirty="0">
                <a:latin typeface="Arial"/>
                <a:cs typeface="Arial"/>
              </a:rPr>
              <a:t>where</a:t>
            </a:r>
            <a:r>
              <a:rPr sz="1200" spc="-85" dirty="0">
                <a:latin typeface="Arial"/>
                <a:cs typeface="Arial"/>
              </a:rPr>
              <a:t> </a:t>
            </a:r>
            <a:r>
              <a:rPr sz="1200" spc="-60" dirty="0">
                <a:latin typeface="Arial"/>
                <a:cs typeface="Arial"/>
              </a:rPr>
              <a:t>you</a:t>
            </a:r>
            <a:r>
              <a:rPr sz="1200" spc="-85" dirty="0">
                <a:latin typeface="Arial"/>
                <a:cs typeface="Arial"/>
              </a:rPr>
              <a:t> </a:t>
            </a:r>
            <a:r>
              <a:rPr sz="1200" spc="-20" dirty="0">
                <a:latin typeface="Arial"/>
                <a:cs typeface="Arial"/>
              </a:rPr>
              <a:t>input</a:t>
            </a:r>
            <a:r>
              <a:rPr sz="1200" spc="-50" dirty="0">
                <a:latin typeface="Arial"/>
                <a:cs typeface="Arial"/>
              </a:rPr>
              <a:t> </a:t>
            </a:r>
            <a:r>
              <a:rPr sz="1200" spc="-65" dirty="0">
                <a:latin typeface="Arial"/>
                <a:cs typeface="Arial"/>
              </a:rPr>
              <a:t>some</a:t>
            </a:r>
            <a:r>
              <a:rPr sz="1200" spc="-190" dirty="0">
                <a:latin typeface="Arial"/>
                <a:cs typeface="Arial"/>
              </a:rPr>
              <a:t> </a:t>
            </a:r>
            <a:r>
              <a:rPr sz="1200" spc="-55" dirty="0">
                <a:latin typeface="Arial"/>
                <a:cs typeface="Arial"/>
              </a:rPr>
              <a:t>features</a:t>
            </a:r>
            <a:r>
              <a:rPr sz="1200" spc="-20" dirty="0">
                <a:latin typeface="Arial"/>
                <a:cs typeface="Arial"/>
              </a:rPr>
              <a:t> </a:t>
            </a:r>
            <a:r>
              <a:rPr sz="1200" dirty="0">
                <a:latin typeface="Arial"/>
                <a:cs typeface="Arial"/>
              </a:rPr>
              <a:t>of</a:t>
            </a:r>
            <a:r>
              <a:rPr sz="1200" spc="-70" dirty="0">
                <a:latin typeface="Arial"/>
                <a:cs typeface="Arial"/>
              </a:rPr>
              <a:t> </a:t>
            </a:r>
            <a:r>
              <a:rPr sz="1200" dirty="0">
                <a:latin typeface="Arial"/>
                <a:cs typeface="Arial"/>
              </a:rPr>
              <a:t>a</a:t>
            </a:r>
            <a:r>
              <a:rPr sz="1200" spc="-175" dirty="0">
                <a:latin typeface="Arial"/>
                <a:cs typeface="Arial"/>
              </a:rPr>
              <a:t> </a:t>
            </a:r>
            <a:r>
              <a:rPr sz="1200" spc="-50" dirty="0">
                <a:latin typeface="Arial"/>
                <a:cs typeface="Arial"/>
              </a:rPr>
              <a:t>home</a:t>
            </a:r>
            <a:r>
              <a:rPr sz="1200" spc="-140" dirty="0">
                <a:latin typeface="Arial"/>
                <a:cs typeface="Arial"/>
              </a:rPr>
              <a:t> </a:t>
            </a:r>
            <a:r>
              <a:rPr sz="1200" spc="-60" dirty="0">
                <a:latin typeface="Arial"/>
                <a:cs typeface="Arial"/>
              </a:rPr>
              <a:t>and</a:t>
            </a:r>
            <a:r>
              <a:rPr sz="1200" spc="-105" dirty="0">
                <a:latin typeface="Arial"/>
                <a:cs typeface="Arial"/>
              </a:rPr>
              <a:t> </a:t>
            </a:r>
            <a:r>
              <a:rPr sz="1200" dirty="0">
                <a:latin typeface="Arial"/>
                <a:cs typeface="Arial"/>
              </a:rPr>
              <a:t>try</a:t>
            </a:r>
            <a:r>
              <a:rPr sz="1200" spc="-40" dirty="0">
                <a:latin typeface="Arial"/>
                <a:cs typeface="Arial"/>
              </a:rPr>
              <a:t> </a:t>
            </a:r>
            <a:r>
              <a:rPr sz="1200" dirty="0">
                <a:latin typeface="Arial"/>
                <a:cs typeface="Arial"/>
              </a:rPr>
              <a:t>to</a:t>
            </a:r>
            <a:r>
              <a:rPr sz="1200" spc="-40" dirty="0">
                <a:latin typeface="Arial"/>
                <a:cs typeface="Arial"/>
              </a:rPr>
              <a:t> </a:t>
            </a:r>
            <a:r>
              <a:rPr sz="1200" spc="-10" dirty="0">
                <a:latin typeface="Arial"/>
                <a:cs typeface="Arial"/>
              </a:rPr>
              <a:t>output</a:t>
            </a:r>
            <a:r>
              <a:rPr sz="1200" spc="-75" dirty="0">
                <a:latin typeface="Arial"/>
                <a:cs typeface="Arial"/>
              </a:rPr>
              <a:t> </a:t>
            </a:r>
            <a:r>
              <a:rPr sz="1200" spc="-10" dirty="0">
                <a:latin typeface="Arial"/>
                <a:cs typeface="Arial"/>
              </a:rPr>
              <a:t>or</a:t>
            </a:r>
            <a:r>
              <a:rPr sz="1200" spc="-65" dirty="0">
                <a:latin typeface="Arial"/>
                <a:cs typeface="Arial"/>
              </a:rPr>
              <a:t> </a:t>
            </a:r>
            <a:r>
              <a:rPr sz="1200" spc="-45" dirty="0">
                <a:latin typeface="Arial"/>
                <a:cs typeface="Arial"/>
              </a:rPr>
              <a:t>estimate</a:t>
            </a:r>
            <a:r>
              <a:rPr sz="1200" spc="-150" dirty="0">
                <a:latin typeface="Arial"/>
                <a:cs typeface="Arial"/>
              </a:rPr>
              <a:t> </a:t>
            </a:r>
            <a:r>
              <a:rPr sz="1200" spc="-20" dirty="0">
                <a:latin typeface="Arial"/>
                <a:cs typeface="Arial"/>
              </a:rPr>
              <a:t>the</a:t>
            </a:r>
            <a:r>
              <a:rPr sz="1200" spc="-40" dirty="0">
                <a:latin typeface="Arial"/>
                <a:cs typeface="Arial"/>
              </a:rPr>
              <a:t> price</a:t>
            </a:r>
            <a:r>
              <a:rPr sz="1200" spc="-170" dirty="0">
                <a:latin typeface="Arial"/>
                <a:cs typeface="Arial"/>
              </a:rPr>
              <a:t> </a:t>
            </a:r>
            <a:r>
              <a:rPr sz="1200" spc="-455" dirty="0">
                <a:latin typeface="Arial"/>
                <a:cs typeface="Arial"/>
              </a:rPr>
              <a:t>Y.</a:t>
            </a:r>
            <a:endParaRPr sz="1200" dirty="0">
              <a:latin typeface="Arial"/>
              <a:cs typeface="Arial"/>
            </a:endParaRPr>
          </a:p>
          <a:p>
            <a:pPr marL="93345" indent="-90805">
              <a:lnSpc>
                <a:spcPct val="100000"/>
              </a:lnSpc>
              <a:spcBef>
                <a:spcPts val="595"/>
              </a:spcBef>
              <a:buSzPct val="96428"/>
              <a:buFont typeface="Wingdings"/>
              <a:buChar char=""/>
              <a:tabLst>
                <a:tab pos="93345" algn="l"/>
              </a:tabLst>
            </a:pPr>
            <a:r>
              <a:rPr sz="1200" b="1" spc="-80" dirty="0">
                <a:latin typeface="Arial"/>
                <a:cs typeface="Arial"/>
              </a:rPr>
              <a:t>The</a:t>
            </a:r>
            <a:r>
              <a:rPr sz="1200" b="1" spc="-260" dirty="0">
                <a:latin typeface="Arial"/>
                <a:cs typeface="Arial"/>
              </a:rPr>
              <a:t> </a:t>
            </a:r>
            <a:r>
              <a:rPr sz="1200" b="1" spc="-110" dirty="0">
                <a:latin typeface="Arial"/>
                <a:cs typeface="Arial"/>
              </a:rPr>
              <a:t>single</a:t>
            </a:r>
            <a:r>
              <a:rPr sz="1200" b="1" spc="-190" dirty="0">
                <a:latin typeface="Arial"/>
                <a:cs typeface="Arial"/>
              </a:rPr>
              <a:t> </a:t>
            </a:r>
            <a:r>
              <a:rPr sz="1200" b="1" spc="-100" dirty="0">
                <a:latin typeface="Arial"/>
                <a:cs typeface="Arial"/>
              </a:rPr>
              <a:t>most</a:t>
            </a:r>
            <a:r>
              <a:rPr sz="1200" b="1" spc="-175" dirty="0">
                <a:latin typeface="Arial"/>
                <a:cs typeface="Arial"/>
              </a:rPr>
              <a:t> </a:t>
            </a:r>
            <a:r>
              <a:rPr sz="1200" b="1" spc="-90" dirty="0">
                <a:latin typeface="Arial"/>
                <a:cs typeface="Arial"/>
              </a:rPr>
              <a:t>lucrative</a:t>
            </a:r>
            <a:r>
              <a:rPr sz="1200" b="1" spc="-145" dirty="0">
                <a:latin typeface="Arial"/>
                <a:cs typeface="Arial"/>
              </a:rPr>
              <a:t> </a:t>
            </a:r>
            <a:r>
              <a:rPr sz="1200" b="1" spc="-85" dirty="0">
                <a:latin typeface="Arial"/>
                <a:cs typeface="Arial"/>
              </a:rPr>
              <a:t>application</a:t>
            </a:r>
            <a:r>
              <a:rPr sz="1200" b="1" spc="-225" dirty="0">
                <a:latin typeface="Arial"/>
                <a:cs typeface="Arial"/>
              </a:rPr>
              <a:t> </a:t>
            </a:r>
            <a:r>
              <a:rPr sz="1200" b="1" spc="-30" dirty="0">
                <a:latin typeface="Arial"/>
                <a:cs typeface="Arial"/>
              </a:rPr>
              <a:t>of</a:t>
            </a:r>
            <a:r>
              <a:rPr sz="1200" b="1" spc="-105" dirty="0">
                <a:latin typeface="Arial"/>
                <a:cs typeface="Arial"/>
              </a:rPr>
              <a:t> </a:t>
            </a:r>
            <a:r>
              <a:rPr sz="1200" b="1" spc="-80" dirty="0">
                <a:latin typeface="Arial"/>
                <a:cs typeface="Arial"/>
              </a:rPr>
              <a:t>deep</a:t>
            </a:r>
            <a:r>
              <a:rPr sz="1200" b="1" spc="-170" dirty="0">
                <a:latin typeface="Arial"/>
                <a:cs typeface="Arial"/>
              </a:rPr>
              <a:t> </a:t>
            </a:r>
            <a:r>
              <a:rPr sz="1200" b="1" spc="-80" dirty="0">
                <a:latin typeface="Arial"/>
                <a:cs typeface="Arial"/>
              </a:rPr>
              <a:t>learning</a:t>
            </a:r>
            <a:r>
              <a:rPr sz="1200" b="1" spc="-204" dirty="0">
                <a:latin typeface="Arial"/>
                <a:cs typeface="Arial"/>
              </a:rPr>
              <a:t> </a:t>
            </a:r>
            <a:r>
              <a:rPr sz="1200" b="1" spc="-75" dirty="0">
                <a:latin typeface="Arial"/>
                <a:cs typeface="Arial"/>
              </a:rPr>
              <a:t>today</a:t>
            </a:r>
            <a:r>
              <a:rPr sz="1200" b="1" spc="-185" dirty="0">
                <a:latin typeface="Arial"/>
                <a:cs typeface="Arial"/>
              </a:rPr>
              <a:t> </a:t>
            </a:r>
            <a:r>
              <a:rPr sz="1200" b="1" spc="-75" dirty="0">
                <a:latin typeface="Arial"/>
                <a:cs typeface="Arial"/>
              </a:rPr>
              <a:t>is</a:t>
            </a:r>
            <a:r>
              <a:rPr sz="1200" b="1" spc="-254" dirty="0">
                <a:latin typeface="Arial"/>
                <a:cs typeface="Arial"/>
              </a:rPr>
              <a:t> </a:t>
            </a:r>
            <a:r>
              <a:rPr sz="1200" b="1" spc="-70" dirty="0">
                <a:latin typeface="Arial"/>
                <a:cs typeface="Arial"/>
              </a:rPr>
              <a:t>online</a:t>
            </a:r>
            <a:r>
              <a:rPr sz="1200" b="1" spc="-150" dirty="0">
                <a:latin typeface="Arial"/>
                <a:cs typeface="Arial"/>
              </a:rPr>
              <a:t> </a:t>
            </a:r>
            <a:r>
              <a:rPr sz="1200" b="1" spc="-105" dirty="0">
                <a:latin typeface="Arial"/>
                <a:cs typeface="Arial"/>
              </a:rPr>
              <a:t>advertising</a:t>
            </a:r>
            <a:r>
              <a:rPr sz="1200" spc="-105" dirty="0">
                <a:latin typeface="Arial"/>
                <a:cs typeface="Arial"/>
              </a:rPr>
              <a:t>.</a:t>
            </a:r>
            <a:r>
              <a:rPr sz="1200" spc="-65" dirty="0">
                <a:latin typeface="Arial"/>
                <a:cs typeface="Arial"/>
              </a:rPr>
              <a:t> </a:t>
            </a:r>
            <a:r>
              <a:rPr sz="1200" spc="-60" dirty="0">
                <a:latin typeface="Arial"/>
                <a:cs typeface="Arial"/>
              </a:rPr>
              <a:t>Neural</a:t>
            </a:r>
            <a:r>
              <a:rPr sz="1200" spc="-114" dirty="0">
                <a:latin typeface="Arial"/>
                <a:cs typeface="Arial"/>
              </a:rPr>
              <a:t> </a:t>
            </a:r>
            <a:r>
              <a:rPr sz="1200" spc="-50" dirty="0">
                <a:latin typeface="Arial"/>
                <a:cs typeface="Arial"/>
              </a:rPr>
              <a:t>networks</a:t>
            </a:r>
            <a:r>
              <a:rPr sz="1200" spc="-80" dirty="0">
                <a:latin typeface="Arial"/>
                <a:cs typeface="Arial"/>
              </a:rPr>
              <a:t> </a:t>
            </a:r>
            <a:r>
              <a:rPr sz="1200" spc="-75" dirty="0">
                <a:latin typeface="Arial"/>
                <a:cs typeface="Arial"/>
              </a:rPr>
              <a:t>have</a:t>
            </a:r>
            <a:r>
              <a:rPr sz="1200" spc="-145" dirty="0">
                <a:latin typeface="Arial"/>
                <a:cs typeface="Arial"/>
              </a:rPr>
              <a:t> </a:t>
            </a:r>
            <a:r>
              <a:rPr sz="1200" spc="-30" dirty="0">
                <a:latin typeface="Arial"/>
                <a:cs typeface="Arial"/>
              </a:rPr>
              <a:t>gotten</a:t>
            </a:r>
            <a:r>
              <a:rPr sz="1200" spc="35" dirty="0">
                <a:latin typeface="Arial"/>
                <a:cs typeface="Arial"/>
              </a:rPr>
              <a:t> </a:t>
            </a:r>
            <a:r>
              <a:rPr sz="1200" spc="-50" dirty="0">
                <a:latin typeface="Arial"/>
                <a:cs typeface="Arial"/>
              </a:rPr>
              <a:t>very</a:t>
            </a:r>
            <a:r>
              <a:rPr sz="1200" spc="-35" dirty="0">
                <a:latin typeface="Arial"/>
                <a:cs typeface="Arial"/>
              </a:rPr>
              <a:t> </a:t>
            </a:r>
            <a:r>
              <a:rPr sz="1200" spc="-45" dirty="0">
                <a:latin typeface="Arial"/>
                <a:cs typeface="Arial"/>
              </a:rPr>
              <a:t>good</a:t>
            </a:r>
            <a:r>
              <a:rPr sz="1200" spc="-150" dirty="0">
                <a:latin typeface="Arial"/>
                <a:cs typeface="Arial"/>
              </a:rPr>
              <a:t> </a:t>
            </a:r>
            <a:r>
              <a:rPr sz="1200" dirty="0">
                <a:latin typeface="Arial"/>
                <a:cs typeface="Arial"/>
              </a:rPr>
              <a:t>at</a:t>
            </a:r>
            <a:r>
              <a:rPr sz="1200" spc="-20" dirty="0">
                <a:latin typeface="Arial"/>
                <a:cs typeface="Arial"/>
              </a:rPr>
              <a:t> </a:t>
            </a:r>
            <a:r>
              <a:rPr sz="1200" spc="-45" dirty="0">
                <a:latin typeface="Arial"/>
                <a:cs typeface="Arial"/>
              </a:rPr>
              <a:t>predicting</a:t>
            </a:r>
            <a:r>
              <a:rPr sz="1200" spc="-80" dirty="0">
                <a:latin typeface="Arial"/>
                <a:cs typeface="Arial"/>
              </a:rPr>
              <a:t> </a:t>
            </a:r>
            <a:r>
              <a:rPr sz="1200" spc="-30" dirty="0">
                <a:latin typeface="Arial"/>
                <a:cs typeface="Arial"/>
              </a:rPr>
              <a:t>whether</a:t>
            </a:r>
            <a:r>
              <a:rPr sz="1200" spc="-35" dirty="0">
                <a:latin typeface="Arial"/>
                <a:cs typeface="Arial"/>
              </a:rPr>
              <a:t> </a:t>
            </a:r>
            <a:r>
              <a:rPr sz="1200" dirty="0">
                <a:latin typeface="Arial"/>
                <a:cs typeface="Arial"/>
              </a:rPr>
              <a:t>or not</a:t>
            </a:r>
            <a:r>
              <a:rPr sz="1200" spc="20" dirty="0">
                <a:latin typeface="Arial"/>
                <a:cs typeface="Arial"/>
              </a:rPr>
              <a:t> </a:t>
            </a:r>
            <a:r>
              <a:rPr sz="1200" spc="-60" dirty="0">
                <a:latin typeface="Arial"/>
                <a:cs typeface="Arial"/>
              </a:rPr>
              <a:t>you</a:t>
            </a:r>
            <a:r>
              <a:rPr sz="1200" spc="-35" dirty="0">
                <a:latin typeface="Arial"/>
                <a:cs typeface="Arial"/>
              </a:rPr>
              <a:t> </a:t>
            </a:r>
            <a:r>
              <a:rPr sz="1200" spc="-10" dirty="0">
                <a:latin typeface="Arial"/>
                <a:cs typeface="Arial"/>
              </a:rPr>
              <a:t>click</a:t>
            </a:r>
            <a:endParaRPr sz="1200" dirty="0">
              <a:latin typeface="Arial"/>
              <a:cs typeface="Arial"/>
            </a:endParaRPr>
          </a:p>
          <a:p>
            <a:pPr marL="12700">
              <a:lnSpc>
                <a:spcPct val="100000"/>
              </a:lnSpc>
            </a:pPr>
            <a:r>
              <a:rPr sz="1200" spc="-20" dirty="0">
                <a:latin typeface="Arial"/>
                <a:cs typeface="Arial"/>
              </a:rPr>
              <a:t>on</a:t>
            </a:r>
            <a:r>
              <a:rPr sz="1200" spc="-135" dirty="0">
                <a:latin typeface="Arial"/>
                <a:cs typeface="Arial"/>
              </a:rPr>
              <a:t> </a:t>
            </a:r>
            <a:r>
              <a:rPr sz="1200" spc="-50" dirty="0">
                <a:latin typeface="Arial"/>
                <a:cs typeface="Arial"/>
              </a:rPr>
              <a:t>an</a:t>
            </a:r>
            <a:r>
              <a:rPr sz="1200" spc="-130" dirty="0">
                <a:latin typeface="Arial"/>
                <a:cs typeface="Arial"/>
              </a:rPr>
              <a:t> </a:t>
            </a:r>
            <a:r>
              <a:rPr sz="1200" spc="-50" dirty="0">
                <a:latin typeface="Arial"/>
                <a:cs typeface="Arial"/>
              </a:rPr>
              <a:t>ad</a:t>
            </a:r>
            <a:r>
              <a:rPr sz="1200" spc="-150" dirty="0">
                <a:latin typeface="Arial"/>
                <a:cs typeface="Arial"/>
              </a:rPr>
              <a:t> </a:t>
            </a:r>
            <a:r>
              <a:rPr sz="1200" spc="-60" dirty="0">
                <a:latin typeface="Arial"/>
                <a:cs typeface="Arial"/>
              </a:rPr>
              <a:t>and</a:t>
            </a:r>
            <a:r>
              <a:rPr sz="1200" spc="-110" dirty="0">
                <a:latin typeface="Arial"/>
                <a:cs typeface="Arial"/>
              </a:rPr>
              <a:t> </a:t>
            </a:r>
            <a:r>
              <a:rPr sz="1200" spc="-30" dirty="0">
                <a:latin typeface="Arial"/>
                <a:cs typeface="Arial"/>
              </a:rPr>
              <a:t>by</a:t>
            </a:r>
            <a:r>
              <a:rPr sz="1200" spc="-140" dirty="0">
                <a:latin typeface="Arial"/>
                <a:cs typeface="Arial"/>
              </a:rPr>
              <a:t> </a:t>
            </a:r>
            <a:r>
              <a:rPr sz="1200" spc="-65" dirty="0">
                <a:latin typeface="Arial"/>
                <a:cs typeface="Arial"/>
              </a:rPr>
              <a:t>showing</a:t>
            </a:r>
            <a:r>
              <a:rPr sz="1200" spc="-130" dirty="0">
                <a:latin typeface="Arial"/>
                <a:cs typeface="Arial"/>
              </a:rPr>
              <a:t> </a:t>
            </a:r>
            <a:r>
              <a:rPr sz="1200" spc="-60" dirty="0">
                <a:latin typeface="Arial"/>
                <a:cs typeface="Arial"/>
              </a:rPr>
              <a:t>you</a:t>
            </a:r>
            <a:r>
              <a:rPr sz="1200" spc="-65" dirty="0">
                <a:latin typeface="Arial"/>
                <a:cs typeface="Arial"/>
              </a:rPr>
              <a:t> </a:t>
            </a:r>
            <a:r>
              <a:rPr sz="1200" spc="-60" dirty="0">
                <a:latin typeface="Arial"/>
                <a:cs typeface="Arial"/>
              </a:rPr>
              <a:t>and</a:t>
            </a:r>
            <a:r>
              <a:rPr sz="1200" spc="-130" dirty="0">
                <a:latin typeface="Arial"/>
                <a:cs typeface="Arial"/>
              </a:rPr>
              <a:t> </a:t>
            </a:r>
            <a:r>
              <a:rPr sz="1200" spc="-65" dirty="0">
                <a:latin typeface="Arial"/>
                <a:cs typeface="Arial"/>
              </a:rPr>
              <a:t>showing</a:t>
            </a:r>
            <a:r>
              <a:rPr sz="1200" spc="-130" dirty="0">
                <a:latin typeface="Arial"/>
                <a:cs typeface="Arial"/>
              </a:rPr>
              <a:t> </a:t>
            </a:r>
            <a:r>
              <a:rPr sz="1200" spc="-90" dirty="0">
                <a:latin typeface="Arial"/>
                <a:cs typeface="Arial"/>
              </a:rPr>
              <a:t>users</a:t>
            </a:r>
            <a:r>
              <a:rPr sz="1200" spc="-114" dirty="0">
                <a:latin typeface="Arial"/>
                <a:cs typeface="Arial"/>
              </a:rPr>
              <a:t> </a:t>
            </a:r>
            <a:r>
              <a:rPr sz="1200" spc="-20" dirty="0">
                <a:latin typeface="Arial"/>
                <a:cs typeface="Arial"/>
              </a:rPr>
              <a:t>the</a:t>
            </a:r>
            <a:r>
              <a:rPr sz="1200" spc="-70" dirty="0">
                <a:latin typeface="Arial"/>
                <a:cs typeface="Arial"/>
              </a:rPr>
              <a:t> </a:t>
            </a:r>
            <a:r>
              <a:rPr sz="1200" spc="-75" dirty="0">
                <a:latin typeface="Arial"/>
                <a:cs typeface="Arial"/>
              </a:rPr>
              <a:t>ads</a:t>
            </a:r>
            <a:r>
              <a:rPr sz="1200" spc="-180" dirty="0">
                <a:latin typeface="Arial"/>
                <a:cs typeface="Arial"/>
              </a:rPr>
              <a:t> </a:t>
            </a:r>
            <a:r>
              <a:rPr sz="1200" dirty="0">
                <a:latin typeface="Arial"/>
                <a:cs typeface="Arial"/>
              </a:rPr>
              <a:t>that</a:t>
            </a:r>
            <a:r>
              <a:rPr sz="1200" spc="-60" dirty="0">
                <a:latin typeface="Arial"/>
                <a:cs typeface="Arial"/>
              </a:rPr>
              <a:t> </a:t>
            </a:r>
            <a:r>
              <a:rPr sz="1200" spc="-50" dirty="0">
                <a:latin typeface="Arial"/>
                <a:cs typeface="Arial"/>
              </a:rPr>
              <a:t>you're</a:t>
            </a:r>
            <a:r>
              <a:rPr sz="1200" spc="-65" dirty="0">
                <a:latin typeface="Arial"/>
                <a:cs typeface="Arial"/>
              </a:rPr>
              <a:t> </a:t>
            </a:r>
            <a:r>
              <a:rPr sz="1200" spc="-35" dirty="0">
                <a:latin typeface="Arial"/>
                <a:cs typeface="Arial"/>
              </a:rPr>
              <a:t>most</a:t>
            </a:r>
            <a:r>
              <a:rPr sz="1200" spc="-165" dirty="0">
                <a:latin typeface="Arial"/>
                <a:cs typeface="Arial"/>
              </a:rPr>
              <a:t> </a:t>
            </a:r>
            <a:r>
              <a:rPr sz="1200" spc="-40" dirty="0">
                <a:latin typeface="Arial"/>
                <a:cs typeface="Arial"/>
              </a:rPr>
              <a:t>likely</a:t>
            </a:r>
            <a:r>
              <a:rPr sz="1200" spc="-135" dirty="0">
                <a:latin typeface="Arial"/>
                <a:cs typeface="Arial"/>
              </a:rPr>
              <a:t> </a:t>
            </a:r>
            <a:r>
              <a:rPr sz="1200" dirty="0">
                <a:latin typeface="Arial"/>
                <a:cs typeface="Arial"/>
              </a:rPr>
              <a:t>to</a:t>
            </a:r>
            <a:r>
              <a:rPr sz="1200" spc="-45" dirty="0">
                <a:latin typeface="Arial"/>
                <a:cs typeface="Arial"/>
              </a:rPr>
              <a:t> </a:t>
            </a:r>
            <a:r>
              <a:rPr sz="1200" spc="-55" dirty="0">
                <a:latin typeface="Arial"/>
                <a:cs typeface="Arial"/>
              </a:rPr>
              <a:t>click</a:t>
            </a:r>
            <a:r>
              <a:rPr sz="1200" spc="-110" dirty="0">
                <a:latin typeface="Arial"/>
                <a:cs typeface="Arial"/>
              </a:rPr>
              <a:t> </a:t>
            </a:r>
            <a:r>
              <a:rPr sz="1200" spc="-25" dirty="0">
                <a:latin typeface="Arial"/>
                <a:cs typeface="Arial"/>
              </a:rPr>
              <a:t>on.</a:t>
            </a:r>
            <a:endParaRPr sz="1200" dirty="0">
              <a:latin typeface="Arial"/>
              <a:cs typeface="Arial"/>
            </a:endParaRPr>
          </a:p>
          <a:p>
            <a:pPr marL="12700" marR="623570" indent="-10160">
              <a:lnSpc>
                <a:spcPct val="100000"/>
              </a:lnSpc>
              <a:spcBef>
                <a:spcPts val="605"/>
              </a:spcBef>
              <a:buSzPct val="96428"/>
              <a:buFont typeface="Wingdings"/>
              <a:buChar char=""/>
              <a:tabLst>
                <a:tab pos="93345" algn="l"/>
              </a:tabLst>
            </a:pPr>
            <a:r>
              <a:rPr sz="1200" b="1" spc="-105" dirty="0">
                <a:latin typeface="Arial"/>
                <a:cs typeface="Arial"/>
              </a:rPr>
              <a:t>	Youmight</a:t>
            </a:r>
            <a:r>
              <a:rPr sz="1200" b="1" spc="-120" dirty="0">
                <a:latin typeface="Arial"/>
                <a:cs typeface="Arial"/>
              </a:rPr>
              <a:t> </a:t>
            </a:r>
            <a:r>
              <a:rPr sz="1200" b="1" spc="-75" dirty="0">
                <a:latin typeface="Arial"/>
                <a:cs typeface="Arial"/>
              </a:rPr>
              <a:t>input</a:t>
            </a:r>
            <a:r>
              <a:rPr sz="1200" b="1" spc="-114" dirty="0">
                <a:latin typeface="Arial"/>
                <a:cs typeface="Arial"/>
              </a:rPr>
              <a:t> </a:t>
            </a:r>
            <a:r>
              <a:rPr sz="1200" b="1" spc="-50" dirty="0">
                <a:latin typeface="Arial"/>
                <a:cs typeface="Arial"/>
              </a:rPr>
              <a:t>an</a:t>
            </a:r>
            <a:r>
              <a:rPr sz="1200" b="1" spc="-190" dirty="0">
                <a:latin typeface="Arial"/>
                <a:cs typeface="Arial"/>
              </a:rPr>
              <a:t> </a:t>
            </a:r>
            <a:r>
              <a:rPr sz="1200" b="1" spc="-95" dirty="0">
                <a:latin typeface="Arial"/>
                <a:cs typeface="Arial"/>
              </a:rPr>
              <a:t>image</a:t>
            </a:r>
            <a:r>
              <a:rPr sz="1200" b="1" spc="-200" dirty="0">
                <a:latin typeface="Arial"/>
                <a:cs typeface="Arial"/>
              </a:rPr>
              <a:t> </a:t>
            </a:r>
            <a:r>
              <a:rPr sz="1200" b="1" spc="-35" dirty="0">
                <a:latin typeface="Arial"/>
                <a:cs typeface="Arial"/>
              </a:rPr>
              <a:t>andwant</a:t>
            </a:r>
            <a:r>
              <a:rPr sz="1200" b="1" spc="-155" dirty="0">
                <a:latin typeface="Arial"/>
                <a:cs typeface="Arial"/>
              </a:rPr>
              <a:t> </a:t>
            </a:r>
            <a:r>
              <a:rPr sz="1200" b="1" spc="-25" dirty="0">
                <a:latin typeface="Arial"/>
                <a:cs typeface="Arial"/>
              </a:rPr>
              <a:t>to</a:t>
            </a:r>
            <a:r>
              <a:rPr sz="1200" b="1" spc="-130" dirty="0">
                <a:latin typeface="Arial"/>
                <a:cs typeface="Arial"/>
              </a:rPr>
              <a:t> </a:t>
            </a:r>
            <a:r>
              <a:rPr sz="1200" b="1" spc="-60" dirty="0">
                <a:latin typeface="Arial"/>
                <a:cs typeface="Arial"/>
              </a:rPr>
              <a:t>output</a:t>
            </a:r>
            <a:r>
              <a:rPr sz="1200" b="1" spc="-180" dirty="0">
                <a:latin typeface="Arial"/>
                <a:cs typeface="Arial"/>
              </a:rPr>
              <a:t> </a:t>
            </a:r>
            <a:r>
              <a:rPr sz="1200" b="1" spc="-50" dirty="0">
                <a:latin typeface="Arial"/>
                <a:cs typeface="Arial"/>
              </a:rPr>
              <a:t>an</a:t>
            </a:r>
            <a:r>
              <a:rPr sz="1200" b="1" spc="-190" dirty="0">
                <a:latin typeface="Arial"/>
                <a:cs typeface="Arial"/>
              </a:rPr>
              <a:t> </a:t>
            </a:r>
            <a:r>
              <a:rPr sz="1200" b="1" spc="-80" dirty="0">
                <a:latin typeface="Arial"/>
                <a:cs typeface="Arial"/>
              </a:rPr>
              <a:t>index</a:t>
            </a:r>
            <a:r>
              <a:rPr sz="1200" b="1" spc="-175" dirty="0">
                <a:latin typeface="Arial"/>
                <a:cs typeface="Arial"/>
              </a:rPr>
              <a:t> </a:t>
            </a:r>
            <a:r>
              <a:rPr sz="1200" b="1" spc="-75" dirty="0">
                <a:latin typeface="Arial"/>
                <a:cs typeface="Arial"/>
              </a:rPr>
              <a:t>from</a:t>
            </a:r>
            <a:r>
              <a:rPr sz="1200" b="1" spc="-140" dirty="0">
                <a:latin typeface="Arial"/>
                <a:cs typeface="Arial"/>
              </a:rPr>
              <a:t> </a:t>
            </a:r>
            <a:r>
              <a:rPr sz="1200" b="1" spc="-70" dirty="0">
                <a:latin typeface="Arial"/>
                <a:cs typeface="Arial"/>
              </a:rPr>
              <a:t>one</a:t>
            </a:r>
            <a:r>
              <a:rPr sz="1200" b="1" spc="-175" dirty="0">
                <a:latin typeface="Arial"/>
                <a:cs typeface="Arial"/>
              </a:rPr>
              <a:t> </a:t>
            </a:r>
            <a:r>
              <a:rPr sz="1200" b="1" spc="-25" dirty="0">
                <a:latin typeface="Arial"/>
                <a:cs typeface="Arial"/>
              </a:rPr>
              <a:t>to</a:t>
            </a:r>
            <a:r>
              <a:rPr sz="1200" b="1" spc="-125" dirty="0">
                <a:latin typeface="Arial"/>
                <a:cs typeface="Arial"/>
              </a:rPr>
              <a:t> </a:t>
            </a:r>
            <a:r>
              <a:rPr sz="1200" b="1" dirty="0">
                <a:latin typeface="Arial"/>
                <a:cs typeface="Arial"/>
              </a:rPr>
              <a:t>a</a:t>
            </a:r>
            <a:r>
              <a:rPr sz="1200" b="1" spc="-155" dirty="0">
                <a:latin typeface="Arial"/>
                <a:cs typeface="Arial"/>
              </a:rPr>
              <a:t> </a:t>
            </a:r>
            <a:r>
              <a:rPr sz="1200" b="1" spc="-95" dirty="0">
                <a:latin typeface="Arial"/>
                <a:cs typeface="Arial"/>
              </a:rPr>
              <a:t>thousand</a:t>
            </a:r>
            <a:r>
              <a:rPr sz="1200" b="1" spc="-250" dirty="0">
                <a:latin typeface="Arial"/>
                <a:cs typeface="Arial"/>
              </a:rPr>
              <a:t> </a:t>
            </a:r>
            <a:r>
              <a:rPr sz="1200" spc="-30" dirty="0">
                <a:latin typeface="Arial"/>
                <a:cs typeface="Arial"/>
              </a:rPr>
              <a:t>trying</a:t>
            </a:r>
            <a:r>
              <a:rPr sz="1200" spc="-45" dirty="0">
                <a:latin typeface="Arial"/>
                <a:cs typeface="Arial"/>
              </a:rPr>
              <a:t> </a:t>
            </a:r>
            <a:r>
              <a:rPr sz="1200" dirty="0">
                <a:latin typeface="Arial"/>
                <a:cs typeface="Arial"/>
              </a:rPr>
              <a:t>to</a:t>
            </a:r>
            <a:r>
              <a:rPr sz="1200" spc="-50" dirty="0">
                <a:latin typeface="Arial"/>
                <a:cs typeface="Arial"/>
              </a:rPr>
              <a:t> </a:t>
            </a:r>
            <a:r>
              <a:rPr sz="1200" dirty="0">
                <a:latin typeface="Arial"/>
                <a:cs typeface="Arial"/>
              </a:rPr>
              <a:t>tell</a:t>
            </a:r>
            <a:r>
              <a:rPr sz="1200" spc="-35" dirty="0">
                <a:latin typeface="Arial"/>
                <a:cs typeface="Arial"/>
              </a:rPr>
              <a:t> </a:t>
            </a:r>
            <a:r>
              <a:rPr sz="1200" spc="-60" dirty="0">
                <a:latin typeface="Arial"/>
                <a:cs typeface="Arial"/>
              </a:rPr>
              <a:t>you</a:t>
            </a:r>
            <a:r>
              <a:rPr sz="1200" spc="-85" dirty="0">
                <a:latin typeface="Arial"/>
                <a:cs typeface="Arial"/>
              </a:rPr>
              <a:t> </a:t>
            </a:r>
            <a:r>
              <a:rPr sz="1200" dirty="0">
                <a:latin typeface="Arial"/>
                <a:cs typeface="Arial"/>
              </a:rPr>
              <a:t>if</a:t>
            </a:r>
            <a:r>
              <a:rPr sz="1200" spc="-40" dirty="0">
                <a:latin typeface="Arial"/>
                <a:cs typeface="Arial"/>
              </a:rPr>
              <a:t> </a:t>
            </a:r>
            <a:r>
              <a:rPr sz="1200" spc="-30" dirty="0">
                <a:latin typeface="Arial"/>
                <a:cs typeface="Arial"/>
              </a:rPr>
              <a:t>this</a:t>
            </a:r>
            <a:r>
              <a:rPr sz="1200" spc="-25" dirty="0">
                <a:latin typeface="Arial"/>
                <a:cs typeface="Arial"/>
              </a:rPr>
              <a:t> </a:t>
            </a:r>
            <a:r>
              <a:rPr sz="1200" spc="-40" dirty="0">
                <a:latin typeface="Arial"/>
                <a:cs typeface="Arial"/>
              </a:rPr>
              <a:t>picture</a:t>
            </a:r>
            <a:r>
              <a:rPr sz="1200" spc="-25" dirty="0">
                <a:latin typeface="Arial"/>
                <a:cs typeface="Arial"/>
              </a:rPr>
              <a:t> </a:t>
            </a:r>
            <a:r>
              <a:rPr sz="1200" spc="-35" dirty="0">
                <a:latin typeface="Arial"/>
                <a:cs typeface="Arial"/>
              </a:rPr>
              <a:t>might</a:t>
            </a:r>
            <a:r>
              <a:rPr sz="1200" spc="-75" dirty="0">
                <a:latin typeface="Arial"/>
                <a:cs typeface="Arial"/>
              </a:rPr>
              <a:t> </a:t>
            </a:r>
            <a:r>
              <a:rPr sz="1200" spc="-40" dirty="0">
                <a:latin typeface="Arial"/>
                <a:cs typeface="Arial"/>
              </a:rPr>
              <a:t>be</a:t>
            </a:r>
            <a:r>
              <a:rPr sz="1200" spc="-135" dirty="0">
                <a:latin typeface="Arial"/>
                <a:cs typeface="Arial"/>
              </a:rPr>
              <a:t> </a:t>
            </a:r>
            <a:r>
              <a:rPr sz="1200" spc="-60" dirty="0">
                <a:latin typeface="Arial"/>
                <a:cs typeface="Arial"/>
              </a:rPr>
              <a:t>any</a:t>
            </a:r>
            <a:r>
              <a:rPr sz="1200" spc="-130" dirty="0">
                <a:latin typeface="Arial"/>
                <a:cs typeface="Arial"/>
              </a:rPr>
              <a:t> </a:t>
            </a:r>
            <a:r>
              <a:rPr sz="1200" spc="-40" dirty="0">
                <a:latin typeface="Arial"/>
                <a:cs typeface="Arial"/>
              </a:rPr>
              <a:t>one</a:t>
            </a:r>
            <a:r>
              <a:rPr sz="1200" spc="-155" dirty="0">
                <a:latin typeface="Arial"/>
                <a:cs typeface="Arial"/>
              </a:rPr>
              <a:t> </a:t>
            </a:r>
            <a:r>
              <a:rPr sz="1200" dirty="0">
                <a:latin typeface="Arial"/>
                <a:cs typeface="Arial"/>
              </a:rPr>
              <a:t>of</a:t>
            </a:r>
            <a:r>
              <a:rPr sz="1200" spc="-80" dirty="0">
                <a:latin typeface="Arial"/>
                <a:cs typeface="Arial"/>
              </a:rPr>
              <a:t> </a:t>
            </a:r>
            <a:r>
              <a:rPr sz="1200" dirty="0">
                <a:latin typeface="Arial"/>
                <a:cs typeface="Arial"/>
              </a:rPr>
              <a:t>a</a:t>
            </a:r>
            <a:r>
              <a:rPr sz="1200" spc="-150" dirty="0">
                <a:latin typeface="Arial"/>
                <a:cs typeface="Arial"/>
              </a:rPr>
              <a:t> </a:t>
            </a:r>
            <a:r>
              <a:rPr sz="1200" spc="-60" dirty="0">
                <a:latin typeface="Arial"/>
                <a:cs typeface="Arial"/>
              </a:rPr>
              <a:t>thousand</a:t>
            </a:r>
            <a:r>
              <a:rPr sz="1200" spc="-85" dirty="0">
                <a:latin typeface="Arial"/>
                <a:cs typeface="Arial"/>
              </a:rPr>
              <a:t> </a:t>
            </a:r>
            <a:r>
              <a:rPr sz="1200" spc="-10" dirty="0">
                <a:latin typeface="Arial"/>
                <a:cs typeface="Arial"/>
              </a:rPr>
              <a:t>different </a:t>
            </a:r>
            <a:r>
              <a:rPr sz="1200" spc="-70" dirty="0">
                <a:latin typeface="Arial"/>
                <a:cs typeface="Arial"/>
              </a:rPr>
              <a:t>images</a:t>
            </a:r>
            <a:r>
              <a:rPr sz="1200" spc="-225" dirty="0">
                <a:latin typeface="Arial"/>
                <a:cs typeface="Arial"/>
              </a:rPr>
              <a:t> </a:t>
            </a:r>
            <a:r>
              <a:rPr sz="1200" spc="-50" dirty="0">
                <a:latin typeface="Arial"/>
                <a:cs typeface="Arial"/>
              </a:rPr>
              <a:t>so</a:t>
            </a:r>
            <a:r>
              <a:rPr sz="1200" spc="-204" dirty="0">
                <a:latin typeface="Arial"/>
                <a:cs typeface="Arial"/>
              </a:rPr>
              <a:t> </a:t>
            </a:r>
            <a:r>
              <a:rPr sz="1200" spc="-60" dirty="0">
                <a:latin typeface="Arial"/>
                <a:cs typeface="Arial"/>
              </a:rPr>
              <a:t>you</a:t>
            </a:r>
            <a:r>
              <a:rPr sz="1200" spc="-55" dirty="0">
                <a:latin typeface="Arial"/>
                <a:cs typeface="Arial"/>
              </a:rPr>
              <a:t> </a:t>
            </a:r>
            <a:r>
              <a:rPr sz="1200" spc="-30" dirty="0">
                <a:latin typeface="Arial"/>
                <a:cs typeface="Arial"/>
              </a:rPr>
              <a:t>might</a:t>
            </a:r>
            <a:r>
              <a:rPr sz="1200" spc="-45" dirty="0">
                <a:latin typeface="Arial"/>
                <a:cs typeface="Arial"/>
              </a:rPr>
              <a:t> </a:t>
            </a:r>
            <a:r>
              <a:rPr sz="1200" spc="-75" dirty="0">
                <a:latin typeface="Arial"/>
                <a:cs typeface="Arial"/>
              </a:rPr>
              <a:t>use</a:t>
            </a:r>
            <a:r>
              <a:rPr sz="1200" spc="-204" dirty="0">
                <a:latin typeface="Arial"/>
                <a:cs typeface="Arial"/>
              </a:rPr>
              <a:t> </a:t>
            </a:r>
            <a:r>
              <a:rPr sz="1200" dirty="0">
                <a:latin typeface="Arial"/>
                <a:cs typeface="Arial"/>
              </a:rPr>
              <a:t>that</a:t>
            </a:r>
            <a:r>
              <a:rPr sz="1200" spc="-20" dirty="0">
                <a:latin typeface="Arial"/>
                <a:cs typeface="Arial"/>
              </a:rPr>
              <a:t> </a:t>
            </a:r>
            <a:r>
              <a:rPr sz="1200" dirty="0">
                <a:latin typeface="Arial"/>
                <a:cs typeface="Arial"/>
              </a:rPr>
              <a:t>for</a:t>
            </a:r>
            <a:r>
              <a:rPr sz="1200" spc="-20" dirty="0">
                <a:latin typeface="Arial"/>
                <a:cs typeface="Arial"/>
              </a:rPr>
              <a:t> </a:t>
            </a:r>
            <a:r>
              <a:rPr sz="1200" b="1" spc="-10" dirty="0">
                <a:latin typeface="Arial"/>
                <a:cs typeface="Arial"/>
              </a:rPr>
              <a:t>phototagging</a:t>
            </a:r>
            <a:r>
              <a:rPr sz="1200" spc="-10" dirty="0">
                <a:latin typeface="Arial"/>
                <a:cs typeface="Arial"/>
              </a:rPr>
              <a:t>.</a:t>
            </a:r>
            <a:endParaRPr sz="1200" dirty="0">
              <a:latin typeface="Arial"/>
              <a:cs typeface="Arial"/>
            </a:endParaRPr>
          </a:p>
          <a:p>
            <a:pPr marL="12700" marR="402590" indent="-10160">
              <a:lnSpc>
                <a:spcPct val="100000"/>
              </a:lnSpc>
              <a:spcBef>
                <a:spcPts val="600"/>
              </a:spcBef>
              <a:buSzPct val="96428"/>
              <a:buFont typeface="Wingdings"/>
              <a:buChar char=""/>
              <a:tabLst>
                <a:tab pos="93345" algn="l"/>
              </a:tabLst>
            </a:pPr>
            <a:r>
              <a:rPr sz="1200" spc="-75" dirty="0">
                <a:latin typeface="Arial"/>
                <a:cs typeface="Arial"/>
              </a:rPr>
              <a:t>	The</a:t>
            </a:r>
            <a:r>
              <a:rPr sz="1200" spc="-240" dirty="0">
                <a:latin typeface="Arial"/>
                <a:cs typeface="Arial"/>
              </a:rPr>
              <a:t> </a:t>
            </a:r>
            <a:r>
              <a:rPr sz="1200" spc="-45" dirty="0">
                <a:latin typeface="Arial"/>
                <a:cs typeface="Arial"/>
              </a:rPr>
              <a:t>recent</a:t>
            </a:r>
            <a:r>
              <a:rPr sz="1200" spc="-95" dirty="0">
                <a:latin typeface="Arial"/>
                <a:cs typeface="Arial"/>
              </a:rPr>
              <a:t> </a:t>
            </a:r>
            <a:r>
              <a:rPr sz="1200" spc="-80" dirty="0">
                <a:latin typeface="Arial"/>
                <a:cs typeface="Arial"/>
              </a:rPr>
              <a:t>progress</a:t>
            </a:r>
            <a:r>
              <a:rPr sz="1200" spc="-175" dirty="0">
                <a:latin typeface="Arial"/>
                <a:cs typeface="Arial"/>
              </a:rPr>
              <a:t> </a:t>
            </a:r>
            <a:r>
              <a:rPr sz="1200" b="1" spc="-45" dirty="0">
                <a:latin typeface="Arial"/>
                <a:cs typeface="Arial"/>
              </a:rPr>
              <a:t>in</a:t>
            </a:r>
            <a:r>
              <a:rPr sz="1200" b="1" spc="-120" dirty="0">
                <a:latin typeface="Arial"/>
                <a:cs typeface="Arial"/>
              </a:rPr>
              <a:t> </a:t>
            </a:r>
            <a:r>
              <a:rPr sz="1200" b="1" spc="-125" dirty="0">
                <a:latin typeface="Arial"/>
                <a:cs typeface="Arial"/>
              </a:rPr>
              <a:t>Speech</a:t>
            </a:r>
            <a:r>
              <a:rPr sz="1200" b="1" spc="-254" dirty="0">
                <a:latin typeface="Arial"/>
                <a:cs typeface="Arial"/>
              </a:rPr>
              <a:t> </a:t>
            </a:r>
            <a:r>
              <a:rPr sz="1200" b="1" spc="-100" dirty="0">
                <a:latin typeface="Arial"/>
                <a:cs typeface="Arial"/>
              </a:rPr>
              <a:t>recognition</a:t>
            </a:r>
            <a:r>
              <a:rPr sz="1200" b="1" spc="-170" dirty="0">
                <a:latin typeface="Arial"/>
                <a:cs typeface="Arial"/>
              </a:rPr>
              <a:t> </a:t>
            </a:r>
            <a:r>
              <a:rPr sz="1200" spc="-75" dirty="0">
                <a:latin typeface="Arial"/>
                <a:cs typeface="Arial"/>
              </a:rPr>
              <a:t>has</a:t>
            </a:r>
            <a:r>
              <a:rPr sz="1200" spc="-220" dirty="0">
                <a:latin typeface="Arial"/>
                <a:cs typeface="Arial"/>
              </a:rPr>
              <a:t> </a:t>
            </a:r>
            <a:r>
              <a:rPr sz="1200" spc="-65" dirty="0">
                <a:latin typeface="Arial"/>
                <a:cs typeface="Arial"/>
              </a:rPr>
              <a:t>also</a:t>
            </a:r>
            <a:r>
              <a:rPr sz="1200" spc="-120" dirty="0">
                <a:latin typeface="Arial"/>
                <a:cs typeface="Arial"/>
              </a:rPr>
              <a:t> </a:t>
            </a:r>
            <a:r>
              <a:rPr sz="1200" spc="-60" dirty="0">
                <a:latin typeface="Arial"/>
                <a:cs typeface="Arial"/>
              </a:rPr>
              <a:t>been</a:t>
            </a:r>
            <a:r>
              <a:rPr sz="1200" spc="-110" dirty="0">
                <a:latin typeface="Arial"/>
                <a:cs typeface="Arial"/>
              </a:rPr>
              <a:t> </a:t>
            </a:r>
            <a:r>
              <a:rPr sz="1200" spc="-50" dirty="0">
                <a:latin typeface="Arial"/>
                <a:cs typeface="Arial"/>
              </a:rPr>
              <a:t>very</a:t>
            </a:r>
            <a:r>
              <a:rPr sz="1200" spc="-40" dirty="0">
                <a:latin typeface="Arial"/>
                <a:cs typeface="Arial"/>
              </a:rPr>
              <a:t> </a:t>
            </a:r>
            <a:r>
              <a:rPr sz="1200" spc="-65" dirty="0">
                <a:latin typeface="Arial"/>
                <a:cs typeface="Arial"/>
              </a:rPr>
              <a:t>exciting</a:t>
            </a:r>
            <a:r>
              <a:rPr sz="1200" spc="-60" dirty="0">
                <a:latin typeface="Arial"/>
                <a:cs typeface="Arial"/>
              </a:rPr>
              <a:t> </a:t>
            </a:r>
            <a:r>
              <a:rPr sz="1200" spc="-50" dirty="0">
                <a:latin typeface="Arial"/>
                <a:cs typeface="Arial"/>
              </a:rPr>
              <a:t>where</a:t>
            </a:r>
            <a:r>
              <a:rPr sz="1200" spc="-70" dirty="0">
                <a:latin typeface="Arial"/>
                <a:cs typeface="Arial"/>
              </a:rPr>
              <a:t> </a:t>
            </a:r>
            <a:r>
              <a:rPr sz="1200" spc="-60" dirty="0">
                <a:latin typeface="Arial"/>
                <a:cs typeface="Arial"/>
              </a:rPr>
              <a:t>you</a:t>
            </a:r>
            <a:r>
              <a:rPr sz="1200" spc="-40" dirty="0">
                <a:latin typeface="Arial"/>
                <a:cs typeface="Arial"/>
              </a:rPr>
              <a:t> </a:t>
            </a:r>
            <a:r>
              <a:rPr sz="1200" spc="-75" dirty="0">
                <a:latin typeface="Arial"/>
                <a:cs typeface="Arial"/>
              </a:rPr>
              <a:t>can</a:t>
            </a:r>
            <a:r>
              <a:rPr sz="1200" spc="-175" dirty="0">
                <a:latin typeface="Arial"/>
                <a:cs typeface="Arial"/>
              </a:rPr>
              <a:t> </a:t>
            </a:r>
            <a:r>
              <a:rPr sz="1200" b="1" spc="-60" dirty="0">
                <a:latin typeface="Arial"/>
                <a:cs typeface="Arial"/>
              </a:rPr>
              <a:t>now</a:t>
            </a:r>
            <a:r>
              <a:rPr sz="1200" b="1" spc="-185" dirty="0">
                <a:latin typeface="Arial"/>
                <a:cs typeface="Arial"/>
              </a:rPr>
              <a:t> </a:t>
            </a:r>
            <a:r>
              <a:rPr sz="1200" b="1" spc="-75" dirty="0">
                <a:latin typeface="Arial"/>
                <a:cs typeface="Arial"/>
              </a:rPr>
              <a:t>input</a:t>
            </a:r>
            <a:r>
              <a:rPr sz="1200" b="1" spc="-110" dirty="0">
                <a:latin typeface="Arial"/>
                <a:cs typeface="Arial"/>
              </a:rPr>
              <a:t> </a:t>
            </a:r>
            <a:r>
              <a:rPr sz="1200" b="1" spc="-50" dirty="0">
                <a:latin typeface="Arial"/>
                <a:cs typeface="Arial"/>
              </a:rPr>
              <a:t>an</a:t>
            </a:r>
            <a:r>
              <a:rPr sz="1200" b="1" spc="-190" dirty="0">
                <a:latin typeface="Arial"/>
                <a:cs typeface="Arial"/>
              </a:rPr>
              <a:t> </a:t>
            </a:r>
            <a:r>
              <a:rPr sz="1200" b="1" spc="-80" dirty="0">
                <a:latin typeface="Arial"/>
                <a:cs typeface="Arial"/>
              </a:rPr>
              <a:t>audio</a:t>
            </a:r>
            <a:r>
              <a:rPr sz="1200" b="1" spc="-150" dirty="0">
                <a:latin typeface="Arial"/>
                <a:cs typeface="Arial"/>
              </a:rPr>
              <a:t> </a:t>
            </a:r>
            <a:r>
              <a:rPr sz="1200" b="1" spc="-80" dirty="0">
                <a:latin typeface="Arial"/>
                <a:cs typeface="Arial"/>
              </a:rPr>
              <a:t>clip</a:t>
            </a:r>
            <a:r>
              <a:rPr sz="1200" b="1" spc="-165" dirty="0">
                <a:latin typeface="Arial"/>
                <a:cs typeface="Arial"/>
              </a:rPr>
              <a:t> </a:t>
            </a:r>
            <a:r>
              <a:rPr sz="1200" dirty="0">
                <a:latin typeface="Arial"/>
                <a:cs typeface="Arial"/>
              </a:rPr>
              <a:t>to,</a:t>
            </a:r>
            <a:r>
              <a:rPr sz="1200" spc="15" dirty="0">
                <a:latin typeface="Arial"/>
                <a:cs typeface="Arial"/>
              </a:rPr>
              <a:t> </a:t>
            </a:r>
            <a:r>
              <a:rPr sz="1200" dirty="0">
                <a:latin typeface="Arial"/>
                <a:cs typeface="Arial"/>
              </a:rPr>
              <a:t>a</a:t>
            </a:r>
            <a:r>
              <a:rPr sz="1200" spc="-220" dirty="0">
                <a:latin typeface="Arial"/>
                <a:cs typeface="Arial"/>
              </a:rPr>
              <a:t> </a:t>
            </a:r>
            <a:r>
              <a:rPr sz="1200" spc="-55" dirty="0">
                <a:latin typeface="Arial"/>
                <a:cs typeface="Arial"/>
              </a:rPr>
              <a:t>neural</a:t>
            </a:r>
            <a:r>
              <a:rPr sz="1200" spc="-50" dirty="0">
                <a:latin typeface="Arial"/>
                <a:cs typeface="Arial"/>
              </a:rPr>
              <a:t> </a:t>
            </a:r>
            <a:r>
              <a:rPr sz="1200" spc="-25" dirty="0">
                <a:latin typeface="Arial"/>
                <a:cs typeface="Arial"/>
              </a:rPr>
              <a:t>network</a:t>
            </a:r>
            <a:r>
              <a:rPr sz="1200" spc="-20" dirty="0">
                <a:latin typeface="Arial"/>
                <a:cs typeface="Arial"/>
              </a:rPr>
              <a:t> </a:t>
            </a:r>
            <a:r>
              <a:rPr sz="1200" spc="-75" dirty="0">
                <a:latin typeface="Arial"/>
                <a:cs typeface="Arial"/>
              </a:rPr>
              <a:t>can</a:t>
            </a:r>
            <a:r>
              <a:rPr sz="1200" spc="-170" dirty="0">
                <a:latin typeface="Arial"/>
                <a:cs typeface="Arial"/>
              </a:rPr>
              <a:t> </a:t>
            </a:r>
            <a:r>
              <a:rPr sz="1200" spc="-75" dirty="0">
                <a:latin typeface="Arial"/>
                <a:cs typeface="Arial"/>
              </a:rPr>
              <a:t>have</a:t>
            </a:r>
            <a:r>
              <a:rPr sz="1200" spc="-150" dirty="0">
                <a:latin typeface="Arial"/>
                <a:cs typeface="Arial"/>
              </a:rPr>
              <a:t> </a:t>
            </a:r>
            <a:r>
              <a:rPr sz="1200" dirty="0">
                <a:latin typeface="Arial"/>
                <a:cs typeface="Arial"/>
              </a:rPr>
              <a:t>it</a:t>
            </a:r>
            <a:r>
              <a:rPr sz="1200" spc="120" dirty="0">
                <a:latin typeface="Arial"/>
                <a:cs typeface="Arial"/>
              </a:rPr>
              <a:t> </a:t>
            </a:r>
            <a:r>
              <a:rPr sz="1200" b="1" spc="-60" dirty="0">
                <a:latin typeface="Arial"/>
                <a:cs typeface="Arial"/>
              </a:rPr>
              <a:t>output</a:t>
            </a:r>
            <a:r>
              <a:rPr sz="1200" b="1" spc="-135" dirty="0">
                <a:latin typeface="Arial"/>
                <a:cs typeface="Arial"/>
              </a:rPr>
              <a:t> </a:t>
            </a:r>
            <a:r>
              <a:rPr sz="1200" b="1" dirty="0">
                <a:latin typeface="Arial"/>
                <a:cs typeface="Arial"/>
              </a:rPr>
              <a:t>a</a:t>
            </a:r>
            <a:r>
              <a:rPr sz="1200" b="1" spc="-195" dirty="0">
                <a:latin typeface="Arial"/>
                <a:cs typeface="Arial"/>
              </a:rPr>
              <a:t> </a:t>
            </a:r>
            <a:r>
              <a:rPr sz="1200" b="1" spc="-20" dirty="0">
                <a:latin typeface="Arial"/>
                <a:cs typeface="Arial"/>
              </a:rPr>
              <a:t>text </a:t>
            </a:r>
            <a:r>
              <a:rPr sz="1200" b="1" spc="-10" dirty="0">
                <a:latin typeface="Arial"/>
                <a:cs typeface="Arial"/>
              </a:rPr>
              <a:t>transcript</a:t>
            </a:r>
            <a:r>
              <a:rPr sz="1200" spc="-10" dirty="0">
                <a:latin typeface="Arial"/>
                <a:cs typeface="Arial"/>
              </a:rPr>
              <a:t>.</a:t>
            </a:r>
            <a:endParaRPr sz="1200" dirty="0">
              <a:latin typeface="Arial"/>
              <a:cs typeface="Arial"/>
            </a:endParaRPr>
          </a:p>
          <a:p>
            <a:pPr marL="131445" indent="-118745">
              <a:lnSpc>
                <a:spcPct val="100000"/>
              </a:lnSpc>
              <a:spcBef>
                <a:spcPts val="600"/>
              </a:spcBef>
              <a:buSzPct val="96428"/>
              <a:buFont typeface="Wingdings"/>
              <a:buChar char=""/>
              <a:tabLst>
                <a:tab pos="131445" algn="l"/>
              </a:tabLst>
            </a:pPr>
            <a:r>
              <a:rPr sz="1200" b="1" spc="-75" dirty="0">
                <a:latin typeface="Arial"/>
                <a:cs typeface="Arial"/>
              </a:rPr>
              <a:t>Machine</a:t>
            </a:r>
            <a:r>
              <a:rPr sz="1200" b="1" spc="-190" dirty="0">
                <a:latin typeface="Arial"/>
                <a:cs typeface="Arial"/>
              </a:rPr>
              <a:t> </a:t>
            </a:r>
            <a:r>
              <a:rPr sz="1200" b="1" spc="-85" dirty="0">
                <a:latin typeface="Arial"/>
                <a:cs typeface="Arial"/>
              </a:rPr>
              <a:t>translation</a:t>
            </a:r>
            <a:r>
              <a:rPr sz="1200" b="1" spc="-130" dirty="0">
                <a:latin typeface="Arial"/>
                <a:cs typeface="Arial"/>
              </a:rPr>
              <a:t> </a:t>
            </a:r>
            <a:r>
              <a:rPr sz="1200" spc="-75" dirty="0">
                <a:latin typeface="Arial"/>
                <a:cs typeface="Arial"/>
              </a:rPr>
              <a:t>has</a:t>
            </a:r>
            <a:r>
              <a:rPr sz="1200" spc="-210" dirty="0">
                <a:latin typeface="Arial"/>
                <a:cs typeface="Arial"/>
              </a:rPr>
              <a:t> </a:t>
            </a:r>
            <a:r>
              <a:rPr sz="1200" spc="-65" dirty="0">
                <a:latin typeface="Arial"/>
                <a:cs typeface="Arial"/>
              </a:rPr>
              <a:t>also</a:t>
            </a:r>
            <a:r>
              <a:rPr sz="1200" spc="-140" dirty="0">
                <a:latin typeface="Arial"/>
                <a:cs typeface="Arial"/>
              </a:rPr>
              <a:t> </a:t>
            </a:r>
            <a:r>
              <a:rPr sz="1200" spc="-65" dirty="0">
                <a:latin typeface="Arial"/>
                <a:cs typeface="Arial"/>
              </a:rPr>
              <a:t>made</a:t>
            </a:r>
            <a:r>
              <a:rPr sz="1200" spc="-145" dirty="0">
                <a:latin typeface="Arial"/>
                <a:cs typeface="Arial"/>
              </a:rPr>
              <a:t> </a:t>
            </a:r>
            <a:r>
              <a:rPr sz="1200" spc="-60" dirty="0">
                <a:latin typeface="Arial"/>
                <a:cs typeface="Arial"/>
              </a:rPr>
              <a:t>huge</a:t>
            </a:r>
            <a:r>
              <a:rPr sz="1200" spc="-140" dirty="0">
                <a:latin typeface="Arial"/>
                <a:cs typeface="Arial"/>
              </a:rPr>
              <a:t> </a:t>
            </a:r>
            <a:r>
              <a:rPr sz="1200" spc="-65" dirty="0">
                <a:latin typeface="Arial"/>
                <a:cs typeface="Arial"/>
              </a:rPr>
              <a:t>strikes</a:t>
            </a:r>
            <a:r>
              <a:rPr sz="1200" spc="-95" dirty="0">
                <a:latin typeface="Arial"/>
                <a:cs typeface="Arial"/>
              </a:rPr>
              <a:t> </a:t>
            </a:r>
            <a:r>
              <a:rPr sz="1200" spc="-60" dirty="0">
                <a:latin typeface="Arial"/>
                <a:cs typeface="Arial"/>
              </a:rPr>
              <a:t>thanks</a:t>
            </a:r>
            <a:r>
              <a:rPr sz="1200" spc="-95" dirty="0">
                <a:latin typeface="Arial"/>
                <a:cs typeface="Arial"/>
              </a:rPr>
              <a:t> </a:t>
            </a:r>
            <a:r>
              <a:rPr sz="1200" dirty="0">
                <a:latin typeface="Arial"/>
                <a:cs typeface="Arial"/>
              </a:rPr>
              <a:t>to</a:t>
            </a:r>
            <a:r>
              <a:rPr sz="1200" spc="60" dirty="0">
                <a:latin typeface="Arial"/>
                <a:cs typeface="Arial"/>
              </a:rPr>
              <a:t> </a:t>
            </a:r>
            <a:r>
              <a:rPr sz="1200" spc="-60" dirty="0">
                <a:latin typeface="Arial"/>
                <a:cs typeface="Arial"/>
              </a:rPr>
              <a:t>deep</a:t>
            </a:r>
            <a:r>
              <a:rPr sz="1200" spc="-95" dirty="0">
                <a:latin typeface="Arial"/>
                <a:cs typeface="Arial"/>
              </a:rPr>
              <a:t> </a:t>
            </a:r>
            <a:r>
              <a:rPr sz="1200" spc="-45" dirty="0">
                <a:latin typeface="Arial"/>
                <a:cs typeface="Arial"/>
              </a:rPr>
              <a:t>learning</a:t>
            </a:r>
            <a:r>
              <a:rPr sz="1200" spc="-145" dirty="0">
                <a:latin typeface="Arial"/>
                <a:cs typeface="Arial"/>
              </a:rPr>
              <a:t> </a:t>
            </a:r>
            <a:r>
              <a:rPr sz="1200" spc="-50" dirty="0">
                <a:latin typeface="Arial"/>
                <a:cs typeface="Arial"/>
              </a:rPr>
              <a:t>where </a:t>
            </a:r>
            <a:r>
              <a:rPr sz="1200" spc="-35" dirty="0">
                <a:latin typeface="Arial"/>
                <a:cs typeface="Arial"/>
              </a:rPr>
              <a:t>now</a:t>
            </a:r>
            <a:r>
              <a:rPr sz="1200" spc="-25" dirty="0">
                <a:latin typeface="Arial"/>
                <a:cs typeface="Arial"/>
              </a:rPr>
              <a:t> </a:t>
            </a:r>
            <a:r>
              <a:rPr sz="1200" spc="-60" dirty="0">
                <a:latin typeface="Arial"/>
                <a:cs typeface="Arial"/>
              </a:rPr>
              <a:t>you</a:t>
            </a:r>
            <a:r>
              <a:rPr sz="1200" spc="-50" dirty="0">
                <a:latin typeface="Arial"/>
                <a:cs typeface="Arial"/>
              </a:rPr>
              <a:t> </a:t>
            </a:r>
            <a:r>
              <a:rPr sz="1200" spc="-75" dirty="0">
                <a:latin typeface="Arial"/>
                <a:cs typeface="Arial"/>
              </a:rPr>
              <a:t>can</a:t>
            </a:r>
            <a:r>
              <a:rPr sz="1200" spc="-165" dirty="0">
                <a:latin typeface="Arial"/>
                <a:cs typeface="Arial"/>
              </a:rPr>
              <a:t> </a:t>
            </a:r>
            <a:r>
              <a:rPr sz="1200" spc="-75" dirty="0">
                <a:latin typeface="Arial"/>
                <a:cs typeface="Arial"/>
              </a:rPr>
              <a:t>have</a:t>
            </a:r>
            <a:r>
              <a:rPr sz="1200" spc="-140" dirty="0">
                <a:latin typeface="Arial"/>
                <a:cs typeface="Arial"/>
              </a:rPr>
              <a:t> </a:t>
            </a:r>
            <a:r>
              <a:rPr sz="1200" spc="-60" dirty="0">
                <a:latin typeface="Arial"/>
                <a:cs typeface="Arial"/>
              </a:rPr>
              <a:t>an</a:t>
            </a:r>
            <a:r>
              <a:rPr sz="1200" spc="-185" dirty="0">
                <a:latin typeface="Arial"/>
                <a:cs typeface="Arial"/>
              </a:rPr>
              <a:t> </a:t>
            </a:r>
            <a:r>
              <a:rPr sz="1200" b="1" spc="-114" dirty="0">
                <a:latin typeface="Arial"/>
                <a:cs typeface="Arial"/>
              </a:rPr>
              <a:t>Englishsentence</a:t>
            </a:r>
            <a:r>
              <a:rPr sz="1200" b="1" spc="-160" dirty="0">
                <a:latin typeface="Arial"/>
                <a:cs typeface="Arial"/>
              </a:rPr>
              <a:t> </a:t>
            </a:r>
            <a:r>
              <a:rPr sz="1200" b="1" spc="-95" dirty="0">
                <a:latin typeface="Arial"/>
                <a:cs typeface="Arial"/>
              </a:rPr>
              <a:t>input</a:t>
            </a:r>
            <a:r>
              <a:rPr sz="1200" b="1" spc="-200" dirty="0">
                <a:latin typeface="Arial"/>
                <a:cs typeface="Arial"/>
              </a:rPr>
              <a:t> </a:t>
            </a:r>
            <a:r>
              <a:rPr sz="1200" spc="-65" dirty="0">
                <a:latin typeface="Arial"/>
                <a:cs typeface="Arial"/>
              </a:rPr>
              <a:t>to</a:t>
            </a:r>
            <a:r>
              <a:rPr sz="1200" spc="-185" dirty="0">
                <a:latin typeface="Arial"/>
                <a:cs typeface="Arial"/>
              </a:rPr>
              <a:t> </a:t>
            </a:r>
            <a:r>
              <a:rPr sz="1200" dirty="0">
                <a:latin typeface="Arial"/>
                <a:cs typeface="Arial"/>
              </a:rPr>
              <a:t>a</a:t>
            </a:r>
            <a:r>
              <a:rPr sz="1200" spc="-210" dirty="0">
                <a:latin typeface="Arial"/>
                <a:cs typeface="Arial"/>
              </a:rPr>
              <a:t> </a:t>
            </a:r>
            <a:r>
              <a:rPr sz="1200" spc="-110" dirty="0">
                <a:latin typeface="Arial"/>
                <a:cs typeface="Arial"/>
              </a:rPr>
              <a:t>neural</a:t>
            </a:r>
            <a:r>
              <a:rPr sz="1200" spc="-155" dirty="0">
                <a:latin typeface="Arial"/>
                <a:cs typeface="Arial"/>
              </a:rPr>
              <a:t> </a:t>
            </a:r>
            <a:r>
              <a:rPr sz="1200" spc="-120" dirty="0">
                <a:latin typeface="Arial"/>
                <a:cs typeface="Arial"/>
              </a:rPr>
              <a:t>network</a:t>
            </a:r>
            <a:r>
              <a:rPr sz="1200" spc="-90" dirty="0">
                <a:latin typeface="Arial"/>
                <a:cs typeface="Arial"/>
              </a:rPr>
              <a:t> </a:t>
            </a:r>
            <a:r>
              <a:rPr sz="1200" spc="-60" dirty="0">
                <a:latin typeface="Arial"/>
                <a:cs typeface="Arial"/>
              </a:rPr>
              <a:t>and</a:t>
            </a:r>
            <a:r>
              <a:rPr sz="1200" spc="-75" dirty="0">
                <a:latin typeface="Arial"/>
                <a:cs typeface="Arial"/>
              </a:rPr>
              <a:t> </a:t>
            </a:r>
            <a:r>
              <a:rPr sz="1200" spc="-10" dirty="0">
                <a:latin typeface="Arial"/>
                <a:cs typeface="Arial"/>
              </a:rPr>
              <a:t>directly</a:t>
            </a:r>
            <a:endParaRPr sz="1200" dirty="0">
              <a:latin typeface="Arial"/>
              <a:cs typeface="Arial"/>
            </a:endParaRPr>
          </a:p>
          <a:p>
            <a:pPr marL="12700">
              <a:lnSpc>
                <a:spcPct val="100000"/>
              </a:lnSpc>
            </a:pPr>
            <a:r>
              <a:rPr sz="1200" b="1" spc="-60" dirty="0">
                <a:latin typeface="Arial"/>
                <a:cs typeface="Arial"/>
              </a:rPr>
              <a:t>output</a:t>
            </a:r>
            <a:r>
              <a:rPr sz="1200" b="1" spc="-130" dirty="0">
                <a:latin typeface="Arial"/>
                <a:cs typeface="Arial"/>
              </a:rPr>
              <a:t> </a:t>
            </a:r>
            <a:r>
              <a:rPr sz="1200" b="1" spc="-55" dirty="0">
                <a:latin typeface="Arial"/>
                <a:cs typeface="Arial"/>
              </a:rPr>
              <a:t>their</a:t>
            </a:r>
            <a:r>
              <a:rPr sz="1200" b="1" spc="-45" dirty="0">
                <a:latin typeface="Arial"/>
                <a:cs typeface="Arial"/>
              </a:rPr>
              <a:t> </a:t>
            </a:r>
            <a:r>
              <a:rPr sz="1200" b="1" spc="-40" dirty="0">
                <a:latin typeface="Arial"/>
                <a:cs typeface="Arial"/>
              </a:rPr>
              <a:t>Chinesesentence</a:t>
            </a:r>
            <a:r>
              <a:rPr sz="1200" spc="-40" dirty="0">
                <a:latin typeface="Arial"/>
                <a:cs typeface="Arial"/>
              </a:rPr>
              <a:t>.</a:t>
            </a:r>
            <a:endParaRPr sz="1200" dirty="0">
              <a:latin typeface="Arial"/>
              <a:cs typeface="Arial"/>
            </a:endParaRPr>
          </a:p>
          <a:p>
            <a:pPr marL="12700" marR="279400" indent="-10160">
              <a:lnSpc>
                <a:spcPct val="100000"/>
              </a:lnSpc>
              <a:spcBef>
                <a:spcPts val="605"/>
              </a:spcBef>
              <a:buSzPct val="96428"/>
              <a:buFont typeface="Wingdings"/>
              <a:buChar char=""/>
              <a:tabLst>
                <a:tab pos="93345" algn="l"/>
              </a:tabLst>
            </a:pPr>
            <a:r>
              <a:rPr sz="1200" b="1" spc="-35" dirty="0">
                <a:latin typeface="Arial"/>
                <a:cs typeface="Arial"/>
              </a:rPr>
              <a:t>	In</a:t>
            </a:r>
            <a:r>
              <a:rPr sz="1200" b="1" spc="-175" dirty="0">
                <a:latin typeface="Arial"/>
                <a:cs typeface="Arial"/>
              </a:rPr>
              <a:t> </a:t>
            </a:r>
            <a:r>
              <a:rPr sz="1200" b="1" spc="-120" dirty="0">
                <a:latin typeface="Arial"/>
                <a:cs typeface="Arial"/>
              </a:rPr>
              <a:t>Autonomous</a:t>
            </a:r>
            <a:r>
              <a:rPr sz="1200" b="1" spc="-135" dirty="0">
                <a:latin typeface="Arial"/>
                <a:cs typeface="Arial"/>
              </a:rPr>
              <a:t> </a:t>
            </a:r>
            <a:r>
              <a:rPr sz="1200" b="1" spc="-105" dirty="0">
                <a:latin typeface="Arial"/>
                <a:cs typeface="Arial"/>
              </a:rPr>
              <a:t>driving</a:t>
            </a:r>
            <a:r>
              <a:rPr sz="1200" b="1" spc="-110" dirty="0">
                <a:latin typeface="Arial"/>
                <a:cs typeface="Arial"/>
              </a:rPr>
              <a:t> </a:t>
            </a:r>
            <a:r>
              <a:rPr sz="1200" spc="-60" dirty="0">
                <a:latin typeface="Arial"/>
                <a:cs typeface="Arial"/>
              </a:rPr>
              <a:t>you</a:t>
            </a:r>
            <a:r>
              <a:rPr sz="1200" spc="-40" dirty="0">
                <a:latin typeface="Arial"/>
                <a:cs typeface="Arial"/>
              </a:rPr>
              <a:t> </a:t>
            </a:r>
            <a:r>
              <a:rPr sz="1200" spc="-35" dirty="0">
                <a:latin typeface="Arial"/>
                <a:cs typeface="Arial"/>
              </a:rPr>
              <a:t>might</a:t>
            </a:r>
            <a:r>
              <a:rPr sz="1200" spc="-85" dirty="0">
                <a:latin typeface="Arial"/>
                <a:cs typeface="Arial"/>
              </a:rPr>
              <a:t> </a:t>
            </a:r>
            <a:r>
              <a:rPr sz="1200" spc="-20" dirty="0">
                <a:latin typeface="Arial"/>
                <a:cs typeface="Arial"/>
              </a:rPr>
              <a:t>input</a:t>
            </a:r>
            <a:r>
              <a:rPr sz="1200" spc="-60" dirty="0">
                <a:latin typeface="Arial"/>
                <a:cs typeface="Arial"/>
              </a:rPr>
              <a:t> </a:t>
            </a:r>
            <a:r>
              <a:rPr sz="1200" spc="-25" dirty="0">
                <a:latin typeface="Arial"/>
                <a:cs typeface="Arial"/>
              </a:rPr>
              <a:t>then</a:t>
            </a:r>
            <a:r>
              <a:rPr sz="1200" spc="-70" dirty="0">
                <a:latin typeface="Arial"/>
                <a:cs typeface="Arial"/>
              </a:rPr>
              <a:t> </a:t>
            </a:r>
            <a:r>
              <a:rPr sz="1200" spc="-90" dirty="0">
                <a:latin typeface="Arial"/>
                <a:cs typeface="Arial"/>
              </a:rPr>
              <a:t>say</a:t>
            </a:r>
            <a:r>
              <a:rPr sz="1200" spc="-200" dirty="0">
                <a:latin typeface="Arial"/>
                <a:cs typeface="Arial"/>
              </a:rPr>
              <a:t> </a:t>
            </a:r>
            <a:r>
              <a:rPr sz="1200" dirty="0">
                <a:latin typeface="Arial"/>
                <a:cs typeface="Arial"/>
              </a:rPr>
              <a:t>a</a:t>
            </a:r>
            <a:r>
              <a:rPr sz="1200" spc="-175" dirty="0">
                <a:latin typeface="Arial"/>
                <a:cs typeface="Arial"/>
              </a:rPr>
              <a:t> </a:t>
            </a:r>
            <a:r>
              <a:rPr sz="1200" spc="-35" dirty="0">
                <a:latin typeface="Arial"/>
                <a:cs typeface="Arial"/>
              </a:rPr>
              <a:t>picture</a:t>
            </a:r>
            <a:r>
              <a:rPr sz="1200" spc="-10" dirty="0">
                <a:latin typeface="Arial"/>
                <a:cs typeface="Arial"/>
              </a:rPr>
              <a:t> </a:t>
            </a:r>
            <a:r>
              <a:rPr sz="1200" dirty="0">
                <a:latin typeface="Arial"/>
                <a:cs typeface="Arial"/>
              </a:rPr>
              <a:t>of</a:t>
            </a:r>
            <a:r>
              <a:rPr sz="1200" spc="-80" dirty="0">
                <a:latin typeface="Arial"/>
                <a:cs typeface="Arial"/>
              </a:rPr>
              <a:t> </a:t>
            </a:r>
            <a:r>
              <a:rPr sz="1200" spc="-45" dirty="0">
                <a:latin typeface="Arial"/>
                <a:cs typeface="Arial"/>
              </a:rPr>
              <a:t>what's</a:t>
            </a:r>
            <a:r>
              <a:rPr sz="1200" spc="-30" dirty="0">
                <a:latin typeface="Arial"/>
                <a:cs typeface="Arial"/>
              </a:rPr>
              <a:t> </a:t>
            </a:r>
            <a:r>
              <a:rPr sz="1200" spc="-10" dirty="0">
                <a:latin typeface="Arial"/>
                <a:cs typeface="Arial"/>
              </a:rPr>
              <a:t>in</a:t>
            </a:r>
            <a:r>
              <a:rPr sz="1200" spc="-70" dirty="0">
                <a:latin typeface="Arial"/>
                <a:cs typeface="Arial"/>
              </a:rPr>
              <a:t> </a:t>
            </a:r>
            <a:r>
              <a:rPr sz="1200" dirty="0">
                <a:latin typeface="Arial"/>
                <a:cs typeface="Arial"/>
              </a:rPr>
              <a:t>front</a:t>
            </a:r>
            <a:r>
              <a:rPr sz="1200" spc="-85" dirty="0">
                <a:latin typeface="Arial"/>
                <a:cs typeface="Arial"/>
              </a:rPr>
              <a:t> </a:t>
            </a:r>
            <a:r>
              <a:rPr sz="1200" dirty="0">
                <a:latin typeface="Arial"/>
                <a:cs typeface="Arial"/>
              </a:rPr>
              <a:t>of</a:t>
            </a:r>
            <a:r>
              <a:rPr sz="1200" spc="-85" dirty="0">
                <a:latin typeface="Arial"/>
                <a:cs typeface="Arial"/>
              </a:rPr>
              <a:t> </a:t>
            </a:r>
            <a:r>
              <a:rPr sz="1200" spc="-40" dirty="0">
                <a:latin typeface="Arial"/>
                <a:cs typeface="Arial"/>
              </a:rPr>
              <a:t>your</a:t>
            </a:r>
            <a:r>
              <a:rPr sz="1200" spc="-80" dirty="0">
                <a:latin typeface="Arial"/>
                <a:cs typeface="Arial"/>
              </a:rPr>
              <a:t> </a:t>
            </a:r>
            <a:r>
              <a:rPr sz="1200" spc="-60" dirty="0">
                <a:latin typeface="Arial"/>
                <a:cs typeface="Arial"/>
              </a:rPr>
              <a:t>car</a:t>
            </a:r>
            <a:r>
              <a:rPr sz="1200" spc="-125" dirty="0">
                <a:latin typeface="Arial"/>
                <a:cs typeface="Arial"/>
              </a:rPr>
              <a:t> </a:t>
            </a:r>
            <a:r>
              <a:rPr sz="1200" spc="-70" dirty="0">
                <a:latin typeface="Arial"/>
                <a:cs typeface="Arial"/>
              </a:rPr>
              <a:t>as</a:t>
            </a:r>
            <a:r>
              <a:rPr sz="1200" spc="-175" dirty="0">
                <a:latin typeface="Arial"/>
                <a:cs typeface="Arial"/>
              </a:rPr>
              <a:t> </a:t>
            </a:r>
            <a:r>
              <a:rPr sz="1200" spc="-30" dirty="0">
                <a:latin typeface="Arial"/>
                <a:cs typeface="Arial"/>
              </a:rPr>
              <a:t>well</a:t>
            </a:r>
            <a:r>
              <a:rPr sz="1200" spc="-65" dirty="0">
                <a:latin typeface="Arial"/>
                <a:cs typeface="Arial"/>
              </a:rPr>
              <a:t> </a:t>
            </a:r>
            <a:r>
              <a:rPr sz="1200" spc="-70" dirty="0">
                <a:latin typeface="Arial"/>
                <a:cs typeface="Arial"/>
              </a:rPr>
              <a:t>as</a:t>
            </a:r>
            <a:r>
              <a:rPr sz="1200" spc="-175" dirty="0">
                <a:latin typeface="Arial"/>
                <a:cs typeface="Arial"/>
              </a:rPr>
              <a:t> </a:t>
            </a:r>
            <a:r>
              <a:rPr sz="1200" spc="-65" dirty="0">
                <a:latin typeface="Arial"/>
                <a:cs typeface="Arial"/>
              </a:rPr>
              <a:t>some</a:t>
            </a:r>
            <a:r>
              <a:rPr sz="1200" spc="-200" dirty="0">
                <a:latin typeface="Arial"/>
                <a:cs typeface="Arial"/>
              </a:rPr>
              <a:t> </a:t>
            </a:r>
            <a:r>
              <a:rPr sz="1200" spc="-30" dirty="0">
                <a:latin typeface="Arial"/>
                <a:cs typeface="Arial"/>
              </a:rPr>
              <a:t>information</a:t>
            </a:r>
            <a:r>
              <a:rPr sz="1200" spc="-155" dirty="0">
                <a:latin typeface="Arial"/>
                <a:cs typeface="Arial"/>
              </a:rPr>
              <a:t> </a:t>
            </a:r>
            <a:r>
              <a:rPr sz="1200" spc="-15" dirty="0">
                <a:latin typeface="Arial"/>
                <a:cs typeface="Arial"/>
              </a:rPr>
              <a:t>from</a:t>
            </a:r>
            <a:r>
              <a:rPr sz="1200" spc="-100" dirty="0">
                <a:latin typeface="Arial"/>
                <a:cs typeface="Arial"/>
              </a:rPr>
              <a:t> </a:t>
            </a:r>
            <a:r>
              <a:rPr sz="1200" dirty="0">
                <a:latin typeface="Arial"/>
                <a:cs typeface="Arial"/>
              </a:rPr>
              <a:t>a</a:t>
            </a:r>
            <a:r>
              <a:rPr sz="1200" spc="-175" dirty="0">
                <a:latin typeface="Arial"/>
                <a:cs typeface="Arial"/>
              </a:rPr>
              <a:t> </a:t>
            </a:r>
            <a:r>
              <a:rPr sz="1200" spc="-55" dirty="0">
                <a:latin typeface="Arial"/>
                <a:cs typeface="Arial"/>
              </a:rPr>
              <a:t>radar</a:t>
            </a:r>
            <a:r>
              <a:rPr sz="1200" spc="-75" dirty="0">
                <a:latin typeface="Arial"/>
                <a:cs typeface="Arial"/>
              </a:rPr>
              <a:t> </a:t>
            </a:r>
            <a:r>
              <a:rPr sz="1200" spc="-60" dirty="0">
                <a:latin typeface="Arial"/>
                <a:cs typeface="Arial"/>
              </a:rPr>
              <a:t>and</a:t>
            </a:r>
            <a:r>
              <a:rPr sz="1200" spc="-114" dirty="0">
                <a:latin typeface="Arial"/>
                <a:cs typeface="Arial"/>
              </a:rPr>
              <a:t> </a:t>
            </a:r>
            <a:r>
              <a:rPr sz="1200" spc="-80" dirty="0">
                <a:latin typeface="Arial"/>
                <a:cs typeface="Arial"/>
              </a:rPr>
              <a:t>based</a:t>
            </a:r>
            <a:r>
              <a:rPr sz="1200" spc="-114" dirty="0">
                <a:latin typeface="Arial"/>
                <a:cs typeface="Arial"/>
              </a:rPr>
              <a:t> </a:t>
            </a:r>
            <a:r>
              <a:rPr sz="1200" spc="-20" dirty="0">
                <a:latin typeface="Arial"/>
                <a:cs typeface="Arial"/>
              </a:rPr>
              <a:t>on</a:t>
            </a:r>
            <a:r>
              <a:rPr sz="1200" spc="-135" dirty="0">
                <a:latin typeface="Arial"/>
                <a:cs typeface="Arial"/>
              </a:rPr>
              <a:t> </a:t>
            </a:r>
            <a:r>
              <a:rPr sz="1200" dirty="0">
                <a:latin typeface="Arial"/>
                <a:cs typeface="Arial"/>
              </a:rPr>
              <a:t>that</a:t>
            </a:r>
            <a:r>
              <a:rPr sz="1200" spc="-10" dirty="0">
                <a:latin typeface="Arial"/>
                <a:cs typeface="Arial"/>
              </a:rPr>
              <a:t> </a:t>
            </a:r>
            <a:r>
              <a:rPr sz="1200" spc="-80" dirty="0">
                <a:latin typeface="Arial"/>
                <a:cs typeface="Arial"/>
              </a:rPr>
              <a:t>maybe</a:t>
            </a:r>
            <a:r>
              <a:rPr sz="1200" spc="-114" dirty="0">
                <a:latin typeface="Arial"/>
                <a:cs typeface="Arial"/>
              </a:rPr>
              <a:t> </a:t>
            </a:r>
            <a:r>
              <a:rPr sz="1200" spc="-25" dirty="0">
                <a:latin typeface="Arial"/>
                <a:cs typeface="Arial"/>
              </a:rPr>
              <a:t>in </a:t>
            </a:r>
            <a:r>
              <a:rPr sz="1200" spc="-40" dirty="0">
                <a:latin typeface="Arial"/>
                <a:cs typeface="Arial"/>
              </a:rPr>
              <a:t>your</a:t>
            </a:r>
            <a:r>
              <a:rPr sz="1200" spc="-80" dirty="0">
                <a:latin typeface="Arial"/>
                <a:cs typeface="Arial"/>
              </a:rPr>
              <a:t> </a:t>
            </a:r>
            <a:r>
              <a:rPr sz="1200" spc="-35" dirty="0">
                <a:latin typeface="Arial"/>
                <a:cs typeface="Arial"/>
              </a:rPr>
              <a:t>network</a:t>
            </a:r>
            <a:r>
              <a:rPr sz="1200" spc="-85" dirty="0">
                <a:latin typeface="Arial"/>
                <a:cs typeface="Arial"/>
              </a:rPr>
              <a:t> </a:t>
            </a:r>
            <a:r>
              <a:rPr sz="1200" spc="-75" dirty="0">
                <a:latin typeface="Arial"/>
                <a:cs typeface="Arial"/>
              </a:rPr>
              <a:t>can</a:t>
            </a:r>
            <a:r>
              <a:rPr sz="1200" spc="-150" dirty="0">
                <a:latin typeface="Arial"/>
                <a:cs typeface="Arial"/>
              </a:rPr>
              <a:t> </a:t>
            </a:r>
            <a:r>
              <a:rPr sz="1200" spc="-40" dirty="0">
                <a:latin typeface="Arial"/>
                <a:cs typeface="Arial"/>
              </a:rPr>
              <a:t>be</a:t>
            </a:r>
            <a:r>
              <a:rPr sz="1200" spc="-110" dirty="0">
                <a:latin typeface="Arial"/>
                <a:cs typeface="Arial"/>
              </a:rPr>
              <a:t> </a:t>
            </a:r>
            <a:r>
              <a:rPr sz="1200" spc="-40" dirty="0">
                <a:latin typeface="Arial"/>
                <a:cs typeface="Arial"/>
              </a:rPr>
              <a:t>trained</a:t>
            </a:r>
            <a:r>
              <a:rPr sz="1200" spc="-25" dirty="0">
                <a:latin typeface="Arial"/>
                <a:cs typeface="Arial"/>
              </a:rPr>
              <a:t> </a:t>
            </a:r>
            <a:r>
              <a:rPr sz="1200" dirty="0">
                <a:latin typeface="Arial"/>
                <a:cs typeface="Arial"/>
              </a:rPr>
              <a:t>to</a:t>
            </a:r>
            <a:r>
              <a:rPr sz="1200" spc="-40" dirty="0">
                <a:latin typeface="Arial"/>
                <a:cs typeface="Arial"/>
              </a:rPr>
              <a:t> </a:t>
            </a:r>
            <a:r>
              <a:rPr sz="1200" dirty="0">
                <a:latin typeface="Arial"/>
                <a:cs typeface="Arial"/>
              </a:rPr>
              <a:t>tell</a:t>
            </a:r>
            <a:r>
              <a:rPr sz="1200" spc="-55" dirty="0">
                <a:latin typeface="Arial"/>
                <a:cs typeface="Arial"/>
              </a:rPr>
              <a:t> </a:t>
            </a:r>
            <a:r>
              <a:rPr sz="1200" spc="-60" dirty="0">
                <a:latin typeface="Arial"/>
                <a:cs typeface="Arial"/>
              </a:rPr>
              <a:t>you</a:t>
            </a:r>
            <a:r>
              <a:rPr sz="1200" spc="-65" dirty="0">
                <a:latin typeface="Arial"/>
                <a:cs typeface="Arial"/>
              </a:rPr>
              <a:t> </a:t>
            </a:r>
            <a:r>
              <a:rPr sz="1200" spc="-20" dirty="0">
                <a:latin typeface="Arial"/>
                <a:cs typeface="Arial"/>
              </a:rPr>
              <a:t>the</a:t>
            </a:r>
            <a:r>
              <a:rPr sz="1200" spc="-45" dirty="0">
                <a:latin typeface="Arial"/>
                <a:cs typeface="Arial"/>
              </a:rPr>
              <a:t> </a:t>
            </a:r>
            <a:r>
              <a:rPr sz="1200" spc="-40" dirty="0">
                <a:latin typeface="Arial"/>
                <a:cs typeface="Arial"/>
              </a:rPr>
              <a:t>position</a:t>
            </a:r>
            <a:r>
              <a:rPr sz="1200" spc="-45" dirty="0">
                <a:latin typeface="Arial"/>
                <a:cs typeface="Arial"/>
              </a:rPr>
              <a:t> </a:t>
            </a:r>
            <a:r>
              <a:rPr sz="1200" dirty="0">
                <a:latin typeface="Arial"/>
                <a:cs typeface="Arial"/>
              </a:rPr>
              <a:t>of</a:t>
            </a:r>
            <a:r>
              <a:rPr sz="1200" spc="-75" dirty="0">
                <a:latin typeface="Arial"/>
                <a:cs typeface="Arial"/>
              </a:rPr>
              <a:t> </a:t>
            </a:r>
            <a:r>
              <a:rPr sz="1200" spc="-20" dirty="0">
                <a:latin typeface="Arial"/>
                <a:cs typeface="Arial"/>
              </a:rPr>
              <a:t>the</a:t>
            </a:r>
            <a:r>
              <a:rPr sz="1200" spc="-65" dirty="0">
                <a:latin typeface="Arial"/>
                <a:cs typeface="Arial"/>
              </a:rPr>
              <a:t> </a:t>
            </a:r>
            <a:r>
              <a:rPr sz="1200" spc="-20" dirty="0">
                <a:latin typeface="Arial"/>
                <a:cs typeface="Arial"/>
              </a:rPr>
              <a:t>other</a:t>
            </a:r>
            <a:r>
              <a:rPr sz="1200" spc="-55" dirty="0">
                <a:latin typeface="Arial"/>
                <a:cs typeface="Arial"/>
              </a:rPr>
              <a:t> </a:t>
            </a:r>
            <a:r>
              <a:rPr sz="1200" spc="-85" dirty="0">
                <a:latin typeface="Arial"/>
                <a:cs typeface="Arial"/>
              </a:rPr>
              <a:t>cars</a:t>
            </a:r>
            <a:r>
              <a:rPr sz="1200" spc="-155" dirty="0">
                <a:latin typeface="Arial"/>
                <a:cs typeface="Arial"/>
              </a:rPr>
              <a:t> </a:t>
            </a:r>
            <a:r>
              <a:rPr sz="1200" spc="-20" dirty="0">
                <a:latin typeface="Arial"/>
                <a:cs typeface="Arial"/>
              </a:rPr>
              <a:t>on</a:t>
            </a:r>
            <a:r>
              <a:rPr sz="1200" spc="-125" dirty="0">
                <a:latin typeface="Arial"/>
                <a:cs typeface="Arial"/>
              </a:rPr>
              <a:t> </a:t>
            </a:r>
            <a:r>
              <a:rPr sz="1200" spc="-20" dirty="0">
                <a:latin typeface="Arial"/>
                <a:cs typeface="Arial"/>
              </a:rPr>
              <a:t>the</a:t>
            </a:r>
            <a:r>
              <a:rPr sz="1200" spc="-65" dirty="0">
                <a:latin typeface="Arial"/>
                <a:cs typeface="Arial"/>
              </a:rPr>
              <a:t> </a:t>
            </a:r>
            <a:r>
              <a:rPr sz="1200" spc="-55" dirty="0">
                <a:latin typeface="Arial"/>
                <a:cs typeface="Arial"/>
              </a:rPr>
              <a:t>road</a:t>
            </a:r>
            <a:r>
              <a:rPr sz="1200" spc="-90" dirty="0">
                <a:latin typeface="Arial"/>
                <a:cs typeface="Arial"/>
              </a:rPr>
              <a:t> </a:t>
            </a:r>
            <a:r>
              <a:rPr sz="1200" spc="-60" dirty="0">
                <a:latin typeface="Arial"/>
                <a:cs typeface="Arial"/>
              </a:rPr>
              <a:t>so</a:t>
            </a:r>
            <a:r>
              <a:rPr sz="1200" spc="-150" dirty="0">
                <a:latin typeface="Arial"/>
                <a:cs typeface="Arial"/>
              </a:rPr>
              <a:t> </a:t>
            </a:r>
            <a:r>
              <a:rPr sz="1200" b="1" spc="-85" dirty="0">
                <a:latin typeface="Arial"/>
                <a:cs typeface="Arial"/>
              </a:rPr>
              <a:t>this</a:t>
            </a:r>
            <a:r>
              <a:rPr sz="1200" b="1" spc="-130" dirty="0">
                <a:latin typeface="Arial"/>
                <a:cs typeface="Arial"/>
              </a:rPr>
              <a:t> </a:t>
            </a:r>
            <a:r>
              <a:rPr sz="1200" b="1" spc="-85" dirty="0">
                <a:latin typeface="Arial"/>
                <a:cs typeface="Arial"/>
              </a:rPr>
              <a:t>becomesa</a:t>
            </a:r>
            <a:r>
              <a:rPr sz="1200" b="1" spc="-150" dirty="0">
                <a:latin typeface="Arial"/>
                <a:cs typeface="Arial"/>
              </a:rPr>
              <a:t> </a:t>
            </a:r>
            <a:r>
              <a:rPr sz="1200" b="1" spc="-80" dirty="0">
                <a:latin typeface="Arial"/>
                <a:cs typeface="Arial"/>
              </a:rPr>
              <a:t>key</a:t>
            </a:r>
            <a:r>
              <a:rPr sz="1200" b="1" spc="-220" dirty="0">
                <a:latin typeface="Arial"/>
                <a:cs typeface="Arial"/>
              </a:rPr>
              <a:t> </a:t>
            </a:r>
            <a:r>
              <a:rPr sz="1200" b="1" spc="-95" dirty="0">
                <a:latin typeface="Arial"/>
                <a:cs typeface="Arial"/>
              </a:rPr>
              <a:t>component</a:t>
            </a:r>
            <a:r>
              <a:rPr sz="1200" b="1" spc="-245" dirty="0">
                <a:latin typeface="Arial"/>
                <a:cs typeface="Arial"/>
              </a:rPr>
              <a:t> </a:t>
            </a:r>
            <a:r>
              <a:rPr sz="1200" b="1" spc="-45" dirty="0">
                <a:latin typeface="Arial"/>
                <a:cs typeface="Arial"/>
              </a:rPr>
              <a:t>in</a:t>
            </a:r>
            <a:r>
              <a:rPr sz="1200" b="1" spc="-125" dirty="0">
                <a:latin typeface="Arial"/>
                <a:cs typeface="Arial"/>
              </a:rPr>
              <a:t> </a:t>
            </a:r>
            <a:r>
              <a:rPr sz="1200" b="1" spc="-100" dirty="0">
                <a:latin typeface="Arial"/>
                <a:cs typeface="Arial"/>
              </a:rPr>
              <a:t>autonomous</a:t>
            </a:r>
            <a:r>
              <a:rPr sz="1200" b="1" spc="-235" dirty="0">
                <a:latin typeface="Arial"/>
                <a:cs typeface="Arial"/>
              </a:rPr>
              <a:t> </a:t>
            </a:r>
            <a:r>
              <a:rPr sz="1200" b="1" spc="-105" dirty="0">
                <a:latin typeface="Arial"/>
                <a:cs typeface="Arial"/>
              </a:rPr>
              <a:t>driving</a:t>
            </a:r>
            <a:r>
              <a:rPr sz="1200" b="1" spc="-150" dirty="0">
                <a:latin typeface="Arial"/>
                <a:cs typeface="Arial"/>
              </a:rPr>
              <a:t> </a:t>
            </a:r>
            <a:r>
              <a:rPr sz="1200" b="1" spc="-10" dirty="0">
                <a:latin typeface="Arial"/>
                <a:cs typeface="Arial"/>
              </a:rPr>
              <a:t>systems.</a:t>
            </a:r>
            <a:endParaRPr sz="1200" dirty="0">
              <a:latin typeface="Arial"/>
              <a:cs typeface="Arial"/>
            </a:endParaRPr>
          </a:p>
        </p:txBody>
      </p:sp>
      <p:sp>
        <p:nvSpPr>
          <p:cNvPr id="27" name="object 6">
            <a:extLst>
              <a:ext uri="{FF2B5EF4-FFF2-40B4-BE49-F238E27FC236}">
                <a16:creationId xmlns:a16="http://schemas.microsoft.com/office/drawing/2014/main" id="{29184639-0973-6BAB-0313-2D57F590A801}"/>
              </a:ext>
            </a:extLst>
          </p:cNvPr>
          <p:cNvSpPr txBox="1"/>
          <p:nvPr/>
        </p:nvSpPr>
        <p:spPr>
          <a:xfrm>
            <a:off x="2449551" y="4238982"/>
            <a:ext cx="4234815"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tabLst>
                <a:tab pos="3187700" algn="l"/>
              </a:tabLst>
            </a:pPr>
            <a:r>
              <a:rPr sz="2700" spc="-15" baseline="1543" dirty="0">
                <a:latin typeface="Arial"/>
                <a:cs typeface="Arial"/>
              </a:rPr>
              <a:t>Input(x)</a:t>
            </a:r>
            <a:r>
              <a:rPr lang="en-GB" sz="2700" spc="-15" baseline="1543" dirty="0">
                <a:latin typeface="Arial"/>
                <a:cs typeface="Arial"/>
              </a:rPr>
              <a:t>               Output(y)</a:t>
            </a:r>
            <a:r>
              <a:rPr sz="2700" baseline="1543" dirty="0">
                <a:latin typeface="Arial"/>
                <a:cs typeface="Arial"/>
              </a:rPr>
              <a:t>	</a:t>
            </a:r>
            <a:r>
              <a:rPr sz="1800" spc="-65" dirty="0">
                <a:latin typeface="Arial"/>
                <a:cs typeface="Arial"/>
              </a:rPr>
              <a:t>Application</a:t>
            </a:r>
            <a:endParaRPr sz="1800" dirty="0">
              <a:latin typeface="Arial"/>
              <a:cs typeface="Arial"/>
            </a:endParaRPr>
          </a:p>
        </p:txBody>
      </p:sp>
    </p:spTree>
    <p:extLst>
      <p:ext uri="{BB962C8B-B14F-4D97-AF65-F5344CB8AC3E}">
        <p14:creationId xmlns:p14="http://schemas.microsoft.com/office/powerpoint/2010/main" val="28592494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43CA8-6EB1-653B-7177-B651D1E8F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3AEA1-FE9C-8923-644E-60041EC05621}"/>
              </a:ext>
            </a:extLst>
          </p:cNvPr>
          <p:cNvSpPr>
            <a:spLocks noGrp="1"/>
          </p:cNvSpPr>
          <p:nvPr>
            <p:ph type="title"/>
          </p:nvPr>
        </p:nvSpPr>
        <p:spPr>
          <a:xfrm>
            <a:off x="629500" y="277838"/>
            <a:ext cx="9097686" cy="1068223"/>
          </a:xfrm>
        </p:spPr>
        <p:txBody>
          <a:bodyPr/>
          <a:lstStyle/>
          <a:p>
            <a:r>
              <a:rPr lang="en-GB" sz="4400" spc="-229" dirty="0"/>
              <a:t>Supervised</a:t>
            </a:r>
            <a:r>
              <a:rPr lang="en-GB" sz="4400" spc="-495" dirty="0"/>
              <a:t> </a:t>
            </a:r>
            <a:r>
              <a:rPr lang="en-GB" sz="4400" spc="-210" dirty="0"/>
              <a:t>Learning</a:t>
            </a:r>
            <a:r>
              <a:rPr lang="en-GB" sz="4400" spc="-365" dirty="0"/>
              <a:t> </a:t>
            </a:r>
            <a:r>
              <a:rPr lang="en-GB" sz="4400" spc="-120" dirty="0" err="1"/>
              <a:t>withNeural</a:t>
            </a:r>
            <a:r>
              <a:rPr lang="en-GB" sz="4400" spc="-235" dirty="0"/>
              <a:t> </a:t>
            </a:r>
            <a:r>
              <a:rPr lang="en-GB" sz="4400" spc="-135" dirty="0"/>
              <a:t>Networks</a:t>
            </a:r>
            <a:endParaRPr lang="en-US" dirty="0">
              <a:solidFill>
                <a:srgbClr val="942D6D"/>
              </a:solidFill>
            </a:endParaRPr>
          </a:p>
        </p:txBody>
      </p:sp>
      <p:cxnSp>
        <p:nvCxnSpPr>
          <p:cNvPr id="4" name="Straight Connector 3">
            <a:extLst>
              <a:ext uri="{FF2B5EF4-FFF2-40B4-BE49-F238E27FC236}">
                <a16:creationId xmlns:a16="http://schemas.microsoft.com/office/drawing/2014/main" id="{388CF40E-B42F-259B-7EB2-6DDC70B178BE}"/>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535456F1-7CED-3D87-F5CD-553948ED6160}"/>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E086674C-51B5-8876-419F-123CB475F51C}"/>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3">
            <a:extLst>
              <a:ext uri="{FF2B5EF4-FFF2-40B4-BE49-F238E27FC236}">
                <a16:creationId xmlns:a16="http://schemas.microsoft.com/office/drawing/2014/main" id="{1B1004D4-E5B7-5EFB-BAD3-7C90EE8AC679}"/>
              </a:ext>
            </a:extLst>
          </p:cNvPr>
          <p:cNvSpPr txBox="1"/>
          <p:nvPr/>
        </p:nvSpPr>
        <p:spPr>
          <a:xfrm>
            <a:off x="493394" y="1559084"/>
            <a:ext cx="3310254" cy="39116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2400" b="1" spc="-130" dirty="0">
                <a:solidFill>
                  <a:srgbClr val="242424"/>
                </a:solidFill>
                <a:latin typeface="Arial"/>
                <a:cs typeface="Arial"/>
              </a:rPr>
              <a:t>Neural</a:t>
            </a:r>
            <a:r>
              <a:rPr sz="2400" b="1" spc="-270" dirty="0">
                <a:solidFill>
                  <a:srgbClr val="242424"/>
                </a:solidFill>
                <a:latin typeface="Arial"/>
                <a:cs typeface="Arial"/>
              </a:rPr>
              <a:t> </a:t>
            </a:r>
            <a:r>
              <a:rPr sz="2400" b="1" spc="-110" dirty="0">
                <a:solidFill>
                  <a:srgbClr val="242424"/>
                </a:solidFill>
                <a:latin typeface="Arial"/>
                <a:cs typeface="Arial"/>
              </a:rPr>
              <a:t>Network</a:t>
            </a:r>
            <a:r>
              <a:rPr sz="2400" b="1" spc="-300" dirty="0">
                <a:solidFill>
                  <a:srgbClr val="242424"/>
                </a:solidFill>
                <a:latin typeface="Arial"/>
                <a:cs typeface="Arial"/>
              </a:rPr>
              <a:t> </a:t>
            </a:r>
            <a:r>
              <a:rPr sz="2400" b="1" spc="-150" dirty="0">
                <a:solidFill>
                  <a:srgbClr val="242424"/>
                </a:solidFill>
                <a:latin typeface="Arial"/>
                <a:cs typeface="Arial"/>
              </a:rPr>
              <a:t>examples</a:t>
            </a:r>
            <a:endParaRPr sz="2400">
              <a:latin typeface="Arial"/>
              <a:cs typeface="Arial"/>
            </a:endParaRPr>
          </a:p>
        </p:txBody>
      </p:sp>
      <p:pic>
        <p:nvPicPr>
          <p:cNvPr id="13" name="object 4">
            <a:extLst>
              <a:ext uri="{FF2B5EF4-FFF2-40B4-BE49-F238E27FC236}">
                <a16:creationId xmlns:a16="http://schemas.microsoft.com/office/drawing/2014/main" id="{D799F5A0-47C5-6F18-7E03-5CE3A5375DFD}"/>
              </a:ext>
            </a:extLst>
          </p:cNvPr>
          <p:cNvPicPr/>
          <p:nvPr/>
        </p:nvPicPr>
        <p:blipFill>
          <a:blip r:embed="rId3" cstate="print"/>
          <a:stretch>
            <a:fillRect/>
          </a:stretch>
        </p:blipFill>
        <p:spPr>
          <a:xfrm>
            <a:off x="239712" y="2551208"/>
            <a:ext cx="3558540" cy="1800859"/>
          </a:xfrm>
          <a:prstGeom prst="rect">
            <a:avLst/>
          </a:prstGeom>
        </p:spPr>
      </p:pic>
      <p:sp>
        <p:nvSpPr>
          <p:cNvPr id="14" name="object 5">
            <a:extLst>
              <a:ext uri="{FF2B5EF4-FFF2-40B4-BE49-F238E27FC236}">
                <a16:creationId xmlns:a16="http://schemas.microsoft.com/office/drawing/2014/main" id="{DADDE1AB-6CD6-A827-05B7-7A56F4C7F0B7}"/>
              </a:ext>
            </a:extLst>
          </p:cNvPr>
          <p:cNvSpPr txBox="1"/>
          <p:nvPr/>
        </p:nvSpPr>
        <p:spPr>
          <a:xfrm>
            <a:off x="526414" y="4997863"/>
            <a:ext cx="3261995"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95" dirty="0">
                <a:latin typeface="Arial"/>
                <a:cs typeface="Arial"/>
              </a:rPr>
              <a:t>Multi</a:t>
            </a:r>
            <a:r>
              <a:rPr sz="1800" spc="-125" dirty="0">
                <a:latin typeface="Arial"/>
                <a:cs typeface="Arial"/>
              </a:rPr>
              <a:t> </a:t>
            </a:r>
            <a:r>
              <a:rPr sz="1800" spc="-100" dirty="0">
                <a:latin typeface="Arial"/>
                <a:cs typeface="Arial"/>
              </a:rPr>
              <a:t>Layer</a:t>
            </a:r>
            <a:r>
              <a:rPr sz="1800" spc="-90" dirty="0">
                <a:latin typeface="Arial"/>
                <a:cs typeface="Arial"/>
              </a:rPr>
              <a:t> </a:t>
            </a:r>
            <a:r>
              <a:rPr sz="1800" spc="-80" dirty="0">
                <a:latin typeface="Arial"/>
                <a:cs typeface="Arial"/>
              </a:rPr>
              <a:t>Neural</a:t>
            </a:r>
            <a:r>
              <a:rPr sz="1800" spc="-75" dirty="0">
                <a:latin typeface="Arial"/>
                <a:cs typeface="Arial"/>
              </a:rPr>
              <a:t> </a:t>
            </a:r>
            <a:r>
              <a:rPr sz="1800" spc="-55" dirty="0">
                <a:latin typeface="Arial"/>
                <a:cs typeface="Arial"/>
              </a:rPr>
              <a:t>Network</a:t>
            </a:r>
            <a:r>
              <a:rPr sz="1800" spc="-135" dirty="0">
                <a:latin typeface="Arial"/>
                <a:cs typeface="Arial"/>
              </a:rPr>
              <a:t> </a:t>
            </a:r>
            <a:r>
              <a:rPr sz="1800" spc="-125" dirty="0">
                <a:latin typeface="Arial"/>
                <a:cs typeface="Arial"/>
              </a:rPr>
              <a:t>(MLNN)</a:t>
            </a:r>
            <a:endParaRPr sz="1800">
              <a:latin typeface="Arial"/>
              <a:cs typeface="Arial"/>
            </a:endParaRPr>
          </a:p>
        </p:txBody>
      </p:sp>
      <p:sp>
        <p:nvSpPr>
          <p:cNvPr id="15" name="object 6">
            <a:extLst>
              <a:ext uri="{FF2B5EF4-FFF2-40B4-BE49-F238E27FC236}">
                <a16:creationId xmlns:a16="http://schemas.microsoft.com/office/drawing/2014/main" id="{74FB1ADD-2CA2-EF8E-6C31-9B1D687E8203}"/>
              </a:ext>
            </a:extLst>
          </p:cNvPr>
          <p:cNvSpPr txBox="1"/>
          <p:nvPr/>
        </p:nvSpPr>
        <p:spPr>
          <a:xfrm>
            <a:off x="4592002" y="4981733"/>
            <a:ext cx="3420110"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70" dirty="0">
                <a:latin typeface="Arial"/>
                <a:cs typeface="Arial"/>
              </a:rPr>
              <a:t>Convolutional</a:t>
            </a:r>
            <a:r>
              <a:rPr sz="1800" spc="-105" dirty="0">
                <a:latin typeface="Arial"/>
                <a:cs typeface="Arial"/>
              </a:rPr>
              <a:t> </a:t>
            </a:r>
            <a:r>
              <a:rPr sz="1800" spc="-80" dirty="0">
                <a:latin typeface="Arial"/>
                <a:cs typeface="Arial"/>
              </a:rPr>
              <a:t>Neural</a:t>
            </a:r>
            <a:r>
              <a:rPr sz="1800" spc="-65" dirty="0">
                <a:latin typeface="Arial"/>
                <a:cs typeface="Arial"/>
              </a:rPr>
              <a:t> </a:t>
            </a:r>
            <a:r>
              <a:rPr sz="1800" spc="-50" dirty="0">
                <a:latin typeface="Arial"/>
                <a:cs typeface="Arial"/>
              </a:rPr>
              <a:t>Network</a:t>
            </a:r>
            <a:r>
              <a:rPr sz="1800" spc="-175" dirty="0">
                <a:latin typeface="Arial"/>
                <a:cs typeface="Arial"/>
              </a:rPr>
              <a:t> </a:t>
            </a:r>
            <a:r>
              <a:rPr sz="1800" spc="-114" dirty="0">
                <a:latin typeface="Arial"/>
                <a:cs typeface="Arial"/>
              </a:rPr>
              <a:t>(CNN)</a:t>
            </a:r>
            <a:endParaRPr sz="1800">
              <a:latin typeface="Arial"/>
              <a:cs typeface="Arial"/>
            </a:endParaRPr>
          </a:p>
        </p:txBody>
      </p:sp>
      <p:sp>
        <p:nvSpPr>
          <p:cNvPr id="16" name="object 7">
            <a:extLst>
              <a:ext uri="{FF2B5EF4-FFF2-40B4-BE49-F238E27FC236}">
                <a16:creationId xmlns:a16="http://schemas.microsoft.com/office/drawing/2014/main" id="{62952F4A-EF66-90A4-FBB5-0A1E841D2FAA}"/>
              </a:ext>
            </a:extLst>
          </p:cNvPr>
          <p:cNvSpPr txBox="1"/>
          <p:nvPr/>
        </p:nvSpPr>
        <p:spPr>
          <a:xfrm>
            <a:off x="8880792" y="4998561"/>
            <a:ext cx="3071495" cy="30035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85" dirty="0">
                <a:latin typeface="Arial"/>
                <a:cs typeface="Arial"/>
              </a:rPr>
              <a:t>Recurrent</a:t>
            </a:r>
            <a:r>
              <a:rPr sz="1800" spc="-95" dirty="0">
                <a:latin typeface="Arial"/>
                <a:cs typeface="Arial"/>
              </a:rPr>
              <a:t> </a:t>
            </a:r>
            <a:r>
              <a:rPr sz="1800" spc="-80" dirty="0">
                <a:latin typeface="Arial"/>
                <a:cs typeface="Arial"/>
              </a:rPr>
              <a:t>Neural</a:t>
            </a:r>
            <a:r>
              <a:rPr sz="1800" spc="-55" dirty="0">
                <a:latin typeface="Arial"/>
                <a:cs typeface="Arial"/>
              </a:rPr>
              <a:t> </a:t>
            </a:r>
            <a:r>
              <a:rPr sz="1800" spc="-50" dirty="0">
                <a:latin typeface="Arial"/>
                <a:cs typeface="Arial"/>
              </a:rPr>
              <a:t>Network</a:t>
            </a:r>
            <a:r>
              <a:rPr sz="1800" spc="-125" dirty="0">
                <a:latin typeface="Arial"/>
                <a:cs typeface="Arial"/>
              </a:rPr>
              <a:t> </a:t>
            </a:r>
            <a:r>
              <a:rPr sz="1800" spc="-105" dirty="0">
                <a:latin typeface="Arial"/>
                <a:cs typeface="Arial"/>
              </a:rPr>
              <a:t>(RNN)</a:t>
            </a:r>
            <a:endParaRPr sz="1800">
              <a:latin typeface="Arial"/>
              <a:cs typeface="Arial"/>
            </a:endParaRPr>
          </a:p>
        </p:txBody>
      </p:sp>
      <p:pic>
        <p:nvPicPr>
          <p:cNvPr id="17" name="object 8">
            <a:extLst>
              <a:ext uri="{FF2B5EF4-FFF2-40B4-BE49-F238E27FC236}">
                <a16:creationId xmlns:a16="http://schemas.microsoft.com/office/drawing/2014/main" id="{39C00E90-1253-36F5-DD68-F6DDEAD4338E}"/>
              </a:ext>
            </a:extLst>
          </p:cNvPr>
          <p:cNvPicPr/>
          <p:nvPr/>
        </p:nvPicPr>
        <p:blipFill>
          <a:blip r:embed="rId4" cstate="print"/>
          <a:stretch>
            <a:fillRect/>
          </a:stretch>
        </p:blipFill>
        <p:spPr>
          <a:xfrm>
            <a:off x="4070031" y="2635027"/>
            <a:ext cx="4305300" cy="1709419"/>
          </a:xfrm>
          <a:prstGeom prst="rect">
            <a:avLst/>
          </a:prstGeom>
        </p:spPr>
      </p:pic>
      <p:pic>
        <p:nvPicPr>
          <p:cNvPr id="18" name="object 9">
            <a:extLst>
              <a:ext uri="{FF2B5EF4-FFF2-40B4-BE49-F238E27FC236}">
                <a16:creationId xmlns:a16="http://schemas.microsoft.com/office/drawing/2014/main" id="{A3B2E09D-9467-D750-ED8B-2C623A46E27A}"/>
              </a:ext>
            </a:extLst>
          </p:cNvPr>
          <p:cNvPicPr/>
          <p:nvPr/>
        </p:nvPicPr>
        <p:blipFill>
          <a:blip r:embed="rId5" cstate="print"/>
          <a:stretch>
            <a:fillRect/>
          </a:stretch>
        </p:blipFill>
        <p:spPr>
          <a:xfrm>
            <a:off x="8710611" y="2185448"/>
            <a:ext cx="3192779" cy="2705100"/>
          </a:xfrm>
          <a:prstGeom prst="rect">
            <a:avLst/>
          </a:prstGeom>
        </p:spPr>
      </p:pic>
    </p:spTree>
    <p:extLst>
      <p:ext uri="{BB962C8B-B14F-4D97-AF65-F5344CB8AC3E}">
        <p14:creationId xmlns:p14="http://schemas.microsoft.com/office/powerpoint/2010/main" val="3784759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BF8D8-F922-E180-AB05-53294D2BA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49146-6E09-D7E5-A957-BC806E5B46A4}"/>
              </a:ext>
            </a:extLst>
          </p:cNvPr>
          <p:cNvSpPr>
            <a:spLocks noGrp="1"/>
          </p:cNvSpPr>
          <p:nvPr>
            <p:ph type="title"/>
          </p:nvPr>
        </p:nvSpPr>
        <p:spPr>
          <a:xfrm>
            <a:off x="629500" y="277838"/>
            <a:ext cx="9097686" cy="1068223"/>
          </a:xfrm>
        </p:spPr>
        <p:txBody>
          <a:bodyPr/>
          <a:lstStyle/>
          <a:p>
            <a:r>
              <a:rPr lang="en-GB" sz="4400" dirty="0"/>
              <a:t>Initialisers</a:t>
            </a:r>
            <a:r>
              <a:rPr lang="en-GB" sz="4400" spc="-170" dirty="0"/>
              <a:t> </a:t>
            </a:r>
            <a:r>
              <a:rPr lang="en-GB" sz="4400" dirty="0"/>
              <a:t>(Kernel</a:t>
            </a:r>
            <a:r>
              <a:rPr lang="en-GB" sz="4400" spc="-155" dirty="0"/>
              <a:t> </a:t>
            </a:r>
            <a:r>
              <a:rPr lang="en-GB" sz="4400" dirty="0"/>
              <a:t>and</a:t>
            </a:r>
            <a:r>
              <a:rPr lang="en-GB" sz="4400" spc="-140" dirty="0"/>
              <a:t> </a:t>
            </a:r>
            <a:r>
              <a:rPr lang="en-GB" sz="4400" spc="-10" dirty="0"/>
              <a:t>Bias)</a:t>
            </a:r>
            <a:endParaRPr lang="en-US" dirty="0">
              <a:solidFill>
                <a:srgbClr val="942D6D"/>
              </a:solidFill>
            </a:endParaRPr>
          </a:p>
        </p:txBody>
      </p:sp>
      <p:cxnSp>
        <p:nvCxnSpPr>
          <p:cNvPr id="4" name="Straight Connector 3">
            <a:extLst>
              <a:ext uri="{FF2B5EF4-FFF2-40B4-BE49-F238E27FC236}">
                <a16:creationId xmlns:a16="http://schemas.microsoft.com/office/drawing/2014/main" id="{AEF6E15E-A8DB-EC3D-42D8-9E81A3E32406}"/>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A331F225-DA41-0279-1E22-203A65D3E5A0}"/>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4D442F6B-09E0-B36B-4A03-679903BC0120}"/>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object 3">
            <a:extLst>
              <a:ext uri="{FF2B5EF4-FFF2-40B4-BE49-F238E27FC236}">
                <a16:creationId xmlns:a16="http://schemas.microsoft.com/office/drawing/2014/main" id="{800B3597-A1C6-C194-0BF7-1A29E088BFBC}"/>
              </a:ext>
            </a:extLst>
          </p:cNvPr>
          <p:cNvPicPr/>
          <p:nvPr/>
        </p:nvPicPr>
        <p:blipFill>
          <a:blip r:embed="rId3" cstate="print"/>
          <a:stretch>
            <a:fillRect/>
          </a:stretch>
        </p:blipFill>
        <p:spPr>
          <a:xfrm>
            <a:off x="6333332" y="2702561"/>
            <a:ext cx="4132579" cy="1485899"/>
          </a:xfrm>
          <a:prstGeom prst="rect">
            <a:avLst/>
          </a:prstGeom>
        </p:spPr>
      </p:pic>
      <p:sp>
        <p:nvSpPr>
          <p:cNvPr id="13" name="object 4">
            <a:extLst>
              <a:ext uri="{FF2B5EF4-FFF2-40B4-BE49-F238E27FC236}">
                <a16:creationId xmlns:a16="http://schemas.microsoft.com/office/drawing/2014/main" id="{3E091AF9-D5DE-BB57-0074-4E1EEFE73292}"/>
              </a:ext>
            </a:extLst>
          </p:cNvPr>
          <p:cNvSpPr txBox="1"/>
          <p:nvPr/>
        </p:nvSpPr>
        <p:spPr>
          <a:xfrm>
            <a:off x="1726089" y="1769745"/>
            <a:ext cx="3176270" cy="3318510"/>
          </a:xfrm>
          <a:prstGeom prst="rect">
            <a:avLst/>
          </a:prstGeom>
        </p:spPr>
        <p:txBody>
          <a:bodyPr vert="horz" wrap="square" lIns="0" tIns="12700" rIns="0" bIns="0" rtlCol="0">
            <a:spAutoFit/>
          </a:bodyPr>
          <a:lstStyle>
            <a:defPPr>
              <a:defRPr kern="0"/>
            </a:defPPr>
          </a:lstStyle>
          <a:p>
            <a:pPr marL="240029" indent="-227329">
              <a:lnSpc>
                <a:spcPct val="100000"/>
              </a:lnSpc>
              <a:spcBef>
                <a:spcPts val="100"/>
              </a:spcBef>
              <a:buFont typeface="Arial"/>
              <a:buChar char="•"/>
              <a:tabLst>
                <a:tab pos="240029" algn="l"/>
              </a:tabLst>
            </a:pPr>
            <a:r>
              <a:rPr sz="2400" u="sng" dirty="0">
                <a:solidFill>
                  <a:srgbClr val="0462C1"/>
                </a:solidFill>
                <a:uFill>
                  <a:solidFill>
                    <a:srgbClr val="0462C1"/>
                  </a:solidFill>
                </a:uFill>
                <a:latin typeface="Calibri"/>
                <a:cs typeface="Calibri"/>
                <a:hlinkClick r:id="rId4"/>
              </a:rPr>
              <a:t>RandomNormal</a:t>
            </a:r>
            <a:r>
              <a:rPr sz="2400" u="sng" spc="-170" dirty="0">
                <a:uFill>
                  <a:solidFill>
                    <a:srgbClr val="0462C1"/>
                  </a:solidFill>
                </a:uFill>
                <a:latin typeface="Lucida Sans Unicode"/>
                <a:cs typeface="Lucida Sans Unicode"/>
                <a:hlinkClick r:id="rId4"/>
              </a:rPr>
              <a:t> </a:t>
            </a:r>
            <a:r>
              <a:rPr sz="2400" u="sng" spc="-10" dirty="0">
                <a:uFill>
                  <a:solidFill>
                    <a:srgbClr val="0462C1"/>
                  </a:solidFill>
                </a:uFill>
                <a:latin typeface="Lucida Sans Unicode"/>
                <a:cs typeface="Lucida Sans Unicode"/>
                <a:hlinkClick r:id="rId4"/>
              </a:rPr>
              <a:t>class</a:t>
            </a:r>
            <a:endParaRPr sz="2400" dirty="0">
              <a:latin typeface="Lucida Sans Unicode"/>
              <a:cs typeface="Lucida Sans Unicode"/>
            </a:endParaRPr>
          </a:p>
          <a:p>
            <a:pPr marL="240029" indent="-227329">
              <a:lnSpc>
                <a:spcPct val="100000"/>
              </a:lnSpc>
              <a:buFont typeface="Arial"/>
              <a:buChar char="•"/>
              <a:tabLst>
                <a:tab pos="240029" algn="l"/>
              </a:tabLst>
            </a:pPr>
            <a:r>
              <a:rPr sz="2400" u="sng" spc="-10" dirty="0">
                <a:solidFill>
                  <a:srgbClr val="0462C1"/>
                </a:solidFill>
                <a:uFill>
                  <a:solidFill>
                    <a:srgbClr val="0462C1"/>
                  </a:solidFill>
                </a:uFill>
                <a:latin typeface="Calibri"/>
                <a:cs typeface="Calibri"/>
                <a:hlinkClick r:id="rId5"/>
              </a:rPr>
              <a:t>RandomUniform</a:t>
            </a:r>
            <a:r>
              <a:rPr sz="2400" u="sng" spc="-130" dirty="0">
                <a:uFill>
                  <a:solidFill>
                    <a:srgbClr val="0462C1"/>
                  </a:solidFill>
                </a:uFill>
                <a:latin typeface="Lucida Sans Unicode"/>
                <a:cs typeface="Lucida Sans Unicode"/>
                <a:hlinkClick r:id="rId5"/>
              </a:rPr>
              <a:t> </a:t>
            </a:r>
            <a:r>
              <a:rPr sz="2400" u="sng" spc="-10" dirty="0">
                <a:uFill>
                  <a:solidFill>
                    <a:srgbClr val="0462C1"/>
                  </a:solidFill>
                </a:uFill>
                <a:latin typeface="Lucida Sans Unicode"/>
                <a:cs typeface="Lucida Sans Unicode"/>
                <a:hlinkClick r:id="rId5"/>
              </a:rPr>
              <a:t>class</a:t>
            </a:r>
            <a:endParaRPr sz="2400" dirty="0">
              <a:latin typeface="Lucida Sans Unicode"/>
              <a:cs typeface="Lucida Sans Unicode"/>
            </a:endParaRPr>
          </a:p>
          <a:p>
            <a:pPr marL="240029" indent="-227329">
              <a:lnSpc>
                <a:spcPct val="100000"/>
              </a:lnSpc>
              <a:buFont typeface="Arial"/>
              <a:buChar char="•"/>
              <a:tabLst>
                <a:tab pos="240029" algn="l"/>
              </a:tabLst>
            </a:pPr>
            <a:r>
              <a:rPr sz="2400" u="sng" spc="-30" dirty="0">
                <a:solidFill>
                  <a:srgbClr val="0462C1"/>
                </a:solidFill>
                <a:uFill>
                  <a:solidFill>
                    <a:srgbClr val="0462C1"/>
                  </a:solidFill>
                </a:uFill>
                <a:latin typeface="Calibri"/>
                <a:cs typeface="Calibri"/>
                <a:hlinkClick r:id="rId6"/>
              </a:rPr>
              <a:t>TruncatedNormal</a:t>
            </a:r>
            <a:r>
              <a:rPr sz="2400" u="sng" spc="-50" dirty="0">
                <a:uFill>
                  <a:solidFill>
                    <a:srgbClr val="0462C1"/>
                  </a:solidFill>
                </a:uFill>
                <a:latin typeface="Lucida Sans Unicode"/>
                <a:cs typeface="Lucida Sans Unicode"/>
                <a:hlinkClick r:id="rId6"/>
              </a:rPr>
              <a:t> </a:t>
            </a:r>
            <a:r>
              <a:rPr sz="2400" u="sng" spc="-30" dirty="0">
                <a:uFill>
                  <a:solidFill>
                    <a:srgbClr val="0462C1"/>
                  </a:solidFill>
                </a:uFill>
                <a:latin typeface="Lucida Sans Unicode"/>
                <a:cs typeface="Lucida Sans Unicode"/>
                <a:hlinkClick r:id="rId6"/>
              </a:rPr>
              <a:t>class</a:t>
            </a:r>
            <a:endParaRPr sz="2400" dirty="0">
              <a:latin typeface="Lucida Sans Unicode"/>
              <a:cs typeface="Lucida Sans Unicode"/>
            </a:endParaRPr>
          </a:p>
          <a:p>
            <a:pPr marL="240029" indent="-227329">
              <a:lnSpc>
                <a:spcPts val="2880"/>
              </a:lnSpc>
              <a:buFont typeface="Arial"/>
              <a:buChar char="•"/>
              <a:tabLst>
                <a:tab pos="240029" algn="l"/>
              </a:tabLst>
            </a:pPr>
            <a:r>
              <a:rPr sz="2400" u="sng" spc="-20" dirty="0">
                <a:solidFill>
                  <a:srgbClr val="0462C1"/>
                </a:solidFill>
                <a:uFill>
                  <a:solidFill>
                    <a:srgbClr val="0462C1"/>
                  </a:solidFill>
                </a:uFill>
                <a:latin typeface="Calibri"/>
                <a:cs typeface="Calibri"/>
                <a:hlinkClick r:id="rId7"/>
              </a:rPr>
              <a:t>Zeros</a:t>
            </a:r>
            <a:r>
              <a:rPr sz="2400" u="sng" spc="-160" dirty="0">
                <a:uFill>
                  <a:solidFill>
                    <a:srgbClr val="0462C1"/>
                  </a:solidFill>
                </a:uFill>
                <a:latin typeface="Lucida Sans Unicode"/>
                <a:cs typeface="Lucida Sans Unicode"/>
                <a:hlinkClick r:id="rId7"/>
              </a:rPr>
              <a:t> </a:t>
            </a:r>
            <a:r>
              <a:rPr sz="2400" u="sng" spc="-20" dirty="0">
                <a:uFill>
                  <a:solidFill>
                    <a:srgbClr val="0462C1"/>
                  </a:solidFill>
                </a:uFill>
                <a:latin typeface="Lucida Sans Unicode"/>
                <a:cs typeface="Lucida Sans Unicode"/>
                <a:hlinkClick r:id="rId7"/>
              </a:rPr>
              <a:t>class</a:t>
            </a:r>
            <a:endParaRPr sz="2400" dirty="0">
              <a:latin typeface="Lucida Sans Unicode"/>
              <a:cs typeface="Lucida Sans Unicode"/>
            </a:endParaRPr>
          </a:p>
          <a:p>
            <a:pPr marL="240029" indent="-227329">
              <a:lnSpc>
                <a:spcPct val="100000"/>
              </a:lnSpc>
              <a:buFont typeface="Arial"/>
              <a:buChar char="•"/>
              <a:tabLst>
                <a:tab pos="240029" algn="l"/>
              </a:tabLst>
            </a:pPr>
            <a:r>
              <a:rPr sz="2400" u="sng" dirty="0">
                <a:solidFill>
                  <a:srgbClr val="0462C1"/>
                </a:solidFill>
                <a:uFill>
                  <a:solidFill>
                    <a:srgbClr val="0462C1"/>
                  </a:solidFill>
                </a:uFill>
                <a:latin typeface="Calibri"/>
                <a:cs typeface="Calibri"/>
                <a:hlinkClick r:id="rId8"/>
              </a:rPr>
              <a:t>Ones</a:t>
            </a:r>
            <a:r>
              <a:rPr sz="2400" u="sng" spc="-190" dirty="0">
                <a:uFill>
                  <a:solidFill>
                    <a:srgbClr val="0462C1"/>
                  </a:solidFill>
                </a:uFill>
                <a:latin typeface="Lucida Sans Unicode"/>
                <a:cs typeface="Lucida Sans Unicode"/>
                <a:hlinkClick r:id="rId8"/>
              </a:rPr>
              <a:t> </a:t>
            </a:r>
            <a:r>
              <a:rPr sz="2400" u="sng" spc="-10" dirty="0">
                <a:uFill>
                  <a:solidFill>
                    <a:srgbClr val="0462C1"/>
                  </a:solidFill>
                </a:uFill>
                <a:latin typeface="Lucida Sans Unicode"/>
                <a:cs typeface="Lucida Sans Unicode"/>
                <a:hlinkClick r:id="rId8"/>
              </a:rPr>
              <a:t>class</a:t>
            </a:r>
            <a:endParaRPr sz="2400" dirty="0">
              <a:latin typeface="Lucida Sans Unicode"/>
              <a:cs typeface="Lucida Sans Unicode"/>
            </a:endParaRPr>
          </a:p>
          <a:p>
            <a:pPr marL="240029" indent="-227329">
              <a:lnSpc>
                <a:spcPct val="100000"/>
              </a:lnSpc>
              <a:spcBef>
                <a:spcPts val="5"/>
              </a:spcBef>
              <a:buFont typeface="Arial"/>
              <a:buChar char="•"/>
              <a:tabLst>
                <a:tab pos="240029" algn="l"/>
              </a:tabLst>
            </a:pPr>
            <a:r>
              <a:rPr sz="2400" u="sng" spc="-10" dirty="0">
                <a:solidFill>
                  <a:srgbClr val="0462C1"/>
                </a:solidFill>
                <a:uFill>
                  <a:solidFill>
                    <a:srgbClr val="0462C1"/>
                  </a:solidFill>
                </a:uFill>
                <a:latin typeface="Calibri"/>
                <a:cs typeface="Calibri"/>
                <a:hlinkClick r:id="rId9"/>
              </a:rPr>
              <a:t>GlorotNormal</a:t>
            </a:r>
            <a:r>
              <a:rPr sz="2400" u="sng" spc="-105" dirty="0">
                <a:uFill>
                  <a:solidFill>
                    <a:srgbClr val="0462C1"/>
                  </a:solidFill>
                </a:uFill>
                <a:latin typeface="Lucida Sans Unicode"/>
                <a:cs typeface="Lucida Sans Unicode"/>
                <a:hlinkClick r:id="rId9"/>
              </a:rPr>
              <a:t> </a:t>
            </a:r>
            <a:r>
              <a:rPr sz="2400" u="sng" spc="-20" dirty="0">
                <a:uFill>
                  <a:solidFill>
                    <a:srgbClr val="0462C1"/>
                  </a:solidFill>
                </a:uFill>
                <a:latin typeface="Lucida Sans Unicode"/>
                <a:cs typeface="Lucida Sans Unicode"/>
                <a:hlinkClick r:id="rId9"/>
              </a:rPr>
              <a:t>class</a:t>
            </a:r>
            <a:endParaRPr sz="2400" dirty="0">
              <a:latin typeface="Lucida Sans Unicode"/>
              <a:cs typeface="Lucida Sans Unicode"/>
            </a:endParaRPr>
          </a:p>
          <a:p>
            <a:pPr marL="240029" indent="-227329">
              <a:lnSpc>
                <a:spcPct val="100000"/>
              </a:lnSpc>
              <a:buFont typeface="Arial"/>
              <a:buChar char="•"/>
              <a:tabLst>
                <a:tab pos="240029" algn="l"/>
              </a:tabLst>
            </a:pPr>
            <a:r>
              <a:rPr sz="2400" u="sng" spc="-10" dirty="0">
                <a:solidFill>
                  <a:srgbClr val="0462C1"/>
                </a:solidFill>
                <a:uFill>
                  <a:solidFill>
                    <a:srgbClr val="0462C1"/>
                  </a:solidFill>
                </a:uFill>
                <a:latin typeface="Calibri"/>
                <a:cs typeface="Calibri"/>
                <a:hlinkClick r:id="rId10"/>
              </a:rPr>
              <a:t>GlorotUniform</a:t>
            </a:r>
            <a:r>
              <a:rPr sz="2400" u="sng" spc="-160" dirty="0">
                <a:uFill>
                  <a:solidFill>
                    <a:srgbClr val="0462C1"/>
                  </a:solidFill>
                </a:uFill>
                <a:latin typeface="Lucida Sans Unicode"/>
                <a:cs typeface="Lucida Sans Unicode"/>
                <a:hlinkClick r:id="rId10"/>
              </a:rPr>
              <a:t> </a:t>
            </a:r>
            <a:r>
              <a:rPr sz="2400" u="sng" spc="-20" dirty="0">
                <a:uFill>
                  <a:solidFill>
                    <a:srgbClr val="0462C1"/>
                  </a:solidFill>
                </a:uFill>
                <a:latin typeface="Lucida Sans Unicode"/>
                <a:cs typeface="Lucida Sans Unicode"/>
                <a:hlinkClick r:id="rId10"/>
              </a:rPr>
              <a:t>class</a:t>
            </a:r>
            <a:endParaRPr sz="2400" dirty="0">
              <a:latin typeface="Lucida Sans Unicode"/>
              <a:cs typeface="Lucida Sans Unicode"/>
            </a:endParaRPr>
          </a:p>
          <a:p>
            <a:pPr marL="240029" indent="-227329">
              <a:lnSpc>
                <a:spcPct val="100000"/>
              </a:lnSpc>
              <a:buFont typeface="Arial"/>
              <a:buChar char="•"/>
              <a:tabLst>
                <a:tab pos="240029" algn="l"/>
              </a:tabLst>
            </a:pPr>
            <a:r>
              <a:rPr sz="2400" u="sng" spc="-10" dirty="0">
                <a:solidFill>
                  <a:srgbClr val="0462C1"/>
                </a:solidFill>
                <a:uFill>
                  <a:solidFill>
                    <a:srgbClr val="0462C1"/>
                  </a:solidFill>
                </a:uFill>
                <a:latin typeface="Calibri"/>
                <a:cs typeface="Calibri"/>
                <a:hlinkClick r:id="rId11"/>
              </a:rPr>
              <a:t>HeNormal</a:t>
            </a:r>
            <a:r>
              <a:rPr sz="2400" u="sng" spc="-120" dirty="0">
                <a:uFill>
                  <a:solidFill>
                    <a:srgbClr val="0462C1"/>
                  </a:solidFill>
                </a:uFill>
                <a:latin typeface="Lucida Sans Unicode"/>
                <a:cs typeface="Lucida Sans Unicode"/>
                <a:hlinkClick r:id="rId11"/>
              </a:rPr>
              <a:t> </a:t>
            </a:r>
            <a:r>
              <a:rPr sz="2400" u="sng" spc="-10" dirty="0">
                <a:uFill>
                  <a:solidFill>
                    <a:srgbClr val="0462C1"/>
                  </a:solidFill>
                </a:uFill>
                <a:latin typeface="Lucida Sans Unicode"/>
                <a:cs typeface="Lucida Sans Unicode"/>
                <a:hlinkClick r:id="rId11"/>
              </a:rPr>
              <a:t>class</a:t>
            </a:r>
            <a:endParaRPr sz="2400" dirty="0">
              <a:latin typeface="Lucida Sans Unicode"/>
              <a:cs typeface="Lucida Sans Unicode"/>
            </a:endParaRPr>
          </a:p>
          <a:p>
            <a:pPr marL="240029" indent="-227329">
              <a:lnSpc>
                <a:spcPct val="100000"/>
              </a:lnSpc>
              <a:buFont typeface="Arial"/>
              <a:buChar char="•"/>
              <a:tabLst>
                <a:tab pos="240029" algn="l"/>
              </a:tabLst>
            </a:pPr>
            <a:r>
              <a:rPr sz="2400" u="sng" spc="-20" dirty="0">
                <a:solidFill>
                  <a:srgbClr val="0462C1"/>
                </a:solidFill>
                <a:uFill>
                  <a:solidFill>
                    <a:srgbClr val="0462C1"/>
                  </a:solidFill>
                </a:uFill>
                <a:latin typeface="Calibri"/>
                <a:cs typeface="Calibri"/>
                <a:hlinkClick r:id="rId12"/>
              </a:rPr>
              <a:t>HeUniform</a:t>
            </a:r>
            <a:r>
              <a:rPr sz="2400" u="sng" spc="-95" dirty="0">
                <a:uFill>
                  <a:solidFill>
                    <a:srgbClr val="0462C1"/>
                  </a:solidFill>
                </a:uFill>
                <a:latin typeface="Lucida Sans Unicode"/>
                <a:cs typeface="Lucida Sans Unicode"/>
                <a:hlinkClick r:id="rId12"/>
              </a:rPr>
              <a:t> </a:t>
            </a:r>
            <a:r>
              <a:rPr sz="2400" u="sng" spc="-20" dirty="0">
                <a:uFill>
                  <a:solidFill>
                    <a:srgbClr val="0462C1"/>
                  </a:solidFill>
                </a:uFill>
                <a:latin typeface="Lucida Sans Unicode"/>
                <a:cs typeface="Lucida Sans Unicode"/>
                <a:hlinkClick r:id="rId12"/>
              </a:rPr>
              <a:t>class</a:t>
            </a:r>
            <a:endParaRPr sz="2400" dirty="0">
              <a:latin typeface="Lucida Sans Unicode"/>
              <a:cs typeface="Lucida Sans Unicode"/>
            </a:endParaRPr>
          </a:p>
        </p:txBody>
      </p:sp>
    </p:spTree>
    <p:extLst>
      <p:ext uri="{BB962C8B-B14F-4D97-AF65-F5344CB8AC3E}">
        <p14:creationId xmlns:p14="http://schemas.microsoft.com/office/powerpoint/2010/main" val="2425848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8DCD9-840F-D398-E61E-1C47916DA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071649-AF84-4C07-6E70-EB9C930B0B44}"/>
              </a:ext>
            </a:extLst>
          </p:cNvPr>
          <p:cNvSpPr>
            <a:spLocks noGrp="1"/>
          </p:cNvSpPr>
          <p:nvPr>
            <p:ph type="title"/>
          </p:nvPr>
        </p:nvSpPr>
        <p:spPr>
          <a:xfrm>
            <a:off x="629500" y="277838"/>
            <a:ext cx="9097686" cy="1068223"/>
          </a:xfrm>
        </p:spPr>
        <p:txBody>
          <a:bodyPr/>
          <a:lstStyle/>
          <a:p>
            <a:r>
              <a:rPr lang="en-GB" sz="4400" spc="-10" dirty="0"/>
              <a:t>Activation</a:t>
            </a:r>
            <a:r>
              <a:rPr lang="en-GB" sz="4400" spc="-155" dirty="0"/>
              <a:t> </a:t>
            </a:r>
            <a:r>
              <a:rPr lang="en-GB" sz="4400" spc="-10" dirty="0"/>
              <a:t>Function</a:t>
            </a:r>
            <a:endParaRPr lang="en-US" dirty="0">
              <a:solidFill>
                <a:srgbClr val="942D6D"/>
              </a:solidFill>
            </a:endParaRPr>
          </a:p>
        </p:txBody>
      </p:sp>
      <p:cxnSp>
        <p:nvCxnSpPr>
          <p:cNvPr id="4" name="Straight Connector 3">
            <a:extLst>
              <a:ext uri="{FF2B5EF4-FFF2-40B4-BE49-F238E27FC236}">
                <a16:creationId xmlns:a16="http://schemas.microsoft.com/office/drawing/2014/main" id="{3DDA8371-DB20-6267-0279-19CBB53804C9}"/>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2DC8B05E-6D20-F424-C475-177E974FD3A9}"/>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D9C02BA-CAC1-4063-44C1-DF4DAC3D44E0}"/>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3" name="object 3">
            <a:extLst>
              <a:ext uri="{FF2B5EF4-FFF2-40B4-BE49-F238E27FC236}">
                <a16:creationId xmlns:a16="http://schemas.microsoft.com/office/drawing/2014/main" id="{7B6A8C67-BB3F-C4E4-4588-595BB67E94C0}"/>
              </a:ext>
            </a:extLst>
          </p:cNvPr>
          <p:cNvSpPr txBox="1"/>
          <p:nvPr/>
        </p:nvSpPr>
        <p:spPr>
          <a:xfrm>
            <a:off x="897930" y="1308735"/>
            <a:ext cx="3669029" cy="4240530"/>
          </a:xfrm>
          <a:prstGeom prst="rect">
            <a:avLst/>
          </a:prstGeom>
        </p:spPr>
        <p:txBody>
          <a:bodyPr vert="horz" wrap="square" lIns="0" tIns="52705" rIns="0" bIns="0" rtlCol="0">
            <a:spAutoFit/>
          </a:bodyPr>
          <a:lstStyle>
            <a:defPPr>
              <a:defRPr kern="0"/>
            </a:defPPr>
          </a:lstStyle>
          <a:p>
            <a:pPr marL="240665" indent="-227965">
              <a:lnSpc>
                <a:spcPct val="100000"/>
              </a:lnSpc>
              <a:spcBef>
                <a:spcPts val="415"/>
              </a:spcBef>
              <a:buClr>
                <a:srgbClr val="D00000"/>
              </a:buClr>
              <a:buFont typeface="Arial"/>
              <a:buChar char="•"/>
              <a:tabLst>
                <a:tab pos="240665" algn="l"/>
              </a:tabLst>
            </a:pPr>
            <a:r>
              <a:rPr sz="2800" u="sng" spc="-60" dirty="0">
                <a:solidFill>
                  <a:srgbClr val="0462C1"/>
                </a:solidFill>
                <a:uFill>
                  <a:solidFill>
                    <a:srgbClr val="0462C1"/>
                  </a:solidFill>
                </a:uFill>
                <a:latin typeface="Lucida Sans Unicode"/>
                <a:cs typeface="Lucida Sans Unicode"/>
                <a:hlinkClick r:id="rId3"/>
              </a:rPr>
              <a:t>relu</a:t>
            </a:r>
            <a:r>
              <a:rPr sz="2800" u="sng" spc="-150" dirty="0">
                <a:solidFill>
                  <a:srgbClr val="0462C1"/>
                </a:solidFill>
                <a:uFill>
                  <a:solidFill>
                    <a:srgbClr val="0462C1"/>
                  </a:solidFill>
                </a:uFill>
                <a:latin typeface="Lucida Sans Unicode"/>
                <a:cs typeface="Lucida Sans Unicode"/>
                <a:hlinkClick r:id="rId3"/>
              </a:rPr>
              <a:t> </a:t>
            </a:r>
            <a:r>
              <a:rPr sz="2800" u="sng" spc="-10" dirty="0">
                <a:solidFill>
                  <a:srgbClr val="0462C1"/>
                </a:solidFill>
                <a:uFill>
                  <a:solidFill>
                    <a:srgbClr val="0462C1"/>
                  </a:solidFill>
                </a:uFill>
                <a:latin typeface="Lucida Sans Unicode"/>
                <a:cs typeface="Lucida Sans Unicode"/>
                <a:hlinkClick r:id="rId3"/>
              </a:rPr>
              <a:t>function</a:t>
            </a:r>
            <a:endParaRPr sz="2800" dirty="0">
              <a:latin typeface="Lucida Sans Unicode"/>
              <a:cs typeface="Lucida Sans Unicode"/>
            </a:endParaRPr>
          </a:p>
          <a:p>
            <a:pPr marL="240665" indent="-227965">
              <a:lnSpc>
                <a:spcPct val="100000"/>
              </a:lnSpc>
              <a:spcBef>
                <a:spcPts val="320"/>
              </a:spcBef>
              <a:buClr>
                <a:srgbClr val="D00000"/>
              </a:buClr>
              <a:buFont typeface="Arial"/>
              <a:buChar char="•"/>
              <a:tabLst>
                <a:tab pos="240665" algn="l"/>
              </a:tabLst>
            </a:pPr>
            <a:r>
              <a:rPr sz="2800" u="sng" spc="-95" dirty="0">
                <a:solidFill>
                  <a:srgbClr val="0462C1"/>
                </a:solidFill>
                <a:uFill>
                  <a:solidFill>
                    <a:srgbClr val="0462C1"/>
                  </a:solidFill>
                </a:uFill>
                <a:latin typeface="Lucida Sans Unicode"/>
                <a:cs typeface="Lucida Sans Unicode"/>
                <a:hlinkClick r:id="rId4"/>
              </a:rPr>
              <a:t>sigmoid</a:t>
            </a:r>
            <a:r>
              <a:rPr sz="2800" u="sng" spc="-110" dirty="0">
                <a:solidFill>
                  <a:srgbClr val="0462C1"/>
                </a:solidFill>
                <a:uFill>
                  <a:solidFill>
                    <a:srgbClr val="0462C1"/>
                  </a:solidFill>
                </a:uFill>
                <a:latin typeface="Lucida Sans Unicode"/>
                <a:cs typeface="Lucida Sans Unicode"/>
                <a:hlinkClick r:id="rId4"/>
              </a:rPr>
              <a:t> </a:t>
            </a:r>
            <a:r>
              <a:rPr sz="2800" u="sng" spc="-10" dirty="0">
                <a:solidFill>
                  <a:srgbClr val="0462C1"/>
                </a:solidFill>
                <a:uFill>
                  <a:solidFill>
                    <a:srgbClr val="0462C1"/>
                  </a:solidFill>
                </a:uFill>
                <a:latin typeface="Lucida Sans Unicode"/>
                <a:cs typeface="Lucida Sans Unicode"/>
                <a:hlinkClick r:id="rId4"/>
              </a:rPr>
              <a:t>function</a:t>
            </a:r>
            <a:endParaRPr sz="2800" dirty="0">
              <a:latin typeface="Lucida Sans Unicode"/>
              <a:cs typeface="Lucida Sans Unicode"/>
            </a:endParaRPr>
          </a:p>
          <a:p>
            <a:pPr marL="240665" indent="-227965">
              <a:lnSpc>
                <a:spcPct val="100000"/>
              </a:lnSpc>
              <a:spcBef>
                <a:spcPts val="345"/>
              </a:spcBef>
              <a:buClr>
                <a:srgbClr val="D00000"/>
              </a:buClr>
              <a:buFont typeface="Arial"/>
              <a:buChar char="•"/>
              <a:tabLst>
                <a:tab pos="240665" algn="l"/>
              </a:tabLst>
            </a:pPr>
            <a:r>
              <a:rPr sz="2800" u="sng" spc="-85" dirty="0">
                <a:solidFill>
                  <a:srgbClr val="0462C1"/>
                </a:solidFill>
                <a:uFill>
                  <a:solidFill>
                    <a:srgbClr val="0462C1"/>
                  </a:solidFill>
                </a:uFill>
                <a:latin typeface="Lucida Sans Unicode"/>
                <a:cs typeface="Lucida Sans Unicode"/>
                <a:hlinkClick r:id="rId5"/>
              </a:rPr>
              <a:t>softmax</a:t>
            </a:r>
            <a:r>
              <a:rPr sz="2800" u="sng" spc="-114" dirty="0">
                <a:solidFill>
                  <a:srgbClr val="0462C1"/>
                </a:solidFill>
                <a:uFill>
                  <a:solidFill>
                    <a:srgbClr val="0462C1"/>
                  </a:solidFill>
                </a:uFill>
                <a:latin typeface="Lucida Sans Unicode"/>
                <a:cs typeface="Lucida Sans Unicode"/>
                <a:hlinkClick r:id="rId5"/>
              </a:rPr>
              <a:t> </a:t>
            </a:r>
            <a:r>
              <a:rPr sz="2800" u="sng" spc="-10" dirty="0">
                <a:solidFill>
                  <a:srgbClr val="0462C1"/>
                </a:solidFill>
                <a:uFill>
                  <a:solidFill>
                    <a:srgbClr val="0462C1"/>
                  </a:solidFill>
                </a:uFill>
                <a:latin typeface="Lucida Sans Unicode"/>
                <a:cs typeface="Lucida Sans Unicode"/>
                <a:hlinkClick r:id="rId5"/>
              </a:rPr>
              <a:t>function</a:t>
            </a:r>
            <a:endParaRPr sz="2800" dirty="0">
              <a:latin typeface="Lucida Sans Unicode"/>
              <a:cs typeface="Lucida Sans Unicode"/>
            </a:endParaRPr>
          </a:p>
          <a:p>
            <a:pPr marL="240665" indent="-227965">
              <a:lnSpc>
                <a:spcPct val="100000"/>
              </a:lnSpc>
              <a:spcBef>
                <a:spcPts val="320"/>
              </a:spcBef>
              <a:buClr>
                <a:srgbClr val="D00000"/>
              </a:buClr>
              <a:buFont typeface="Arial"/>
              <a:buChar char="•"/>
              <a:tabLst>
                <a:tab pos="240665" algn="l"/>
              </a:tabLst>
            </a:pPr>
            <a:r>
              <a:rPr sz="2800" u="sng" spc="-75" dirty="0">
                <a:solidFill>
                  <a:srgbClr val="0462C1"/>
                </a:solidFill>
                <a:uFill>
                  <a:solidFill>
                    <a:srgbClr val="0462C1"/>
                  </a:solidFill>
                </a:uFill>
                <a:latin typeface="Lucida Sans Unicode"/>
                <a:cs typeface="Lucida Sans Unicode"/>
                <a:hlinkClick r:id="rId6"/>
              </a:rPr>
              <a:t>softplus</a:t>
            </a:r>
            <a:r>
              <a:rPr sz="2800" u="sng" spc="-145" dirty="0">
                <a:solidFill>
                  <a:srgbClr val="0462C1"/>
                </a:solidFill>
                <a:uFill>
                  <a:solidFill>
                    <a:srgbClr val="0462C1"/>
                  </a:solidFill>
                </a:uFill>
                <a:latin typeface="Lucida Sans Unicode"/>
                <a:cs typeface="Lucida Sans Unicode"/>
                <a:hlinkClick r:id="rId6"/>
              </a:rPr>
              <a:t> </a:t>
            </a:r>
            <a:r>
              <a:rPr sz="2800" u="sng" spc="-10" dirty="0">
                <a:solidFill>
                  <a:srgbClr val="0462C1"/>
                </a:solidFill>
                <a:uFill>
                  <a:solidFill>
                    <a:srgbClr val="0462C1"/>
                  </a:solidFill>
                </a:uFill>
                <a:latin typeface="Lucida Sans Unicode"/>
                <a:cs typeface="Lucida Sans Unicode"/>
                <a:hlinkClick r:id="rId6"/>
              </a:rPr>
              <a:t>function</a:t>
            </a:r>
            <a:endParaRPr sz="2800" dirty="0">
              <a:latin typeface="Lucida Sans Unicode"/>
              <a:cs typeface="Lucida Sans Unicode"/>
            </a:endParaRPr>
          </a:p>
          <a:p>
            <a:pPr marL="240665" indent="-227965">
              <a:lnSpc>
                <a:spcPct val="100000"/>
              </a:lnSpc>
              <a:spcBef>
                <a:spcPts val="320"/>
              </a:spcBef>
              <a:buClr>
                <a:srgbClr val="D00000"/>
              </a:buClr>
              <a:buFont typeface="Arial"/>
              <a:buChar char="•"/>
              <a:tabLst>
                <a:tab pos="240665" algn="l"/>
              </a:tabLst>
            </a:pPr>
            <a:r>
              <a:rPr sz="2800" u="sng" spc="-95" dirty="0">
                <a:solidFill>
                  <a:srgbClr val="0462C1"/>
                </a:solidFill>
                <a:uFill>
                  <a:solidFill>
                    <a:srgbClr val="0462C1"/>
                  </a:solidFill>
                </a:uFill>
                <a:latin typeface="Lucida Sans Unicode"/>
                <a:cs typeface="Lucida Sans Unicode"/>
                <a:hlinkClick r:id="rId7"/>
              </a:rPr>
              <a:t>softsign</a:t>
            </a:r>
            <a:r>
              <a:rPr sz="2800" u="sng" spc="-150" dirty="0">
                <a:solidFill>
                  <a:srgbClr val="0462C1"/>
                </a:solidFill>
                <a:uFill>
                  <a:solidFill>
                    <a:srgbClr val="0462C1"/>
                  </a:solidFill>
                </a:uFill>
                <a:latin typeface="Lucida Sans Unicode"/>
                <a:cs typeface="Lucida Sans Unicode"/>
                <a:hlinkClick r:id="rId7"/>
              </a:rPr>
              <a:t> </a:t>
            </a:r>
            <a:r>
              <a:rPr sz="2800" u="sng" spc="-10" dirty="0">
                <a:solidFill>
                  <a:srgbClr val="0462C1"/>
                </a:solidFill>
                <a:uFill>
                  <a:solidFill>
                    <a:srgbClr val="0462C1"/>
                  </a:solidFill>
                </a:uFill>
                <a:latin typeface="Lucida Sans Unicode"/>
                <a:cs typeface="Lucida Sans Unicode"/>
                <a:hlinkClick r:id="rId7"/>
              </a:rPr>
              <a:t>function</a:t>
            </a:r>
            <a:endParaRPr sz="2800" dirty="0">
              <a:latin typeface="Lucida Sans Unicode"/>
              <a:cs typeface="Lucida Sans Unicode"/>
            </a:endParaRPr>
          </a:p>
          <a:p>
            <a:pPr marL="240665" indent="-227965">
              <a:lnSpc>
                <a:spcPct val="100000"/>
              </a:lnSpc>
              <a:spcBef>
                <a:spcPts val="340"/>
              </a:spcBef>
              <a:buClr>
                <a:srgbClr val="D00000"/>
              </a:buClr>
              <a:buFont typeface="Arial"/>
              <a:buChar char="•"/>
              <a:tabLst>
                <a:tab pos="240665" algn="l"/>
              </a:tabLst>
            </a:pPr>
            <a:r>
              <a:rPr sz="2800" u="sng" spc="-35" dirty="0">
                <a:solidFill>
                  <a:srgbClr val="0462C1"/>
                </a:solidFill>
                <a:uFill>
                  <a:solidFill>
                    <a:srgbClr val="0462C1"/>
                  </a:solidFill>
                </a:uFill>
                <a:latin typeface="Lucida Sans Unicode"/>
                <a:cs typeface="Lucida Sans Unicode"/>
                <a:hlinkClick r:id="rId8"/>
              </a:rPr>
              <a:t>tanh</a:t>
            </a:r>
            <a:r>
              <a:rPr sz="2800" u="sng" spc="-165" dirty="0">
                <a:solidFill>
                  <a:srgbClr val="0462C1"/>
                </a:solidFill>
                <a:uFill>
                  <a:solidFill>
                    <a:srgbClr val="0462C1"/>
                  </a:solidFill>
                </a:uFill>
                <a:latin typeface="Lucida Sans Unicode"/>
                <a:cs typeface="Lucida Sans Unicode"/>
                <a:hlinkClick r:id="rId8"/>
              </a:rPr>
              <a:t> </a:t>
            </a:r>
            <a:r>
              <a:rPr sz="2800" u="sng" spc="-10" dirty="0">
                <a:solidFill>
                  <a:srgbClr val="0462C1"/>
                </a:solidFill>
                <a:uFill>
                  <a:solidFill>
                    <a:srgbClr val="0462C1"/>
                  </a:solidFill>
                </a:uFill>
                <a:latin typeface="Lucida Sans Unicode"/>
                <a:cs typeface="Lucida Sans Unicode"/>
                <a:hlinkClick r:id="rId8"/>
              </a:rPr>
              <a:t>function</a:t>
            </a:r>
            <a:endParaRPr sz="2800" dirty="0">
              <a:latin typeface="Lucida Sans Unicode"/>
              <a:cs typeface="Lucida Sans Unicode"/>
            </a:endParaRPr>
          </a:p>
          <a:p>
            <a:pPr marL="240665" indent="-227965">
              <a:lnSpc>
                <a:spcPct val="100000"/>
              </a:lnSpc>
              <a:spcBef>
                <a:spcPts val="325"/>
              </a:spcBef>
              <a:buClr>
                <a:srgbClr val="D00000"/>
              </a:buClr>
              <a:buFont typeface="Arial"/>
              <a:buChar char="•"/>
              <a:tabLst>
                <a:tab pos="240665" algn="l"/>
              </a:tabLst>
            </a:pPr>
            <a:r>
              <a:rPr sz="2800" u="sng" spc="-60" dirty="0">
                <a:solidFill>
                  <a:srgbClr val="0462C1"/>
                </a:solidFill>
                <a:uFill>
                  <a:solidFill>
                    <a:srgbClr val="0462C1"/>
                  </a:solidFill>
                </a:uFill>
                <a:latin typeface="Lucida Sans Unicode"/>
                <a:cs typeface="Lucida Sans Unicode"/>
                <a:hlinkClick r:id="rId9"/>
              </a:rPr>
              <a:t>selu</a:t>
            </a:r>
            <a:r>
              <a:rPr sz="2800" u="sng" spc="-160" dirty="0">
                <a:solidFill>
                  <a:srgbClr val="0462C1"/>
                </a:solidFill>
                <a:uFill>
                  <a:solidFill>
                    <a:srgbClr val="0462C1"/>
                  </a:solidFill>
                </a:uFill>
                <a:latin typeface="Lucida Sans Unicode"/>
                <a:cs typeface="Lucida Sans Unicode"/>
                <a:hlinkClick r:id="rId9"/>
              </a:rPr>
              <a:t> </a:t>
            </a:r>
            <a:r>
              <a:rPr sz="2800" u="sng" spc="-10" dirty="0">
                <a:solidFill>
                  <a:srgbClr val="0462C1"/>
                </a:solidFill>
                <a:uFill>
                  <a:solidFill>
                    <a:srgbClr val="0462C1"/>
                  </a:solidFill>
                </a:uFill>
                <a:latin typeface="Lucida Sans Unicode"/>
                <a:cs typeface="Lucida Sans Unicode"/>
                <a:hlinkClick r:id="rId9"/>
              </a:rPr>
              <a:t>function</a:t>
            </a:r>
            <a:endParaRPr sz="2800" dirty="0">
              <a:latin typeface="Lucida Sans Unicode"/>
              <a:cs typeface="Lucida Sans Unicode"/>
            </a:endParaRPr>
          </a:p>
          <a:p>
            <a:pPr marL="240665" indent="-227965">
              <a:lnSpc>
                <a:spcPct val="100000"/>
              </a:lnSpc>
              <a:spcBef>
                <a:spcPts val="340"/>
              </a:spcBef>
              <a:buClr>
                <a:srgbClr val="D00000"/>
              </a:buClr>
              <a:buFont typeface="Arial"/>
              <a:buChar char="•"/>
              <a:tabLst>
                <a:tab pos="240665" algn="l"/>
              </a:tabLst>
            </a:pPr>
            <a:r>
              <a:rPr sz="2800" u="sng" spc="-45" dirty="0">
                <a:solidFill>
                  <a:srgbClr val="0462C1"/>
                </a:solidFill>
                <a:uFill>
                  <a:solidFill>
                    <a:srgbClr val="0462C1"/>
                  </a:solidFill>
                </a:uFill>
                <a:latin typeface="Lucida Sans Unicode"/>
                <a:cs typeface="Lucida Sans Unicode"/>
                <a:hlinkClick r:id="rId10"/>
              </a:rPr>
              <a:t>elu</a:t>
            </a:r>
            <a:r>
              <a:rPr sz="2800" u="sng" spc="-175" dirty="0">
                <a:solidFill>
                  <a:srgbClr val="0462C1"/>
                </a:solidFill>
                <a:uFill>
                  <a:solidFill>
                    <a:srgbClr val="0462C1"/>
                  </a:solidFill>
                </a:uFill>
                <a:latin typeface="Lucida Sans Unicode"/>
                <a:cs typeface="Lucida Sans Unicode"/>
                <a:hlinkClick r:id="rId10"/>
              </a:rPr>
              <a:t> </a:t>
            </a:r>
            <a:r>
              <a:rPr sz="2800" u="sng" spc="-10" dirty="0">
                <a:solidFill>
                  <a:srgbClr val="0462C1"/>
                </a:solidFill>
                <a:uFill>
                  <a:solidFill>
                    <a:srgbClr val="0462C1"/>
                  </a:solidFill>
                </a:uFill>
                <a:latin typeface="Lucida Sans Unicode"/>
                <a:cs typeface="Lucida Sans Unicode"/>
                <a:hlinkClick r:id="rId10"/>
              </a:rPr>
              <a:t>function</a:t>
            </a:r>
            <a:endParaRPr sz="2800" dirty="0">
              <a:latin typeface="Lucida Sans Unicode"/>
              <a:cs typeface="Lucida Sans Unicode"/>
            </a:endParaRPr>
          </a:p>
          <a:p>
            <a:pPr marL="240665" indent="-227965">
              <a:lnSpc>
                <a:spcPct val="100000"/>
              </a:lnSpc>
              <a:spcBef>
                <a:spcPts val="320"/>
              </a:spcBef>
              <a:buClr>
                <a:srgbClr val="D00000"/>
              </a:buClr>
              <a:buFont typeface="Arial"/>
              <a:buChar char="•"/>
              <a:tabLst>
                <a:tab pos="240665" algn="l"/>
              </a:tabLst>
            </a:pPr>
            <a:r>
              <a:rPr sz="2800" u="sng" spc="-70" dirty="0">
                <a:solidFill>
                  <a:srgbClr val="0462C1"/>
                </a:solidFill>
                <a:uFill>
                  <a:solidFill>
                    <a:srgbClr val="0462C1"/>
                  </a:solidFill>
                </a:uFill>
                <a:latin typeface="Lucida Sans Unicode"/>
                <a:cs typeface="Lucida Sans Unicode"/>
                <a:hlinkClick r:id="rId11"/>
              </a:rPr>
              <a:t>exponential</a:t>
            </a:r>
            <a:r>
              <a:rPr sz="2800" u="sng" spc="-155" dirty="0">
                <a:solidFill>
                  <a:srgbClr val="0462C1"/>
                </a:solidFill>
                <a:uFill>
                  <a:solidFill>
                    <a:srgbClr val="0462C1"/>
                  </a:solidFill>
                </a:uFill>
                <a:latin typeface="Lucida Sans Unicode"/>
                <a:cs typeface="Lucida Sans Unicode"/>
                <a:hlinkClick r:id="rId11"/>
              </a:rPr>
              <a:t> </a:t>
            </a:r>
            <a:r>
              <a:rPr sz="2800" u="sng" spc="-45" dirty="0">
                <a:solidFill>
                  <a:srgbClr val="0462C1"/>
                </a:solidFill>
                <a:uFill>
                  <a:solidFill>
                    <a:srgbClr val="0462C1"/>
                  </a:solidFill>
                </a:uFill>
                <a:latin typeface="Lucida Sans Unicode"/>
                <a:cs typeface="Lucida Sans Unicode"/>
                <a:hlinkClick r:id="rId11"/>
              </a:rPr>
              <a:t>function</a:t>
            </a:r>
            <a:endParaRPr sz="2800" dirty="0">
              <a:latin typeface="Lucida Sans Unicode"/>
              <a:cs typeface="Lucida Sans Unicode"/>
            </a:endParaRPr>
          </a:p>
        </p:txBody>
      </p:sp>
    </p:spTree>
    <p:extLst>
      <p:ext uri="{BB962C8B-B14F-4D97-AF65-F5344CB8AC3E}">
        <p14:creationId xmlns:p14="http://schemas.microsoft.com/office/powerpoint/2010/main" val="2467633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BA89B-803C-FB89-4A8E-AC89FE006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27A7B-4DB5-0839-9CCC-09446E401ABE}"/>
              </a:ext>
            </a:extLst>
          </p:cNvPr>
          <p:cNvSpPr>
            <a:spLocks noGrp="1"/>
          </p:cNvSpPr>
          <p:nvPr>
            <p:ph type="title"/>
          </p:nvPr>
        </p:nvSpPr>
        <p:spPr>
          <a:xfrm>
            <a:off x="629500" y="277838"/>
            <a:ext cx="9097686" cy="1068223"/>
          </a:xfrm>
        </p:spPr>
        <p:txBody>
          <a:bodyPr/>
          <a:lstStyle/>
          <a:p>
            <a:r>
              <a:rPr lang="en-US" sz="4400" dirty="0"/>
              <a:t>How</a:t>
            </a:r>
            <a:r>
              <a:rPr lang="en-US" sz="4400" spc="-140" dirty="0"/>
              <a:t> </a:t>
            </a:r>
            <a:r>
              <a:rPr lang="en-US" sz="4400" dirty="0"/>
              <a:t>Neural</a:t>
            </a:r>
            <a:r>
              <a:rPr lang="en-US" sz="4400" spc="-105" dirty="0"/>
              <a:t> </a:t>
            </a:r>
            <a:r>
              <a:rPr lang="en-US" sz="4400" spc="-10" dirty="0"/>
              <a:t>Networks</a:t>
            </a:r>
            <a:r>
              <a:rPr lang="en-US" sz="4400" spc="-140" dirty="0"/>
              <a:t> </a:t>
            </a:r>
            <a:r>
              <a:rPr lang="en-US" sz="4400" dirty="0"/>
              <a:t>Learn:</a:t>
            </a:r>
            <a:r>
              <a:rPr lang="en-US" sz="4400" spc="-160" dirty="0"/>
              <a:t> </a:t>
            </a:r>
            <a:r>
              <a:rPr lang="en-US" sz="4400" spc="-20" dirty="0"/>
              <a:t>Backpropagation</a:t>
            </a:r>
            <a:endParaRPr lang="en-US" dirty="0">
              <a:solidFill>
                <a:srgbClr val="942D6D"/>
              </a:solidFill>
            </a:endParaRPr>
          </a:p>
        </p:txBody>
      </p:sp>
      <p:cxnSp>
        <p:nvCxnSpPr>
          <p:cNvPr id="4" name="Straight Connector 3">
            <a:extLst>
              <a:ext uri="{FF2B5EF4-FFF2-40B4-BE49-F238E27FC236}">
                <a16:creationId xmlns:a16="http://schemas.microsoft.com/office/drawing/2014/main" id="{F8613A66-C200-5C13-49FA-546C6EEF7B43}"/>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34BC065F-E447-9F67-1434-8F7B38CE100C}"/>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F0E731AB-0537-25C3-6839-C8E2EADE84F6}"/>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3">
            <a:extLst>
              <a:ext uri="{FF2B5EF4-FFF2-40B4-BE49-F238E27FC236}">
                <a16:creationId xmlns:a16="http://schemas.microsoft.com/office/drawing/2014/main" id="{6B79FF63-420D-D996-5291-F9C1819CA6EF}"/>
              </a:ext>
            </a:extLst>
          </p:cNvPr>
          <p:cNvSpPr txBox="1"/>
          <p:nvPr/>
        </p:nvSpPr>
        <p:spPr>
          <a:xfrm>
            <a:off x="2391578" y="2195639"/>
            <a:ext cx="1651000" cy="797560"/>
          </a:xfrm>
          <a:prstGeom prst="rect">
            <a:avLst/>
          </a:prstGeom>
          <a:ln w="19811">
            <a:solidFill>
              <a:srgbClr val="000000"/>
            </a:solidFill>
          </a:ln>
        </p:spPr>
        <p:txBody>
          <a:bodyPr vert="horz" wrap="square" lIns="0" tIns="38100" rIns="0" bIns="0" rtlCol="0">
            <a:spAutoFit/>
          </a:bodyPr>
          <a:lstStyle>
            <a:defPPr>
              <a:defRPr kern="0"/>
            </a:defPPr>
          </a:lstStyle>
          <a:p>
            <a:pPr marL="496570">
              <a:lnSpc>
                <a:spcPct val="100000"/>
              </a:lnSpc>
              <a:spcBef>
                <a:spcPts val="300"/>
              </a:spcBef>
            </a:pPr>
            <a:r>
              <a:rPr sz="2400" spc="-10" dirty="0">
                <a:latin typeface="Calibri"/>
                <a:cs typeface="Calibri"/>
              </a:rPr>
              <a:t>Input</a:t>
            </a:r>
            <a:endParaRPr sz="2400">
              <a:latin typeface="Calibri"/>
              <a:cs typeface="Calibri"/>
            </a:endParaRPr>
          </a:p>
          <a:p>
            <a:pPr marL="537845">
              <a:lnSpc>
                <a:spcPct val="100000"/>
              </a:lnSpc>
              <a:spcBef>
                <a:spcPts val="5"/>
              </a:spcBef>
            </a:pPr>
            <a:r>
              <a:rPr sz="2400" spc="-20" dirty="0">
                <a:latin typeface="Calibri"/>
                <a:cs typeface="Calibri"/>
              </a:rPr>
              <a:t>Data</a:t>
            </a:r>
            <a:endParaRPr sz="2400">
              <a:latin typeface="Calibri"/>
              <a:cs typeface="Calibri"/>
            </a:endParaRPr>
          </a:p>
        </p:txBody>
      </p:sp>
      <p:sp>
        <p:nvSpPr>
          <p:cNvPr id="8" name="object 4">
            <a:extLst>
              <a:ext uri="{FF2B5EF4-FFF2-40B4-BE49-F238E27FC236}">
                <a16:creationId xmlns:a16="http://schemas.microsoft.com/office/drawing/2014/main" id="{453C9D16-4797-BEE7-6012-8B0E0FEAEF30}"/>
              </a:ext>
            </a:extLst>
          </p:cNvPr>
          <p:cNvSpPr txBox="1"/>
          <p:nvPr/>
        </p:nvSpPr>
        <p:spPr>
          <a:xfrm>
            <a:off x="4977298" y="2195639"/>
            <a:ext cx="1722120" cy="797560"/>
          </a:xfrm>
          <a:prstGeom prst="rect">
            <a:avLst/>
          </a:prstGeom>
          <a:ln w="19810">
            <a:solidFill>
              <a:srgbClr val="000000"/>
            </a:solidFill>
          </a:ln>
        </p:spPr>
        <p:txBody>
          <a:bodyPr vert="horz" wrap="square" lIns="0" tIns="38100" rIns="0" bIns="0" rtlCol="0">
            <a:spAutoFit/>
          </a:bodyPr>
          <a:lstStyle>
            <a:defPPr>
              <a:defRPr kern="0"/>
            </a:defPPr>
          </a:lstStyle>
          <a:p>
            <a:pPr marL="448309">
              <a:lnSpc>
                <a:spcPct val="100000"/>
              </a:lnSpc>
              <a:spcBef>
                <a:spcPts val="300"/>
              </a:spcBef>
            </a:pPr>
            <a:r>
              <a:rPr sz="2400" spc="-10" dirty="0">
                <a:latin typeface="Calibri"/>
                <a:cs typeface="Calibri"/>
              </a:rPr>
              <a:t>Neural</a:t>
            </a:r>
            <a:endParaRPr sz="2400">
              <a:latin typeface="Calibri"/>
              <a:cs typeface="Calibri"/>
            </a:endParaRPr>
          </a:p>
          <a:p>
            <a:pPr marL="326390">
              <a:lnSpc>
                <a:spcPct val="100000"/>
              </a:lnSpc>
              <a:spcBef>
                <a:spcPts val="5"/>
              </a:spcBef>
            </a:pPr>
            <a:r>
              <a:rPr sz="2400" spc="-10" dirty="0">
                <a:latin typeface="Calibri"/>
                <a:cs typeface="Calibri"/>
              </a:rPr>
              <a:t>Network</a:t>
            </a:r>
            <a:endParaRPr sz="2400">
              <a:latin typeface="Calibri"/>
              <a:cs typeface="Calibri"/>
            </a:endParaRPr>
          </a:p>
        </p:txBody>
      </p:sp>
      <p:sp>
        <p:nvSpPr>
          <p:cNvPr id="9" name="object 5">
            <a:extLst>
              <a:ext uri="{FF2B5EF4-FFF2-40B4-BE49-F238E27FC236}">
                <a16:creationId xmlns:a16="http://schemas.microsoft.com/office/drawing/2014/main" id="{E4B830C9-0316-3D17-CB34-9DD6D80C8D26}"/>
              </a:ext>
            </a:extLst>
          </p:cNvPr>
          <p:cNvSpPr txBox="1"/>
          <p:nvPr/>
        </p:nvSpPr>
        <p:spPr>
          <a:xfrm>
            <a:off x="7631597" y="2195639"/>
            <a:ext cx="1676400" cy="612140"/>
          </a:xfrm>
          <a:prstGeom prst="rect">
            <a:avLst/>
          </a:prstGeom>
          <a:ln w="19810">
            <a:solidFill>
              <a:srgbClr val="000000"/>
            </a:solidFill>
          </a:ln>
        </p:spPr>
        <p:txBody>
          <a:bodyPr vert="horz" wrap="square" lIns="0" tIns="221615" rIns="0" bIns="0" rtlCol="0">
            <a:spAutoFit/>
          </a:bodyPr>
          <a:lstStyle>
            <a:defPPr>
              <a:defRPr kern="0"/>
            </a:defPPr>
          </a:lstStyle>
          <a:p>
            <a:pPr marL="208915">
              <a:lnSpc>
                <a:spcPct val="100000"/>
              </a:lnSpc>
              <a:spcBef>
                <a:spcPts val="1745"/>
              </a:spcBef>
            </a:pPr>
            <a:r>
              <a:rPr sz="2400" spc="-10" dirty="0">
                <a:latin typeface="Calibri"/>
                <a:cs typeface="Calibri"/>
              </a:rPr>
              <a:t>Prediction</a:t>
            </a:r>
            <a:endParaRPr sz="2400">
              <a:latin typeface="Calibri"/>
              <a:cs typeface="Calibri"/>
            </a:endParaRPr>
          </a:p>
        </p:txBody>
      </p:sp>
      <p:grpSp>
        <p:nvGrpSpPr>
          <p:cNvPr id="10" name="object 6">
            <a:extLst>
              <a:ext uri="{FF2B5EF4-FFF2-40B4-BE49-F238E27FC236}">
                <a16:creationId xmlns:a16="http://schemas.microsoft.com/office/drawing/2014/main" id="{1F997A8A-90C7-A809-A8C1-9F05BFF4581F}"/>
              </a:ext>
            </a:extLst>
          </p:cNvPr>
          <p:cNvGrpSpPr/>
          <p:nvPr/>
        </p:nvGrpSpPr>
        <p:grpSpPr>
          <a:xfrm>
            <a:off x="6696878" y="2551239"/>
            <a:ext cx="934719" cy="175006"/>
            <a:chOff x="7150100" y="2684779"/>
            <a:chExt cx="934719" cy="175006"/>
          </a:xfrm>
        </p:grpSpPr>
        <p:pic>
          <p:nvPicPr>
            <p:cNvPr id="20" name="object 7">
              <a:extLst>
                <a:ext uri="{FF2B5EF4-FFF2-40B4-BE49-F238E27FC236}">
                  <a16:creationId xmlns:a16="http://schemas.microsoft.com/office/drawing/2014/main" id="{361DB020-2200-E5CF-8F3A-7FF8D47CDB42}"/>
                </a:ext>
              </a:extLst>
            </p:cNvPr>
            <p:cNvPicPr/>
            <p:nvPr/>
          </p:nvPicPr>
          <p:blipFill>
            <a:blip r:embed="rId3" cstate="print"/>
            <a:stretch>
              <a:fillRect/>
            </a:stretch>
          </p:blipFill>
          <p:spPr>
            <a:xfrm>
              <a:off x="7910830" y="2684779"/>
              <a:ext cx="115950" cy="175006"/>
            </a:xfrm>
            <a:prstGeom prst="rect">
              <a:avLst/>
            </a:prstGeom>
          </p:spPr>
        </p:pic>
        <p:sp>
          <p:nvSpPr>
            <p:cNvPr id="21" name="object 8">
              <a:extLst>
                <a:ext uri="{FF2B5EF4-FFF2-40B4-BE49-F238E27FC236}">
                  <a16:creationId xmlns:a16="http://schemas.microsoft.com/office/drawing/2014/main" id="{C6690456-3078-5CE3-8A8A-F6982C1E1F83}"/>
                </a:ext>
              </a:extLst>
            </p:cNvPr>
            <p:cNvSpPr/>
            <p:nvPr/>
          </p:nvSpPr>
          <p:spPr>
            <a:xfrm>
              <a:off x="7150100" y="2743072"/>
              <a:ext cx="934719" cy="58419"/>
            </a:xfrm>
            <a:custGeom>
              <a:avLst/>
              <a:gdLst/>
              <a:ahLst/>
              <a:cxnLst/>
              <a:rect l="l" t="t" r="r" b="b"/>
              <a:pathLst>
                <a:path w="934720" h="58419">
                  <a:moveTo>
                    <a:pt x="760742" y="88"/>
                  </a:moveTo>
                  <a:lnTo>
                    <a:pt x="0" y="88"/>
                  </a:lnTo>
                  <a:lnTo>
                    <a:pt x="0" y="58420"/>
                  </a:lnTo>
                  <a:lnTo>
                    <a:pt x="760742" y="58420"/>
                  </a:lnTo>
                  <a:lnTo>
                    <a:pt x="760742" y="88"/>
                  </a:lnTo>
                  <a:close/>
                </a:path>
                <a:path w="934720" h="58419">
                  <a:moveTo>
                    <a:pt x="934720" y="29210"/>
                  </a:moveTo>
                  <a:lnTo>
                    <a:pt x="876681" y="0"/>
                  </a:lnTo>
                  <a:lnTo>
                    <a:pt x="789686" y="0"/>
                  </a:lnTo>
                  <a:lnTo>
                    <a:pt x="789686" y="58420"/>
                  </a:lnTo>
                  <a:lnTo>
                    <a:pt x="876681" y="58420"/>
                  </a:lnTo>
                  <a:lnTo>
                    <a:pt x="934720" y="29210"/>
                  </a:lnTo>
                  <a:close/>
                </a:path>
              </a:pathLst>
            </a:custGeom>
            <a:solidFill>
              <a:srgbClr val="000000"/>
            </a:solidFill>
          </p:spPr>
          <p:txBody>
            <a:bodyPr wrap="square" lIns="0" tIns="0" rIns="0" bIns="0" rtlCol="0"/>
            <a:lstStyle>
              <a:defPPr>
                <a:defRPr kern="0"/>
              </a:defPPr>
            </a:lstStyle>
            <a:p>
              <a:endParaRPr/>
            </a:p>
          </p:txBody>
        </p:sp>
      </p:grpSp>
      <p:sp>
        <p:nvSpPr>
          <p:cNvPr id="11" name="object 9">
            <a:extLst>
              <a:ext uri="{FF2B5EF4-FFF2-40B4-BE49-F238E27FC236}">
                <a16:creationId xmlns:a16="http://schemas.microsoft.com/office/drawing/2014/main" id="{58CF8507-104C-3943-FB76-D2937F47DCD2}"/>
              </a:ext>
            </a:extLst>
          </p:cNvPr>
          <p:cNvSpPr txBox="1"/>
          <p:nvPr/>
        </p:nvSpPr>
        <p:spPr>
          <a:xfrm>
            <a:off x="1574967" y="1209167"/>
            <a:ext cx="1988185" cy="45275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2800" spc="-35" dirty="0">
                <a:solidFill>
                  <a:srgbClr val="C00000"/>
                </a:solidFill>
                <a:latin typeface="Calibri"/>
                <a:cs typeface="Calibri"/>
              </a:rPr>
              <a:t>Forward</a:t>
            </a:r>
            <a:r>
              <a:rPr sz="2800" spc="-95" dirty="0">
                <a:solidFill>
                  <a:srgbClr val="C00000"/>
                </a:solidFill>
                <a:latin typeface="Calibri"/>
                <a:cs typeface="Calibri"/>
              </a:rPr>
              <a:t> </a:t>
            </a:r>
            <a:r>
              <a:rPr sz="2800" spc="-20" dirty="0">
                <a:solidFill>
                  <a:srgbClr val="C00000"/>
                </a:solidFill>
                <a:latin typeface="Calibri"/>
                <a:cs typeface="Calibri"/>
              </a:rPr>
              <a:t>Pass:</a:t>
            </a:r>
            <a:endParaRPr sz="2800">
              <a:latin typeface="Calibri"/>
              <a:cs typeface="Calibri"/>
            </a:endParaRPr>
          </a:p>
        </p:txBody>
      </p:sp>
      <p:sp>
        <p:nvSpPr>
          <p:cNvPr id="12" name="object 10">
            <a:extLst>
              <a:ext uri="{FF2B5EF4-FFF2-40B4-BE49-F238E27FC236}">
                <a16:creationId xmlns:a16="http://schemas.microsoft.com/office/drawing/2014/main" id="{3E095B17-C5B8-1583-2718-D20E68549396}"/>
              </a:ext>
            </a:extLst>
          </p:cNvPr>
          <p:cNvSpPr txBox="1"/>
          <p:nvPr/>
        </p:nvSpPr>
        <p:spPr>
          <a:xfrm>
            <a:off x="1574967" y="3511776"/>
            <a:ext cx="5469255" cy="45275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2800" spc="-10" dirty="0">
                <a:solidFill>
                  <a:srgbClr val="C00000"/>
                </a:solidFill>
                <a:latin typeface="Calibri"/>
                <a:cs typeface="Calibri"/>
              </a:rPr>
              <a:t>Backward</a:t>
            </a:r>
            <a:r>
              <a:rPr sz="2800" spc="-114" dirty="0">
                <a:solidFill>
                  <a:srgbClr val="C00000"/>
                </a:solidFill>
                <a:latin typeface="Calibri"/>
                <a:cs typeface="Calibri"/>
              </a:rPr>
              <a:t> </a:t>
            </a:r>
            <a:r>
              <a:rPr sz="2800" spc="-10" dirty="0">
                <a:solidFill>
                  <a:srgbClr val="C00000"/>
                </a:solidFill>
                <a:latin typeface="Calibri"/>
                <a:cs typeface="Calibri"/>
              </a:rPr>
              <a:t>Pass</a:t>
            </a:r>
            <a:r>
              <a:rPr sz="2800" spc="-135" dirty="0">
                <a:solidFill>
                  <a:srgbClr val="C00000"/>
                </a:solidFill>
                <a:latin typeface="Calibri"/>
                <a:cs typeface="Calibri"/>
              </a:rPr>
              <a:t> </a:t>
            </a:r>
            <a:r>
              <a:rPr sz="2800" spc="-10" dirty="0">
                <a:solidFill>
                  <a:srgbClr val="C00000"/>
                </a:solidFill>
                <a:latin typeface="Calibri"/>
                <a:cs typeface="Calibri"/>
              </a:rPr>
              <a:t>(aka</a:t>
            </a:r>
            <a:r>
              <a:rPr sz="2800" spc="-150" dirty="0">
                <a:solidFill>
                  <a:srgbClr val="C00000"/>
                </a:solidFill>
                <a:latin typeface="Calibri"/>
                <a:cs typeface="Calibri"/>
              </a:rPr>
              <a:t> </a:t>
            </a:r>
            <a:r>
              <a:rPr sz="2800" spc="-20" dirty="0">
                <a:solidFill>
                  <a:srgbClr val="C00000"/>
                </a:solidFill>
                <a:latin typeface="Calibri"/>
                <a:cs typeface="Calibri"/>
              </a:rPr>
              <a:t>Backpropagation):</a:t>
            </a:r>
            <a:endParaRPr sz="2800">
              <a:latin typeface="Calibri"/>
              <a:cs typeface="Calibri"/>
            </a:endParaRPr>
          </a:p>
        </p:txBody>
      </p:sp>
      <p:grpSp>
        <p:nvGrpSpPr>
          <p:cNvPr id="13" name="object 11">
            <a:extLst>
              <a:ext uri="{FF2B5EF4-FFF2-40B4-BE49-F238E27FC236}">
                <a16:creationId xmlns:a16="http://schemas.microsoft.com/office/drawing/2014/main" id="{BDFF2A39-104D-052A-C445-8DCA4BE45DF8}"/>
              </a:ext>
            </a:extLst>
          </p:cNvPr>
          <p:cNvGrpSpPr/>
          <p:nvPr/>
        </p:nvGrpSpPr>
        <p:grpSpPr>
          <a:xfrm>
            <a:off x="4042578" y="2551239"/>
            <a:ext cx="934719" cy="175006"/>
            <a:chOff x="4495800" y="2684779"/>
            <a:chExt cx="934719" cy="175006"/>
          </a:xfrm>
        </p:grpSpPr>
        <p:pic>
          <p:nvPicPr>
            <p:cNvPr id="18" name="object 12">
              <a:extLst>
                <a:ext uri="{FF2B5EF4-FFF2-40B4-BE49-F238E27FC236}">
                  <a16:creationId xmlns:a16="http://schemas.microsoft.com/office/drawing/2014/main" id="{9E8E9869-8CBB-3CE3-5EFD-9A595998882D}"/>
                </a:ext>
              </a:extLst>
            </p:cNvPr>
            <p:cNvPicPr/>
            <p:nvPr/>
          </p:nvPicPr>
          <p:blipFill>
            <a:blip r:embed="rId3" cstate="print"/>
            <a:stretch>
              <a:fillRect/>
            </a:stretch>
          </p:blipFill>
          <p:spPr>
            <a:xfrm>
              <a:off x="5256530" y="2684779"/>
              <a:ext cx="115950" cy="175006"/>
            </a:xfrm>
            <a:prstGeom prst="rect">
              <a:avLst/>
            </a:prstGeom>
          </p:spPr>
        </p:pic>
        <p:sp>
          <p:nvSpPr>
            <p:cNvPr id="19" name="object 13">
              <a:extLst>
                <a:ext uri="{FF2B5EF4-FFF2-40B4-BE49-F238E27FC236}">
                  <a16:creationId xmlns:a16="http://schemas.microsoft.com/office/drawing/2014/main" id="{FE8DE0CA-0DBA-3BEC-6CE8-3FDD9FA1D8CF}"/>
                </a:ext>
              </a:extLst>
            </p:cNvPr>
            <p:cNvSpPr/>
            <p:nvPr/>
          </p:nvSpPr>
          <p:spPr>
            <a:xfrm>
              <a:off x="4495800" y="2743072"/>
              <a:ext cx="934719" cy="58419"/>
            </a:xfrm>
            <a:custGeom>
              <a:avLst/>
              <a:gdLst/>
              <a:ahLst/>
              <a:cxnLst/>
              <a:rect l="l" t="t" r="r" b="b"/>
              <a:pathLst>
                <a:path w="934720" h="58419">
                  <a:moveTo>
                    <a:pt x="760742" y="88"/>
                  </a:moveTo>
                  <a:lnTo>
                    <a:pt x="0" y="88"/>
                  </a:lnTo>
                  <a:lnTo>
                    <a:pt x="0" y="58420"/>
                  </a:lnTo>
                  <a:lnTo>
                    <a:pt x="760742" y="58420"/>
                  </a:lnTo>
                  <a:lnTo>
                    <a:pt x="760742" y="88"/>
                  </a:lnTo>
                  <a:close/>
                </a:path>
                <a:path w="934720" h="58419">
                  <a:moveTo>
                    <a:pt x="934720" y="29210"/>
                  </a:moveTo>
                  <a:lnTo>
                    <a:pt x="876681" y="0"/>
                  </a:lnTo>
                  <a:lnTo>
                    <a:pt x="789686" y="0"/>
                  </a:lnTo>
                  <a:lnTo>
                    <a:pt x="789686" y="58420"/>
                  </a:lnTo>
                  <a:lnTo>
                    <a:pt x="876681" y="58420"/>
                  </a:lnTo>
                  <a:lnTo>
                    <a:pt x="934720" y="29210"/>
                  </a:lnTo>
                  <a:close/>
                </a:path>
              </a:pathLst>
            </a:custGeom>
            <a:solidFill>
              <a:srgbClr val="000000"/>
            </a:solidFill>
          </p:spPr>
          <p:txBody>
            <a:bodyPr wrap="square" lIns="0" tIns="0" rIns="0" bIns="0" rtlCol="0"/>
            <a:lstStyle>
              <a:defPPr>
                <a:defRPr kern="0"/>
              </a:defPPr>
            </a:lstStyle>
            <a:p>
              <a:endParaRPr/>
            </a:p>
          </p:txBody>
        </p:sp>
      </p:grpSp>
      <p:sp>
        <p:nvSpPr>
          <p:cNvPr id="14" name="object 14">
            <a:extLst>
              <a:ext uri="{FF2B5EF4-FFF2-40B4-BE49-F238E27FC236}">
                <a16:creationId xmlns:a16="http://schemas.microsoft.com/office/drawing/2014/main" id="{07001AD0-6793-0951-D8F7-C8FBE72403D3}"/>
              </a:ext>
            </a:extLst>
          </p:cNvPr>
          <p:cNvSpPr txBox="1"/>
          <p:nvPr/>
        </p:nvSpPr>
        <p:spPr>
          <a:xfrm>
            <a:off x="4977298" y="4452909"/>
            <a:ext cx="1722120" cy="800100"/>
          </a:xfrm>
          <a:prstGeom prst="rect">
            <a:avLst/>
          </a:prstGeom>
          <a:ln w="19810">
            <a:solidFill>
              <a:srgbClr val="000000"/>
            </a:solidFill>
          </a:ln>
        </p:spPr>
        <p:txBody>
          <a:bodyPr vert="horz" wrap="square" lIns="0" tIns="41275" rIns="0" bIns="0" rtlCol="0">
            <a:spAutoFit/>
          </a:bodyPr>
          <a:lstStyle>
            <a:defPPr>
              <a:defRPr kern="0"/>
            </a:defPPr>
          </a:lstStyle>
          <a:p>
            <a:pPr marL="448309">
              <a:lnSpc>
                <a:spcPct val="100000"/>
              </a:lnSpc>
              <a:spcBef>
                <a:spcPts val="325"/>
              </a:spcBef>
            </a:pPr>
            <a:r>
              <a:rPr sz="2400" spc="-10" dirty="0">
                <a:latin typeface="Calibri"/>
                <a:cs typeface="Calibri"/>
              </a:rPr>
              <a:t>Neural</a:t>
            </a:r>
            <a:endParaRPr sz="2400">
              <a:latin typeface="Calibri"/>
              <a:cs typeface="Calibri"/>
            </a:endParaRPr>
          </a:p>
          <a:p>
            <a:pPr marL="326390">
              <a:lnSpc>
                <a:spcPct val="100000"/>
              </a:lnSpc>
            </a:pPr>
            <a:r>
              <a:rPr sz="2400" spc="-10" dirty="0">
                <a:latin typeface="Calibri"/>
                <a:cs typeface="Calibri"/>
              </a:rPr>
              <a:t>Network</a:t>
            </a:r>
            <a:endParaRPr sz="2400">
              <a:latin typeface="Calibri"/>
              <a:cs typeface="Calibri"/>
            </a:endParaRPr>
          </a:p>
        </p:txBody>
      </p:sp>
      <p:sp>
        <p:nvSpPr>
          <p:cNvPr id="15" name="object 15">
            <a:extLst>
              <a:ext uri="{FF2B5EF4-FFF2-40B4-BE49-F238E27FC236}">
                <a16:creationId xmlns:a16="http://schemas.microsoft.com/office/drawing/2014/main" id="{B74A9F3E-BFB4-9914-F865-D956F40A1AD5}"/>
              </a:ext>
            </a:extLst>
          </p:cNvPr>
          <p:cNvSpPr txBox="1"/>
          <p:nvPr/>
        </p:nvSpPr>
        <p:spPr>
          <a:xfrm>
            <a:off x="7631597" y="4452909"/>
            <a:ext cx="1676400" cy="800100"/>
          </a:xfrm>
          <a:prstGeom prst="rect">
            <a:avLst/>
          </a:prstGeom>
          <a:ln w="19810">
            <a:solidFill>
              <a:srgbClr val="000000"/>
            </a:solidFill>
          </a:ln>
        </p:spPr>
        <p:txBody>
          <a:bodyPr vert="horz" wrap="square" lIns="0" tIns="41275" rIns="0" bIns="0" rtlCol="0">
            <a:spAutoFit/>
          </a:bodyPr>
          <a:lstStyle>
            <a:defPPr>
              <a:defRPr kern="0"/>
            </a:defPPr>
          </a:lstStyle>
          <a:p>
            <a:pPr marL="292735">
              <a:lnSpc>
                <a:spcPct val="100000"/>
              </a:lnSpc>
              <a:spcBef>
                <a:spcPts val="325"/>
              </a:spcBef>
            </a:pPr>
            <a:r>
              <a:rPr sz="2400" spc="-10" dirty="0">
                <a:latin typeface="Calibri"/>
                <a:cs typeface="Calibri"/>
              </a:rPr>
              <a:t>Measure</a:t>
            </a:r>
            <a:endParaRPr sz="2400">
              <a:latin typeface="Calibri"/>
              <a:cs typeface="Calibri"/>
            </a:endParaRPr>
          </a:p>
          <a:p>
            <a:pPr marL="366395">
              <a:lnSpc>
                <a:spcPct val="100000"/>
              </a:lnSpc>
            </a:pPr>
            <a:r>
              <a:rPr sz="2400" dirty="0">
                <a:latin typeface="Calibri"/>
                <a:cs typeface="Calibri"/>
              </a:rPr>
              <a:t>of</a:t>
            </a:r>
            <a:r>
              <a:rPr sz="2400" spc="-70" dirty="0">
                <a:latin typeface="Calibri"/>
                <a:cs typeface="Calibri"/>
              </a:rPr>
              <a:t> </a:t>
            </a:r>
            <a:r>
              <a:rPr sz="2400" spc="-10" dirty="0">
                <a:latin typeface="Calibri"/>
                <a:cs typeface="Calibri"/>
              </a:rPr>
              <a:t>Error</a:t>
            </a:r>
            <a:endParaRPr sz="2400">
              <a:latin typeface="Calibri"/>
              <a:cs typeface="Calibri"/>
            </a:endParaRPr>
          </a:p>
        </p:txBody>
      </p:sp>
      <p:sp>
        <p:nvSpPr>
          <p:cNvPr id="16" name="object 16">
            <a:extLst>
              <a:ext uri="{FF2B5EF4-FFF2-40B4-BE49-F238E27FC236}">
                <a16:creationId xmlns:a16="http://schemas.microsoft.com/office/drawing/2014/main" id="{9B4B92C2-B2D6-51A2-3497-9E081615829D}"/>
              </a:ext>
            </a:extLst>
          </p:cNvPr>
          <p:cNvSpPr/>
          <p:nvPr/>
        </p:nvSpPr>
        <p:spPr>
          <a:xfrm>
            <a:off x="6696878" y="4811050"/>
            <a:ext cx="935355" cy="175260"/>
          </a:xfrm>
          <a:custGeom>
            <a:avLst/>
            <a:gdLst/>
            <a:ahLst/>
            <a:cxnLst/>
            <a:rect l="l" t="t" r="r" b="b"/>
            <a:pathLst>
              <a:path w="935354" h="175260">
                <a:moveTo>
                  <a:pt x="934732" y="58381"/>
                </a:moveTo>
                <a:lnTo>
                  <a:pt x="174028" y="58381"/>
                </a:lnTo>
                <a:lnTo>
                  <a:pt x="145034" y="58381"/>
                </a:lnTo>
                <a:lnTo>
                  <a:pt x="173990" y="58293"/>
                </a:lnTo>
                <a:lnTo>
                  <a:pt x="173990" y="0"/>
                </a:lnTo>
                <a:lnTo>
                  <a:pt x="0" y="87503"/>
                </a:lnTo>
                <a:lnTo>
                  <a:pt x="173990" y="175006"/>
                </a:lnTo>
                <a:lnTo>
                  <a:pt x="173990" y="116713"/>
                </a:lnTo>
                <a:lnTo>
                  <a:pt x="934732" y="116713"/>
                </a:lnTo>
                <a:lnTo>
                  <a:pt x="934732" y="58381"/>
                </a:lnTo>
                <a:close/>
              </a:path>
            </a:pathLst>
          </a:custGeom>
          <a:solidFill>
            <a:srgbClr val="000000"/>
          </a:solidFill>
        </p:spPr>
        <p:txBody>
          <a:bodyPr wrap="square" lIns="0" tIns="0" rIns="0" bIns="0" rtlCol="0"/>
          <a:lstStyle>
            <a:defPPr>
              <a:defRPr kern="0"/>
            </a:defPPr>
          </a:lstStyle>
          <a:p>
            <a:endParaRPr/>
          </a:p>
        </p:txBody>
      </p:sp>
      <p:sp>
        <p:nvSpPr>
          <p:cNvPr id="17" name="object 17">
            <a:extLst>
              <a:ext uri="{FF2B5EF4-FFF2-40B4-BE49-F238E27FC236}">
                <a16:creationId xmlns:a16="http://schemas.microsoft.com/office/drawing/2014/main" id="{349F66E3-9E80-864D-A803-4093A59B2B8C}"/>
              </a:ext>
            </a:extLst>
          </p:cNvPr>
          <p:cNvSpPr txBox="1"/>
          <p:nvPr/>
        </p:nvSpPr>
        <p:spPr>
          <a:xfrm>
            <a:off x="5971454" y="5420332"/>
            <a:ext cx="2321560" cy="33020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2000" spc="-10" dirty="0">
                <a:solidFill>
                  <a:srgbClr val="006EC0"/>
                </a:solidFill>
                <a:latin typeface="Calibri"/>
                <a:cs typeface="Calibri"/>
              </a:rPr>
              <a:t>Adjust</a:t>
            </a:r>
            <a:r>
              <a:rPr sz="2000" spc="-105" dirty="0">
                <a:solidFill>
                  <a:srgbClr val="006EC0"/>
                </a:solidFill>
                <a:latin typeface="Calibri"/>
                <a:cs typeface="Calibri"/>
              </a:rPr>
              <a:t> </a:t>
            </a:r>
            <a:r>
              <a:rPr sz="2000" dirty="0">
                <a:solidFill>
                  <a:srgbClr val="006EC0"/>
                </a:solidFill>
                <a:latin typeface="Calibri"/>
                <a:cs typeface="Calibri"/>
              </a:rPr>
              <a:t>to</a:t>
            </a:r>
            <a:r>
              <a:rPr sz="2000" spc="-90" dirty="0">
                <a:solidFill>
                  <a:srgbClr val="006EC0"/>
                </a:solidFill>
                <a:latin typeface="Calibri"/>
                <a:cs typeface="Calibri"/>
              </a:rPr>
              <a:t> </a:t>
            </a:r>
            <a:r>
              <a:rPr sz="2000" spc="-10" dirty="0">
                <a:solidFill>
                  <a:srgbClr val="006EC0"/>
                </a:solidFill>
                <a:latin typeface="Calibri"/>
                <a:cs typeface="Calibri"/>
              </a:rPr>
              <a:t>Reduce</a:t>
            </a:r>
            <a:r>
              <a:rPr sz="2000" spc="-70" dirty="0">
                <a:solidFill>
                  <a:srgbClr val="006EC0"/>
                </a:solidFill>
                <a:latin typeface="Calibri"/>
                <a:cs typeface="Calibri"/>
              </a:rPr>
              <a:t> </a:t>
            </a:r>
            <a:r>
              <a:rPr sz="2000" spc="-20" dirty="0">
                <a:solidFill>
                  <a:srgbClr val="006EC0"/>
                </a:solidFill>
                <a:latin typeface="Calibri"/>
                <a:cs typeface="Calibri"/>
              </a:rPr>
              <a:t>Error</a:t>
            </a:r>
            <a:endParaRPr sz="2000">
              <a:latin typeface="Calibri"/>
              <a:cs typeface="Calibri"/>
            </a:endParaRPr>
          </a:p>
        </p:txBody>
      </p:sp>
    </p:spTree>
    <p:extLst>
      <p:ext uri="{BB962C8B-B14F-4D97-AF65-F5344CB8AC3E}">
        <p14:creationId xmlns:p14="http://schemas.microsoft.com/office/powerpoint/2010/main" val="3164796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C2504-8A5D-689A-9442-C65869DE61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50F81-C8AE-0323-7B23-7A5F3296776D}"/>
              </a:ext>
            </a:extLst>
          </p:cNvPr>
          <p:cNvSpPr>
            <a:spLocks noGrp="1"/>
          </p:cNvSpPr>
          <p:nvPr>
            <p:ph type="title"/>
          </p:nvPr>
        </p:nvSpPr>
        <p:spPr>
          <a:xfrm>
            <a:off x="629500" y="277838"/>
            <a:ext cx="9097686" cy="1068223"/>
          </a:xfrm>
        </p:spPr>
        <p:txBody>
          <a:bodyPr/>
          <a:lstStyle/>
          <a:p>
            <a:r>
              <a:rPr lang="en-GB" sz="4400" spc="-10" dirty="0"/>
              <a:t>Feed Forward Neural Network</a:t>
            </a:r>
            <a:endParaRPr lang="en-US" dirty="0">
              <a:solidFill>
                <a:srgbClr val="942D6D"/>
              </a:solidFill>
            </a:endParaRPr>
          </a:p>
        </p:txBody>
      </p:sp>
      <p:cxnSp>
        <p:nvCxnSpPr>
          <p:cNvPr id="4" name="Straight Connector 3">
            <a:extLst>
              <a:ext uri="{FF2B5EF4-FFF2-40B4-BE49-F238E27FC236}">
                <a16:creationId xmlns:a16="http://schemas.microsoft.com/office/drawing/2014/main" id="{20BBAD05-8CBF-D24B-B487-C4407667D112}"/>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4C644A2F-C7A2-C852-CEB4-6EA3E1B14928}"/>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C4C94CFB-9BE4-C22E-9E0D-55B07A15EB6D}"/>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object 2">
            <a:extLst>
              <a:ext uri="{FF2B5EF4-FFF2-40B4-BE49-F238E27FC236}">
                <a16:creationId xmlns:a16="http://schemas.microsoft.com/office/drawing/2014/main" id="{ADB6C085-8429-190F-234F-5BC2CD8063BC}"/>
              </a:ext>
            </a:extLst>
          </p:cNvPr>
          <p:cNvPicPr/>
          <p:nvPr/>
        </p:nvPicPr>
        <p:blipFill>
          <a:blip r:embed="rId3" cstate="print"/>
          <a:stretch>
            <a:fillRect/>
          </a:stretch>
        </p:blipFill>
        <p:spPr>
          <a:xfrm>
            <a:off x="3219323" y="1346061"/>
            <a:ext cx="5753354" cy="4759692"/>
          </a:xfrm>
          <a:prstGeom prst="rect">
            <a:avLst/>
          </a:prstGeom>
        </p:spPr>
      </p:pic>
    </p:spTree>
    <p:extLst>
      <p:ext uri="{BB962C8B-B14F-4D97-AF65-F5344CB8AC3E}">
        <p14:creationId xmlns:p14="http://schemas.microsoft.com/office/powerpoint/2010/main" val="2579256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EF290-904F-C74C-FE1E-9F0E91F58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78CF8-3F03-0BAD-325E-D7C8283372D3}"/>
              </a:ext>
            </a:extLst>
          </p:cNvPr>
          <p:cNvSpPr>
            <a:spLocks noGrp="1"/>
          </p:cNvSpPr>
          <p:nvPr>
            <p:ph type="title"/>
          </p:nvPr>
        </p:nvSpPr>
        <p:spPr>
          <a:xfrm>
            <a:off x="629500" y="277838"/>
            <a:ext cx="9097686" cy="1068223"/>
          </a:xfrm>
        </p:spPr>
        <p:txBody>
          <a:bodyPr/>
          <a:lstStyle/>
          <a:p>
            <a:r>
              <a:rPr lang="en-GB" sz="4400" spc="-10" dirty="0"/>
              <a:t>Forward Propagation</a:t>
            </a:r>
            <a:endParaRPr lang="en-US" dirty="0">
              <a:solidFill>
                <a:srgbClr val="942D6D"/>
              </a:solidFill>
            </a:endParaRPr>
          </a:p>
        </p:txBody>
      </p:sp>
      <p:cxnSp>
        <p:nvCxnSpPr>
          <p:cNvPr id="4" name="Straight Connector 3">
            <a:extLst>
              <a:ext uri="{FF2B5EF4-FFF2-40B4-BE49-F238E27FC236}">
                <a16:creationId xmlns:a16="http://schemas.microsoft.com/office/drawing/2014/main" id="{A637CA89-31E9-8D03-A416-D476DD50C4CC}"/>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E8719BAD-FF2B-44F5-D29C-E41C52F1FBA7}"/>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10AA7B46-E2E9-CAD2-0026-CA06BC82660A}"/>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object 2">
            <a:extLst>
              <a:ext uri="{FF2B5EF4-FFF2-40B4-BE49-F238E27FC236}">
                <a16:creationId xmlns:a16="http://schemas.microsoft.com/office/drawing/2014/main" id="{C12AD83F-36A3-F026-88BD-E98E6415B3FA}"/>
              </a:ext>
            </a:extLst>
          </p:cNvPr>
          <p:cNvPicPr/>
          <p:nvPr/>
        </p:nvPicPr>
        <p:blipFill>
          <a:blip r:embed="rId3" cstate="print"/>
          <a:stretch>
            <a:fillRect/>
          </a:stretch>
        </p:blipFill>
        <p:spPr>
          <a:xfrm>
            <a:off x="3758876" y="1294653"/>
            <a:ext cx="6439067" cy="5076792"/>
          </a:xfrm>
          <a:prstGeom prst="rect">
            <a:avLst/>
          </a:prstGeom>
        </p:spPr>
      </p:pic>
      <p:sp>
        <p:nvSpPr>
          <p:cNvPr id="8" name="TextBox 3">
            <a:extLst>
              <a:ext uri="{FF2B5EF4-FFF2-40B4-BE49-F238E27FC236}">
                <a16:creationId xmlns:a16="http://schemas.microsoft.com/office/drawing/2014/main" id="{481719B5-38BB-FF88-97D8-A26CF8793DC5}"/>
              </a:ext>
            </a:extLst>
          </p:cNvPr>
          <p:cNvSpPr txBox="1"/>
          <p:nvPr/>
        </p:nvSpPr>
        <p:spPr>
          <a:xfrm>
            <a:off x="629500" y="1564161"/>
            <a:ext cx="2743200" cy="1631216"/>
          </a:xfrm>
          <a:prstGeom prst="rect">
            <a:avLst/>
          </a:prstGeom>
          <a:noFill/>
        </p:spPr>
        <p:txBody>
          <a:bodyPr wrap="square" rtlCol="0">
            <a:spAutoFit/>
          </a:bodyPr>
          <a:lstStyle>
            <a:defPPr>
              <a:defRPr kern="0"/>
            </a:defPPr>
          </a:lstStyle>
          <a:p>
            <a:r>
              <a:rPr lang="en-GB" sz="2000" b="0" i="0" u="none" strike="noStrike" dirty="0">
                <a:solidFill>
                  <a:srgbClr val="202124"/>
                </a:solidFill>
                <a:effectLst/>
                <a:latin typeface="Google Sans"/>
              </a:rPr>
              <a:t>Forward propagation is </a:t>
            </a:r>
            <a:r>
              <a:rPr lang="en-GB" sz="2000" b="0" i="0" u="none" strike="noStrike" dirty="0">
                <a:solidFill>
                  <a:srgbClr val="040C28"/>
                </a:solidFill>
                <a:effectLst/>
                <a:latin typeface="Google Sans"/>
              </a:rPr>
              <a:t>the way data moves from left (input layer) to right (output layer) in the neural network</a:t>
            </a:r>
            <a:endParaRPr lang="en-US" sz="2000" dirty="0"/>
          </a:p>
        </p:txBody>
      </p:sp>
    </p:spTree>
    <p:extLst>
      <p:ext uri="{BB962C8B-B14F-4D97-AF65-F5344CB8AC3E}">
        <p14:creationId xmlns:p14="http://schemas.microsoft.com/office/powerpoint/2010/main" val="10303215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3F55A-0698-E8B7-5458-9234C335A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2BB24-B7CE-8528-3DCE-86B5EEAFF14B}"/>
              </a:ext>
            </a:extLst>
          </p:cNvPr>
          <p:cNvSpPr>
            <a:spLocks noGrp="1"/>
          </p:cNvSpPr>
          <p:nvPr>
            <p:ph type="title"/>
          </p:nvPr>
        </p:nvSpPr>
        <p:spPr>
          <a:xfrm>
            <a:off x="629500" y="277838"/>
            <a:ext cx="9097686" cy="1068223"/>
          </a:xfrm>
        </p:spPr>
        <p:txBody>
          <a:bodyPr/>
          <a:lstStyle/>
          <a:p>
            <a:r>
              <a:rPr lang="en-GB" sz="4400" spc="-10" dirty="0"/>
              <a:t>Forward Propagation</a:t>
            </a:r>
            <a:endParaRPr lang="en-US" dirty="0">
              <a:solidFill>
                <a:srgbClr val="942D6D"/>
              </a:solidFill>
            </a:endParaRPr>
          </a:p>
        </p:txBody>
      </p:sp>
      <p:cxnSp>
        <p:nvCxnSpPr>
          <p:cNvPr id="4" name="Straight Connector 3">
            <a:extLst>
              <a:ext uri="{FF2B5EF4-FFF2-40B4-BE49-F238E27FC236}">
                <a16:creationId xmlns:a16="http://schemas.microsoft.com/office/drawing/2014/main" id="{11AEF567-6589-0393-2F20-5700032F3436}"/>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6CAD3AE7-65D2-E0A4-CA86-14D601D19FCA}"/>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42E89644-84E8-59B3-FA91-6FECA8BEEF4D}"/>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object 4">
            <a:extLst>
              <a:ext uri="{FF2B5EF4-FFF2-40B4-BE49-F238E27FC236}">
                <a16:creationId xmlns:a16="http://schemas.microsoft.com/office/drawing/2014/main" id="{3C6FBB3D-E45B-6D48-50C3-D44BC9BFCF8B}"/>
              </a:ext>
            </a:extLst>
          </p:cNvPr>
          <p:cNvPicPr/>
          <p:nvPr/>
        </p:nvPicPr>
        <p:blipFill>
          <a:blip r:embed="rId3" cstate="print"/>
          <a:stretch>
            <a:fillRect/>
          </a:stretch>
        </p:blipFill>
        <p:spPr>
          <a:xfrm>
            <a:off x="717035" y="1328746"/>
            <a:ext cx="4461308" cy="4708624"/>
          </a:xfrm>
          <a:prstGeom prst="rect">
            <a:avLst/>
          </a:prstGeom>
        </p:spPr>
      </p:pic>
      <p:pic>
        <p:nvPicPr>
          <p:cNvPr id="9" name="object 5">
            <a:extLst>
              <a:ext uri="{FF2B5EF4-FFF2-40B4-BE49-F238E27FC236}">
                <a16:creationId xmlns:a16="http://schemas.microsoft.com/office/drawing/2014/main" id="{CCDB5C98-0C02-C229-4BE5-42184EC293FC}"/>
              </a:ext>
            </a:extLst>
          </p:cNvPr>
          <p:cNvPicPr/>
          <p:nvPr/>
        </p:nvPicPr>
        <p:blipFill>
          <a:blip r:embed="rId4" cstate="print"/>
          <a:stretch>
            <a:fillRect/>
          </a:stretch>
        </p:blipFill>
        <p:spPr>
          <a:xfrm>
            <a:off x="5658157" y="1492749"/>
            <a:ext cx="3716059" cy="4397933"/>
          </a:xfrm>
          <a:prstGeom prst="rect">
            <a:avLst/>
          </a:prstGeom>
        </p:spPr>
      </p:pic>
    </p:spTree>
    <p:extLst>
      <p:ext uri="{BB962C8B-B14F-4D97-AF65-F5344CB8AC3E}">
        <p14:creationId xmlns:p14="http://schemas.microsoft.com/office/powerpoint/2010/main" val="1616729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5ABD4-7FFF-84F4-B970-2F889996D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FF812-38D7-0B49-0DC4-E750285CFF8A}"/>
              </a:ext>
            </a:extLst>
          </p:cNvPr>
          <p:cNvSpPr>
            <a:spLocks noGrp="1"/>
          </p:cNvSpPr>
          <p:nvPr>
            <p:ph type="title"/>
          </p:nvPr>
        </p:nvSpPr>
        <p:spPr>
          <a:xfrm>
            <a:off x="629500" y="277838"/>
            <a:ext cx="9097686" cy="1068223"/>
          </a:xfrm>
        </p:spPr>
        <p:txBody>
          <a:bodyPr/>
          <a:lstStyle/>
          <a:p>
            <a:r>
              <a:rPr lang="en-GB" sz="4400" spc="-10" dirty="0"/>
              <a:t>Back Propagation</a:t>
            </a:r>
            <a:endParaRPr lang="en-US" dirty="0">
              <a:solidFill>
                <a:srgbClr val="942D6D"/>
              </a:solidFill>
            </a:endParaRPr>
          </a:p>
        </p:txBody>
      </p:sp>
      <p:cxnSp>
        <p:nvCxnSpPr>
          <p:cNvPr id="4" name="Straight Connector 3">
            <a:extLst>
              <a:ext uri="{FF2B5EF4-FFF2-40B4-BE49-F238E27FC236}">
                <a16:creationId xmlns:a16="http://schemas.microsoft.com/office/drawing/2014/main" id="{A0F94478-33F1-8501-DA89-85AB5E037D52}"/>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AA8E1476-8261-EC98-1B6B-CEBC4C32457E}"/>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7E17E11F-E727-90C3-32E5-565A3C51A62B}"/>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object 3">
            <a:extLst>
              <a:ext uri="{FF2B5EF4-FFF2-40B4-BE49-F238E27FC236}">
                <a16:creationId xmlns:a16="http://schemas.microsoft.com/office/drawing/2014/main" id="{BE00373D-0D85-F9CC-9C33-7160C8487A39}"/>
              </a:ext>
            </a:extLst>
          </p:cNvPr>
          <p:cNvPicPr/>
          <p:nvPr/>
        </p:nvPicPr>
        <p:blipFill>
          <a:blip r:embed="rId3" cstate="print"/>
          <a:stretch>
            <a:fillRect/>
          </a:stretch>
        </p:blipFill>
        <p:spPr>
          <a:xfrm>
            <a:off x="4109986" y="1421296"/>
            <a:ext cx="5940849" cy="5004266"/>
          </a:xfrm>
          <a:prstGeom prst="rect">
            <a:avLst/>
          </a:prstGeom>
        </p:spPr>
      </p:pic>
      <p:sp>
        <p:nvSpPr>
          <p:cNvPr id="8" name="TextBox 3">
            <a:extLst>
              <a:ext uri="{FF2B5EF4-FFF2-40B4-BE49-F238E27FC236}">
                <a16:creationId xmlns:a16="http://schemas.microsoft.com/office/drawing/2014/main" id="{24C9571F-2A69-7CDC-BC32-9DB633A08FD9}"/>
              </a:ext>
            </a:extLst>
          </p:cNvPr>
          <p:cNvSpPr txBox="1"/>
          <p:nvPr/>
        </p:nvSpPr>
        <p:spPr>
          <a:xfrm>
            <a:off x="1047407" y="1570533"/>
            <a:ext cx="2754571" cy="2246769"/>
          </a:xfrm>
          <a:prstGeom prst="rect">
            <a:avLst/>
          </a:prstGeom>
          <a:noFill/>
        </p:spPr>
        <p:txBody>
          <a:bodyPr wrap="square" rtlCol="0">
            <a:spAutoFit/>
          </a:bodyPr>
          <a:lstStyle>
            <a:defPPr>
              <a:defRPr kern="0"/>
            </a:defPPr>
          </a:lstStyle>
          <a:p>
            <a:r>
              <a:rPr lang="en-US" sz="2000" dirty="0"/>
              <a:t>Backpropagation, or backward propagation of errors, is an algorithm that is designed to test for errors working back from output nodes to input nodes.</a:t>
            </a:r>
          </a:p>
        </p:txBody>
      </p:sp>
    </p:spTree>
    <p:extLst>
      <p:ext uri="{BB962C8B-B14F-4D97-AF65-F5344CB8AC3E}">
        <p14:creationId xmlns:p14="http://schemas.microsoft.com/office/powerpoint/2010/main" val="27646586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C99F2-0B9C-DDB5-C224-271D2BE6E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C120B-5B4C-0254-1759-37A86ACE8496}"/>
              </a:ext>
            </a:extLst>
          </p:cNvPr>
          <p:cNvSpPr>
            <a:spLocks noGrp="1"/>
          </p:cNvSpPr>
          <p:nvPr>
            <p:ph type="title"/>
          </p:nvPr>
        </p:nvSpPr>
        <p:spPr>
          <a:xfrm>
            <a:off x="629500" y="277838"/>
            <a:ext cx="9097686" cy="1068223"/>
          </a:xfrm>
        </p:spPr>
        <p:txBody>
          <a:bodyPr/>
          <a:lstStyle/>
          <a:p>
            <a:r>
              <a:rPr lang="en-GB" sz="4400" spc="-10" dirty="0"/>
              <a:t>Back Propagation</a:t>
            </a:r>
            <a:endParaRPr lang="en-US" dirty="0">
              <a:solidFill>
                <a:srgbClr val="942D6D"/>
              </a:solidFill>
            </a:endParaRPr>
          </a:p>
        </p:txBody>
      </p:sp>
      <p:cxnSp>
        <p:nvCxnSpPr>
          <p:cNvPr id="4" name="Straight Connector 3">
            <a:extLst>
              <a:ext uri="{FF2B5EF4-FFF2-40B4-BE49-F238E27FC236}">
                <a16:creationId xmlns:a16="http://schemas.microsoft.com/office/drawing/2014/main" id="{AF4F27D4-03BF-44FC-1FD1-31CD4736F6ED}"/>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972DCA74-525F-E866-2C05-74504498C3A7}"/>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413399F-5991-3987-AE63-F717AC040A30}"/>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object 3">
            <a:extLst>
              <a:ext uri="{FF2B5EF4-FFF2-40B4-BE49-F238E27FC236}">
                <a16:creationId xmlns:a16="http://schemas.microsoft.com/office/drawing/2014/main" id="{5D6C4BBC-893E-3CEC-5669-249404E23FF0}"/>
              </a:ext>
            </a:extLst>
          </p:cNvPr>
          <p:cNvPicPr/>
          <p:nvPr/>
        </p:nvPicPr>
        <p:blipFill>
          <a:blip r:embed="rId3" cstate="print"/>
          <a:stretch>
            <a:fillRect/>
          </a:stretch>
        </p:blipFill>
        <p:spPr>
          <a:xfrm>
            <a:off x="1689450" y="2388596"/>
            <a:ext cx="3325295" cy="2085454"/>
          </a:xfrm>
          <a:prstGeom prst="rect">
            <a:avLst/>
          </a:prstGeom>
        </p:spPr>
      </p:pic>
      <p:sp>
        <p:nvSpPr>
          <p:cNvPr id="9" name="object 4">
            <a:extLst>
              <a:ext uri="{FF2B5EF4-FFF2-40B4-BE49-F238E27FC236}">
                <a16:creationId xmlns:a16="http://schemas.microsoft.com/office/drawing/2014/main" id="{EF4F73C6-F44F-A6CB-5D55-7FBCF470A625}"/>
              </a:ext>
            </a:extLst>
          </p:cNvPr>
          <p:cNvSpPr txBox="1"/>
          <p:nvPr/>
        </p:nvSpPr>
        <p:spPr>
          <a:xfrm>
            <a:off x="6284245" y="2383949"/>
            <a:ext cx="4218305"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dirty="0">
                <a:latin typeface="Calibri"/>
                <a:cs typeface="Calibri"/>
              </a:rPr>
              <a:t>Repeat</a:t>
            </a:r>
            <a:r>
              <a:rPr sz="1800" spc="-25" dirty="0">
                <a:latin typeface="Calibri"/>
                <a:cs typeface="Calibri"/>
              </a:rPr>
              <a:t> </a:t>
            </a:r>
            <a:r>
              <a:rPr sz="1800" dirty="0">
                <a:latin typeface="Calibri"/>
                <a:cs typeface="Calibri"/>
              </a:rPr>
              <a:t>until</a:t>
            </a:r>
            <a:r>
              <a:rPr sz="1800" spc="-35" dirty="0">
                <a:latin typeface="Calibri"/>
                <a:cs typeface="Calibri"/>
              </a:rPr>
              <a:t> </a:t>
            </a:r>
            <a:r>
              <a:rPr sz="1800" dirty="0">
                <a:latin typeface="Calibri"/>
                <a:cs typeface="Calibri"/>
              </a:rPr>
              <a:t>error</a:t>
            </a:r>
            <a:r>
              <a:rPr sz="1800" spc="-45" dirty="0">
                <a:latin typeface="Calibri"/>
                <a:cs typeface="Calibri"/>
              </a:rPr>
              <a:t> </a:t>
            </a:r>
            <a:r>
              <a:rPr sz="1800" spc="-10" dirty="0">
                <a:latin typeface="Calibri"/>
                <a:cs typeface="Calibri"/>
              </a:rPr>
              <a:t>derivative</a:t>
            </a:r>
            <a:r>
              <a:rPr sz="1800" spc="-45" dirty="0">
                <a:latin typeface="Calibri"/>
                <a:cs typeface="Calibri"/>
              </a:rPr>
              <a:t> </a:t>
            </a:r>
            <a:r>
              <a:rPr sz="1800" dirty="0">
                <a:latin typeface="Calibri"/>
                <a:cs typeface="Calibri"/>
              </a:rPr>
              <a:t>is</a:t>
            </a:r>
            <a:r>
              <a:rPr sz="1800" spc="-55" dirty="0">
                <a:latin typeface="Calibri"/>
                <a:cs typeface="Calibri"/>
              </a:rPr>
              <a:t> </a:t>
            </a:r>
            <a:r>
              <a:rPr sz="1800" dirty="0">
                <a:latin typeface="Calibri"/>
                <a:cs typeface="Calibri"/>
              </a:rPr>
              <a:t>closest</a:t>
            </a:r>
            <a:r>
              <a:rPr sz="1800" spc="-40" dirty="0">
                <a:latin typeface="Calibri"/>
                <a:cs typeface="Calibri"/>
              </a:rPr>
              <a:t> </a:t>
            </a:r>
            <a:r>
              <a:rPr sz="1800" dirty="0">
                <a:latin typeface="Calibri"/>
                <a:cs typeface="Calibri"/>
              </a:rPr>
              <a:t>to</a:t>
            </a:r>
            <a:r>
              <a:rPr sz="1800" spc="-45" dirty="0">
                <a:latin typeface="Calibri"/>
                <a:cs typeface="Calibri"/>
              </a:rPr>
              <a:t> </a:t>
            </a:r>
            <a:r>
              <a:rPr sz="1800" spc="-20" dirty="0">
                <a:latin typeface="Calibri"/>
                <a:cs typeface="Calibri"/>
              </a:rPr>
              <a:t>zero</a:t>
            </a:r>
            <a:endParaRPr sz="1800">
              <a:latin typeface="Calibri"/>
              <a:cs typeface="Calibri"/>
            </a:endParaRPr>
          </a:p>
        </p:txBody>
      </p:sp>
    </p:spTree>
    <p:extLst>
      <p:ext uri="{BB962C8B-B14F-4D97-AF65-F5344CB8AC3E}">
        <p14:creationId xmlns:p14="http://schemas.microsoft.com/office/powerpoint/2010/main" val="3684812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FD719-21FC-E83A-C8F0-460BDEC9F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61954-7FC0-25C4-4C2F-C67919D9EF9C}"/>
              </a:ext>
            </a:extLst>
          </p:cNvPr>
          <p:cNvSpPr>
            <a:spLocks noGrp="1"/>
          </p:cNvSpPr>
          <p:nvPr>
            <p:ph type="title"/>
          </p:nvPr>
        </p:nvSpPr>
        <p:spPr>
          <a:xfrm>
            <a:off x="629500" y="277838"/>
            <a:ext cx="9188268" cy="1068223"/>
          </a:xfrm>
        </p:spPr>
        <p:txBody>
          <a:bodyPr/>
          <a:lstStyle/>
          <a:p>
            <a:r>
              <a:rPr lang="en-GB" sz="4400" spc="-10" dirty="0"/>
              <a:t>Back propagation</a:t>
            </a:r>
            <a:r>
              <a:rPr lang="en-GB" sz="4400" spc="-90" dirty="0"/>
              <a:t> </a:t>
            </a:r>
            <a:r>
              <a:rPr lang="en-GB" sz="4400" dirty="0"/>
              <a:t>–</a:t>
            </a:r>
            <a:r>
              <a:rPr lang="en-GB" sz="4400" spc="-80" dirty="0"/>
              <a:t> </a:t>
            </a:r>
            <a:r>
              <a:rPr lang="en-GB" sz="4400" dirty="0"/>
              <a:t>Loss</a:t>
            </a:r>
            <a:r>
              <a:rPr lang="en-GB" sz="4400" spc="-60" dirty="0"/>
              <a:t> </a:t>
            </a:r>
            <a:r>
              <a:rPr lang="en-GB" sz="4400" spc="-10" dirty="0"/>
              <a:t>Function</a:t>
            </a:r>
            <a:endParaRPr lang="en-US" dirty="0">
              <a:solidFill>
                <a:srgbClr val="942D6D"/>
              </a:solidFill>
            </a:endParaRPr>
          </a:p>
        </p:txBody>
      </p:sp>
      <p:cxnSp>
        <p:nvCxnSpPr>
          <p:cNvPr id="4" name="Straight Connector 3">
            <a:extLst>
              <a:ext uri="{FF2B5EF4-FFF2-40B4-BE49-F238E27FC236}">
                <a16:creationId xmlns:a16="http://schemas.microsoft.com/office/drawing/2014/main" id="{FC0D044B-E999-86D8-0B96-A06C52E32EF4}"/>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064F2AA-2D68-24F9-6344-1A96099EBE1D}"/>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C6300117-E1C5-84AB-D701-FA76AB78E3FC}"/>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3" name="object 3">
            <a:extLst>
              <a:ext uri="{FF2B5EF4-FFF2-40B4-BE49-F238E27FC236}">
                <a16:creationId xmlns:a16="http://schemas.microsoft.com/office/drawing/2014/main" id="{494FFB5C-7BEE-CB52-40FE-1C14269705D3}"/>
              </a:ext>
            </a:extLst>
          </p:cNvPr>
          <p:cNvSpPr txBox="1"/>
          <p:nvPr/>
        </p:nvSpPr>
        <p:spPr>
          <a:xfrm>
            <a:off x="1731962" y="1561021"/>
            <a:ext cx="8728075" cy="1476375"/>
          </a:xfrm>
          <a:prstGeom prst="rect">
            <a:avLst/>
          </a:prstGeom>
        </p:spPr>
        <p:txBody>
          <a:bodyPr vert="horz" wrap="square" lIns="0" tIns="12700" rIns="0" bIns="0" rtlCol="0">
            <a:spAutoFit/>
          </a:bodyPr>
          <a:lstStyle>
            <a:defPPr>
              <a:defRPr kern="0"/>
            </a:defPPr>
          </a:lstStyle>
          <a:p>
            <a:pPr marL="240665" indent="-227965">
              <a:lnSpc>
                <a:spcPct val="100000"/>
              </a:lnSpc>
              <a:spcBef>
                <a:spcPts val="100"/>
              </a:spcBef>
              <a:buFont typeface="Arial"/>
              <a:buChar char="•"/>
              <a:tabLst>
                <a:tab pos="240665" algn="l"/>
              </a:tabLst>
            </a:pPr>
            <a:r>
              <a:rPr sz="2800" dirty="0">
                <a:latin typeface="Calibri"/>
                <a:cs typeface="Calibri"/>
              </a:rPr>
              <a:t>Measure</a:t>
            </a:r>
            <a:r>
              <a:rPr sz="2800" spc="-95" dirty="0">
                <a:latin typeface="Calibri"/>
                <a:cs typeface="Calibri"/>
              </a:rPr>
              <a:t> </a:t>
            </a:r>
            <a:r>
              <a:rPr sz="2800" dirty="0">
                <a:latin typeface="Calibri"/>
                <a:cs typeface="Calibri"/>
              </a:rPr>
              <a:t>loss</a:t>
            </a:r>
            <a:r>
              <a:rPr sz="2800" spc="-55" dirty="0">
                <a:latin typeface="Calibri"/>
                <a:cs typeface="Calibri"/>
              </a:rPr>
              <a:t> </a:t>
            </a:r>
            <a:r>
              <a:rPr sz="2800" dirty="0">
                <a:latin typeface="Calibri"/>
                <a:cs typeface="Calibri"/>
              </a:rPr>
              <a:t>between</a:t>
            </a:r>
            <a:r>
              <a:rPr sz="2800" spc="-110"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predicted</a:t>
            </a:r>
            <a:r>
              <a:rPr sz="2800" spc="-85" dirty="0">
                <a:latin typeface="Calibri"/>
                <a:cs typeface="Calibri"/>
              </a:rPr>
              <a:t> </a:t>
            </a:r>
            <a:r>
              <a:rPr sz="2800" dirty="0">
                <a:latin typeface="Calibri"/>
                <a:cs typeface="Calibri"/>
              </a:rPr>
              <a:t>and</a:t>
            </a:r>
            <a:r>
              <a:rPr sz="2800" spc="-60" dirty="0">
                <a:latin typeface="Calibri"/>
                <a:cs typeface="Calibri"/>
              </a:rPr>
              <a:t> </a:t>
            </a:r>
            <a:r>
              <a:rPr sz="2800" dirty="0">
                <a:latin typeface="Calibri"/>
                <a:cs typeface="Calibri"/>
              </a:rPr>
              <a:t>the</a:t>
            </a:r>
            <a:r>
              <a:rPr sz="2800" spc="-90" dirty="0">
                <a:latin typeface="Calibri"/>
                <a:cs typeface="Calibri"/>
              </a:rPr>
              <a:t> </a:t>
            </a:r>
            <a:r>
              <a:rPr sz="2800" dirty="0">
                <a:latin typeface="Calibri"/>
                <a:cs typeface="Calibri"/>
              </a:rPr>
              <a:t>target</a:t>
            </a:r>
            <a:r>
              <a:rPr sz="2800" spc="-75" dirty="0">
                <a:latin typeface="Calibri"/>
                <a:cs typeface="Calibri"/>
              </a:rPr>
              <a:t> </a:t>
            </a:r>
            <a:r>
              <a:rPr sz="2800" spc="-10" dirty="0">
                <a:latin typeface="Calibri"/>
                <a:cs typeface="Calibri"/>
              </a:rPr>
              <a:t>output</a:t>
            </a:r>
            <a:endParaRPr sz="2800">
              <a:latin typeface="Calibri"/>
              <a:cs typeface="Calibri"/>
            </a:endParaRPr>
          </a:p>
          <a:p>
            <a:pPr>
              <a:lnSpc>
                <a:spcPct val="100000"/>
              </a:lnSpc>
              <a:spcBef>
                <a:spcPts val="1280"/>
              </a:spcBef>
              <a:buFont typeface="Arial"/>
              <a:buChar char="•"/>
            </a:pPr>
            <a:endParaRPr sz="2800">
              <a:latin typeface="Calibri"/>
              <a:cs typeface="Calibri"/>
            </a:endParaRPr>
          </a:p>
          <a:p>
            <a:pPr marL="240665" indent="-227965">
              <a:lnSpc>
                <a:spcPct val="100000"/>
              </a:lnSpc>
              <a:spcBef>
                <a:spcPts val="5"/>
              </a:spcBef>
              <a:buFont typeface="Arial"/>
              <a:buChar char="•"/>
              <a:tabLst>
                <a:tab pos="240665" algn="l"/>
              </a:tabLst>
            </a:pPr>
            <a:r>
              <a:rPr sz="2800" dirty="0">
                <a:latin typeface="Calibri"/>
                <a:cs typeface="Calibri"/>
              </a:rPr>
              <a:t>Mean</a:t>
            </a:r>
            <a:r>
              <a:rPr sz="2800" spc="-70" dirty="0">
                <a:latin typeface="Calibri"/>
                <a:cs typeface="Calibri"/>
              </a:rPr>
              <a:t> </a:t>
            </a:r>
            <a:r>
              <a:rPr sz="2800" dirty="0">
                <a:latin typeface="Calibri"/>
                <a:cs typeface="Calibri"/>
              </a:rPr>
              <a:t>Squared</a:t>
            </a:r>
            <a:r>
              <a:rPr sz="2800" spc="-65" dirty="0">
                <a:latin typeface="Calibri"/>
                <a:cs typeface="Calibri"/>
              </a:rPr>
              <a:t> </a:t>
            </a:r>
            <a:r>
              <a:rPr sz="2800" dirty="0">
                <a:latin typeface="Calibri"/>
                <a:cs typeface="Calibri"/>
              </a:rPr>
              <a:t>Error</a:t>
            </a:r>
            <a:r>
              <a:rPr sz="2800" spc="-80" dirty="0">
                <a:latin typeface="Calibri"/>
                <a:cs typeface="Calibri"/>
              </a:rPr>
              <a:t> </a:t>
            </a:r>
            <a:r>
              <a:rPr sz="2800" dirty="0">
                <a:latin typeface="Calibri"/>
                <a:cs typeface="Calibri"/>
              </a:rPr>
              <a:t>Loss</a:t>
            </a:r>
            <a:r>
              <a:rPr sz="2800" spc="-55" dirty="0">
                <a:latin typeface="Calibri"/>
                <a:cs typeface="Calibri"/>
              </a:rPr>
              <a:t> </a:t>
            </a:r>
            <a:r>
              <a:rPr sz="2800" spc="-10" dirty="0">
                <a:latin typeface="Calibri"/>
                <a:cs typeface="Calibri"/>
              </a:rPr>
              <a:t>function</a:t>
            </a:r>
            <a:endParaRPr sz="2800">
              <a:latin typeface="Calibri"/>
              <a:cs typeface="Calibri"/>
            </a:endParaRPr>
          </a:p>
        </p:txBody>
      </p:sp>
      <p:pic>
        <p:nvPicPr>
          <p:cNvPr id="8" name="object 4">
            <a:extLst>
              <a:ext uri="{FF2B5EF4-FFF2-40B4-BE49-F238E27FC236}">
                <a16:creationId xmlns:a16="http://schemas.microsoft.com/office/drawing/2014/main" id="{F4767725-DFB5-0B5F-4E46-C5D3392BC1F4}"/>
              </a:ext>
            </a:extLst>
          </p:cNvPr>
          <p:cNvPicPr/>
          <p:nvPr/>
        </p:nvPicPr>
        <p:blipFill>
          <a:blip r:embed="rId3" cstate="print"/>
          <a:stretch>
            <a:fillRect/>
          </a:stretch>
        </p:blipFill>
        <p:spPr>
          <a:xfrm>
            <a:off x="5147945" y="3821240"/>
            <a:ext cx="3096260" cy="1475740"/>
          </a:xfrm>
          <a:prstGeom prst="rect">
            <a:avLst/>
          </a:prstGeom>
        </p:spPr>
      </p:pic>
    </p:spTree>
    <p:extLst>
      <p:ext uri="{BB962C8B-B14F-4D97-AF65-F5344CB8AC3E}">
        <p14:creationId xmlns:p14="http://schemas.microsoft.com/office/powerpoint/2010/main" val="30378029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2C44-BD3F-5C38-C529-2E22DDEF7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18661-B37D-FADF-24E4-F20C44B48C11}"/>
              </a:ext>
            </a:extLst>
          </p:cNvPr>
          <p:cNvSpPr>
            <a:spLocks noGrp="1"/>
          </p:cNvSpPr>
          <p:nvPr>
            <p:ph type="title"/>
          </p:nvPr>
        </p:nvSpPr>
        <p:spPr>
          <a:xfrm>
            <a:off x="629500" y="277838"/>
            <a:ext cx="9188268" cy="1068223"/>
          </a:xfrm>
        </p:spPr>
        <p:txBody>
          <a:bodyPr/>
          <a:lstStyle/>
          <a:p>
            <a:r>
              <a:rPr lang="en-GB" sz="4400" dirty="0"/>
              <a:t>Loss</a:t>
            </a:r>
            <a:r>
              <a:rPr lang="en-GB" sz="4400" spc="-65" dirty="0"/>
              <a:t> </a:t>
            </a:r>
            <a:r>
              <a:rPr lang="en-GB" sz="4400" dirty="0"/>
              <a:t>Function</a:t>
            </a:r>
            <a:r>
              <a:rPr lang="en-GB" sz="4400" spc="-35" dirty="0"/>
              <a:t> </a:t>
            </a:r>
            <a:r>
              <a:rPr lang="en-GB" sz="4400" dirty="0"/>
              <a:t>- </a:t>
            </a:r>
            <a:r>
              <a:rPr lang="en-GB" sz="4400" spc="-10" dirty="0"/>
              <a:t>Regression</a:t>
            </a:r>
            <a:endParaRPr lang="en-US" dirty="0">
              <a:solidFill>
                <a:srgbClr val="942D6D"/>
              </a:solidFill>
            </a:endParaRPr>
          </a:p>
        </p:txBody>
      </p:sp>
      <p:cxnSp>
        <p:nvCxnSpPr>
          <p:cNvPr id="4" name="Straight Connector 3">
            <a:extLst>
              <a:ext uri="{FF2B5EF4-FFF2-40B4-BE49-F238E27FC236}">
                <a16:creationId xmlns:a16="http://schemas.microsoft.com/office/drawing/2014/main" id="{B0720715-7C2E-801B-1BCA-2BB7291A7769}"/>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99B4FE02-4E27-0860-8B4E-0062D20B7970}"/>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AA0F9186-9060-17A1-68BE-23F79607DDB6}"/>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3">
            <a:extLst>
              <a:ext uri="{FF2B5EF4-FFF2-40B4-BE49-F238E27FC236}">
                <a16:creationId xmlns:a16="http://schemas.microsoft.com/office/drawing/2014/main" id="{ABAC1627-ED33-8154-FD72-CFEC83999DAD}"/>
              </a:ext>
            </a:extLst>
          </p:cNvPr>
          <p:cNvSpPr txBox="1"/>
          <p:nvPr/>
        </p:nvSpPr>
        <p:spPr>
          <a:xfrm>
            <a:off x="718979" y="1488137"/>
            <a:ext cx="4016375" cy="4046220"/>
          </a:xfrm>
          <a:prstGeom prst="rect">
            <a:avLst/>
          </a:prstGeom>
        </p:spPr>
        <p:txBody>
          <a:bodyPr vert="horz" wrap="square" lIns="0" tIns="71755" rIns="0" bIns="0" rtlCol="0">
            <a:spAutoFit/>
          </a:bodyPr>
          <a:lstStyle>
            <a:defPPr>
              <a:defRPr kern="0"/>
            </a:defPPr>
          </a:lstStyle>
          <a:p>
            <a:pPr marL="240665" indent="-227965">
              <a:lnSpc>
                <a:spcPct val="100000"/>
              </a:lnSpc>
              <a:spcBef>
                <a:spcPts val="565"/>
              </a:spcBef>
              <a:buClr>
                <a:srgbClr val="D00000"/>
              </a:buClr>
              <a:buFont typeface="Arial"/>
              <a:buChar char="•"/>
              <a:tabLst>
                <a:tab pos="240665" algn="l"/>
              </a:tabLst>
            </a:pPr>
            <a:r>
              <a:rPr sz="1500" u="sng" spc="-10" dirty="0">
                <a:solidFill>
                  <a:srgbClr val="0462C1"/>
                </a:solidFill>
                <a:uFill>
                  <a:solidFill>
                    <a:srgbClr val="0462C1"/>
                  </a:solidFill>
                </a:uFill>
                <a:latin typeface="Lucida Sans Unicode"/>
                <a:cs typeface="Lucida Sans Unicode"/>
                <a:hlinkClick r:id="rId3"/>
              </a:rPr>
              <a:t>MeanSquaredError</a:t>
            </a:r>
            <a:r>
              <a:rPr sz="1500" u="sng" spc="-40" dirty="0">
                <a:solidFill>
                  <a:srgbClr val="0462C1"/>
                </a:solidFill>
                <a:uFill>
                  <a:solidFill>
                    <a:srgbClr val="0462C1"/>
                  </a:solidFill>
                </a:uFill>
                <a:latin typeface="Lucida Sans Unicode"/>
                <a:cs typeface="Lucida Sans Unicode"/>
                <a:hlinkClick r:id="rId3"/>
              </a:rPr>
              <a:t> </a:t>
            </a:r>
            <a:r>
              <a:rPr sz="1500" u="sng" spc="-20" dirty="0">
                <a:solidFill>
                  <a:srgbClr val="0462C1"/>
                </a:solidFill>
                <a:uFill>
                  <a:solidFill>
                    <a:srgbClr val="0462C1"/>
                  </a:solidFill>
                </a:uFill>
                <a:latin typeface="Lucida Sans Unicode"/>
                <a:cs typeface="Lucida Sans Unicode"/>
                <a:hlinkClick r:id="rId3"/>
              </a:rPr>
              <a:t>class</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25" dirty="0">
                <a:solidFill>
                  <a:srgbClr val="0462C1"/>
                </a:solidFill>
                <a:uFill>
                  <a:solidFill>
                    <a:srgbClr val="0462C1"/>
                  </a:solidFill>
                </a:uFill>
                <a:latin typeface="Lucida Sans Unicode"/>
                <a:cs typeface="Lucida Sans Unicode"/>
                <a:hlinkClick r:id="rId4"/>
              </a:rPr>
              <a:t>MeanAbsoluteError </a:t>
            </a:r>
            <a:r>
              <a:rPr sz="1500" u="sng" spc="-20" dirty="0">
                <a:solidFill>
                  <a:srgbClr val="0462C1"/>
                </a:solidFill>
                <a:uFill>
                  <a:solidFill>
                    <a:srgbClr val="0462C1"/>
                  </a:solidFill>
                </a:uFill>
                <a:latin typeface="Lucida Sans Unicode"/>
                <a:cs typeface="Lucida Sans Unicode"/>
                <a:hlinkClick r:id="rId4"/>
              </a:rPr>
              <a:t>class</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25" dirty="0">
                <a:solidFill>
                  <a:srgbClr val="0462C1"/>
                </a:solidFill>
                <a:uFill>
                  <a:solidFill>
                    <a:srgbClr val="0462C1"/>
                  </a:solidFill>
                </a:uFill>
                <a:latin typeface="Lucida Sans Unicode"/>
                <a:cs typeface="Lucida Sans Unicode"/>
                <a:hlinkClick r:id="rId5"/>
              </a:rPr>
              <a:t>MeanAbsolutePercentageError</a:t>
            </a:r>
            <a:r>
              <a:rPr sz="1500" u="sng" spc="20" dirty="0">
                <a:solidFill>
                  <a:srgbClr val="0462C1"/>
                </a:solidFill>
                <a:uFill>
                  <a:solidFill>
                    <a:srgbClr val="0462C1"/>
                  </a:solidFill>
                </a:uFill>
                <a:latin typeface="Lucida Sans Unicode"/>
                <a:cs typeface="Lucida Sans Unicode"/>
                <a:hlinkClick r:id="rId5"/>
              </a:rPr>
              <a:t> </a:t>
            </a:r>
            <a:r>
              <a:rPr sz="1500" u="sng" spc="-20" dirty="0">
                <a:solidFill>
                  <a:srgbClr val="0462C1"/>
                </a:solidFill>
                <a:uFill>
                  <a:solidFill>
                    <a:srgbClr val="0462C1"/>
                  </a:solidFill>
                </a:uFill>
                <a:latin typeface="Lucida Sans Unicode"/>
                <a:cs typeface="Lucida Sans Unicode"/>
                <a:hlinkClick r:id="rId5"/>
              </a:rPr>
              <a:t>class</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25" dirty="0">
                <a:solidFill>
                  <a:srgbClr val="0462C1"/>
                </a:solidFill>
                <a:uFill>
                  <a:solidFill>
                    <a:srgbClr val="0462C1"/>
                  </a:solidFill>
                </a:uFill>
                <a:latin typeface="Lucida Sans Unicode"/>
                <a:cs typeface="Lucida Sans Unicode"/>
                <a:hlinkClick r:id="rId6"/>
              </a:rPr>
              <a:t>MeanSquaredLogarithmicError</a:t>
            </a:r>
            <a:r>
              <a:rPr sz="1500" u="sng" spc="20" dirty="0">
                <a:solidFill>
                  <a:srgbClr val="0462C1"/>
                </a:solidFill>
                <a:uFill>
                  <a:solidFill>
                    <a:srgbClr val="0462C1"/>
                  </a:solidFill>
                </a:uFill>
                <a:latin typeface="Lucida Sans Unicode"/>
                <a:cs typeface="Lucida Sans Unicode"/>
                <a:hlinkClick r:id="rId6"/>
              </a:rPr>
              <a:t> </a:t>
            </a:r>
            <a:r>
              <a:rPr sz="1500" u="sng" spc="-10" dirty="0">
                <a:solidFill>
                  <a:srgbClr val="0462C1"/>
                </a:solidFill>
                <a:uFill>
                  <a:solidFill>
                    <a:srgbClr val="0462C1"/>
                  </a:solidFill>
                </a:uFill>
                <a:latin typeface="Lucida Sans Unicode"/>
                <a:cs typeface="Lucida Sans Unicode"/>
                <a:hlinkClick r:id="rId6"/>
              </a:rPr>
              <a:t>class</a:t>
            </a:r>
            <a:endParaRPr sz="1500">
              <a:latin typeface="Lucida Sans Unicode"/>
              <a:cs typeface="Lucida Sans Unicode"/>
            </a:endParaRPr>
          </a:p>
          <a:p>
            <a:pPr marL="240665" indent="-227965">
              <a:lnSpc>
                <a:spcPct val="100000"/>
              </a:lnSpc>
              <a:spcBef>
                <a:spcPts val="464"/>
              </a:spcBef>
              <a:buClr>
                <a:srgbClr val="D00000"/>
              </a:buClr>
              <a:buFont typeface="Arial"/>
              <a:buChar char="•"/>
              <a:tabLst>
                <a:tab pos="240665" algn="l"/>
              </a:tabLst>
            </a:pPr>
            <a:r>
              <a:rPr sz="1500" u="sng" spc="-45" dirty="0">
                <a:solidFill>
                  <a:srgbClr val="0462C1"/>
                </a:solidFill>
                <a:uFill>
                  <a:solidFill>
                    <a:srgbClr val="0462C1"/>
                  </a:solidFill>
                </a:uFill>
                <a:latin typeface="Lucida Sans Unicode"/>
                <a:cs typeface="Lucida Sans Unicode"/>
                <a:hlinkClick r:id="rId7"/>
              </a:rPr>
              <a:t>CosineSimilarity</a:t>
            </a:r>
            <a:r>
              <a:rPr sz="1500" u="sng" spc="-5" dirty="0">
                <a:solidFill>
                  <a:srgbClr val="0462C1"/>
                </a:solidFill>
                <a:uFill>
                  <a:solidFill>
                    <a:srgbClr val="0462C1"/>
                  </a:solidFill>
                </a:uFill>
                <a:latin typeface="Lucida Sans Unicode"/>
                <a:cs typeface="Lucida Sans Unicode"/>
                <a:hlinkClick r:id="rId7"/>
              </a:rPr>
              <a:t> </a:t>
            </a:r>
            <a:r>
              <a:rPr sz="1500" u="sng" spc="-20" dirty="0">
                <a:solidFill>
                  <a:srgbClr val="0462C1"/>
                </a:solidFill>
                <a:uFill>
                  <a:solidFill>
                    <a:srgbClr val="0462C1"/>
                  </a:solidFill>
                </a:uFill>
                <a:latin typeface="Lucida Sans Unicode"/>
                <a:cs typeface="Lucida Sans Unicode"/>
                <a:hlinkClick r:id="rId7"/>
              </a:rPr>
              <a:t>class</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30" dirty="0">
                <a:solidFill>
                  <a:srgbClr val="0462C1"/>
                </a:solidFill>
                <a:uFill>
                  <a:solidFill>
                    <a:srgbClr val="0462C1"/>
                  </a:solidFill>
                </a:uFill>
                <a:latin typeface="Lucida Sans Unicode"/>
                <a:cs typeface="Lucida Sans Unicode"/>
                <a:hlinkClick r:id="rId8"/>
              </a:rPr>
              <a:t>mean_squared_error</a:t>
            </a:r>
            <a:r>
              <a:rPr sz="1500" u="sng" spc="-15" dirty="0">
                <a:solidFill>
                  <a:srgbClr val="0462C1"/>
                </a:solidFill>
                <a:uFill>
                  <a:solidFill>
                    <a:srgbClr val="0462C1"/>
                  </a:solidFill>
                </a:uFill>
                <a:latin typeface="Lucida Sans Unicode"/>
                <a:cs typeface="Lucida Sans Unicode"/>
                <a:hlinkClick r:id="rId8"/>
              </a:rPr>
              <a:t> </a:t>
            </a:r>
            <a:r>
              <a:rPr sz="1500" u="sng" spc="-10" dirty="0">
                <a:solidFill>
                  <a:srgbClr val="0462C1"/>
                </a:solidFill>
                <a:uFill>
                  <a:solidFill>
                    <a:srgbClr val="0462C1"/>
                  </a:solidFill>
                </a:uFill>
                <a:latin typeface="Lucida Sans Unicode"/>
                <a:cs typeface="Lucida Sans Unicode"/>
                <a:hlinkClick r:id="rId8"/>
              </a:rPr>
              <a:t>function</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30" dirty="0">
                <a:solidFill>
                  <a:srgbClr val="0462C1"/>
                </a:solidFill>
                <a:uFill>
                  <a:solidFill>
                    <a:srgbClr val="0462C1"/>
                  </a:solidFill>
                </a:uFill>
                <a:latin typeface="Lucida Sans Unicode"/>
                <a:cs typeface="Lucida Sans Unicode"/>
                <a:hlinkClick r:id="rId9"/>
              </a:rPr>
              <a:t>mean_absolute_error</a:t>
            </a:r>
            <a:r>
              <a:rPr sz="1500" u="sng" spc="-20" dirty="0">
                <a:solidFill>
                  <a:srgbClr val="0462C1"/>
                </a:solidFill>
                <a:uFill>
                  <a:solidFill>
                    <a:srgbClr val="0462C1"/>
                  </a:solidFill>
                </a:uFill>
                <a:latin typeface="Lucida Sans Unicode"/>
                <a:cs typeface="Lucida Sans Unicode"/>
                <a:hlinkClick r:id="rId9"/>
              </a:rPr>
              <a:t> </a:t>
            </a:r>
            <a:r>
              <a:rPr sz="1500" u="sng" spc="-10" dirty="0">
                <a:solidFill>
                  <a:srgbClr val="0462C1"/>
                </a:solidFill>
                <a:uFill>
                  <a:solidFill>
                    <a:srgbClr val="0462C1"/>
                  </a:solidFill>
                </a:uFill>
                <a:latin typeface="Lucida Sans Unicode"/>
                <a:cs typeface="Lucida Sans Unicode"/>
                <a:hlinkClick r:id="rId9"/>
              </a:rPr>
              <a:t>function</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35" dirty="0">
                <a:solidFill>
                  <a:srgbClr val="0462C1"/>
                </a:solidFill>
                <a:uFill>
                  <a:solidFill>
                    <a:srgbClr val="0462C1"/>
                  </a:solidFill>
                </a:uFill>
                <a:latin typeface="Lucida Sans Unicode"/>
                <a:cs typeface="Lucida Sans Unicode"/>
                <a:hlinkClick r:id="rId10"/>
              </a:rPr>
              <a:t>mean_absolute_percentage_error</a:t>
            </a:r>
            <a:r>
              <a:rPr sz="1500" u="sng" spc="40" dirty="0">
                <a:solidFill>
                  <a:srgbClr val="0462C1"/>
                </a:solidFill>
                <a:uFill>
                  <a:solidFill>
                    <a:srgbClr val="0462C1"/>
                  </a:solidFill>
                </a:uFill>
                <a:latin typeface="Lucida Sans Unicode"/>
                <a:cs typeface="Lucida Sans Unicode"/>
                <a:hlinkClick r:id="rId10"/>
              </a:rPr>
              <a:t> </a:t>
            </a:r>
            <a:r>
              <a:rPr sz="1500" u="sng" spc="-10" dirty="0">
                <a:solidFill>
                  <a:srgbClr val="0462C1"/>
                </a:solidFill>
                <a:uFill>
                  <a:solidFill>
                    <a:srgbClr val="0462C1"/>
                  </a:solidFill>
                </a:uFill>
                <a:latin typeface="Lucida Sans Unicode"/>
                <a:cs typeface="Lucida Sans Unicode"/>
                <a:hlinkClick r:id="rId10"/>
              </a:rPr>
              <a:t>function</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40" dirty="0">
                <a:solidFill>
                  <a:srgbClr val="0462C1"/>
                </a:solidFill>
                <a:uFill>
                  <a:solidFill>
                    <a:srgbClr val="0462C1"/>
                  </a:solidFill>
                </a:uFill>
                <a:latin typeface="Lucida Sans Unicode"/>
                <a:cs typeface="Lucida Sans Unicode"/>
                <a:hlinkClick r:id="rId11"/>
              </a:rPr>
              <a:t>mean_squared_logarithmic_error</a:t>
            </a:r>
            <a:r>
              <a:rPr sz="1500" u="sng" spc="100" dirty="0">
                <a:solidFill>
                  <a:srgbClr val="0462C1"/>
                </a:solidFill>
                <a:uFill>
                  <a:solidFill>
                    <a:srgbClr val="0462C1"/>
                  </a:solidFill>
                </a:uFill>
                <a:latin typeface="Lucida Sans Unicode"/>
                <a:cs typeface="Lucida Sans Unicode"/>
                <a:hlinkClick r:id="rId11"/>
              </a:rPr>
              <a:t> </a:t>
            </a:r>
            <a:r>
              <a:rPr sz="1500" u="sng" spc="-10" dirty="0">
                <a:solidFill>
                  <a:srgbClr val="0462C1"/>
                </a:solidFill>
                <a:uFill>
                  <a:solidFill>
                    <a:srgbClr val="0462C1"/>
                  </a:solidFill>
                </a:uFill>
                <a:latin typeface="Lucida Sans Unicode"/>
                <a:cs typeface="Lucida Sans Unicode"/>
                <a:hlinkClick r:id="rId11"/>
              </a:rPr>
              <a:t>function</a:t>
            </a:r>
            <a:endParaRPr sz="1500">
              <a:latin typeface="Lucida Sans Unicode"/>
              <a:cs typeface="Lucida Sans Unicode"/>
            </a:endParaRPr>
          </a:p>
          <a:p>
            <a:pPr marL="240665" indent="-227965">
              <a:lnSpc>
                <a:spcPct val="100000"/>
              </a:lnSpc>
              <a:spcBef>
                <a:spcPts val="464"/>
              </a:spcBef>
              <a:buClr>
                <a:srgbClr val="D00000"/>
              </a:buClr>
              <a:buFont typeface="Arial"/>
              <a:buChar char="•"/>
              <a:tabLst>
                <a:tab pos="240665" algn="l"/>
              </a:tabLst>
            </a:pPr>
            <a:r>
              <a:rPr sz="1500" u="sng" spc="-50" dirty="0">
                <a:solidFill>
                  <a:srgbClr val="0462C1"/>
                </a:solidFill>
                <a:uFill>
                  <a:solidFill>
                    <a:srgbClr val="0462C1"/>
                  </a:solidFill>
                </a:uFill>
                <a:latin typeface="Lucida Sans Unicode"/>
                <a:cs typeface="Lucida Sans Unicode"/>
                <a:hlinkClick r:id="rId12"/>
              </a:rPr>
              <a:t>cosine_similarity</a:t>
            </a:r>
            <a:r>
              <a:rPr sz="1500" u="sng" spc="-5" dirty="0">
                <a:solidFill>
                  <a:srgbClr val="0462C1"/>
                </a:solidFill>
                <a:uFill>
                  <a:solidFill>
                    <a:srgbClr val="0462C1"/>
                  </a:solidFill>
                </a:uFill>
                <a:latin typeface="Lucida Sans Unicode"/>
                <a:cs typeface="Lucida Sans Unicode"/>
                <a:hlinkClick r:id="rId12"/>
              </a:rPr>
              <a:t> </a:t>
            </a:r>
            <a:r>
              <a:rPr sz="1500" u="sng" spc="-10" dirty="0">
                <a:solidFill>
                  <a:srgbClr val="0462C1"/>
                </a:solidFill>
                <a:uFill>
                  <a:solidFill>
                    <a:srgbClr val="0462C1"/>
                  </a:solidFill>
                </a:uFill>
                <a:latin typeface="Lucida Sans Unicode"/>
                <a:cs typeface="Lucida Sans Unicode"/>
                <a:hlinkClick r:id="rId12"/>
              </a:rPr>
              <a:t>function</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20" dirty="0">
                <a:solidFill>
                  <a:srgbClr val="0462C1"/>
                </a:solidFill>
                <a:uFill>
                  <a:solidFill>
                    <a:srgbClr val="0462C1"/>
                  </a:solidFill>
                </a:uFill>
                <a:latin typeface="Lucida Sans Unicode"/>
                <a:cs typeface="Lucida Sans Unicode"/>
                <a:hlinkClick r:id="rId13"/>
              </a:rPr>
              <a:t>Huber</a:t>
            </a:r>
            <a:r>
              <a:rPr sz="1500" u="sng" spc="-65" dirty="0">
                <a:solidFill>
                  <a:srgbClr val="0462C1"/>
                </a:solidFill>
                <a:uFill>
                  <a:solidFill>
                    <a:srgbClr val="0462C1"/>
                  </a:solidFill>
                </a:uFill>
                <a:latin typeface="Lucida Sans Unicode"/>
                <a:cs typeface="Lucida Sans Unicode"/>
                <a:hlinkClick r:id="rId13"/>
              </a:rPr>
              <a:t> </a:t>
            </a:r>
            <a:r>
              <a:rPr sz="1500" u="sng" spc="-10" dirty="0">
                <a:solidFill>
                  <a:srgbClr val="0462C1"/>
                </a:solidFill>
                <a:uFill>
                  <a:solidFill>
                    <a:srgbClr val="0462C1"/>
                  </a:solidFill>
                </a:uFill>
                <a:latin typeface="Lucida Sans Unicode"/>
                <a:cs typeface="Lucida Sans Unicode"/>
                <a:hlinkClick r:id="rId13"/>
              </a:rPr>
              <a:t>class</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10" dirty="0">
                <a:solidFill>
                  <a:srgbClr val="0462C1"/>
                </a:solidFill>
                <a:uFill>
                  <a:solidFill>
                    <a:srgbClr val="0462C1"/>
                  </a:solidFill>
                </a:uFill>
                <a:latin typeface="Lucida Sans Unicode"/>
                <a:cs typeface="Lucida Sans Unicode"/>
                <a:hlinkClick r:id="rId14"/>
              </a:rPr>
              <a:t>huber</a:t>
            </a:r>
            <a:r>
              <a:rPr sz="1500" u="sng" spc="-85" dirty="0">
                <a:solidFill>
                  <a:srgbClr val="0462C1"/>
                </a:solidFill>
                <a:uFill>
                  <a:solidFill>
                    <a:srgbClr val="0462C1"/>
                  </a:solidFill>
                </a:uFill>
                <a:latin typeface="Lucida Sans Unicode"/>
                <a:cs typeface="Lucida Sans Unicode"/>
                <a:hlinkClick r:id="rId14"/>
              </a:rPr>
              <a:t> </a:t>
            </a:r>
            <a:r>
              <a:rPr sz="1500" u="sng" spc="-10" dirty="0">
                <a:solidFill>
                  <a:srgbClr val="0462C1"/>
                </a:solidFill>
                <a:uFill>
                  <a:solidFill>
                    <a:srgbClr val="0462C1"/>
                  </a:solidFill>
                </a:uFill>
                <a:latin typeface="Lucida Sans Unicode"/>
                <a:cs typeface="Lucida Sans Unicode"/>
                <a:hlinkClick r:id="rId14"/>
              </a:rPr>
              <a:t>function</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55" dirty="0">
                <a:solidFill>
                  <a:srgbClr val="0462C1"/>
                </a:solidFill>
                <a:uFill>
                  <a:solidFill>
                    <a:srgbClr val="0462C1"/>
                  </a:solidFill>
                </a:uFill>
                <a:latin typeface="Lucida Sans Unicode"/>
                <a:cs typeface="Lucida Sans Unicode"/>
                <a:hlinkClick r:id="rId15"/>
              </a:rPr>
              <a:t>LogCosh</a:t>
            </a:r>
            <a:r>
              <a:rPr sz="1500" u="sng" spc="-65" dirty="0">
                <a:solidFill>
                  <a:srgbClr val="0462C1"/>
                </a:solidFill>
                <a:uFill>
                  <a:solidFill>
                    <a:srgbClr val="0462C1"/>
                  </a:solidFill>
                </a:uFill>
                <a:latin typeface="Lucida Sans Unicode"/>
                <a:cs typeface="Lucida Sans Unicode"/>
                <a:hlinkClick r:id="rId15"/>
              </a:rPr>
              <a:t> </a:t>
            </a:r>
            <a:r>
              <a:rPr sz="1500" u="sng" spc="-10" dirty="0">
                <a:solidFill>
                  <a:srgbClr val="0462C1"/>
                </a:solidFill>
                <a:uFill>
                  <a:solidFill>
                    <a:srgbClr val="0462C1"/>
                  </a:solidFill>
                </a:uFill>
                <a:latin typeface="Lucida Sans Unicode"/>
                <a:cs typeface="Lucida Sans Unicode"/>
                <a:hlinkClick r:id="rId15"/>
              </a:rPr>
              <a:t>class</a:t>
            </a:r>
            <a:endParaRPr sz="1500">
              <a:latin typeface="Lucida Sans Unicode"/>
              <a:cs typeface="Lucida Sans Unicode"/>
            </a:endParaRPr>
          </a:p>
          <a:p>
            <a:pPr marL="240665" indent="-227965">
              <a:lnSpc>
                <a:spcPct val="100000"/>
              </a:lnSpc>
              <a:spcBef>
                <a:spcPts val="459"/>
              </a:spcBef>
              <a:buClr>
                <a:srgbClr val="D00000"/>
              </a:buClr>
              <a:buFont typeface="Arial"/>
              <a:buChar char="•"/>
              <a:tabLst>
                <a:tab pos="240665" algn="l"/>
              </a:tabLst>
            </a:pPr>
            <a:r>
              <a:rPr sz="1500" u="sng" spc="-60" dirty="0">
                <a:solidFill>
                  <a:srgbClr val="0462C1"/>
                </a:solidFill>
                <a:uFill>
                  <a:solidFill>
                    <a:srgbClr val="0462C1"/>
                  </a:solidFill>
                </a:uFill>
                <a:latin typeface="Lucida Sans Unicode"/>
                <a:cs typeface="Lucida Sans Unicode"/>
                <a:hlinkClick r:id="rId16"/>
              </a:rPr>
              <a:t>log_cosh</a:t>
            </a:r>
            <a:r>
              <a:rPr sz="1500" u="sng" spc="-70" dirty="0">
                <a:solidFill>
                  <a:srgbClr val="0462C1"/>
                </a:solidFill>
                <a:uFill>
                  <a:solidFill>
                    <a:srgbClr val="0462C1"/>
                  </a:solidFill>
                </a:uFill>
                <a:latin typeface="Lucida Sans Unicode"/>
                <a:cs typeface="Lucida Sans Unicode"/>
                <a:hlinkClick r:id="rId16"/>
              </a:rPr>
              <a:t> </a:t>
            </a:r>
            <a:r>
              <a:rPr sz="1500" u="sng" spc="-10" dirty="0">
                <a:solidFill>
                  <a:srgbClr val="0462C1"/>
                </a:solidFill>
                <a:uFill>
                  <a:solidFill>
                    <a:srgbClr val="0462C1"/>
                  </a:solidFill>
                </a:uFill>
                <a:latin typeface="Lucida Sans Unicode"/>
                <a:cs typeface="Lucida Sans Unicode"/>
                <a:hlinkClick r:id="rId16"/>
              </a:rPr>
              <a:t>function</a:t>
            </a:r>
            <a:endParaRPr sz="1500">
              <a:latin typeface="Lucida Sans Unicode"/>
              <a:cs typeface="Lucida Sans Unicode"/>
            </a:endParaRPr>
          </a:p>
        </p:txBody>
      </p:sp>
      <p:grpSp>
        <p:nvGrpSpPr>
          <p:cNvPr id="9" name="object 4">
            <a:extLst>
              <a:ext uri="{FF2B5EF4-FFF2-40B4-BE49-F238E27FC236}">
                <a16:creationId xmlns:a16="http://schemas.microsoft.com/office/drawing/2014/main" id="{FB320625-E028-1998-4922-06C95DB2B2B5}"/>
              </a:ext>
            </a:extLst>
          </p:cNvPr>
          <p:cNvGrpSpPr/>
          <p:nvPr/>
        </p:nvGrpSpPr>
        <p:grpSpPr>
          <a:xfrm>
            <a:off x="4803006" y="1488137"/>
            <a:ext cx="6429383" cy="2073245"/>
            <a:chOff x="4726940" y="1564639"/>
            <a:chExt cx="6944359" cy="2237739"/>
          </a:xfrm>
        </p:grpSpPr>
        <p:pic>
          <p:nvPicPr>
            <p:cNvPr id="10" name="object 5">
              <a:extLst>
                <a:ext uri="{FF2B5EF4-FFF2-40B4-BE49-F238E27FC236}">
                  <a16:creationId xmlns:a16="http://schemas.microsoft.com/office/drawing/2014/main" id="{71F4F4A4-2C1B-D199-0F76-979382702CBA}"/>
                </a:ext>
              </a:extLst>
            </p:cNvPr>
            <p:cNvPicPr/>
            <p:nvPr/>
          </p:nvPicPr>
          <p:blipFill>
            <a:blip r:embed="rId17" cstate="print"/>
            <a:stretch>
              <a:fillRect/>
            </a:stretch>
          </p:blipFill>
          <p:spPr>
            <a:xfrm>
              <a:off x="4726940" y="1564639"/>
              <a:ext cx="6944359" cy="2237739"/>
            </a:xfrm>
            <a:prstGeom prst="rect">
              <a:avLst/>
            </a:prstGeom>
          </p:spPr>
        </p:pic>
        <p:sp>
          <p:nvSpPr>
            <p:cNvPr id="11" name="object 6">
              <a:extLst>
                <a:ext uri="{FF2B5EF4-FFF2-40B4-BE49-F238E27FC236}">
                  <a16:creationId xmlns:a16="http://schemas.microsoft.com/office/drawing/2014/main" id="{4E1449B9-696E-9571-0F7C-DFEF17E1A6D3}"/>
                </a:ext>
              </a:extLst>
            </p:cNvPr>
            <p:cNvSpPr/>
            <p:nvPr/>
          </p:nvSpPr>
          <p:spPr>
            <a:xfrm>
              <a:off x="4765040" y="3241039"/>
              <a:ext cx="5862320" cy="264160"/>
            </a:xfrm>
            <a:custGeom>
              <a:avLst/>
              <a:gdLst/>
              <a:ahLst/>
              <a:cxnLst/>
              <a:rect l="l" t="t" r="r" b="b"/>
              <a:pathLst>
                <a:path w="5862320" h="264160">
                  <a:moveTo>
                    <a:pt x="0" y="44069"/>
                  </a:moveTo>
                  <a:lnTo>
                    <a:pt x="3456" y="26896"/>
                  </a:lnTo>
                  <a:lnTo>
                    <a:pt x="12890" y="12890"/>
                  </a:lnTo>
                  <a:lnTo>
                    <a:pt x="26896" y="3456"/>
                  </a:lnTo>
                  <a:lnTo>
                    <a:pt x="44069" y="0"/>
                  </a:lnTo>
                  <a:lnTo>
                    <a:pt x="5818251" y="0"/>
                  </a:lnTo>
                  <a:lnTo>
                    <a:pt x="5835423" y="3456"/>
                  </a:lnTo>
                  <a:lnTo>
                    <a:pt x="5849429" y="12890"/>
                  </a:lnTo>
                  <a:lnTo>
                    <a:pt x="5858863" y="26896"/>
                  </a:lnTo>
                  <a:lnTo>
                    <a:pt x="5862320" y="44069"/>
                  </a:lnTo>
                  <a:lnTo>
                    <a:pt x="5862320" y="220090"/>
                  </a:lnTo>
                  <a:lnTo>
                    <a:pt x="5858863" y="237263"/>
                  </a:lnTo>
                  <a:lnTo>
                    <a:pt x="5849429" y="251269"/>
                  </a:lnTo>
                  <a:lnTo>
                    <a:pt x="5835423" y="260703"/>
                  </a:lnTo>
                  <a:lnTo>
                    <a:pt x="5818251" y="264160"/>
                  </a:lnTo>
                  <a:lnTo>
                    <a:pt x="44069" y="264160"/>
                  </a:lnTo>
                  <a:lnTo>
                    <a:pt x="26896" y="260703"/>
                  </a:lnTo>
                  <a:lnTo>
                    <a:pt x="12890" y="251269"/>
                  </a:lnTo>
                  <a:lnTo>
                    <a:pt x="3456" y="237263"/>
                  </a:lnTo>
                  <a:lnTo>
                    <a:pt x="0" y="220090"/>
                  </a:lnTo>
                  <a:lnTo>
                    <a:pt x="0" y="44069"/>
                  </a:lnTo>
                  <a:close/>
                </a:path>
              </a:pathLst>
            </a:custGeom>
            <a:ln w="41275">
              <a:solidFill>
                <a:srgbClr val="FF0000"/>
              </a:solidFill>
            </a:ln>
          </p:spPr>
          <p:txBody>
            <a:bodyPr wrap="square" lIns="0" tIns="0" rIns="0" bIns="0" rtlCol="0"/>
            <a:lstStyle>
              <a:defPPr>
                <a:defRPr kern="0"/>
              </a:defPPr>
            </a:lstStyle>
            <a:p>
              <a:endParaRPr/>
            </a:p>
          </p:txBody>
        </p:sp>
      </p:grpSp>
    </p:spTree>
    <p:extLst>
      <p:ext uri="{BB962C8B-B14F-4D97-AF65-F5344CB8AC3E}">
        <p14:creationId xmlns:p14="http://schemas.microsoft.com/office/powerpoint/2010/main" val="37271013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196E6-24A5-5544-59B2-A0F0831FD6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1C84B-792C-EB88-5661-4FEA50B7857A}"/>
              </a:ext>
            </a:extLst>
          </p:cNvPr>
          <p:cNvSpPr>
            <a:spLocks noGrp="1"/>
          </p:cNvSpPr>
          <p:nvPr>
            <p:ph type="title"/>
          </p:nvPr>
        </p:nvSpPr>
        <p:spPr>
          <a:xfrm>
            <a:off x="629500" y="277838"/>
            <a:ext cx="9188268" cy="1068223"/>
          </a:xfrm>
        </p:spPr>
        <p:txBody>
          <a:bodyPr/>
          <a:lstStyle/>
          <a:p>
            <a:r>
              <a:rPr lang="en-GB" sz="4400" dirty="0"/>
              <a:t>Loss</a:t>
            </a:r>
            <a:r>
              <a:rPr lang="en-GB" sz="4400" spc="-65" dirty="0"/>
              <a:t> </a:t>
            </a:r>
            <a:r>
              <a:rPr lang="en-GB" sz="4400" dirty="0"/>
              <a:t>Function</a:t>
            </a:r>
            <a:r>
              <a:rPr lang="en-GB" sz="4400" spc="-35" dirty="0"/>
              <a:t> </a:t>
            </a:r>
            <a:r>
              <a:rPr lang="en-GB" sz="4400" dirty="0"/>
              <a:t>- </a:t>
            </a:r>
            <a:r>
              <a:rPr lang="en-GB" sz="4400" spc="-10" dirty="0"/>
              <a:t>Probabilistic</a:t>
            </a:r>
            <a:endParaRPr lang="en-US" dirty="0">
              <a:solidFill>
                <a:srgbClr val="942D6D"/>
              </a:solidFill>
            </a:endParaRPr>
          </a:p>
        </p:txBody>
      </p:sp>
      <p:cxnSp>
        <p:nvCxnSpPr>
          <p:cNvPr id="4" name="Straight Connector 3">
            <a:extLst>
              <a:ext uri="{FF2B5EF4-FFF2-40B4-BE49-F238E27FC236}">
                <a16:creationId xmlns:a16="http://schemas.microsoft.com/office/drawing/2014/main" id="{721BD764-935C-60E0-2090-B9E637C88610}"/>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9E2A83FB-4BE9-E26D-5614-81C7B546FEC8}"/>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7AC25CB2-44C0-8574-23A6-A8D48A1AA5A9}"/>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3" name="object 3">
            <a:extLst>
              <a:ext uri="{FF2B5EF4-FFF2-40B4-BE49-F238E27FC236}">
                <a16:creationId xmlns:a16="http://schemas.microsoft.com/office/drawing/2014/main" id="{AA0B1544-8D23-A6C8-AFAB-BFE4BB24664F}"/>
              </a:ext>
            </a:extLst>
          </p:cNvPr>
          <p:cNvSpPr txBox="1"/>
          <p:nvPr/>
        </p:nvSpPr>
        <p:spPr>
          <a:xfrm>
            <a:off x="629500" y="1209167"/>
            <a:ext cx="6598284" cy="3821559"/>
          </a:xfrm>
          <a:prstGeom prst="rect">
            <a:avLst/>
          </a:prstGeom>
        </p:spPr>
        <p:txBody>
          <a:bodyPr vert="horz" wrap="square" lIns="0" tIns="12700" rIns="0" bIns="0" rtlCol="0">
            <a:spAutoFit/>
          </a:bodyPr>
          <a:lstStyle>
            <a:defPPr>
              <a:defRPr kern="0"/>
            </a:defPPr>
          </a:lstStyle>
          <a:p>
            <a:pPr marL="241300" indent="-228600">
              <a:lnSpc>
                <a:spcPct val="100000"/>
              </a:lnSpc>
              <a:spcBef>
                <a:spcPts val="100"/>
              </a:spcBef>
              <a:buClr>
                <a:srgbClr val="D00000"/>
              </a:buClr>
              <a:buFont typeface="Arial"/>
              <a:buChar char="•"/>
              <a:tabLst>
                <a:tab pos="241300" algn="l"/>
              </a:tabLst>
            </a:pPr>
            <a:r>
              <a:rPr sz="2400" u="sng" spc="-55" dirty="0">
                <a:solidFill>
                  <a:srgbClr val="0462C1"/>
                </a:solidFill>
                <a:uFill>
                  <a:solidFill>
                    <a:srgbClr val="0462C1"/>
                  </a:solidFill>
                </a:uFill>
                <a:latin typeface="Lucida Sans Unicode"/>
                <a:cs typeface="Lucida Sans Unicode"/>
                <a:hlinkClick r:id="rId3"/>
              </a:rPr>
              <a:t>BinaryCrossentropy</a:t>
            </a:r>
            <a:r>
              <a:rPr sz="2400" u="sng" spc="-45" dirty="0">
                <a:solidFill>
                  <a:srgbClr val="0462C1"/>
                </a:solidFill>
                <a:uFill>
                  <a:solidFill>
                    <a:srgbClr val="0462C1"/>
                  </a:solidFill>
                </a:uFill>
                <a:latin typeface="Lucida Sans Unicode"/>
                <a:cs typeface="Lucida Sans Unicode"/>
                <a:hlinkClick r:id="rId3"/>
              </a:rPr>
              <a:t> </a:t>
            </a:r>
            <a:r>
              <a:rPr sz="2400" u="sng" spc="-10" dirty="0">
                <a:solidFill>
                  <a:srgbClr val="0462C1"/>
                </a:solidFill>
                <a:uFill>
                  <a:solidFill>
                    <a:srgbClr val="0462C1"/>
                  </a:solidFill>
                </a:uFill>
                <a:latin typeface="Lucida Sans Unicode"/>
                <a:cs typeface="Lucida Sans Unicode"/>
                <a:hlinkClick r:id="rId3"/>
              </a:rPr>
              <a:t>class</a:t>
            </a:r>
            <a:endParaRPr sz="2400" dirty="0">
              <a:latin typeface="Lucida Sans Unicode"/>
              <a:cs typeface="Lucida Sans Unicode"/>
            </a:endParaRPr>
          </a:p>
          <a:p>
            <a:pPr marL="241300" indent="-228600">
              <a:lnSpc>
                <a:spcPct val="100000"/>
              </a:lnSpc>
              <a:spcBef>
                <a:spcPts val="60"/>
              </a:spcBef>
              <a:buClr>
                <a:srgbClr val="D00000"/>
              </a:buClr>
              <a:buFont typeface="Arial"/>
              <a:buChar char="•"/>
              <a:tabLst>
                <a:tab pos="241300" algn="l"/>
              </a:tabLst>
            </a:pPr>
            <a:r>
              <a:rPr sz="2400" u="sng" spc="-75" dirty="0">
                <a:solidFill>
                  <a:srgbClr val="0462C1"/>
                </a:solidFill>
                <a:uFill>
                  <a:solidFill>
                    <a:srgbClr val="0462C1"/>
                  </a:solidFill>
                </a:uFill>
                <a:latin typeface="Lucida Sans Unicode"/>
                <a:cs typeface="Lucida Sans Unicode"/>
                <a:hlinkClick r:id="rId4"/>
              </a:rPr>
              <a:t>CategoricalCrossentropy</a:t>
            </a:r>
            <a:r>
              <a:rPr sz="2400" u="sng" spc="-60" dirty="0">
                <a:solidFill>
                  <a:srgbClr val="0462C1"/>
                </a:solidFill>
                <a:uFill>
                  <a:solidFill>
                    <a:srgbClr val="0462C1"/>
                  </a:solidFill>
                </a:uFill>
                <a:latin typeface="Lucida Sans Unicode"/>
                <a:cs typeface="Lucida Sans Unicode"/>
                <a:hlinkClick r:id="rId4"/>
              </a:rPr>
              <a:t> </a:t>
            </a:r>
            <a:r>
              <a:rPr sz="2400" u="sng" spc="-10" dirty="0">
                <a:solidFill>
                  <a:srgbClr val="0462C1"/>
                </a:solidFill>
                <a:uFill>
                  <a:solidFill>
                    <a:srgbClr val="0462C1"/>
                  </a:solidFill>
                </a:uFill>
                <a:latin typeface="Lucida Sans Unicode"/>
                <a:cs typeface="Lucida Sans Unicode"/>
                <a:hlinkClick r:id="rId4"/>
              </a:rPr>
              <a:t>class</a:t>
            </a:r>
            <a:endParaRPr sz="2400" dirty="0">
              <a:latin typeface="Lucida Sans Unicode"/>
              <a:cs typeface="Lucida Sans Unicode"/>
            </a:endParaRPr>
          </a:p>
          <a:p>
            <a:pPr marL="241300" indent="-228600">
              <a:lnSpc>
                <a:spcPct val="100000"/>
              </a:lnSpc>
              <a:spcBef>
                <a:spcPts val="60"/>
              </a:spcBef>
              <a:buClr>
                <a:srgbClr val="D00000"/>
              </a:buClr>
              <a:buFont typeface="Arial"/>
              <a:buChar char="•"/>
              <a:tabLst>
                <a:tab pos="241300" algn="l"/>
              </a:tabLst>
            </a:pPr>
            <a:r>
              <a:rPr sz="2400" u="sng" spc="-65" dirty="0">
                <a:solidFill>
                  <a:srgbClr val="0462C1"/>
                </a:solidFill>
                <a:uFill>
                  <a:solidFill>
                    <a:srgbClr val="0462C1"/>
                  </a:solidFill>
                </a:uFill>
                <a:latin typeface="Lucida Sans Unicode"/>
                <a:cs typeface="Lucida Sans Unicode"/>
                <a:hlinkClick r:id="rId5"/>
              </a:rPr>
              <a:t>SparseCategoricalCrossentropy</a:t>
            </a:r>
            <a:r>
              <a:rPr sz="2400" u="sng" spc="-60" dirty="0">
                <a:solidFill>
                  <a:srgbClr val="0462C1"/>
                </a:solidFill>
                <a:uFill>
                  <a:solidFill>
                    <a:srgbClr val="0462C1"/>
                  </a:solidFill>
                </a:uFill>
                <a:latin typeface="Lucida Sans Unicode"/>
                <a:cs typeface="Lucida Sans Unicode"/>
                <a:hlinkClick r:id="rId5"/>
              </a:rPr>
              <a:t> </a:t>
            </a:r>
            <a:r>
              <a:rPr sz="2400" u="sng" spc="-10" dirty="0">
                <a:solidFill>
                  <a:srgbClr val="0462C1"/>
                </a:solidFill>
                <a:uFill>
                  <a:solidFill>
                    <a:srgbClr val="0462C1"/>
                  </a:solidFill>
                </a:uFill>
                <a:latin typeface="Lucida Sans Unicode"/>
                <a:cs typeface="Lucida Sans Unicode"/>
                <a:hlinkClick r:id="rId5"/>
              </a:rPr>
              <a:t>class</a:t>
            </a:r>
            <a:endParaRPr sz="2400" dirty="0">
              <a:latin typeface="Lucida Sans Unicode"/>
              <a:cs typeface="Lucida Sans Unicode"/>
            </a:endParaRPr>
          </a:p>
          <a:p>
            <a:pPr marL="241300" indent="-228600">
              <a:lnSpc>
                <a:spcPct val="100000"/>
              </a:lnSpc>
              <a:spcBef>
                <a:spcPts val="80"/>
              </a:spcBef>
              <a:buClr>
                <a:srgbClr val="D00000"/>
              </a:buClr>
              <a:buFont typeface="Arial"/>
              <a:buChar char="•"/>
              <a:tabLst>
                <a:tab pos="241300" algn="l"/>
              </a:tabLst>
            </a:pPr>
            <a:r>
              <a:rPr sz="2400" u="sng" spc="-40" dirty="0">
                <a:solidFill>
                  <a:srgbClr val="0462C1"/>
                </a:solidFill>
                <a:uFill>
                  <a:solidFill>
                    <a:srgbClr val="0462C1"/>
                  </a:solidFill>
                </a:uFill>
                <a:latin typeface="Lucida Sans Unicode"/>
                <a:cs typeface="Lucida Sans Unicode"/>
                <a:hlinkClick r:id="rId6"/>
              </a:rPr>
              <a:t>Poisson</a:t>
            </a:r>
            <a:r>
              <a:rPr sz="2400" u="sng" spc="-140" dirty="0">
                <a:solidFill>
                  <a:srgbClr val="0462C1"/>
                </a:solidFill>
                <a:uFill>
                  <a:solidFill>
                    <a:srgbClr val="0462C1"/>
                  </a:solidFill>
                </a:uFill>
                <a:latin typeface="Lucida Sans Unicode"/>
                <a:cs typeface="Lucida Sans Unicode"/>
                <a:hlinkClick r:id="rId6"/>
              </a:rPr>
              <a:t> </a:t>
            </a:r>
            <a:r>
              <a:rPr sz="2400" u="sng" spc="-10" dirty="0">
                <a:solidFill>
                  <a:srgbClr val="0462C1"/>
                </a:solidFill>
                <a:uFill>
                  <a:solidFill>
                    <a:srgbClr val="0462C1"/>
                  </a:solidFill>
                </a:uFill>
                <a:latin typeface="Lucida Sans Unicode"/>
                <a:cs typeface="Lucida Sans Unicode"/>
                <a:hlinkClick r:id="rId6"/>
              </a:rPr>
              <a:t>class</a:t>
            </a:r>
            <a:endParaRPr sz="2400" dirty="0">
              <a:latin typeface="Lucida Sans Unicode"/>
              <a:cs typeface="Lucida Sans Unicode"/>
            </a:endParaRPr>
          </a:p>
          <a:p>
            <a:pPr marL="241300" indent="-228600">
              <a:lnSpc>
                <a:spcPct val="100000"/>
              </a:lnSpc>
              <a:spcBef>
                <a:spcPts val="65"/>
              </a:spcBef>
              <a:buClr>
                <a:srgbClr val="D00000"/>
              </a:buClr>
              <a:buFont typeface="Arial"/>
              <a:buChar char="•"/>
              <a:tabLst>
                <a:tab pos="241300" algn="l"/>
              </a:tabLst>
            </a:pPr>
            <a:r>
              <a:rPr sz="2400" u="sng" spc="-65" dirty="0">
                <a:solidFill>
                  <a:srgbClr val="0462C1"/>
                </a:solidFill>
                <a:uFill>
                  <a:solidFill>
                    <a:srgbClr val="0462C1"/>
                  </a:solidFill>
                </a:uFill>
                <a:latin typeface="Lucida Sans Unicode"/>
                <a:cs typeface="Lucida Sans Unicode"/>
                <a:hlinkClick r:id="rId7"/>
              </a:rPr>
              <a:t>binary_crossentropy</a:t>
            </a:r>
            <a:r>
              <a:rPr sz="2400" u="sng" spc="-105" dirty="0">
                <a:solidFill>
                  <a:srgbClr val="0462C1"/>
                </a:solidFill>
                <a:uFill>
                  <a:solidFill>
                    <a:srgbClr val="0462C1"/>
                  </a:solidFill>
                </a:uFill>
                <a:latin typeface="Lucida Sans Unicode"/>
                <a:cs typeface="Lucida Sans Unicode"/>
                <a:hlinkClick r:id="rId7"/>
              </a:rPr>
              <a:t> </a:t>
            </a:r>
            <a:r>
              <a:rPr sz="2400" u="sng" spc="-10" dirty="0">
                <a:solidFill>
                  <a:srgbClr val="0462C1"/>
                </a:solidFill>
                <a:uFill>
                  <a:solidFill>
                    <a:srgbClr val="0462C1"/>
                  </a:solidFill>
                </a:uFill>
                <a:latin typeface="Lucida Sans Unicode"/>
                <a:cs typeface="Lucida Sans Unicode"/>
                <a:hlinkClick r:id="rId7"/>
              </a:rPr>
              <a:t>function</a:t>
            </a:r>
            <a:endParaRPr sz="2400" dirty="0">
              <a:latin typeface="Lucida Sans Unicode"/>
              <a:cs typeface="Lucida Sans Unicode"/>
            </a:endParaRPr>
          </a:p>
          <a:p>
            <a:pPr marL="241300" indent="-228600">
              <a:lnSpc>
                <a:spcPct val="100000"/>
              </a:lnSpc>
              <a:spcBef>
                <a:spcPts val="60"/>
              </a:spcBef>
              <a:buClr>
                <a:srgbClr val="D00000"/>
              </a:buClr>
              <a:buFont typeface="Arial"/>
              <a:buChar char="•"/>
              <a:tabLst>
                <a:tab pos="241300" algn="l"/>
              </a:tabLst>
            </a:pPr>
            <a:r>
              <a:rPr sz="2400" u="sng" spc="-70" dirty="0">
                <a:solidFill>
                  <a:srgbClr val="0462C1"/>
                </a:solidFill>
                <a:uFill>
                  <a:solidFill>
                    <a:srgbClr val="0462C1"/>
                  </a:solidFill>
                </a:uFill>
                <a:latin typeface="Lucida Sans Unicode"/>
                <a:cs typeface="Lucida Sans Unicode"/>
                <a:hlinkClick r:id="rId8"/>
              </a:rPr>
              <a:t>categorical_crossentropy</a:t>
            </a:r>
            <a:r>
              <a:rPr sz="2400" u="sng" spc="-50" dirty="0">
                <a:solidFill>
                  <a:srgbClr val="0462C1"/>
                </a:solidFill>
                <a:uFill>
                  <a:solidFill>
                    <a:srgbClr val="0462C1"/>
                  </a:solidFill>
                </a:uFill>
                <a:latin typeface="Lucida Sans Unicode"/>
                <a:cs typeface="Lucida Sans Unicode"/>
                <a:hlinkClick r:id="rId8"/>
              </a:rPr>
              <a:t> </a:t>
            </a:r>
            <a:r>
              <a:rPr sz="2400" u="sng" spc="-10" dirty="0">
                <a:solidFill>
                  <a:srgbClr val="0462C1"/>
                </a:solidFill>
                <a:uFill>
                  <a:solidFill>
                    <a:srgbClr val="0462C1"/>
                  </a:solidFill>
                </a:uFill>
                <a:latin typeface="Lucida Sans Unicode"/>
                <a:cs typeface="Lucida Sans Unicode"/>
                <a:hlinkClick r:id="rId8"/>
              </a:rPr>
              <a:t>function</a:t>
            </a:r>
            <a:endParaRPr sz="2400" dirty="0">
              <a:latin typeface="Lucida Sans Unicode"/>
              <a:cs typeface="Lucida Sans Unicode"/>
            </a:endParaRPr>
          </a:p>
          <a:p>
            <a:pPr marL="241300" indent="-228600">
              <a:lnSpc>
                <a:spcPct val="100000"/>
              </a:lnSpc>
              <a:spcBef>
                <a:spcPts val="60"/>
              </a:spcBef>
              <a:buClr>
                <a:srgbClr val="D00000"/>
              </a:buClr>
              <a:buFont typeface="Arial"/>
              <a:buChar char="•"/>
              <a:tabLst>
                <a:tab pos="241300" algn="l"/>
              </a:tabLst>
            </a:pPr>
            <a:r>
              <a:rPr sz="2400" u="sng" spc="-75" dirty="0">
                <a:solidFill>
                  <a:srgbClr val="0462C1"/>
                </a:solidFill>
                <a:uFill>
                  <a:solidFill>
                    <a:srgbClr val="0462C1"/>
                  </a:solidFill>
                </a:uFill>
                <a:latin typeface="Lucida Sans Unicode"/>
                <a:cs typeface="Lucida Sans Unicode"/>
                <a:hlinkClick r:id="rId9"/>
              </a:rPr>
              <a:t>sparse_categorical_crossentropy</a:t>
            </a:r>
            <a:r>
              <a:rPr sz="2400" u="sng" spc="85" dirty="0">
                <a:solidFill>
                  <a:srgbClr val="0462C1"/>
                </a:solidFill>
                <a:uFill>
                  <a:solidFill>
                    <a:srgbClr val="0462C1"/>
                  </a:solidFill>
                </a:uFill>
                <a:latin typeface="Lucida Sans Unicode"/>
                <a:cs typeface="Lucida Sans Unicode"/>
                <a:hlinkClick r:id="rId9"/>
              </a:rPr>
              <a:t> </a:t>
            </a:r>
            <a:r>
              <a:rPr sz="2400" u="sng" spc="-10" dirty="0">
                <a:solidFill>
                  <a:srgbClr val="0462C1"/>
                </a:solidFill>
                <a:uFill>
                  <a:solidFill>
                    <a:srgbClr val="0462C1"/>
                  </a:solidFill>
                </a:uFill>
                <a:latin typeface="Lucida Sans Unicode"/>
                <a:cs typeface="Lucida Sans Unicode"/>
                <a:hlinkClick r:id="rId9"/>
              </a:rPr>
              <a:t>function</a:t>
            </a:r>
            <a:endParaRPr sz="2400" dirty="0">
              <a:latin typeface="Lucida Sans Unicode"/>
              <a:cs typeface="Lucida Sans Unicode"/>
            </a:endParaRPr>
          </a:p>
          <a:p>
            <a:pPr marL="241300" indent="-228600">
              <a:lnSpc>
                <a:spcPct val="100000"/>
              </a:lnSpc>
              <a:spcBef>
                <a:spcPts val="60"/>
              </a:spcBef>
              <a:buClr>
                <a:srgbClr val="D00000"/>
              </a:buClr>
              <a:buFont typeface="Arial"/>
              <a:buChar char="•"/>
              <a:tabLst>
                <a:tab pos="241300" algn="l"/>
              </a:tabLst>
            </a:pPr>
            <a:r>
              <a:rPr sz="2400" u="sng" spc="-60" dirty="0">
                <a:solidFill>
                  <a:srgbClr val="0462C1"/>
                </a:solidFill>
                <a:uFill>
                  <a:solidFill>
                    <a:srgbClr val="0462C1"/>
                  </a:solidFill>
                </a:uFill>
                <a:latin typeface="Lucida Sans Unicode"/>
                <a:cs typeface="Lucida Sans Unicode"/>
                <a:hlinkClick r:id="rId10"/>
              </a:rPr>
              <a:t>poisson</a:t>
            </a:r>
            <a:r>
              <a:rPr sz="2400" u="sng" spc="-140" dirty="0">
                <a:solidFill>
                  <a:srgbClr val="0462C1"/>
                </a:solidFill>
                <a:uFill>
                  <a:solidFill>
                    <a:srgbClr val="0462C1"/>
                  </a:solidFill>
                </a:uFill>
                <a:latin typeface="Lucida Sans Unicode"/>
                <a:cs typeface="Lucida Sans Unicode"/>
                <a:hlinkClick r:id="rId10"/>
              </a:rPr>
              <a:t> </a:t>
            </a:r>
            <a:r>
              <a:rPr sz="2400" u="sng" spc="-10" dirty="0">
                <a:solidFill>
                  <a:srgbClr val="0462C1"/>
                </a:solidFill>
                <a:uFill>
                  <a:solidFill>
                    <a:srgbClr val="0462C1"/>
                  </a:solidFill>
                </a:uFill>
                <a:latin typeface="Lucida Sans Unicode"/>
                <a:cs typeface="Lucida Sans Unicode"/>
                <a:hlinkClick r:id="rId10"/>
              </a:rPr>
              <a:t>function</a:t>
            </a:r>
            <a:endParaRPr sz="2400" dirty="0">
              <a:latin typeface="Lucida Sans Unicode"/>
              <a:cs typeface="Lucida Sans Unicode"/>
            </a:endParaRPr>
          </a:p>
          <a:p>
            <a:pPr marL="241300" indent="-228600">
              <a:lnSpc>
                <a:spcPct val="100000"/>
              </a:lnSpc>
              <a:spcBef>
                <a:spcPts val="85"/>
              </a:spcBef>
              <a:buClr>
                <a:srgbClr val="D00000"/>
              </a:buClr>
              <a:buFont typeface="Arial"/>
              <a:buChar char="•"/>
              <a:tabLst>
                <a:tab pos="241300" algn="l"/>
              </a:tabLst>
            </a:pPr>
            <a:r>
              <a:rPr sz="2400" u="sng" spc="-70" dirty="0">
                <a:solidFill>
                  <a:srgbClr val="0462C1"/>
                </a:solidFill>
                <a:uFill>
                  <a:solidFill>
                    <a:srgbClr val="0462C1"/>
                  </a:solidFill>
                </a:uFill>
                <a:latin typeface="Lucida Sans Unicode"/>
                <a:cs typeface="Lucida Sans Unicode"/>
                <a:hlinkClick r:id="rId11"/>
              </a:rPr>
              <a:t>KLDivergence</a:t>
            </a:r>
            <a:r>
              <a:rPr sz="2400" u="sng" spc="-100" dirty="0">
                <a:solidFill>
                  <a:srgbClr val="0462C1"/>
                </a:solidFill>
                <a:uFill>
                  <a:solidFill>
                    <a:srgbClr val="0462C1"/>
                  </a:solidFill>
                </a:uFill>
                <a:latin typeface="Lucida Sans Unicode"/>
                <a:cs typeface="Lucida Sans Unicode"/>
                <a:hlinkClick r:id="rId11"/>
              </a:rPr>
              <a:t> </a:t>
            </a:r>
            <a:r>
              <a:rPr sz="2400" u="sng" spc="-10" dirty="0">
                <a:solidFill>
                  <a:srgbClr val="0462C1"/>
                </a:solidFill>
                <a:uFill>
                  <a:solidFill>
                    <a:srgbClr val="0462C1"/>
                  </a:solidFill>
                </a:uFill>
                <a:latin typeface="Lucida Sans Unicode"/>
                <a:cs typeface="Lucida Sans Unicode"/>
                <a:hlinkClick r:id="rId11"/>
              </a:rPr>
              <a:t>class</a:t>
            </a:r>
            <a:endParaRPr sz="2400" dirty="0">
              <a:latin typeface="Lucida Sans Unicode"/>
              <a:cs typeface="Lucida Sans Unicode"/>
            </a:endParaRPr>
          </a:p>
          <a:p>
            <a:pPr marL="241300" indent="-228600">
              <a:lnSpc>
                <a:spcPct val="100000"/>
              </a:lnSpc>
              <a:spcBef>
                <a:spcPts val="60"/>
              </a:spcBef>
              <a:buClr>
                <a:srgbClr val="D00000"/>
              </a:buClr>
              <a:buFont typeface="Arial"/>
              <a:buChar char="•"/>
              <a:tabLst>
                <a:tab pos="241300" algn="l"/>
              </a:tabLst>
            </a:pPr>
            <a:r>
              <a:rPr sz="2400" u="sng" spc="-80" dirty="0">
                <a:solidFill>
                  <a:srgbClr val="0462C1"/>
                </a:solidFill>
                <a:uFill>
                  <a:solidFill>
                    <a:srgbClr val="0462C1"/>
                  </a:solidFill>
                </a:uFill>
                <a:latin typeface="Lucida Sans Unicode"/>
                <a:cs typeface="Lucida Sans Unicode"/>
                <a:hlinkClick r:id="rId12"/>
              </a:rPr>
              <a:t>kl_divergence</a:t>
            </a:r>
            <a:r>
              <a:rPr sz="2400" u="sng" spc="-130" dirty="0">
                <a:solidFill>
                  <a:srgbClr val="0462C1"/>
                </a:solidFill>
                <a:uFill>
                  <a:solidFill>
                    <a:srgbClr val="0462C1"/>
                  </a:solidFill>
                </a:uFill>
                <a:latin typeface="Lucida Sans Unicode"/>
                <a:cs typeface="Lucida Sans Unicode"/>
                <a:hlinkClick r:id="rId12"/>
              </a:rPr>
              <a:t> </a:t>
            </a:r>
            <a:r>
              <a:rPr sz="2400" u="sng" spc="-10" dirty="0">
                <a:solidFill>
                  <a:srgbClr val="0462C1"/>
                </a:solidFill>
                <a:uFill>
                  <a:solidFill>
                    <a:srgbClr val="0462C1"/>
                  </a:solidFill>
                </a:uFill>
                <a:latin typeface="Lucida Sans Unicode"/>
                <a:cs typeface="Lucida Sans Unicode"/>
                <a:hlinkClick r:id="rId12"/>
              </a:rPr>
              <a:t>function</a:t>
            </a:r>
            <a:endParaRPr sz="2400" dirty="0">
              <a:latin typeface="Lucida Sans Unicode"/>
              <a:cs typeface="Lucida Sans Unicode"/>
            </a:endParaRPr>
          </a:p>
        </p:txBody>
      </p:sp>
      <p:grpSp>
        <p:nvGrpSpPr>
          <p:cNvPr id="8" name="object 4">
            <a:extLst>
              <a:ext uri="{FF2B5EF4-FFF2-40B4-BE49-F238E27FC236}">
                <a16:creationId xmlns:a16="http://schemas.microsoft.com/office/drawing/2014/main" id="{93B794D9-1EC8-3977-A0F2-24902B830CB0}"/>
              </a:ext>
            </a:extLst>
          </p:cNvPr>
          <p:cNvGrpSpPr/>
          <p:nvPr/>
        </p:nvGrpSpPr>
        <p:grpSpPr>
          <a:xfrm>
            <a:off x="4903311" y="3882834"/>
            <a:ext cx="6288958" cy="1613191"/>
            <a:chOff x="5255259" y="4709158"/>
            <a:chExt cx="6723380" cy="2057400"/>
          </a:xfrm>
        </p:grpSpPr>
        <p:pic>
          <p:nvPicPr>
            <p:cNvPr id="12" name="object 5">
              <a:extLst>
                <a:ext uri="{FF2B5EF4-FFF2-40B4-BE49-F238E27FC236}">
                  <a16:creationId xmlns:a16="http://schemas.microsoft.com/office/drawing/2014/main" id="{738E452D-52E7-29A6-4EE7-D6F010C1BF24}"/>
                </a:ext>
              </a:extLst>
            </p:cNvPr>
            <p:cNvPicPr/>
            <p:nvPr/>
          </p:nvPicPr>
          <p:blipFill>
            <a:blip r:embed="rId13" cstate="print"/>
            <a:stretch>
              <a:fillRect/>
            </a:stretch>
          </p:blipFill>
          <p:spPr>
            <a:xfrm>
              <a:off x="5255259" y="4709158"/>
              <a:ext cx="6723380" cy="2057400"/>
            </a:xfrm>
            <a:prstGeom prst="rect">
              <a:avLst/>
            </a:prstGeom>
          </p:spPr>
        </p:pic>
        <p:sp>
          <p:nvSpPr>
            <p:cNvPr id="13" name="object 6">
              <a:extLst>
                <a:ext uri="{FF2B5EF4-FFF2-40B4-BE49-F238E27FC236}">
                  <a16:creationId xmlns:a16="http://schemas.microsoft.com/office/drawing/2014/main" id="{ACCCE2F7-A08A-3FD3-A223-6C5C37CA64B1}"/>
                </a:ext>
              </a:extLst>
            </p:cNvPr>
            <p:cNvSpPr/>
            <p:nvPr/>
          </p:nvSpPr>
          <p:spPr>
            <a:xfrm>
              <a:off x="5293359" y="6250939"/>
              <a:ext cx="5674360" cy="241300"/>
            </a:xfrm>
            <a:custGeom>
              <a:avLst/>
              <a:gdLst/>
              <a:ahLst/>
              <a:cxnLst/>
              <a:rect l="l" t="t" r="r" b="b"/>
              <a:pathLst>
                <a:path w="5674359" h="241300">
                  <a:moveTo>
                    <a:pt x="0" y="40220"/>
                  </a:moveTo>
                  <a:lnTo>
                    <a:pt x="3165" y="24565"/>
                  </a:lnTo>
                  <a:lnTo>
                    <a:pt x="11795" y="11780"/>
                  </a:lnTo>
                  <a:lnTo>
                    <a:pt x="24592" y="3160"/>
                  </a:lnTo>
                  <a:lnTo>
                    <a:pt x="40259" y="0"/>
                  </a:lnTo>
                  <a:lnTo>
                    <a:pt x="5634100" y="0"/>
                  </a:lnTo>
                  <a:lnTo>
                    <a:pt x="5649767" y="3160"/>
                  </a:lnTo>
                  <a:lnTo>
                    <a:pt x="5662564" y="11780"/>
                  </a:lnTo>
                  <a:lnTo>
                    <a:pt x="5671194" y="24565"/>
                  </a:lnTo>
                  <a:lnTo>
                    <a:pt x="5674360" y="40220"/>
                  </a:lnTo>
                  <a:lnTo>
                    <a:pt x="5674360" y="201079"/>
                  </a:lnTo>
                  <a:lnTo>
                    <a:pt x="5671194" y="216734"/>
                  </a:lnTo>
                  <a:lnTo>
                    <a:pt x="5662564" y="229519"/>
                  </a:lnTo>
                  <a:lnTo>
                    <a:pt x="5649767" y="238139"/>
                  </a:lnTo>
                  <a:lnTo>
                    <a:pt x="5634100" y="241300"/>
                  </a:lnTo>
                  <a:lnTo>
                    <a:pt x="40259" y="241300"/>
                  </a:lnTo>
                  <a:lnTo>
                    <a:pt x="24592" y="238139"/>
                  </a:lnTo>
                  <a:lnTo>
                    <a:pt x="11795" y="229519"/>
                  </a:lnTo>
                  <a:lnTo>
                    <a:pt x="3165" y="216734"/>
                  </a:lnTo>
                  <a:lnTo>
                    <a:pt x="0" y="201079"/>
                  </a:lnTo>
                  <a:lnTo>
                    <a:pt x="0" y="40220"/>
                  </a:lnTo>
                  <a:close/>
                </a:path>
              </a:pathLst>
            </a:custGeom>
            <a:ln w="41275">
              <a:solidFill>
                <a:srgbClr val="FF0000"/>
              </a:solidFill>
            </a:ln>
          </p:spPr>
          <p:txBody>
            <a:bodyPr wrap="square" lIns="0" tIns="0" rIns="0" bIns="0" rtlCol="0"/>
            <a:lstStyle>
              <a:defPPr>
                <a:defRPr kern="0"/>
              </a:defPPr>
            </a:lstStyle>
            <a:p>
              <a:endParaRPr/>
            </a:p>
          </p:txBody>
        </p:sp>
      </p:grpSp>
    </p:spTree>
    <p:extLst>
      <p:ext uri="{BB962C8B-B14F-4D97-AF65-F5344CB8AC3E}">
        <p14:creationId xmlns:p14="http://schemas.microsoft.com/office/powerpoint/2010/main" val="5393832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50E96-41BA-7F06-2F97-8C652B0AB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BBE4B-DE29-235B-8835-EFEA7C057ACF}"/>
              </a:ext>
            </a:extLst>
          </p:cNvPr>
          <p:cNvSpPr>
            <a:spLocks noGrp="1"/>
          </p:cNvSpPr>
          <p:nvPr>
            <p:ph type="title"/>
          </p:nvPr>
        </p:nvSpPr>
        <p:spPr>
          <a:xfrm>
            <a:off x="629500" y="277838"/>
            <a:ext cx="9188268" cy="1068223"/>
          </a:xfrm>
        </p:spPr>
        <p:txBody>
          <a:bodyPr/>
          <a:lstStyle/>
          <a:p>
            <a:r>
              <a:rPr lang="en-GB" sz="4400" spc="-10" dirty="0"/>
              <a:t>Optimisers</a:t>
            </a:r>
            <a:endParaRPr lang="en-US" dirty="0">
              <a:solidFill>
                <a:srgbClr val="942D6D"/>
              </a:solidFill>
            </a:endParaRPr>
          </a:p>
        </p:txBody>
      </p:sp>
      <p:cxnSp>
        <p:nvCxnSpPr>
          <p:cNvPr id="4" name="Straight Connector 3">
            <a:extLst>
              <a:ext uri="{FF2B5EF4-FFF2-40B4-BE49-F238E27FC236}">
                <a16:creationId xmlns:a16="http://schemas.microsoft.com/office/drawing/2014/main" id="{86B2DC98-930F-48B2-F0D5-CA1319D322ED}"/>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809FCA74-5296-7C1E-8E16-CC2062037D05}"/>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F2DD4B89-25FF-AC81-1E8E-7E7BC0C71414}"/>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3">
            <a:extLst>
              <a:ext uri="{FF2B5EF4-FFF2-40B4-BE49-F238E27FC236}">
                <a16:creationId xmlns:a16="http://schemas.microsoft.com/office/drawing/2014/main" id="{6A3AB9FB-538C-621C-7B85-1FCE0C38D9E4}"/>
              </a:ext>
            </a:extLst>
          </p:cNvPr>
          <p:cNvSpPr txBox="1"/>
          <p:nvPr/>
        </p:nvSpPr>
        <p:spPr>
          <a:xfrm>
            <a:off x="941228" y="1382719"/>
            <a:ext cx="1779270" cy="4113529"/>
          </a:xfrm>
          <a:prstGeom prst="rect">
            <a:avLst/>
          </a:prstGeom>
        </p:spPr>
        <p:txBody>
          <a:bodyPr vert="horz" wrap="square" lIns="0" tIns="95885" rIns="0" bIns="0" rtlCol="0">
            <a:spAutoFit/>
          </a:bodyPr>
          <a:lstStyle>
            <a:defPPr>
              <a:defRPr kern="0"/>
            </a:defPPr>
          </a:lstStyle>
          <a:p>
            <a:pPr marL="240665" indent="-227965">
              <a:lnSpc>
                <a:spcPct val="100000"/>
              </a:lnSpc>
              <a:spcBef>
                <a:spcPts val="755"/>
              </a:spcBef>
              <a:buClr>
                <a:srgbClr val="D00000"/>
              </a:buClr>
              <a:buFont typeface="Arial"/>
              <a:buChar char="•"/>
              <a:tabLst>
                <a:tab pos="240665" algn="l"/>
              </a:tabLst>
            </a:pPr>
            <a:r>
              <a:rPr sz="2800" u="sng" spc="-25" dirty="0">
                <a:solidFill>
                  <a:srgbClr val="0462C1"/>
                </a:solidFill>
                <a:uFill>
                  <a:solidFill>
                    <a:srgbClr val="0462C1"/>
                  </a:solidFill>
                </a:uFill>
                <a:latin typeface="Lucida Sans Unicode"/>
                <a:cs typeface="Lucida Sans Unicode"/>
                <a:hlinkClick r:id="rId3"/>
              </a:rPr>
              <a:t>SGD</a:t>
            </a:r>
            <a:endParaRPr sz="2800">
              <a:latin typeface="Lucida Sans Unicode"/>
              <a:cs typeface="Lucida Sans Unicode"/>
            </a:endParaRPr>
          </a:p>
          <a:p>
            <a:pPr marL="240665" indent="-227965">
              <a:lnSpc>
                <a:spcPct val="100000"/>
              </a:lnSpc>
              <a:spcBef>
                <a:spcPts val="660"/>
              </a:spcBef>
              <a:buClr>
                <a:srgbClr val="D00000"/>
              </a:buClr>
              <a:buFont typeface="Arial"/>
              <a:buChar char="•"/>
              <a:tabLst>
                <a:tab pos="240665" algn="l"/>
              </a:tabLst>
            </a:pPr>
            <a:r>
              <a:rPr sz="2800" u="sng" spc="-10" dirty="0">
                <a:solidFill>
                  <a:srgbClr val="0462C1"/>
                </a:solidFill>
                <a:uFill>
                  <a:solidFill>
                    <a:srgbClr val="0462C1"/>
                  </a:solidFill>
                </a:uFill>
                <a:latin typeface="Lucida Sans Unicode"/>
                <a:cs typeface="Lucida Sans Unicode"/>
                <a:hlinkClick r:id="rId4"/>
              </a:rPr>
              <a:t>RMSprop</a:t>
            </a:r>
            <a:endParaRPr sz="2800">
              <a:latin typeface="Lucida Sans Unicode"/>
              <a:cs typeface="Lucida Sans Unicode"/>
            </a:endParaRPr>
          </a:p>
          <a:p>
            <a:pPr marL="240665" indent="-227965">
              <a:lnSpc>
                <a:spcPct val="100000"/>
              </a:lnSpc>
              <a:spcBef>
                <a:spcPts val="665"/>
              </a:spcBef>
              <a:buClr>
                <a:srgbClr val="D00000"/>
              </a:buClr>
              <a:buFont typeface="Arial"/>
              <a:buChar char="•"/>
              <a:tabLst>
                <a:tab pos="240665" algn="l"/>
              </a:tabLst>
            </a:pPr>
            <a:r>
              <a:rPr sz="2800" u="sng" spc="-20" dirty="0">
                <a:solidFill>
                  <a:srgbClr val="0462C1"/>
                </a:solidFill>
                <a:uFill>
                  <a:solidFill>
                    <a:srgbClr val="0462C1"/>
                  </a:solidFill>
                </a:uFill>
                <a:latin typeface="Lucida Sans Unicode"/>
                <a:cs typeface="Lucida Sans Unicode"/>
                <a:hlinkClick r:id="rId5"/>
              </a:rPr>
              <a:t>Adam</a:t>
            </a:r>
            <a:endParaRPr sz="2800">
              <a:latin typeface="Lucida Sans Unicode"/>
              <a:cs typeface="Lucida Sans Unicode"/>
            </a:endParaRPr>
          </a:p>
          <a:p>
            <a:pPr marL="240665" indent="-227965">
              <a:lnSpc>
                <a:spcPct val="100000"/>
              </a:lnSpc>
              <a:spcBef>
                <a:spcPts val="680"/>
              </a:spcBef>
              <a:buClr>
                <a:srgbClr val="D00000"/>
              </a:buClr>
              <a:buFont typeface="Arial"/>
              <a:buChar char="•"/>
              <a:tabLst>
                <a:tab pos="240665" algn="l"/>
              </a:tabLst>
            </a:pPr>
            <a:r>
              <a:rPr sz="2800" u="sng" spc="-10" dirty="0">
                <a:solidFill>
                  <a:srgbClr val="0462C1"/>
                </a:solidFill>
                <a:uFill>
                  <a:solidFill>
                    <a:srgbClr val="0462C1"/>
                  </a:solidFill>
                </a:uFill>
                <a:latin typeface="Lucida Sans Unicode"/>
                <a:cs typeface="Lucida Sans Unicode"/>
                <a:hlinkClick r:id="rId6"/>
              </a:rPr>
              <a:t>Adadelta</a:t>
            </a:r>
            <a:endParaRPr sz="2800">
              <a:latin typeface="Lucida Sans Unicode"/>
              <a:cs typeface="Lucida Sans Unicode"/>
            </a:endParaRPr>
          </a:p>
          <a:p>
            <a:pPr marL="240665" indent="-227965">
              <a:lnSpc>
                <a:spcPct val="100000"/>
              </a:lnSpc>
              <a:spcBef>
                <a:spcPts val="660"/>
              </a:spcBef>
              <a:buClr>
                <a:srgbClr val="D00000"/>
              </a:buClr>
              <a:buFont typeface="Arial"/>
              <a:buChar char="•"/>
              <a:tabLst>
                <a:tab pos="240665" algn="l"/>
              </a:tabLst>
            </a:pPr>
            <a:r>
              <a:rPr sz="2800" u="sng" spc="-10" dirty="0">
                <a:solidFill>
                  <a:srgbClr val="0462C1"/>
                </a:solidFill>
                <a:uFill>
                  <a:solidFill>
                    <a:srgbClr val="0462C1"/>
                  </a:solidFill>
                </a:uFill>
                <a:latin typeface="Lucida Sans Unicode"/>
                <a:cs typeface="Lucida Sans Unicode"/>
                <a:hlinkClick r:id="rId7"/>
              </a:rPr>
              <a:t>Adagrad</a:t>
            </a:r>
            <a:endParaRPr sz="2800">
              <a:latin typeface="Lucida Sans Unicode"/>
              <a:cs typeface="Lucida Sans Unicode"/>
            </a:endParaRPr>
          </a:p>
          <a:p>
            <a:pPr marL="240665" indent="-227965">
              <a:lnSpc>
                <a:spcPct val="100000"/>
              </a:lnSpc>
              <a:spcBef>
                <a:spcPts val="665"/>
              </a:spcBef>
              <a:buClr>
                <a:srgbClr val="D00000"/>
              </a:buClr>
              <a:buFont typeface="Arial"/>
              <a:buChar char="•"/>
              <a:tabLst>
                <a:tab pos="240665" algn="l"/>
              </a:tabLst>
            </a:pPr>
            <a:r>
              <a:rPr sz="2800" u="sng" spc="-10" dirty="0">
                <a:solidFill>
                  <a:srgbClr val="0462C1"/>
                </a:solidFill>
                <a:uFill>
                  <a:solidFill>
                    <a:srgbClr val="0462C1"/>
                  </a:solidFill>
                </a:uFill>
                <a:latin typeface="Lucida Sans Unicode"/>
                <a:cs typeface="Lucida Sans Unicode"/>
                <a:hlinkClick r:id="rId8"/>
              </a:rPr>
              <a:t>Adamax</a:t>
            </a:r>
            <a:endParaRPr sz="2800">
              <a:latin typeface="Lucida Sans Unicode"/>
              <a:cs typeface="Lucida Sans Unicode"/>
            </a:endParaRPr>
          </a:p>
          <a:p>
            <a:pPr marL="240665" indent="-227965">
              <a:lnSpc>
                <a:spcPct val="100000"/>
              </a:lnSpc>
              <a:spcBef>
                <a:spcPts val="660"/>
              </a:spcBef>
              <a:buClr>
                <a:srgbClr val="D00000"/>
              </a:buClr>
              <a:buFont typeface="Arial"/>
              <a:buChar char="•"/>
              <a:tabLst>
                <a:tab pos="240665" algn="l"/>
              </a:tabLst>
            </a:pPr>
            <a:r>
              <a:rPr sz="2800" u="sng" spc="-10" dirty="0">
                <a:solidFill>
                  <a:srgbClr val="0462C1"/>
                </a:solidFill>
                <a:uFill>
                  <a:solidFill>
                    <a:srgbClr val="0462C1"/>
                  </a:solidFill>
                </a:uFill>
                <a:latin typeface="Lucida Sans Unicode"/>
                <a:cs typeface="Lucida Sans Unicode"/>
                <a:hlinkClick r:id="rId9"/>
              </a:rPr>
              <a:t>Nadam</a:t>
            </a:r>
            <a:endParaRPr sz="2800">
              <a:latin typeface="Lucida Sans Unicode"/>
              <a:cs typeface="Lucida Sans Unicode"/>
            </a:endParaRPr>
          </a:p>
          <a:p>
            <a:pPr marL="240665" indent="-227965">
              <a:lnSpc>
                <a:spcPct val="100000"/>
              </a:lnSpc>
              <a:spcBef>
                <a:spcPts val="660"/>
              </a:spcBef>
              <a:buClr>
                <a:srgbClr val="D00000"/>
              </a:buClr>
              <a:buFont typeface="Arial"/>
              <a:buChar char="•"/>
              <a:tabLst>
                <a:tab pos="240665" algn="l"/>
              </a:tabLst>
            </a:pPr>
            <a:r>
              <a:rPr sz="2800" u="sng" spc="-20" dirty="0">
                <a:solidFill>
                  <a:srgbClr val="0462C1"/>
                </a:solidFill>
                <a:uFill>
                  <a:solidFill>
                    <a:srgbClr val="0462C1"/>
                  </a:solidFill>
                </a:uFill>
                <a:latin typeface="Lucida Sans Unicode"/>
                <a:cs typeface="Lucida Sans Unicode"/>
                <a:hlinkClick r:id="rId10"/>
              </a:rPr>
              <a:t>Ftrl</a:t>
            </a:r>
            <a:endParaRPr sz="2800">
              <a:latin typeface="Lucida Sans Unicode"/>
              <a:cs typeface="Lucida Sans Unicode"/>
            </a:endParaRPr>
          </a:p>
        </p:txBody>
      </p:sp>
      <p:grpSp>
        <p:nvGrpSpPr>
          <p:cNvPr id="9" name="object 4">
            <a:extLst>
              <a:ext uri="{FF2B5EF4-FFF2-40B4-BE49-F238E27FC236}">
                <a16:creationId xmlns:a16="http://schemas.microsoft.com/office/drawing/2014/main" id="{6E9392E9-9611-F8AE-F186-F9317F6D0E5D}"/>
              </a:ext>
            </a:extLst>
          </p:cNvPr>
          <p:cNvGrpSpPr/>
          <p:nvPr/>
        </p:nvGrpSpPr>
        <p:grpSpPr>
          <a:xfrm>
            <a:off x="4527391" y="1361752"/>
            <a:ext cx="6723380" cy="2057400"/>
            <a:chOff x="4503420" y="1691639"/>
            <a:chExt cx="6723380" cy="2057400"/>
          </a:xfrm>
        </p:grpSpPr>
        <p:pic>
          <p:nvPicPr>
            <p:cNvPr id="10" name="object 5">
              <a:extLst>
                <a:ext uri="{FF2B5EF4-FFF2-40B4-BE49-F238E27FC236}">
                  <a16:creationId xmlns:a16="http://schemas.microsoft.com/office/drawing/2014/main" id="{380E7C2D-BACF-540E-52F9-33ADD88689E9}"/>
                </a:ext>
              </a:extLst>
            </p:cNvPr>
            <p:cNvPicPr/>
            <p:nvPr/>
          </p:nvPicPr>
          <p:blipFill>
            <a:blip r:embed="rId11" cstate="print"/>
            <a:stretch>
              <a:fillRect/>
            </a:stretch>
          </p:blipFill>
          <p:spPr>
            <a:xfrm>
              <a:off x="4503420" y="1691639"/>
              <a:ext cx="6723380" cy="2057400"/>
            </a:xfrm>
            <a:prstGeom prst="rect">
              <a:avLst/>
            </a:prstGeom>
          </p:spPr>
        </p:pic>
        <p:sp>
          <p:nvSpPr>
            <p:cNvPr id="11" name="object 6">
              <a:extLst>
                <a:ext uri="{FF2B5EF4-FFF2-40B4-BE49-F238E27FC236}">
                  <a16:creationId xmlns:a16="http://schemas.microsoft.com/office/drawing/2014/main" id="{77AD878A-B77B-0728-3838-2562725ABB49}"/>
                </a:ext>
              </a:extLst>
            </p:cNvPr>
            <p:cNvSpPr/>
            <p:nvPr/>
          </p:nvSpPr>
          <p:spPr>
            <a:xfrm>
              <a:off x="6888480" y="3421379"/>
              <a:ext cx="1762760" cy="327660"/>
            </a:xfrm>
            <a:custGeom>
              <a:avLst/>
              <a:gdLst/>
              <a:ahLst/>
              <a:cxnLst/>
              <a:rect l="l" t="t" r="r" b="b"/>
              <a:pathLst>
                <a:path w="1762759" h="327660">
                  <a:moveTo>
                    <a:pt x="0" y="54610"/>
                  </a:moveTo>
                  <a:lnTo>
                    <a:pt x="4300" y="33379"/>
                  </a:lnTo>
                  <a:lnTo>
                    <a:pt x="16017" y="16017"/>
                  </a:lnTo>
                  <a:lnTo>
                    <a:pt x="33379" y="4300"/>
                  </a:lnTo>
                  <a:lnTo>
                    <a:pt x="54610" y="0"/>
                  </a:lnTo>
                  <a:lnTo>
                    <a:pt x="1708150" y="0"/>
                  </a:lnTo>
                  <a:lnTo>
                    <a:pt x="1729380" y="4300"/>
                  </a:lnTo>
                  <a:lnTo>
                    <a:pt x="1746742" y="16017"/>
                  </a:lnTo>
                  <a:lnTo>
                    <a:pt x="1758459" y="33379"/>
                  </a:lnTo>
                  <a:lnTo>
                    <a:pt x="1762760" y="54610"/>
                  </a:lnTo>
                  <a:lnTo>
                    <a:pt x="1762760" y="273050"/>
                  </a:lnTo>
                  <a:lnTo>
                    <a:pt x="1758459" y="294280"/>
                  </a:lnTo>
                  <a:lnTo>
                    <a:pt x="1746742" y="311642"/>
                  </a:lnTo>
                  <a:lnTo>
                    <a:pt x="1729380" y="323359"/>
                  </a:lnTo>
                  <a:lnTo>
                    <a:pt x="1708150" y="327660"/>
                  </a:lnTo>
                  <a:lnTo>
                    <a:pt x="54610" y="327660"/>
                  </a:lnTo>
                  <a:lnTo>
                    <a:pt x="33379" y="323359"/>
                  </a:lnTo>
                  <a:lnTo>
                    <a:pt x="16017" y="311642"/>
                  </a:lnTo>
                  <a:lnTo>
                    <a:pt x="4300" y="294280"/>
                  </a:lnTo>
                  <a:lnTo>
                    <a:pt x="0" y="273050"/>
                  </a:lnTo>
                  <a:lnTo>
                    <a:pt x="0" y="54610"/>
                  </a:lnTo>
                  <a:close/>
                </a:path>
              </a:pathLst>
            </a:custGeom>
            <a:ln w="41275">
              <a:solidFill>
                <a:srgbClr val="FF0000"/>
              </a:solidFill>
            </a:ln>
          </p:spPr>
          <p:txBody>
            <a:bodyPr wrap="square" lIns="0" tIns="0" rIns="0" bIns="0" rtlCol="0"/>
            <a:lstStyle>
              <a:defPPr>
                <a:defRPr kern="0"/>
              </a:defPPr>
            </a:lstStyle>
            <a:p>
              <a:endParaRPr/>
            </a:p>
          </p:txBody>
        </p:sp>
      </p:grpSp>
    </p:spTree>
    <p:extLst>
      <p:ext uri="{BB962C8B-B14F-4D97-AF65-F5344CB8AC3E}">
        <p14:creationId xmlns:p14="http://schemas.microsoft.com/office/powerpoint/2010/main" val="7164249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CDD8-9F27-3AB6-54D0-987B41DD2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23DD0-BB61-A7B3-F6D1-BA375D90B6C6}"/>
              </a:ext>
            </a:extLst>
          </p:cNvPr>
          <p:cNvSpPr>
            <a:spLocks noGrp="1"/>
          </p:cNvSpPr>
          <p:nvPr>
            <p:ph type="title"/>
          </p:nvPr>
        </p:nvSpPr>
        <p:spPr>
          <a:xfrm>
            <a:off x="629500" y="277838"/>
            <a:ext cx="9188268" cy="1068223"/>
          </a:xfrm>
        </p:spPr>
        <p:txBody>
          <a:bodyPr/>
          <a:lstStyle/>
          <a:p>
            <a:r>
              <a:rPr lang="en-GB" sz="4400" spc="-229" dirty="0" err="1"/>
              <a:t>G</a:t>
            </a:r>
            <a:r>
              <a:rPr lang="en-GB" sz="4400" spc="-300" dirty="0" err="1"/>
              <a:t>r</a:t>
            </a:r>
            <a:r>
              <a:rPr lang="en-GB" sz="4400" spc="-220" dirty="0" err="1"/>
              <a:t>a</a:t>
            </a:r>
            <a:r>
              <a:rPr lang="en-GB" sz="4400" spc="-235" dirty="0" err="1"/>
              <a:t>d</a:t>
            </a:r>
            <a:r>
              <a:rPr lang="en-GB" sz="4400" spc="-215" dirty="0" err="1"/>
              <a:t>i</a:t>
            </a:r>
            <a:r>
              <a:rPr lang="en-GB" sz="4400" spc="-220" dirty="0" err="1"/>
              <a:t>e</a:t>
            </a:r>
            <a:r>
              <a:rPr lang="en-GB" sz="4400" spc="-275" dirty="0" err="1"/>
              <a:t>n</a:t>
            </a:r>
            <a:r>
              <a:rPr lang="en-GB" sz="4400" spc="315" dirty="0" err="1"/>
              <a:t>t</a:t>
            </a:r>
            <a:r>
              <a:rPr lang="en-GB" sz="4400" spc="-300" dirty="0" err="1"/>
              <a:t>D</a:t>
            </a:r>
            <a:r>
              <a:rPr lang="en-GB" sz="4400" spc="-295" dirty="0" err="1"/>
              <a:t>e</a:t>
            </a:r>
            <a:r>
              <a:rPr lang="en-GB" sz="4400" spc="-300" dirty="0" err="1"/>
              <a:t>sc</a:t>
            </a:r>
            <a:r>
              <a:rPr lang="en-GB" sz="4400" spc="-295" dirty="0" err="1"/>
              <a:t>e</a:t>
            </a:r>
            <a:r>
              <a:rPr lang="en-GB" sz="4400" spc="-355" dirty="0" err="1"/>
              <a:t>n</a:t>
            </a:r>
            <a:r>
              <a:rPr lang="en-GB" sz="4400" dirty="0" err="1"/>
              <a:t>t</a:t>
            </a:r>
            <a:endParaRPr lang="en-US" dirty="0">
              <a:solidFill>
                <a:srgbClr val="942D6D"/>
              </a:solidFill>
            </a:endParaRPr>
          </a:p>
        </p:txBody>
      </p:sp>
      <p:cxnSp>
        <p:nvCxnSpPr>
          <p:cNvPr id="4" name="Straight Connector 3">
            <a:extLst>
              <a:ext uri="{FF2B5EF4-FFF2-40B4-BE49-F238E27FC236}">
                <a16:creationId xmlns:a16="http://schemas.microsoft.com/office/drawing/2014/main" id="{872E1B6F-C3CB-9EB8-2CB8-E2BDDE871C6D}"/>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3B3D9FE6-2BAD-FB7C-01F0-D2D1802D7744}"/>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2EF4F1F9-3EA9-27F5-6EC2-A9426198C9D5}"/>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object 2">
            <a:extLst>
              <a:ext uri="{FF2B5EF4-FFF2-40B4-BE49-F238E27FC236}">
                <a16:creationId xmlns:a16="http://schemas.microsoft.com/office/drawing/2014/main" id="{365610EE-FC1A-87C3-0AF6-0DD37701A18E}"/>
              </a:ext>
            </a:extLst>
          </p:cNvPr>
          <p:cNvPicPr/>
          <p:nvPr/>
        </p:nvPicPr>
        <p:blipFill>
          <a:blip r:embed="rId3" cstate="print"/>
          <a:stretch>
            <a:fillRect/>
          </a:stretch>
        </p:blipFill>
        <p:spPr>
          <a:xfrm>
            <a:off x="6175851" y="1511555"/>
            <a:ext cx="4899660" cy="3037840"/>
          </a:xfrm>
          <a:prstGeom prst="rect">
            <a:avLst/>
          </a:prstGeom>
        </p:spPr>
      </p:pic>
      <p:sp>
        <p:nvSpPr>
          <p:cNvPr id="8" name="object 4">
            <a:extLst>
              <a:ext uri="{FF2B5EF4-FFF2-40B4-BE49-F238E27FC236}">
                <a16:creationId xmlns:a16="http://schemas.microsoft.com/office/drawing/2014/main" id="{F688AD30-5F6A-7180-F31D-74C9B572E9EF}"/>
              </a:ext>
            </a:extLst>
          </p:cNvPr>
          <p:cNvSpPr txBox="1"/>
          <p:nvPr/>
        </p:nvSpPr>
        <p:spPr>
          <a:xfrm>
            <a:off x="1116488" y="1460818"/>
            <a:ext cx="3597910" cy="3936365"/>
          </a:xfrm>
          <a:prstGeom prst="rect">
            <a:avLst/>
          </a:prstGeom>
        </p:spPr>
        <p:txBody>
          <a:bodyPr vert="horz" wrap="square" lIns="0" tIns="46990" rIns="0" bIns="0" rtlCol="0">
            <a:spAutoFit/>
          </a:bodyPr>
          <a:lstStyle>
            <a:defPPr>
              <a:defRPr kern="0"/>
            </a:defPPr>
          </a:lstStyle>
          <a:p>
            <a:pPr marL="241300" marR="26034" indent="-228600">
              <a:lnSpc>
                <a:spcPct val="89800"/>
              </a:lnSpc>
              <a:spcBef>
                <a:spcPts val="370"/>
              </a:spcBef>
              <a:buFont typeface="Wingdings"/>
              <a:buChar char=""/>
              <a:tabLst>
                <a:tab pos="241300" algn="l"/>
              </a:tabLst>
            </a:pPr>
            <a:r>
              <a:rPr sz="2200" spc="-90" dirty="0">
                <a:solidFill>
                  <a:srgbClr val="242424"/>
                </a:solidFill>
                <a:latin typeface="Arial"/>
                <a:cs typeface="Arial"/>
              </a:rPr>
              <a:t>Gradient</a:t>
            </a:r>
            <a:r>
              <a:rPr sz="2200" spc="-155" dirty="0">
                <a:solidFill>
                  <a:srgbClr val="242424"/>
                </a:solidFill>
                <a:latin typeface="Arial"/>
                <a:cs typeface="Arial"/>
              </a:rPr>
              <a:t> </a:t>
            </a:r>
            <a:r>
              <a:rPr sz="2200" spc="-135" dirty="0">
                <a:solidFill>
                  <a:srgbClr val="242424"/>
                </a:solidFill>
                <a:latin typeface="Arial"/>
                <a:cs typeface="Arial"/>
              </a:rPr>
              <a:t>Descent</a:t>
            </a:r>
            <a:r>
              <a:rPr sz="2200" spc="-160" dirty="0">
                <a:solidFill>
                  <a:srgbClr val="242424"/>
                </a:solidFill>
                <a:latin typeface="Arial"/>
                <a:cs typeface="Arial"/>
              </a:rPr>
              <a:t> </a:t>
            </a:r>
            <a:r>
              <a:rPr sz="2200" spc="-75" dirty="0">
                <a:solidFill>
                  <a:srgbClr val="242424"/>
                </a:solidFill>
                <a:latin typeface="Arial"/>
                <a:cs typeface="Arial"/>
              </a:rPr>
              <a:t>is</a:t>
            </a:r>
            <a:r>
              <a:rPr sz="2200" spc="-180" dirty="0">
                <a:solidFill>
                  <a:srgbClr val="242424"/>
                </a:solidFill>
                <a:latin typeface="Arial"/>
                <a:cs typeface="Arial"/>
              </a:rPr>
              <a:t> </a:t>
            </a:r>
            <a:r>
              <a:rPr sz="2200" dirty="0">
                <a:solidFill>
                  <a:srgbClr val="242424"/>
                </a:solidFill>
                <a:latin typeface="Arial"/>
                <a:cs typeface="Arial"/>
              </a:rPr>
              <a:t>a</a:t>
            </a:r>
            <a:r>
              <a:rPr sz="2200" spc="-320" dirty="0">
                <a:solidFill>
                  <a:srgbClr val="242424"/>
                </a:solidFill>
                <a:latin typeface="Arial"/>
                <a:cs typeface="Arial"/>
              </a:rPr>
              <a:t> </a:t>
            </a:r>
            <a:r>
              <a:rPr sz="2200" spc="-114" dirty="0">
                <a:solidFill>
                  <a:srgbClr val="242424"/>
                </a:solidFill>
                <a:latin typeface="Arial"/>
                <a:cs typeface="Arial"/>
              </a:rPr>
              <a:t>process </a:t>
            </a:r>
            <a:r>
              <a:rPr sz="2200" dirty="0">
                <a:solidFill>
                  <a:srgbClr val="242424"/>
                </a:solidFill>
                <a:latin typeface="Arial"/>
                <a:cs typeface="Arial"/>
              </a:rPr>
              <a:t>of</a:t>
            </a:r>
            <a:r>
              <a:rPr sz="2200" spc="-50" dirty="0">
                <a:solidFill>
                  <a:srgbClr val="242424"/>
                </a:solidFill>
                <a:latin typeface="Arial"/>
                <a:cs typeface="Arial"/>
              </a:rPr>
              <a:t> </a:t>
            </a:r>
            <a:r>
              <a:rPr sz="2200" spc="-30" dirty="0">
                <a:solidFill>
                  <a:srgbClr val="242424"/>
                </a:solidFill>
                <a:latin typeface="Arial"/>
                <a:cs typeface="Arial"/>
              </a:rPr>
              <a:t>trying</a:t>
            </a:r>
            <a:r>
              <a:rPr sz="2200" spc="-15" dirty="0">
                <a:solidFill>
                  <a:srgbClr val="242424"/>
                </a:solidFill>
                <a:latin typeface="Arial"/>
                <a:cs typeface="Arial"/>
              </a:rPr>
              <a:t> </a:t>
            </a:r>
            <a:r>
              <a:rPr sz="2200" dirty="0">
                <a:solidFill>
                  <a:srgbClr val="242424"/>
                </a:solidFill>
                <a:latin typeface="Arial"/>
                <a:cs typeface="Arial"/>
              </a:rPr>
              <a:t>to</a:t>
            </a:r>
            <a:r>
              <a:rPr sz="2200" spc="-20" dirty="0">
                <a:solidFill>
                  <a:srgbClr val="242424"/>
                </a:solidFill>
                <a:latin typeface="Arial"/>
                <a:cs typeface="Arial"/>
              </a:rPr>
              <a:t> </a:t>
            </a:r>
            <a:r>
              <a:rPr sz="2200" spc="-85" dirty="0">
                <a:solidFill>
                  <a:srgbClr val="242424"/>
                </a:solidFill>
                <a:latin typeface="Arial"/>
                <a:cs typeface="Arial"/>
              </a:rPr>
              <a:t>minimize</a:t>
            </a:r>
            <a:r>
              <a:rPr sz="2200" spc="-140" dirty="0">
                <a:solidFill>
                  <a:srgbClr val="242424"/>
                </a:solidFill>
                <a:latin typeface="Arial"/>
                <a:cs typeface="Arial"/>
              </a:rPr>
              <a:t> </a:t>
            </a:r>
            <a:r>
              <a:rPr sz="2200" spc="-25" dirty="0">
                <a:solidFill>
                  <a:srgbClr val="242424"/>
                </a:solidFill>
                <a:latin typeface="Arial"/>
                <a:cs typeface="Arial"/>
              </a:rPr>
              <a:t>the </a:t>
            </a:r>
            <a:r>
              <a:rPr sz="2200" spc="-40" dirty="0">
                <a:solidFill>
                  <a:srgbClr val="242424"/>
                </a:solidFill>
                <a:latin typeface="Arial"/>
                <a:cs typeface="Arial"/>
              </a:rPr>
              <a:t>error</a:t>
            </a:r>
            <a:r>
              <a:rPr sz="2200" spc="-114" dirty="0">
                <a:solidFill>
                  <a:srgbClr val="242424"/>
                </a:solidFill>
                <a:latin typeface="Arial"/>
                <a:cs typeface="Arial"/>
              </a:rPr>
              <a:t> </a:t>
            </a:r>
            <a:r>
              <a:rPr sz="2200" spc="-10" dirty="0">
                <a:solidFill>
                  <a:srgbClr val="242424"/>
                </a:solidFill>
                <a:latin typeface="Arial"/>
                <a:cs typeface="Arial"/>
              </a:rPr>
              <a:t>function.</a:t>
            </a:r>
            <a:endParaRPr sz="2200">
              <a:latin typeface="Arial"/>
              <a:cs typeface="Arial"/>
            </a:endParaRPr>
          </a:p>
          <a:p>
            <a:pPr marL="241300" marR="5080" indent="-228600">
              <a:lnSpc>
                <a:spcPct val="90200"/>
              </a:lnSpc>
              <a:spcBef>
                <a:spcPts val="1000"/>
              </a:spcBef>
              <a:buFont typeface="Wingdings"/>
              <a:buChar char=""/>
              <a:tabLst>
                <a:tab pos="241300" algn="l"/>
              </a:tabLst>
            </a:pPr>
            <a:r>
              <a:rPr sz="2200" spc="-90" dirty="0">
                <a:solidFill>
                  <a:srgbClr val="242424"/>
                </a:solidFill>
                <a:latin typeface="Arial"/>
                <a:cs typeface="Arial"/>
              </a:rPr>
              <a:t>Gradient</a:t>
            </a:r>
            <a:r>
              <a:rPr sz="2200" spc="-114" dirty="0">
                <a:solidFill>
                  <a:srgbClr val="242424"/>
                </a:solidFill>
                <a:latin typeface="Arial"/>
                <a:cs typeface="Arial"/>
              </a:rPr>
              <a:t> </a:t>
            </a:r>
            <a:r>
              <a:rPr sz="2200" spc="-105" dirty="0">
                <a:solidFill>
                  <a:srgbClr val="242424"/>
                </a:solidFill>
                <a:latin typeface="Arial"/>
                <a:cs typeface="Arial"/>
              </a:rPr>
              <a:t>descent</a:t>
            </a:r>
            <a:r>
              <a:rPr sz="2200" spc="-175" dirty="0">
                <a:solidFill>
                  <a:srgbClr val="242424"/>
                </a:solidFill>
                <a:latin typeface="Arial"/>
                <a:cs typeface="Arial"/>
              </a:rPr>
              <a:t> </a:t>
            </a:r>
            <a:r>
              <a:rPr sz="2200" spc="-55" dirty="0">
                <a:solidFill>
                  <a:srgbClr val="242424"/>
                </a:solidFill>
                <a:latin typeface="Arial"/>
                <a:cs typeface="Arial"/>
              </a:rPr>
              <a:t>algorithm</a:t>
            </a:r>
            <a:r>
              <a:rPr sz="2200" spc="-185" dirty="0">
                <a:solidFill>
                  <a:srgbClr val="242424"/>
                </a:solidFill>
                <a:latin typeface="Arial"/>
                <a:cs typeface="Arial"/>
              </a:rPr>
              <a:t> </a:t>
            </a:r>
            <a:r>
              <a:rPr sz="2200" spc="-25" dirty="0">
                <a:solidFill>
                  <a:srgbClr val="242424"/>
                </a:solidFill>
                <a:latin typeface="Arial"/>
                <a:cs typeface="Arial"/>
              </a:rPr>
              <a:t>is </a:t>
            </a:r>
            <a:r>
              <a:rPr sz="2200" spc="-100" dirty="0">
                <a:solidFill>
                  <a:srgbClr val="242424"/>
                </a:solidFill>
                <a:latin typeface="Arial"/>
                <a:cs typeface="Arial"/>
              </a:rPr>
              <a:t>been</a:t>
            </a:r>
            <a:r>
              <a:rPr sz="2200" spc="-220" dirty="0">
                <a:solidFill>
                  <a:srgbClr val="242424"/>
                </a:solidFill>
                <a:latin typeface="Arial"/>
                <a:cs typeface="Arial"/>
              </a:rPr>
              <a:t> </a:t>
            </a:r>
            <a:r>
              <a:rPr sz="2200" spc="-125" dirty="0">
                <a:solidFill>
                  <a:srgbClr val="242424"/>
                </a:solidFill>
                <a:latin typeface="Arial"/>
                <a:cs typeface="Arial"/>
              </a:rPr>
              <a:t>used</a:t>
            </a:r>
            <a:r>
              <a:rPr sz="2200" spc="-210" dirty="0">
                <a:solidFill>
                  <a:srgbClr val="242424"/>
                </a:solidFill>
                <a:latin typeface="Arial"/>
                <a:cs typeface="Arial"/>
              </a:rPr>
              <a:t> </a:t>
            </a:r>
            <a:r>
              <a:rPr sz="2200" dirty="0">
                <a:solidFill>
                  <a:srgbClr val="242424"/>
                </a:solidFill>
                <a:latin typeface="Arial"/>
                <a:cs typeface="Arial"/>
              </a:rPr>
              <a:t>to</a:t>
            </a:r>
            <a:r>
              <a:rPr sz="2200" spc="10" dirty="0">
                <a:solidFill>
                  <a:srgbClr val="242424"/>
                </a:solidFill>
                <a:latin typeface="Arial"/>
                <a:cs typeface="Arial"/>
              </a:rPr>
              <a:t> </a:t>
            </a:r>
            <a:r>
              <a:rPr sz="2200" spc="-10" dirty="0">
                <a:solidFill>
                  <a:srgbClr val="242424"/>
                </a:solidFill>
                <a:latin typeface="Arial"/>
                <a:cs typeface="Arial"/>
              </a:rPr>
              <a:t>train</a:t>
            </a:r>
            <a:r>
              <a:rPr sz="2200" spc="-50" dirty="0">
                <a:solidFill>
                  <a:srgbClr val="242424"/>
                </a:solidFill>
                <a:latin typeface="Arial"/>
                <a:cs typeface="Arial"/>
              </a:rPr>
              <a:t> </a:t>
            </a:r>
            <a:r>
              <a:rPr sz="2200" spc="-90" dirty="0">
                <a:solidFill>
                  <a:srgbClr val="242424"/>
                </a:solidFill>
                <a:latin typeface="Arial"/>
                <a:cs typeface="Arial"/>
              </a:rPr>
              <a:t>and</a:t>
            </a:r>
            <a:r>
              <a:rPr sz="2200" spc="-215" dirty="0">
                <a:solidFill>
                  <a:srgbClr val="242424"/>
                </a:solidFill>
                <a:latin typeface="Arial"/>
                <a:cs typeface="Arial"/>
              </a:rPr>
              <a:t> </a:t>
            </a:r>
            <a:r>
              <a:rPr sz="2200" spc="-20" dirty="0">
                <a:solidFill>
                  <a:srgbClr val="242424"/>
                </a:solidFill>
                <a:latin typeface="Arial"/>
                <a:cs typeface="Arial"/>
              </a:rPr>
              <a:t>also </a:t>
            </a:r>
            <a:r>
              <a:rPr sz="2200" spc="-65" dirty="0">
                <a:solidFill>
                  <a:srgbClr val="242424"/>
                </a:solidFill>
                <a:latin typeface="Arial"/>
                <a:cs typeface="Arial"/>
              </a:rPr>
              <a:t>learn</a:t>
            </a:r>
            <a:r>
              <a:rPr sz="2200" spc="-140" dirty="0">
                <a:solidFill>
                  <a:srgbClr val="242424"/>
                </a:solidFill>
                <a:latin typeface="Arial"/>
                <a:cs typeface="Arial"/>
              </a:rPr>
              <a:t> </a:t>
            </a:r>
            <a:r>
              <a:rPr sz="2200" spc="-10" dirty="0">
                <a:solidFill>
                  <a:srgbClr val="242424"/>
                </a:solidFill>
                <a:latin typeface="Arial"/>
                <a:cs typeface="Arial"/>
              </a:rPr>
              <a:t>the</a:t>
            </a:r>
            <a:r>
              <a:rPr sz="2200" spc="-35" dirty="0">
                <a:solidFill>
                  <a:srgbClr val="242424"/>
                </a:solidFill>
                <a:latin typeface="Arial"/>
                <a:cs typeface="Arial"/>
              </a:rPr>
              <a:t> </a:t>
            </a:r>
            <a:r>
              <a:rPr sz="2200" spc="-110" dirty="0">
                <a:solidFill>
                  <a:srgbClr val="242424"/>
                </a:solidFill>
                <a:latin typeface="Arial"/>
                <a:cs typeface="Arial"/>
              </a:rPr>
              <a:t>parameters</a:t>
            </a:r>
            <a:r>
              <a:rPr sz="2200" spc="-145" dirty="0">
                <a:solidFill>
                  <a:srgbClr val="242424"/>
                </a:solidFill>
                <a:latin typeface="Arial"/>
                <a:cs typeface="Arial"/>
              </a:rPr>
              <a:t> </a:t>
            </a:r>
            <a:r>
              <a:rPr sz="2200" dirty="0">
                <a:solidFill>
                  <a:srgbClr val="242424"/>
                </a:solidFill>
                <a:latin typeface="Arial"/>
                <a:cs typeface="Arial"/>
              </a:rPr>
              <a:t>W</a:t>
            </a:r>
            <a:r>
              <a:rPr sz="2200" spc="-240" dirty="0">
                <a:solidFill>
                  <a:srgbClr val="242424"/>
                </a:solidFill>
                <a:latin typeface="Arial"/>
                <a:cs typeface="Arial"/>
              </a:rPr>
              <a:t> </a:t>
            </a:r>
            <a:r>
              <a:rPr sz="2200" spc="-25" dirty="0">
                <a:solidFill>
                  <a:srgbClr val="242424"/>
                </a:solidFill>
                <a:latin typeface="Arial"/>
                <a:cs typeface="Arial"/>
              </a:rPr>
              <a:t>on </a:t>
            </a:r>
            <a:r>
              <a:rPr sz="2200" spc="-60" dirty="0">
                <a:solidFill>
                  <a:srgbClr val="242424"/>
                </a:solidFill>
                <a:latin typeface="Arial"/>
                <a:cs typeface="Arial"/>
              </a:rPr>
              <a:t>your</a:t>
            </a:r>
            <a:r>
              <a:rPr sz="2200" spc="-50" dirty="0">
                <a:solidFill>
                  <a:srgbClr val="242424"/>
                </a:solidFill>
                <a:latin typeface="Arial"/>
                <a:cs typeface="Arial"/>
              </a:rPr>
              <a:t> </a:t>
            </a:r>
            <a:r>
              <a:rPr sz="2200" spc="-70" dirty="0">
                <a:solidFill>
                  <a:srgbClr val="242424"/>
                </a:solidFill>
                <a:latin typeface="Arial"/>
                <a:cs typeface="Arial"/>
              </a:rPr>
              <a:t>training</a:t>
            </a:r>
            <a:r>
              <a:rPr sz="2200" spc="-140" dirty="0">
                <a:solidFill>
                  <a:srgbClr val="242424"/>
                </a:solidFill>
                <a:latin typeface="Arial"/>
                <a:cs typeface="Arial"/>
              </a:rPr>
              <a:t> </a:t>
            </a:r>
            <a:r>
              <a:rPr sz="2200" spc="-20" dirty="0">
                <a:solidFill>
                  <a:srgbClr val="242424"/>
                </a:solidFill>
                <a:latin typeface="Arial"/>
                <a:cs typeface="Arial"/>
              </a:rPr>
              <a:t>set.</a:t>
            </a:r>
            <a:endParaRPr sz="2200">
              <a:latin typeface="Arial"/>
              <a:cs typeface="Arial"/>
            </a:endParaRPr>
          </a:p>
          <a:p>
            <a:pPr marL="241300" marR="60960" indent="-228600">
              <a:lnSpc>
                <a:spcPct val="90200"/>
              </a:lnSpc>
              <a:spcBef>
                <a:spcPts val="980"/>
              </a:spcBef>
              <a:buFont typeface="Wingdings"/>
              <a:buChar char=""/>
              <a:tabLst>
                <a:tab pos="241300" algn="l"/>
              </a:tabLst>
            </a:pPr>
            <a:r>
              <a:rPr sz="2200" spc="-40" dirty="0">
                <a:solidFill>
                  <a:srgbClr val="242424"/>
                </a:solidFill>
                <a:latin typeface="Arial"/>
                <a:cs typeface="Arial"/>
              </a:rPr>
              <a:t>In</a:t>
            </a:r>
            <a:r>
              <a:rPr sz="2200" spc="-140" dirty="0">
                <a:solidFill>
                  <a:srgbClr val="242424"/>
                </a:solidFill>
                <a:latin typeface="Arial"/>
                <a:cs typeface="Arial"/>
              </a:rPr>
              <a:t> </a:t>
            </a:r>
            <a:r>
              <a:rPr sz="2200" spc="-55" dirty="0">
                <a:solidFill>
                  <a:srgbClr val="242424"/>
                </a:solidFill>
                <a:latin typeface="Arial"/>
                <a:cs typeface="Arial"/>
              </a:rPr>
              <a:t>order</a:t>
            </a:r>
            <a:r>
              <a:rPr sz="2200" spc="-100" dirty="0">
                <a:solidFill>
                  <a:srgbClr val="242424"/>
                </a:solidFill>
                <a:latin typeface="Arial"/>
                <a:cs typeface="Arial"/>
              </a:rPr>
              <a:t> </a:t>
            </a:r>
            <a:r>
              <a:rPr sz="2200" dirty="0">
                <a:solidFill>
                  <a:srgbClr val="242424"/>
                </a:solidFill>
                <a:latin typeface="Arial"/>
                <a:cs typeface="Arial"/>
              </a:rPr>
              <a:t>to</a:t>
            </a:r>
            <a:r>
              <a:rPr sz="2200" spc="-5" dirty="0">
                <a:solidFill>
                  <a:srgbClr val="242424"/>
                </a:solidFill>
                <a:latin typeface="Arial"/>
                <a:cs typeface="Arial"/>
              </a:rPr>
              <a:t> </a:t>
            </a:r>
            <a:r>
              <a:rPr sz="2200" spc="-65" dirty="0">
                <a:solidFill>
                  <a:srgbClr val="242424"/>
                </a:solidFill>
                <a:latin typeface="Arial"/>
                <a:cs typeface="Arial"/>
              </a:rPr>
              <a:t>learn</a:t>
            </a:r>
            <a:r>
              <a:rPr sz="2200" spc="-135" dirty="0">
                <a:solidFill>
                  <a:srgbClr val="242424"/>
                </a:solidFill>
                <a:latin typeface="Arial"/>
                <a:cs typeface="Arial"/>
              </a:rPr>
              <a:t> </a:t>
            </a:r>
            <a:r>
              <a:rPr sz="2200" dirty="0">
                <a:solidFill>
                  <a:srgbClr val="242424"/>
                </a:solidFill>
                <a:latin typeface="Arial"/>
                <a:cs typeface="Arial"/>
              </a:rPr>
              <a:t>the</a:t>
            </a:r>
            <a:r>
              <a:rPr sz="2200" spc="-50" dirty="0">
                <a:solidFill>
                  <a:srgbClr val="242424"/>
                </a:solidFill>
                <a:latin typeface="Arial"/>
                <a:cs typeface="Arial"/>
              </a:rPr>
              <a:t> </a:t>
            </a:r>
            <a:r>
              <a:rPr sz="2200" spc="-80" dirty="0">
                <a:solidFill>
                  <a:srgbClr val="242424"/>
                </a:solidFill>
                <a:latin typeface="Arial"/>
                <a:cs typeface="Arial"/>
              </a:rPr>
              <a:t>set</a:t>
            </a:r>
            <a:r>
              <a:rPr sz="2200" spc="-165" dirty="0">
                <a:solidFill>
                  <a:srgbClr val="242424"/>
                </a:solidFill>
                <a:latin typeface="Arial"/>
                <a:cs typeface="Arial"/>
              </a:rPr>
              <a:t> </a:t>
            </a:r>
            <a:r>
              <a:rPr sz="2200" spc="-25" dirty="0">
                <a:solidFill>
                  <a:srgbClr val="242424"/>
                </a:solidFill>
                <a:latin typeface="Arial"/>
                <a:cs typeface="Arial"/>
              </a:rPr>
              <a:t>of </a:t>
            </a:r>
            <a:r>
              <a:rPr sz="2200" spc="-105" dirty="0">
                <a:solidFill>
                  <a:srgbClr val="242424"/>
                </a:solidFill>
                <a:latin typeface="Arial"/>
                <a:cs typeface="Arial"/>
              </a:rPr>
              <a:t>parameters</a:t>
            </a:r>
            <a:r>
              <a:rPr sz="2200" spc="-80" dirty="0">
                <a:solidFill>
                  <a:srgbClr val="242424"/>
                </a:solidFill>
                <a:latin typeface="Arial"/>
                <a:cs typeface="Arial"/>
              </a:rPr>
              <a:t> </a:t>
            </a:r>
            <a:r>
              <a:rPr sz="2200" dirty="0">
                <a:solidFill>
                  <a:srgbClr val="242424"/>
                </a:solidFill>
                <a:latin typeface="Arial"/>
                <a:cs typeface="Arial"/>
              </a:rPr>
              <a:t>W</a:t>
            </a:r>
            <a:r>
              <a:rPr sz="2200" spc="-215" dirty="0">
                <a:solidFill>
                  <a:srgbClr val="242424"/>
                </a:solidFill>
                <a:latin typeface="Arial"/>
                <a:cs typeface="Arial"/>
              </a:rPr>
              <a:t> </a:t>
            </a:r>
            <a:r>
              <a:rPr sz="2200" spc="-90" dirty="0">
                <a:solidFill>
                  <a:srgbClr val="242424"/>
                </a:solidFill>
                <a:latin typeface="Arial"/>
                <a:cs typeface="Arial"/>
              </a:rPr>
              <a:t>and</a:t>
            </a:r>
            <a:r>
              <a:rPr sz="2200" spc="-175" dirty="0">
                <a:solidFill>
                  <a:srgbClr val="242424"/>
                </a:solidFill>
                <a:latin typeface="Arial"/>
                <a:cs typeface="Arial"/>
              </a:rPr>
              <a:t> </a:t>
            </a:r>
            <a:r>
              <a:rPr sz="2200" dirty="0">
                <a:solidFill>
                  <a:srgbClr val="242424"/>
                </a:solidFill>
                <a:latin typeface="Arial"/>
                <a:cs typeface="Arial"/>
              </a:rPr>
              <a:t>Bit</a:t>
            </a:r>
            <a:r>
              <a:rPr sz="2200" spc="-229" dirty="0">
                <a:solidFill>
                  <a:srgbClr val="242424"/>
                </a:solidFill>
                <a:latin typeface="Arial"/>
                <a:cs typeface="Arial"/>
              </a:rPr>
              <a:t> </a:t>
            </a:r>
            <a:r>
              <a:rPr sz="2200" spc="-114" dirty="0">
                <a:solidFill>
                  <a:srgbClr val="242424"/>
                </a:solidFill>
                <a:latin typeface="Arial"/>
                <a:cs typeface="Arial"/>
              </a:rPr>
              <a:t>seems </a:t>
            </a:r>
            <a:r>
              <a:rPr sz="2200" spc="-65" dirty="0">
                <a:solidFill>
                  <a:srgbClr val="242424"/>
                </a:solidFill>
                <a:latin typeface="Arial"/>
                <a:cs typeface="Arial"/>
              </a:rPr>
              <a:t>natural</a:t>
            </a:r>
            <a:r>
              <a:rPr sz="2200" spc="-85" dirty="0">
                <a:solidFill>
                  <a:srgbClr val="242424"/>
                </a:solidFill>
                <a:latin typeface="Arial"/>
                <a:cs typeface="Arial"/>
              </a:rPr>
              <a:t> </a:t>
            </a:r>
            <a:r>
              <a:rPr sz="2200" dirty="0">
                <a:solidFill>
                  <a:srgbClr val="242424"/>
                </a:solidFill>
                <a:latin typeface="Arial"/>
                <a:cs typeface="Arial"/>
              </a:rPr>
              <a:t>that</a:t>
            </a:r>
            <a:r>
              <a:rPr sz="2200" spc="-40" dirty="0">
                <a:solidFill>
                  <a:srgbClr val="242424"/>
                </a:solidFill>
                <a:latin typeface="Arial"/>
                <a:cs typeface="Arial"/>
              </a:rPr>
              <a:t> </a:t>
            </a:r>
            <a:r>
              <a:rPr sz="2200" spc="-80" dirty="0">
                <a:solidFill>
                  <a:srgbClr val="242424"/>
                </a:solidFill>
                <a:latin typeface="Arial"/>
                <a:cs typeface="Arial"/>
              </a:rPr>
              <a:t>we</a:t>
            </a:r>
            <a:r>
              <a:rPr sz="2200" spc="-140" dirty="0">
                <a:solidFill>
                  <a:srgbClr val="242424"/>
                </a:solidFill>
                <a:latin typeface="Arial"/>
                <a:cs typeface="Arial"/>
              </a:rPr>
              <a:t> </a:t>
            </a:r>
            <a:r>
              <a:rPr sz="2200" spc="-35" dirty="0">
                <a:solidFill>
                  <a:srgbClr val="242424"/>
                </a:solidFill>
                <a:latin typeface="Arial"/>
                <a:cs typeface="Arial"/>
              </a:rPr>
              <a:t>want</a:t>
            </a:r>
            <a:r>
              <a:rPr sz="2200" spc="-55" dirty="0">
                <a:solidFill>
                  <a:srgbClr val="242424"/>
                </a:solidFill>
                <a:latin typeface="Arial"/>
                <a:cs typeface="Arial"/>
              </a:rPr>
              <a:t> </a:t>
            </a:r>
            <a:r>
              <a:rPr sz="2200" dirty="0">
                <a:solidFill>
                  <a:srgbClr val="242424"/>
                </a:solidFill>
                <a:latin typeface="Arial"/>
                <a:cs typeface="Arial"/>
              </a:rPr>
              <a:t>to</a:t>
            </a:r>
            <a:r>
              <a:rPr sz="2200" spc="15" dirty="0">
                <a:solidFill>
                  <a:srgbClr val="242424"/>
                </a:solidFill>
                <a:latin typeface="Arial"/>
                <a:cs typeface="Arial"/>
              </a:rPr>
              <a:t> </a:t>
            </a:r>
            <a:r>
              <a:rPr sz="2200" spc="-20" dirty="0">
                <a:solidFill>
                  <a:srgbClr val="242424"/>
                </a:solidFill>
                <a:latin typeface="Arial"/>
                <a:cs typeface="Arial"/>
              </a:rPr>
              <a:t>find </a:t>
            </a:r>
            <a:r>
              <a:rPr sz="2200" dirty="0">
                <a:solidFill>
                  <a:srgbClr val="242424"/>
                </a:solidFill>
                <a:latin typeface="Arial"/>
                <a:cs typeface="Arial"/>
              </a:rPr>
              <a:t>W</a:t>
            </a:r>
            <a:r>
              <a:rPr sz="2200" spc="-250" dirty="0">
                <a:solidFill>
                  <a:srgbClr val="242424"/>
                </a:solidFill>
                <a:latin typeface="Arial"/>
                <a:cs typeface="Arial"/>
              </a:rPr>
              <a:t> </a:t>
            </a:r>
            <a:r>
              <a:rPr sz="2200" spc="-80" dirty="0">
                <a:solidFill>
                  <a:srgbClr val="242424"/>
                </a:solidFill>
                <a:latin typeface="Arial"/>
                <a:cs typeface="Arial"/>
              </a:rPr>
              <a:t>and</a:t>
            </a:r>
            <a:r>
              <a:rPr sz="2200" spc="-210" dirty="0">
                <a:solidFill>
                  <a:srgbClr val="242424"/>
                </a:solidFill>
                <a:latin typeface="Arial"/>
                <a:cs typeface="Arial"/>
              </a:rPr>
              <a:t> </a:t>
            </a:r>
            <a:r>
              <a:rPr sz="2200" dirty="0">
                <a:solidFill>
                  <a:srgbClr val="242424"/>
                </a:solidFill>
                <a:latin typeface="Arial"/>
                <a:cs typeface="Arial"/>
              </a:rPr>
              <a:t>Bthat</a:t>
            </a:r>
            <a:r>
              <a:rPr sz="2200" spc="-20" dirty="0">
                <a:solidFill>
                  <a:srgbClr val="242424"/>
                </a:solidFill>
                <a:latin typeface="Arial"/>
                <a:cs typeface="Arial"/>
              </a:rPr>
              <a:t> </a:t>
            </a:r>
            <a:r>
              <a:rPr sz="2200" spc="-125" dirty="0">
                <a:solidFill>
                  <a:srgbClr val="242424"/>
                </a:solidFill>
                <a:latin typeface="Arial"/>
                <a:cs typeface="Arial"/>
              </a:rPr>
              <a:t>make</a:t>
            </a:r>
            <a:r>
              <a:rPr sz="2200" spc="-280" dirty="0">
                <a:solidFill>
                  <a:srgbClr val="242424"/>
                </a:solidFill>
                <a:latin typeface="Arial"/>
                <a:cs typeface="Arial"/>
              </a:rPr>
              <a:t> </a:t>
            </a:r>
            <a:r>
              <a:rPr sz="2200" spc="-10" dirty="0">
                <a:solidFill>
                  <a:srgbClr val="242424"/>
                </a:solidFill>
                <a:latin typeface="Arial"/>
                <a:cs typeface="Arial"/>
              </a:rPr>
              <a:t>the</a:t>
            </a:r>
            <a:r>
              <a:rPr sz="2200" spc="-80" dirty="0">
                <a:solidFill>
                  <a:srgbClr val="242424"/>
                </a:solidFill>
                <a:latin typeface="Arial"/>
                <a:cs typeface="Arial"/>
              </a:rPr>
              <a:t> </a:t>
            </a:r>
            <a:r>
              <a:rPr sz="2200" spc="-20" dirty="0">
                <a:solidFill>
                  <a:srgbClr val="242424"/>
                </a:solidFill>
                <a:latin typeface="Arial"/>
                <a:cs typeface="Arial"/>
              </a:rPr>
              <a:t>cost </a:t>
            </a:r>
            <a:r>
              <a:rPr sz="2200" spc="-35" dirty="0">
                <a:solidFill>
                  <a:srgbClr val="242424"/>
                </a:solidFill>
                <a:latin typeface="Arial"/>
                <a:cs typeface="Arial"/>
              </a:rPr>
              <a:t>function</a:t>
            </a:r>
            <a:r>
              <a:rPr sz="2200" spc="-15" dirty="0">
                <a:solidFill>
                  <a:srgbClr val="242424"/>
                </a:solidFill>
                <a:latin typeface="Arial"/>
                <a:cs typeface="Arial"/>
              </a:rPr>
              <a:t> </a:t>
            </a:r>
            <a:r>
              <a:rPr sz="2200" spc="-160" dirty="0">
                <a:solidFill>
                  <a:srgbClr val="242424"/>
                </a:solidFill>
                <a:latin typeface="Arial"/>
                <a:cs typeface="Arial"/>
              </a:rPr>
              <a:t>J(W,</a:t>
            </a:r>
            <a:r>
              <a:rPr sz="2200" spc="-385" dirty="0">
                <a:solidFill>
                  <a:srgbClr val="242424"/>
                </a:solidFill>
                <a:latin typeface="Arial"/>
                <a:cs typeface="Arial"/>
              </a:rPr>
              <a:t> </a:t>
            </a:r>
            <a:r>
              <a:rPr sz="2200" spc="-55" dirty="0">
                <a:solidFill>
                  <a:srgbClr val="242424"/>
                </a:solidFill>
                <a:latin typeface="Arial"/>
                <a:cs typeface="Arial"/>
              </a:rPr>
              <a:t>b)</a:t>
            </a:r>
            <a:r>
              <a:rPr sz="2200" spc="-145" dirty="0">
                <a:solidFill>
                  <a:srgbClr val="242424"/>
                </a:solidFill>
                <a:latin typeface="Arial"/>
                <a:cs typeface="Arial"/>
              </a:rPr>
              <a:t> </a:t>
            </a:r>
            <a:r>
              <a:rPr sz="2200" spc="-120" dirty="0">
                <a:solidFill>
                  <a:srgbClr val="242424"/>
                </a:solidFill>
                <a:latin typeface="Arial"/>
                <a:cs typeface="Arial"/>
              </a:rPr>
              <a:t>as</a:t>
            </a:r>
            <a:r>
              <a:rPr sz="2200" spc="-335" dirty="0">
                <a:solidFill>
                  <a:srgbClr val="242424"/>
                </a:solidFill>
                <a:latin typeface="Arial"/>
                <a:cs typeface="Arial"/>
              </a:rPr>
              <a:t> </a:t>
            </a:r>
            <a:r>
              <a:rPr sz="2200" spc="-85" dirty="0">
                <a:solidFill>
                  <a:srgbClr val="242424"/>
                </a:solidFill>
                <a:latin typeface="Arial"/>
                <a:cs typeface="Arial"/>
              </a:rPr>
              <a:t>sma</a:t>
            </a:r>
            <a:r>
              <a:rPr sz="2200" spc="-335" dirty="0">
                <a:solidFill>
                  <a:srgbClr val="242424"/>
                </a:solidFill>
                <a:latin typeface="Arial"/>
                <a:cs typeface="Arial"/>
              </a:rPr>
              <a:t> </a:t>
            </a:r>
            <a:r>
              <a:rPr sz="2200" b="1" spc="-25" dirty="0">
                <a:solidFill>
                  <a:srgbClr val="242424"/>
                </a:solidFill>
                <a:latin typeface="Arial"/>
                <a:cs typeface="Arial"/>
              </a:rPr>
              <a:t>l</a:t>
            </a:r>
            <a:r>
              <a:rPr sz="2200" spc="-25" dirty="0">
                <a:solidFill>
                  <a:srgbClr val="242424"/>
                </a:solidFill>
                <a:latin typeface="Arial"/>
                <a:cs typeface="Arial"/>
              </a:rPr>
              <a:t>.</a:t>
            </a:r>
            <a:endParaRPr sz="2200">
              <a:latin typeface="Arial"/>
              <a:cs typeface="Arial"/>
            </a:endParaRPr>
          </a:p>
        </p:txBody>
      </p:sp>
    </p:spTree>
    <p:extLst>
      <p:ext uri="{BB962C8B-B14F-4D97-AF65-F5344CB8AC3E}">
        <p14:creationId xmlns:p14="http://schemas.microsoft.com/office/powerpoint/2010/main" val="3682552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64F19-A245-9657-598C-B9DCFC9F6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42106-1335-347A-8FF4-F84FA0E4492E}"/>
              </a:ext>
            </a:extLst>
          </p:cNvPr>
          <p:cNvSpPr>
            <a:spLocks noGrp="1"/>
          </p:cNvSpPr>
          <p:nvPr>
            <p:ph type="title"/>
          </p:nvPr>
        </p:nvSpPr>
        <p:spPr>
          <a:xfrm>
            <a:off x="629500" y="277838"/>
            <a:ext cx="9188268" cy="1068223"/>
          </a:xfrm>
        </p:spPr>
        <p:txBody>
          <a:bodyPr/>
          <a:lstStyle/>
          <a:p>
            <a:r>
              <a:rPr lang="en-GB" sz="4400" spc="-229" dirty="0" err="1"/>
              <a:t>G</a:t>
            </a:r>
            <a:r>
              <a:rPr lang="en-GB" sz="4400" spc="-300" dirty="0" err="1"/>
              <a:t>r</a:t>
            </a:r>
            <a:r>
              <a:rPr lang="en-GB" sz="4400" spc="-220" dirty="0" err="1"/>
              <a:t>a</a:t>
            </a:r>
            <a:r>
              <a:rPr lang="en-GB" sz="4400" spc="-235" dirty="0" err="1"/>
              <a:t>d</a:t>
            </a:r>
            <a:r>
              <a:rPr lang="en-GB" sz="4400" spc="-215" dirty="0" err="1"/>
              <a:t>i</a:t>
            </a:r>
            <a:r>
              <a:rPr lang="en-GB" sz="4400" spc="-220" dirty="0" err="1"/>
              <a:t>e</a:t>
            </a:r>
            <a:r>
              <a:rPr lang="en-GB" sz="4400" spc="-275" dirty="0" err="1"/>
              <a:t>n</a:t>
            </a:r>
            <a:r>
              <a:rPr lang="en-GB" sz="4400" spc="315" dirty="0" err="1"/>
              <a:t>t</a:t>
            </a:r>
            <a:r>
              <a:rPr lang="en-GB" sz="4400" spc="-300" dirty="0" err="1"/>
              <a:t>D</a:t>
            </a:r>
            <a:r>
              <a:rPr lang="en-GB" sz="4400" spc="-295" dirty="0" err="1"/>
              <a:t>e</a:t>
            </a:r>
            <a:r>
              <a:rPr lang="en-GB" sz="4400" spc="-300" dirty="0" err="1"/>
              <a:t>sc</a:t>
            </a:r>
            <a:r>
              <a:rPr lang="en-GB" sz="4400" spc="-295" dirty="0" err="1"/>
              <a:t>e</a:t>
            </a:r>
            <a:r>
              <a:rPr lang="en-GB" sz="4400" spc="-355" dirty="0" err="1"/>
              <a:t>n</a:t>
            </a:r>
            <a:r>
              <a:rPr lang="en-GB" sz="4400" dirty="0" err="1"/>
              <a:t>t</a:t>
            </a:r>
            <a:endParaRPr lang="en-US" dirty="0">
              <a:solidFill>
                <a:srgbClr val="942D6D"/>
              </a:solidFill>
            </a:endParaRPr>
          </a:p>
        </p:txBody>
      </p:sp>
      <p:cxnSp>
        <p:nvCxnSpPr>
          <p:cNvPr id="4" name="Straight Connector 3">
            <a:extLst>
              <a:ext uri="{FF2B5EF4-FFF2-40B4-BE49-F238E27FC236}">
                <a16:creationId xmlns:a16="http://schemas.microsoft.com/office/drawing/2014/main" id="{FF5F024F-14CA-E770-C7AD-104D3DC18201}"/>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AD4D4E46-7E06-0EA6-DC09-CA4AD617051A}"/>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ECD597DF-5179-A205-D4C5-53F2584DCD84}"/>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3">
            <a:extLst>
              <a:ext uri="{FF2B5EF4-FFF2-40B4-BE49-F238E27FC236}">
                <a16:creationId xmlns:a16="http://schemas.microsoft.com/office/drawing/2014/main" id="{4AF11CA6-2215-E987-39B2-FD6094FADEE0}"/>
              </a:ext>
            </a:extLst>
          </p:cNvPr>
          <p:cNvSpPr txBox="1"/>
          <p:nvPr/>
        </p:nvSpPr>
        <p:spPr>
          <a:xfrm>
            <a:off x="1007110" y="1572895"/>
            <a:ext cx="10177780" cy="3712210"/>
          </a:xfrm>
          <a:prstGeom prst="rect">
            <a:avLst/>
          </a:prstGeom>
        </p:spPr>
        <p:txBody>
          <a:bodyPr vert="horz" wrap="square" lIns="0" tIns="12700" rIns="0" bIns="0" rtlCol="0">
            <a:spAutoFit/>
          </a:bodyPr>
          <a:lstStyle>
            <a:defPPr>
              <a:defRPr kern="0"/>
            </a:defPPr>
          </a:lstStyle>
          <a:p>
            <a:pPr marR="203835" algn="ctr">
              <a:lnSpc>
                <a:spcPct val="100000"/>
              </a:lnSpc>
              <a:spcBef>
                <a:spcPts val="100"/>
              </a:spcBef>
            </a:pPr>
            <a:r>
              <a:rPr sz="3600" u="heavy" spc="-145" dirty="0">
                <a:uFill>
                  <a:solidFill>
                    <a:srgbClr val="000000"/>
                  </a:solidFill>
                </a:uFill>
                <a:latin typeface="Arial"/>
                <a:cs typeface="Arial"/>
              </a:rPr>
              <a:t>How</a:t>
            </a:r>
            <a:r>
              <a:rPr sz="3600" u="heavy" spc="-305" dirty="0">
                <a:uFill>
                  <a:solidFill>
                    <a:srgbClr val="000000"/>
                  </a:solidFill>
                </a:uFill>
                <a:latin typeface="Arial"/>
                <a:cs typeface="Arial"/>
              </a:rPr>
              <a:t> </a:t>
            </a:r>
            <a:r>
              <a:rPr sz="3600" u="heavy" spc="-175" dirty="0">
                <a:uFill>
                  <a:solidFill>
                    <a:srgbClr val="000000"/>
                  </a:solidFill>
                </a:uFill>
                <a:latin typeface="Arial"/>
                <a:cs typeface="Arial"/>
              </a:rPr>
              <a:t>does</a:t>
            </a:r>
            <a:r>
              <a:rPr sz="3600" u="heavy" spc="-355" dirty="0">
                <a:uFill>
                  <a:solidFill>
                    <a:srgbClr val="000000"/>
                  </a:solidFill>
                </a:uFill>
                <a:latin typeface="Arial"/>
                <a:cs typeface="Arial"/>
              </a:rPr>
              <a:t> </a:t>
            </a:r>
            <a:r>
              <a:rPr sz="3600" u="heavy" spc="-135" dirty="0">
                <a:uFill>
                  <a:solidFill>
                    <a:srgbClr val="000000"/>
                  </a:solidFill>
                </a:uFill>
                <a:latin typeface="Arial"/>
                <a:cs typeface="Arial"/>
              </a:rPr>
              <a:t>Gradient</a:t>
            </a:r>
            <a:r>
              <a:rPr sz="3600" u="heavy" spc="-200" dirty="0">
                <a:uFill>
                  <a:solidFill>
                    <a:srgbClr val="000000"/>
                  </a:solidFill>
                </a:uFill>
                <a:latin typeface="Arial"/>
                <a:cs typeface="Arial"/>
              </a:rPr>
              <a:t> Descent</a:t>
            </a:r>
            <a:r>
              <a:rPr sz="3600" u="heavy" spc="-430" dirty="0">
                <a:uFill>
                  <a:solidFill>
                    <a:srgbClr val="000000"/>
                  </a:solidFill>
                </a:uFill>
                <a:latin typeface="Arial"/>
                <a:cs typeface="Arial"/>
              </a:rPr>
              <a:t> </a:t>
            </a:r>
            <a:r>
              <a:rPr sz="3600" u="heavy" spc="-20" dirty="0">
                <a:uFill>
                  <a:solidFill>
                    <a:srgbClr val="000000"/>
                  </a:solidFill>
                </a:uFill>
                <a:latin typeface="Arial"/>
                <a:cs typeface="Arial"/>
              </a:rPr>
              <a:t>Work</a:t>
            </a:r>
            <a:endParaRPr sz="3600" dirty="0">
              <a:latin typeface="Arial"/>
              <a:cs typeface="Arial"/>
            </a:endParaRPr>
          </a:p>
          <a:p>
            <a:pPr marL="241300" marR="831850" indent="-228600">
              <a:lnSpc>
                <a:spcPts val="2700"/>
              </a:lnSpc>
              <a:spcBef>
                <a:spcPts val="3740"/>
              </a:spcBef>
              <a:buFont typeface="Wingdings"/>
              <a:buChar char=""/>
              <a:tabLst>
                <a:tab pos="241300" algn="l"/>
              </a:tabLst>
            </a:pPr>
            <a:r>
              <a:rPr sz="2500" spc="-95" dirty="0">
                <a:solidFill>
                  <a:srgbClr val="242424"/>
                </a:solidFill>
                <a:latin typeface="Arial"/>
                <a:cs typeface="Arial"/>
              </a:rPr>
              <a:t>Gradient</a:t>
            </a:r>
            <a:r>
              <a:rPr sz="2500" spc="-185" dirty="0">
                <a:solidFill>
                  <a:srgbClr val="242424"/>
                </a:solidFill>
                <a:latin typeface="Arial"/>
                <a:cs typeface="Arial"/>
              </a:rPr>
              <a:t> </a:t>
            </a:r>
            <a:r>
              <a:rPr sz="2500" spc="-130" dirty="0">
                <a:solidFill>
                  <a:srgbClr val="242424"/>
                </a:solidFill>
                <a:latin typeface="Arial"/>
                <a:cs typeface="Arial"/>
              </a:rPr>
              <a:t>Descent</a:t>
            </a:r>
            <a:r>
              <a:rPr sz="2500" spc="-325" dirty="0">
                <a:solidFill>
                  <a:srgbClr val="242424"/>
                </a:solidFill>
                <a:latin typeface="Arial"/>
                <a:cs typeface="Arial"/>
              </a:rPr>
              <a:t> </a:t>
            </a:r>
            <a:r>
              <a:rPr sz="2500" spc="-75" dirty="0">
                <a:solidFill>
                  <a:srgbClr val="242424"/>
                </a:solidFill>
                <a:latin typeface="Arial"/>
                <a:cs typeface="Arial"/>
              </a:rPr>
              <a:t>starts</a:t>
            </a:r>
            <a:r>
              <a:rPr sz="2500" spc="-175" dirty="0">
                <a:solidFill>
                  <a:srgbClr val="242424"/>
                </a:solidFill>
                <a:latin typeface="Arial"/>
                <a:cs typeface="Arial"/>
              </a:rPr>
              <a:t> </a:t>
            </a:r>
            <a:r>
              <a:rPr sz="2500" dirty="0">
                <a:solidFill>
                  <a:srgbClr val="242424"/>
                </a:solidFill>
                <a:latin typeface="Arial"/>
                <a:cs typeface="Arial"/>
              </a:rPr>
              <a:t>at</a:t>
            </a:r>
            <a:r>
              <a:rPr sz="2500" spc="-85" dirty="0">
                <a:solidFill>
                  <a:srgbClr val="242424"/>
                </a:solidFill>
                <a:latin typeface="Arial"/>
                <a:cs typeface="Arial"/>
              </a:rPr>
              <a:t> </a:t>
            </a:r>
            <a:r>
              <a:rPr sz="2500" spc="-75" dirty="0">
                <a:solidFill>
                  <a:srgbClr val="242424"/>
                </a:solidFill>
                <a:latin typeface="Arial"/>
                <a:cs typeface="Arial"/>
              </a:rPr>
              <a:t>an</a:t>
            </a:r>
            <a:r>
              <a:rPr sz="2500" spc="-260" dirty="0">
                <a:solidFill>
                  <a:srgbClr val="242424"/>
                </a:solidFill>
                <a:latin typeface="Arial"/>
                <a:cs typeface="Arial"/>
              </a:rPr>
              <a:t> </a:t>
            </a:r>
            <a:r>
              <a:rPr sz="2500" dirty="0">
                <a:solidFill>
                  <a:srgbClr val="242424"/>
                </a:solidFill>
                <a:latin typeface="Arial"/>
                <a:cs typeface="Arial"/>
              </a:rPr>
              <a:t>initial point</a:t>
            </a:r>
            <a:r>
              <a:rPr sz="2500" spc="-80" dirty="0">
                <a:solidFill>
                  <a:srgbClr val="242424"/>
                </a:solidFill>
                <a:latin typeface="Arial"/>
                <a:cs typeface="Arial"/>
              </a:rPr>
              <a:t> </a:t>
            </a:r>
            <a:r>
              <a:rPr sz="2500" spc="-85" dirty="0">
                <a:solidFill>
                  <a:srgbClr val="242424"/>
                </a:solidFill>
                <a:latin typeface="Arial"/>
                <a:cs typeface="Arial"/>
              </a:rPr>
              <a:t>and</a:t>
            </a:r>
            <a:r>
              <a:rPr sz="2500" spc="-260" dirty="0">
                <a:solidFill>
                  <a:srgbClr val="242424"/>
                </a:solidFill>
                <a:latin typeface="Arial"/>
                <a:cs typeface="Arial"/>
              </a:rPr>
              <a:t> </a:t>
            </a:r>
            <a:r>
              <a:rPr sz="2500" spc="-130" dirty="0">
                <a:solidFill>
                  <a:srgbClr val="242424"/>
                </a:solidFill>
                <a:latin typeface="Arial"/>
                <a:cs typeface="Arial"/>
              </a:rPr>
              <a:t>beg</a:t>
            </a:r>
            <a:r>
              <a:rPr lang="en-GB" sz="2500" spc="-130" dirty="0" err="1">
                <a:solidFill>
                  <a:srgbClr val="242424"/>
                </a:solidFill>
                <a:latin typeface="Arial"/>
                <a:cs typeface="Arial"/>
              </a:rPr>
              <a:t>i</a:t>
            </a:r>
            <a:r>
              <a:rPr sz="2500" spc="-130" dirty="0">
                <a:solidFill>
                  <a:srgbClr val="242424"/>
                </a:solidFill>
                <a:latin typeface="Arial"/>
                <a:cs typeface="Arial"/>
              </a:rPr>
              <a:t>n</a:t>
            </a:r>
            <a:r>
              <a:rPr lang="en-GB" sz="2500" spc="-130" dirty="0">
                <a:solidFill>
                  <a:srgbClr val="242424"/>
                </a:solidFill>
                <a:latin typeface="Arial"/>
                <a:cs typeface="Arial"/>
              </a:rPr>
              <a:t>s</a:t>
            </a:r>
            <a:r>
              <a:rPr sz="2500" spc="-320" dirty="0">
                <a:solidFill>
                  <a:srgbClr val="242424"/>
                </a:solidFill>
                <a:latin typeface="Arial"/>
                <a:cs typeface="Arial"/>
              </a:rPr>
              <a:t> </a:t>
            </a:r>
            <a:r>
              <a:rPr sz="2500" spc="-75" dirty="0">
                <a:solidFill>
                  <a:srgbClr val="242424"/>
                </a:solidFill>
                <a:latin typeface="Arial"/>
                <a:cs typeface="Arial"/>
              </a:rPr>
              <a:t>taking</a:t>
            </a:r>
            <a:r>
              <a:rPr sz="2500" spc="-220" dirty="0">
                <a:solidFill>
                  <a:srgbClr val="242424"/>
                </a:solidFill>
                <a:latin typeface="Arial"/>
                <a:cs typeface="Arial"/>
              </a:rPr>
              <a:t> </a:t>
            </a:r>
            <a:r>
              <a:rPr sz="2500" spc="-114" dirty="0">
                <a:solidFill>
                  <a:srgbClr val="242424"/>
                </a:solidFill>
                <a:latin typeface="Arial"/>
                <a:cs typeface="Arial"/>
              </a:rPr>
              <a:t>steps</a:t>
            </a:r>
            <a:r>
              <a:rPr sz="2500" spc="-295" dirty="0">
                <a:solidFill>
                  <a:srgbClr val="242424"/>
                </a:solidFill>
                <a:latin typeface="Arial"/>
                <a:cs typeface="Arial"/>
              </a:rPr>
              <a:t> </a:t>
            </a:r>
            <a:r>
              <a:rPr sz="2500" spc="-10" dirty="0">
                <a:solidFill>
                  <a:srgbClr val="242424"/>
                </a:solidFill>
                <a:latin typeface="Arial"/>
                <a:cs typeface="Arial"/>
              </a:rPr>
              <a:t>inthe </a:t>
            </a:r>
            <a:r>
              <a:rPr sz="2500" spc="-110" dirty="0">
                <a:solidFill>
                  <a:srgbClr val="242424"/>
                </a:solidFill>
                <a:latin typeface="Arial"/>
                <a:cs typeface="Arial"/>
              </a:rPr>
              <a:t>steepest</a:t>
            </a:r>
            <a:r>
              <a:rPr sz="2500" spc="-140" dirty="0">
                <a:solidFill>
                  <a:srgbClr val="242424"/>
                </a:solidFill>
                <a:latin typeface="Arial"/>
                <a:cs typeface="Arial"/>
              </a:rPr>
              <a:t> </a:t>
            </a:r>
            <a:r>
              <a:rPr sz="2500" spc="-45" dirty="0">
                <a:solidFill>
                  <a:srgbClr val="242424"/>
                </a:solidFill>
                <a:latin typeface="Arial"/>
                <a:cs typeface="Arial"/>
              </a:rPr>
              <a:t>downhill</a:t>
            </a:r>
            <a:r>
              <a:rPr sz="2500" spc="-180" dirty="0">
                <a:solidFill>
                  <a:srgbClr val="242424"/>
                </a:solidFill>
                <a:latin typeface="Arial"/>
                <a:cs typeface="Arial"/>
              </a:rPr>
              <a:t> </a:t>
            </a:r>
            <a:r>
              <a:rPr sz="2500" spc="-10" dirty="0">
                <a:solidFill>
                  <a:srgbClr val="242424"/>
                </a:solidFill>
                <a:latin typeface="Arial"/>
                <a:cs typeface="Arial"/>
              </a:rPr>
              <a:t>direction.</a:t>
            </a:r>
            <a:endParaRPr sz="2500" dirty="0">
              <a:latin typeface="Arial"/>
              <a:cs typeface="Arial"/>
            </a:endParaRPr>
          </a:p>
          <a:p>
            <a:pPr marL="241300" marR="5080" indent="-228600">
              <a:lnSpc>
                <a:spcPts val="2900"/>
              </a:lnSpc>
              <a:spcBef>
                <a:spcPts val="745"/>
              </a:spcBef>
              <a:buFont typeface="Wingdings"/>
              <a:buChar char=""/>
              <a:tabLst>
                <a:tab pos="241300" algn="l"/>
              </a:tabLst>
            </a:pPr>
            <a:r>
              <a:rPr sz="2500" spc="-20" dirty="0">
                <a:solidFill>
                  <a:srgbClr val="242424"/>
                </a:solidFill>
                <a:latin typeface="Arial"/>
                <a:cs typeface="Arial"/>
              </a:rPr>
              <a:t>After</a:t>
            </a:r>
            <a:r>
              <a:rPr sz="2500" spc="-125" dirty="0">
                <a:solidFill>
                  <a:srgbClr val="242424"/>
                </a:solidFill>
                <a:latin typeface="Arial"/>
                <a:cs typeface="Arial"/>
              </a:rPr>
              <a:t> </a:t>
            </a:r>
            <a:r>
              <a:rPr sz="2500" dirty="0">
                <a:solidFill>
                  <a:srgbClr val="242424"/>
                </a:solidFill>
                <a:latin typeface="Arial"/>
                <a:cs typeface="Arial"/>
              </a:rPr>
              <a:t>a</a:t>
            </a:r>
            <a:r>
              <a:rPr sz="2500" spc="-385" dirty="0">
                <a:solidFill>
                  <a:srgbClr val="242424"/>
                </a:solidFill>
                <a:latin typeface="Arial"/>
                <a:cs typeface="Arial"/>
              </a:rPr>
              <a:t> </a:t>
            </a:r>
            <a:r>
              <a:rPr sz="2500" spc="-95" dirty="0">
                <a:solidFill>
                  <a:srgbClr val="242424"/>
                </a:solidFill>
                <a:latin typeface="Arial"/>
                <a:cs typeface="Arial"/>
              </a:rPr>
              <a:t>single</a:t>
            </a:r>
            <a:r>
              <a:rPr sz="2500" spc="-310" dirty="0">
                <a:solidFill>
                  <a:srgbClr val="242424"/>
                </a:solidFill>
                <a:latin typeface="Arial"/>
                <a:cs typeface="Arial"/>
              </a:rPr>
              <a:t> </a:t>
            </a:r>
            <a:r>
              <a:rPr sz="2500" spc="-85" dirty="0">
                <a:solidFill>
                  <a:srgbClr val="242424"/>
                </a:solidFill>
                <a:latin typeface="Arial"/>
                <a:cs typeface="Arial"/>
              </a:rPr>
              <a:t>step,</a:t>
            </a:r>
            <a:r>
              <a:rPr sz="2500" spc="-210" dirty="0">
                <a:solidFill>
                  <a:srgbClr val="242424"/>
                </a:solidFill>
                <a:latin typeface="Arial"/>
                <a:cs typeface="Arial"/>
              </a:rPr>
              <a:t> </a:t>
            </a:r>
            <a:r>
              <a:rPr sz="2500" spc="-75" dirty="0">
                <a:solidFill>
                  <a:srgbClr val="242424"/>
                </a:solidFill>
                <a:latin typeface="Arial"/>
                <a:cs typeface="Arial"/>
              </a:rPr>
              <a:t>you</a:t>
            </a:r>
            <a:r>
              <a:rPr sz="2500" spc="-185" dirty="0">
                <a:solidFill>
                  <a:srgbClr val="242424"/>
                </a:solidFill>
                <a:latin typeface="Arial"/>
                <a:cs typeface="Arial"/>
              </a:rPr>
              <a:t> </a:t>
            </a:r>
            <a:r>
              <a:rPr sz="2500" spc="-40" dirty="0">
                <a:solidFill>
                  <a:srgbClr val="242424"/>
                </a:solidFill>
                <a:latin typeface="Arial"/>
                <a:cs typeface="Arial"/>
              </a:rPr>
              <a:t>might</a:t>
            </a:r>
            <a:r>
              <a:rPr sz="2500" spc="-80" dirty="0">
                <a:solidFill>
                  <a:srgbClr val="242424"/>
                </a:solidFill>
                <a:latin typeface="Arial"/>
                <a:cs typeface="Arial"/>
              </a:rPr>
              <a:t> </a:t>
            </a:r>
            <a:r>
              <a:rPr sz="2500" spc="-70" dirty="0">
                <a:solidFill>
                  <a:srgbClr val="242424"/>
                </a:solidFill>
                <a:latin typeface="Arial"/>
                <a:cs typeface="Arial"/>
              </a:rPr>
              <a:t>end</a:t>
            </a:r>
            <a:r>
              <a:rPr sz="2500" spc="-245" dirty="0">
                <a:solidFill>
                  <a:srgbClr val="242424"/>
                </a:solidFill>
                <a:latin typeface="Arial"/>
                <a:cs typeface="Arial"/>
              </a:rPr>
              <a:t> </a:t>
            </a:r>
            <a:r>
              <a:rPr sz="2500" spc="-45" dirty="0">
                <a:solidFill>
                  <a:srgbClr val="242424"/>
                </a:solidFill>
                <a:latin typeface="Arial"/>
                <a:cs typeface="Arial"/>
              </a:rPr>
              <a:t>up</a:t>
            </a:r>
            <a:r>
              <a:rPr sz="2500" spc="-185" dirty="0">
                <a:solidFill>
                  <a:srgbClr val="242424"/>
                </a:solidFill>
                <a:latin typeface="Arial"/>
                <a:cs typeface="Arial"/>
              </a:rPr>
              <a:t> </a:t>
            </a:r>
            <a:r>
              <a:rPr sz="2500" spc="-35" dirty="0">
                <a:solidFill>
                  <a:srgbClr val="242424"/>
                </a:solidFill>
                <a:latin typeface="Arial"/>
                <a:cs typeface="Arial"/>
              </a:rPr>
              <a:t>there</a:t>
            </a:r>
            <a:r>
              <a:rPr sz="2500" spc="-145" dirty="0">
                <a:solidFill>
                  <a:srgbClr val="242424"/>
                </a:solidFill>
                <a:latin typeface="Arial"/>
                <a:cs typeface="Arial"/>
              </a:rPr>
              <a:t> because</a:t>
            </a:r>
            <a:r>
              <a:rPr sz="2500" spc="-385" dirty="0">
                <a:solidFill>
                  <a:srgbClr val="242424"/>
                </a:solidFill>
                <a:latin typeface="Arial"/>
                <a:cs typeface="Arial"/>
              </a:rPr>
              <a:t> </a:t>
            </a:r>
            <a:r>
              <a:rPr sz="2500" spc="-20" dirty="0">
                <a:solidFill>
                  <a:srgbClr val="242424"/>
                </a:solidFill>
                <a:latin typeface="Arial"/>
                <a:cs typeface="Arial"/>
              </a:rPr>
              <a:t>it’s</a:t>
            </a:r>
            <a:r>
              <a:rPr sz="2500" spc="-55" dirty="0">
                <a:solidFill>
                  <a:srgbClr val="242424"/>
                </a:solidFill>
                <a:latin typeface="Arial"/>
                <a:cs typeface="Arial"/>
              </a:rPr>
              <a:t> </a:t>
            </a:r>
            <a:r>
              <a:rPr sz="2500" spc="-25" dirty="0">
                <a:solidFill>
                  <a:srgbClr val="242424"/>
                </a:solidFill>
                <a:latin typeface="Arial"/>
                <a:cs typeface="Arial"/>
              </a:rPr>
              <a:t>trying</a:t>
            </a:r>
            <a:r>
              <a:rPr sz="2500" spc="-55" dirty="0">
                <a:solidFill>
                  <a:srgbClr val="242424"/>
                </a:solidFill>
                <a:latin typeface="Arial"/>
                <a:cs typeface="Arial"/>
              </a:rPr>
              <a:t> </a:t>
            </a:r>
            <a:r>
              <a:rPr sz="2500" spc="-10" dirty="0">
                <a:solidFill>
                  <a:srgbClr val="242424"/>
                </a:solidFill>
                <a:latin typeface="Arial"/>
                <a:cs typeface="Arial"/>
              </a:rPr>
              <a:t>to</a:t>
            </a:r>
            <a:r>
              <a:rPr sz="2500" spc="-425" dirty="0">
                <a:solidFill>
                  <a:srgbClr val="242424"/>
                </a:solidFill>
                <a:latin typeface="Arial"/>
                <a:cs typeface="Arial"/>
              </a:rPr>
              <a:t> </a:t>
            </a:r>
            <a:r>
              <a:rPr sz="2500" spc="-95" dirty="0">
                <a:solidFill>
                  <a:srgbClr val="242424"/>
                </a:solidFill>
                <a:latin typeface="Arial"/>
                <a:cs typeface="Arial"/>
              </a:rPr>
              <a:t>take</a:t>
            </a:r>
            <a:r>
              <a:rPr sz="2500" spc="-225" dirty="0">
                <a:solidFill>
                  <a:srgbClr val="242424"/>
                </a:solidFill>
                <a:latin typeface="Arial"/>
                <a:cs typeface="Arial"/>
              </a:rPr>
              <a:t> </a:t>
            </a:r>
            <a:r>
              <a:rPr sz="2500" dirty="0">
                <a:solidFill>
                  <a:srgbClr val="242424"/>
                </a:solidFill>
                <a:latin typeface="Arial"/>
                <a:cs typeface="Arial"/>
              </a:rPr>
              <a:t>a</a:t>
            </a:r>
            <a:r>
              <a:rPr sz="2500" spc="-385" dirty="0">
                <a:solidFill>
                  <a:srgbClr val="242424"/>
                </a:solidFill>
                <a:latin typeface="Arial"/>
                <a:cs typeface="Arial"/>
              </a:rPr>
              <a:t> </a:t>
            </a:r>
            <a:r>
              <a:rPr sz="2500" spc="-20" dirty="0">
                <a:solidFill>
                  <a:srgbClr val="242424"/>
                </a:solidFill>
                <a:latin typeface="Arial"/>
                <a:cs typeface="Arial"/>
              </a:rPr>
              <a:t>step </a:t>
            </a:r>
            <a:r>
              <a:rPr sz="2500" spc="-45" dirty="0">
                <a:solidFill>
                  <a:srgbClr val="242424"/>
                </a:solidFill>
                <a:latin typeface="Arial"/>
                <a:cs typeface="Arial"/>
              </a:rPr>
              <a:t>downhill</a:t>
            </a:r>
            <a:r>
              <a:rPr sz="2500" spc="-185" dirty="0">
                <a:solidFill>
                  <a:srgbClr val="242424"/>
                </a:solidFill>
                <a:latin typeface="Arial"/>
                <a:cs typeface="Arial"/>
              </a:rPr>
              <a:t> </a:t>
            </a:r>
            <a:r>
              <a:rPr sz="2500" spc="-25" dirty="0">
                <a:solidFill>
                  <a:srgbClr val="242424"/>
                </a:solidFill>
                <a:latin typeface="Arial"/>
                <a:cs typeface="Arial"/>
              </a:rPr>
              <a:t>in</a:t>
            </a:r>
            <a:r>
              <a:rPr sz="2500" spc="-130" dirty="0">
                <a:solidFill>
                  <a:srgbClr val="242424"/>
                </a:solidFill>
                <a:latin typeface="Arial"/>
                <a:cs typeface="Arial"/>
              </a:rPr>
              <a:t> </a:t>
            </a:r>
            <a:r>
              <a:rPr sz="2500" spc="-25" dirty="0">
                <a:solidFill>
                  <a:srgbClr val="242424"/>
                </a:solidFill>
                <a:latin typeface="Arial"/>
                <a:cs typeface="Arial"/>
              </a:rPr>
              <a:t>the</a:t>
            </a:r>
            <a:r>
              <a:rPr sz="2500" spc="-114" dirty="0">
                <a:solidFill>
                  <a:srgbClr val="242424"/>
                </a:solidFill>
                <a:latin typeface="Arial"/>
                <a:cs typeface="Arial"/>
              </a:rPr>
              <a:t> </a:t>
            </a:r>
            <a:r>
              <a:rPr sz="2500" spc="-45" dirty="0">
                <a:solidFill>
                  <a:srgbClr val="242424"/>
                </a:solidFill>
                <a:latin typeface="Arial"/>
                <a:cs typeface="Arial"/>
              </a:rPr>
              <a:t>direction</a:t>
            </a:r>
            <a:r>
              <a:rPr sz="2500" spc="-155" dirty="0">
                <a:solidFill>
                  <a:srgbClr val="242424"/>
                </a:solidFill>
                <a:latin typeface="Arial"/>
                <a:cs typeface="Arial"/>
              </a:rPr>
              <a:t> </a:t>
            </a:r>
            <a:r>
              <a:rPr sz="2500" spc="-25" dirty="0">
                <a:solidFill>
                  <a:srgbClr val="242424"/>
                </a:solidFill>
                <a:latin typeface="Arial"/>
                <a:cs typeface="Arial"/>
              </a:rPr>
              <a:t>of</a:t>
            </a:r>
            <a:r>
              <a:rPr sz="2500" spc="-165" dirty="0">
                <a:solidFill>
                  <a:srgbClr val="242424"/>
                </a:solidFill>
                <a:latin typeface="Arial"/>
                <a:cs typeface="Arial"/>
              </a:rPr>
              <a:t> </a:t>
            </a:r>
            <a:r>
              <a:rPr sz="2500" spc="-110" dirty="0">
                <a:solidFill>
                  <a:srgbClr val="242424"/>
                </a:solidFill>
                <a:latin typeface="Arial"/>
                <a:cs typeface="Arial"/>
              </a:rPr>
              <a:t>steepest</a:t>
            </a:r>
            <a:r>
              <a:rPr sz="2500" spc="-200" dirty="0">
                <a:solidFill>
                  <a:srgbClr val="242424"/>
                </a:solidFill>
                <a:latin typeface="Arial"/>
                <a:cs typeface="Arial"/>
              </a:rPr>
              <a:t> </a:t>
            </a:r>
            <a:r>
              <a:rPr sz="2500" spc="-105" dirty="0">
                <a:solidFill>
                  <a:srgbClr val="242424"/>
                </a:solidFill>
                <a:latin typeface="Arial"/>
                <a:cs typeface="Arial"/>
              </a:rPr>
              <a:t>descent</a:t>
            </a:r>
            <a:r>
              <a:rPr sz="2500" spc="-270" dirty="0">
                <a:solidFill>
                  <a:srgbClr val="242424"/>
                </a:solidFill>
                <a:latin typeface="Arial"/>
                <a:cs typeface="Arial"/>
              </a:rPr>
              <a:t> </a:t>
            </a:r>
            <a:r>
              <a:rPr sz="2500" spc="-20" dirty="0">
                <a:solidFill>
                  <a:srgbClr val="242424"/>
                </a:solidFill>
                <a:latin typeface="Arial"/>
                <a:cs typeface="Arial"/>
              </a:rPr>
              <a:t>or</a:t>
            </a:r>
            <a:r>
              <a:rPr sz="2500" spc="-135" dirty="0">
                <a:solidFill>
                  <a:srgbClr val="242424"/>
                </a:solidFill>
                <a:latin typeface="Arial"/>
                <a:cs typeface="Arial"/>
              </a:rPr>
              <a:t> </a:t>
            </a:r>
            <a:r>
              <a:rPr sz="2500" spc="-70" dirty="0">
                <a:solidFill>
                  <a:srgbClr val="242424"/>
                </a:solidFill>
                <a:latin typeface="Arial"/>
                <a:cs typeface="Arial"/>
              </a:rPr>
              <a:t>quickly</a:t>
            </a:r>
            <a:r>
              <a:rPr sz="2500" spc="-220" dirty="0">
                <a:solidFill>
                  <a:srgbClr val="242424"/>
                </a:solidFill>
                <a:latin typeface="Arial"/>
                <a:cs typeface="Arial"/>
              </a:rPr>
              <a:t> </a:t>
            </a:r>
            <a:r>
              <a:rPr sz="2500" spc="-65" dirty="0">
                <a:solidFill>
                  <a:srgbClr val="242424"/>
                </a:solidFill>
                <a:latin typeface="Arial"/>
                <a:cs typeface="Arial"/>
              </a:rPr>
              <a:t>down</a:t>
            </a:r>
            <a:r>
              <a:rPr sz="2500" spc="-155" dirty="0">
                <a:solidFill>
                  <a:srgbClr val="242424"/>
                </a:solidFill>
                <a:latin typeface="Arial"/>
                <a:cs typeface="Arial"/>
              </a:rPr>
              <a:t> </a:t>
            </a:r>
            <a:r>
              <a:rPr sz="2500" spc="-30" dirty="0">
                <a:solidFill>
                  <a:srgbClr val="242424"/>
                </a:solidFill>
                <a:latin typeface="Arial"/>
                <a:cs typeface="Arial"/>
              </a:rPr>
              <a:t>low</a:t>
            </a:r>
            <a:r>
              <a:rPr sz="2500" spc="-130" dirty="0">
                <a:solidFill>
                  <a:srgbClr val="242424"/>
                </a:solidFill>
                <a:latin typeface="Arial"/>
                <a:cs typeface="Arial"/>
              </a:rPr>
              <a:t> </a:t>
            </a:r>
            <a:r>
              <a:rPr sz="2500" spc="-114" dirty="0">
                <a:solidFill>
                  <a:srgbClr val="242424"/>
                </a:solidFill>
                <a:latin typeface="Arial"/>
                <a:cs typeface="Arial"/>
              </a:rPr>
              <a:t>as</a:t>
            </a:r>
            <a:r>
              <a:rPr sz="2500" spc="-345" dirty="0">
                <a:solidFill>
                  <a:srgbClr val="242424"/>
                </a:solidFill>
                <a:latin typeface="Arial"/>
                <a:cs typeface="Arial"/>
              </a:rPr>
              <a:t> </a:t>
            </a:r>
            <a:r>
              <a:rPr sz="2500" spc="-75" dirty="0">
                <a:solidFill>
                  <a:srgbClr val="242424"/>
                </a:solidFill>
                <a:latin typeface="Arial"/>
                <a:cs typeface="Arial"/>
              </a:rPr>
              <a:t>possible.</a:t>
            </a:r>
            <a:endParaRPr sz="2500" dirty="0">
              <a:latin typeface="Arial"/>
              <a:cs typeface="Arial"/>
            </a:endParaRPr>
          </a:p>
          <a:p>
            <a:pPr marL="241300" marR="135890" indent="-228600" algn="just">
              <a:lnSpc>
                <a:spcPts val="2700"/>
              </a:lnSpc>
              <a:spcBef>
                <a:spcPts val="960"/>
              </a:spcBef>
              <a:buSzPct val="72000"/>
              <a:buFont typeface="Wingdings"/>
              <a:buChar char=""/>
              <a:tabLst>
                <a:tab pos="241300" algn="l"/>
                <a:tab pos="314325" algn="l"/>
              </a:tabLst>
            </a:pPr>
            <a:r>
              <a:rPr sz="2500" dirty="0">
                <a:solidFill>
                  <a:srgbClr val="242424"/>
                </a:solidFill>
                <a:latin typeface="Times New Roman"/>
                <a:cs typeface="Times New Roman"/>
              </a:rPr>
              <a:t>	</a:t>
            </a:r>
            <a:r>
              <a:rPr lang="en-GB" sz="2500" spc="-484" dirty="0">
                <a:solidFill>
                  <a:srgbClr val="242424"/>
                </a:solidFill>
                <a:latin typeface="Arial"/>
                <a:cs typeface="Arial"/>
              </a:rPr>
              <a:t>S o,</a:t>
            </a:r>
            <a:r>
              <a:rPr sz="2500" spc="310" dirty="0">
                <a:solidFill>
                  <a:srgbClr val="242424"/>
                </a:solidFill>
                <a:latin typeface="Arial"/>
                <a:cs typeface="Arial"/>
              </a:rPr>
              <a:t> </a:t>
            </a:r>
            <a:r>
              <a:rPr sz="2500" spc="-10" dirty="0">
                <a:solidFill>
                  <a:srgbClr val="242424"/>
                </a:solidFill>
                <a:latin typeface="Arial"/>
                <a:cs typeface="Arial"/>
              </a:rPr>
              <a:t>after</a:t>
            </a:r>
            <a:r>
              <a:rPr sz="2500" spc="-165" dirty="0">
                <a:solidFill>
                  <a:srgbClr val="242424"/>
                </a:solidFill>
                <a:latin typeface="Arial"/>
                <a:cs typeface="Arial"/>
              </a:rPr>
              <a:t> </a:t>
            </a:r>
            <a:r>
              <a:rPr sz="2500" spc="-90" dirty="0">
                <a:solidFill>
                  <a:srgbClr val="242424"/>
                </a:solidFill>
                <a:latin typeface="Arial"/>
                <a:cs typeface="Arial"/>
              </a:rPr>
              <a:t>one</a:t>
            </a:r>
            <a:r>
              <a:rPr sz="2500" spc="-85" dirty="0">
                <a:solidFill>
                  <a:srgbClr val="242424"/>
                </a:solidFill>
                <a:latin typeface="Arial"/>
                <a:cs typeface="Arial"/>
              </a:rPr>
              <a:t> </a:t>
            </a:r>
            <a:r>
              <a:rPr sz="2500" spc="-125" dirty="0">
                <a:solidFill>
                  <a:srgbClr val="242424"/>
                </a:solidFill>
                <a:latin typeface="Arial"/>
                <a:cs typeface="Arial"/>
              </a:rPr>
              <a:t>and</a:t>
            </a:r>
            <a:r>
              <a:rPr sz="2500" spc="-50" dirty="0">
                <a:solidFill>
                  <a:srgbClr val="242424"/>
                </a:solidFill>
                <a:latin typeface="Arial"/>
                <a:cs typeface="Arial"/>
              </a:rPr>
              <a:t> </a:t>
            </a:r>
            <a:r>
              <a:rPr sz="2500" dirty="0">
                <a:solidFill>
                  <a:srgbClr val="242424"/>
                </a:solidFill>
                <a:latin typeface="Arial"/>
                <a:cs typeface="Arial"/>
              </a:rPr>
              <a:t>two</a:t>
            </a:r>
            <a:r>
              <a:rPr sz="2500" spc="-175" dirty="0">
                <a:solidFill>
                  <a:srgbClr val="242424"/>
                </a:solidFill>
                <a:latin typeface="Arial"/>
                <a:cs typeface="Arial"/>
              </a:rPr>
              <a:t> </a:t>
            </a:r>
            <a:r>
              <a:rPr sz="2500" spc="-55" dirty="0">
                <a:solidFill>
                  <a:srgbClr val="242424"/>
                </a:solidFill>
                <a:latin typeface="Arial"/>
                <a:cs typeface="Arial"/>
              </a:rPr>
              <a:t>iterations</a:t>
            </a:r>
            <a:r>
              <a:rPr sz="2500" spc="-120" dirty="0">
                <a:solidFill>
                  <a:srgbClr val="242424"/>
                </a:solidFill>
                <a:latin typeface="Arial"/>
                <a:cs typeface="Arial"/>
              </a:rPr>
              <a:t> </a:t>
            </a:r>
            <a:r>
              <a:rPr sz="2500" dirty="0">
                <a:solidFill>
                  <a:srgbClr val="242424"/>
                </a:solidFill>
                <a:latin typeface="Arial"/>
                <a:cs typeface="Arial"/>
              </a:rPr>
              <a:t>of</a:t>
            </a:r>
            <a:r>
              <a:rPr sz="2500" spc="70" dirty="0">
                <a:solidFill>
                  <a:srgbClr val="242424"/>
                </a:solidFill>
                <a:latin typeface="Arial"/>
                <a:cs typeface="Arial"/>
              </a:rPr>
              <a:t> </a:t>
            </a:r>
            <a:r>
              <a:rPr sz="2500" spc="-75" dirty="0">
                <a:solidFill>
                  <a:srgbClr val="242424"/>
                </a:solidFill>
                <a:latin typeface="Arial"/>
                <a:cs typeface="Arial"/>
              </a:rPr>
              <a:t>gradient</a:t>
            </a:r>
            <a:r>
              <a:rPr sz="2500" spc="-40" dirty="0">
                <a:solidFill>
                  <a:srgbClr val="242424"/>
                </a:solidFill>
                <a:latin typeface="Arial"/>
                <a:cs typeface="Arial"/>
              </a:rPr>
              <a:t> </a:t>
            </a:r>
            <a:r>
              <a:rPr sz="2500" spc="-120" dirty="0">
                <a:solidFill>
                  <a:srgbClr val="242424"/>
                </a:solidFill>
                <a:latin typeface="Arial"/>
                <a:cs typeface="Arial"/>
              </a:rPr>
              <a:t>descent,</a:t>
            </a:r>
            <a:r>
              <a:rPr sz="2500" spc="-55" dirty="0">
                <a:solidFill>
                  <a:srgbClr val="242424"/>
                </a:solidFill>
                <a:latin typeface="Arial"/>
                <a:cs typeface="Arial"/>
              </a:rPr>
              <a:t> </a:t>
            </a:r>
            <a:r>
              <a:rPr sz="2500" spc="-95" dirty="0">
                <a:solidFill>
                  <a:srgbClr val="242424"/>
                </a:solidFill>
                <a:latin typeface="Arial"/>
                <a:cs typeface="Arial"/>
              </a:rPr>
              <a:t>you</a:t>
            </a:r>
            <a:r>
              <a:rPr sz="2500" spc="-30" dirty="0">
                <a:solidFill>
                  <a:srgbClr val="242424"/>
                </a:solidFill>
                <a:latin typeface="Arial"/>
                <a:cs typeface="Arial"/>
              </a:rPr>
              <a:t> </a:t>
            </a:r>
            <a:r>
              <a:rPr sz="2500" spc="-65" dirty="0">
                <a:solidFill>
                  <a:srgbClr val="242424"/>
                </a:solidFill>
                <a:latin typeface="Arial"/>
                <a:cs typeface="Arial"/>
              </a:rPr>
              <a:t>might </a:t>
            </a:r>
            <a:r>
              <a:rPr sz="2500" spc="-114" dirty="0">
                <a:solidFill>
                  <a:srgbClr val="242424"/>
                </a:solidFill>
                <a:latin typeface="Arial"/>
                <a:cs typeface="Arial"/>
              </a:rPr>
              <a:t>end</a:t>
            </a:r>
            <a:r>
              <a:rPr sz="2500" spc="-60" dirty="0">
                <a:solidFill>
                  <a:srgbClr val="242424"/>
                </a:solidFill>
                <a:latin typeface="Arial"/>
                <a:cs typeface="Arial"/>
              </a:rPr>
              <a:t> </a:t>
            </a:r>
            <a:r>
              <a:rPr sz="2500" spc="-65" dirty="0">
                <a:solidFill>
                  <a:srgbClr val="242424"/>
                </a:solidFill>
                <a:latin typeface="Arial"/>
                <a:cs typeface="Arial"/>
              </a:rPr>
              <a:t>up</a:t>
            </a:r>
            <a:r>
              <a:rPr sz="2500" spc="-55" dirty="0">
                <a:solidFill>
                  <a:srgbClr val="242424"/>
                </a:solidFill>
                <a:latin typeface="Arial"/>
                <a:cs typeface="Arial"/>
              </a:rPr>
              <a:t> </a:t>
            </a:r>
            <a:r>
              <a:rPr sz="2500" spc="-20" dirty="0">
                <a:solidFill>
                  <a:srgbClr val="242424"/>
                </a:solidFill>
                <a:latin typeface="Arial"/>
                <a:cs typeface="Arial"/>
              </a:rPr>
              <a:t>with </a:t>
            </a:r>
            <a:r>
              <a:rPr sz="2500" spc="-10" dirty="0">
                <a:solidFill>
                  <a:srgbClr val="242424"/>
                </a:solidFill>
                <a:latin typeface="Arial"/>
                <a:cs typeface="Arial"/>
              </a:rPr>
              <a:t>the</a:t>
            </a:r>
            <a:r>
              <a:rPr sz="2500" spc="-165" dirty="0">
                <a:solidFill>
                  <a:srgbClr val="242424"/>
                </a:solidFill>
                <a:latin typeface="Arial"/>
                <a:cs typeface="Arial"/>
              </a:rPr>
              <a:t> </a:t>
            </a:r>
            <a:r>
              <a:rPr sz="2500" dirty="0">
                <a:solidFill>
                  <a:srgbClr val="242424"/>
                </a:solidFill>
                <a:latin typeface="Arial"/>
                <a:cs typeface="Arial"/>
              </a:rPr>
              <a:t>third</a:t>
            </a:r>
            <a:r>
              <a:rPr sz="2500" spc="-175" dirty="0">
                <a:solidFill>
                  <a:srgbClr val="242424"/>
                </a:solidFill>
                <a:latin typeface="Arial"/>
                <a:cs typeface="Arial"/>
              </a:rPr>
              <a:t> </a:t>
            </a:r>
            <a:r>
              <a:rPr sz="2500" spc="-30" dirty="0">
                <a:solidFill>
                  <a:srgbClr val="242424"/>
                </a:solidFill>
                <a:latin typeface="Arial"/>
                <a:cs typeface="Arial"/>
              </a:rPr>
              <a:t>iteration</a:t>
            </a:r>
            <a:r>
              <a:rPr sz="2500" spc="-145" dirty="0">
                <a:solidFill>
                  <a:srgbClr val="242424"/>
                </a:solidFill>
                <a:latin typeface="Arial"/>
                <a:cs typeface="Arial"/>
              </a:rPr>
              <a:t> </a:t>
            </a:r>
            <a:r>
              <a:rPr sz="2500" spc="-140" dirty="0">
                <a:solidFill>
                  <a:srgbClr val="242424"/>
                </a:solidFill>
                <a:latin typeface="Arial"/>
                <a:cs typeface="Arial"/>
              </a:rPr>
              <a:t>and</a:t>
            </a:r>
            <a:r>
              <a:rPr sz="2500" spc="-35" dirty="0">
                <a:solidFill>
                  <a:srgbClr val="242424"/>
                </a:solidFill>
                <a:latin typeface="Arial"/>
                <a:cs typeface="Arial"/>
              </a:rPr>
              <a:t> </a:t>
            </a:r>
            <a:r>
              <a:rPr sz="2500" spc="-265" dirty="0">
                <a:solidFill>
                  <a:srgbClr val="242424"/>
                </a:solidFill>
                <a:latin typeface="Arial"/>
                <a:cs typeface="Arial"/>
              </a:rPr>
              <a:t>so</a:t>
            </a:r>
            <a:r>
              <a:rPr sz="2500" spc="90" dirty="0">
                <a:solidFill>
                  <a:srgbClr val="242424"/>
                </a:solidFill>
                <a:latin typeface="Arial"/>
                <a:cs typeface="Arial"/>
              </a:rPr>
              <a:t> </a:t>
            </a:r>
            <a:r>
              <a:rPr sz="2500" spc="-95" dirty="0">
                <a:solidFill>
                  <a:srgbClr val="242424"/>
                </a:solidFill>
                <a:latin typeface="Arial"/>
                <a:cs typeface="Arial"/>
              </a:rPr>
              <a:t>on,</a:t>
            </a:r>
            <a:r>
              <a:rPr sz="2500" spc="-80" dirty="0">
                <a:solidFill>
                  <a:srgbClr val="242424"/>
                </a:solidFill>
                <a:latin typeface="Arial"/>
                <a:cs typeface="Arial"/>
              </a:rPr>
              <a:t> </a:t>
            </a:r>
            <a:r>
              <a:rPr sz="2500" dirty="0">
                <a:solidFill>
                  <a:srgbClr val="242424"/>
                </a:solidFill>
                <a:latin typeface="Arial"/>
                <a:cs typeface="Arial"/>
              </a:rPr>
              <a:t>until</a:t>
            </a:r>
            <a:r>
              <a:rPr sz="2500" spc="35" dirty="0">
                <a:solidFill>
                  <a:srgbClr val="242424"/>
                </a:solidFill>
                <a:latin typeface="Arial"/>
                <a:cs typeface="Arial"/>
              </a:rPr>
              <a:t> </a:t>
            </a:r>
            <a:r>
              <a:rPr sz="2500" spc="-130" dirty="0">
                <a:solidFill>
                  <a:srgbClr val="242424"/>
                </a:solidFill>
                <a:latin typeface="Arial"/>
                <a:cs typeface="Arial"/>
              </a:rPr>
              <a:t>eventually,</a:t>
            </a:r>
            <a:r>
              <a:rPr sz="2500" spc="-45" dirty="0">
                <a:solidFill>
                  <a:srgbClr val="242424"/>
                </a:solidFill>
                <a:latin typeface="Arial"/>
                <a:cs typeface="Arial"/>
              </a:rPr>
              <a:t> </a:t>
            </a:r>
            <a:r>
              <a:rPr sz="2500" spc="-70" dirty="0">
                <a:solidFill>
                  <a:srgbClr val="242424"/>
                </a:solidFill>
                <a:latin typeface="Arial"/>
                <a:cs typeface="Arial"/>
              </a:rPr>
              <a:t>hopefully</a:t>
            </a:r>
            <a:r>
              <a:rPr sz="2500" spc="-45" dirty="0">
                <a:solidFill>
                  <a:srgbClr val="242424"/>
                </a:solidFill>
                <a:latin typeface="Arial"/>
                <a:cs typeface="Arial"/>
              </a:rPr>
              <a:t> </a:t>
            </a:r>
            <a:r>
              <a:rPr sz="2500" spc="-130" dirty="0">
                <a:solidFill>
                  <a:srgbClr val="242424"/>
                </a:solidFill>
                <a:latin typeface="Arial"/>
                <a:cs typeface="Arial"/>
              </a:rPr>
              <a:t>you</a:t>
            </a:r>
            <a:r>
              <a:rPr sz="2500" spc="-45" dirty="0">
                <a:solidFill>
                  <a:srgbClr val="242424"/>
                </a:solidFill>
                <a:latin typeface="Arial"/>
                <a:cs typeface="Arial"/>
              </a:rPr>
              <a:t> </a:t>
            </a:r>
            <a:r>
              <a:rPr sz="2500" spc="-145" dirty="0">
                <a:solidFill>
                  <a:srgbClr val="242424"/>
                </a:solidFill>
                <a:latin typeface="Arial"/>
                <a:cs typeface="Arial"/>
              </a:rPr>
              <a:t>converge</a:t>
            </a:r>
            <a:r>
              <a:rPr sz="2500" spc="-30" dirty="0">
                <a:solidFill>
                  <a:srgbClr val="242424"/>
                </a:solidFill>
                <a:latin typeface="Arial"/>
                <a:cs typeface="Arial"/>
              </a:rPr>
              <a:t> </a:t>
            </a:r>
            <a:r>
              <a:rPr sz="2500" dirty="0">
                <a:solidFill>
                  <a:srgbClr val="242424"/>
                </a:solidFill>
                <a:latin typeface="Arial"/>
                <a:cs typeface="Arial"/>
              </a:rPr>
              <a:t>to</a:t>
            </a:r>
            <a:r>
              <a:rPr sz="2500" spc="45" dirty="0">
                <a:solidFill>
                  <a:srgbClr val="242424"/>
                </a:solidFill>
                <a:latin typeface="Arial"/>
                <a:cs typeface="Arial"/>
              </a:rPr>
              <a:t> </a:t>
            </a:r>
            <a:r>
              <a:rPr sz="2500" spc="-20" dirty="0">
                <a:solidFill>
                  <a:srgbClr val="242424"/>
                </a:solidFill>
                <a:latin typeface="Arial"/>
                <a:cs typeface="Arial"/>
              </a:rPr>
              <a:t>this </a:t>
            </a:r>
            <a:r>
              <a:rPr sz="2500" spc="-85" dirty="0">
                <a:solidFill>
                  <a:srgbClr val="242424"/>
                </a:solidFill>
                <a:latin typeface="Arial"/>
                <a:cs typeface="Arial"/>
              </a:rPr>
              <a:t>global</a:t>
            </a:r>
            <a:r>
              <a:rPr sz="2500" spc="-210" dirty="0">
                <a:solidFill>
                  <a:srgbClr val="242424"/>
                </a:solidFill>
                <a:latin typeface="Arial"/>
                <a:cs typeface="Arial"/>
              </a:rPr>
              <a:t> </a:t>
            </a:r>
            <a:r>
              <a:rPr sz="2500" spc="-45" dirty="0">
                <a:solidFill>
                  <a:srgbClr val="242424"/>
                </a:solidFill>
                <a:latin typeface="Arial"/>
                <a:cs typeface="Arial"/>
              </a:rPr>
              <a:t>optimum</a:t>
            </a:r>
            <a:r>
              <a:rPr sz="2500" spc="-155" dirty="0">
                <a:solidFill>
                  <a:srgbClr val="242424"/>
                </a:solidFill>
                <a:latin typeface="Arial"/>
                <a:cs typeface="Arial"/>
              </a:rPr>
              <a:t> </a:t>
            </a:r>
            <a:r>
              <a:rPr sz="2500" spc="-10" dirty="0">
                <a:solidFill>
                  <a:srgbClr val="242424"/>
                </a:solidFill>
                <a:latin typeface="Arial"/>
                <a:cs typeface="Arial"/>
              </a:rPr>
              <a:t>or</a:t>
            </a:r>
            <a:r>
              <a:rPr sz="2500" spc="-140" dirty="0">
                <a:solidFill>
                  <a:srgbClr val="242424"/>
                </a:solidFill>
                <a:latin typeface="Arial"/>
                <a:cs typeface="Arial"/>
              </a:rPr>
              <a:t> </a:t>
            </a:r>
            <a:r>
              <a:rPr sz="2500" spc="-50" dirty="0">
                <a:solidFill>
                  <a:srgbClr val="242424"/>
                </a:solidFill>
                <a:latin typeface="Arial"/>
                <a:cs typeface="Arial"/>
              </a:rPr>
              <a:t>get</a:t>
            </a:r>
            <a:r>
              <a:rPr sz="2500" spc="-229" dirty="0">
                <a:solidFill>
                  <a:srgbClr val="242424"/>
                </a:solidFill>
                <a:latin typeface="Arial"/>
                <a:cs typeface="Arial"/>
              </a:rPr>
              <a:t> </a:t>
            </a:r>
            <a:r>
              <a:rPr sz="2500" dirty="0">
                <a:solidFill>
                  <a:srgbClr val="242424"/>
                </a:solidFill>
                <a:latin typeface="Arial"/>
                <a:cs typeface="Arial"/>
              </a:rPr>
              <a:t>to</a:t>
            </a:r>
            <a:r>
              <a:rPr sz="2500" spc="-80" dirty="0">
                <a:solidFill>
                  <a:srgbClr val="242424"/>
                </a:solidFill>
                <a:latin typeface="Arial"/>
                <a:cs typeface="Arial"/>
              </a:rPr>
              <a:t> </a:t>
            </a:r>
            <a:r>
              <a:rPr sz="2500" spc="-95" dirty="0">
                <a:solidFill>
                  <a:srgbClr val="242424"/>
                </a:solidFill>
                <a:latin typeface="Arial"/>
                <a:cs typeface="Arial"/>
              </a:rPr>
              <a:t>something</a:t>
            </a:r>
            <a:r>
              <a:rPr sz="2500" spc="-225" dirty="0">
                <a:solidFill>
                  <a:srgbClr val="242424"/>
                </a:solidFill>
                <a:latin typeface="Arial"/>
                <a:cs typeface="Arial"/>
              </a:rPr>
              <a:t> </a:t>
            </a:r>
            <a:r>
              <a:rPr sz="2500" spc="-114" dirty="0">
                <a:solidFill>
                  <a:srgbClr val="242424"/>
                </a:solidFill>
                <a:latin typeface="Arial"/>
                <a:cs typeface="Arial"/>
              </a:rPr>
              <a:t>close</a:t>
            </a:r>
            <a:r>
              <a:rPr sz="2500" spc="-270" dirty="0">
                <a:solidFill>
                  <a:srgbClr val="242424"/>
                </a:solidFill>
                <a:latin typeface="Arial"/>
                <a:cs typeface="Arial"/>
              </a:rPr>
              <a:t> </a:t>
            </a:r>
            <a:r>
              <a:rPr sz="2500" dirty="0">
                <a:solidFill>
                  <a:srgbClr val="242424"/>
                </a:solidFill>
                <a:latin typeface="Arial"/>
                <a:cs typeface="Arial"/>
              </a:rPr>
              <a:t>to</a:t>
            </a:r>
            <a:r>
              <a:rPr sz="2500" spc="-100" dirty="0">
                <a:solidFill>
                  <a:srgbClr val="242424"/>
                </a:solidFill>
                <a:latin typeface="Arial"/>
                <a:cs typeface="Arial"/>
              </a:rPr>
              <a:t> </a:t>
            </a:r>
            <a:r>
              <a:rPr sz="2500" spc="-35" dirty="0">
                <a:solidFill>
                  <a:srgbClr val="242424"/>
                </a:solidFill>
                <a:latin typeface="Arial"/>
                <a:cs typeface="Arial"/>
              </a:rPr>
              <a:t>the</a:t>
            </a:r>
            <a:r>
              <a:rPr sz="2500" spc="-125" dirty="0">
                <a:solidFill>
                  <a:srgbClr val="242424"/>
                </a:solidFill>
                <a:latin typeface="Arial"/>
                <a:cs typeface="Arial"/>
              </a:rPr>
              <a:t> </a:t>
            </a:r>
            <a:r>
              <a:rPr sz="2500" spc="-85" dirty="0">
                <a:solidFill>
                  <a:srgbClr val="242424"/>
                </a:solidFill>
                <a:latin typeface="Arial"/>
                <a:cs typeface="Arial"/>
              </a:rPr>
              <a:t>global</a:t>
            </a:r>
            <a:r>
              <a:rPr sz="2500" spc="-204" dirty="0">
                <a:solidFill>
                  <a:srgbClr val="242424"/>
                </a:solidFill>
                <a:latin typeface="Arial"/>
                <a:cs typeface="Arial"/>
              </a:rPr>
              <a:t> </a:t>
            </a:r>
            <a:r>
              <a:rPr sz="2500" spc="-10" dirty="0">
                <a:solidFill>
                  <a:srgbClr val="242424"/>
                </a:solidFill>
                <a:latin typeface="Arial"/>
                <a:cs typeface="Arial"/>
              </a:rPr>
              <a:t>optimum.</a:t>
            </a:r>
            <a:endParaRPr sz="2500" dirty="0">
              <a:latin typeface="Arial"/>
              <a:cs typeface="Arial"/>
            </a:endParaRPr>
          </a:p>
        </p:txBody>
      </p:sp>
    </p:spTree>
    <p:extLst>
      <p:ext uri="{BB962C8B-B14F-4D97-AF65-F5344CB8AC3E}">
        <p14:creationId xmlns:p14="http://schemas.microsoft.com/office/powerpoint/2010/main" val="6381180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0937C-4DF5-D596-CA30-32A1769D1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54033-77D3-F339-2E37-A84ACA06799F}"/>
              </a:ext>
            </a:extLst>
          </p:cNvPr>
          <p:cNvSpPr>
            <a:spLocks noGrp="1"/>
          </p:cNvSpPr>
          <p:nvPr>
            <p:ph type="title"/>
          </p:nvPr>
        </p:nvSpPr>
        <p:spPr>
          <a:xfrm>
            <a:off x="629500" y="277838"/>
            <a:ext cx="9188268" cy="1068223"/>
          </a:xfrm>
        </p:spPr>
        <p:txBody>
          <a:bodyPr/>
          <a:lstStyle/>
          <a:p>
            <a:r>
              <a:rPr lang="en-GB" sz="4400" spc="-229" dirty="0" err="1"/>
              <a:t>G</a:t>
            </a:r>
            <a:r>
              <a:rPr lang="en-GB" sz="4400" spc="-300" dirty="0" err="1"/>
              <a:t>r</a:t>
            </a:r>
            <a:r>
              <a:rPr lang="en-GB" sz="4400" spc="-220" dirty="0" err="1"/>
              <a:t>a</a:t>
            </a:r>
            <a:r>
              <a:rPr lang="en-GB" sz="4400" spc="-235" dirty="0" err="1"/>
              <a:t>d</a:t>
            </a:r>
            <a:r>
              <a:rPr lang="en-GB" sz="4400" spc="-215" dirty="0" err="1"/>
              <a:t>i</a:t>
            </a:r>
            <a:r>
              <a:rPr lang="en-GB" sz="4400" spc="-220" dirty="0" err="1"/>
              <a:t>e</a:t>
            </a:r>
            <a:r>
              <a:rPr lang="en-GB" sz="4400" spc="-275" dirty="0" err="1"/>
              <a:t>n</a:t>
            </a:r>
            <a:r>
              <a:rPr lang="en-GB" sz="4400" spc="315" dirty="0" err="1"/>
              <a:t>t</a:t>
            </a:r>
            <a:r>
              <a:rPr lang="en-GB" sz="4400" spc="-300" dirty="0" err="1"/>
              <a:t>D</a:t>
            </a:r>
            <a:r>
              <a:rPr lang="en-GB" sz="4400" spc="-295" dirty="0" err="1"/>
              <a:t>e</a:t>
            </a:r>
            <a:r>
              <a:rPr lang="en-GB" sz="4400" spc="-300" dirty="0" err="1"/>
              <a:t>sc</a:t>
            </a:r>
            <a:r>
              <a:rPr lang="en-GB" sz="4400" spc="-295" dirty="0" err="1"/>
              <a:t>e</a:t>
            </a:r>
            <a:r>
              <a:rPr lang="en-GB" sz="4400" spc="-355" dirty="0" err="1"/>
              <a:t>n</a:t>
            </a:r>
            <a:r>
              <a:rPr lang="en-GB" sz="4400" dirty="0" err="1"/>
              <a:t>t</a:t>
            </a:r>
            <a:endParaRPr lang="en-US" dirty="0">
              <a:solidFill>
                <a:srgbClr val="942D6D"/>
              </a:solidFill>
            </a:endParaRPr>
          </a:p>
        </p:txBody>
      </p:sp>
      <p:cxnSp>
        <p:nvCxnSpPr>
          <p:cNvPr id="4" name="Straight Connector 3">
            <a:extLst>
              <a:ext uri="{FF2B5EF4-FFF2-40B4-BE49-F238E27FC236}">
                <a16:creationId xmlns:a16="http://schemas.microsoft.com/office/drawing/2014/main" id="{7B5C7FEF-34FD-05D4-7C0F-9213F7A7C70A}"/>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40A9069F-A3B9-3E6E-1FA5-0BCA9A94F152}"/>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69720D5A-482D-1DA4-3977-BAC7BF0C7A61}"/>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object 2">
            <a:extLst>
              <a:ext uri="{FF2B5EF4-FFF2-40B4-BE49-F238E27FC236}">
                <a16:creationId xmlns:a16="http://schemas.microsoft.com/office/drawing/2014/main" id="{997BE873-2986-3182-D01B-3B0B21E01254}"/>
              </a:ext>
            </a:extLst>
          </p:cNvPr>
          <p:cNvPicPr/>
          <p:nvPr/>
        </p:nvPicPr>
        <p:blipFill>
          <a:blip r:embed="rId3" cstate="print"/>
          <a:stretch>
            <a:fillRect/>
          </a:stretch>
        </p:blipFill>
        <p:spPr>
          <a:xfrm>
            <a:off x="1943718" y="1810131"/>
            <a:ext cx="7330440" cy="4038600"/>
          </a:xfrm>
          <a:prstGeom prst="rect">
            <a:avLst/>
          </a:prstGeom>
        </p:spPr>
      </p:pic>
      <p:sp>
        <p:nvSpPr>
          <p:cNvPr id="8" name="object 4">
            <a:extLst>
              <a:ext uri="{FF2B5EF4-FFF2-40B4-BE49-F238E27FC236}">
                <a16:creationId xmlns:a16="http://schemas.microsoft.com/office/drawing/2014/main" id="{C8D57C96-5EA0-1D19-6227-277A4681189F}"/>
              </a:ext>
            </a:extLst>
          </p:cNvPr>
          <p:cNvSpPr txBox="1"/>
          <p:nvPr/>
        </p:nvSpPr>
        <p:spPr>
          <a:xfrm>
            <a:off x="9262094" y="1561211"/>
            <a:ext cx="2209800" cy="2716530"/>
          </a:xfrm>
          <a:prstGeom prst="rect">
            <a:avLst/>
          </a:prstGeom>
        </p:spPr>
        <p:txBody>
          <a:bodyPr vert="horz" wrap="square" lIns="0" tIns="12700" rIns="0" bIns="0" rtlCol="0">
            <a:spAutoFit/>
          </a:bodyPr>
          <a:lstStyle>
            <a:defPPr>
              <a:defRPr kern="0"/>
            </a:defPPr>
          </a:lstStyle>
          <a:p>
            <a:pPr marL="299720" marR="5080" indent="-287020">
              <a:lnSpc>
                <a:spcPct val="100000"/>
              </a:lnSpc>
              <a:spcBef>
                <a:spcPts val="100"/>
              </a:spcBef>
              <a:buFont typeface="Wingdings"/>
              <a:buChar char=""/>
              <a:tabLst>
                <a:tab pos="299720" algn="l"/>
              </a:tabLst>
            </a:pPr>
            <a:r>
              <a:rPr sz="1600" spc="-75" dirty="0">
                <a:latin typeface="Arial"/>
                <a:cs typeface="Arial"/>
              </a:rPr>
              <a:t>The</a:t>
            </a:r>
            <a:r>
              <a:rPr sz="1600" spc="-260" dirty="0">
                <a:latin typeface="Arial"/>
                <a:cs typeface="Arial"/>
              </a:rPr>
              <a:t> </a:t>
            </a:r>
            <a:r>
              <a:rPr sz="1600" spc="-60" dirty="0">
                <a:latin typeface="Arial"/>
                <a:cs typeface="Arial"/>
              </a:rPr>
              <a:t>learning</a:t>
            </a:r>
            <a:r>
              <a:rPr sz="1600" spc="-45" dirty="0">
                <a:latin typeface="Arial"/>
                <a:cs typeface="Arial"/>
              </a:rPr>
              <a:t> </a:t>
            </a:r>
            <a:r>
              <a:rPr sz="1600" spc="-20" dirty="0">
                <a:latin typeface="Arial"/>
                <a:cs typeface="Arial"/>
              </a:rPr>
              <a:t>rate </a:t>
            </a:r>
            <a:r>
              <a:rPr sz="1600" spc="-55" dirty="0">
                <a:latin typeface="Arial"/>
                <a:cs typeface="Arial"/>
              </a:rPr>
              <a:t>controls</a:t>
            </a:r>
            <a:r>
              <a:rPr sz="1600" spc="-10" dirty="0">
                <a:latin typeface="Arial"/>
                <a:cs typeface="Arial"/>
              </a:rPr>
              <a:t> </a:t>
            </a:r>
            <a:r>
              <a:rPr sz="1600" spc="-45" dirty="0">
                <a:latin typeface="Arial"/>
                <a:cs typeface="Arial"/>
              </a:rPr>
              <a:t>how</a:t>
            </a:r>
            <a:r>
              <a:rPr sz="1600" spc="-80" dirty="0">
                <a:latin typeface="Arial"/>
                <a:cs typeface="Arial"/>
              </a:rPr>
              <a:t> </a:t>
            </a:r>
            <a:r>
              <a:rPr sz="1600" spc="-50" dirty="0">
                <a:latin typeface="Arial"/>
                <a:cs typeface="Arial"/>
              </a:rPr>
              <a:t>big</a:t>
            </a:r>
            <a:r>
              <a:rPr sz="1600" spc="-110" dirty="0">
                <a:latin typeface="Arial"/>
                <a:cs typeface="Arial"/>
              </a:rPr>
              <a:t> </a:t>
            </a:r>
            <a:r>
              <a:rPr sz="1600" spc="-25" dirty="0">
                <a:latin typeface="Arial"/>
                <a:cs typeface="Arial"/>
              </a:rPr>
              <a:t>astep </a:t>
            </a:r>
            <a:r>
              <a:rPr sz="1600" spc="-45" dirty="0">
                <a:latin typeface="Arial"/>
                <a:cs typeface="Arial"/>
              </a:rPr>
              <a:t>we</a:t>
            </a:r>
            <a:r>
              <a:rPr sz="1600" spc="-114" dirty="0">
                <a:latin typeface="Arial"/>
                <a:cs typeface="Arial"/>
              </a:rPr>
              <a:t> </a:t>
            </a:r>
            <a:r>
              <a:rPr sz="1600" spc="-70" dirty="0">
                <a:latin typeface="Arial"/>
                <a:cs typeface="Arial"/>
              </a:rPr>
              <a:t>take</a:t>
            </a:r>
            <a:r>
              <a:rPr sz="1600" spc="-80" dirty="0">
                <a:latin typeface="Arial"/>
                <a:cs typeface="Arial"/>
              </a:rPr>
              <a:t> </a:t>
            </a:r>
            <a:r>
              <a:rPr sz="1600" spc="-35" dirty="0">
                <a:latin typeface="Arial"/>
                <a:cs typeface="Arial"/>
              </a:rPr>
              <a:t>on</a:t>
            </a:r>
            <a:r>
              <a:rPr sz="1600" spc="-85" dirty="0">
                <a:latin typeface="Arial"/>
                <a:cs typeface="Arial"/>
              </a:rPr>
              <a:t> </a:t>
            </a:r>
            <a:r>
              <a:rPr sz="1600" spc="-20" dirty="0">
                <a:latin typeface="Arial"/>
                <a:cs typeface="Arial"/>
              </a:rPr>
              <a:t>each iteration</a:t>
            </a:r>
            <a:r>
              <a:rPr sz="1600" spc="-60" dirty="0">
                <a:latin typeface="Arial"/>
                <a:cs typeface="Arial"/>
              </a:rPr>
              <a:t> </a:t>
            </a:r>
            <a:r>
              <a:rPr sz="1600" dirty="0">
                <a:latin typeface="Arial"/>
                <a:cs typeface="Arial"/>
              </a:rPr>
              <a:t>of</a:t>
            </a:r>
            <a:r>
              <a:rPr sz="1600" spc="-25" dirty="0">
                <a:latin typeface="Arial"/>
                <a:cs typeface="Arial"/>
              </a:rPr>
              <a:t> </a:t>
            </a:r>
            <a:r>
              <a:rPr sz="1600" spc="-10" dirty="0">
                <a:latin typeface="Arial"/>
                <a:cs typeface="Arial"/>
              </a:rPr>
              <a:t>gradient descent</a:t>
            </a:r>
            <a:endParaRPr sz="1600">
              <a:latin typeface="Arial"/>
              <a:cs typeface="Arial"/>
            </a:endParaRPr>
          </a:p>
          <a:p>
            <a:pPr>
              <a:lnSpc>
                <a:spcPct val="100000"/>
              </a:lnSpc>
              <a:spcBef>
                <a:spcPts val="145"/>
              </a:spcBef>
              <a:buFont typeface="Wingdings"/>
              <a:buChar char=""/>
            </a:pPr>
            <a:endParaRPr sz="1600">
              <a:latin typeface="Arial"/>
              <a:cs typeface="Arial"/>
            </a:endParaRPr>
          </a:p>
          <a:p>
            <a:pPr marL="299720" marR="172085" indent="-287020">
              <a:lnSpc>
                <a:spcPct val="100000"/>
              </a:lnSpc>
              <a:buFont typeface="Wingdings"/>
              <a:buChar char=""/>
              <a:tabLst>
                <a:tab pos="299720" algn="l"/>
              </a:tabLst>
            </a:pPr>
            <a:r>
              <a:rPr sz="1600" spc="-60" dirty="0">
                <a:latin typeface="Arial"/>
                <a:cs typeface="Arial"/>
              </a:rPr>
              <a:t>Derivative</a:t>
            </a:r>
            <a:r>
              <a:rPr sz="1600" spc="-125" dirty="0">
                <a:latin typeface="Arial"/>
                <a:cs typeface="Arial"/>
              </a:rPr>
              <a:t> </a:t>
            </a:r>
            <a:r>
              <a:rPr sz="1600" spc="-40" dirty="0">
                <a:latin typeface="Arial"/>
                <a:cs typeface="Arial"/>
              </a:rPr>
              <a:t>is</a:t>
            </a:r>
            <a:r>
              <a:rPr sz="1600" spc="-260" dirty="0">
                <a:latin typeface="Arial"/>
                <a:cs typeface="Arial"/>
              </a:rPr>
              <a:t> </a:t>
            </a:r>
            <a:r>
              <a:rPr sz="1600" spc="-75" dirty="0">
                <a:latin typeface="Arial"/>
                <a:cs typeface="Arial"/>
              </a:rPr>
              <a:t>basically </a:t>
            </a:r>
            <a:r>
              <a:rPr sz="1600" dirty="0">
                <a:latin typeface="Arial"/>
                <a:cs typeface="Arial"/>
              </a:rPr>
              <a:t>the</a:t>
            </a:r>
            <a:r>
              <a:rPr sz="1600" spc="-50" dirty="0">
                <a:latin typeface="Arial"/>
                <a:cs typeface="Arial"/>
              </a:rPr>
              <a:t> </a:t>
            </a:r>
            <a:r>
              <a:rPr sz="1600" spc="-70" dirty="0">
                <a:latin typeface="Arial"/>
                <a:cs typeface="Arial"/>
              </a:rPr>
              <a:t>update</a:t>
            </a:r>
            <a:r>
              <a:rPr sz="1600" spc="-55" dirty="0">
                <a:latin typeface="Arial"/>
                <a:cs typeface="Arial"/>
              </a:rPr>
              <a:t> </a:t>
            </a:r>
            <a:r>
              <a:rPr sz="1600" dirty="0">
                <a:latin typeface="Arial"/>
                <a:cs typeface="Arial"/>
              </a:rPr>
              <a:t>of</a:t>
            </a:r>
            <a:r>
              <a:rPr sz="1600" spc="-10" dirty="0">
                <a:latin typeface="Arial"/>
                <a:cs typeface="Arial"/>
              </a:rPr>
              <a:t> </a:t>
            </a:r>
            <a:r>
              <a:rPr sz="1600" spc="-25" dirty="0">
                <a:latin typeface="Arial"/>
                <a:cs typeface="Arial"/>
              </a:rPr>
              <a:t>the </a:t>
            </a:r>
            <a:r>
              <a:rPr sz="1600" spc="-90" dirty="0">
                <a:latin typeface="Arial"/>
                <a:cs typeface="Arial"/>
              </a:rPr>
              <a:t>change</a:t>
            </a:r>
            <a:r>
              <a:rPr sz="1600" spc="-185" dirty="0">
                <a:latin typeface="Arial"/>
                <a:cs typeface="Arial"/>
              </a:rPr>
              <a:t> </a:t>
            </a:r>
            <a:r>
              <a:rPr sz="1600" spc="-65" dirty="0">
                <a:latin typeface="Arial"/>
                <a:cs typeface="Arial"/>
              </a:rPr>
              <a:t>you</a:t>
            </a:r>
            <a:r>
              <a:rPr sz="1600" spc="-95" dirty="0">
                <a:latin typeface="Arial"/>
                <a:cs typeface="Arial"/>
              </a:rPr>
              <a:t> </a:t>
            </a:r>
            <a:r>
              <a:rPr sz="1600" spc="-30" dirty="0">
                <a:latin typeface="Arial"/>
                <a:cs typeface="Arial"/>
              </a:rPr>
              <a:t>want</a:t>
            </a:r>
            <a:r>
              <a:rPr sz="1600" spc="-80" dirty="0">
                <a:latin typeface="Arial"/>
                <a:cs typeface="Arial"/>
              </a:rPr>
              <a:t> </a:t>
            </a:r>
            <a:r>
              <a:rPr sz="1600" spc="-25" dirty="0">
                <a:latin typeface="Arial"/>
                <a:cs typeface="Arial"/>
              </a:rPr>
              <a:t>to </a:t>
            </a:r>
            <a:r>
              <a:rPr sz="1600" spc="-85" dirty="0">
                <a:latin typeface="Arial"/>
                <a:cs typeface="Arial"/>
              </a:rPr>
              <a:t>make</a:t>
            </a:r>
            <a:r>
              <a:rPr sz="1600" spc="-220" dirty="0">
                <a:latin typeface="Arial"/>
                <a:cs typeface="Arial"/>
              </a:rPr>
              <a:t> </a:t>
            </a:r>
            <a:r>
              <a:rPr sz="1600" dirty="0">
                <a:latin typeface="Arial"/>
                <a:cs typeface="Arial"/>
              </a:rPr>
              <a:t>to</a:t>
            </a:r>
            <a:r>
              <a:rPr sz="1600" spc="65" dirty="0">
                <a:latin typeface="Arial"/>
                <a:cs typeface="Arial"/>
              </a:rPr>
              <a:t> </a:t>
            </a:r>
            <a:r>
              <a:rPr sz="1600" spc="-25" dirty="0">
                <a:latin typeface="Arial"/>
                <a:cs typeface="Arial"/>
              </a:rPr>
              <a:t>the </a:t>
            </a:r>
            <a:r>
              <a:rPr sz="1600" spc="-80" dirty="0">
                <a:latin typeface="Arial"/>
                <a:cs typeface="Arial"/>
              </a:rPr>
              <a:t>parameters</a:t>
            </a:r>
            <a:r>
              <a:rPr sz="1600" spc="-25" dirty="0">
                <a:latin typeface="Arial"/>
                <a:cs typeface="Arial"/>
              </a:rPr>
              <a:t> </a:t>
            </a:r>
            <a:r>
              <a:rPr sz="1600" spc="-50" dirty="0">
                <a:latin typeface="Arial"/>
                <a:cs typeface="Arial"/>
              </a:rPr>
              <a:t>W</a:t>
            </a:r>
            <a:endParaRPr sz="1600">
              <a:latin typeface="Arial"/>
              <a:cs typeface="Arial"/>
            </a:endParaRPr>
          </a:p>
        </p:txBody>
      </p:sp>
      <p:sp>
        <p:nvSpPr>
          <p:cNvPr id="9" name="object 5">
            <a:extLst>
              <a:ext uri="{FF2B5EF4-FFF2-40B4-BE49-F238E27FC236}">
                <a16:creationId xmlns:a16="http://schemas.microsoft.com/office/drawing/2014/main" id="{68A9ED88-F914-989C-080C-871BE5E55791}"/>
              </a:ext>
            </a:extLst>
          </p:cNvPr>
          <p:cNvSpPr txBox="1"/>
          <p:nvPr/>
        </p:nvSpPr>
        <p:spPr>
          <a:xfrm>
            <a:off x="9262094" y="4489197"/>
            <a:ext cx="2192020" cy="955675"/>
          </a:xfrm>
          <a:prstGeom prst="rect">
            <a:avLst/>
          </a:prstGeom>
        </p:spPr>
        <p:txBody>
          <a:bodyPr vert="horz" wrap="square" lIns="0" tIns="12700" rIns="0" bIns="0" rtlCol="0">
            <a:spAutoFit/>
          </a:bodyPr>
          <a:lstStyle>
            <a:defPPr>
              <a:defRPr kern="0"/>
            </a:defPPr>
          </a:lstStyle>
          <a:p>
            <a:pPr marL="299720" marR="5080" indent="-287020">
              <a:lnSpc>
                <a:spcPct val="100000"/>
              </a:lnSpc>
              <a:spcBef>
                <a:spcPts val="100"/>
              </a:spcBef>
              <a:buFont typeface="Wingdings"/>
              <a:buChar char=""/>
              <a:tabLst>
                <a:tab pos="299720" algn="l"/>
              </a:tabLst>
            </a:pPr>
            <a:r>
              <a:rPr sz="1600" spc="-60" dirty="0">
                <a:latin typeface="Arial"/>
                <a:cs typeface="Arial"/>
              </a:rPr>
              <a:t>Note </a:t>
            </a:r>
            <a:r>
              <a:rPr sz="1600" spc="-10" dirty="0">
                <a:latin typeface="Arial"/>
                <a:cs typeface="Arial"/>
              </a:rPr>
              <a:t>:</a:t>
            </a:r>
            <a:r>
              <a:rPr sz="1600" spc="-140" dirty="0">
                <a:latin typeface="Arial"/>
                <a:cs typeface="Arial"/>
              </a:rPr>
              <a:t> </a:t>
            </a:r>
            <a:r>
              <a:rPr sz="1500" spc="-20" dirty="0">
                <a:latin typeface="Arial"/>
                <a:cs typeface="Arial"/>
              </a:rPr>
              <a:t>in</a:t>
            </a:r>
            <a:r>
              <a:rPr sz="1500" spc="-95" dirty="0">
                <a:latin typeface="Arial"/>
                <a:cs typeface="Arial"/>
              </a:rPr>
              <a:t> </a:t>
            </a:r>
            <a:r>
              <a:rPr sz="1500" spc="-40" dirty="0">
                <a:latin typeface="Arial"/>
                <a:cs typeface="Arial"/>
              </a:rPr>
              <a:t>our</a:t>
            </a:r>
            <a:r>
              <a:rPr sz="1500" spc="-105" dirty="0">
                <a:latin typeface="Arial"/>
                <a:cs typeface="Arial"/>
              </a:rPr>
              <a:t> </a:t>
            </a:r>
            <a:r>
              <a:rPr sz="1500" spc="-70" dirty="0">
                <a:latin typeface="Arial"/>
                <a:cs typeface="Arial"/>
              </a:rPr>
              <a:t>code</a:t>
            </a:r>
            <a:r>
              <a:rPr sz="1500" spc="-160" dirty="0">
                <a:latin typeface="Arial"/>
                <a:cs typeface="Arial"/>
              </a:rPr>
              <a:t> </a:t>
            </a:r>
            <a:r>
              <a:rPr sz="1500" dirty="0">
                <a:latin typeface="Arial"/>
                <a:cs typeface="Arial"/>
              </a:rPr>
              <a:t>‘</a:t>
            </a:r>
            <a:r>
              <a:rPr sz="1500" spc="-50" dirty="0">
                <a:latin typeface="Arial"/>
                <a:cs typeface="Arial"/>
              </a:rPr>
              <a:t> </a:t>
            </a:r>
            <a:r>
              <a:rPr sz="1500" spc="-35" dirty="0">
                <a:latin typeface="Arial"/>
                <a:cs typeface="Arial"/>
              </a:rPr>
              <a:t>dw</a:t>
            </a:r>
            <a:r>
              <a:rPr sz="1500" spc="-85" dirty="0">
                <a:latin typeface="Arial"/>
                <a:cs typeface="Arial"/>
              </a:rPr>
              <a:t> </a:t>
            </a:r>
            <a:r>
              <a:rPr sz="1500" spc="-50" dirty="0">
                <a:latin typeface="Arial"/>
                <a:cs typeface="Arial"/>
              </a:rPr>
              <a:t>’ </a:t>
            </a:r>
            <a:r>
              <a:rPr sz="1500" dirty="0">
                <a:latin typeface="Arial"/>
                <a:cs typeface="Arial"/>
              </a:rPr>
              <a:t>will</a:t>
            </a:r>
            <a:r>
              <a:rPr sz="1500" spc="30" dirty="0">
                <a:latin typeface="Arial"/>
                <a:cs typeface="Arial"/>
              </a:rPr>
              <a:t> </a:t>
            </a:r>
            <a:r>
              <a:rPr sz="1500" spc="-55" dirty="0">
                <a:latin typeface="Arial"/>
                <a:cs typeface="Arial"/>
              </a:rPr>
              <a:t>be</a:t>
            </a:r>
            <a:r>
              <a:rPr sz="1500" spc="-125" dirty="0">
                <a:latin typeface="Arial"/>
                <a:cs typeface="Arial"/>
              </a:rPr>
              <a:t> </a:t>
            </a:r>
            <a:r>
              <a:rPr sz="1500" spc="-85" dirty="0">
                <a:latin typeface="Arial"/>
                <a:cs typeface="Arial"/>
              </a:rPr>
              <a:t>used</a:t>
            </a:r>
            <a:r>
              <a:rPr sz="1500" spc="-175" dirty="0">
                <a:latin typeface="Arial"/>
                <a:cs typeface="Arial"/>
              </a:rPr>
              <a:t> </a:t>
            </a:r>
            <a:r>
              <a:rPr sz="1500" spc="-25" dirty="0">
                <a:latin typeface="Arial"/>
                <a:cs typeface="Arial"/>
              </a:rPr>
              <a:t>to</a:t>
            </a:r>
            <a:r>
              <a:rPr sz="1500" spc="500" dirty="0">
                <a:latin typeface="Arial"/>
                <a:cs typeface="Arial"/>
              </a:rPr>
              <a:t> </a:t>
            </a:r>
            <a:r>
              <a:rPr sz="1500" spc="-60" dirty="0">
                <a:latin typeface="Arial"/>
                <a:cs typeface="Arial"/>
              </a:rPr>
              <a:t>represent</a:t>
            </a:r>
            <a:r>
              <a:rPr sz="1500" spc="-25" dirty="0">
                <a:latin typeface="Arial"/>
                <a:cs typeface="Arial"/>
              </a:rPr>
              <a:t> </a:t>
            </a:r>
            <a:r>
              <a:rPr sz="1500" spc="-40" dirty="0">
                <a:latin typeface="Arial"/>
                <a:cs typeface="Arial"/>
              </a:rPr>
              <a:t>this</a:t>
            </a:r>
            <a:r>
              <a:rPr sz="1500" spc="-155" dirty="0">
                <a:latin typeface="Arial"/>
                <a:cs typeface="Arial"/>
              </a:rPr>
              <a:t> </a:t>
            </a:r>
            <a:r>
              <a:rPr sz="1500" spc="-40" dirty="0">
                <a:latin typeface="Arial"/>
                <a:cs typeface="Arial"/>
              </a:rPr>
              <a:t>derivative </a:t>
            </a:r>
            <a:r>
              <a:rPr sz="1500" spc="-10" dirty="0">
                <a:latin typeface="Arial"/>
                <a:cs typeface="Arial"/>
              </a:rPr>
              <a:t>term.</a:t>
            </a:r>
            <a:endParaRPr sz="1500">
              <a:latin typeface="Arial"/>
              <a:cs typeface="Arial"/>
            </a:endParaRPr>
          </a:p>
        </p:txBody>
      </p:sp>
      <p:sp>
        <p:nvSpPr>
          <p:cNvPr id="10" name="object 6">
            <a:extLst>
              <a:ext uri="{FF2B5EF4-FFF2-40B4-BE49-F238E27FC236}">
                <a16:creationId xmlns:a16="http://schemas.microsoft.com/office/drawing/2014/main" id="{69AF6E56-429A-2CDA-E381-8986F6B9F932}"/>
              </a:ext>
            </a:extLst>
          </p:cNvPr>
          <p:cNvSpPr txBox="1"/>
          <p:nvPr/>
        </p:nvSpPr>
        <p:spPr>
          <a:xfrm>
            <a:off x="3434499" y="5962713"/>
            <a:ext cx="4258945" cy="269875"/>
          </a:xfrm>
          <a:prstGeom prst="rect">
            <a:avLst/>
          </a:prstGeom>
        </p:spPr>
        <p:txBody>
          <a:bodyPr vert="horz" wrap="square" lIns="0" tIns="12700" rIns="0" bIns="0" rtlCol="0">
            <a:spAutoFit/>
          </a:bodyPr>
          <a:lstStyle>
            <a:defPPr>
              <a:defRPr kern="0"/>
            </a:defPPr>
          </a:lstStyle>
          <a:p>
            <a:pPr marL="299085" indent="-286385">
              <a:lnSpc>
                <a:spcPct val="100000"/>
              </a:lnSpc>
              <a:spcBef>
                <a:spcPts val="100"/>
              </a:spcBef>
              <a:buFont typeface="Wingdings"/>
              <a:buChar char=""/>
              <a:tabLst>
                <a:tab pos="299085" algn="l"/>
              </a:tabLst>
            </a:pPr>
            <a:r>
              <a:rPr sz="1600" spc="-65" dirty="0">
                <a:latin typeface="Arial"/>
                <a:cs typeface="Arial"/>
              </a:rPr>
              <a:t>Derivative</a:t>
            </a:r>
            <a:r>
              <a:rPr sz="1600" spc="-180" dirty="0">
                <a:latin typeface="Arial"/>
                <a:cs typeface="Arial"/>
              </a:rPr>
              <a:t> </a:t>
            </a:r>
            <a:r>
              <a:rPr sz="1600" spc="-40" dirty="0">
                <a:latin typeface="Arial"/>
                <a:cs typeface="Arial"/>
              </a:rPr>
              <a:t>is</a:t>
            </a:r>
            <a:r>
              <a:rPr sz="1600" spc="-170" dirty="0">
                <a:latin typeface="Arial"/>
                <a:cs typeface="Arial"/>
              </a:rPr>
              <a:t> </a:t>
            </a:r>
            <a:r>
              <a:rPr sz="1600" spc="-30" dirty="0">
                <a:latin typeface="Arial"/>
                <a:cs typeface="Arial"/>
              </a:rPr>
              <a:t>the</a:t>
            </a:r>
            <a:r>
              <a:rPr sz="1600" spc="-55" dirty="0">
                <a:latin typeface="Arial"/>
                <a:cs typeface="Arial"/>
              </a:rPr>
              <a:t> </a:t>
            </a:r>
            <a:r>
              <a:rPr sz="1600" spc="-80" dirty="0">
                <a:latin typeface="Arial"/>
                <a:cs typeface="Arial"/>
              </a:rPr>
              <a:t>slope</a:t>
            </a:r>
            <a:r>
              <a:rPr sz="1600" spc="-114" dirty="0">
                <a:latin typeface="Arial"/>
                <a:cs typeface="Arial"/>
              </a:rPr>
              <a:t> </a:t>
            </a:r>
            <a:r>
              <a:rPr sz="1600" dirty="0">
                <a:latin typeface="Arial"/>
                <a:cs typeface="Arial"/>
              </a:rPr>
              <a:t>of</a:t>
            </a:r>
            <a:r>
              <a:rPr sz="1600" spc="-55" dirty="0">
                <a:latin typeface="Arial"/>
                <a:cs typeface="Arial"/>
              </a:rPr>
              <a:t> </a:t>
            </a:r>
            <a:r>
              <a:rPr sz="1600" dirty="0">
                <a:latin typeface="Arial"/>
                <a:cs typeface="Arial"/>
              </a:rPr>
              <a:t>a</a:t>
            </a:r>
            <a:r>
              <a:rPr sz="1600" spc="-204" dirty="0">
                <a:latin typeface="Arial"/>
                <a:cs typeface="Arial"/>
              </a:rPr>
              <a:t> </a:t>
            </a:r>
            <a:r>
              <a:rPr sz="1600" spc="-30" dirty="0">
                <a:latin typeface="Arial"/>
                <a:cs typeface="Arial"/>
              </a:rPr>
              <a:t>function</a:t>
            </a:r>
            <a:r>
              <a:rPr sz="1600" spc="-140" dirty="0">
                <a:latin typeface="Arial"/>
                <a:cs typeface="Arial"/>
              </a:rPr>
              <a:t> </a:t>
            </a:r>
            <a:r>
              <a:rPr sz="1600" spc="-25" dirty="0">
                <a:latin typeface="Arial"/>
                <a:cs typeface="Arial"/>
              </a:rPr>
              <a:t>at</a:t>
            </a:r>
            <a:r>
              <a:rPr sz="1600" spc="-75" dirty="0">
                <a:latin typeface="Arial"/>
                <a:cs typeface="Arial"/>
              </a:rPr>
              <a:t> </a:t>
            </a:r>
            <a:r>
              <a:rPr sz="1600" spc="-25" dirty="0">
                <a:latin typeface="Arial"/>
                <a:cs typeface="Arial"/>
              </a:rPr>
              <a:t>the</a:t>
            </a:r>
            <a:r>
              <a:rPr sz="1600" spc="-70" dirty="0">
                <a:latin typeface="Arial"/>
                <a:cs typeface="Arial"/>
              </a:rPr>
              <a:t> </a:t>
            </a:r>
            <a:r>
              <a:rPr sz="1600" spc="-10" dirty="0">
                <a:latin typeface="Arial"/>
                <a:cs typeface="Arial"/>
              </a:rPr>
              <a:t>point.</a:t>
            </a:r>
            <a:endParaRPr sz="1600" dirty="0">
              <a:latin typeface="Arial"/>
              <a:cs typeface="Arial"/>
            </a:endParaRPr>
          </a:p>
        </p:txBody>
      </p:sp>
      <p:sp>
        <p:nvSpPr>
          <p:cNvPr id="11" name="object 7">
            <a:extLst>
              <a:ext uri="{FF2B5EF4-FFF2-40B4-BE49-F238E27FC236}">
                <a16:creationId xmlns:a16="http://schemas.microsoft.com/office/drawing/2014/main" id="{8592C5FB-2FCA-2D8E-D9D8-CF8ABF2020AB}"/>
              </a:ext>
            </a:extLst>
          </p:cNvPr>
          <p:cNvSpPr txBox="1"/>
          <p:nvPr/>
        </p:nvSpPr>
        <p:spPr>
          <a:xfrm>
            <a:off x="629500" y="4185056"/>
            <a:ext cx="1798321" cy="518091"/>
          </a:xfrm>
          <a:prstGeom prst="rect">
            <a:avLst/>
          </a:prstGeom>
        </p:spPr>
        <p:txBody>
          <a:bodyPr vert="horz" wrap="square" lIns="0" tIns="12700" rIns="0" bIns="0" rtlCol="0">
            <a:spAutoFit/>
          </a:bodyPr>
          <a:lstStyle>
            <a:defPPr>
              <a:defRPr kern="0"/>
            </a:defPPr>
          </a:lstStyle>
          <a:p>
            <a:pPr marL="299085" indent="-286385">
              <a:lnSpc>
                <a:spcPct val="100000"/>
              </a:lnSpc>
              <a:spcBef>
                <a:spcPts val="100"/>
              </a:spcBef>
              <a:buFont typeface="Wingdings"/>
              <a:buChar char=""/>
              <a:tabLst>
                <a:tab pos="299085" algn="l"/>
              </a:tabLst>
            </a:pPr>
            <a:r>
              <a:rPr sz="1600" spc="-60" dirty="0">
                <a:latin typeface="Arial"/>
                <a:cs typeface="Arial"/>
              </a:rPr>
              <a:t>When</a:t>
            </a:r>
            <a:r>
              <a:rPr sz="1600" spc="-170" dirty="0">
                <a:latin typeface="Arial"/>
                <a:cs typeface="Arial"/>
              </a:rPr>
              <a:t> </a:t>
            </a:r>
            <a:r>
              <a:rPr sz="1600" spc="-55" dirty="0">
                <a:latin typeface="Arial"/>
                <a:cs typeface="Arial"/>
              </a:rPr>
              <a:t>derivative</a:t>
            </a:r>
            <a:r>
              <a:rPr sz="1600" spc="-40" dirty="0">
                <a:latin typeface="Arial"/>
                <a:cs typeface="Arial"/>
              </a:rPr>
              <a:t> </a:t>
            </a:r>
            <a:endParaRPr lang="en-GB" sz="1600" spc="-40" dirty="0">
              <a:latin typeface="Arial"/>
              <a:cs typeface="Arial"/>
            </a:endParaRPr>
          </a:p>
          <a:p>
            <a:pPr marL="12700">
              <a:lnSpc>
                <a:spcPct val="100000"/>
              </a:lnSpc>
              <a:spcBef>
                <a:spcPts val="100"/>
              </a:spcBef>
              <a:tabLst>
                <a:tab pos="299085" algn="l"/>
              </a:tabLst>
            </a:pPr>
            <a:r>
              <a:rPr lang="en-GB" sz="1600" spc="-40" dirty="0">
                <a:latin typeface="Arial"/>
                <a:cs typeface="Arial"/>
              </a:rPr>
              <a:t>	</a:t>
            </a:r>
            <a:r>
              <a:rPr sz="1600" spc="-40" dirty="0">
                <a:latin typeface="Arial"/>
                <a:cs typeface="Arial"/>
              </a:rPr>
              <a:t>is</a:t>
            </a:r>
            <a:r>
              <a:rPr sz="1600" spc="-240" dirty="0">
                <a:latin typeface="Arial"/>
                <a:cs typeface="Arial"/>
              </a:rPr>
              <a:t> </a:t>
            </a:r>
            <a:r>
              <a:rPr sz="1600" spc="-50" dirty="0">
                <a:latin typeface="Arial"/>
                <a:cs typeface="Arial"/>
              </a:rPr>
              <a:t>negative.</a:t>
            </a:r>
            <a:endParaRPr sz="1600" dirty="0">
              <a:latin typeface="Arial"/>
              <a:cs typeface="Arial"/>
            </a:endParaRPr>
          </a:p>
        </p:txBody>
      </p:sp>
      <p:sp>
        <p:nvSpPr>
          <p:cNvPr id="12" name="object 8">
            <a:extLst>
              <a:ext uri="{FF2B5EF4-FFF2-40B4-BE49-F238E27FC236}">
                <a16:creationId xmlns:a16="http://schemas.microsoft.com/office/drawing/2014/main" id="{7090F4C1-A420-40A6-4EC6-AAB40F38E15A}"/>
              </a:ext>
            </a:extLst>
          </p:cNvPr>
          <p:cNvSpPr txBox="1"/>
          <p:nvPr/>
        </p:nvSpPr>
        <p:spPr>
          <a:xfrm>
            <a:off x="5337540" y="1209167"/>
            <a:ext cx="2574290" cy="269240"/>
          </a:xfrm>
          <a:prstGeom prst="rect">
            <a:avLst/>
          </a:prstGeom>
        </p:spPr>
        <p:txBody>
          <a:bodyPr vert="horz" wrap="square" lIns="0" tIns="12700" rIns="0" bIns="0" rtlCol="0">
            <a:spAutoFit/>
          </a:bodyPr>
          <a:lstStyle>
            <a:defPPr>
              <a:defRPr kern="0"/>
            </a:defPPr>
          </a:lstStyle>
          <a:p>
            <a:pPr marL="299085" indent="-286385">
              <a:lnSpc>
                <a:spcPct val="100000"/>
              </a:lnSpc>
              <a:spcBef>
                <a:spcPts val="100"/>
              </a:spcBef>
              <a:buFont typeface="Wingdings"/>
              <a:buChar char=""/>
              <a:tabLst>
                <a:tab pos="299085" algn="l"/>
              </a:tabLst>
            </a:pPr>
            <a:r>
              <a:rPr sz="1600" spc="-60" dirty="0">
                <a:latin typeface="Arial"/>
                <a:cs typeface="Arial"/>
              </a:rPr>
              <a:t>When</a:t>
            </a:r>
            <a:r>
              <a:rPr sz="1600" spc="-170" dirty="0">
                <a:latin typeface="Arial"/>
                <a:cs typeface="Arial"/>
              </a:rPr>
              <a:t> </a:t>
            </a:r>
            <a:r>
              <a:rPr sz="1600" spc="-55" dirty="0">
                <a:latin typeface="Arial"/>
                <a:cs typeface="Arial"/>
              </a:rPr>
              <a:t>derivative</a:t>
            </a:r>
            <a:r>
              <a:rPr sz="1600" spc="-40" dirty="0">
                <a:latin typeface="Arial"/>
                <a:cs typeface="Arial"/>
              </a:rPr>
              <a:t> is</a:t>
            </a:r>
            <a:r>
              <a:rPr sz="1600" spc="-240" dirty="0">
                <a:latin typeface="Arial"/>
                <a:cs typeface="Arial"/>
              </a:rPr>
              <a:t> </a:t>
            </a:r>
            <a:r>
              <a:rPr sz="1600" spc="-30" dirty="0">
                <a:latin typeface="Arial"/>
                <a:cs typeface="Arial"/>
              </a:rPr>
              <a:t>positive.</a:t>
            </a:r>
            <a:endParaRPr sz="1600">
              <a:latin typeface="Arial"/>
              <a:cs typeface="Arial"/>
            </a:endParaRPr>
          </a:p>
        </p:txBody>
      </p:sp>
      <p:sp>
        <p:nvSpPr>
          <p:cNvPr id="13" name="object 9">
            <a:extLst>
              <a:ext uri="{FF2B5EF4-FFF2-40B4-BE49-F238E27FC236}">
                <a16:creationId xmlns:a16="http://schemas.microsoft.com/office/drawing/2014/main" id="{271FB4E4-3890-6BB5-CF43-2CFB8E881F2F}"/>
              </a:ext>
            </a:extLst>
          </p:cNvPr>
          <p:cNvSpPr/>
          <p:nvPr/>
        </p:nvSpPr>
        <p:spPr>
          <a:xfrm>
            <a:off x="1478899" y="1538351"/>
            <a:ext cx="4559300" cy="2590800"/>
          </a:xfrm>
          <a:custGeom>
            <a:avLst/>
            <a:gdLst/>
            <a:ahLst/>
            <a:cxnLst/>
            <a:rect l="l" t="t" r="r" b="b"/>
            <a:pathLst>
              <a:path w="4559300" h="2590800">
                <a:moveTo>
                  <a:pt x="949579" y="1476629"/>
                </a:moveTo>
                <a:lnTo>
                  <a:pt x="871093" y="1510030"/>
                </a:lnTo>
                <a:lnTo>
                  <a:pt x="892810" y="1528572"/>
                </a:lnTo>
                <a:lnTo>
                  <a:pt x="0" y="2577973"/>
                </a:lnTo>
                <a:lnTo>
                  <a:pt x="14478" y="2590292"/>
                </a:lnTo>
                <a:lnTo>
                  <a:pt x="907415" y="1540891"/>
                </a:lnTo>
                <a:lnTo>
                  <a:pt x="929132" y="1559433"/>
                </a:lnTo>
                <a:lnTo>
                  <a:pt x="949579" y="1476629"/>
                </a:lnTo>
                <a:close/>
              </a:path>
              <a:path w="4559300" h="2590800">
                <a:moveTo>
                  <a:pt x="4559173" y="13208"/>
                </a:moveTo>
                <a:lnTo>
                  <a:pt x="4545330" y="0"/>
                </a:lnTo>
                <a:lnTo>
                  <a:pt x="3664839" y="925322"/>
                </a:lnTo>
                <a:lnTo>
                  <a:pt x="3644138" y="905637"/>
                </a:lnTo>
                <a:lnTo>
                  <a:pt x="3619246" y="987171"/>
                </a:lnTo>
                <a:lnTo>
                  <a:pt x="3699383" y="958215"/>
                </a:lnTo>
                <a:lnTo>
                  <a:pt x="3678682" y="938530"/>
                </a:lnTo>
                <a:lnTo>
                  <a:pt x="4559173" y="13208"/>
                </a:lnTo>
                <a:close/>
              </a:path>
            </a:pathLst>
          </a:custGeom>
          <a:solidFill>
            <a:srgbClr val="000000"/>
          </a:solidFill>
        </p:spPr>
        <p:txBody>
          <a:bodyPr wrap="square" lIns="0" tIns="0" rIns="0" bIns="0" rtlCol="0"/>
          <a:lstStyle>
            <a:defPPr>
              <a:defRPr kern="0"/>
            </a:defPPr>
          </a:lstStyle>
          <a:p>
            <a:endParaRPr/>
          </a:p>
        </p:txBody>
      </p:sp>
    </p:spTree>
    <p:extLst>
      <p:ext uri="{BB962C8B-B14F-4D97-AF65-F5344CB8AC3E}">
        <p14:creationId xmlns:p14="http://schemas.microsoft.com/office/powerpoint/2010/main" val="3423601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77A1A-7D2D-04AF-DD92-BDBA5FACA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F405A-7E70-1DCE-6CED-31BF00F9E9F7}"/>
              </a:ext>
            </a:extLst>
          </p:cNvPr>
          <p:cNvSpPr>
            <a:spLocks noGrp="1"/>
          </p:cNvSpPr>
          <p:nvPr>
            <p:ph type="title"/>
          </p:nvPr>
        </p:nvSpPr>
        <p:spPr>
          <a:xfrm>
            <a:off x="629500" y="277838"/>
            <a:ext cx="9188268" cy="1068223"/>
          </a:xfrm>
        </p:spPr>
        <p:txBody>
          <a:bodyPr/>
          <a:lstStyle/>
          <a:p>
            <a:r>
              <a:rPr lang="en-GB" sz="4400" spc="-229" dirty="0" err="1"/>
              <a:t>G</a:t>
            </a:r>
            <a:r>
              <a:rPr lang="en-GB" sz="4400" spc="-300" dirty="0" err="1"/>
              <a:t>r</a:t>
            </a:r>
            <a:r>
              <a:rPr lang="en-GB" sz="4400" spc="-220" dirty="0" err="1"/>
              <a:t>a</a:t>
            </a:r>
            <a:r>
              <a:rPr lang="en-GB" sz="4400" spc="-235" dirty="0" err="1"/>
              <a:t>d</a:t>
            </a:r>
            <a:r>
              <a:rPr lang="en-GB" sz="4400" spc="-215" dirty="0" err="1"/>
              <a:t>i</a:t>
            </a:r>
            <a:r>
              <a:rPr lang="en-GB" sz="4400" spc="-220" dirty="0" err="1"/>
              <a:t>e</a:t>
            </a:r>
            <a:r>
              <a:rPr lang="en-GB" sz="4400" spc="-275" dirty="0" err="1"/>
              <a:t>n</a:t>
            </a:r>
            <a:r>
              <a:rPr lang="en-GB" sz="4400" spc="315" dirty="0" err="1"/>
              <a:t>t</a:t>
            </a:r>
            <a:r>
              <a:rPr lang="en-GB" sz="4400" spc="-300" dirty="0" err="1"/>
              <a:t>D</a:t>
            </a:r>
            <a:r>
              <a:rPr lang="en-GB" sz="4400" spc="-295" dirty="0" err="1"/>
              <a:t>e</a:t>
            </a:r>
            <a:r>
              <a:rPr lang="en-GB" sz="4400" spc="-300" dirty="0" err="1"/>
              <a:t>sc</a:t>
            </a:r>
            <a:r>
              <a:rPr lang="en-GB" sz="4400" spc="-295" dirty="0" err="1"/>
              <a:t>e</a:t>
            </a:r>
            <a:r>
              <a:rPr lang="en-GB" sz="4400" spc="-355" dirty="0" err="1"/>
              <a:t>n</a:t>
            </a:r>
            <a:r>
              <a:rPr lang="en-GB" sz="4400" dirty="0" err="1"/>
              <a:t>t</a:t>
            </a:r>
            <a:r>
              <a:rPr lang="en-GB" sz="4400" dirty="0"/>
              <a:t> - </a:t>
            </a:r>
            <a:r>
              <a:rPr lang="en-US" dirty="0"/>
              <a:t>Learning</a:t>
            </a:r>
            <a:r>
              <a:rPr lang="en-US" spc="-114" dirty="0"/>
              <a:t> </a:t>
            </a:r>
            <a:r>
              <a:rPr lang="en-US" dirty="0"/>
              <a:t>is</a:t>
            </a:r>
            <a:r>
              <a:rPr lang="en-US" spc="-110" dirty="0"/>
              <a:t> </a:t>
            </a:r>
            <a:r>
              <a:rPr lang="en-US" dirty="0"/>
              <a:t>an</a:t>
            </a:r>
            <a:r>
              <a:rPr lang="en-US" spc="-80" dirty="0"/>
              <a:t> </a:t>
            </a:r>
            <a:r>
              <a:rPr lang="en-US" spc="-20" dirty="0"/>
              <a:t>Optimization</a:t>
            </a:r>
            <a:r>
              <a:rPr lang="en-US" spc="-5" dirty="0"/>
              <a:t> </a:t>
            </a:r>
            <a:r>
              <a:rPr lang="en-US" spc="-10" dirty="0"/>
              <a:t>Problem</a:t>
            </a:r>
            <a:endParaRPr lang="en-US" dirty="0">
              <a:solidFill>
                <a:srgbClr val="942D6D"/>
              </a:solidFill>
            </a:endParaRPr>
          </a:p>
        </p:txBody>
      </p:sp>
      <p:cxnSp>
        <p:nvCxnSpPr>
          <p:cNvPr id="4" name="Straight Connector 3">
            <a:extLst>
              <a:ext uri="{FF2B5EF4-FFF2-40B4-BE49-F238E27FC236}">
                <a16:creationId xmlns:a16="http://schemas.microsoft.com/office/drawing/2014/main" id="{03248522-5A1F-8651-A396-F0A5D7122BE9}"/>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3798C33F-A173-BFB8-87EF-AF88DF2C2F0B}"/>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E632DD37-0BB8-409E-F741-4EFFCB210F71}"/>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3" name="object 3">
            <a:extLst>
              <a:ext uri="{FF2B5EF4-FFF2-40B4-BE49-F238E27FC236}">
                <a16:creationId xmlns:a16="http://schemas.microsoft.com/office/drawing/2014/main" id="{E14594E6-D25F-9E8A-D234-60D3E0E96FD5}"/>
              </a:ext>
            </a:extLst>
          </p:cNvPr>
          <p:cNvSpPr txBox="1"/>
          <p:nvPr/>
        </p:nvSpPr>
        <p:spPr>
          <a:xfrm>
            <a:off x="2210159" y="1254786"/>
            <a:ext cx="7668259" cy="39116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2400" spc="-85" dirty="0">
                <a:solidFill>
                  <a:srgbClr val="C00000"/>
                </a:solidFill>
                <a:latin typeface="Calibri"/>
                <a:cs typeface="Calibri"/>
              </a:rPr>
              <a:t>Task:</a:t>
            </a:r>
            <a:r>
              <a:rPr sz="2400" spc="-70" dirty="0">
                <a:solidFill>
                  <a:srgbClr val="C00000"/>
                </a:solidFill>
                <a:latin typeface="Calibri"/>
                <a:cs typeface="Calibri"/>
              </a:rPr>
              <a:t> </a:t>
            </a:r>
            <a:r>
              <a:rPr sz="2400" spc="-10" dirty="0">
                <a:latin typeface="Calibri"/>
                <a:cs typeface="Calibri"/>
              </a:rPr>
              <a:t>Update</a:t>
            </a:r>
            <a:r>
              <a:rPr sz="2400" spc="-100" dirty="0">
                <a:latin typeface="Calibri"/>
                <a:cs typeface="Calibri"/>
              </a:rPr>
              <a:t> </a:t>
            </a:r>
            <a:r>
              <a:rPr sz="2400" dirty="0">
                <a:latin typeface="Calibri"/>
                <a:cs typeface="Calibri"/>
              </a:rPr>
              <a:t>the</a:t>
            </a:r>
            <a:r>
              <a:rPr sz="2400" spc="-90" dirty="0">
                <a:latin typeface="Calibri"/>
                <a:cs typeface="Calibri"/>
              </a:rPr>
              <a:t> </a:t>
            </a:r>
            <a:r>
              <a:rPr sz="2400" b="1" dirty="0">
                <a:latin typeface="Calibri"/>
                <a:cs typeface="Calibri"/>
              </a:rPr>
              <a:t>weights</a:t>
            </a:r>
            <a:r>
              <a:rPr sz="2400" b="1" spc="5" dirty="0">
                <a:latin typeface="Calibri"/>
                <a:cs typeface="Calibri"/>
              </a:rPr>
              <a:t> </a:t>
            </a:r>
            <a:r>
              <a:rPr sz="2400" dirty="0">
                <a:latin typeface="Calibri"/>
                <a:cs typeface="Calibri"/>
              </a:rPr>
              <a:t>and</a:t>
            </a:r>
            <a:r>
              <a:rPr sz="2400" spc="-75" dirty="0">
                <a:latin typeface="Calibri"/>
                <a:cs typeface="Calibri"/>
              </a:rPr>
              <a:t> </a:t>
            </a:r>
            <a:r>
              <a:rPr sz="2400" b="1" dirty="0">
                <a:latin typeface="Calibri"/>
                <a:cs typeface="Calibri"/>
              </a:rPr>
              <a:t>biases</a:t>
            </a:r>
            <a:r>
              <a:rPr sz="2400" b="1" spc="-70" dirty="0">
                <a:latin typeface="Calibri"/>
                <a:cs typeface="Calibri"/>
              </a:rPr>
              <a:t> </a:t>
            </a:r>
            <a:r>
              <a:rPr sz="2400" dirty="0">
                <a:latin typeface="Calibri"/>
                <a:cs typeface="Calibri"/>
              </a:rPr>
              <a:t>to</a:t>
            </a:r>
            <a:r>
              <a:rPr sz="2400" spc="-95" dirty="0">
                <a:latin typeface="Calibri"/>
                <a:cs typeface="Calibri"/>
              </a:rPr>
              <a:t> </a:t>
            </a:r>
            <a:r>
              <a:rPr sz="2400" spc="-10" dirty="0">
                <a:latin typeface="Calibri"/>
                <a:cs typeface="Calibri"/>
              </a:rPr>
              <a:t>decrease</a:t>
            </a:r>
            <a:r>
              <a:rPr sz="2400" spc="-105" dirty="0">
                <a:latin typeface="Calibri"/>
                <a:cs typeface="Calibri"/>
              </a:rPr>
              <a:t> </a:t>
            </a:r>
            <a:r>
              <a:rPr sz="2400" b="1" dirty="0">
                <a:latin typeface="Calibri"/>
                <a:cs typeface="Calibri"/>
              </a:rPr>
              <a:t>loss</a:t>
            </a:r>
            <a:r>
              <a:rPr sz="2400" b="1" spc="-70" dirty="0">
                <a:latin typeface="Calibri"/>
                <a:cs typeface="Calibri"/>
              </a:rPr>
              <a:t> </a:t>
            </a:r>
            <a:r>
              <a:rPr sz="2400" b="1" spc="-10" dirty="0">
                <a:latin typeface="Calibri"/>
                <a:cs typeface="Calibri"/>
              </a:rPr>
              <a:t>function</a:t>
            </a:r>
            <a:endParaRPr sz="2400">
              <a:latin typeface="Calibri"/>
              <a:cs typeface="Calibri"/>
            </a:endParaRPr>
          </a:p>
        </p:txBody>
      </p:sp>
      <p:pic>
        <p:nvPicPr>
          <p:cNvPr id="8" name="object 4">
            <a:extLst>
              <a:ext uri="{FF2B5EF4-FFF2-40B4-BE49-F238E27FC236}">
                <a16:creationId xmlns:a16="http://schemas.microsoft.com/office/drawing/2014/main" id="{FD9F1EA8-AEEE-0076-BF10-96B5FE52B90A}"/>
              </a:ext>
            </a:extLst>
          </p:cNvPr>
          <p:cNvPicPr/>
          <p:nvPr/>
        </p:nvPicPr>
        <p:blipFill>
          <a:blip r:embed="rId3" cstate="print"/>
          <a:stretch>
            <a:fillRect/>
          </a:stretch>
        </p:blipFill>
        <p:spPr>
          <a:xfrm>
            <a:off x="2419709" y="2277390"/>
            <a:ext cx="3535679" cy="2827020"/>
          </a:xfrm>
          <a:prstGeom prst="rect">
            <a:avLst/>
          </a:prstGeom>
        </p:spPr>
      </p:pic>
      <p:pic>
        <p:nvPicPr>
          <p:cNvPr id="9" name="object 5">
            <a:extLst>
              <a:ext uri="{FF2B5EF4-FFF2-40B4-BE49-F238E27FC236}">
                <a16:creationId xmlns:a16="http://schemas.microsoft.com/office/drawing/2014/main" id="{53F2D845-7BB0-DE65-2AD9-C2FEF123172B}"/>
              </a:ext>
            </a:extLst>
          </p:cNvPr>
          <p:cNvPicPr/>
          <p:nvPr/>
        </p:nvPicPr>
        <p:blipFill>
          <a:blip r:embed="rId4" cstate="print"/>
          <a:stretch>
            <a:fillRect/>
          </a:stretch>
        </p:blipFill>
        <p:spPr>
          <a:xfrm>
            <a:off x="6425289" y="2277390"/>
            <a:ext cx="3535680" cy="2827020"/>
          </a:xfrm>
          <a:prstGeom prst="rect">
            <a:avLst/>
          </a:prstGeom>
        </p:spPr>
      </p:pic>
      <p:sp>
        <p:nvSpPr>
          <p:cNvPr id="10" name="object 6">
            <a:extLst>
              <a:ext uri="{FF2B5EF4-FFF2-40B4-BE49-F238E27FC236}">
                <a16:creationId xmlns:a16="http://schemas.microsoft.com/office/drawing/2014/main" id="{5BEDDBCF-E65D-90D5-1BDB-AE56D9D743E9}"/>
              </a:ext>
            </a:extLst>
          </p:cNvPr>
          <p:cNvSpPr txBox="1"/>
          <p:nvPr/>
        </p:nvSpPr>
        <p:spPr>
          <a:xfrm>
            <a:off x="4154630" y="5344694"/>
            <a:ext cx="4110990" cy="39116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2400" dirty="0">
                <a:latin typeface="Calibri"/>
                <a:cs typeface="Calibri"/>
              </a:rPr>
              <a:t>SGD:</a:t>
            </a:r>
            <a:r>
              <a:rPr sz="2400" spc="-120" dirty="0">
                <a:latin typeface="Calibri"/>
                <a:cs typeface="Calibri"/>
              </a:rPr>
              <a:t> </a:t>
            </a:r>
            <a:r>
              <a:rPr sz="2400" spc="-20" dirty="0">
                <a:latin typeface="Calibri"/>
                <a:cs typeface="Calibri"/>
              </a:rPr>
              <a:t>Stochastic</a:t>
            </a:r>
            <a:r>
              <a:rPr sz="2400" spc="-65" dirty="0">
                <a:latin typeface="Calibri"/>
                <a:cs typeface="Calibri"/>
              </a:rPr>
              <a:t> </a:t>
            </a:r>
            <a:r>
              <a:rPr sz="2400" spc="-20" dirty="0">
                <a:latin typeface="Calibri"/>
                <a:cs typeface="Calibri"/>
              </a:rPr>
              <a:t>Gradient</a:t>
            </a:r>
            <a:r>
              <a:rPr sz="2400" spc="-35" dirty="0">
                <a:latin typeface="Calibri"/>
                <a:cs typeface="Calibri"/>
              </a:rPr>
              <a:t> </a:t>
            </a:r>
            <a:r>
              <a:rPr sz="2400" spc="-10" dirty="0">
                <a:latin typeface="Calibri"/>
                <a:cs typeface="Calibri"/>
              </a:rPr>
              <a:t>Descent</a:t>
            </a:r>
            <a:endParaRPr sz="2400">
              <a:latin typeface="Calibri"/>
              <a:cs typeface="Calibri"/>
            </a:endParaRPr>
          </a:p>
        </p:txBody>
      </p:sp>
    </p:spTree>
    <p:extLst>
      <p:ext uri="{BB962C8B-B14F-4D97-AF65-F5344CB8AC3E}">
        <p14:creationId xmlns:p14="http://schemas.microsoft.com/office/powerpoint/2010/main" val="28772419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DDB85-7772-1825-4051-4C657E37F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B47-A68E-9020-CCAE-747595EAB906}"/>
              </a:ext>
            </a:extLst>
          </p:cNvPr>
          <p:cNvSpPr>
            <a:spLocks noGrp="1"/>
          </p:cNvSpPr>
          <p:nvPr>
            <p:ph type="title"/>
          </p:nvPr>
        </p:nvSpPr>
        <p:spPr>
          <a:xfrm>
            <a:off x="629500" y="277838"/>
            <a:ext cx="9188268" cy="1068223"/>
          </a:xfrm>
        </p:spPr>
        <p:txBody>
          <a:bodyPr/>
          <a:lstStyle/>
          <a:p>
            <a:r>
              <a:rPr lang="en-GB" sz="4400" spc="-229" dirty="0" err="1"/>
              <a:t>G</a:t>
            </a:r>
            <a:r>
              <a:rPr lang="en-GB" sz="4400" spc="-300" dirty="0" err="1"/>
              <a:t>r</a:t>
            </a:r>
            <a:r>
              <a:rPr lang="en-GB" sz="4400" spc="-220" dirty="0" err="1"/>
              <a:t>a</a:t>
            </a:r>
            <a:r>
              <a:rPr lang="en-GB" sz="4400" spc="-235" dirty="0" err="1"/>
              <a:t>d</a:t>
            </a:r>
            <a:r>
              <a:rPr lang="en-GB" sz="4400" spc="-215" dirty="0" err="1"/>
              <a:t>i</a:t>
            </a:r>
            <a:r>
              <a:rPr lang="en-GB" sz="4400" spc="-220" dirty="0" err="1"/>
              <a:t>e</a:t>
            </a:r>
            <a:r>
              <a:rPr lang="en-GB" sz="4400" spc="-275" dirty="0" err="1"/>
              <a:t>n</a:t>
            </a:r>
            <a:r>
              <a:rPr lang="en-GB" sz="4400" spc="315" dirty="0" err="1"/>
              <a:t>t</a:t>
            </a:r>
            <a:r>
              <a:rPr lang="en-GB" sz="4400" spc="-300" dirty="0" err="1"/>
              <a:t>D</a:t>
            </a:r>
            <a:r>
              <a:rPr lang="en-GB" sz="4400" spc="-295" dirty="0" err="1"/>
              <a:t>e</a:t>
            </a:r>
            <a:r>
              <a:rPr lang="en-GB" sz="4400" spc="-300" dirty="0" err="1"/>
              <a:t>sc</a:t>
            </a:r>
            <a:r>
              <a:rPr lang="en-GB" sz="4400" spc="-295" dirty="0" err="1"/>
              <a:t>e</a:t>
            </a:r>
            <a:r>
              <a:rPr lang="en-GB" sz="4400" spc="-355" dirty="0" err="1"/>
              <a:t>n</a:t>
            </a:r>
            <a:r>
              <a:rPr lang="en-GB" sz="4400" dirty="0" err="1"/>
              <a:t>t</a:t>
            </a:r>
            <a:r>
              <a:rPr lang="en-GB" sz="4400" dirty="0"/>
              <a:t> - </a:t>
            </a:r>
            <a:r>
              <a:rPr lang="en-US" dirty="0"/>
              <a:t>Learning</a:t>
            </a:r>
            <a:r>
              <a:rPr lang="en-US" spc="-114" dirty="0"/>
              <a:t> </a:t>
            </a:r>
            <a:r>
              <a:rPr lang="en-US" dirty="0"/>
              <a:t>is</a:t>
            </a:r>
            <a:r>
              <a:rPr lang="en-US" spc="-110" dirty="0"/>
              <a:t> </a:t>
            </a:r>
            <a:r>
              <a:rPr lang="en-US" dirty="0"/>
              <a:t>an</a:t>
            </a:r>
            <a:r>
              <a:rPr lang="en-US" spc="-80" dirty="0"/>
              <a:t> </a:t>
            </a:r>
            <a:r>
              <a:rPr lang="en-US" spc="-20" dirty="0"/>
              <a:t>Optimization</a:t>
            </a:r>
            <a:r>
              <a:rPr lang="en-US" spc="-5" dirty="0"/>
              <a:t> </a:t>
            </a:r>
            <a:r>
              <a:rPr lang="en-US" spc="-10" dirty="0"/>
              <a:t>Problem</a:t>
            </a:r>
            <a:endParaRPr lang="en-US" dirty="0">
              <a:solidFill>
                <a:srgbClr val="942D6D"/>
              </a:solidFill>
            </a:endParaRPr>
          </a:p>
        </p:txBody>
      </p:sp>
      <p:cxnSp>
        <p:nvCxnSpPr>
          <p:cNvPr id="4" name="Straight Connector 3">
            <a:extLst>
              <a:ext uri="{FF2B5EF4-FFF2-40B4-BE49-F238E27FC236}">
                <a16:creationId xmlns:a16="http://schemas.microsoft.com/office/drawing/2014/main" id="{478F4552-7E1D-C585-D2CD-D0564F8C5B7F}"/>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C1B4071C-9EDF-1D32-116F-39EC4EAEB99A}"/>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C148FB1B-5FFB-0F82-A965-E4DE9E4B1C90}"/>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object 3">
            <a:extLst>
              <a:ext uri="{FF2B5EF4-FFF2-40B4-BE49-F238E27FC236}">
                <a16:creationId xmlns:a16="http://schemas.microsoft.com/office/drawing/2014/main" id="{85B4A078-05D7-32DA-037E-1E03F96A259D}"/>
              </a:ext>
            </a:extLst>
          </p:cNvPr>
          <p:cNvSpPr txBox="1"/>
          <p:nvPr/>
        </p:nvSpPr>
        <p:spPr>
          <a:xfrm>
            <a:off x="986790" y="2389696"/>
            <a:ext cx="10218420" cy="3044190"/>
          </a:xfrm>
          <a:prstGeom prst="rect">
            <a:avLst/>
          </a:prstGeom>
        </p:spPr>
        <p:txBody>
          <a:bodyPr vert="horz" wrap="square" lIns="0" tIns="46355" rIns="0" bIns="0" rtlCol="0">
            <a:spAutoFit/>
          </a:bodyPr>
          <a:lstStyle>
            <a:defPPr>
              <a:defRPr kern="0"/>
            </a:defPPr>
          </a:lstStyle>
          <a:p>
            <a:pPr marL="241300" marR="19685" indent="-228600">
              <a:lnSpc>
                <a:spcPct val="89900"/>
              </a:lnSpc>
              <a:spcBef>
                <a:spcPts val="365"/>
              </a:spcBef>
              <a:buFont typeface="Wingdings"/>
              <a:buChar char=""/>
              <a:tabLst>
                <a:tab pos="241300" algn="l"/>
              </a:tabLst>
            </a:pPr>
            <a:r>
              <a:rPr sz="2200" spc="-110" dirty="0">
                <a:solidFill>
                  <a:srgbClr val="242424"/>
                </a:solidFill>
                <a:latin typeface="Arial"/>
                <a:cs typeface="Arial"/>
              </a:rPr>
              <a:t>Here</a:t>
            </a:r>
            <a:r>
              <a:rPr sz="2200" spc="-254" dirty="0">
                <a:solidFill>
                  <a:srgbClr val="242424"/>
                </a:solidFill>
                <a:latin typeface="Arial"/>
                <a:cs typeface="Arial"/>
              </a:rPr>
              <a:t> </a:t>
            </a:r>
            <a:r>
              <a:rPr sz="2200" dirty="0">
                <a:solidFill>
                  <a:srgbClr val="242424"/>
                </a:solidFill>
                <a:latin typeface="Arial"/>
                <a:cs typeface="Arial"/>
              </a:rPr>
              <a:t>the</a:t>
            </a:r>
            <a:r>
              <a:rPr sz="2200" spc="-20" dirty="0">
                <a:solidFill>
                  <a:srgbClr val="242424"/>
                </a:solidFill>
                <a:latin typeface="Arial"/>
                <a:cs typeface="Arial"/>
              </a:rPr>
              <a:t> </a:t>
            </a:r>
            <a:r>
              <a:rPr sz="2200" spc="-70" dirty="0">
                <a:solidFill>
                  <a:srgbClr val="242424"/>
                </a:solidFill>
                <a:latin typeface="Arial"/>
                <a:cs typeface="Arial"/>
              </a:rPr>
              <a:t>derivative</a:t>
            </a:r>
            <a:r>
              <a:rPr sz="2200" spc="-170" dirty="0">
                <a:solidFill>
                  <a:srgbClr val="242424"/>
                </a:solidFill>
                <a:latin typeface="Arial"/>
                <a:cs typeface="Arial"/>
              </a:rPr>
              <a:t> </a:t>
            </a:r>
            <a:r>
              <a:rPr sz="2200" spc="-65" dirty="0">
                <a:solidFill>
                  <a:srgbClr val="242424"/>
                </a:solidFill>
                <a:latin typeface="Arial"/>
                <a:cs typeface="Arial"/>
              </a:rPr>
              <a:t>is</a:t>
            </a:r>
            <a:r>
              <a:rPr sz="2200" spc="-225" dirty="0">
                <a:solidFill>
                  <a:srgbClr val="242424"/>
                </a:solidFill>
                <a:latin typeface="Arial"/>
                <a:cs typeface="Arial"/>
              </a:rPr>
              <a:t> </a:t>
            </a:r>
            <a:r>
              <a:rPr sz="2200" spc="-70" dirty="0">
                <a:solidFill>
                  <a:srgbClr val="242424"/>
                </a:solidFill>
                <a:latin typeface="Arial"/>
                <a:cs typeface="Arial"/>
              </a:rPr>
              <a:t>positive,</a:t>
            </a:r>
            <a:r>
              <a:rPr sz="2200" spc="-135" dirty="0">
                <a:solidFill>
                  <a:srgbClr val="242424"/>
                </a:solidFill>
                <a:latin typeface="Arial"/>
                <a:cs typeface="Arial"/>
              </a:rPr>
              <a:t> </a:t>
            </a:r>
            <a:r>
              <a:rPr sz="2200" dirty="0">
                <a:solidFill>
                  <a:srgbClr val="242424"/>
                </a:solidFill>
                <a:latin typeface="Arial"/>
                <a:cs typeface="Arial"/>
              </a:rPr>
              <a:t>“</a:t>
            </a:r>
            <a:r>
              <a:rPr sz="2200" spc="390" dirty="0">
                <a:solidFill>
                  <a:srgbClr val="242424"/>
                </a:solidFill>
                <a:latin typeface="Arial"/>
                <a:cs typeface="Arial"/>
              </a:rPr>
              <a:t> </a:t>
            </a:r>
            <a:r>
              <a:rPr sz="2200" dirty="0">
                <a:solidFill>
                  <a:srgbClr val="242424"/>
                </a:solidFill>
                <a:latin typeface="Arial"/>
                <a:cs typeface="Arial"/>
              </a:rPr>
              <a:t>W</a:t>
            </a:r>
            <a:r>
              <a:rPr sz="2200" spc="-240" dirty="0">
                <a:solidFill>
                  <a:srgbClr val="242424"/>
                </a:solidFill>
                <a:latin typeface="Arial"/>
                <a:cs typeface="Arial"/>
              </a:rPr>
              <a:t> </a:t>
            </a:r>
            <a:r>
              <a:rPr sz="2200" dirty="0">
                <a:solidFill>
                  <a:srgbClr val="242424"/>
                </a:solidFill>
                <a:latin typeface="Arial"/>
                <a:cs typeface="Arial"/>
              </a:rPr>
              <a:t>“</a:t>
            </a:r>
            <a:r>
              <a:rPr sz="2200" spc="395" dirty="0">
                <a:solidFill>
                  <a:srgbClr val="242424"/>
                </a:solidFill>
                <a:latin typeface="Arial"/>
                <a:cs typeface="Arial"/>
              </a:rPr>
              <a:t> </a:t>
            </a:r>
            <a:r>
              <a:rPr sz="2200" spc="-105" dirty="0">
                <a:solidFill>
                  <a:srgbClr val="242424"/>
                </a:solidFill>
                <a:latin typeface="Arial"/>
                <a:cs typeface="Arial"/>
              </a:rPr>
              <a:t>gets</a:t>
            </a:r>
            <a:r>
              <a:rPr sz="2200" spc="-270" dirty="0">
                <a:solidFill>
                  <a:srgbClr val="242424"/>
                </a:solidFill>
                <a:latin typeface="Arial"/>
                <a:cs typeface="Arial"/>
              </a:rPr>
              <a:t> </a:t>
            </a:r>
            <a:r>
              <a:rPr sz="2200" spc="-90" dirty="0">
                <a:solidFill>
                  <a:srgbClr val="242424"/>
                </a:solidFill>
                <a:latin typeface="Arial"/>
                <a:cs typeface="Arial"/>
              </a:rPr>
              <a:t>updated</a:t>
            </a:r>
            <a:r>
              <a:rPr sz="2200" spc="-80" dirty="0">
                <a:solidFill>
                  <a:srgbClr val="242424"/>
                </a:solidFill>
                <a:latin typeface="Arial"/>
                <a:cs typeface="Arial"/>
              </a:rPr>
              <a:t> </a:t>
            </a:r>
            <a:r>
              <a:rPr sz="2200" spc="-125" dirty="0">
                <a:solidFill>
                  <a:srgbClr val="242424"/>
                </a:solidFill>
                <a:latin typeface="Arial"/>
                <a:cs typeface="Arial"/>
              </a:rPr>
              <a:t>as</a:t>
            </a:r>
            <a:r>
              <a:rPr sz="2200" spc="-409" dirty="0">
                <a:solidFill>
                  <a:srgbClr val="242424"/>
                </a:solidFill>
                <a:latin typeface="Arial"/>
                <a:cs typeface="Arial"/>
              </a:rPr>
              <a:t> </a:t>
            </a:r>
            <a:r>
              <a:rPr sz="2200" dirty="0">
                <a:solidFill>
                  <a:srgbClr val="242424"/>
                </a:solidFill>
                <a:latin typeface="Arial"/>
                <a:cs typeface="Arial"/>
              </a:rPr>
              <a:t>“</a:t>
            </a:r>
            <a:r>
              <a:rPr sz="2200" spc="390" dirty="0">
                <a:solidFill>
                  <a:srgbClr val="242424"/>
                </a:solidFill>
                <a:latin typeface="Arial"/>
                <a:cs typeface="Arial"/>
              </a:rPr>
              <a:t> </a:t>
            </a:r>
            <a:r>
              <a:rPr sz="2200" dirty="0">
                <a:solidFill>
                  <a:srgbClr val="242424"/>
                </a:solidFill>
                <a:latin typeface="Arial"/>
                <a:cs typeface="Arial"/>
              </a:rPr>
              <a:t>W</a:t>
            </a:r>
            <a:r>
              <a:rPr sz="2200" spc="-245" dirty="0">
                <a:solidFill>
                  <a:srgbClr val="242424"/>
                </a:solidFill>
                <a:latin typeface="Arial"/>
                <a:cs typeface="Arial"/>
              </a:rPr>
              <a:t> </a:t>
            </a:r>
            <a:r>
              <a:rPr sz="2200" dirty="0">
                <a:solidFill>
                  <a:srgbClr val="242424"/>
                </a:solidFill>
                <a:latin typeface="Arial"/>
                <a:cs typeface="Arial"/>
              </a:rPr>
              <a:t>“</a:t>
            </a:r>
            <a:r>
              <a:rPr sz="2200" spc="395" dirty="0">
                <a:solidFill>
                  <a:srgbClr val="242424"/>
                </a:solidFill>
                <a:latin typeface="Arial"/>
                <a:cs typeface="Arial"/>
              </a:rPr>
              <a:t> </a:t>
            </a:r>
            <a:r>
              <a:rPr sz="2200" spc="-100" dirty="0">
                <a:solidFill>
                  <a:srgbClr val="242424"/>
                </a:solidFill>
                <a:latin typeface="Arial"/>
                <a:cs typeface="Arial"/>
              </a:rPr>
              <a:t>minus</a:t>
            </a:r>
            <a:r>
              <a:rPr sz="2200" spc="-145" dirty="0">
                <a:solidFill>
                  <a:srgbClr val="242424"/>
                </a:solidFill>
                <a:latin typeface="Arial"/>
                <a:cs typeface="Arial"/>
              </a:rPr>
              <a:t> </a:t>
            </a:r>
            <a:r>
              <a:rPr sz="2200" spc="-20" dirty="0">
                <a:solidFill>
                  <a:srgbClr val="242424"/>
                </a:solidFill>
                <a:latin typeface="Arial"/>
                <a:cs typeface="Arial"/>
              </a:rPr>
              <a:t>a</a:t>
            </a:r>
            <a:r>
              <a:rPr sz="2200" spc="-325" dirty="0">
                <a:solidFill>
                  <a:srgbClr val="242424"/>
                </a:solidFill>
                <a:latin typeface="Arial"/>
                <a:cs typeface="Arial"/>
              </a:rPr>
              <a:t> </a:t>
            </a:r>
            <a:r>
              <a:rPr sz="2200" spc="-85" dirty="0">
                <a:solidFill>
                  <a:srgbClr val="242424"/>
                </a:solidFill>
                <a:latin typeface="Arial"/>
                <a:cs typeface="Arial"/>
              </a:rPr>
              <a:t>learning </a:t>
            </a:r>
            <a:r>
              <a:rPr sz="2200" spc="-55" dirty="0">
                <a:solidFill>
                  <a:srgbClr val="242424"/>
                </a:solidFill>
                <a:latin typeface="Arial"/>
                <a:cs typeface="Arial"/>
              </a:rPr>
              <a:t>rate</a:t>
            </a:r>
            <a:r>
              <a:rPr sz="2200" spc="-125" dirty="0">
                <a:solidFill>
                  <a:srgbClr val="242424"/>
                </a:solidFill>
                <a:latin typeface="Arial"/>
                <a:cs typeface="Arial"/>
              </a:rPr>
              <a:t> </a:t>
            </a:r>
            <a:r>
              <a:rPr sz="2200" spc="-10" dirty="0">
                <a:solidFill>
                  <a:srgbClr val="242424"/>
                </a:solidFill>
                <a:latin typeface="Arial"/>
                <a:cs typeface="Arial"/>
              </a:rPr>
              <a:t>times </a:t>
            </a:r>
            <a:r>
              <a:rPr sz="2200" dirty="0">
                <a:solidFill>
                  <a:srgbClr val="242424"/>
                </a:solidFill>
                <a:latin typeface="Arial"/>
                <a:cs typeface="Arial"/>
              </a:rPr>
              <a:t>the</a:t>
            </a:r>
            <a:r>
              <a:rPr sz="2200" spc="-30" dirty="0">
                <a:solidFill>
                  <a:srgbClr val="242424"/>
                </a:solidFill>
                <a:latin typeface="Arial"/>
                <a:cs typeface="Arial"/>
              </a:rPr>
              <a:t> </a:t>
            </a:r>
            <a:r>
              <a:rPr sz="2200" spc="-70" dirty="0">
                <a:solidFill>
                  <a:srgbClr val="242424"/>
                </a:solidFill>
                <a:latin typeface="Arial"/>
                <a:cs typeface="Arial"/>
              </a:rPr>
              <a:t>derivative.</a:t>
            </a:r>
            <a:r>
              <a:rPr sz="2200" spc="-145" dirty="0">
                <a:solidFill>
                  <a:srgbClr val="242424"/>
                </a:solidFill>
                <a:latin typeface="Arial"/>
                <a:cs typeface="Arial"/>
              </a:rPr>
              <a:t> </a:t>
            </a:r>
            <a:r>
              <a:rPr sz="2200" spc="-105" dirty="0">
                <a:solidFill>
                  <a:srgbClr val="242424"/>
                </a:solidFill>
                <a:latin typeface="Arial"/>
                <a:cs typeface="Arial"/>
              </a:rPr>
              <a:t>We</a:t>
            </a:r>
            <a:r>
              <a:rPr sz="2200" spc="-375" dirty="0">
                <a:solidFill>
                  <a:srgbClr val="242424"/>
                </a:solidFill>
                <a:latin typeface="Arial"/>
                <a:cs typeface="Arial"/>
              </a:rPr>
              <a:t> </a:t>
            </a:r>
            <a:r>
              <a:rPr sz="2200" spc="-55" dirty="0">
                <a:solidFill>
                  <a:srgbClr val="242424"/>
                </a:solidFill>
                <a:latin typeface="Arial"/>
                <a:cs typeface="Arial"/>
              </a:rPr>
              <a:t>know</a:t>
            </a:r>
            <a:r>
              <a:rPr sz="2200" spc="-110" dirty="0">
                <a:solidFill>
                  <a:srgbClr val="242424"/>
                </a:solidFill>
                <a:latin typeface="Arial"/>
                <a:cs typeface="Arial"/>
              </a:rPr>
              <a:t> </a:t>
            </a:r>
            <a:r>
              <a:rPr sz="2200" spc="-10" dirty="0">
                <a:solidFill>
                  <a:srgbClr val="242424"/>
                </a:solidFill>
                <a:latin typeface="Arial"/>
                <a:cs typeface="Arial"/>
              </a:rPr>
              <a:t>the</a:t>
            </a:r>
            <a:r>
              <a:rPr sz="2200" spc="-40" dirty="0">
                <a:solidFill>
                  <a:srgbClr val="242424"/>
                </a:solidFill>
                <a:latin typeface="Arial"/>
                <a:cs typeface="Arial"/>
              </a:rPr>
              <a:t> </a:t>
            </a:r>
            <a:r>
              <a:rPr sz="2200" spc="-70" dirty="0">
                <a:solidFill>
                  <a:srgbClr val="242424"/>
                </a:solidFill>
                <a:latin typeface="Arial"/>
                <a:cs typeface="Arial"/>
              </a:rPr>
              <a:t>derivative</a:t>
            </a:r>
            <a:r>
              <a:rPr sz="2200" spc="-120" dirty="0">
                <a:solidFill>
                  <a:srgbClr val="242424"/>
                </a:solidFill>
                <a:latin typeface="Arial"/>
                <a:cs typeface="Arial"/>
              </a:rPr>
              <a:t> </a:t>
            </a:r>
            <a:r>
              <a:rPr sz="2200" spc="-65" dirty="0">
                <a:solidFill>
                  <a:srgbClr val="242424"/>
                </a:solidFill>
                <a:latin typeface="Arial"/>
                <a:cs typeface="Arial"/>
              </a:rPr>
              <a:t>is</a:t>
            </a:r>
            <a:r>
              <a:rPr sz="2200" spc="-229" dirty="0">
                <a:solidFill>
                  <a:srgbClr val="242424"/>
                </a:solidFill>
                <a:latin typeface="Arial"/>
                <a:cs typeface="Arial"/>
              </a:rPr>
              <a:t> </a:t>
            </a:r>
            <a:r>
              <a:rPr sz="2200" spc="-70" dirty="0">
                <a:solidFill>
                  <a:srgbClr val="242424"/>
                </a:solidFill>
                <a:latin typeface="Arial"/>
                <a:cs typeface="Arial"/>
              </a:rPr>
              <a:t>positive,</a:t>
            </a:r>
            <a:r>
              <a:rPr sz="2200" spc="-150" dirty="0">
                <a:solidFill>
                  <a:srgbClr val="242424"/>
                </a:solidFill>
                <a:latin typeface="Arial"/>
                <a:cs typeface="Arial"/>
              </a:rPr>
              <a:t> </a:t>
            </a:r>
            <a:r>
              <a:rPr sz="2200" spc="-95" dirty="0">
                <a:solidFill>
                  <a:srgbClr val="242424"/>
                </a:solidFill>
                <a:latin typeface="Arial"/>
                <a:cs typeface="Arial"/>
              </a:rPr>
              <a:t>so</a:t>
            </a:r>
            <a:r>
              <a:rPr sz="2200" spc="-310" dirty="0">
                <a:solidFill>
                  <a:srgbClr val="242424"/>
                </a:solidFill>
                <a:latin typeface="Arial"/>
                <a:cs typeface="Arial"/>
              </a:rPr>
              <a:t> </a:t>
            </a:r>
            <a:r>
              <a:rPr sz="2200" spc="-90" dirty="0">
                <a:solidFill>
                  <a:srgbClr val="242424"/>
                </a:solidFill>
                <a:latin typeface="Arial"/>
                <a:cs typeface="Arial"/>
              </a:rPr>
              <a:t>we</a:t>
            </a:r>
            <a:r>
              <a:rPr sz="2200" spc="-105" dirty="0">
                <a:solidFill>
                  <a:srgbClr val="242424"/>
                </a:solidFill>
                <a:latin typeface="Arial"/>
                <a:cs typeface="Arial"/>
              </a:rPr>
              <a:t> </a:t>
            </a:r>
            <a:r>
              <a:rPr sz="2200" spc="-90" dirty="0">
                <a:solidFill>
                  <a:srgbClr val="242424"/>
                </a:solidFill>
                <a:latin typeface="Arial"/>
                <a:cs typeface="Arial"/>
              </a:rPr>
              <a:t>end</a:t>
            </a:r>
            <a:r>
              <a:rPr sz="2200" spc="-170" dirty="0">
                <a:solidFill>
                  <a:srgbClr val="242424"/>
                </a:solidFill>
                <a:latin typeface="Arial"/>
                <a:cs typeface="Arial"/>
              </a:rPr>
              <a:t> </a:t>
            </a:r>
            <a:r>
              <a:rPr sz="2200" spc="-55" dirty="0">
                <a:solidFill>
                  <a:srgbClr val="242424"/>
                </a:solidFill>
                <a:latin typeface="Arial"/>
                <a:cs typeface="Arial"/>
              </a:rPr>
              <a:t>up</a:t>
            </a:r>
            <a:r>
              <a:rPr sz="2200" spc="-125" dirty="0">
                <a:solidFill>
                  <a:srgbClr val="242424"/>
                </a:solidFill>
                <a:latin typeface="Arial"/>
                <a:cs typeface="Arial"/>
              </a:rPr>
              <a:t> </a:t>
            </a:r>
            <a:r>
              <a:rPr sz="2200" spc="-80" dirty="0">
                <a:solidFill>
                  <a:srgbClr val="242424"/>
                </a:solidFill>
                <a:latin typeface="Arial"/>
                <a:cs typeface="Arial"/>
              </a:rPr>
              <a:t>subtracting</a:t>
            </a:r>
            <a:r>
              <a:rPr sz="2200" spc="-65" dirty="0">
                <a:solidFill>
                  <a:srgbClr val="242424"/>
                </a:solidFill>
                <a:latin typeface="Arial"/>
                <a:cs typeface="Arial"/>
              </a:rPr>
              <a:t> </a:t>
            </a:r>
            <a:r>
              <a:rPr sz="2200" spc="-30" dirty="0">
                <a:solidFill>
                  <a:srgbClr val="242424"/>
                </a:solidFill>
                <a:latin typeface="Arial"/>
                <a:cs typeface="Arial"/>
              </a:rPr>
              <a:t>from</a:t>
            </a:r>
            <a:r>
              <a:rPr sz="2200" spc="-415" dirty="0">
                <a:solidFill>
                  <a:srgbClr val="242424"/>
                </a:solidFill>
                <a:latin typeface="Arial"/>
                <a:cs typeface="Arial"/>
              </a:rPr>
              <a:t> </a:t>
            </a:r>
            <a:r>
              <a:rPr sz="2200" dirty="0">
                <a:solidFill>
                  <a:srgbClr val="242424"/>
                </a:solidFill>
                <a:latin typeface="Arial"/>
                <a:cs typeface="Arial"/>
              </a:rPr>
              <a:t>W</a:t>
            </a:r>
            <a:r>
              <a:rPr sz="2200" spc="-240" dirty="0">
                <a:solidFill>
                  <a:srgbClr val="242424"/>
                </a:solidFill>
                <a:latin typeface="Arial"/>
                <a:cs typeface="Arial"/>
              </a:rPr>
              <a:t> </a:t>
            </a:r>
            <a:r>
              <a:rPr sz="2200" spc="-25" dirty="0">
                <a:solidFill>
                  <a:srgbClr val="242424"/>
                </a:solidFill>
                <a:latin typeface="Arial"/>
                <a:cs typeface="Arial"/>
              </a:rPr>
              <a:t>and </a:t>
            </a:r>
            <a:r>
              <a:rPr sz="2200" spc="-80" dirty="0">
                <a:solidFill>
                  <a:srgbClr val="242424"/>
                </a:solidFill>
                <a:latin typeface="Arial"/>
                <a:cs typeface="Arial"/>
              </a:rPr>
              <a:t>taking</a:t>
            </a:r>
            <a:r>
              <a:rPr sz="2200" spc="-130" dirty="0">
                <a:solidFill>
                  <a:srgbClr val="242424"/>
                </a:solidFill>
                <a:latin typeface="Arial"/>
                <a:cs typeface="Arial"/>
              </a:rPr>
              <a:t> </a:t>
            </a:r>
            <a:r>
              <a:rPr sz="2200" spc="-10" dirty="0">
                <a:solidFill>
                  <a:srgbClr val="242424"/>
                </a:solidFill>
                <a:latin typeface="Arial"/>
                <a:cs typeface="Arial"/>
              </a:rPr>
              <a:t>a</a:t>
            </a:r>
            <a:r>
              <a:rPr sz="2200" spc="-345" dirty="0">
                <a:solidFill>
                  <a:srgbClr val="242424"/>
                </a:solidFill>
                <a:latin typeface="Arial"/>
                <a:cs typeface="Arial"/>
              </a:rPr>
              <a:t> </a:t>
            </a:r>
            <a:r>
              <a:rPr sz="2200" spc="-90" dirty="0">
                <a:solidFill>
                  <a:srgbClr val="242424"/>
                </a:solidFill>
                <a:latin typeface="Arial"/>
                <a:cs typeface="Arial"/>
              </a:rPr>
              <a:t>step</a:t>
            </a:r>
            <a:r>
              <a:rPr sz="2200" spc="-180" dirty="0">
                <a:solidFill>
                  <a:srgbClr val="242424"/>
                </a:solidFill>
                <a:latin typeface="Arial"/>
                <a:cs typeface="Arial"/>
              </a:rPr>
              <a:t> </a:t>
            </a:r>
            <a:r>
              <a:rPr sz="2200" dirty="0">
                <a:solidFill>
                  <a:srgbClr val="242424"/>
                </a:solidFill>
                <a:latin typeface="Arial"/>
                <a:cs typeface="Arial"/>
              </a:rPr>
              <a:t>to </a:t>
            </a:r>
            <a:r>
              <a:rPr sz="2200" spc="-20" dirty="0">
                <a:solidFill>
                  <a:srgbClr val="242424"/>
                </a:solidFill>
                <a:latin typeface="Arial"/>
                <a:cs typeface="Arial"/>
              </a:rPr>
              <a:t>the</a:t>
            </a:r>
            <a:r>
              <a:rPr sz="2200" spc="-65" dirty="0">
                <a:solidFill>
                  <a:srgbClr val="242424"/>
                </a:solidFill>
                <a:latin typeface="Arial"/>
                <a:cs typeface="Arial"/>
              </a:rPr>
              <a:t> </a:t>
            </a:r>
            <a:r>
              <a:rPr sz="2200" dirty="0">
                <a:solidFill>
                  <a:srgbClr val="242424"/>
                </a:solidFill>
                <a:latin typeface="Arial"/>
                <a:cs typeface="Arial"/>
              </a:rPr>
              <a:t>left.</a:t>
            </a:r>
            <a:r>
              <a:rPr sz="2200" spc="-15" dirty="0">
                <a:solidFill>
                  <a:srgbClr val="242424"/>
                </a:solidFill>
                <a:latin typeface="Arial"/>
                <a:cs typeface="Arial"/>
              </a:rPr>
              <a:t> </a:t>
            </a:r>
            <a:r>
              <a:rPr sz="2200" spc="-114" dirty="0">
                <a:solidFill>
                  <a:srgbClr val="242424"/>
                </a:solidFill>
                <a:latin typeface="Arial"/>
                <a:cs typeface="Arial"/>
              </a:rPr>
              <a:t>Here,</a:t>
            </a:r>
            <a:r>
              <a:rPr sz="2200" spc="-160" dirty="0">
                <a:solidFill>
                  <a:srgbClr val="242424"/>
                </a:solidFill>
                <a:latin typeface="Arial"/>
                <a:cs typeface="Arial"/>
              </a:rPr>
              <a:t> </a:t>
            </a:r>
            <a:r>
              <a:rPr sz="2200" spc="-85" dirty="0">
                <a:solidFill>
                  <a:srgbClr val="242424"/>
                </a:solidFill>
                <a:latin typeface="Arial"/>
                <a:cs typeface="Arial"/>
              </a:rPr>
              <a:t>gradient</a:t>
            </a:r>
            <a:r>
              <a:rPr sz="2200" spc="-45" dirty="0">
                <a:solidFill>
                  <a:srgbClr val="242424"/>
                </a:solidFill>
                <a:latin typeface="Arial"/>
                <a:cs typeface="Arial"/>
              </a:rPr>
              <a:t> </a:t>
            </a:r>
            <a:r>
              <a:rPr sz="2200" spc="-100" dirty="0">
                <a:solidFill>
                  <a:srgbClr val="242424"/>
                </a:solidFill>
                <a:latin typeface="Arial"/>
                <a:cs typeface="Arial"/>
              </a:rPr>
              <a:t>descent</a:t>
            </a:r>
            <a:r>
              <a:rPr sz="2200" spc="-225" dirty="0">
                <a:solidFill>
                  <a:srgbClr val="242424"/>
                </a:solidFill>
                <a:latin typeface="Arial"/>
                <a:cs typeface="Arial"/>
              </a:rPr>
              <a:t> </a:t>
            </a:r>
            <a:r>
              <a:rPr sz="2200" spc="-55" dirty="0">
                <a:solidFill>
                  <a:srgbClr val="242424"/>
                </a:solidFill>
                <a:latin typeface="Arial"/>
                <a:cs typeface="Arial"/>
              </a:rPr>
              <a:t>would</a:t>
            </a:r>
            <a:r>
              <a:rPr sz="2200" spc="-5" dirty="0">
                <a:solidFill>
                  <a:srgbClr val="242424"/>
                </a:solidFill>
                <a:latin typeface="Arial"/>
                <a:cs typeface="Arial"/>
              </a:rPr>
              <a:t> </a:t>
            </a:r>
            <a:r>
              <a:rPr sz="2200" spc="-125" dirty="0">
                <a:solidFill>
                  <a:srgbClr val="242424"/>
                </a:solidFill>
                <a:latin typeface="Arial"/>
                <a:cs typeface="Arial"/>
              </a:rPr>
              <a:t>make</a:t>
            </a:r>
            <a:r>
              <a:rPr sz="2200" spc="-285" dirty="0">
                <a:solidFill>
                  <a:srgbClr val="242424"/>
                </a:solidFill>
                <a:latin typeface="Arial"/>
                <a:cs typeface="Arial"/>
              </a:rPr>
              <a:t> </a:t>
            </a:r>
            <a:r>
              <a:rPr sz="2200" spc="-60" dirty="0">
                <a:solidFill>
                  <a:srgbClr val="242424"/>
                </a:solidFill>
                <a:latin typeface="Arial"/>
                <a:cs typeface="Arial"/>
              </a:rPr>
              <a:t>your </a:t>
            </a:r>
            <a:r>
              <a:rPr sz="2200" spc="-50" dirty="0">
                <a:solidFill>
                  <a:srgbClr val="242424"/>
                </a:solidFill>
                <a:latin typeface="Arial"/>
                <a:cs typeface="Arial"/>
              </a:rPr>
              <a:t>algorithm</a:t>
            </a:r>
            <a:r>
              <a:rPr sz="2200" spc="-105" dirty="0">
                <a:solidFill>
                  <a:srgbClr val="242424"/>
                </a:solidFill>
                <a:latin typeface="Arial"/>
                <a:cs typeface="Arial"/>
              </a:rPr>
              <a:t> </a:t>
            </a:r>
            <a:r>
              <a:rPr sz="2200" spc="-10" dirty="0">
                <a:solidFill>
                  <a:srgbClr val="242424"/>
                </a:solidFill>
                <a:latin typeface="Arial"/>
                <a:cs typeface="Arial"/>
              </a:rPr>
              <a:t>slowly </a:t>
            </a:r>
            <a:r>
              <a:rPr sz="2200" spc="-140" dirty="0">
                <a:solidFill>
                  <a:srgbClr val="242424"/>
                </a:solidFill>
                <a:latin typeface="Arial"/>
                <a:cs typeface="Arial"/>
              </a:rPr>
              <a:t>decrease</a:t>
            </a:r>
            <a:r>
              <a:rPr sz="2200" spc="-185" dirty="0">
                <a:solidFill>
                  <a:srgbClr val="242424"/>
                </a:solidFill>
                <a:latin typeface="Arial"/>
                <a:cs typeface="Arial"/>
              </a:rPr>
              <a:t> </a:t>
            </a:r>
            <a:r>
              <a:rPr sz="2200" spc="-35" dirty="0">
                <a:solidFill>
                  <a:srgbClr val="242424"/>
                </a:solidFill>
                <a:latin typeface="Arial"/>
                <a:cs typeface="Arial"/>
              </a:rPr>
              <a:t>the</a:t>
            </a:r>
            <a:r>
              <a:rPr sz="2200" spc="-80" dirty="0">
                <a:solidFill>
                  <a:srgbClr val="242424"/>
                </a:solidFill>
                <a:latin typeface="Arial"/>
                <a:cs typeface="Arial"/>
              </a:rPr>
              <a:t> </a:t>
            </a:r>
            <a:r>
              <a:rPr sz="2200" spc="-120" dirty="0">
                <a:solidFill>
                  <a:srgbClr val="242424"/>
                </a:solidFill>
                <a:latin typeface="Arial"/>
                <a:cs typeface="Arial"/>
              </a:rPr>
              <a:t>parameter,</a:t>
            </a:r>
            <a:r>
              <a:rPr sz="2200" spc="-145" dirty="0">
                <a:solidFill>
                  <a:srgbClr val="242424"/>
                </a:solidFill>
                <a:latin typeface="Arial"/>
                <a:cs typeface="Arial"/>
              </a:rPr>
              <a:t> </a:t>
            </a:r>
            <a:r>
              <a:rPr sz="2200" dirty="0">
                <a:solidFill>
                  <a:srgbClr val="242424"/>
                </a:solidFill>
                <a:latin typeface="Arial"/>
                <a:cs typeface="Arial"/>
              </a:rPr>
              <a:t>if</a:t>
            </a:r>
            <a:r>
              <a:rPr sz="2200" spc="-40" dirty="0">
                <a:solidFill>
                  <a:srgbClr val="242424"/>
                </a:solidFill>
                <a:latin typeface="Arial"/>
                <a:cs typeface="Arial"/>
              </a:rPr>
              <a:t> </a:t>
            </a:r>
            <a:r>
              <a:rPr sz="2200" spc="-95" dirty="0">
                <a:solidFill>
                  <a:srgbClr val="242424"/>
                </a:solidFill>
                <a:latin typeface="Arial"/>
                <a:cs typeface="Arial"/>
              </a:rPr>
              <a:t>you</a:t>
            </a:r>
            <a:r>
              <a:rPr sz="2200" spc="-114" dirty="0">
                <a:solidFill>
                  <a:srgbClr val="242424"/>
                </a:solidFill>
                <a:latin typeface="Arial"/>
                <a:cs typeface="Arial"/>
              </a:rPr>
              <a:t> </a:t>
            </a:r>
            <a:r>
              <a:rPr sz="2200" spc="-125" dirty="0">
                <a:solidFill>
                  <a:srgbClr val="242424"/>
                </a:solidFill>
                <a:latin typeface="Arial"/>
                <a:cs typeface="Arial"/>
              </a:rPr>
              <a:t>have</a:t>
            </a:r>
            <a:r>
              <a:rPr sz="2200" spc="-220" dirty="0">
                <a:solidFill>
                  <a:srgbClr val="242424"/>
                </a:solidFill>
                <a:latin typeface="Arial"/>
                <a:cs typeface="Arial"/>
              </a:rPr>
              <a:t> </a:t>
            </a:r>
            <a:r>
              <a:rPr sz="2200" spc="-65" dirty="0">
                <a:solidFill>
                  <a:srgbClr val="242424"/>
                </a:solidFill>
                <a:latin typeface="Arial"/>
                <a:cs typeface="Arial"/>
              </a:rPr>
              <a:t>started</a:t>
            </a:r>
            <a:r>
              <a:rPr sz="2200" spc="-165" dirty="0">
                <a:solidFill>
                  <a:srgbClr val="242424"/>
                </a:solidFill>
                <a:latin typeface="Arial"/>
                <a:cs typeface="Arial"/>
              </a:rPr>
              <a:t> </a:t>
            </a:r>
            <a:r>
              <a:rPr sz="2200" dirty="0">
                <a:solidFill>
                  <a:srgbClr val="242424"/>
                </a:solidFill>
                <a:latin typeface="Arial"/>
                <a:cs typeface="Arial"/>
              </a:rPr>
              <a:t>off</a:t>
            </a:r>
            <a:r>
              <a:rPr sz="2200" spc="-65" dirty="0">
                <a:solidFill>
                  <a:srgbClr val="242424"/>
                </a:solidFill>
                <a:latin typeface="Arial"/>
                <a:cs typeface="Arial"/>
              </a:rPr>
              <a:t> </a:t>
            </a:r>
            <a:r>
              <a:rPr sz="2200" dirty="0">
                <a:solidFill>
                  <a:srgbClr val="242424"/>
                </a:solidFill>
                <a:latin typeface="Arial"/>
                <a:cs typeface="Arial"/>
              </a:rPr>
              <a:t>with</a:t>
            </a:r>
            <a:r>
              <a:rPr sz="2200" spc="-70" dirty="0">
                <a:solidFill>
                  <a:srgbClr val="242424"/>
                </a:solidFill>
                <a:latin typeface="Arial"/>
                <a:cs typeface="Arial"/>
              </a:rPr>
              <a:t> </a:t>
            </a:r>
            <a:r>
              <a:rPr sz="2200" spc="-60" dirty="0">
                <a:solidFill>
                  <a:srgbClr val="242424"/>
                </a:solidFill>
                <a:latin typeface="Arial"/>
                <a:cs typeface="Arial"/>
              </a:rPr>
              <a:t>this</a:t>
            </a:r>
            <a:r>
              <a:rPr sz="2200" spc="-95" dirty="0">
                <a:solidFill>
                  <a:srgbClr val="242424"/>
                </a:solidFill>
                <a:latin typeface="Arial"/>
                <a:cs typeface="Arial"/>
              </a:rPr>
              <a:t> </a:t>
            </a:r>
            <a:r>
              <a:rPr sz="2200" spc="-100" dirty="0">
                <a:solidFill>
                  <a:srgbClr val="242424"/>
                </a:solidFill>
                <a:latin typeface="Arial"/>
                <a:cs typeface="Arial"/>
              </a:rPr>
              <a:t>large</a:t>
            </a:r>
            <a:r>
              <a:rPr sz="2200" spc="-180" dirty="0">
                <a:solidFill>
                  <a:srgbClr val="242424"/>
                </a:solidFill>
                <a:latin typeface="Arial"/>
                <a:cs typeface="Arial"/>
              </a:rPr>
              <a:t> </a:t>
            </a:r>
            <a:r>
              <a:rPr sz="2200" spc="-100" dirty="0">
                <a:solidFill>
                  <a:srgbClr val="242424"/>
                </a:solidFill>
                <a:latin typeface="Arial"/>
                <a:cs typeface="Arial"/>
              </a:rPr>
              <a:t>value</a:t>
            </a:r>
            <a:r>
              <a:rPr sz="2200" spc="-220" dirty="0">
                <a:solidFill>
                  <a:srgbClr val="242424"/>
                </a:solidFill>
                <a:latin typeface="Arial"/>
                <a:cs typeface="Arial"/>
              </a:rPr>
              <a:t> </a:t>
            </a:r>
            <a:r>
              <a:rPr sz="2200" dirty="0">
                <a:solidFill>
                  <a:srgbClr val="242424"/>
                </a:solidFill>
                <a:latin typeface="Arial"/>
                <a:cs typeface="Arial"/>
              </a:rPr>
              <a:t>of</a:t>
            </a:r>
            <a:r>
              <a:rPr sz="2200" spc="-85" dirty="0">
                <a:solidFill>
                  <a:srgbClr val="242424"/>
                </a:solidFill>
                <a:latin typeface="Arial"/>
                <a:cs typeface="Arial"/>
              </a:rPr>
              <a:t> </a:t>
            </a:r>
            <a:r>
              <a:rPr sz="2200" spc="-305" dirty="0">
                <a:solidFill>
                  <a:srgbClr val="242424"/>
                </a:solidFill>
                <a:latin typeface="Arial"/>
                <a:cs typeface="Arial"/>
              </a:rPr>
              <a:t>W.</a:t>
            </a:r>
            <a:endParaRPr sz="2200">
              <a:latin typeface="Arial"/>
              <a:cs typeface="Arial"/>
            </a:endParaRPr>
          </a:p>
          <a:p>
            <a:pPr marL="241300" marR="5080" indent="-228600">
              <a:lnSpc>
                <a:spcPct val="91000"/>
              </a:lnSpc>
              <a:spcBef>
                <a:spcPts val="1000"/>
              </a:spcBef>
              <a:buFont typeface="Wingdings"/>
              <a:buChar char=""/>
              <a:tabLst>
                <a:tab pos="241300" algn="l"/>
              </a:tabLst>
            </a:pPr>
            <a:r>
              <a:rPr sz="2200" spc="-110" dirty="0">
                <a:solidFill>
                  <a:srgbClr val="242424"/>
                </a:solidFill>
                <a:latin typeface="Arial"/>
                <a:cs typeface="Arial"/>
              </a:rPr>
              <a:t>Here</a:t>
            </a:r>
            <a:r>
              <a:rPr sz="2200" spc="-265" dirty="0">
                <a:solidFill>
                  <a:srgbClr val="242424"/>
                </a:solidFill>
                <a:latin typeface="Arial"/>
                <a:cs typeface="Arial"/>
              </a:rPr>
              <a:t> </a:t>
            </a:r>
            <a:r>
              <a:rPr sz="2200" spc="-10" dirty="0">
                <a:solidFill>
                  <a:srgbClr val="242424"/>
                </a:solidFill>
                <a:latin typeface="Arial"/>
                <a:cs typeface="Arial"/>
              </a:rPr>
              <a:t>the</a:t>
            </a:r>
            <a:r>
              <a:rPr sz="2200" spc="-80" dirty="0">
                <a:solidFill>
                  <a:srgbClr val="242424"/>
                </a:solidFill>
                <a:latin typeface="Arial"/>
                <a:cs typeface="Arial"/>
              </a:rPr>
              <a:t> </a:t>
            </a:r>
            <a:r>
              <a:rPr sz="2200" spc="-70" dirty="0">
                <a:solidFill>
                  <a:srgbClr val="242424"/>
                </a:solidFill>
                <a:latin typeface="Arial"/>
                <a:cs typeface="Arial"/>
              </a:rPr>
              <a:t>derivative</a:t>
            </a:r>
            <a:r>
              <a:rPr sz="2200" spc="-130" dirty="0">
                <a:solidFill>
                  <a:srgbClr val="242424"/>
                </a:solidFill>
                <a:latin typeface="Arial"/>
                <a:cs typeface="Arial"/>
              </a:rPr>
              <a:t> </a:t>
            </a:r>
            <a:r>
              <a:rPr sz="2200" spc="-65" dirty="0">
                <a:solidFill>
                  <a:srgbClr val="242424"/>
                </a:solidFill>
                <a:latin typeface="Arial"/>
                <a:cs typeface="Arial"/>
              </a:rPr>
              <a:t>is</a:t>
            </a:r>
            <a:r>
              <a:rPr sz="2200" spc="-155" dirty="0">
                <a:solidFill>
                  <a:srgbClr val="242424"/>
                </a:solidFill>
                <a:latin typeface="Arial"/>
                <a:cs typeface="Arial"/>
              </a:rPr>
              <a:t> </a:t>
            </a:r>
            <a:r>
              <a:rPr sz="2200" spc="-70" dirty="0">
                <a:solidFill>
                  <a:srgbClr val="242424"/>
                </a:solidFill>
                <a:latin typeface="Arial"/>
                <a:cs typeface="Arial"/>
              </a:rPr>
              <a:t>negative,</a:t>
            </a:r>
            <a:r>
              <a:rPr sz="2200" spc="225" dirty="0">
                <a:solidFill>
                  <a:srgbClr val="242424"/>
                </a:solidFill>
                <a:latin typeface="Arial"/>
                <a:cs typeface="Arial"/>
              </a:rPr>
              <a:t> </a:t>
            </a:r>
            <a:r>
              <a:rPr sz="2200" spc="-10" dirty="0">
                <a:solidFill>
                  <a:srgbClr val="242424"/>
                </a:solidFill>
                <a:latin typeface="Arial"/>
                <a:cs typeface="Arial"/>
              </a:rPr>
              <a:t>the</a:t>
            </a:r>
            <a:r>
              <a:rPr sz="2200" spc="-70" dirty="0">
                <a:solidFill>
                  <a:srgbClr val="242424"/>
                </a:solidFill>
                <a:latin typeface="Arial"/>
                <a:cs typeface="Arial"/>
              </a:rPr>
              <a:t> </a:t>
            </a:r>
            <a:r>
              <a:rPr sz="2200" spc="-90" dirty="0">
                <a:solidFill>
                  <a:srgbClr val="242424"/>
                </a:solidFill>
                <a:latin typeface="Arial"/>
                <a:cs typeface="Arial"/>
              </a:rPr>
              <a:t>gradient</a:t>
            </a:r>
            <a:r>
              <a:rPr sz="2200" spc="-55" dirty="0">
                <a:solidFill>
                  <a:srgbClr val="242424"/>
                </a:solidFill>
                <a:latin typeface="Arial"/>
                <a:cs typeface="Arial"/>
              </a:rPr>
              <a:t> </a:t>
            </a:r>
            <a:r>
              <a:rPr sz="2200" spc="-100" dirty="0">
                <a:solidFill>
                  <a:srgbClr val="242424"/>
                </a:solidFill>
                <a:latin typeface="Arial"/>
                <a:cs typeface="Arial"/>
              </a:rPr>
              <a:t>descent</a:t>
            </a:r>
            <a:r>
              <a:rPr sz="2200" spc="-229" dirty="0">
                <a:solidFill>
                  <a:srgbClr val="242424"/>
                </a:solidFill>
                <a:latin typeface="Arial"/>
                <a:cs typeface="Arial"/>
              </a:rPr>
              <a:t> </a:t>
            </a:r>
            <a:r>
              <a:rPr sz="2200" spc="-80" dirty="0">
                <a:solidFill>
                  <a:srgbClr val="242424"/>
                </a:solidFill>
                <a:latin typeface="Arial"/>
                <a:cs typeface="Arial"/>
              </a:rPr>
              <a:t>update</a:t>
            </a:r>
            <a:r>
              <a:rPr sz="2200" spc="-150" dirty="0">
                <a:solidFill>
                  <a:srgbClr val="242424"/>
                </a:solidFill>
                <a:latin typeface="Arial"/>
                <a:cs typeface="Arial"/>
              </a:rPr>
              <a:t> </a:t>
            </a:r>
            <a:r>
              <a:rPr sz="2200" spc="-55" dirty="0">
                <a:solidFill>
                  <a:srgbClr val="242424"/>
                </a:solidFill>
                <a:latin typeface="Arial"/>
                <a:cs typeface="Arial"/>
              </a:rPr>
              <a:t>would</a:t>
            </a:r>
            <a:r>
              <a:rPr sz="2200" spc="-75" dirty="0">
                <a:solidFill>
                  <a:srgbClr val="242424"/>
                </a:solidFill>
                <a:latin typeface="Arial"/>
                <a:cs typeface="Arial"/>
              </a:rPr>
              <a:t> </a:t>
            </a:r>
            <a:r>
              <a:rPr sz="2200" spc="-70" dirty="0">
                <a:solidFill>
                  <a:srgbClr val="242424"/>
                </a:solidFill>
                <a:latin typeface="Arial"/>
                <a:cs typeface="Arial"/>
              </a:rPr>
              <a:t>subtract</a:t>
            </a:r>
            <a:r>
              <a:rPr sz="2200" spc="-145" dirty="0">
                <a:solidFill>
                  <a:srgbClr val="242424"/>
                </a:solidFill>
                <a:latin typeface="Arial"/>
                <a:cs typeface="Arial"/>
              </a:rPr>
              <a:t> </a:t>
            </a:r>
            <a:r>
              <a:rPr sz="2200" spc="-10" dirty="0">
                <a:solidFill>
                  <a:srgbClr val="242424"/>
                </a:solidFill>
                <a:latin typeface="Arial"/>
                <a:cs typeface="Arial"/>
              </a:rPr>
              <a:t>alphatimes </a:t>
            </a:r>
            <a:r>
              <a:rPr sz="2200" spc="-20" dirty="0">
                <a:solidFill>
                  <a:srgbClr val="242424"/>
                </a:solidFill>
                <a:latin typeface="Arial"/>
                <a:cs typeface="Arial"/>
              </a:rPr>
              <a:t>a</a:t>
            </a:r>
            <a:r>
              <a:rPr sz="2200" spc="-350" dirty="0">
                <a:solidFill>
                  <a:srgbClr val="242424"/>
                </a:solidFill>
                <a:latin typeface="Arial"/>
                <a:cs typeface="Arial"/>
              </a:rPr>
              <a:t> </a:t>
            </a:r>
            <a:r>
              <a:rPr sz="2200" spc="-105" dirty="0">
                <a:solidFill>
                  <a:srgbClr val="242424"/>
                </a:solidFill>
                <a:latin typeface="Arial"/>
                <a:cs typeface="Arial"/>
              </a:rPr>
              <a:t>negative</a:t>
            </a:r>
            <a:r>
              <a:rPr sz="2200" spc="-150" dirty="0">
                <a:solidFill>
                  <a:srgbClr val="242424"/>
                </a:solidFill>
                <a:latin typeface="Arial"/>
                <a:cs typeface="Arial"/>
              </a:rPr>
              <a:t> </a:t>
            </a:r>
            <a:r>
              <a:rPr sz="2200" spc="-85" dirty="0">
                <a:solidFill>
                  <a:srgbClr val="242424"/>
                </a:solidFill>
                <a:latin typeface="Arial"/>
                <a:cs typeface="Arial"/>
              </a:rPr>
              <a:t>number</a:t>
            </a:r>
            <a:r>
              <a:rPr sz="2200" spc="-30" dirty="0">
                <a:solidFill>
                  <a:srgbClr val="242424"/>
                </a:solidFill>
                <a:latin typeface="Arial"/>
                <a:cs typeface="Arial"/>
              </a:rPr>
              <a:t> </a:t>
            </a:r>
            <a:r>
              <a:rPr sz="2200" spc="-90" dirty="0">
                <a:solidFill>
                  <a:srgbClr val="242424"/>
                </a:solidFill>
                <a:latin typeface="Arial"/>
                <a:cs typeface="Arial"/>
              </a:rPr>
              <a:t>and</a:t>
            </a:r>
            <a:r>
              <a:rPr sz="2200" spc="-180" dirty="0">
                <a:solidFill>
                  <a:srgbClr val="242424"/>
                </a:solidFill>
                <a:latin typeface="Arial"/>
                <a:cs typeface="Arial"/>
              </a:rPr>
              <a:t> </a:t>
            </a:r>
            <a:r>
              <a:rPr sz="2200" spc="-95" dirty="0">
                <a:solidFill>
                  <a:srgbClr val="242424"/>
                </a:solidFill>
                <a:latin typeface="Arial"/>
                <a:cs typeface="Arial"/>
              </a:rPr>
              <a:t>so</a:t>
            </a:r>
            <a:r>
              <a:rPr sz="2200" spc="-315" dirty="0">
                <a:solidFill>
                  <a:srgbClr val="242424"/>
                </a:solidFill>
                <a:latin typeface="Arial"/>
                <a:cs typeface="Arial"/>
              </a:rPr>
              <a:t> </a:t>
            </a:r>
            <a:r>
              <a:rPr sz="2200" spc="-90" dirty="0">
                <a:solidFill>
                  <a:srgbClr val="242424"/>
                </a:solidFill>
                <a:latin typeface="Arial"/>
                <a:cs typeface="Arial"/>
              </a:rPr>
              <a:t>we end</a:t>
            </a:r>
            <a:r>
              <a:rPr sz="2200" spc="-135" dirty="0">
                <a:solidFill>
                  <a:srgbClr val="242424"/>
                </a:solidFill>
                <a:latin typeface="Arial"/>
                <a:cs typeface="Arial"/>
              </a:rPr>
              <a:t> </a:t>
            </a:r>
            <a:r>
              <a:rPr sz="2200" spc="-60" dirty="0">
                <a:solidFill>
                  <a:srgbClr val="242424"/>
                </a:solidFill>
                <a:latin typeface="Arial"/>
                <a:cs typeface="Arial"/>
              </a:rPr>
              <a:t>up</a:t>
            </a:r>
            <a:r>
              <a:rPr sz="2200" spc="-125" dirty="0">
                <a:solidFill>
                  <a:srgbClr val="242424"/>
                </a:solidFill>
                <a:latin typeface="Arial"/>
                <a:cs typeface="Arial"/>
              </a:rPr>
              <a:t> </a:t>
            </a:r>
            <a:r>
              <a:rPr sz="2200" spc="-75" dirty="0">
                <a:solidFill>
                  <a:srgbClr val="242424"/>
                </a:solidFill>
                <a:latin typeface="Arial"/>
                <a:cs typeface="Arial"/>
              </a:rPr>
              <a:t>slowly</a:t>
            </a:r>
            <a:r>
              <a:rPr sz="2200" spc="-25" dirty="0">
                <a:solidFill>
                  <a:srgbClr val="242424"/>
                </a:solidFill>
                <a:latin typeface="Arial"/>
                <a:cs typeface="Arial"/>
              </a:rPr>
              <a:t> </a:t>
            </a:r>
            <a:r>
              <a:rPr sz="2200" spc="-110" dirty="0">
                <a:solidFill>
                  <a:srgbClr val="242424"/>
                </a:solidFill>
                <a:latin typeface="Arial"/>
                <a:cs typeface="Arial"/>
              </a:rPr>
              <a:t>increasing</a:t>
            </a:r>
            <a:r>
              <a:rPr sz="2200" spc="-190" dirty="0">
                <a:solidFill>
                  <a:srgbClr val="242424"/>
                </a:solidFill>
                <a:latin typeface="Arial"/>
                <a:cs typeface="Arial"/>
              </a:rPr>
              <a:t> </a:t>
            </a:r>
            <a:r>
              <a:rPr sz="2200" dirty="0">
                <a:solidFill>
                  <a:srgbClr val="242424"/>
                </a:solidFill>
                <a:latin typeface="Arial"/>
                <a:cs typeface="Arial"/>
              </a:rPr>
              <a:t>W</a:t>
            </a:r>
            <a:r>
              <a:rPr sz="2200" spc="-229" dirty="0">
                <a:solidFill>
                  <a:srgbClr val="242424"/>
                </a:solidFill>
                <a:latin typeface="Arial"/>
                <a:cs typeface="Arial"/>
              </a:rPr>
              <a:t> </a:t>
            </a:r>
            <a:r>
              <a:rPr sz="2200" spc="-90" dirty="0">
                <a:solidFill>
                  <a:srgbClr val="242424"/>
                </a:solidFill>
                <a:latin typeface="Arial"/>
                <a:cs typeface="Arial"/>
              </a:rPr>
              <a:t>and</a:t>
            </a:r>
            <a:r>
              <a:rPr sz="2200" spc="-195" dirty="0">
                <a:solidFill>
                  <a:srgbClr val="242424"/>
                </a:solidFill>
                <a:latin typeface="Arial"/>
                <a:cs typeface="Arial"/>
              </a:rPr>
              <a:t> </a:t>
            </a:r>
            <a:r>
              <a:rPr sz="2200" spc="-90" dirty="0">
                <a:solidFill>
                  <a:srgbClr val="242424"/>
                </a:solidFill>
                <a:latin typeface="Arial"/>
                <a:cs typeface="Arial"/>
              </a:rPr>
              <a:t>end</a:t>
            </a:r>
            <a:r>
              <a:rPr sz="2200" spc="-150" dirty="0">
                <a:solidFill>
                  <a:srgbClr val="242424"/>
                </a:solidFill>
                <a:latin typeface="Arial"/>
                <a:cs typeface="Arial"/>
              </a:rPr>
              <a:t> </a:t>
            </a:r>
            <a:r>
              <a:rPr sz="2200" spc="-55" dirty="0">
                <a:solidFill>
                  <a:srgbClr val="242424"/>
                </a:solidFill>
                <a:latin typeface="Arial"/>
                <a:cs typeface="Arial"/>
              </a:rPr>
              <a:t>up</a:t>
            </a:r>
            <a:r>
              <a:rPr sz="2200" spc="-105" dirty="0">
                <a:solidFill>
                  <a:srgbClr val="242424"/>
                </a:solidFill>
                <a:latin typeface="Arial"/>
                <a:cs typeface="Arial"/>
              </a:rPr>
              <a:t> </a:t>
            </a:r>
            <a:r>
              <a:rPr sz="2200" spc="-70" dirty="0">
                <a:solidFill>
                  <a:srgbClr val="242424"/>
                </a:solidFill>
                <a:latin typeface="Arial"/>
                <a:cs typeface="Arial"/>
              </a:rPr>
              <a:t>you're</a:t>
            </a:r>
            <a:r>
              <a:rPr sz="2200" spc="-30" dirty="0">
                <a:solidFill>
                  <a:srgbClr val="242424"/>
                </a:solidFill>
                <a:latin typeface="Arial"/>
                <a:cs typeface="Arial"/>
              </a:rPr>
              <a:t> </a:t>
            </a:r>
            <a:r>
              <a:rPr sz="2200" spc="-105" dirty="0">
                <a:solidFill>
                  <a:srgbClr val="242424"/>
                </a:solidFill>
                <a:latin typeface="Arial"/>
                <a:cs typeface="Arial"/>
              </a:rPr>
              <a:t>making</a:t>
            </a:r>
            <a:r>
              <a:rPr sz="2200" spc="-170" dirty="0">
                <a:solidFill>
                  <a:srgbClr val="242424"/>
                </a:solidFill>
                <a:latin typeface="Arial"/>
                <a:cs typeface="Arial"/>
              </a:rPr>
              <a:t> </a:t>
            </a:r>
            <a:r>
              <a:rPr sz="2200" spc="-50" dirty="0">
                <a:solidFill>
                  <a:srgbClr val="242424"/>
                </a:solidFill>
                <a:latin typeface="Arial"/>
                <a:cs typeface="Arial"/>
              </a:rPr>
              <a:t>W </a:t>
            </a:r>
            <a:r>
              <a:rPr sz="2200" spc="-100" dirty="0">
                <a:solidFill>
                  <a:srgbClr val="242424"/>
                </a:solidFill>
                <a:latin typeface="Arial"/>
                <a:cs typeface="Arial"/>
              </a:rPr>
              <a:t>bigger</a:t>
            </a:r>
            <a:r>
              <a:rPr sz="2200" spc="-120" dirty="0">
                <a:solidFill>
                  <a:srgbClr val="242424"/>
                </a:solidFill>
                <a:latin typeface="Arial"/>
                <a:cs typeface="Arial"/>
              </a:rPr>
              <a:t> </a:t>
            </a:r>
            <a:r>
              <a:rPr sz="2200" spc="-90" dirty="0">
                <a:solidFill>
                  <a:srgbClr val="242424"/>
                </a:solidFill>
                <a:latin typeface="Arial"/>
                <a:cs typeface="Arial"/>
              </a:rPr>
              <a:t>and</a:t>
            </a:r>
            <a:r>
              <a:rPr sz="2200" spc="-210" dirty="0">
                <a:solidFill>
                  <a:srgbClr val="242424"/>
                </a:solidFill>
                <a:latin typeface="Arial"/>
                <a:cs typeface="Arial"/>
              </a:rPr>
              <a:t> </a:t>
            </a:r>
            <a:r>
              <a:rPr sz="2200" spc="-100" dirty="0">
                <a:solidFill>
                  <a:srgbClr val="242424"/>
                </a:solidFill>
                <a:latin typeface="Arial"/>
                <a:cs typeface="Arial"/>
              </a:rPr>
              <a:t>bigger</a:t>
            </a:r>
            <a:r>
              <a:rPr sz="2200" spc="-114" dirty="0">
                <a:solidFill>
                  <a:srgbClr val="242424"/>
                </a:solidFill>
                <a:latin typeface="Arial"/>
                <a:cs typeface="Arial"/>
              </a:rPr>
              <a:t> </a:t>
            </a:r>
            <a:r>
              <a:rPr sz="2200" dirty="0">
                <a:solidFill>
                  <a:srgbClr val="242424"/>
                </a:solidFill>
                <a:latin typeface="Arial"/>
                <a:cs typeface="Arial"/>
              </a:rPr>
              <a:t>with</a:t>
            </a:r>
            <a:r>
              <a:rPr sz="2200" spc="40" dirty="0">
                <a:solidFill>
                  <a:srgbClr val="242424"/>
                </a:solidFill>
                <a:latin typeface="Arial"/>
                <a:cs typeface="Arial"/>
              </a:rPr>
              <a:t> </a:t>
            </a:r>
            <a:r>
              <a:rPr sz="2200" spc="-155" dirty="0">
                <a:solidFill>
                  <a:srgbClr val="242424"/>
                </a:solidFill>
                <a:latin typeface="Arial"/>
                <a:cs typeface="Arial"/>
              </a:rPr>
              <a:t>successive</a:t>
            </a:r>
            <a:r>
              <a:rPr sz="2200" spc="-245" dirty="0">
                <a:solidFill>
                  <a:srgbClr val="242424"/>
                </a:solidFill>
                <a:latin typeface="Arial"/>
                <a:cs typeface="Arial"/>
              </a:rPr>
              <a:t> </a:t>
            </a:r>
            <a:r>
              <a:rPr sz="2200" spc="-55" dirty="0">
                <a:solidFill>
                  <a:srgbClr val="242424"/>
                </a:solidFill>
                <a:latin typeface="Arial"/>
                <a:cs typeface="Arial"/>
              </a:rPr>
              <a:t>iterations</a:t>
            </a:r>
            <a:r>
              <a:rPr sz="2200" dirty="0">
                <a:solidFill>
                  <a:srgbClr val="242424"/>
                </a:solidFill>
                <a:latin typeface="Arial"/>
                <a:cs typeface="Arial"/>
              </a:rPr>
              <a:t> of</a:t>
            </a:r>
            <a:r>
              <a:rPr sz="2200" spc="-5" dirty="0">
                <a:solidFill>
                  <a:srgbClr val="242424"/>
                </a:solidFill>
                <a:latin typeface="Arial"/>
                <a:cs typeface="Arial"/>
              </a:rPr>
              <a:t> </a:t>
            </a:r>
            <a:r>
              <a:rPr sz="2200" spc="-90" dirty="0">
                <a:solidFill>
                  <a:srgbClr val="242424"/>
                </a:solidFill>
                <a:latin typeface="Arial"/>
                <a:cs typeface="Arial"/>
              </a:rPr>
              <a:t>gradient</a:t>
            </a:r>
            <a:r>
              <a:rPr sz="2200" spc="-335" dirty="0">
                <a:solidFill>
                  <a:srgbClr val="242424"/>
                </a:solidFill>
                <a:latin typeface="Arial"/>
                <a:cs typeface="Arial"/>
              </a:rPr>
              <a:t> </a:t>
            </a:r>
            <a:r>
              <a:rPr sz="2200" spc="-10" dirty="0">
                <a:solidFill>
                  <a:srgbClr val="242424"/>
                </a:solidFill>
                <a:latin typeface="Arial"/>
                <a:cs typeface="Arial"/>
              </a:rPr>
              <a:t>descent</a:t>
            </a:r>
            <a:endParaRPr sz="2200">
              <a:latin typeface="Arial"/>
              <a:cs typeface="Arial"/>
            </a:endParaRPr>
          </a:p>
          <a:p>
            <a:pPr marL="241300" marR="562610" indent="-228600">
              <a:lnSpc>
                <a:spcPts val="2400"/>
              </a:lnSpc>
              <a:spcBef>
                <a:spcPts val="1040"/>
              </a:spcBef>
              <a:buFont typeface="Wingdings"/>
              <a:buChar char=""/>
              <a:tabLst>
                <a:tab pos="241300" algn="l"/>
              </a:tabLst>
            </a:pPr>
            <a:r>
              <a:rPr sz="2200" spc="-135" dirty="0">
                <a:solidFill>
                  <a:srgbClr val="242424"/>
                </a:solidFill>
                <a:latin typeface="Arial"/>
                <a:cs typeface="Arial"/>
              </a:rPr>
              <a:t>So</a:t>
            </a:r>
            <a:r>
              <a:rPr sz="2200" spc="-360" dirty="0">
                <a:solidFill>
                  <a:srgbClr val="242424"/>
                </a:solidFill>
                <a:latin typeface="Arial"/>
                <a:cs typeface="Arial"/>
              </a:rPr>
              <a:t> </a:t>
            </a:r>
            <a:r>
              <a:rPr sz="2200" spc="-10" dirty="0">
                <a:solidFill>
                  <a:srgbClr val="242424"/>
                </a:solidFill>
                <a:latin typeface="Arial"/>
                <a:cs typeface="Arial"/>
              </a:rPr>
              <a:t>that</a:t>
            </a:r>
            <a:r>
              <a:rPr sz="2200" spc="-145" dirty="0">
                <a:solidFill>
                  <a:srgbClr val="242424"/>
                </a:solidFill>
                <a:latin typeface="Arial"/>
                <a:cs typeface="Arial"/>
              </a:rPr>
              <a:t> </a:t>
            </a:r>
            <a:r>
              <a:rPr sz="2200" spc="-65" dirty="0">
                <a:solidFill>
                  <a:srgbClr val="242424"/>
                </a:solidFill>
                <a:latin typeface="Arial"/>
                <a:cs typeface="Arial"/>
              </a:rPr>
              <a:t>hopefully</a:t>
            </a:r>
            <a:r>
              <a:rPr sz="2200" spc="-85" dirty="0">
                <a:solidFill>
                  <a:srgbClr val="242424"/>
                </a:solidFill>
                <a:latin typeface="Arial"/>
                <a:cs typeface="Arial"/>
              </a:rPr>
              <a:t> </a:t>
            </a:r>
            <a:r>
              <a:rPr sz="2200" spc="-55" dirty="0">
                <a:solidFill>
                  <a:srgbClr val="242424"/>
                </a:solidFill>
                <a:latin typeface="Arial"/>
                <a:cs typeface="Arial"/>
              </a:rPr>
              <a:t>whether </a:t>
            </a:r>
            <a:r>
              <a:rPr sz="2200" spc="-95" dirty="0">
                <a:solidFill>
                  <a:srgbClr val="242424"/>
                </a:solidFill>
                <a:latin typeface="Arial"/>
                <a:cs typeface="Arial"/>
              </a:rPr>
              <a:t>you</a:t>
            </a:r>
            <a:r>
              <a:rPr sz="2200" spc="-130" dirty="0">
                <a:solidFill>
                  <a:srgbClr val="242424"/>
                </a:solidFill>
                <a:latin typeface="Arial"/>
                <a:cs typeface="Arial"/>
              </a:rPr>
              <a:t> </a:t>
            </a:r>
            <a:r>
              <a:rPr sz="2200" spc="-60" dirty="0">
                <a:solidFill>
                  <a:srgbClr val="242424"/>
                </a:solidFill>
                <a:latin typeface="Arial"/>
                <a:cs typeface="Arial"/>
              </a:rPr>
              <a:t>initialize</a:t>
            </a:r>
            <a:r>
              <a:rPr sz="2200" spc="-70" dirty="0">
                <a:solidFill>
                  <a:srgbClr val="242424"/>
                </a:solidFill>
                <a:latin typeface="Arial"/>
                <a:cs typeface="Arial"/>
              </a:rPr>
              <a:t> </a:t>
            </a:r>
            <a:r>
              <a:rPr sz="2200" spc="-60" dirty="0">
                <a:solidFill>
                  <a:srgbClr val="242424"/>
                </a:solidFill>
                <a:latin typeface="Arial"/>
                <a:cs typeface="Arial"/>
              </a:rPr>
              <a:t>on</a:t>
            </a:r>
            <a:r>
              <a:rPr sz="2200" spc="-150" dirty="0">
                <a:solidFill>
                  <a:srgbClr val="242424"/>
                </a:solidFill>
                <a:latin typeface="Arial"/>
                <a:cs typeface="Arial"/>
              </a:rPr>
              <a:t> </a:t>
            </a:r>
            <a:r>
              <a:rPr sz="2200" spc="-40" dirty="0">
                <a:solidFill>
                  <a:srgbClr val="242424"/>
                </a:solidFill>
                <a:latin typeface="Arial"/>
                <a:cs typeface="Arial"/>
              </a:rPr>
              <a:t>the</a:t>
            </a:r>
            <a:r>
              <a:rPr sz="2200" spc="-110" dirty="0">
                <a:solidFill>
                  <a:srgbClr val="242424"/>
                </a:solidFill>
                <a:latin typeface="Arial"/>
                <a:cs typeface="Arial"/>
              </a:rPr>
              <a:t> </a:t>
            </a:r>
            <a:r>
              <a:rPr sz="2200" dirty="0">
                <a:solidFill>
                  <a:srgbClr val="242424"/>
                </a:solidFill>
                <a:latin typeface="Arial"/>
                <a:cs typeface="Arial"/>
              </a:rPr>
              <a:t>left</a:t>
            </a:r>
            <a:r>
              <a:rPr sz="2200" spc="-55" dirty="0">
                <a:solidFill>
                  <a:srgbClr val="242424"/>
                </a:solidFill>
                <a:latin typeface="Arial"/>
                <a:cs typeface="Arial"/>
              </a:rPr>
              <a:t> </a:t>
            </a:r>
            <a:r>
              <a:rPr sz="2200" spc="-20" dirty="0">
                <a:solidFill>
                  <a:srgbClr val="242424"/>
                </a:solidFill>
                <a:latin typeface="Arial"/>
                <a:cs typeface="Arial"/>
              </a:rPr>
              <a:t>or</a:t>
            </a:r>
            <a:r>
              <a:rPr sz="2200" spc="-120" dirty="0">
                <a:solidFill>
                  <a:srgbClr val="242424"/>
                </a:solidFill>
                <a:latin typeface="Arial"/>
                <a:cs typeface="Arial"/>
              </a:rPr>
              <a:t> </a:t>
            </a:r>
            <a:r>
              <a:rPr sz="2200" spc="-60" dirty="0">
                <a:solidFill>
                  <a:srgbClr val="242424"/>
                </a:solidFill>
                <a:latin typeface="Arial"/>
                <a:cs typeface="Arial"/>
              </a:rPr>
              <a:t>on</a:t>
            </a:r>
            <a:r>
              <a:rPr sz="2200" spc="-150" dirty="0">
                <a:solidFill>
                  <a:srgbClr val="242424"/>
                </a:solidFill>
                <a:latin typeface="Arial"/>
                <a:cs typeface="Arial"/>
              </a:rPr>
              <a:t> </a:t>
            </a:r>
            <a:r>
              <a:rPr sz="2200" spc="-40" dirty="0">
                <a:solidFill>
                  <a:srgbClr val="242424"/>
                </a:solidFill>
                <a:latin typeface="Arial"/>
                <a:cs typeface="Arial"/>
              </a:rPr>
              <a:t>the</a:t>
            </a:r>
            <a:r>
              <a:rPr sz="2200" spc="-130" dirty="0">
                <a:solidFill>
                  <a:srgbClr val="242424"/>
                </a:solidFill>
                <a:latin typeface="Arial"/>
                <a:cs typeface="Arial"/>
              </a:rPr>
              <a:t> </a:t>
            </a:r>
            <a:r>
              <a:rPr sz="2200" spc="-35" dirty="0">
                <a:solidFill>
                  <a:srgbClr val="242424"/>
                </a:solidFill>
                <a:latin typeface="Arial"/>
                <a:cs typeface="Arial"/>
              </a:rPr>
              <a:t>right,</a:t>
            </a:r>
            <a:r>
              <a:rPr sz="2200" spc="-55" dirty="0">
                <a:solidFill>
                  <a:srgbClr val="242424"/>
                </a:solidFill>
                <a:latin typeface="Arial"/>
                <a:cs typeface="Arial"/>
              </a:rPr>
              <a:t> </a:t>
            </a:r>
            <a:r>
              <a:rPr sz="2200" spc="-90" dirty="0">
                <a:solidFill>
                  <a:srgbClr val="242424"/>
                </a:solidFill>
                <a:latin typeface="Arial"/>
                <a:cs typeface="Arial"/>
              </a:rPr>
              <a:t>gradient</a:t>
            </a:r>
            <a:r>
              <a:rPr sz="2200" spc="-80" dirty="0">
                <a:solidFill>
                  <a:srgbClr val="242424"/>
                </a:solidFill>
                <a:latin typeface="Arial"/>
                <a:cs typeface="Arial"/>
              </a:rPr>
              <a:t> </a:t>
            </a:r>
            <a:r>
              <a:rPr sz="2200" spc="-25" dirty="0">
                <a:solidFill>
                  <a:srgbClr val="242424"/>
                </a:solidFill>
                <a:latin typeface="Arial"/>
                <a:cs typeface="Arial"/>
              </a:rPr>
              <a:t>descent </a:t>
            </a:r>
            <a:r>
              <a:rPr sz="2200" spc="-55" dirty="0">
                <a:solidFill>
                  <a:srgbClr val="242424"/>
                </a:solidFill>
                <a:latin typeface="Arial"/>
                <a:cs typeface="Arial"/>
              </a:rPr>
              <a:t>would</a:t>
            </a:r>
            <a:r>
              <a:rPr sz="2200" spc="-10" dirty="0">
                <a:solidFill>
                  <a:srgbClr val="242424"/>
                </a:solidFill>
                <a:latin typeface="Arial"/>
                <a:cs typeface="Arial"/>
              </a:rPr>
              <a:t> </a:t>
            </a:r>
            <a:r>
              <a:rPr sz="2200" spc="-95" dirty="0">
                <a:solidFill>
                  <a:srgbClr val="242424"/>
                </a:solidFill>
                <a:latin typeface="Arial"/>
                <a:cs typeface="Arial"/>
              </a:rPr>
              <a:t>move</a:t>
            </a:r>
            <a:r>
              <a:rPr sz="2200" spc="-210" dirty="0">
                <a:solidFill>
                  <a:srgbClr val="242424"/>
                </a:solidFill>
                <a:latin typeface="Arial"/>
                <a:cs typeface="Arial"/>
              </a:rPr>
              <a:t> </a:t>
            </a:r>
            <a:r>
              <a:rPr sz="2200" spc="-100" dirty="0">
                <a:solidFill>
                  <a:srgbClr val="242424"/>
                </a:solidFill>
                <a:latin typeface="Arial"/>
                <a:cs typeface="Arial"/>
              </a:rPr>
              <a:t>you</a:t>
            </a:r>
            <a:r>
              <a:rPr sz="2200" spc="-110" dirty="0">
                <a:solidFill>
                  <a:srgbClr val="242424"/>
                </a:solidFill>
                <a:latin typeface="Arial"/>
                <a:cs typeface="Arial"/>
              </a:rPr>
              <a:t> </a:t>
            </a:r>
            <a:r>
              <a:rPr sz="2200" spc="-90" dirty="0">
                <a:solidFill>
                  <a:srgbClr val="242424"/>
                </a:solidFill>
                <a:latin typeface="Arial"/>
                <a:cs typeface="Arial"/>
              </a:rPr>
              <a:t>towards</a:t>
            </a:r>
            <a:r>
              <a:rPr sz="2200" spc="-65" dirty="0">
                <a:solidFill>
                  <a:srgbClr val="242424"/>
                </a:solidFill>
                <a:latin typeface="Arial"/>
                <a:cs typeface="Arial"/>
              </a:rPr>
              <a:t> </a:t>
            </a:r>
            <a:r>
              <a:rPr sz="2200" spc="-45" dirty="0">
                <a:solidFill>
                  <a:srgbClr val="242424"/>
                </a:solidFill>
                <a:latin typeface="Arial"/>
                <a:cs typeface="Arial"/>
              </a:rPr>
              <a:t>this</a:t>
            </a:r>
            <a:r>
              <a:rPr sz="2200" spc="-50" dirty="0">
                <a:solidFill>
                  <a:srgbClr val="242424"/>
                </a:solidFill>
                <a:latin typeface="Arial"/>
                <a:cs typeface="Arial"/>
              </a:rPr>
              <a:t> </a:t>
            </a:r>
            <a:r>
              <a:rPr sz="2200" spc="-10" dirty="0">
                <a:solidFill>
                  <a:srgbClr val="242424"/>
                </a:solidFill>
                <a:latin typeface="Arial"/>
                <a:cs typeface="Arial"/>
              </a:rPr>
              <a:t>globalminimum.</a:t>
            </a:r>
            <a:endParaRPr sz="2200">
              <a:latin typeface="Arial"/>
              <a:cs typeface="Arial"/>
            </a:endParaRPr>
          </a:p>
        </p:txBody>
      </p:sp>
      <p:sp>
        <p:nvSpPr>
          <p:cNvPr id="11" name="object 4">
            <a:extLst>
              <a:ext uri="{FF2B5EF4-FFF2-40B4-BE49-F238E27FC236}">
                <a16:creationId xmlns:a16="http://schemas.microsoft.com/office/drawing/2014/main" id="{6068105C-3BB4-124F-CDBB-DF26C34986BB}"/>
              </a:ext>
            </a:extLst>
          </p:cNvPr>
          <p:cNvSpPr txBox="1"/>
          <p:nvPr/>
        </p:nvSpPr>
        <p:spPr>
          <a:xfrm>
            <a:off x="3532187" y="1424115"/>
            <a:ext cx="4839970" cy="57404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3600" u="heavy" spc="-160" dirty="0">
                <a:uFill>
                  <a:solidFill>
                    <a:srgbClr val="000000"/>
                  </a:solidFill>
                </a:uFill>
                <a:latin typeface="Arial"/>
                <a:cs typeface="Arial"/>
              </a:rPr>
              <a:t>Explanation</a:t>
            </a:r>
            <a:r>
              <a:rPr sz="3600" u="heavy" spc="-220" dirty="0">
                <a:uFill>
                  <a:solidFill>
                    <a:srgbClr val="000000"/>
                  </a:solidFill>
                </a:uFill>
                <a:latin typeface="Arial"/>
                <a:cs typeface="Arial"/>
              </a:rPr>
              <a:t> </a:t>
            </a:r>
            <a:r>
              <a:rPr sz="3600" u="heavy" dirty="0">
                <a:uFill>
                  <a:solidFill>
                    <a:srgbClr val="000000"/>
                  </a:solidFill>
                </a:uFill>
                <a:latin typeface="Arial"/>
                <a:cs typeface="Arial"/>
              </a:rPr>
              <a:t>for</a:t>
            </a:r>
            <a:r>
              <a:rPr sz="3600" u="heavy" spc="20" dirty="0">
                <a:uFill>
                  <a:solidFill>
                    <a:srgbClr val="000000"/>
                  </a:solidFill>
                </a:uFill>
                <a:latin typeface="Arial"/>
                <a:cs typeface="Arial"/>
              </a:rPr>
              <a:t> </a:t>
            </a:r>
            <a:r>
              <a:rPr sz="3600" u="heavy" spc="-50" dirty="0">
                <a:uFill>
                  <a:solidFill>
                    <a:srgbClr val="000000"/>
                  </a:solidFill>
                </a:uFill>
                <a:latin typeface="Arial"/>
                <a:cs typeface="Arial"/>
              </a:rPr>
              <a:t>the</a:t>
            </a:r>
            <a:r>
              <a:rPr sz="3600" u="heavy" spc="-470" dirty="0">
                <a:uFill>
                  <a:solidFill>
                    <a:srgbClr val="000000"/>
                  </a:solidFill>
                </a:uFill>
                <a:latin typeface="Arial"/>
                <a:cs typeface="Arial"/>
              </a:rPr>
              <a:t> </a:t>
            </a:r>
            <a:r>
              <a:rPr sz="3600" u="heavy" spc="-120" dirty="0">
                <a:uFill>
                  <a:solidFill>
                    <a:srgbClr val="000000"/>
                  </a:solidFill>
                </a:uFill>
                <a:latin typeface="Arial"/>
                <a:cs typeface="Arial"/>
              </a:rPr>
              <a:t>graph.</a:t>
            </a:r>
            <a:endParaRPr sz="3600">
              <a:latin typeface="Arial"/>
              <a:cs typeface="Arial"/>
            </a:endParaRPr>
          </a:p>
        </p:txBody>
      </p:sp>
    </p:spTree>
    <p:extLst>
      <p:ext uri="{BB962C8B-B14F-4D97-AF65-F5344CB8AC3E}">
        <p14:creationId xmlns:p14="http://schemas.microsoft.com/office/powerpoint/2010/main" val="1925797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5D29D-0DC6-624C-0A78-EE673063AC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61827-3890-06B9-5806-F7555C3ED03E}"/>
              </a:ext>
            </a:extLst>
          </p:cNvPr>
          <p:cNvSpPr>
            <a:spLocks noGrp="1"/>
          </p:cNvSpPr>
          <p:nvPr>
            <p:ph type="title"/>
          </p:nvPr>
        </p:nvSpPr>
        <p:spPr>
          <a:xfrm>
            <a:off x="629500" y="277838"/>
            <a:ext cx="9188268" cy="1068223"/>
          </a:xfrm>
        </p:spPr>
        <p:txBody>
          <a:bodyPr/>
          <a:lstStyle/>
          <a:p>
            <a:r>
              <a:rPr lang="en-GB" sz="4400" spc="-40" dirty="0"/>
              <a:t>Mini-</a:t>
            </a:r>
            <a:r>
              <a:rPr lang="en-GB" sz="4400" dirty="0"/>
              <a:t>Batch</a:t>
            </a:r>
            <a:r>
              <a:rPr lang="en-GB" sz="4400" spc="-195" dirty="0"/>
              <a:t> </a:t>
            </a:r>
            <a:r>
              <a:rPr lang="en-GB" sz="4400" spc="-20" dirty="0"/>
              <a:t>Size in Neural Network</a:t>
            </a:r>
            <a:endParaRPr lang="en-US" dirty="0">
              <a:solidFill>
                <a:srgbClr val="942D6D"/>
              </a:solidFill>
            </a:endParaRPr>
          </a:p>
        </p:txBody>
      </p:sp>
      <p:cxnSp>
        <p:nvCxnSpPr>
          <p:cNvPr id="4" name="Straight Connector 3">
            <a:extLst>
              <a:ext uri="{FF2B5EF4-FFF2-40B4-BE49-F238E27FC236}">
                <a16:creationId xmlns:a16="http://schemas.microsoft.com/office/drawing/2014/main" id="{658A09E0-AF72-D7DE-8286-B8F3F5FC0416}"/>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B1D2C72B-7FE0-4CB6-BA2E-DBAC1BC1133B}"/>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7515C47E-5255-3DF9-C1AE-0E3799F7B08B}"/>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3" name="object 3">
            <a:extLst>
              <a:ext uri="{FF2B5EF4-FFF2-40B4-BE49-F238E27FC236}">
                <a16:creationId xmlns:a16="http://schemas.microsoft.com/office/drawing/2014/main" id="{15E1504C-97CB-2268-A5C2-42C304027666}"/>
              </a:ext>
            </a:extLst>
          </p:cNvPr>
          <p:cNvSpPr txBox="1"/>
          <p:nvPr/>
        </p:nvSpPr>
        <p:spPr>
          <a:xfrm>
            <a:off x="1132329" y="3037967"/>
            <a:ext cx="8182609" cy="2738507"/>
          </a:xfrm>
          <a:prstGeom prst="rect">
            <a:avLst/>
          </a:prstGeom>
        </p:spPr>
        <p:txBody>
          <a:bodyPr vert="horz" wrap="square" lIns="0" tIns="53340" rIns="0" bIns="0" rtlCol="0">
            <a:spAutoFit/>
          </a:bodyPr>
          <a:lstStyle>
            <a:defPPr>
              <a:defRPr kern="0"/>
            </a:defPPr>
          </a:lstStyle>
          <a:p>
            <a:pPr marL="12700" marR="988694">
              <a:lnSpc>
                <a:spcPts val="2600"/>
              </a:lnSpc>
              <a:spcBef>
                <a:spcPts val="420"/>
              </a:spcBef>
            </a:pPr>
            <a:r>
              <a:rPr sz="1600" b="1" spc="-40" dirty="0">
                <a:latin typeface="Calibri"/>
                <a:cs typeface="Calibri"/>
              </a:rPr>
              <a:t>Mini-</a:t>
            </a:r>
            <a:r>
              <a:rPr sz="1600" b="1" dirty="0">
                <a:latin typeface="Calibri"/>
                <a:cs typeface="Calibri"/>
              </a:rPr>
              <a:t>Batch</a:t>
            </a:r>
            <a:r>
              <a:rPr sz="1600" b="1" spc="-20" dirty="0">
                <a:latin typeface="Calibri"/>
                <a:cs typeface="Calibri"/>
              </a:rPr>
              <a:t> </a:t>
            </a:r>
            <a:r>
              <a:rPr sz="1600" b="1" spc="-10" dirty="0">
                <a:latin typeface="Calibri"/>
                <a:cs typeface="Calibri"/>
              </a:rPr>
              <a:t>size:</a:t>
            </a:r>
            <a:r>
              <a:rPr sz="1600" b="1" spc="-60" dirty="0">
                <a:latin typeface="Calibri"/>
                <a:cs typeface="Calibri"/>
              </a:rPr>
              <a:t> </a:t>
            </a:r>
            <a:r>
              <a:rPr sz="1600" dirty="0">
                <a:latin typeface="Calibri"/>
                <a:cs typeface="Calibri"/>
              </a:rPr>
              <a:t>Number</a:t>
            </a:r>
            <a:r>
              <a:rPr sz="1600" spc="-75" dirty="0">
                <a:latin typeface="Calibri"/>
                <a:cs typeface="Calibri"/>
              </a:rPr>
              <a:t> </a:t>
            </a:r>
            <a:r>
              <a:rPr sz="1600" dirty="0">
                <a:latin typeface="Calibri"/>
                <a:cs typeface="Calibri"/>
              </a:rPr>
              <a:t>of</a:t>
            </a:r>
            <a:r>
              <a:rPr sz="1600" spc="-95" dirty="0">
                <a:latin typeface="Calibri"/>
                <a:cs typeface="Calibri"/>
              </a:rPr>
              <a:t> </a:t>
            </a:r>
            <a:r>
              <a:rPr sz="1600" spc="-20" dirty="0">
                <a:latin typeface="Calibri"/>
                <a:cs typeface="Calibri"/>
              </a:rPr>
              <a:t>training</a:t>
            </a:r>
            <a:r>
              <a:rPr sz="1600" spc="-55" dirty="0">
                <a:latin typeface="Calibri"/>
                <a:cs typeface="Calibri"/>
              </a:rPr>
              <a:t> </a:t>
            </a:r>
            <a:r>
              <a:rPr sz="1600" spc="-20" dirty="0">
                <a:latin typeface="Calibri"/>
                <a:cs typeface="Calibri"/>
              </a:rPr>
              <a:t>instances</a:t>
            </a:r>
            <a:r>
              <a:rPr sz="1600" spc="-45" dirty="0">
                <a:latin typeface="Calibri"/>
                <a:cs typeface="Calibri"/>
              </a:rPr>
              <a:t> </a:t>
            </a:r>
            <a:r>
              <a:rPr sz="1600" dirty="0">
                <a:latin typeface="Calibri"/>
                <a:cs typeface="Calibri"/>
              </a:rPr>
              <a:t>the</a:t>
            </a:r>
            <a:r>
              <a:rPr sz="1600" spc="-80" dirty="0">
                <a:latin typeface="Calibri"/>
                <a:cs typeface="Calibri"/>
              </a:rPr>
              <a:t> </a:t>
            </a:r>
            <a:r>
              <a:rPr sz="1600" spc="-10" dirty="0">
                <a:latin typeface="Calibri"/>
                <a:cs typeface="Calibri"/>
              </a:rPr>
              <a:t>network </a:t>
            </a:r>
            <a:r>
              <a:rPr sz="1600" spc="-30" dirty="0">
                <a:latin typeface="Calibri"/>
                <a:cs typeface="Calibri"/>
              </a:rPr>
              <a:t>evaluates</a:t>
            </a:r>
            <a:r>
              <a:rPr sz="1600" spc="-35" dirty="0">
                <a:latin typeface="Calibri"/>
                <a:cs typeface="Calibri"/>
              </a:rPr>
              <a:t> </a:t>
            </a:r>
            <a:r>
              <a:rPr sz="1600" dirty="0">
                <a:latin typeface="Calibri"/>
                <a:cs typeface="Calibri"/>
              </a:rPr>
              <a:t>per</a:t>
            </a:r>
            <a:r>
              <a:rPr sz="1600" spc="-85" dirty="0">
                <a:latin typeface="Calibri"/>
                <a:cs typeface="Calibri"/>
              </a:rPr>
              <a:t> </a:t>
            </a:r>
            <a:r>
              <a:rPr sz="1600" spc="-20" dirty="0">
                <a:latin typeface="Calibri"/>
                <a:cs typeface="Calibri"/>
              </a:rPr>
              <a:t>weight</a:t>
            </a:r>
            <a:r>
              <a:rPr sz="1600" spc="-75" dirty="0">
                <a:latin typeface="Calibri"/>
                <a:cs typeface="Calibri"/>
              </a:rPr>
              <a:t> </a:t>
            </a:r>
            <a:r>
              <a:rPr sz="1600" spc="-20" dirty="0">
                <a:latin typeface="Calibri"/>
                <a:cs typeface="Calibri"/>
              </a:rPr>
              <a:t>update</a:t>
            </a:r>
            <a:r>
              <a:rPr sz="1600" spc="-55" dirty="0">
                <a:latin typeface="Calibri"/>
                <a:cs typeface="Calibri"/>
              </a:rPr>
              <a:t> </a:t>
            </a:r>
            <a:r>
              <a:rPr sz="1600" spc="-10" dirty="0">
                <a:latin typeface="Calibri"/>
                <a:cs typeface="Calibri"/>
              </a:rPr>
              <a:t>step.</a:t>
            </a:r>
            <a:endParaRPr sz="1600" dirty="0">
              <a:latin typeface="Calibri"/>
              <a:cs typeface="Calibri"/>
            </a:endParaRPr>
          </a:p>
          <a:p>
            <a:pPr marL="697865" indent="-227965">
              <a:lnSpc>
                <a:spcPct val="100000"/>
              </a:lnSpc>
              <a:spcBef>
                <a:spcPts val="300"/>
              </a:spcBef>
              <a:buFont typeface="Arial"/>
              <a:buChar char="•"/>
              <a:tabLst>
                <a:tab pos="697865" algn="l"/>
              </a:tabLst>
            </a:pPr>
            <a:r>
              <a:rPr sz="1400" spc="-10" dirty="0">
                <a:latin typeface="Calibri"/>
                <a:cs typeface="Calibri"/>
              </a:rPr>
              <a:t>Larger</a:t>
            </a:r>
            <a:r>
              <a:rPr sz="1400" spc="-105" dirty="0">
                <a:latin typeface="Calibri"/>
                <a:cs typeface="Calibri"/>
              </a:rPr>
              <a:t> </a:t>
            </a:r>
            <a:r>
              <a:rPr sz="1400" spc="-10" dirty="0">
                <a:latin typeface="Calibri"/>
                <a:cs typeface="Calibri"/>
              </a:rPr>
              <a:t>batch</a:t>
            </a:r>
            <a:r>
              <a:rPr sz="1400" spc="-40" dirty="0">
                <a:latin typeface="Calibri"/>
                <a:cs typeface="Calibri"/>
              </a:rPr>
              <a:t> </a:t>
            </a:r>
            <a:r>
              <a:rPr sz="1400" spc="-10" dirty="0">
                <a:latin typeface="Calibri"/>
                <a:cs typeface="Calibri"/>
              </a:rPr>
              <a:t>size</a:t>
            </a:r>
            <a:r>
              <a:rPr sz="1400" spc="-55" dirty="0">
                <a:latin typeface="Calibri"/>
                <a:cs typeface="Calibri"/>
              </a:rPr>
              <a:t> </a:t>
            </a:r>
            <a:r>
              <a:rPr sz="1400" dirty="0">
                <a:latin typeface="Calibri"/>
                <a:cs typeface="Calibri"/>
              </a:rPr>
              <a:t>=</a:t>
            </a:r>
            <a:r>
              <a:rPr sz="1400" spc="-30" dirty="0">
                <a:latin typeface="Calibri"/>
                <a:cs typeface="Calibri"/>
              </a:rPr>
              <a:t> </a:t>
            </a:r>
            <a:r>
              <a:rPr sz="1400" dirty="0">
                <a:latin typeface="Calibri"/>
                <a:cs typeface="Calibri"/>
              </a:rPr>
              <a:t>more</a:t>
            </a:r>
            <a:r>
              <a:rPr sz="1400" spc="-85" dirty="0">
                <a:latin typeface="Calibri"/>
                <a:cs typeface="Calibri"/>
              </a:rPr>
              <a:t> </a:t>
            </a:r>
            <a:r>
              <a:rPr sz="1400" spc="-10" dirty="0">
                <a:latin typeface="Calibri"/>
                <a:cs typeface="Calibri"/>
              </a:rPr>
              <a:t>computational</a:t>
            </a:r>
            <a:r>
              <a:rPr sz="1400" spc="-125" dirty="0">
                <a:latin typeface="Calibri"/>
                <a:cs typeface="Calibri"/>
              </a:rPr>
              <a:t> </a:t>
            </a:r>
            <a:r>
              <a:rPr sz="1400" spc="-10" dirty="0">
                <a:latin typeface="Calibri"/>
                <a:cs typeface="Calibri"/>
              </a:rPr>
              <a:t>speed</a:t>
            </a:r>
            <a:endParaRPr sz="1400" dirty="0">
              <a:latin typeface="Calibri"/>
              <a:cs typeface="Calibri"/>
            </a:endParaRPr>
          </a:p>
          <a:p>
            <a:pPr marL="697865" indent="-227965">
              <a:lnSpc>
                <a:spcPct val="100000"/>
              </a:lnSpc>
              <a:spcBef>
                <a:spcPts val="300"/>
              </a:spcBef>
              <a:buFont typeface="Arial"/>
              <a:buChar char="•"/>
              <a:tabLst>
                <a:tab pos="697865" algn="l"/>
              </a:tabLst>
            </a:pPr>
            <a:r>
              <a:rPr sz="1400" dirty="0">
                <a:latin typeface="Calibri"/>
                <a:cs typeface="Calibri"/>
              </a:rPr>
              <a:t>Smaller</a:t>
            </a:r>
            <a:r>
              <a:rPr sz="1400" spc="-50" dirty="0">
                <a:latin typeface="Calibri"/>
                <a:cs typeface="Calibri"/>
              </a:rPr>
              <a:t> </a:t>
            </a:r>
            <a:r>
              <a:rPr sz="1400" spc="-10" dirty="0">
                <a:latin typeface="Calibri"/>
                <a:cs typeface="Calibri"/>
              </a:rPr>
              <a:t>batch</a:t>
            </a:r>
            <a:r>
              <a:rPr sz="1400" spc="-50" dirty="0">
                <a:latin typeface="Calibri"/>
                <a:cs typeface="Calibri"/>
              </a:rPr>
              <a:t> </a:t>
            </a:r>
            <a:r>
              <a:rPr sz="1400" spc="-10" dirty="0">
                <a:latin typeface="Calibri"/>
                <a:cs typeface="Calibri"/>
              </a:rPr>
              <a:t>size</a:t>
            </a:r>
            <a:r>
              <a:rPr sz="1400" spc="-70" dirty="0">
                <a:latin typeface="Calibri"/>
                <a:cs typeface="Calibri"/>
              </a:rPr>
              <a:t> </a:t>
            </a:r>
            <a:r>
              <a:rPr sz="1400" dirty="0">
                <a:latin typeface="Calibri"/>
                <a:cs typeface="Calibri"/>
              </a:rPr>
              <a:t>=</a:t>
            </a:r>
            <a:r>
              <a:rPr sz="1400" spc="-55" dirty="0">
                <a:latin typeface="Calibri"/>
                <a:cs typeface="Calibri"/>
              </a:rPr>
              <a:t> </a:t>
            </a:r>
            <a:r>
              <a:rPr sz="1400" spc="-10" dirty="0">
                <a:latin typeface="Calibri"/>
                <a:cs typeface="Calibri"/>
              </a:rPr>
              <a:t>(empirically)</a:t>
            </a:r>
            <a:r>
              <a:rPr sz="1400" spc="-55" dirty="0">
                <a:latin typeface="Calibri"/>
                <a:cs typeface="Calibri"/>
              </a:rPr>
              <a:t> </a:t>
            </a:r>
            <a:r>
              <a:rPr sz="1400" spc="-10" dirty="0">
                <a:latin typeface="Calibri"/>
                <a:cs typeface="Calibri"/>
              </a:rPr>
              <a:t>better</a:t>
            </a:r>
            <a:r>
              <a:rPr sz="1400" spc="-40" dirty="0">
                <a:latin typeface="Calibri"/>
                <a:cs typeface="Calibri"/>
              </a:rPr>
              <a:t> </a:t>
            </a:r>
            <a:r>
              <a:rPr sz="1400" spc="-10" dirty="0">
                <a:latin typeface="Calibri"/>
                <a:cs typeface="Calibri"/>
              </a:rPr>
              <a:t>generalization</a:t>
            </a:r>
            <a:endParaRPr sz="1400" dirty="0">
              <a:latin typeface="Calibri"/>
              <a:cs typeface="Calibri"/>
            </a:endParaRPr>
          </a:p>
          <a:p>
            <a:pPr>
              <a:lnSpc>
                <a:spcPct val="100000"/>
              </a:lnSpc>
              <a:spcBef>
                <a:spcPts val="1680"/>
              </a:spcBef>
            </a:pPr>
            <a:endParaRPr sz="1400" dirty="0">
              <a:latin typeface="Calibri"/>
              <a:cs typeface="Calibri"/>
            </a:endParaRPr>
          </a:p>
          <a:p>
            <a:pPr marL="12700" marR="5080">
              <a:lnSpc>
                <a:spcPts val="2200"/>
              </a:lnSpc>
            </a:pPr>
            <a:r>
              <a:rPr sz="1400" spc="-20" dirty="0">
                <a:latin typeface="Calibri"/>
                <a:cs typeface="Calibri"/>
              </a:rPr>
              <a:t>“Training</a:t>
            </a:r>
            <a:r>
              <a:rPr sz="1400" spc="-35" dirty="0">
                <a:latin typeface="Calibri"/>
                <a:cs typeface="Calibri"/>
              </a:rPr>
              <a:t> </a:t>
            </a:r>
            <a:r>
              <a:rPr sz="1400" dirty="0">
                <a:latin typeface="Calibri"/>
                <a:cs typeface="Calibri"/>
              </a:rPr>
              <a:t>with</a:t>
            </a:r>
            <a:r>
              <a:rPr sz="1400" spc="-60" dirty="0">
                <a:latin typeface="Calibri"/>
                <a:cs typeface="Calibri"/>
              </a:rPr>
              <a:t> </a:t>
            </a:r>
            <a:r>
              <a:rPr sz="1400" spc="-10" dirty="0">
                <a:latin typeface="Calibri"/>
                <a:cs typeface="Calibri"/>
              </a:rPr>
              <a:t>large</a:t>
            </a:r>
            <a:r>
              <a:rPr sz="1400" spc="-15" dirty="0">
                <a:latin typeface="Calibri"/>
                <a:cs typeface="Calibri"/>
              </a:rPr>
              <a:t> </a:t>
            </a:r>
            <a:r>
              <a:rPr sz="1400" spc="-10" dirty="0">
                <a:latin typeface="Calibri"/>
                <a:cs typeface="Calibri"/>
              </a:rPr>
              <a:t>minibatches</a:t>
            </a:r>
            <a:r>
              <a:rPr sz="1400" spc="-80" dirty="0">
                <a:latin typeface="Calibri"/>
                <a:cs typeface="Calibri"/>
              </a:rPr>
              <a:t> </a:t>
            </a:r>
            <a:r>
              <a:rPr sz="1400" dirty="0">
                <a:latin typeface="Calibri"/>
                <a:cs typeface="Calibri"/>
              </a:rPr>
              <a:t>is</a:t>
            </a:r>
            <a:r>
              <a:rPr sz="1400" spc="-35" dirty="0">
                <a:latin typeface="Calibri"/>
                <a:cs typeface="Calibri"/>
              </a:rPr>
              <a:t> </a:t>
            </a:r>
            <a:r>
              <a:rPr sz="1400" dirty="0">
                <a:latin typeface="Calibri"/>
                <a:cs typeface="Calibri"/>
              </a:rPr>
              <a:t>bad</a:t>
            </a:r>
            <a:r>
              <a:rPr sz="1400" spc="-60" dirty="0">
                <a:latin typeface="Calibri"/>
                <a:cs typeface="Calibri"/>
              </a:rPr>
              <a:t> </a:t>
            </a:r>
            <a:r>
              <a:rPr sz="1400" spc="-10" dirty="0">
                <a:latin typeface="Calibri"/>
                <a:cs typeface="Calibri"/>
              </a:rPr>
              <a:t>for</a:t>
            </a:r>
            <a:r>
              <a:rPr sz="1400" spc="-70" dirty="0">
                <a:latin typeface="Calibri"/>
                <a:cs typeface="Calibri"/>
              </a:rPr>
              <a:t> </a:t>
            </a:r>
            <a:r>
              <a:rPr sz="1400" spc="-10" dirty="0">
                <a:latin typeface="Calibri"/>
                <a:cs typeface="Calibri"/>
              </a:rPr>
              <a:t>your</a:t>
            </a:r>
            <a:r>
              <a:rPr sz="1400" spc="-70" dirty="0">
                <a:latin typeface="Calibri"/>
                <a:cs typeface="Calibri"/>
              </a:rPr>
              <a:t> </a:t>
            </a:r>
            <a:r>
              <a:rPr sz="1400" dirty="0">
                <a:latin typeface="Calibri"/>
                <a:cs typeface="Calibri"/>
              </a:rPr>
              <a:t>health.</a:t>
            </a:r>
            <a:r>
              <a:rPr sz="1400" spc="-90" dirty="0">
                <a:latin typeface="Calibri"/>
                <a:cs typeface="Calibri"/>
              </a:rPr>
              <a:t> </a:t>
            </a:r>
            <a:r>
              <a:rPr sz="1400" dirty="0">
                <a:latin typeface="Calibri"/>
                <a:cs typeface="Calibri"/>
              </a:rPr>
              <a:t>More</a:t>
            </a:r>
            <a:r>
              <a:rPr sz="1400" spc="-50" dirty="0">
                <a:latin typeface="Calibri"/>
                <a:cs typeface="Calibri"/>
              </a:rPr>
              <a:t> </a:t>
            </a:r>
            <a:r>
              <a:rPr sz="1400" spc="-40" dirty="0">
                <a:latin typeface="Calibri"/>
                <a:cs typeface="Calibri"/>
              </a:rPr>
              <a:t>importantly,</a:t>
            </a:r>
            <a:r>
              <a:rPr sz="1400" spc="-70" dirty="0">
                <a:latin typeface="Calibri"/>
                <a:cs typeface="Calibri"/>
              </a:rPr>
              <a:t> </a:t>
            </a:r>
            <a:r>
              <a:rPr sz="1400" spc="-20" dirty="0">
                <a:latin typeface="Calibri"/>
                <a:cs typeface="Calibri"/>
              </a:rPr>
              <a:t>it's </a:t>
            </a:r>
            <a:r>
              <a:rPr sz="1400" dirty="0">
                <a:latin typeface="Calibri"/>
                <a:cs typeface="Calibri"/>
              </a:rPr>
              <a:t>bad</a:t>
            </a:r>
            <a:r>
              <a:rPr sz="1400" spc="-95" dirty="0">
                <a:latin typeface="Calibri"/>
                <a:cs typeface="Calibri"/>
              </a:rPr>
              <a:t> </a:t>
            </a:r>
            <a:r>
              <a:rPr sz="1400" spc="-20" dirty="0">
                <a:latin typeface="Calibri"/>
                <a:cs typeface="Calibri"/>
              </a:rPr>
              <a:t>for</a:t>
            </a:r>
            <a:r>
              <a:rPr sz="1400" spc="-85" dirty="0">
                <a:latin typeface="Calibri"/>
                <a:cs typeface="Calibri"/>
              </a:rPr>
              <a:t> </a:t>
            </a:r>
            <a:r>
              <a:rPr sz="1400" spc="-10" dirty="0">
                <a:latin typeface="Calibri"/>
                <a:cs typeface="Calibri"/>
              </a:rPr>
              <a:t>your</a:t>
            </a:r>
            <a:r>
              <a:rPr sz="1400" spc="-70" dirty="0">
                <a:latin typeface="Calibri"/>
                <a:cs typeface="Calibri"/>
              </a:rPr>
              <a:t> </a:t>
            </a:r>
            <a:r>
              <a:rPr sz="1400" dirty="0">
                <a:latin typeface="Calibri"/>
                <a:cs typeface="Calibri"/>
              </a:rPr>
              <a:t>test</a:t>
            </a:r>
            <a:r>
              <a:rPr sz="1400" spc="-10" dirty="0">
                <a:latin typeface="Calibri"/>
                <a:cs typeface="Calibri"/>
              </a:rPr>
              <a:t> </a:t>
            </a:r>
            <a:r>
              <a:rPr sz="1400" spc="-80" dirty="0">
                <a:latin typeface="Calibri"/>
                <a:cs typeface="Calibri"/>
              </a:rPr>
              <a:t>error. </a:t>
            </a:r>
            <a:r>
              <a:rPr sz="1400" dirty="0">
                <a:latin typeface="Calibri"/>
                <a:cs typeface="Calibri"/>
              </a:rPr>
              <a:t>Friends</a:t>
            </a:r>
            <a:r>
              <a:rPr sz="1400" spc="-30" dirty="0">
                <a:latin typeface="Calibri"/>
                <a:cs typeface="Calibri"/>
              </a:rPr>
              <a:t> </a:t>
            </a:r>
            <a:r>
              <a:rPr sz="1400" dirty="0">
                <a:latin typeface="Calibri"/>
                <a:cs typeface="Calibri"/>
              </a:rPr>
              <a:t>don’t</a:t>
            </a:r>
            <a:r>
              <a:rPr sz="1400" spc="-80" dirty="0">
                <a:latin typeface="Calibri"/>
                <a:cs typeface="Calibri"/>
              </a:rPr>
              <a:t> </a:t>
            </a:r>
            <a:r>
              <a:rPr sz="1400" dirty="0">
                <a:latin typeface="Calibri"/>
                <a:cs typeface="Calibri"/>
              </a:rPr>
              <a:t>let</a:t>
            </a:r>
            <a:r>
              <a:rPr sz="1400" spc="-25" dirty="0">
                <a:latin typeface="Calibri"/>
                <a:cs typeface="Calibri"/>
              </a:rPr>
              <a:t> </a:t>
            </a:r>
            <a:r>
              <a:rPr sz="1400" dirty="0">
                <a:latin typeface="Calibri"/>
                <a:cs typeface="Calibri"/>
              </a:rPr>
              <a:t>friends</a:t>
            </a:r>
            <a:r>
              <a:rPr sz="1400" spc="-65" dirty="0">
                <a:latin typeface="Calibri"/>
                <a:cs typeface="Calibri"/>
              </a:rPr>
              <a:t> </a:t>
            </a:r>
            <a:r>
              <a:rPr sz="1400" dirty="0">
                <a:latin typeface="Calibri"/>
                <a:cs typeface="Calibri"/>
              </a:rPr>
              <a:t>use</a:t>
            </a:r>
            <a:r>
              <a:rPr sz="1400" spc="-65" dirty="0">
                <a:latin typeface="Calibri"/>
                <a:cs typeface="Calibri"/>
              </a:rPr>
              <a:t> </a:t>
            </a:r>
            <a:r>
              <a:rPr sz="1400" spc="-10" dirty="0">
                <a:latin typeface="Calibri"/>
                <a:cs typeface="Calibri"/>
              </a:rPr>
              <a:t>minibatches</a:t>
            </a:r>
            <a:r>
              <a:rPr sz="1400" spc="-80" dirty="0">
                <a:latin typeface="Calibri"/>
                <a:cs typeface="Calibri"/>
              </a:rPr>
              <a:t> </a:t>
            </a:r>
            <a:r>
              <a:rPr sz="1400" spc="-10" dirty="0">
                <a:latin typeface="Calibri"/>
                <a:cs typeface="Calibri"/>
              </a:rPr>
              <a:t>larger</a:t>
            </a:r>
            <a:r>
              <a:rPr sz="1400" spc="5" dirty="0">
                <a:latin typeface="Calibri"/>
                <a:cs typeface="Calibri"/>
              </a:rPr>
              <a:t> </a:t>
            </a:r>
            <a:r>
              <a:rPr sz="1400" dirty="0">
                <a:latin typeface="Calibri"/>
                <a:cs typeface="Calibri"/>
              </a:rPr>
              <a:t>than</a:t>
            </a:r>
            <a:r>
              <a:rPr sz="1400" spc="-55" dirty="0">
                <a:latin typeface="Calibri"/>
                <a:cs typeface="Calibri"/>
              </a:rPr>
              <a:t> </a:t>
            </a:r>
            <a:r>
              <a:rPr sz="1400" spc="-20" dirty="0">
                <a:latin typeface="Calibri"/>
                <a:cs typeface="Calibri"/>
              </a:rPr>
              <a:t>32.”</a:t>
            </a:r>
            <a:endParaRPr sz="1400" dirty="0">
              <a:latin typeface="Calibri"/>
              <a:cs typeface="Calibri"/>
            </a:endParaRPr>
          </a:p>
          <a:p>
            <a:pPr marL="12700">
              <a:lnSpc>
                <a:spcPts val="1920"/>
              </a:lnSpc>
            </a:pPr>
            <a:r>
              <a:rPr sz="1400" dirty="0">
                <a:latin typeface="Calibri"/>
                <a:cs typeface="Calibri"/>
              </a:rPr>
              <a:t>-</a:t>
            </a:r>
            <a:r>
              <a:rPr sz="1400" spc="-15" dirty="0">
                <a:latin typeface="Calibri"/>
                <a:cs typeface="Calibri"/>
              </a:rPr>
              <a:t> </a:t>
            </a:r>
            <a:r>
              <a:rPr sz="1400" spc="-75" dirty="0">
                <a:latin typeface="Calibri"/>
                <a:cs typeface="Calibri"/>
              </a:rPr>
              <a:t>Yann</a:t>
            </a:r>
            <a:r>
              <a:rPr sz="1400" spc="-45" dirty="0">
                <a:latin typeface="Calibri"/>
                <a:cs typeface="Calibri"/>
              </a:rPr>
              <a:t> </a:t>
            </a:r>
            <a:r>
              <a:rPr sz="1400" spc="-10" dirty="0">
                <a:latin typeface="Calibri"/>
                <a:cs typeface="Calibri"/>
              </a:rPr>
              <a:t>LeCun</a:t>
            </a:r>
            <a:endParaRPr sz="1400" dirty="0">
              <a:latin typeface="Calibri"/>
              <a:cs typeface="Calibri"/>
            </a:endParaRPr>
          </a:p>
          <a:p>
            <a:pPr marL="12700">
              <a:lnSpc>
                <a:spcPts val="2340"/>
              </a:lnSpc>
            </a:pPr>
            <a:r>
              <a:rPr sz="1400" u="sng" spc="-10" dirty="0">
                <a:solidFill>
                  <a:srgbClr val="0462C1"/>
                </a:solidFill>
                <a:uFill>
                  <a:solidFill>
                    <a:srgbClr val="00AEEE"/>
                  </a:solidFill>
                </a:uFill>
                <a:latin typeface="Calibri"/>
                <a:cs typeface="Calibri"/>
                <a:hlinkClick r:id="rId3"/>
              </a:rPr>
              <a:t>Revisiting</a:t>
            </a:r>
            <a:r>
              <a:rPr sz="1400" u="sng" spc="-75" dirty="0">
                <a:solidFill>
                  <a:srgbClr val="0462C1"/>
                </a:solidFill>
                <a:uFill>
                  <a:solidFill>
                    <a:srgbClr val="00AEEE"/>
                  </a:solidFill>
                </a:uFill>
                <a:latin typeface="Calibri"/>
                <a:cs typeface="Calibri"/>
                <a:hlinkClick r:id="rId3"/>
              </a:rPr>
              <a:t> </a:t>
            </a:r>
            <a:r>
              <a:rPr sz="1400" u="sng" dirty="0">
                <a:solidFill>
                  <a:srgbClr val="0462C1"/>
                </a:solidFill>
                <a:uFill>
                  <a:solidFill>
                    <a:srgbClr val="00AEEE"/>
                  </a:solidFill>
                </a:uFill>
                <a:latin typeface="Calibri"/>
                <a:cs typeface="Calibri"/>
                <a:hlinkClick r:id="rId3"/>
              </a:rPr>
              <a:t>Small</a:t>
            </a:r>
            <a:r>
              <a:rPr sz="1400" u="sng" spc="-90" dirty="0">
                <a:solidFill>
                  <a:srgbClr val="0462C1"/>
                </a:solidFill>
                <a:uFill>
                  <a:solidFill>
                    <a:srgbClr val="00AEEE"/>
                  </a:solidFill>
                </a:uFill>
                <a:latin typeface="Calibri"/>
                <a:cs typeface="Calibri"/>
                <a:hlinkClick r:id="rId3"/>
              </a:rPr>
              <a:t> </a:t>
            </a:r>
            <a:r>
              <a:rPr sz="1400" u="sng" spc="-10" dirty="0">
                <a:solidFill>
                  <a:srgbClr val="0462C1"/>
                </a:solidFill>
                <a:uFill>
                  <a:solidFill>
                    <a:srgbClr val="00AEEE"/>
                  </a:solidFill>
                </a:uFill>
                <a:latin typeface="Calibri"/>
                <a:cs typeface="Calibri"/>
                <a:hlinkClick r:id="rId3"/>
              </a:rPr>
              <a:t>Batch</a:t>
            </a:r>
            <a:r>
              <a:rPr sz="1400" u="sng" spc="-55" dirty="0">
                <a:solidFill>
                  <a:srgbClr val="0462C1"/>
                </a:solidFill>
                <a:uFill>
                  <a:solidFill>
                    <a:srgbClr val="00AEEE"/>
                  </a:solidFill>
                </a:uFill>
                <a:latin typeface="Calibri"/>
                <a:cs typeface="Calibri"/>
                <a:hlinkClick r:id="rId3"/>
              </a:rPr>
              <a:t> </a:t>
            </a:r>
            <a:r>
              <a:rPr sz="1400" u="sng" spc="-40" dirty="0">
                <a:solidFill>
                  <a:srgbClr val="0462C1"/>
                </a:solidFill>
                <a:uFill>
                  <a:solidFill>
                    <a:srgbClr val="00AEEE"/>
                  </a:solidFill>
                </a:uFill>
                <a:latin typeface="Calibri"/>
                <a:cs typeface="Calibri"/>
                <a:hlinkClick r:id="rId3"/>
              </a:rPr>
              <a:t>Training</a:t>
            </a:r>
            <a:r>
              <a:rPr sz="1400" u="sng" spc="-70" dirty="0">
                <a:solidFill>
                  <a:srgbClr val="0462C1"/>
                </a:solidFill>
                <a:uFill>
                  <a:solidFill>
                    <a:srgbClr val="00AEEE"/>
                  </a:solidFill>
                </a:uFill>
                <a:latin typeface="Calibri"/>
                <a:cs typeface="Calibri"/>
                <a:hlinkClick r:id="rId3"/>
              </a:rPr>
              <a:t> </a:t>
            </a:r>
            <a:r>
              <a:rPr sz="1400" u="sng" spc="-10" dirty="0">
                <a:solidFill>
                  <a:srgbClr val="0462C1"/>
                </a:solidFill>
                <a:uFill>
                  <a:solidFill>
                    <a:srgbClr val="00AEEE"/>
                  </a:solidFill>
                </a:uFill>
                <a:latin typeface="Calibri"/>
                <a:cs typeface="Calibri"/>
                <a:hlinkClick r:id="rId3"/>
              </a:rPr>
              <a:t>for</a:t>
            </a:r>
            <a:r>
              <a:rPr sz="1400" u="sng" spc="-105" dirty="0">
                <a:solidFill>
                  <a:srgbClr val="0462C1"/>
                </a:solidFill>
                <a:uFill>
                  <a:solidFill>
                    <a:srgbClr val="00AEEE"/>
                  </a:solidFill>
                </a:uFill>
                <a:latin typeface="Calibri"/>
                <a:cs typeface="Calibri"/>
                <a:hlinkClick r:id="rId3"/>
              </a:rPr>
              <a:t> </a:t>
            </a:r>
            <a:r>
              <a:rPr sz="1400" u="sng" dirty="0">
                <a:solidFill>
                  <a:srgbClr val="0462C1"/>
                </a:solidFill>
                <a:uFill>
                  <a:solidFill>
                    <a:srgbClr val="00AEEE"/>
                  </a:solidFill>
                </a:uFill>
                <a:latin typeface="Calibri"/>
                <a:cs typeface="Calibri"/>
                <a:hlinkClick r:id="rId3"/>
              </a:rPr>
              <a:t>Deep</a:t>
            </a:r>
            <a:r>
              <a:rPr sz="1400" u="sng" spc="-110" dirty="0">
                <a:solidFill>
                  <a:srgbClr val="0462C1"/>
                </a:solidFill>
                <a:uFill>
                  <a:solidFill>
                    <a:srgbClr val="00AEEE"/>
                  </a:solidFill>
                </a:uFill>
                <a:latin typeface="Calibri"/>
                <a:cs typeface="Calibri"/>
                <a:hlinkClick r:id="rId3"/>
              </a:rPr>
              <a:t> </a:t>
            </a:r>
            <a:r>
              <a:rPr sz="1400" u="sng" spc="-10" dirty="0">
                <a:solidFill>
                  <a:srgbClr val="0462C1"/>
                </a:solidFill>
                <a:uFill>
                  <a:solidFill>
                    <a:srgbClr val="00AEEE"/>
                  </a:solidFill>
                </a:uFill>
                <a:latin typeface="Calibri"/>
                <a:cs typeface="Calibri"/>
                <a:hlinkClick r:id="rId3"/>
              </a:rPr>
              <a:t>Neural</a:t>
            </a:r>
            <a:r>
              <a:rPr sz="1400" u="sng" spc="-80" dirty="0">
                <a:solidFill>
                  <a:srgbClr val="0462C1"/>
                </a:solidFill>
                <a:uFill>
                  <a:solidFill>
                    <a:srgbClr val="00AEEE"/>
                  </a:solidFill>
                </a:uFill>
                <a:latin typeface="Calibri"/>
                <a:cs typeface="Calibri"/>
                <a:hlinkClick r:id="rId3"/>
              </a:rPr>
              <a:t> </a:t>
            </a:r>
            <a:r>
              <a:rPr sz="1400" u="sng" spc="-10" dirty="0">
                <a:solidFill>
                  <a:srgbClr val="0462C1"/>
                </a:solidFill>
                <a:uFill>
                  <a:solidFill>
                    <a:srgbClr val="00AEEE"/>
                  </a:solidFill>
                </a:uFill>
                <a:latin typeface="Calibri"/>
                <a:cs typeface="Calibri"/>
                <a:hlinkClick r:id="rId3"/>
              </a:rPr>
              <a:t>Networks</a:t>
            </a:r>
            <a:r>
              <a:rPr sz="1400" u="sng" spc="35" dirty="0">
                <a:solidFill>
                  <a:srgbClr val="0462C1"/>
                </a:solidFill>
                <a:uFill>
                  <a:solidFill>
                    <a:srgbClr val="00AEEE"/>
                  </a:solidFill>
                </a:uFill>
                <a:latin typeface="Calibri"/>
                <a:cs typeface="Calibri"/>
                <a:hlinkClick r:id="rId3"/>
              </a:rPr>
              <a:t> </a:t>
            </a:r>
            <a:r>
              <a:rPr sz="1400" spc="-10" dirty="0">
                <a:latin typeface="Calibri"/>
                <a:cs typeface="Calibri"/>
              </a:rPr>
              <a:t>(2018)</a:t>
            </a:r>
            <a:endParaRPr sz="1400" dirty="0">
              <a:latin typeface="Calibri"/>
              <a:cs typeface="Calibri"/>
            </a:endParaRPr>
          </a:p>
        </p:txBody>
      </p:sp>
      <p:pic>
        <p:nvPicPr>
          <p:cNvPr id="8" name="object 4">
            <a:extLst>
              <a:ext uri="{FF2B5EF4-FFF2-40B4-BE49-F238E27FC236}">
                <a16:creationId xmlns:a16="http://schemas.microsoft.com/office/drawing/2014/main" id="{4A1677F8-D5CA-D87D-F11A-50E14FD1B0DB}"/>
              </a:ext>
            </a:extLst>
          </p:cNvPr>
          <p:cNvPicPr/>
          <p:nvPr/>
        </p:nvPicPr>
        <p:blipFill>
          <a:blip r:embed="rId4" cstate="print"/>
          <a:stretch>
            <a:fillRect/>
          </a:stretch>
        </p:blipFill>
        <p:spPr>
          <a:xfrm>
            <a:off x="3340347" y="1209167"/>
            <a:ext cx="5628639" cy="1828800"/>
          </a:xfrm>
          <a:prstGeom prst="rect">
            <a:avLst/>
          </a:prstGeom>
        </p:spPr>
      </p:pic>
    </p:spTree>
    <p:extLst>
      <p:ext uri="{BB962C8B-B14F-4D97-AF65-F5344CB8AC3E}">
        <p14:creationId xmlns:p14="http://schemas.microsoft.com/office/powerpoint/2010/main" val="23540017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72CFC-AD4A-3371-A2B0-FEE4BA260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388B9-E02E-2510-2763-0B2E0356423E}"/>
              </a:ext>
            </a:extLst>
          </p:cNvPr>
          <p:cNvSpPr>
            <a:spLocks noGrp="1"/>
          </p:cNvSpPr>
          <p:nvPr>
            <p:ph type="title"/>
          </p:nvPr>
        </p:nvSpPr>
        <p:spPr>
          <a:xfrm>
            <a:off x="629500" y="277838"/>
            <a:ext cx="9188268" cy="1068223"/>
          </a:xfrm>
        </p:spPr>
        <p:txBody>
          <a:bodyPr/>
          <a:lstStyle/>
          <a:p>
            <a:r>
              <a:rPr lang="en-GB" sz="4400" spc="-40" dirty="0"/>
              <a:t>Summary</a:t>
            </a:r>
            <a:endParaRPr lang="en-US" dirty="0">
              <a:solidFill>
                <a:srgbClr val="942D6D"/>
              </a:solidFill>
            </a:endParaRPr>
          </a:p>
        </p:txBody>
      </p:sp>
      <p:cxnSp>
        <p:nvCxnSpPr>
          <p:cNvPr id="4" name="Straight Connector 3">
            <a:extLst>
              <a:ext uri="{FF2B5EF4-FFF2-40B4-BE49-F238E27FC236}">
                <a16:creationId xmlns:a16="http://schemas.microsoft.com/office/drawing/2014/main" id="{E543B659-5EC2-60C5-5817-2BE6A1A12834}"/>
              </a:ext>
            </a:extLst>
          </p:cNvPr>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B3D504C8-249B-5683-5DF1-FEE7C89CA04D}"/>
              </a:ext>
            </a:extLst>
          </p:cNvPr>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5DF15D56-71B0-722A-83EC-C2033871FDD4}"/>
              </a:ext>
            </a:extLst>
          </p:cNvPr>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3" name="object 3">
            <a:extLst>
              <a:ext uri="{FF2B5EF4-FFF2-40B4-BE49-F238E27FC236}">
                <a16:creationId xmlns:a16="http://schemas.microsoft.com/office/drawing/2014/main" id="{51990AD9-1188-2DC5-7DF9-E9600DC7BA18}"/>
              </a:ext>
            </a:extLst>
          </p:cNvPr>
          <p:cNvSpPr txBox="1"/>
          <p:nvPr/>
        </p:nvSpPr>
        <p:spPr>
          <a:xfrm>
            <a:off x="939823" y="3027738"/>
            <a:ext cx="8182609" cy="1371914"/>
          </a:xfrm>
          <a:prstGeom prst="rect">
            <a:avLst/>
          </a:prstGeom>
        </p:spPr>
        <p:txBody>
          <a:bodyPr vert="horz" wrap="square" lIns="0" tIns="53340" rIns="0" bIns="0" rtlCol="0">
            <a:spAutoFit/>
          </a:bodyPr>
          <a:lstStyle>
            <a:defPPr>
              <a:defRPr kern="0"/>
            </a:defPPr>
          </a:lstStyle>
          <a:p>
            <a:pPr marL="12700" marR="988694">
              <a:lnSpc>
                <a:spcPts val="2600"/>
              </a:lnSpc>
              <a:spcBef>
                <a:spcPts val="420"/>
              </a:spcBef>
            </a:pPr>
            <a:r>
              <a:rPr lang="en-GB" sz="2000" dirty="0">
                <a:latin typeface="Calibri"/>
                <a:cs typeface="Calibri"/>
              </a:rPr>
              <a:t>Deep Learning (DL) may seem intimidating at first with a lots of integration parts to understand but once individual elements of DL are mastered, DL becomes an important tool in the modern machine learning techniques.</a:t>
            </a:r>
            <a:endParaRPr sz="2000" dirty="0">
              <a:latin typeface="Calibri"/>
              <a:cs typeface="Calibri"/>
            </a:endParaRPr>
          </a:p>
        </p:txBody>
      </p:sp>
      <p:pic>
        <p:nvPicPr>
          <p:cNvPr id="7" name="Picture 6">
            <a:extLst>
              <a:ext uri="{FF2B5EF4-FFF2-40B4-BE49-F238E27FC236}">
                <a16:creationId xmlns:a16="http://schemas.microsoft.com/office/drawing/2014/main" id="{AFB37233-54C1-145E-6010-2C7A0CA14C02}"/>
              </a:ext>
            </a:extLst>
          </p:cNvPr>
          <p:cNvPicPr>
            <a:picLocks noChangeAspect="1" noChangeArrowheads="1"/>
          </p:cNvPicPr>
          <p:nvPr/>
        </p:nvPicPr>
        <p:blipFill>
          <a:blip r:embed="rId3"/>
          <a:srcRect l="9760" t="55837" r="7990" b="13930"/>
          <a:stretch/>
        </p:blipFill>
        <p:spPr bwMode="auto">
          <a:xfrm>
            <a:off x="2944884" y="1346061"/>
            <a:ext cx="6302231" cy="1299411"/>
          </a:xfrm>
          <a:prstGeom prst="rect">
            <a:avLst/>
          </a:prstGeom>
          <a:noFill/>
          <a:ln w="9525">
            <a:noFill/>
            <a:miter lim="800000"/>
            <a:headEnd/>
            <a:tailEnd/>
          </a:ln>
          <a:effectLst/>
        </p:spPr>
      </p:pic>
    </p:spTree>
    <p:extLst>
      <p:ext uri="{BB962C8B-B14F-4D97-AF65-F5344CB8AC3E}">
        <p14:creationId xmlns:p14="http://schemas.microsoft.com/office/powerpoint/2010/main" val="35912391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75ef6c9-0060-4440-9efa-3aae0a8a23a8">
      <Terms xmlns="http://schemas.microsoft.com/office/infopath/2007/PartnerControls"/>
    </lcf76f155ced4ddcb4097134ff3c332f>
    <TaxCatchAll xmlns="9d301abb-ba59-43ab-9a75-408870ab3cc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4DB369FD76D0546996D1DC1AD8E7EDB" ma:contentTypeVersion="15" ma:contentTypeDescription="Create a new document." ma:contentTypeScope="" ma:versionID="42f89f86421eea578d3a41c8eeed95be">
  <xsd:schema xmlns:xsd="http://www.w3.org/2001/XMLSchema" xmlns:xs="http://www.w3.org/2001/XMLSchema" xmlns:p="http://schemas.microsoft.com/office/2006/metadata/properties" xmlns:ns2="175ef6c9-0060-4440-9efa-3aae0a8a23a8" xmlns:ns3="9d301abb-ba59-43ab-9a75-408870ab3cc0" targetNamespace="http://schemas.microsoft.com/office/2006/metadata/properties" ma:root="true" ma:fieldsID="a6f5839cc4231ddfeadf4fcc49bc0cb9" ns2:_="" ns3:_="">
    <xsd:import namespace="175ef6c9-0060-4440-9efa-3aae0a8a23a8"/>
    <xsd:import namespace="9d301abb-ba59-43ab-9a75-408870ab3c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5ef6c9-0060-4440-9efa-3aae0a8a23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301abb-ba59-43ab-9a75-408870ab3cc0"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b33bba8-9c31-41b7-9cc8-b10a3e474c41}" ma:internalName="TaxCatchAll" ma:showField="CatchAllData" ma:web="9d301abb-ba59-43ab-9a75-408870ab3c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F3AADC-1183-4CE4-B9D6-6F8A377D9A38}">
  <ds:schemaRefs/>
</ds:datastoreItem>
</file>

<file path=customXml/itemProps2.xml><?xml version="1.0" encoding="utf-8"?>
<ds:datastoreItem xmlns:ds="http://schemas.openxmlformats.org/officeDocument/2006/customXml" ds:itemID="{D14068E2-ED65-4CFD-81D7-02A5F8571AFF}">
  <ds:schemaRefs/>
</ds:datastoreItem>
</file>

<file path=customXml/itemProps3.xml><?xml version="1.0" encoding="utf-8"?>
<ds:datastoreItem xmlns:ds="http://schemas.openxmlformats.org/officeDocument/2006/customXml" ds:itemID="{61B3FBCC-7835-4196-897F-2DC9954AC84F}">
  <ds:schemaRefs/>
</ds:datastoreItem>
</file>

<file path=docProps/app.xml><?xml version="1.0" encoding="utf-8"?>
<Properties xmlns="http://schemas.openxmlformats.org/officeDocument/2006/extended-properties" xmlns:vt="http://schemas.openxmlformats.org/officeDocument/2006/docPropsVTypes">
  <Template>Light blue-Cover</Template>
  <TotalTime>0</TotalTime>
  <Words>2286</Words>
  <Application>Microsoft Office PowerPoint</Application>
  <PresentationFormat>Widescreen</PresentationFormat>
  <Paragraphs>300</Paragraphs>
  <Slides>51</Slides>
  <Notes>43</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51</vt:i4>
      </vt:variant>
    </vt:vector>
  </HeadingPairs>
  <TitlesOfParts>
    <vt:vector size="63" baseType="lpstr">
      <vt:lpstr>Arial</vt:lpstr>
      <vt:lpstr>Calibri</vt:lpstr>
      <vt:lpstr>Cambria Math</vt:lpstr>
      <vt:lpstr>Google Sans</vt:lpstr>
      <vt:lpstr>Lucida Sans Unicode</vt:lpstr>
      <vt:lpstr>Times New Roman</vt:lpstr>
      <vt:lpstr>Wingdings</vt:lpstr>
      <vt:lpstr>Light blue-Cover</vt:lpstr>
      <vt:lpstr>Pearson slide</vt:lpstr>
      <vt:lpstr>Light blue-inside slide</vt:lpstr>
      <vt:lpstr>With picture</vt:lpstr>
      <vt:lpstr>1_Back cover</vt:lpstr>
      <vt:lpstr>Applied Machine learning</vt:lpstr>
      <vt:lpstr>Applied Machine learning </vt:lpstr>
      <vt:lpstr>Machine learning</vt:lpstr>
      <vt:lpstr>PowerPoint Presentation</vt:lpstr>
      <vt:lpstr>Learning objectives</vt:lpstr>
      <vt:lpstr>Recap - AI, ML, Dl</vt:lpstr>
      <vt:lpstr>Simplified Diagrammatic Implementation of ML </vt:lpstr>
      <vt:lpstr>Limitations of ML</vt:lpstr>
      <vt:lpstr>Deep Learning (DL) to the rescue</vt:lpstr>
      <vt:lpstr>What is Deep Learning (An example)</vt:lpstr>
      <vt:lpstr>Difference between DL and ML</vt:lpstr>
      <vt:lpstr>Deep Learning</vt:lpstr>
      <vt:lpstr>Artificial Neuron in DL</vt:lpstr>
      <vt:lpstr>Introduction to Artificial Neural Network (ANN)</vt:lpstr>
      <vt:lpstr>Deep Neural Network in DL</vt:lpstr>
      <vt:lpstr>PowerPoint Presentation</vt:lpstr>
      <vt:lpstr>In Summary - ML vs DL</vt:lpstr>
      <vt:lpstr>Simplest representation of an Artificial Neuron: Perceptron</vt:lpstr>
      <vt:lpstr>Perceptrons</vt:lpstr>
      <vt:lpstr>Perceptron Example</vt:lpstr>
      <vt:lpstr>Perceptron Example</vt:lpstr>
      <vt:lpstr>Perceptron Example</vt:lpstr>
      <vt:lpstr>Perceptron Example</vt:lpstr>
      <vt:lpstr>Perceptron Example</vt:lpstr>
      <vt:lpstr>Classroom Group Exercise</vt:lpstr>
      <vt:lpstr>Perceptron and Neural Networks</vt:lpstr>
      <vt:lpstr>Deep Learning – Multiple Layers of Neurons</vt:lpstr>
      <vt:lpstr>Types of Machine Learning</vt:lpstr>
      <vt:lpstr>Supervised Learning withNeural Networks</vt:lpstr>
      <vt:lpstr>Supervised Learning withNeural Networks</vt:lpstr>
      <vt:lpstr>Supervised Learning withNeural Networks</vt:lpstr>
      <vt:lpstr>Initialisers (Kernel and Bias)</vt:lpstr>
      <vt:lpstr>Activation Function</vt:lpstr>
      <vt:lpstr>How Neural Networks Learn: Backpropagation</vt:lpstr>
      <vt:lpstr>Feed Forward Neural Network</vt:lpstr>
      <vt:lpstr>Forward Propagation</vt:lpstr>
      <vt:lpstr>Forward Propagation</vt:lpstr>
      <vt:lpstr>Back Propagation</vt:lpstr>
      <vt:lpstr>Back Propagation</vt:lpstr>
      <vt:lpstr>Back propagation – Loss Function</vt:lpstr>
      <vt:lpstr>Loss Function - Regression</vt:lpstr>
      <vt:lpstr>Loss Function - Probabilistic</vt:lpstr>
      <vt:lpstr>Optimisers</vt:lpstr>
      <vt:lpstr>GradientDescent</vt:lpstr>
      <vt:lpstr>GradientDescent</vt:lpstr>
      <vt:lpstr>GradientDescent</vt:lpstr>
      <vt:lpstr>GradientDescent - Learning is an Optimization Problem</vt:lpstr>
      <vt:lpstr>GradientDescent - Learning is an Optimization Problem</vt:lpstr>
      <vt:lpstr>Mini-Batch Size in Neural Network</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Somdip Dey</cp:lastModifiedBy>
  <cp:revision>63</cp:revision>
  <dcterms:created xsi:type="dcterms:W3CDTF">2021-07-24T10:34:00Z</dcterms:created>
  <dcterms:modified xsi:type="dcterms:W3CDTF">2026-01-30T11:51:26Z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0x01010064DB369FD76D0546996D1DC1AD8E7EDB</vt:lpwstr>
  </property>
  <property fmtid="{D5CDD505-2E9C-101B-9397-08002B2CF9AE}" pid="3" name="MediaServiceImageTags">
    <vt:lpwstr/>
  </property>
  <property fmtid="{D5CDD505-2E9C-101B-9397-08002B2CF9AE}" pid="4" name="ICV">
    <vt:lpwstr>720910EC29544A419E49D924627F02E4_13</vt:lpwstr>
  </property>
  <property fmtid="{D5CDD505-2E9C-101B-9397-08002B2CF9AE}" pid="5" name="KSOProductBuildVer">
    <vt:lpwstr>1033-12.2.0.22549</vt:lpwstr>
  </property>
</Properties>
</file>