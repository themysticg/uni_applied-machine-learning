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4"/>
    <p:sldMasterId id="2147483738" r:id="rId5"/>
    <p:sldMasterId id="2147483742" r:id="rId6"/>
    <p:sldMasterId id="2147483749" r:id="rId7"/>
  </p:sldMasterIdLst>
  <p:notesMasterIdLst>
    <p:notesMasterId r:id="rId48"/>
  </p:notesMasterIdLst>
  <p:sldIdLst>
    <p:sldId id="261" r:id="rId8"/>
    <p:sldId id="257" r:id="rId9"/>
    <p:sldId id="265" r:id="rId10"/>
    <p:sldId id="306" r:id="rId11"/>
    <p:sldId id="311" r:id="rId12"/>
    <p:sldId id="313" r:id="rId13"/>
    <p:sldId id="337" r:id="rId14"/>
    <p:sldId id="338" r:id="rId15"/>
    <p:sldId id="339" r:id="rId16"/>
    <p:sldId id="340" r:id="rId17"/>
    <p:sldId id="341" r:id="rId18"/>
    <p:sldId id="342" r:id="rId19"/>
    <p:sldId id="343" r:id="rId20"/>
    <p:sldId id="344" r:id="rId21"/>
    <p:sldId id="346" r:id="rId22"/>
    <p:sldId id="345" r:id="rId23"/>
    <p:sldId id="336" r:id="rId24"/>
    <p:sldId id="314" r:id="rId25"/>
    <p:sldId id="321" r:id="rId26"/>
    <p:sldId id="322" r:id="rId27"/>
    <p:sldId id="323" r:id="rId28"/>
    <p:sldId id="324" r:id="rId29"/>
    <p:sldId id="325" r:id="rId30"/>
    <p:sldId id="326" r:id="rId31"/>
    <p:sldId id="327" r:id="rId32"/>
    <p:sldId id="328" r:id="rId33"/>
    <p:sldId id="329" r:id="rId34"/>
    <p:sldId id="315" r:id="rId35"/>
    <p:sldId id="316" r:id="rId36"/>
    <p:sldId id="317" r:id="rId37"/>
    <p:sldId id="318" r:id="rId38"/>
    <p:sldId id="319" r:id="rId39"/>
    <p:sldId id="320" r:id="rId40"/>
    <p:sldId id="331" r:id="rId41"/>
    <p:sldId id="312" r:id="rId42"/>
    <p:sldId id="330" r:id="rId43"/>
    <p:sldId id="332" r:id="rId44"/>
    <p:sldId id="333" r:id="rId45"/>
    <p:sldId id="335" r:id="rId46"/>
    <p:sldId id="263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arindu" initials="T" lastIdx="2" clrIdx="0">
    <p:extLst>
      <p:ext uri="{19B8F6BF-5375-455C-9EA6-DF929625EA0E}">
        <p15:presenceInfo xmlns:p15="http://schemas.microsoft.com/office/powerpoint/2012/main" userId="Tharind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6768"/>
    <a:srgbClr val="0D3E63"/>
    <a:srgbClr val="942D6D"/>
    <a:srgbClr val="232C58"/>
    <a:srgbClr val="942F6D"/>
    <a:srgbClr val="6FC8F0"/>
    <a:srgbClr val="B0E1F7"/>
    <a:srgbClr val="71C5E8"/>
    <a:srgbClr val="093E62"/>
    <a:srgbClr val="1665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86895" autoAdjust="0"/>
  </p:normalViewPr>
  <p:slideViewPr>
    <p:cSldViewPr snapToGrid="0">
      <p:cViewPr varScale="1">
        <p:scale>
          <a:sx n="28" d="100"/>
          <a:sy n="28" d="100"/>
        </p:scale>
        <p:origin x="1120" y="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commentAuthors" Target="comment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083436-33F3-2547-9F6F-1E5EAC8F1F4F}" type="doc">
      <dgm:prSet loTypeId="urn:microsoft.com/office/officeart/2008/layout/AlternatingHexagons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3BB5DF66-EEBB-2E46-9656-42D9591B8E5D}">
      <dgm:prSet phldrT="[Text]" custT="1"/>
      <dgm:spPr/>
      <dgm:t>
        <a:bodyPr/>
        <a:lstStyle/>
        <a:p>
          <a:r>
            <a:rPr lang="en-GB" sz="1800" dirty="0"/>
            <a:t>Numerical</a:t>
          </a:r>
        </a:p>
      </dgm:t>
    </dgm:pt>
    <dgm:pt modelId="{998D5E60-4F8F-124F-A135-C66D410AC038}" type="parTrans" cxnId="{C3861286-51E6-9843-AF5C-ECB5BCD72023}">
      <dgm:prSet/>
      <dgm:spPr/>
      <dgm:t>
        <a:bodyPr/>
        <a:lstStyle/>
        <a:p>
          <a:endParaRPr lang="en-GB"/>
        </a:p>
      </dgm:t>
    </dgm:pt>
    <dgm:pt modelId="{AFC4F0A0-148E-184E-88DC-D6689FB938F8}" type="sibTrans" cxnId="{C3861286-51E6-9843-AF5C-ECB5BCD72023}">
      <dgm:prSet/>
      <dgm:spPr/>
      <dgm:t>
        <a:bodyPr/>
        <a:lstStyle/>
        <a:p>
          <a:endParaRPr lang="en-GB"/>
        </a:p>
      </dgm:t>
    </dgm:pt>
    <dgm:pt modelId="{48675225-F4D4-774E-806B-CCDD1A2B6F49}">
      <dgm:prSet phldrT="[Text]"/>
      <dgm:spPr/>
      <dgm:t>
        <a:bodyPr/>
        <a:lstStyle/>
        <a:p>
          <a:r>
            <a:rPr lang="en-GB" dirty="0"/>
            <a:t>Categorical</a:t>
          </a:r>
        </a:p>
      </dgm:t>
    </dgm:pt>
    <dgm:pt modelId="{35F9BB6E-D0D7-6646-8C70-791D6E10928E}" type="parTrans" cxnId="{1FF73F14-8D6D-314A-AE28-2B9796D1EA75}">
      <dgm:prSet/>
      <dgm:spPr/>
      <dgm:t>
        <a:bodyPr/>
        <a:lstStyle/>
        <a:p>
          <a:endParaRPr lang="en-GB"/>
        </a:p>
      </dgm:t>
    </dgm:pt>
    <dgm:pt modelId="{664DBA59-95C4-1649-9C9D-D04918AA41AE}" type="sibTrans" cxnId="{1FF73F14-8D6D-314A-AE28-2B9796D1EA75}">
      <dgm:prSet/>
      <dgm:spPr/>
      <dgm:t>
        <a:bodyPr/>
        <a:lstStyle/>
        <a:p>
          <a:endParaRPr lang="en-GB"/>
        </a:p>
      </dgm:t>
    </dgm:pt>
    <dgm:pt modelId="{939B99DC-410B-6F45-A34A-F2B5ECF1C710}">
      <dgm:prSet phldrT="[Text]"/>
      <dgm:spPr/>
      <dgm:t>
        <a:bodyPr/>
        <a:lstStyle/>
        <a:p>
          <a:r>
            <a:rPr lang="en-GB" dirty="0"/>
            <a:t>Ordinal</a:t>
          </a:r>
        </a:p>
      </dgm:t>
    </dgm:pt>
    <dgm:pt modelId="{4F67DB8A-A29E-9648-BE36-F6172B6A280E}" type="parTrans" cxnId="{3636EE2E-F75F-424A-B7B3-9324B76364E8}">
      <dgm:prSet/>
      <dgm:spPr/>
      <dgm:t>
        <a:bodyPr/>
        <a:lstStyle/>
        <a:p>
          <a:endParaRPr lang="en-GB"/>
        </a:p>
      </dgm:t>
    </dgm:pt>
    <dgm:pt modelId="{63662C0D-B1C4-1D47-B75C-53728840BF4E}" type="sibTrans" cxnId="{3636EE2E-F75F-424A-B7B3-9324B76364E8}">
      <dgm:prSet/>
      <dgm:spPr/>
      <dgm:t>
        <a:bodyPr/>
        <a:lstStyle/>
        <a:p>
          <a:endParaRPr lang="en-GB"/>
        </a:p>
      </dgm:t>
    </dgm:pt>
    <dgm:pt modelId="{C8EC1A74-54F9-7843-A62D-2E0C4FBEF1EE}" type="pres">
      <dgm:prSet presAssocID="{D5083436-33F3-2547-9F6F-1E5EAC8F1F4F}" presName="Name0" presStyleCnt="0">
        <dgm:presLayoutVars>
          <dgm:chMax/>
          <dgm:chPref/>
          <dgm:dir/>
          <dgm:animLvl val="lvl"/>
        </dgm:presLayoutVars>
      </dgm:prSet>
      <dgm:spPr/>
    </dgm:pt>
    <dgm:pt modelId="{485949E4-F26B-BA45-8470-9DF28A24E935}" type="pres">
      <dgm:prSet presAssocID="{3BB5DF66-EEBB-2E46-9656-42D9591B8E5D}" presName="composite" presStyleCnt="0"/>
      <dgm:spPr/>
    </dgm:pt>
    <dgm:pt modelId="{AC15E908-F51F-C94C-B6E9-81D01F31C8FC}" type="pres">
      <dgm:prSet presAssocID="{3BB5DF66-EEBB-2E46-9656-42D9591B8E5D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AE27CC5B-0024-E04E-9499-0F786B5C10EC}" type="pres">
      <dgm:prSet presAssocID="{3BB5DF66-EEBB-2E46-9656-42D9591B8E5D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FC2093C1-2942-4944-B77C-18A231586D5E}" type="pres">
      <dgm:prSet presAssocID="{3BB5DF66-EEBB-2E46-9656-42D9591B8E5D}" presName="BalanceSpacing" presStyleCnt="0"/>
      <dgm:spPr/>
    </dgm:pt>
    <dgm:pt modelId="{814DF83D-7571-0247-98DA-E82CD54EAC38}" type="pres">
      <dgm:prSet presAssocID="{3BB5DF66-EEBB-2E46-9656-42D9591B8E5D}" presName="BalanceSpacing1" presStyleCnt="0"/>
      <dgm:spPr/>
    </dgm:pt>
    <dgm:pt modelId="{66047157-BCC8-0243-A390-BC73913DE20E}" type="pres">
      <dgm:prSet presAssocID="{AFC4F0A0-148E-184E-88DC-D6689FB938F8}" presName="Accent1Text" presStyleLbl="node1" presStyleIdx="1" presStyleCnt="6"/>
      <dgm:spPr/>
    </dgm:pt>
    <dgm:pt modelId="{4BAEEA3D-78CA-2144-9A83-795D5A574C50}" type="pres">
      <dgm:prSet presAssocID="{AFC4F0A0-148E-184E-88DC-D6689FB938F8}" presName="spaceBetweenRectangles" presStyleCnt="0"/>
      <dgm:spPr/>
    </dgm:pt>
    <dgm:pt modelId="{A529CB8E-FBD2-C249-8C5B-5DCA9399AAA0}" type="pres">
      <dgm:prSet presAssocID="{48675225-F4D4-774E-806B-CCDD1A2B6F49}" presName="composite" presStyleCnt="0"/>
      <dgm:spPr/>
    </dgm:pt>
    <dgm:pt modelId="{DEED03A4-03D2-E149-938A-4A86541247C2}" type="pres">
      <dgm:prSet presAssocID="{48675225-F4D4-774E-806B-CCDD1A2B6F49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0F95DF7B-92D8-F843-A24F-249669AFFBC4}" type="pres">
      <dgm:prSet presAssocID="{48675225-F4D4-774E-806B-CCDD1A2B6F49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C81E2085-3E92-904D-9D09-D712DE192EA0}" type="pres">
      <dgm:prSet presAssocID="{48675225-F4D4-774E-806B-CCDD1A2B6F49}" presName="BalanceSpacing" presStyleCnt="0"/>
      <dgm:spPr/>
    </dgm:pt>
    <dgm:pt modelId="{DA0889EC-DFB9-CA4B-95DF-338E82103A18}" type="pres">
      <dgm:prSet presAssocID="{48675225-F4D4-774E-806B-CCDD1A2B6F49}" presName="BalanceSpacing1" presStyleCnt="0"/>
      <dgm:spPr/>
    </dgm:pt>
    <dgm:pt modelId="{297DDFB9-709A-284D-8F08-AC06AD6893E5}" type="pres">
      <dgm:prSet presAssocID="{664DBA59-95C4-1649-9C9D-D04918AA41AE}" presName="Accent1Text" presStyleLbl="node1" presStyleIdx="3" presStyleCnt="6" custLinFactNeighborX="-6343" custLinFactNeighborY="0"/>
      <dgm:spPr/>
    </dgm:pt>
    <dgm:pt modelId="{685487C4-68E5-F64A-82A0-15FE6C9B87C6}" type="pres">
      <dgm:prSet presAssocID="{664DBA59-95C4-1649-9C9D-D04918AA41AE}" presName="spaceBetweenRectangles" presStyleCnt="0"/>
      <dgm:spPr/>
    </dgm:pt>
    <dgm:pt modelId="{D82DA1ED-1CF1-194C-B79F-38E1208C470F}" type="pres">
      <dgm:prSet presAssocID="{939B99DC-410B-6F45-A34A-F2B5ECF1C710}" presName="composite" presStyleCnt="0"/>
      <dgm:spPr/>
    </dgm:pt>
    <dgm:pt modelId="{CC4468C1-3EED-F04C-9704-61B5DE14C359}" type="pres">
      <dgm:prSet presAssocID="{939B99DC-410B-6F45-A34A-F2B5ECF1C710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323D4F33-77B1-6C42-AA05-C126AA8D2440}" type="pres">
      <dgm:prSet presAssocID="{939B99DC-410B-6F45-A34A-F2B5ECF1C710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1DDCB897-6E65-794B-879C-520DC78AFAC3}" type="pres">
      <dgm:prSet presAssocID="{939B99DC-410B-6F45-A34A-F2B5ECF1C710}" presName="BalanceSpacing" presStyleCnt="0"/>
      <dgm:spPr/>
    </dgm:pt>
    <dgm:pt modelId="{3FD6EEB7-E70C-DB40-A66F-11BE1C4B914C}" type="pres">
      <dgm:prSet presAssocID="{939B99DC-410B-6F45-A34A-F2B5ECF1C710}" presName="BalanceSpacing1" presStyleCnt="0"/>
      <dgm:spPr/>
    </dgm:pt>
    <dgm:pt modelId="{7D2B51E0-ECBB-D942-B4E8-7A422829FCB6}" type="pres">
      <dgm:prSet presAssocID="{63662C0D-B1C4-1D47-B75C-53728840BF4E}" presName="Accent1Text" presStyleLbl="node1" presStyleIdx="5" presStyleCnt="6"/>
      <dgm:spPr/>
    </dgm:pt>
  </dgm:ptLst>
  <dgm:cxnLst>
    <dgm:cxn modelId="{B06FA800-056E-1348-B7C1-5CDF1367BF4A}" type="presOf" srcId="{3BB5DF66-EEBB-2E46-9656-42D9591B8E5D}" destId="{AC15E908-F51F-C94C-B6E9-81D01F31C8FC}" srcOrd="0" destOrd="0" presId="urn:microsoft.com/office/officeart/2008/layout/AlternatingHexagons"/>
    <dgm:cxn modelId="{1FF73F14-8D6D-314A-AE28-2B9796D1EA75}" srcId="{D5083436-33F3-2547-9F6F-1E5EAC8F1F4F}" destId="{48675225-F4D4-774E-806B-CCDD1A2B6F49}" srcOrd="1" destOrd="0" parTransId="{35F9BB6E-D0D7-6646-8C70-791D6E10928E}" sibTransId="{664DBA59-95C4-1649-9C9D-D04918AA41AE}"/>
    <dgm:cxn modelId="{3636EE2E-F75F-424A-B7B3-9324B76364E8}" srcId="{D5083436-33F3-2547-9F6F-1E5EAC8F1F4F}" destId="{939B99DC-410B-6F45-A34A-F2B5ECF1C710}" srcOrd="2" destOrd="0" parTransId="{4F67DB8A-A29E-9648-BE36-F6172B6A280E}" sibTransId="{63662C0D-B1C4-1D47-B75C-53728840BF4E}"/>
    <dgm:cxn modelId="{7FC0ED5D-E8E0-2341-AD29-7AD2CBFEAB38}" type="presOf" srcId="{939B99DC-410B-6F45-A34A-F2B5ECF1C710}" destId="{CC4468C1-3EED-F04C-9704-61B5DE14C359}" srcOrd="0" destOrd="0" presId="urn:microsoft.com/office/officeart/2008/layout/AlternatingHexagons"/>
    <dgm:cxn modelId="{C3861286-51E6-9843-AF5C-ECB5BCD72023}" srcId="{D5083436-33F3-2547-9F6F-1E5EAC8F1F4F}" destId="{3BB5DF66-EEBB-2E46-9656-42D9591B8E5D}" srcOrd="0" destOrd="0" parTransId="{998D5E60-4F8F-124F-A135-C66D410AC038}" sibTransId="{AFC4F0A0-148E-184E-88DC-D6689FB938F8}"/>
    <dgm:cxn modelId="{DE93F990-DA71-1F4E-9C54-37F4696139E4}" type="presOf" srcId="{63662C0D-B1C4-1D47-B75C-53728840BF4E}" destId="{7D2B51E0-ECBB-D942-B4E8-7A422829FCB6}" srcOrd="0" destOrd="0" presId="urn:microsoft.com/office/officeart/2008/layout/AlternatingHexagons"/>
    <dgm:cxn modelId="{1AAC29A1-44E9-B047-8733-AF0613CC44AF}" type="presOf" srcId="{D5083436-33F3-2547-9F6F-1E5EAC8F1F4F}" destId="{C8EC1A74-54F9-7843-A62D-2E0C4FBEF1EE}" srcOrd="0" destOrd="0" presId="urn:microsoft.com/office/officeart/2008/layout/AlternatingHexagons"/>
    <dgm:cxn modelId="{F5B14DDE-E616-A44D-B478-9D715EA08F97}" type="presOf" srcId="{664DBA59-95C4-1649-9C9D-D04918AA41AE}" destId="{297DDFB9-709A-284D-8F08-AC06AD6893E5}" srcOrd="0" destOrd="0" presId="urn:microsoft.com/office/officeart/2008/layout/AlternatingHexagons"/>
    <dgm:cxn modelId="{3612DEF8-F17E-3F4B-976D-96F8FB465D49}" type="presOf" srcId="{AFC4F0A0-148E-184E-88DC-D6689FB938F8}" destId="{66047157-BCC8-0243-A390-BC73913DE20E}" srcOrd="0" destOrd="0" presId="urn:microsoft.com/office/officeart/2008/layout/AlternatingHexagons"/>
    <dgm:cxn modelId="{019653FC-7F87-8747-8706-F2F4845130E1}" type="presOf" srcId="{48675225-F4D4-774E-806B-CCDD1A2B6F49}" destId="{DEED03A4-03D2-E149-938A-4A86541247C2}" srcOrd="0" destOrd="0" presId="urn:microsoft.com/office/officeart/2008/layout/AlternatingHexagons"/>
    <dgm:cxn modelId="{7A456A02-2DA0-D841-A200-A0E1F8BA9CAD}" type="presParOf" srcId="{C8EC1A74-54F9-7843-A62D-2E0C4FBEF1EE}" destId="{485949E4-F26B-BA45-8470-9DF28A24E935}" srcOrd="0" destOrd="0" presId="urn:microsoft.com/office/officeart/2008/layout/AlternatingHexagons"/>
    <dgm:cxn modelId="{CA210E91-0F62-1C4B-AB5E-58698C92B65B}" type="presParOf" srcId="{485949E4-F26B-BA45-8470-9DF28A24E935}" destId="{AC15E908-F51F-C94C-B6E9-81D01F31C8FC}" srcOrd="0" destOrd="0" presId="urn:microsoft.com/office/officeart/2008/layout/AlternatingHexagons"/>
    <dgm:cxn modelId="{C58C49B4-E521-5B47-B64B-563D22871309}" type="presParOf" srcId="{485949E4-F26B-BA45-8470-9DF28A24E935}" destId="{AE27CC5B-0024-E04E-9499-0F786B5C10EC}" srcOrd="1" destOrd="0" presId="urn:microsoft.com/office/officeart/2008/layout/AlternatingHexagons"/>
    <dgm:cxn modelId="{F793E216-2180-3441-90DE-5F7CBE36C222}" type="presParOf" srcId="{485949E4-F26B-BA45-8470-9DF28A24E935}" destId="{FC2093C1-2942-4944-B77C-18A231586D5E}" srcOrd="2" destOrd="0" presId="urn:microsoft.com/office/officeart/2008/layout/AlternatingHexagons"/>
    <dgm:cxn modelId="{466D8E09-1912-6843-A4FA-7B0204A5AD37}" type="presParOf" srcId="{485949E4-F26B-BA45-8470-9DF28A24E935}" destId="{814DF83D-7571-0247-98DA-E82CD54EAC38}" srcOrd="3" destOrd="0" presId="urn:microsoft.com/office/officeart/2008/layout/AlternatingHexagons"/>
    <dgm:cxn modelId="{451B2DFF-F194-2F4B-9FBA-4B7BE0BAB5DC}" type="presParOf" srcId="{485949E4-F26B-BA45-8470-9DF28A24E935}" destId="{66047157-BCC8-0243-A390-BC73913DE20E}" srcOrd="4" destOrd="0" presId="urn:microsoft.com/office/officeart/2008/layout/AlternatingHexagons"/>
    <dgm:cxn modelId="{8854B41D-BFB6-A548-B77F-CF44D3C29784}" type="presParOf" srcId="{C8EC1A74-54F9-7843-A62D-2E0C4FBEF1EE}" destId="{4BAEEA3D-78CA-2144-9A83-795D5A574C50}" srcOrd="1" destOrd="0" presId="urn:microsoft.com/office/officeart/2008/layout/AlternatingHexagons"/>
    <dgm:cxn modelId="{814EAE27-0394-B04D-AA7D-ED942F7D2FFC}" type="presParOf" srcId="{C8EC1A74-54F9-7843-A62D-2E0C4FBEF1EE}" destId="{A529CB8E-FBD2-C249-8C5B-5DCA9399AAA0}" srcOrd="2" destOrd="0" presId="urn:microsoft.com/office/officeart/2008/layout/AlternatingHexagons"/>
    <dgm:cxn modelId="{85129490-CDFB-C84F-8577-97823D9A0F61}" type="presParOf" srcId="{A529CB8E-FBD2-C249-8C5B-5DCA9399AAA0}" destId="{DEED03A4-03D2-E149-938A-4A86541247C2}" srcOrd="0" destOrd="0" presId="urn:microsoft.com/office/officeart/2008/layout/AlternatingHexagons"/>
    <dgm:cxn modelId="{5907AA71-F589-6B4F-802C-C7732E8314A0}" type="presParOf" srcId="{A529CB8E-FBD2-C249-8C5B-5DCA9399AAA0}" destId="{0F95DF7B-92D8-F843-A24F-249669AFFBC4}" srcOrd="1" destOrd="0" presId="urn:microsoft.com/office/officeart/2008/layout/AlternatingHexagons"/>
    <dgm:cxn modelId="{8862D22F-8A21-C840-8FEA-064725406719}" type="presParOf" srcId="{A529CB8E-FBD2-C249-8C5B-5DCA9399AAA0}" destId="{C81E2085-3E92-904D-9D09-D712DE192EA0}" srcOrd="2" destOrd="0" presId="urn:microsoft.com/office/officeart/2008/layout/AlternatingHexagons"/>
    <dgm:cxn modelId="{5A2D9579-534A-A647-A738-A65085462030}" type="presParOf" srcId="{A529CB8E-FBD2-C249-8C5B-5DCA9399AAA0}" destId="{DA0889EC-DFB9-CA4B-95DF-338E82103A18}" srcOrd="3" destOrd="0" presId="urn:microsoft.com/office/officeart/2008/layout/AlternatingHexagons"/>
    <dgm:cxn modelId="{F7548914-2D58-F145-AE55-4EF9B593AE3C}" type="presParOf" srcId="{A529CB8E-FBD2-C249-8C5B-5DCA9399AAA0}" destId="{297DDFB9-709A-284D-8F08-AC06AD6893E5}" srcOrd="4" destOrd="0" presId="urn:microsoft.com/office/officeart/2008/layout/AlternatingHexagons"/>
    <dgm:cxn modelId="{63919D07-F260-1342-8AE8-BEDB6E3E2519}" type="presParOf" srcId="{C8EC1A74-54F9-7843-A62D-2E0C4FBEF1EE}" destId="{685487C4-68E5-F64A-82A0-15FE6C9B87C6}" srcOrd="3" destOrd="0" presId="urn:microsoft.com/office/officeart/2008/layout/AlternatingHexagons"/>
    <dgm:cxn modelId="{DDE1E76A-A6A0-2A45-8490-6A9242AA0160}" type="presParOf" srcId="{C8EC1A74-54F9-7843-A62D-2E0C4FBEF1EE}" destId="{D82DA1ED-1CF1-194C-B79F-38E1208C470F}" srcOrd="4" destOrd="0" presId="urn:microsoft.com/office/officeart/2008/layout/AlternatingHexagons"/>
    <dgm:cxn modelId="{F2148FA7-561B-4B43-B9EF-8AF691DD191F}" type="presParOf" srcId="{D82DA1ED-1CF1-194C-B79F-38E1208C470F}" destId="{CC4468C1-3EED-F04C-9704-61B5DE14C359}" srcOrd="0" destOrd="0" presId="urn:microsoft.com/office/officeart/2008/layout/AlternatingHexagons"/>
    <dgm:cxn modelId="{9887CD62-7776-2042-BE60-00EC9A397FF0}" type="presParOf" srcId="{D82DA1ED-1CF1-194C-B79F-38E1208C470F}" destId="{323D4F33-77B1-6C42-AA05-C126AA8D2440}" srcOrd="1" destOrd="0" presId="urn:microsoft.com/office/officeart/2008/layout/AlternatingHexagons"/>
    <dgm:cxn modelId="{EC0F3DEF-78BE-C44A-97C6-B35BAA8D3E7C}" type="presParOf" srcId="{D82DA1ED-1CF1-194C-B79F-38E1208C470F}" destId="{1DDCB897-6E65-794B-879C-520DC78AFAC3}" srcOrd="2" destOrd="0" presId="urn:microsoft.com/office/officeart/2008/layout/AlternatingHexagons"/>
    <dgm:cxn modelId="{57546C5C-692B-AC44-A424-CA94C69E8813}" type="presParOf" srcId="{D82DA1ED-1CF1-194C-B79F-38E1208C470F}" destId="{3FD6EEB7-E70C-DB40-A66F-11BE1C4B914C}" srcOrd="3" destOrd="0" presId="urn:microsoft.com/office/officeart/2008/layout/AlternatingHexagons"/>
    <dgm:cxn modelId="{779321AD-ED05-CC46-9B83-E5084286F87E}" type="presParOf" srcId="{D82DA1ED-1CF1-194C-B79F-38E1208C470F}" destId="{7D2B51E0-ECBB-D942-B4E8-7A422829FCB6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15E908-F51F-C94C-B6E9-81D01F31C8FC}">
      <dsp:nvSpPr>
        <dsp:cNvPr id="0" name=""/>
        <dsp:cNvSpPr/>
      </dsp:nvSpPr>
      <dsp:spPr>
        <a:xfrm rot="5400000">
          <a:off x="3506806" y="130656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Numerical</a:t>
          </a:r>
        </a:p>
      </dsp:txBody>
      <dsp:txXfrm rot="-5400000">
        <a:off x="3909687" y="313106"/>
        <a:ext cx="1202866" cy="1382606"/>
      </dsp:txXfrm>
    </dsp:sp>
    <dsp:sp modelId="{AE27CC5B-0024-E04E-9499-0F786B5C10EC}">
      <dsp:nvSpPr>
        <dsp:cNvPr id="0" name=""/>
        <dsp:cNvSpPr/>
      </dsp:nvSpPr>
      <dsp:spPr>
        <a:xfrm>
          <a:off x="5437901" y="401821"/>
          <a:ext cx="2241629" cy="1205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047157-BCC8-0243-A390-BC73913DE20E}">
      <dsp:nvSpPr>
        <dsp:cNvPr id="0" name=""/>
        <dsp:cNvSpPr/>
      </dsp:nvSpPr>
      <dsp:spPr>
        <a:xfrm rot="5400000">
          <a:off x="1619499" y="130656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3600" kern="1200"/>
        </a:p>
      </dsp:txBody>
      <dsp:txXfrm rot="-5400000">
        <a:off x="2022380" y="313106"/>
        <a:ext cx="1202866" cy="1382606"/>
      </dsp:txXfrm>
    </dsp:sp>
    <dsp:sp modelId="{DEED03A4-03D2-E149-938A-4A86541247C2}">
      <dsp:nvSpPr>
        <dsp:cNvPr id="0" name=""/>
        <dsp:cNvSpPr/>
      </dsp:nvSpPr>
      <dsp:spPr>
        <a:xfrm rot="5400000">
          <a:off x="2559537" y="1835580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Categorical</a:t>
          </a:r>
        </a:p>
      </dsp:txBody>
      <dsp:txXfrm rot="-5400000">
        <a:off x="2962418" y="2018030"/>
        <a:ext cx="1202866" cy="1382606"/>
      </dsp:txXfrm>
    </dsp:sp>
    <dsp:sp modelId="{0F95DF7B-92D8-F843-A24F-249669AFFBC4}">
      <dsp:nvSpPr>
        <dsp:cNvPr id="0" name=""/>
        <dsp:cNvSpPr/>
      </dsp:nvSpPr>
      <dsp:spPr>
        <a:xfrm>
          <a:off x="448468" y="2106744"/>
          <a:ext cx="2169318" cy="1205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7DDFB9-709A-284D-8F08-AC06AD6893E5}">
      <dsp:nvSpPr>
        <dsp:cNvPr id="0" name=""/>
        <dsp:cNvSpPr/>
      </dsp:nvSpPr>
      <dsp:spPr>
        <a:xfrm rot="5400000">
          <a:off x="4336000" y="1835580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3600" kern="1200"/>
        </a:p>
      </dsp:txBody>
      <dsp:txXfrm rot="-5400000">
        <a:off x="4738881" y="2018030"/>
        <a:ext cx="1202866" cy="1382606"/>
      </dsp:txXfrm>
    </dsp:sp>
    <dsp:sp modelId="{CC4468C1-3EED-F04C-9704-61B5DE14C359}">
      <dsp:nvSpPr>
        <dsp:cNvPr id="0" name=""/>
        <dsp:cNvSpPr/>
      </dsp:nvSpPr>
      <dsp:spPr>
        <a:xfrm rot="5400000">
          <a:off x="3506806" y="3540503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Ordinal</a:t>
          </a:r>
        </a:p>
      </dsp:txBody>
      <dsp:txXfrm rot="-5400000">
        <a:off x="3909687" y="3722953"/>
        <a:ext cx="1202866" cy="1382606"/>
      </dsp:txXfrm>
    </dsp:sp>
    <dsp:sp modelId="{323D4F33-77B1-6C42-AA05-C126AA8D2440}">
      <dsp:nvSpPr>
        <dsp:cNvPr id="0" name=""/>
        <dsp:cNvSpPr/>
      </dsp:nvSpPr>
      <dsp:spPr>
        <a:xfrm>
          <a:off x="5437901" y="3811668"/>
          <a:ext cx="2241629" cy="1205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2B51E0-ECBB-D942-B4E8-7A422829FCB6}">
      <dsp:nvSpPr>
        <dsp:cNvPr id="0" name=""/>
        <dsp:cNvSpPr/>
      </dsp:nvSpPr>
      <dsp:spPr>
        <a:xfrm rot="5400000">
          <a:off x="1619499" y="3540503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3600" kern="1200"/>
        </a:p>
      </dsp:txBody>
      <dsp:txXfrm rot="-5400000">
        <a:off x="2022380" y="3722953"/>
        <a:ext cx="1202866" cy="13826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18DF-9495-47FB-843C-0D1FCB3E09C9}" type="datetimeFigureOut">
              <a:rPr lang="en-US" smtClean="0"/>
              <a:t>1/30/2026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ACCC11-19A3-4E27-AB70-5FB3E1779C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254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759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1786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C26B8-0E55-EB2D-A386-9B200C2F8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34AED0-DCCD-9DE9-D2F1-AE3269B086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3D360E-D50F-4827-5805-BEE3E26FAC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76E6A-2F1A-AC43-5839-2F1182ADF0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45457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C5F42-4370-DE35-3F48-F711138F9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561441-3000-4DF0-AFFD-B27A547292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196C3C-591B-077D-9418-688ECCEBB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EFB5DD-6572-A2D2-FA9A-2742F69A90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8978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036EC-C9C0-90D6-1233-DC4EBB05F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B80E90-CD33-EEFA-B349-C98A7915B0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BAFAA7-F553-191F-508A-101ADE57F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66CDF9-D796-832D-0D3C-6FEFF3388A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3567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AAF2D-F48E-AC8A-00B6-5CBDEED44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53189F-81D1-125A-11AC-C6E1D5FECB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E972C4-A683-2000-8FA0-59550E6B1A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1E3DD-7102-1B6D-51A3-E2008E157A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46508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DF35D-7D53-5F36-AC69-2BFAC265F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D91477-7B98-6228-7E94-E2AA9E10BD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4137DC-099C-EB4B-1D38-20FDEDD7E4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E29AD5-3878-5334-7EAF-8A313974FC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169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76A8F-DAA4-0320-A298-B187EF761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4D0527-C224-E11A-B132-3EBEAFDDC1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8D9B84-3AFD-A52B-F734-9589D09102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F057C-E3BE-6889-28D1-9AC595E412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6426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A086A-5FDE-29EA-24DB-33FFF52B6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545329-CBC2-1E3F-1AB1-A800FF51D4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5A4DE8-D69D-4E1B-4F4E-93A4BAF59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9A7CB2-45DA-7660-E7C2-07BC982600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6116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8A384-D99A-1008-4A7D-F3B4EA24E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DE0D1C-AA79-A2C3-077D-8A9FE5BAD1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5F73A8-AFC6-5172-073F-AA4A7F0805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94CB4-A78A-FE9F-9400-BFB1A4B750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6980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94484-AFD8-A09D-1779-22A544D95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E71281-36A4-9B55-CDE1-AA66E7A296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BCAD11-4419-B536-2666-FE6ADB0B84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C996A-E2E2-908C-5850-58957B7FBD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839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EF8AC-DCD7-72B7-4150-913CF9B34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7F3F4D-1A02-1695-1B9C-84326748D2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261ED2-B2DD-305B-C202-7564F14CA8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75C34-B82E-D1BD-3D03-0EBA5B4A54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4887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C2BD3-4152-63F7-9EE4-988C7850F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AEE61C-F02B-6525-2E8F-0015669880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3C75E3-8D7C-DCF3-8104-35520AEB99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D8457E-D02D-7B08-06BB-C33B9C0DBB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7468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0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1841862" y="1306286"/>
            <a:ext cx="5408024" cy="3004457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5600"/>
              </a:lnSpc>
              <a:defRPr sz="6200" b="1" cap="none" spc="-5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title </a:t>
            </a:r>
            <a:endParaRPr lang="en-GB" dirty="0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D0A0F6B4-43DB-D6C0-BF86-95FC32042F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41863" y="4495085"/>
            <a:ext cx="5408024" cy="1056628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ts val="2800"/>
              </a:lnSpc>
              <a:spcBef>
                <a:spcPts val="0"/>
              </a:spcBef>
              <a:buNone/>
              <a:defRPr sz="2800" spc="-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62346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ght blue-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838200" y="3136307"/>
            <a:ext cx="10515600" cy="1186075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ts val="4500"/>
              </a:lnSpc>
              <a:defRPr sz="5200" b="1" cap="all" spc="-5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title  </a:t>
            </a:r>
            <a:endParaRPr lang="en-GB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38200" y="4495085"/>
            <a:ext cx="10515600" cy="12904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-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7253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earson slid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838200" y="3136307"/>
            <a:ext cx="10515600" cy="1186075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ts val="4500"/>
              </a:lnSpc>
              <a:defRPr sz="5200" b="1" cap="all" spc="-50" baseline="0">
                <a:solidFill>
                  <a:srgbClr val="942F6D"/>
                </a:solidFill>
                <a:latin typeface="+mn-lt"/>
              </a:defRPr>
            </a:lvl1pPr>
          </a:lstStyle>
          <a:p>
            <a:r>
              <a:rPr lang="en-US" dirty="0"/>
              <a:t>Click to edit title 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38200" y="4495084"/>
            <a:ext cx="10515600" cy="182025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-50" baseline="0">
                <a:solidFill>
                  <a:srgbClr val="656768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5606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023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ght blue-slid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01791" y="555478"/>
            <a:ext cx="9097686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rgbClr val="942F6D"/>
                </a:solidFill>
              </a:defRPr>
            </a:lvl1pPr>
          </a:lstStyle>
          <a:p>
            <a:r>
              <a:rPr lang="en-US" dirty="0"/>
              <a:t>Click to edit title 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1791" y="1811976"/>
            <a:ext cx="10994852" cy="4033348"/>
          </a:xfrm>
          <a:prstGeom prst="rect">
            <a:avLst/>
          </a:prstGeom>
        </p:spPr>
        <p:txBody>
          <a:bodyPr/>
          <a:lstStyle>
            <a:lvl1pPr>
              <a:buClr>
                <a:srgbClr val="942F6D"/>
              </a:buClr>
              <a:defRPr baseline="0">
                <a:solidFill>
                  <a:srgbClr val="656768"/>
                </a:solidFill>
              </a:defRPr>
            </a:lvl1pPr>
            <a:lvl2pPr>
              <a:buClr>
                <a:srgbClr val="942F6D"/>
              </a:buClr>
              <a:defRPr>
                <a:solidFill>
                  <a:srgbClr val="656768"/>
                </a:solidFill>
              </a:defRPr>
            </a:lvl2pPr>
            <a:lvl3pPr>
              <a:buClr>
                <a:srgbClr val="942F6D"/>
              </a:buClr>
              <a:defRPr>
                <a:solidFill>
                  <a:srgbClr val="656768"/>
                </a:solidFill>
              </a:defRPr>
            </a:lvl3pPr>
            <a:lvl4pPr>
              <a:buClr>
                <a:srgbClr val="942F6D"/>
              </a:buClr>
              <a:defRPr>
                <a:solidFill>
                  <a:srgbClr val="656768"/>
                </a:solidFill>
              </a:defRPr>
            </a:lvl4pPr>
            <a:lvl5pPr>
              <a:buClr>
                <a:srgbClr val="942F6D"/>
              </a:buClr>
              <a:defRPr>
                <a:solidFill>
                  <a:srgbClr val="656768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96983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6281159" y="0"/>
            <a:ext cx="5910840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None/>
              <a:defRPr sz="2800" baseline="0"/>
            </a:lvl1pPr>
          </a:lstStyle>
          <a:p>
            <a:r>
              <a:rPr lang="en-GB" dirty="0"/>
              <a:t>Click to add picture 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601791" y="555478"/>
            <a:ext cx="5491361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rgbClr val="942F6D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01791" y="1760537"/>
            <a:ext cx="5491361" cy="3845503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6FC8F0"/>
              </a:buClr>
              <a:buNone/>
              <a:defRPr baseline="0">
                <a:solidFill>
                  <a:srgbClr val="656768"/>
                </a:solidFill>
              </a:defRPr>
            </a:lvl1pPr>
            <a:lvl2pPr marL="4572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2pPr>
            <a:lvl3pPr marL="9144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3pPr>
            <a:lvl4pPr marL="13716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4pPr>
            <a:lvl5pPr marL="18288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193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2345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t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01791" y="555478"/>
            <a:ext cx="9085134" cy="10682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000" cap="none" baseline="0">
                <a:latin typeface="+mn-lt"/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1791" y="1811975"/>
            <a:ext cx="9085134" cy="4289721"/>
          </a:xfrm>
          <a:prstGeom prst="rect">
            <a:avLst/>
          </a:prstGeom>
        </p:spPr>
        <p:txBody>
          <a:bodyPr/>
          <a:lstStyle>
            <a:lvl1pPr>
              <a:defRPr sz="2400" baseline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3303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6481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F8DB3D1-FE24-2976-920B-1BA9E87F907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09152" y="648001"/>
            <a:ext cx="5229152" cy="5863636"/>
          </a:xfrm>
          <a:prstGeom prst="rect">
            <a:avLst/>
          </a:prstGeom>
          <a:solidFill>
            <a:srgbClr val="0D3E62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add</a:t>
            </a:r>
            <a:r>
              <a:rPr lang="lt-LT" dirty="0"/>
              <a:t> </a:t>
            </a:r>
            <a:r>
              <a:rPr lang="lt-LT" dirty="0" err="1"/>
              <a:t>picture</a:t>
            </a:r>
            <a:endParaRPr lang="en-US" dirty="0"/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48000" y="648001"/>
            <a:ext cx="5229152" cy="14695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600" b="1" cap="none" baseline="0">
                <a:solidFill>
                  <a:srgbClr val="942F6C"/>
                </a:solidFill>
                <a:latin typeface="+mn-lt"/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48000" y="2261937"/>
            <a:ext cx="5229152" cy="3081588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D3E62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800">
                <a:solidFill>
                  <a:srgbClr val="0D3E62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600">
                <a:solidFill>
                  <a:srgbClr val="0D3E62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400">
                <a:solidFill>
                  <a:srgbClr val="0D3E62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400">
                <a:solidFill>
                  <a:srgbClr val="0D3E62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027A1F-F3E2-4206-3987-B4F50F4303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9933" y="5621300"/>
            <a:ext cx="1328009" cy="396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280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picture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F8DB3D1-FE24-2976-920B-1BA9E87F907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7999" y="648000"/>
            <a:ext cx="5232001" cy="5863637"/>
          </a:xfrm>
          <a:prstGeom prst="rect">
            <a:avLst/>
          </a:prstGeom>
          <a:solidFill>
            <a:srgbClr val="0D3E62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lt-LT" dirty="0" err="1"/>
              <a:t>Click</a:t>
            </a:r>
            <a:r>
              <a:rPr lang="lt-LT" dirty="0"/>
              <a:t> to </a:t>
            </a:r>
            <a:r>
              <a:rPr lang="lt-LT" dirty="0" err="1"/>
              <a:t>add</a:t>
            </a:r>
            <a:r>
              <a:rPr lang="lt-LT" dirty="0"/>
              <a:t> </a:t>
            </a:r>
            <a:r>
              <a:rPr lang="lt-LT" dirty="0" err="1"/>
              <a:t>picture</a:t>
            </a:r>
            <a:endParaRPr lang="en-US" dirty="0"/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311998" y="648000"/>
            <a:ext cx="5232001" cy="13033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600" b="1" cap="none" baseline="0">
                <a:solidFill>
                  <a:srgbClr val="942F6C"/>
                </a:solidFill>
                <a:latin typeface="+mn-lt"/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311998" y="2095682"/>
            <a:ext cx="5232002" cy="3266893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D3E62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800">
                <a:solidFill>
                  <a:srgbClr val="0D3E62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600">
                <a:solidFill>
                  <a:srgbClr val="0D3E62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400">
                <a:solidFill>
                  <a:srgbClr val="0D3E62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400">
                <a:solidFill>
                  <a:srgbClr val="0D3E62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E10E01-12D2-662D-5AE5-A7185817AE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48624" y="5611775"/>
            <a:ext cx="1328009" cy="396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77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9CD24D66-7FF4-7328-7FFF-512B52D02A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9233" y="927449"/>
            <a:ext cx="2495310" cy="1152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B4316D79-8F52-7C98-4C44-6A2D953561F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69667" y="1033433"/>
            <a:ext cx="3314700" cy="723900"/>
          </a:xfrm>
          <a:prstGeom prst="rect">
            <a:avLst/>
          </a:prstGeom>
        </p:spPr>
      </p:pic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99B98C9C-F9F6-3442-75F3-F0D97A7D3036}"/>
              </a:ext>
            </a:extLst>
          </p:cNvPr>
          <p:cNvSpPr/>
          <p:nvPr userDrawn="1"/>
        </p:nvSpPr>
        <p:spPr>
          <a:xfrm rot="5400000">
            <a:off x="1753178" y="5562657"/>
            <a:ext cx="144000" cy="1080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noFill/>
              </a:ln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4FE88A6-66B6-0E1F-CF92-883C77FFB33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13106" y="5537826"/>
            <a:ext cx="1371600" cy="1809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4A7709-E8C9-78C3-3A82-F348BB233950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56512" y="5064974"/>
            <a:ext cx="1451310" cy="433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1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799AAAA-0508-4C77-D4DF-151552A0F61A}"/>
              </a:ext>
            </a:extLst>
          </p:cNvPr>
          <p:cNvSpPr/>
          <p:nvPr userDrawn="1"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942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BA9A9D6-DD4D-E395-FC46-AB22C069F561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4536" y="1310655"/>
            <a:ext cx="2573286" cy="118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59AEF14-D2A0-9CB7-5685-ED74E75D7B45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56512" y="4950674"/>
            <a:ext cx="1451310" cy="433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173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41" r:id="rId3"/>
    <p:sldLayoutId id="2147483745" r:id="rId4"/>
    <p:sldLayoutId id="2147483746" r:id="rId5"/>
    <p:sldLayoutId id="2147483747" r:id="rId6"/>
    <p:sldLayoutId id="2147483748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686F343-6DD1-ACF0-CF2D-9907A20C93C5}"/>
              </a:ext>
            </a:extLst>
          </p:cNvPr>
          <p:cNvSpPr/>
          <p:nvPr userDrawn="1"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942F6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A391FB5A-35DA-8139-9F94-7E474B3A05F5}"/>
              </a:ext>
            </a:extLst>
          </p:cNvPr>
          <p:cNvSpPr/>
          <p:nvPr userDrawn="1"/>
        </p:nvSpPr>
        <p:spPr>
          <a:xfrm rot="5400000">
            <a:off x="10275819" y="6628559"/>
            <a:ext cx="144000" cy="1080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noFill/>
              </a:ln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A7E2053-BB87-185E-962F-4D659790FC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35747" y="6603728"/>
            <a:ext cx="1371600" cy="180975"/>
          </a:xfrm>
          <a:prstGeom prst="rect">
            <a:avLst/>
          </a:prstGeom>
        </p:spPr>
      </p:pic>
      <p:pic>
        <p:nvPicPr>
          <p:cNvPr id="9" name="Picture 8" descr="A picture containing text, sign, clipart&#10;&#10;Description automatically generated">
            <a:extLst>
              <a:ext uri="{FF2B5EF4-FFF2-40B4-BE49-F238E27FC236}">
                <a16:creationId xmlns:a16="http://schemas.microsoft.com/office/drawing/2014/main" id="{091CD511-489E-412C-6FE9-6294DDC03B2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7063" y="706570"/>
            <a:ext cx="1559570" cy="72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1ECE3E-55FB-254D-6FF9-DC7B453E2130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48624" y="5611775"/>
            <a:ext cx="1328009" cy="396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702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</p:sldLayoutIdLst>
  <p:txStyles>
    <p:titleStyle>
      <a:lvl1pPr algn="l" defTabSz="914400" rtl="0" eaLnBrk="1" latinLnBrk="0" hangingPunct="1">
        <a:lnSpc>
          <a:spcPts val="3200"/>
        </a:lnSpc>
        <a:spcBef>
          <a:spcPct val="0"/>
        </a:spcBef>
        <a:buNone/>
        <a:defRPr sz="4200" b="1" kern="1200" cap="all" spc="-50" baseline="0">
          <a:solidFill>
            <a:srgbClr val="942F6D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942F6D"/>
        </a:buClr>
        <a:buFont typeface="Arial" panose="020B0604020202020204" pitchFamily="34" charset="0"/>
        <a:buChar char="•"/>
        <a:defRPr sz="2800" kern="1200">
          <a:solidFill>
            <a:srgbClr val="0D3E6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400" kern="1200">
          <a:solidFill>
            <a:srgbClr val="0D3E6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000" kern="1200">
          <a:solidFill>
            <a:srgbClr val="0D3E6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47EEB13-50FA-F1F2-B2CE-91039F3D7BB0}"/>
              </a:ext>
            </a:extLst>
          </p:cNvPr>
          <p:cNvSpPr/>
          <p:nvPr userDrawn="1"/>
        </p:nvSpPr>
        <p:spPr>
          <a:xfrm>
            <a:off x="0" y="6502400"/>
            <a:ext cx="12192000" cy="355600"/>
          </a:xfrm>
          <a:prstGeom prst="rect">
            <a:avLst/>
          </a:prstGeom>
          <a:solidFill>
            <a:srgbClr val="942F6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027349BD-B6B3-1AD0-7B08-1187CA5EEA38}"/>
              </a:ext>
            </a:extLst>
          </p:cNvPr>
          <p:cNvSpPr/>
          <p:nvPr userDrawn="1"/>
        </p:nvSpPr>
        <p:spPr>
          <a:xfrm rot="5400000">
            <a:off x="10275819" y="6628559"/>
            <a:ext cx="144000" cy="1080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noFill/>
              </a:ln>
              <a:noFill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4C4358E-AC45-7E26-B29E-2FE4E90CB31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35747" y="6603728"/>
            <a:ext cx="1371600" cy="18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151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ts val="4200"/>
        </a:lnSpc>
        <a:spcBef>
          <a:spcPct val="0"/>
        </a:spcBef>
        <a:buNone/>
        <a:defRPr sz="4200" b="0" kern="1200" cap="none" spc="0" baseline="0">
          <a:solidFill>
            <a:srgbClr val="942F6D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942F6D"/>
        </a:buClr>
        <a:buFont typeface="Arial" panose="020B0604020202020204" pitchFamily="34" charset="0"/>
        <a:buChar char="•"/>
        <a:defRPr sz="2800" kern="1200">
          <a:solidFill>
            <a:srgbClr val="0D3E6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400" kern="1200">
          <a:solidFill>
            <a:srgbClr val="0D3E6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000" kern="1200">
          <a:solidFill>
            <a:srgbClr val="0D3E6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5A0778-8347-518E-3A89-D36AEACFC3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051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qglJSIp6n7M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xObCUytIVMo" TargetMode="Externa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deIQeQzPK08" TargetMode="Externa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qqOyy_NjflU" TargetMode="Externa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youtube.com/watch?v=Fvi9A_tEmXQ" TargetMode="Externa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Ngyt8Q5tWkU" TargetMode="Externa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dsyTQNUvqH0" TargetMode="Externa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jNeUBWrrRsQ" TargetMode="Externa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Applied Machine learning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Regent College London</a:t>
            </a:r>
          </a:p>
          <a:p>
            <a:r>
              <a:rPr lang="en-GB" dirty="0"/>
              <a:t>SWE6302</a:t>
            </a:r>
          </a:p>
        </p:txBody>
      </p:sp>
    </p:spTree>
    <p:extLst>
      <p:ext uri="{BB962C8B-B14F-4D97-AF65-F5344CB8AC3E}">
        <p14:creationId xmlns:p14="http://schemas.microsoft.com/office/powerpoint/2010/main" val="1458045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Applied Machine learning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SWE6302</a:t>
            </a:r>
          </a:p>
        </p:txBody>
      </p:sp>
    </p:spTree>
    <p:extLst>
      <p:ext uri="{BB962C8B-B14F-4D97-AF65-F5344CB8AC3E}">
        <p14:creationId xmlns:p14="http://schemas.microsoft.com/office/powerpoint/2010/main" val="2365191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8D52EB-A3E0-3F4C-9EBC-AC778DE37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EF0A4-9481-7245-BC4A-7DDD704352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Introduction to Data Science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C6E8E5-BE8D-1A44-B2E2-3F645E098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386" y="2929580"/>
            <a:ext cx="4059099" cy="245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627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BA340-02CC-904F-8C88-B5AA849D9854}"/>
              </a:ext>
            </a:extLst>
          </p:cNvPr>
          <p:cNvSpPr txBox="1">
            <a:spLocks/>
          </p:cNvSpPr>
          <p:nvPr/>
        </p:nvSpPr>
        <p:spPr>
          <a:xfrm>
            <a:off x="920495" y="3078179"/>
            <a:ext cx="10515600" cy="11860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ts val="3200"/>
              </a:lnSpc>
              <a:spcBef>
                <a:spcPct val="0"/>
              </a:spcBef>
              <a:buNone/>
              <a:defRPr sz="4200" b="1" kern="1200" cap="all" spc="-50" baseline="0">
                <a:solidFill>
                  <a:srgbClr val="942F6D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bg1"/>
                </a:solidFill>
              </a:rPr>
              <a:t>Module 1 – Introduction to Data Science </a:t>
            </a:r>
          </a:p>
        </p:txBody>
      </p:sp>
    </p:spTree>
    <p:extLst>
      <p:ext uri="{BB962C8B-B14F-4D97-AF65-F5344CB8AC3E}">
        <p14:creationId xmlns:p14="http://schemas.microsoft.com/office/powerpoint/2010/main" val="1741829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Learning objectives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Understand what is Data Science</a:t>
            </a:r>
          </a:p>
          <a:p>
            <a:r>
              <a:rPr lang="en-US" dirty="0">
                <a:solidFill>
                  <a:schemeClr val="bg1"/>
                </a:solidFill>
              </a:rPr>
              <a:t>Understand the type of data</a:t>
            </a:r>
          </a:p>
          <a:p>
            <a:r>
              <a:rPr lang="en-GB" dirty="0">
                <a:solidFill>
                  <a:schemeClr val="bg1"/>
                </a:solidFill>
              </a:rPr>
              <a:t>Understand the Mean, Medium &amp; Mode</a:t>
            </a:r>
          </a:p>
          <a:p>
            <a:r>
              <a:rPr lang="en-GB" dirty="0">
                <a:solidFill>
                  <a:schemeClr val="bg1"/>
                </a:solidFill>
              </a:rPr>
              <a:t>Understand basic data science techniques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993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791" y="548096"/>
            <a:ext cx="8719886" cy="1075605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What is Data Science?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6D38B123-1F34-ED9E-E798-C295FB7FF9EA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835026" y="1679833"/>
            <a:ext cx="6422302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Data Science is an interdisciplinary field that uses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mathematics, statistics, computer science, and domain knowledge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to extract insights and knowledge from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Focus: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It deals with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entire data lifecycle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– from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data collection, preparation, analysis, and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visualisation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making data-driven decisions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Tools &amp; Methods: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Includes data preparation, statistical analysis,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visualisation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experimentation, process mining, and machine learning.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8424198" y="1070621"/>
            <a:ext cx="338916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>
            <a:off x="472083" y="419411"/>
            <a:ext cx="0" cy="383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>
            <a:off x="470171" y="1059888"/>
            <a:ext cx="1833" cy="29701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7557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E820B-C18A-8E87-86B4-A71012CAC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A8773-DE34-F219-5DCC-641BE7231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>
                <a:solidFill>
                  <a:schemeClr val="bg1"/>
                </a:solidFill>
              </a:rPr>
              <a:t>Relationship between Data Science, AI and ML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53249-BE99-0949-0C07-6B99C5B184BC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E22388D-067A-11D2-2AD0-624CDBA61954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FD9A5D-4272-0FFB-2ED7-5FABE8DCBF89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" name="Picture 7" descr="A diagram of data science&#10;&#10;AI-generated content may be incorrect.">
            <a:extLst>
              <a:ext uri="{FF2B5EF4-FFF2-40B4-BE49-F238E27FC236}">
                <a16:creationId xmlns:a16="http://schemas.microsoft.com/office/drawing/2014/main" id="{2718B97F-D9F9-A968-0D1C-BB88F44D9A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9373" y="1289177"/>
            <a:ext cx="8633254" cy="4541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28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280CF-712F-E4FB-1E54-8DC22B55C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4AD49-3571-3A1E-ED72-817306851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>
                <a:solidFill>
                  <a:schemeClr val="bg1"/>
                </a:solidFill>
              </a:rPr>
              <a:t>Relationship between Data Science, AI and ML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002041D-3DC0-E8E9-B174-8A4837933716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723AF17-2EB3-AD75-F46C-341AB6FC65F9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3A0480B-C152-692F-E487-A481392D1E2B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ectangle 1">
            <a:extLst>
              <a:ext uri="{FF2B5EF4-FFF2-40B4-BE49-F238E27FC236}">
                <a16:creationId xmlns:a16="http://schemas.microsoft.com/office/drawing/2014/main" id="{2538E7DE-1AC2-0958-444B-D421D8C8D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790" y="1883498"/>
            <a:ext cx="7037501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Artificial Intelligence (AI):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The broad field of creating intelligent systems that can mimic human-like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behaviour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(e.g., vision, language, planning, robotics).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Machine Learning (ML):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subset of AI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that focuses on building algorithms that can learn patterns from data and make predictions/decisions without explicit programming.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Data Science: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Provides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data pipeline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analytical foundation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that enables AI and ML to work effectively.</a:t>
            </a:r>
          </a:p>
        </p:txBody>
      </p:sp>
    </p:spTree>
    <p:extLst>
      <p:ext uri="{BB962C8B-B14F-4D97-AF65-F5344CB8AC3E}">
        <p14:creationId xmlns:p14="http://schemas.microsoft.com/office/powerpoint/2010/main" val="37263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BDDD4-B106-785A-763F-B2AC1A148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01B53-A55A-00D5-2F88-AC125B74B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>
                <a:solidFill>
                  <a:schemeClr val="bg1"/>
                </a:solidFill>
              </a:rPr>
              <a:t>Relationship between Data Science, AI and ML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847AA03-0631-0BF0-5AA9-AAF65ADB82F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F65D043-7D55-6CDD-AB9D-B4364DC54769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763161E-CCF6-6065-EDF9-59E1632A0BFA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 2">
            <a:extLst>
              <a:ext uri="{FF2B5EF4-FFF2-40B4-BE49-F238E27FC236}">
                <a16:creationId xmlns:a16="http://schemas.microsoft.com/office/drawing/2014/main" id="{B95C6FD7-EC68-8035-3EB1-5F21DB5D4A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791" y="1899792"/>
            <a:ext cx="10656552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is the broadest field.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ML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is a subset of AI.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Data Science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overlaps with ML — it uses ML algorithms as part of its toolkit, but also covers many non-ML tasks (e.g., statistics, data cleaning,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visualisation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6870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4079A-89BE-CB33-4696-0722F479E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F12D2-06FC-6F47-83DD-F3465DBEB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>
                <a:solidFill>
                  <a:schemeClr val="bg1"/>
                </a:solidFill>
              </a:rPr>
              <a:t>Importance of Data Science in AI and ML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D9CE238-1E08-3B14-89F0-A4ECD3BEC881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FAB4B5A-E8FD-9EB6-7E6C-88F8CED8D212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DEA94A-BA70-E392-F327-771250FBBE8E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ectangle 1">
            <a:extLst>
              <a:ext uri="{FF2B5EF4-FFF2-40B4-BE49-F238E27FC236}">
                <a16:creationId xmlns:a16="http://schemas.microsoft.com/office/drawing/2014/main" id="{ED054C90-D8C4-9E8B-B47F-403963315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171" y="1156900"/>
            <a:ext cx="7086185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Data Preparation: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ML models require clean, structured, and relevant data. Data Science ensures proper preprocessing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feature engineering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Experimentation: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In applied ML, models are iteratively trained and tested; Data Science provides frameworks for experimentation and validation.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Evaluation &amp;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Visualisation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Data Science tools help interpret ML results, making them understandable and actionable.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Decision-making: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ML outputs become meaningful only when integrated into the wider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data-driven decision-making process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which is the domain of Data Science.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End-to-End Pipeline: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Data Science bridges the gap between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raw data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AI/ML applications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ensuring that models are not just built but also deployed and monitored in real-world scenarios.</a:t>
            </a:r>
          </a:p>
        </p:txBody>
      </p:sp>
    </p:spTree>
    <p:extLst>
      <p:ext uri="{BB962C8B-B14F-4D97-AF65-F5344CB8AC3E}">
        <p14:creationId xmlns:p14="http://schemas.microsoft.com/office/powerpoint/2010/main" val="906545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2A4F7-7262-F362-708C-869B4C457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7691E-E725-9BD9-52A2-15D7A5DCB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>
                <a:solidFill>
                  <a:schemeClr val="bg1"/>
                </a:solidFill>
              </a:rPr>
              <a:t>What is Feature Engineering in ML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5326459-110F-24BA-E090-E50B2A4A65F8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490C872-12C7-7118-0CC5-08C104447272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56AB85B-47BF-13D8-D337-41B7E83613C1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1">
            <a:extLst>
              <a:ext uri="{FF2B5EF4-FFF2-40B4-BE49-F238E27FC236}">
                <a16:creationId xmlns:a16="http://schemas.microsoft.com/office/drawing/2014/main" id="{5B587075-408F-6A8E-FDC2-6C74412AD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171" y="1267375"/>
            <a:ext cx="7099672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Feature Engineering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is the process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transforming raw data into meaningful input variables (features)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that improve the performance of machine learning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It involves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selecting, modifying, or creating new features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from existing data to help the model better capture underlying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Often considered one of the most important steps in ML, since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good features can make a simple model perform well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while poor features can make even advanced models fail.</a:t>
            </a:r>
          </a:p>
        </p:txBody>
      </p:sp>
    </p:spTree>
    <p:extLst>
      <p:ext uri="{BB962C8B-B14F-4D97-AF65-F5344CB8AC3E}">
        <p14:creationId xmlns:p14="http://schemas.microsoft.com/office/powerpoint/2010/main" val="3362617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BCD2F-9188-47F1-BD5D-EA68822A2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4D333-5DAA-C0E7-CBB5-48C612513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>
                <a:solidFill>
                  <a:schemeClr val="bg1"/>
                </a:solidFill>
              </a:rPr>
              <a:t>Key steps in Feature Engineering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2089288-C59F-9A43-DAF7-4C5B13829F7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DB20D16-AFA2-B379-5C8E-1AABC79DFB54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457E82E-60C3-2D4B-0439-E44BF5E8F0E1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ectangle 1">
            <a:extLst>
              <a:ext uri="{FF2B5EF4-FFF2-40B4-BE49-F238E27FC236}">
                <a16:creationId xmlns:a16="http://schemas.microsoft.com/office/drawing/2014/main" id="{69BFF3A5-53D5-39C9-C555-9814EFDC0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791" y="1689985"/>
            <a:ext cx="701435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Data Cleaning: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Handling missing values, removing outliers.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Feature Transformation: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Normalisation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scaling, encoding categorical variables.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Feature Creation: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Creating new variables (e.g., ratios, interaction terms, aggregates).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Feature Selection: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Choosing the most relevant features to reduce noise and improve efficiency.</a:t>
            </a:r>
          </a:p>
        </p:txBody>
      </p:sp>
    </p:spTree>
    <p:extLst>
      <p:ext uri="{BB962C8B-B14F-4D97-AF65-F5344CB8AC3E}">
        <p14:creationId xmlns:p14="http://schemas.microsoft.com/office/powerpoint/2010/main" val="1806537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B6F56-EB57-F124-F3AE-40C2AFDAA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5AA03-507D-BA41-764C-FEA1484C3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>
                <a:solidFill>
                  <a:schemeClr val="bg1"/>
                </a:solidFill>
              </a:rPr>
              <a:t>Real world example of Feature Engineering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CA3DA73-77C7-66B1-B76E-1C712B2B97D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7594A06-D733-1376-A716-A4217F404BBA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93B207-B1EF-E01D-A580-2B6741411DFF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5A0462F-52B9-9700-AAD2-717BF8B3597C}"/>
              </a:ext>
            </a:extLst>
          </p:cNvPr>
          <p:cNvSpPr txBox="1"/>
          <p:nvPr/>
        </p:nvSpPr>
        <p:spPr>
          <a:xfrm>
            <a:off x="708950" y="1623701"/>
            <a:ext cx="469642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</a:rPr>
              <a:t>Predicting house prices 🏡</a:t>
            </a:r>
          </a:p>
          <a:p>
            <a:pPr>
              <a:buNone/>
            </a:pPr>
            <a:endParaRPr lang="en-US" sz="2400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Raw Data Available:</a:t>
            </a:r>
            <a:endParaRPr lang="en-US" sz="240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Number of bedrooms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Total area (sq. ft.)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Year built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Location (address)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Distance to nearest city </a:t>
            </a:r>
            <a:r>
              <a:rPr lang="en-US" sz="2400" dirty="0" err="1">
                <a:solidFill>
                  <a:schemeClr val="bg1"/>
                </a:solidFill>
              </a:rPr>
              <a:t>centre</a:t>
            </a:r>
            <a:endParaRPr lang="en-US" sz="240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Sale date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B4057F7-3273-3A30-18B1-93CB4231C7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4990381"/>
              </p:ext>
            </p:extLst>
          </p:nvPr>
        </p:nvGraphicFramePr>
        <p:xfrm>
          <a:off x="5488330" y="1965960"/>
          <a:ext cx="5994720" cy="29260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999120">
                  <a:extLst>
                    <a:ext uri="{9D8B030D-6E8A-4147-A177-3AD203B41FA5}">
                      <a16:colId xmlns:a16="http://schemas.microsoft.com/office/drawing/2014/main" val="1835706728"/>
                    </a:ext>
                  </a:extLst>
                </a:gridCol>
                <a:gridCol w="999120">
                  <a:extLst>
                    <a:ext uri="{9D8B030D-6E8A-4147-A177-3AD203B41FA5}">
                      <a16:colId xmlns:a16="http://schemas.microsoft.com/office/drawing/2014/main" val="76233762"/>
                    </a:ext>
                  </a:extLst>
                </a:gridCol>
                <a:gridCol w="999120">
                  <a:extLst>
                    <a:ext uri="{9D8B030D-6E8A-4147-A177-3AD203B41FA5}">
                      <a16:colId xmlns:a16="http://schemas.microsoft.com/office/drawing/2014/main" val="2259139297"/>
                    </a:ext>
                  </a:extLst>
                </a:gridCol>
                <a:gridCol w="999120">
                  <a:extLst>
                    <a:ext uri="{9D8B030D-6E8A-4147-A177-3AD203B41FA5}">
                      <a16:colId xmlns:a16="http://schemas.microsoft.com/office/drawing/2014/main" val="2469028371"/>
                    </a:ext>
                  </a:extLst>
                </a:gridCol>
                <a:gridCol w="999120">
                  <a:extLst>
                    <a:ext uri="{9D8B030D-6E8A-4147-A177-3AD203B41FA5}">
                      <a16:colId xmlns:a16="http://schemas.microsoft.com/office/drawing/2014/main" val="2465074269"/>
                    </a:ext>
                  </a:extLst>
                </a:gridCol>
                <a:gridCol w="999120">
                  <a:extLst>
                    <a:ext uri="{9D8B030D-6E8A-4147-A177-3AD203B41FA5}">
                      <a16:colId xmlns:a16="http://schemas.microsoft.com/office/drawing/2014/main" val="2182877711"/>
                    </a:ext>
                  </a:extLst>
                </a:gridCol>
              </a:tblGrid>
              <a:tr h="605597">
                <a:tc>
                  <a:txBody>
                    <a:bodyPr/>
                    <a:lstStyle/>
                    <a:p>
                      <a:r>
                        <a:rPr lang="en-GB" sz="1200" b="1" dirty="0"/>
                        <a:t>Number of Bedrooms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b="1" dirty="0"/>
                        <a:t>Total Area (sq. ft.)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b="1" dirty="0"/>
                        <a:t>Year Built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b="1" dirty="0"/>
                        <a:t>Location (Address)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Distance to Nearest City Centre (km)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b="1" dirty="0"/>
                        <a:t>Sale Date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1532259"/>
                  </a:ext>
                </a:extLst>
              </a:tr>
              <a:tr h="423918">
                <a:tc>
                  <a:txBody>
                    <a:bodyPr/>
                    <a:lstStyle/>
                    <a:p>
                      <a:r>
                        <a:rPr lang="en-GB" sz="12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1,200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2005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14 King’s Road, York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2.5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2022-07-15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9998199"/>
                  </a:ext>
                </a:extLst>
              </a:tr>
              <a:tr h="423918">
                <a:tc>
                  <a:txBody>
                    <a:bodyPr/>
                    <a:lstStyle/>
                    <a:p>
                      <a:r>
                        <a:rPr lang="en-GB" sz="1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1,850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1998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25 High Street, Leeds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8.0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2022-11-10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954983"/>
                  </a:ext>
                </a:extLst>
              </a:tr>
              <a:tr h="423918">
                <a:tc>
                  <a:txBody>
                    <a:bodyPr/>
                    <a:lstStyle/>
                    <a:p>
                      <a:r>
                        <a:rPr lang="en-GB" sz="12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950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72 Green Lane, Bristol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1.2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2023-03-05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7906046"/>
                  </a:ext>
                </a:extLst>
              </a:tr>
              <a:tr h="423918">
                <a:tc>
                  <a:txBody>
                    <a:bodyPr/>
                    <a:lstStyle/>
                    <a:p>
                      <a:r>
                        <a:rPr lang="en-GB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2,400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1980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18 Park Ave, London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0.8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2022-06-20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5640510"/>
                  </a:ext>
                </a:extLst>
              </a:tr>
              <a:tr h="423918">
                <a:tc>
                  <a:txBody>
                    <a:bodyPr/>
                    <a:lstStyle/>
                    <a:p>
                      <a:r>
                        <a:rPr lang="en-GB" sz="12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1,500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2010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9 Church St, Manchester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5.4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2023-01-12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3430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59186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2EA93-5446-E7B3-8932-494F32FE5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3D4DB-C45C-39A2-9717-3159EB292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>
                <a:solidFill>
                  <a:schemeClr val="bg1"/>
                </a:solidFill>
              </a:rPr>
              <a:t>Real world example of Feature Engineering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8E12DBD-F416-A230-6CFA-F0168689026B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9918DED-C655-8742-D549-7DA0C0715406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80A9D9-A548-2A7B-D9F9-A99B30CDE7E5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ectangle 1">
            <a:extLst>
              <a:ext uri="{FF2B5EF4-FFF2-40B4-BE49-F238E27FC236}">
                <a16:creationId xmlns:a16="http://schemas.microsoft.com/office/drawing/2014/main" id="{1B433BA4-9329-FD14-F93E-A3C5B8B67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791" y="1177103"/>
            <a:ext cx="6977715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Feature Engineering Examples: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From "Year built" → Create "Age of house"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Current Year – Year built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).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From "Location (address)" → Encode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neighbourhood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or convert to latitude/longitude features.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From "Sale date" → Extract "Season" or "Month of sale"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(houses may sell at higher prices in summer).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From "Distance to city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centre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" → Create categorical feature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(e.g., "Urban", "Suburban", "Rural").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From "Total area &amp; bedrooms" → Create "Average room size"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Total area ÷ Number of bedrooms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).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💡 These engineered features often provide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stronger predictive power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than the raw data itself, since they capture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meaningful relationships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in the data.</a:t>
            </a:r>
          </a:p>
        </p:txBody>
      </p:sp>
    </p:spTree>
    <p:extLst>
      <p:ext uri="{BB962C8B-B14F-4D97-AF65-F5344CB8AC3E}">
        <p14:creationId xmlns:p14="http://schemas.microsoft.com/office/powerpoint/2010/main" val="2666290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79ABD-FE89-E1DF-6D25-0AB75B3D4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BA34A-A4EB-CFB3-5A7B-8BE7A19F4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>
                <a:solidFill>
                  <a:schemeClr val="bg1"/>
                </a:solidFill>
              </a:rPr>
              <a:t>Real world example of Feature Engineering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E1A160C-BAFF-10D3-0AB7-FB8B56019E0F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7A6B10E-2134-4283-D3F3-2760C14F538E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199D217-618F-3958-A11A-0A6541BB16F9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2115C4E-A803-1A12-E786-C746A0C4D5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5409472"/>
              </p:ext>
            </p:extLst>
          </p:nvPr>
        </p:nvGraphicFramePr>
        <p:xfrm>
          <a:off x="3342749" y="1302297"/>
          <a:ext cx="7054318" cy="4390213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729718">
                  <a:extLst>
                    <a:ext uri="{9D8B030D-6E8A-4147-A177-3AD203B41FA5}">
                      <a16:colId xmlns:a16="http://schemas.microsoft.com/office/drawing/2014/main" val="4057828463"/>
                    </a:ext>
                  </a:extLst>
                </a:gridCol>
                <a:gridCol w="491066">
                  <a:extLst>
                    <a:ext uri="{9D8B030D-6E8A-4147-A177-3AD203B41FA5}">
                      <a16:colId xmlns:a16="http://schemas.microsoft.com/office/drawing/2014/main" val="3495246845"/>
                    </a:ext>
                  </a:extLst>
                </a:gridCol>
                <a:gridCol w="487226">
                  <a:extLst>
                    <a:ext uri="{9D8B030D-6E8A-4147-A177-3AD203B41FA5}">
                      <a16:colId xmlns:a16="http://schemas.microsoft.com/office/drawing/2014/main" val="4196760834"/>
                    </a:ext>
                  </a:extLst>
                </a:gridCol>
                <a:gridCol w="714696">
                  <a:extLst>
                    <a:ext uri="{9D8B030D-6E8A-4147-A177-3AD203B41FA5}">
                      <a16:colId xmlns:a16="http://schemas.microsoft.com/office/drawing/2014/main" val="206033481"/>
                    </a:ext>
                  </a:extLst>
                </a:gridCol>
                <a:gridCol w="733258">
                  <a:extLst>
                    <a:ext uri="{9D8B030D-6E8A-4147-A177-3AD203B41FA5}">
                      <a16:colId xmlns:a16="http://schemas.microsoft.com/office/drawing/2014/main" val="1548645674"/>
                    </a:ext>
                  </a:extLst>
                </a:gridCol>
                <a:gridCol w="593113">
                  <a:extLst>
                    <a:ext uri="{9D8B030D-6E8A-4147-A177-3AD203B41FA5}">
                      <a16:colId xmlns:a16="http://schemas.microsoft.com/office/drawing/2014/main" val="3259521684"/>
                    </a:ext>
                  </a:extLst>
                </a:gridCol>
                <a:gridCol w="602100">
                  <a:extLst>
                    <a:ext uri="{9D8B030D-6E8A-4147-A177-3AD203B41FA5}">
                      <a16:colId xmlns:a16="http://schemas.microsoft.com/office/drawing/2014/main" val="3250091247"/>
                    </a:ext>
                  </a:extLst>
                </a:gridCol>
                <a:gridCol w="620073">
                  <a:extLst>
                    <a:ext uri="{9D8B030D-6E8A-4147-A177-3AD203B41FA5}">
                      <a16:colId xmlns:a16="http://schemas.microsoft.com/office/drawing/2014/main" val="1124918971"/>
                    </a:ext>
                  </a:extLst>
                </a:gridCol>
                <a:gridCol w="643734">
                  <a:extLst>
                    <a:ext uri="{9D8B030D-6E8A-4147-A177-3AD203B41FA5}">
                      <a16:colId xmlns:a16="http://schemas.microsoft.com/office/drawing/2014/main" val="1173676822"/>
                    </a:ext>
                  </a:extLst>
                </a:gridCol>
                <a:gridCol w="804334">
                  <a:extLst>
                    <a:ext uri="{9D8B030D-6E8A-4147-A177-3AD203B41FA5}">
                      <a16:colId xmlns:a16="http://schemas.microsoft.com/office/drawing/2014/main" val="159286649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1739572319"/>
                    </a:ext>
                  </a:extLst>
                </a:gridCol>
              </a:tblGrid>
              <a:tr h="1020684">
                <a:tc>
                  <a:txBody>
                    <a:bodyPr/>
                    <a:lstStyle/>
                    <a:p>
                      <a:r>
                        <a:rPr lang="en-GB" sz="1100" b="1" dirty="0"/>
                        <a:t>Number of Bedrooms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 b="1" dirty="0"/>
                        <a:t>Total Area (sq. ft.)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 b="1" dirty="0"/>
                        <a:t>Year Built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 b="1" dirty="0"/>
                        <a:t>Location (Address)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Distance to Nearest City Centre (km)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 b="1" dirty="0"/>
                        <a:t>Sale Date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 b="1" dirty="0"/>
                        <a:t>Age of House (yrs)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 b="1" dirty="0"/>
                        <a:t>Encoded Location (City)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 b="1" dirty="0"/>
                        <a:t>Season of Sale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 b="1" dirty="0"/>
                        <a:t>City Category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Avg. Room Size (sq. ft.)</a:t>
                      </a:r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3810282648"/>
                  </a:ext>
                </a:extLst>
              </a:tr>
              <a:tr h="698363">
                <a:tc>
                  <a:txBody>
                    <a:bodyPr/>
                    <a:lstStyle/>
                    <a:p>
                      <a:r>
                        <a:rPr lang="en-GB" sz="1100" dirty="0"/>
                        <a:t>3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1,200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2005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14 King’s Road, York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2.5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2022-07-15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20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York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Summer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Urban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400</a:t>
                      </a:r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3701619379"/>
                  </a:ext>
                </a:extLst>
              </a:tr>
              <a:tr h="537202">
                <a:tc>
                  <a:txBody>
                    <a:bodyPr/>
                    <a:lstStyle/>
                    <a:p>
                      <a:r>
                        <a:rPr lang="en-GB" sz="1100"/>
                        <a:t>4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1,850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1998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25 High Street, Leeds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8.0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2022-11-10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27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Leeds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Autumn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Suburban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462.5</a:t>
                      </a:r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3986101822"/>
                  </a:ext>
                </a:extLst>
              </a:tr>
              <a:tr h="698363">
                <a:tc>
                  <a:txBody>
                    <a:bodyPr/>
                    <a:lstStyle/>
                    <a:p>
                      <a:r>
                        <a:rPr lang="en-GB" sz="1100"/>
                        <a:t>2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950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2015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72 Green Lane, Bristol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1.2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2023-03-05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10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Bristol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Winter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Urban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475</a:t>
                      </a:r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1358855086"/>
                  </a:ext>
                </a:extLst>
              </a:tr>
              <a:tr h="537202">
                <a:tc>
                  <a:txBody>
                    <a:bodyPr/>
                    <a:lstStyle/>
                    <a:p>
                      <a:r>
                        <a:rPr lang="en-GB" sz="1100"/>
                        <a:t>5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2,400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1980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18 Park Ave, London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0.8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2022-06-20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45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London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Summer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Urban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480</a:t>
                      </a:r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374252487"/>
                  </a:ext>
                </a:extLst>
              </a:tr>
              <a:tr h="859523">
                <a:tc>
                  <a:txBody>
                    <a:bodyPr/>
                    <a:lstStyle/>
                    <a:p>
                      <a:r>
                        <a:rPr lang="en-GB" sz="1100"/>
                        <a:t>3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1,500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2010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9 Church St, Manchester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5.4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2023-01-12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15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Manchester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Winter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/>
                        <a:t>Suburban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500</a:t>
                      </a:r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399897116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7EFAF08-0FA8-0815-5340-DF25E008A3A5}"/>
              </a:ext>
            </a:extLst>
          </p:cNvPr>
          <p:cNvSpPr txBox="1"/>
          <p:nvPr/>
        </p:nvSpPr>
        <p:spPr>
          <a:xfrm>
            <a:off x="601790" y="1042383"/>
            <a:ext cx="273904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>
                <a:solidFill>
                  <a:schemeClr val="bg1"/>
                </a:solidFill>
              </a:rPr>
              <a:t>Feature-Engineered </a:t>
            </a:r>
          </a:p>
          <a:p>
            <a:pPr>
              <a:buNone/>
            </a:pPr>
            <a:r>
              <a:rPr lang="en-GB" sz="2400" b="1" dirty="0">
                <a:solidFill>
                  <a:schemeClr val="bg1"/>
                </a:solidFill>
              </a:rPr>
              <a:t>Housing Data</a:t>
            </a:r>
          </a:p>
          <a:p>
            <a:pPr>
              <a:buNone/>
            </a:pPr>
            <a:endParaRPr lang="en-US" sz="2400" b="1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Assuming the current year is </a:t>
            </a:r>
            <a:r>
              <a:rPr lang="en-US" sz="2400" b="1" dirty="0">
                <a:solidFill>
                  <a:schemeClr val="bg1"/>
                </a:solidFill>
              </a:rPr>
              <a:t>2025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86616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62875-8D74-AE69-970F-EF18379CE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57434-EB64-4F2F-7F50-FC3426D47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>
                <a:solidFill>
                  <a:schemeClr val="bg1"/>
                </a:solidFill>
              </a:rPr>
              <a:t>Feature Engineering in Summary</a:t>
            </a:r>
            <a:endParaRPr lang="en-US" sz="320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F3D1C18-8A4E-BB03-A68E-7F00C57761EB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6D4DA10-002F-F558-F547-CB9EC1D9828B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4B130B3-6E30-A2A8-CF2A-7DC3E1AAF9E5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CC9B809-C82C-7BC7-6180-B2F2B19967E2}"/>
              </a:ext>
            </a:extLst>
          </p:cNvPr>
          <p:cNvSpPr txBox="1"/>
          <p:nvPr/>
        </p:nvSpPr>
        <p:spPr>
          <a:xfrm>
            <a:off x="601790" y="1435260"/>
            <a:ext cx="70113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Feature engineering is about </a:t>
            </a:r>
            <a:r>
              <a:rPr lang="en-US" sz="2400" b="1" dirty="0">
                <a:solidFill>
                  <a:schemeClr val="bg1"/>
                </a:solidFill>
              </a:rPr>
              <a:t>turning raw data into useful signals</a:t>
            </a:r>
            <a:r>
              <a:rPr lang="en-US" sz="2400" dirty="0">
                <a:solidFill>
                  <a:schemeClr val="bg1"/>
                </a:solidFill>
              </a:rPr>
              <a:t> for machine learning.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It is where </a:t>
            </a:r>
            <a:r>
              <a:rPr lang="en-US" sz="2400" b="1" dirty="0">
                <a:solidFill>
                  <a:schemeClr val="bg1"/>
                </a:solidFill>
              </a:rPr>
              <a:t>domain knowledge meets data science</a:t>
            </a:r>
            <a:r>
              <a:rPr lang="en-US" sz="2400" dirty="0">
                <a:solidFill>
                  <a:schemeClr val="bg1"/>
                </a:solidFill>
              </a:rPr>
              <a:t>, and in many real-world problems, </a:t>
            </a:r>
            <a:r>
              <a:rPr lang="en-US" sz="2400" b="1" dirty="0">
                <a:solidFill>
                  <a:schemeClr val="bg1"/>
                </a:solidFill>
              </a:rPr>
              <a:t>the quality of features matters more than the choice of algorithm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  <a:endParaRPr lang="en-GB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0861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A4298-911F-FF03-44E5-3E1C2642F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FF3D7-21D1-86AE-217C-243E2C44D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Type of data &amp; Statistical analysis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5CCED12-D102-61CA-DC6C-0A052C8F6440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5A522B3-98E5-7B95-B078-B95044353C6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485B43B-9449-04E7-33E3-FFDD132332A5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795C14F7-2A17-3BF6-C8DB-7175DE578771}"/>
              </a:ext>
            </a:extLst>
          </p:cNvPr>
          <p:cNvGraphicFramePr/>
          <p:nvPr/>
        </p:nvGraphicFramePr>
        <p:xfrm>
          <a:off x="2032000" y="119072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085208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Numerical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4962" y="1446853"/>
            <a:ext cx="6858379" cy="3699317"/>
          </a:xfrm>
        </p:spPr>
        <p:txBody>
          <a:bodyPr/>
          <a:lstStyle/>
          <a:p>
            <a:pPr marL="0" indent="0">
              <a:buNone/>
            </a:pPr>
            <a:r>
              <a:rPr lang="en-GB" sz="2400" dirty="0">
                <a:solidFill>
                  <a:schemeClr val="bg1"/>
                </a:solidFill>
              </a:rPr>
              <a:t>Represents some sort of quantitative measurement: </a:t>
            </a:r>
          </a:p>
          <a:p>
            <a:pPr marL="0" indent="0">
              <a:buNone/>
            </a:pPr>
            <a:r>
              <a:rPr lang="en-GB" sz="2400" dirty="0">
                <a:solidFill>
                  <a:schemeClr val="bg1"/>
                </a:solidFill>
              </a:rPr>
              <a:t>Heights of people, page load times, stock prices, etc. </a:t>
            </a:r>
          </a:p>
          <a:p>
            <a:pPr marL="0" indent="0">
              <a:buNone/>
            </a:pPr>
            <a:r>
              <a:rPr lang="en-GB" sz="2400" dirty="0">
                <a:solidFill>
                  <a:schemeClr val="bg1"/>
                </a:solidFill>
              </a:rPr>
              <a:t>Discrete Data:</a:t>
            </a:r>
          </a:p>
          <a:p>
            <a:pPr marL="0" indent="0">
              <a:buNone/>
            </a:pPr>
            <a:r>
              <a:rPr lang="en-GB" sz="2400" dirty="0">
                <a:solidFill>
                  <a:schemeClr val="bg1"/>
                </a:solidFill>
              </a:rPr>
              <a:t>	Integer based; of ten counts of some event.</a:t>
            </a:r>
            <a:br>
              <a:rPr lang="en-GB" sz="2400" dirty="0">
                <a:solidFill>
                  <a:schemeClr val="bg1"/>
                </a:solidFill>
              </a:rPr>
            </a:br>
            <a:r>
              <a:rPr lang="en-GB" sz="2400" dirty="0">
                <a:solidFill>
                  <a:schemeClr val="bg1"/>
                </a:solidFill>
              </a:rPr>
              <a:t>	How many purchases did a customer make in 	a year? 	</a:t>
            </a:r>
          </a:p>
          <a:p>
            <a:pPr marL="0" indent="0">
              <a:buNone/>
            </a:pPr>
            <a:r>
              <a:rPr lang="en-GB" sz="2400" dirty="0">
                <a:solidFill>
                  <a:schemeClr val="bg1"/>
                </a:solidFill>
              </a:rPr>
              <a:t>	How many times did I flip “heads”? </a:t>
            </a:r>
          </a:p>
          <a:p>
            <a:pPr marL="0" indent="0">
              <a:buNone/>
            </a:pPr>
            <a:r>
              <a:rPr lang="en-GB" sz="2400" dirty="0">
                <a:solidFill>
                  <a:schemeClr val="bg1"/>
                </a:solidFill>
              </a:rPr>
              <a:t>Continuous Data: </a:t>
            </a:r>
          </a:p>
          <a:p>
            <a:pPr marL="0" indent="0">
              <a:buNone/>
            </a:pPr>
            <a:r>
              <a:rPr lang="en-GB" sz="2400" dirty="0">
                <a:solidFill>
                  <a:schemeClr val="bg1"/>
                </a:solidFill>
              </a:rPr>
              <a:t>	Has an infinite number of possible values</a:t>
            </a:r>
            <a:br>
              <a:rPr lang="en-GB" sz="2400" dirty="0">
                <a:solidFill>
                  <a:schemeClr val="bg1"/>
                </a:solidFill>
              </a:rPr>
            </a:br>
            <a:r>
              <a:rPr lang="en-GB" sz="2400" dirty="0">
                <a:solidFill>
                  <a:schemeClr val="bg1"/>
                </a:solidFill>
              </a:rPr>
              <a:t>	How much time did it take for a user to check 	out? </a:t>
            </a:r>
          </a:p>
          <a:p>
            <a:pPr marL="0" indent="0">
              <a:buNone/>
            </a:pPr>
            <a:r>
              <a:rPr lang="en-GB" sz="2400" dirty="0">
                <a:solidFill>
                  <a:schemeClr val="bg1"/>
                </a:solidFill>
              </a:rPr>
              <a:t>	How much rain fell on a given day?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95125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Categorical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623701"/>
            <a:ext cx="6391080" cy="3712849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Qualitative data that has no inherent mathematical meaning.</a:t>
            </a:r>
          </a:p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Gender, Yes/no (binary data), Race, State of Residence, </a:t>
            </a:r>
          </a:p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Product Category, Political Party, etc. 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You can assign numbers to categories in order to represent them more compactly, but the numbers don’t have mathematical meaning 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0292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Ordinal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791" y="1909823"/>
            <a:ext cx="6354594" cy="3552808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A mixture of numerical and categorical </a:t>
            </a:r>
          </a:p>
          <a:p>
            <a:r>
              <a:rPr lang="en-GB" dirty="0">
                <a:solidFill>
                  <a:schemeClr val="bg1"/>
                </a:solidFill>
              </a:rPr>
              <a:t>Categorical data that has mathematical meaning </a:t>
            </a:r>
          </a:p>
          <a:p>
            <a:r>
              <a:rPr lang="en-GB" dirty="0">
                <a:solidFill>
                  <a:schemeClr val="bg1"/>
                </a:solidFill>
              </a:rPr>
              <a:t>Example: movie ratings on a 1-5 scale. </a:t>
            </a:r>
          </a:p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	Ratings must be 1, 2, 3, 4, or 5 </a:t>
            </a:r>
          </a:p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	But these values have mathematical 	meaning; </a:t>
            </a:r>
          </a:p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	1 means it’s a worse movie than a 2. 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A437B0F0-FA52-5143-8F16-21FDD1ADF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093" y="2613077"/>
            <a:ext cx="3975100" cy="214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1574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Mean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9275" y="1521449"/>
            <a:ext cx="11173722" cy="3815101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AKA Average</a:t>
            </a:r>
          </a:p>
          <a:p>
            <a:r>
              <a:rPr lang="en-GB" dirty="0">
                <a:solidFill>
                  <a:schemeClr val="bg1"/>
                </a:solidFill>
              </a:rPr>
              <a:t>Sum / number of samples </a:t>
            </a:r>
          </a:p>
          <a:p>
            <a:r>
              <a:rPr lang="en-GB" dirty="0">
                <a:solidFill>
                  <a:schemeClr val="bg1"/>
                </a:solidFill>
              </a:rPr>
              <a:t>Example: </a:t>
            </a:r>
          </a:p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	Number of children in each house on my street: 0, 2, 3, 2, 1, 0, 0, 2, 0 </a:t>
            </a:r>
          </a:p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	The MEAN is (0+2+3+2+1+0+0+2+0) / 9 = </a:t>
            </a:r>
            <a:r>
              <a:rPr lang="en-GB" b="1" dirty="0">
                <a:solidFill>
                  <a:schemeClr val="bg1"/>
                </a:solidFill>
              </a:rPr>
              <a:t>1.11 </a:t>
            </a:r>
            <a:endParaRPr lang="en-GB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38016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Median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1">
            <a:extLst>
              <a:ext uri="{FF2B5EF4-FFF2-40B4-BE49-F238E27FC236}">
                <a16:creationId xmlns:a16="http://schemas.microsoft.com/office/drawing/2014/main" id="{B794C3D4-BE3E-D44B-B710-7EC580C36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6182" y="1585765"/>
            <a:ext cx="8181022" cy="30777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42F6D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Sort the values, and take the value at the midpoint.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42F6D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Example: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42F6D"/>
              </a:buClr>
              <a:buSzTx/>
              <a:buFont typeface="Arial" panose="020B0604020202020204" pitchFamily="34" charset="0"/>
              <a:buChar char="•"/>
              <a:tabLst/>
            </a:pPr>
            <a:endParaRPr lang="en-US" alt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42F6D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0, 2, 4, 2, 1, 0, 0, 2, 0 Sort it: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0, 0, 0, 0, 1, 2, 2, 2, 4 </a:t>
            </a: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</a:t>
            </a:r>
            <a:r>
              <a:rPr kumimoji="0" lang="en-US" altLang="en-US" sz="3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 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  <p:pic>
        <p:nvPicPr>
          <p:cNvPr id="1026" name="Picture 2" descr="page15image2960640">
            <a:extLst>
              <a:ext uri="{FF2B5EF4-FFF2-40B4-BE49-F238E27FC236}">
                <a16:creationId xmlns:a16="http://schemas.microsoft.com/office/drawing/2014/main" id="{552028E4-8E6E-EB4A-B262-401EB0497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7728" y="4066631"/>
            <a:ext cx="381000" cy="59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2977502" y="4809342"/>
            <a:ext cx="49112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https://www.youtube.com/watch?v=qglJSIp6n7M</a:t>
            </a:r>
            <a:r>
              <a:rPr lang="en-GB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526509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Median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85765"/>
            <a:ext cx="6877217" cy="3750785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If you have an even number of samples, take the average of the two in the middle. </a:t>
            </a:r>
          </a:p>
          <a:p>
            <a:r>
              <a:rPr lang="en-GB" dirty="0">
                <a:solidFill>
                  <a:schemeClr val="bg1"/>
                </a:solidFill>
              </a:rPr>
              <a:t>Median is less susceptible to outliers than the mean </a:t>
            </a:r>
          </a:p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	Example: mean household income in the US is $72,891, but the median is only $51,234 – because the mean is skewed by a 	handful of billionaires. 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32762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Mode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623701"/>
            <a:ext cx="6823832" cy="3712849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The most common value in a data set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Not relevant to continuous numerical data </a:t>
            </a:r>
          </a:p>
          <a:p>
            <a:r>
              <a:rPr lang="en-GB" dirty="0">
                <a:solidFill>
                  <a:schemeClr val="bg1"/>
                </a:solidFill>
              </a:rPr>
              <a:t>Back to our number of kids in each house example: </a:t>
            </a:r>
          </a:p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		0, 2, 3, 2, 1, 0, 0, 2, 0,0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		How many of each value are 			there? </a:t>
            </a:r>
          </a:p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		0: 5, 1: 1, 2: 3, 3: 1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		The MODE is 0 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626064" y="5878675"/>
            <a:ext cx="50491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https://www.youtube.com/watch?v=xObCUytIVMo</a:t>
            </a:r>
            <a:r>
              <a:rPr lang="en-GB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463548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Histogram-normal distribution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CE0FBDE8-7B0A-6447-83B7-B6E2AC310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790" y="1585765"/>
            <a:ext cx="6934200" cy="397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3171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variance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04717"/>
            <a:ext cx="6796194" cy="3831834"/>
          </a:xfrm>
        </p:spPr>
        <p:txBody>
          <a:bodyPr/>
          <a:lstStyle/>
          <a:p>
            <a:r>
              <a:rPr lang="en-GB" sz="2400" dirty="0">
                <a:solidFill>
                  <a:schemeClr val="bg1"/>
                </a:solidFill>
              </a:rPr>
              <a:t>Variance measures how “spread-out” the data is.</a:t>
            </a:r>
          </a:p>
          <a:p>
            <a:r>
              <a:rPr lang="en-GB" sz="2400" dirty="0">
                <a:solidFill>
                  <a:schemeClr val="bg1"/>
                </a:solidFill>
              </a:rPr>
              <a:t>Variance (𝜎2) is simply the </a:t>
            </a:r>
            <a:r>
              <a:rPr lang="en-GB" sz="2400" b="1" dirty="0">
                <a:solidFill>
                  <a:schemeClr val="bg1"/>
                </a:solidFill>
              </a:rPr>
              <a:t>average of the squared differences from the mean </a:t>
            </a:r>
            <a:endParaRPr lang="en-GB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GB" sz="2400" dirty="0">
                <a:solidFill>
                  <a:schemeClr val="bg1"/>
                </a:solidFill>
              </a:rPr>
              <a:t>	 Example: What is the variance of the data set (1, 4, 5, 4, 8)?</a:t>
            </a:r>
            <a:br>
              <a:rPr lang="en-GB" sz="2400" dirty="0">
                <a:solidFill>
                  <a:schemeClr val="bg1"/>
                </a:solidFill>
              </a:rPr>
            </a:br>
            <a:r>
              <a:rPr lang="en-GB" sz="2400" dirty="0">
                <a:solidFill>
                  <a:schemeClr val="bg1"/>
                </a:solidFill>
              </a:rPr>
              <a:t>	 First find the mean: (1+4+5+4+8)/5 = 4.4</a:t>
            </a:r>
            <a:br>
              <a:rPr lang="en-GB" sz="2400" dirty="0">
                <a:solidFill>
                  <a:schemeClr val="bg1"/>
                </a:solidFill>
              </a:rPr>
            </a:br>
            <a:r>
              <a:rPr lang="en-GB" sz="2400" dirty="0">
                <a:solidFill>
                  <a:schemeClr val="bg1"/>
                </a:solidFill>
              </a:rPr>
              <a:t>	 Now find the differences from the mean: (-3.4, -0.4, 0.6, -0.4, 3.6) 	 Find the squared differences: (11.56, 0.16, 0.36, 0.16, 12.96)</a:t>
            </a:r>
            <a:br>
              <a:rPr lang="en-GB" sz="2400" dirty="0">
                <a:solidFill>
                  <a:schemeClr val="bg1"/>
                </a:solidFill>
              </a:rPr>
            </a:br>
            <a:r>
              <a:rPr lang="en-GB" sz="2400" dirty="0">
                <a:solidFill>
                  <a:schemeClr val="bg1"/>
                </a:solidFill>
              </a:rPr>
              <a:t>	  Find the average of the squared differences: </a:t>
            </a:r>
          </a:p>
          <a:p>
            <a:pPr marL="0" indent="0">
              <a:buNone/>
            </a:pPr>
            <a:r>
              <a:rPr lang="en-GB" sz="2400" dirty="0">
                <a:solidFill>
                  <a:schemeClr val="bg1"/>
                </a:solidFill>
              </a:rPr>
              <a:t>	𝜎</a:t>
            </a:r>
            <a:r>
              <a:rPr lang="en-GB" sz="2400" baseline="30000" dirty="0">
                <a:solidFill>
                  <a:schemeClr val="bg1"/>
                </a:solidFill>
              </a:rPr>
              <a:t>2</a:t>
            </a:r>
            <a:r>
              <a:rPr lang="en-GB" sz="2400" dirty="0">
                <a:solidFill>
                  <a:schemeClr val="bg1"/>
                </a:solidFill>
              </a:rPr>
              <a:t>= (11.56 + 0.16 + 0.36 + 0.16 + 12.96) / 5 = 5.04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097344" y="5933227"/>
            <a:ext cx="49998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https://www.youtube.com/watch?v=deIQeQzPK08</a:t>
            </a:r>
            <a:r>
              <a:rPr lang="en-GB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553222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Standard deviation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85765"/>
            <a:ext cx="7317055" cy="3750785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𝜎</a:t>
            </a:r>
            <a:r>
              <a:rPr lang="en-GB" baseline="30000" dirty="0">
                <a:solidFill>
                  <a:schemeClr val="bg1"/>
                </a:solidFill>
              </a:rPr>
              <a:t>2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i="1" dirty="0">
                <a:solidFill>
                  <a:schemeClr val="bg1"/>
                </a:solidFill>
              </a:rPr>
              <a:t>= 5.04</a:t>
            </a:r>
            <a:br>
              <a:rPr lang="en-GB" i="1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𝜎 = </a:t>
            </a:r>
            <a:r>
              <a:rPr lang="en-GB" dirty="0" err="1">
                <a:solidFill>
                  <a:schemeClr val="bg1"/>
                </a:solidFill>
              </a:rPr>
              <a:t>Sq</a:t>
            </a:r>
            <a:r>
              <a:rPr lang="en-GB" dirty="0">
                <a:solidFill>
                  <a:schemeClr val="bg1"/>
                </a:solidFill>
              </a:rPr>
              <a:t>(5.04) = 2.24 </a:t>
            </a:r>
          </a:p>
          <a:p>
            <a:r>
              <a:rPr lang="en-GB" i="1" dirty="0">
                <a:solidFill>
                  <a:schemeClr val="bg1"/>
                </a:solidFill>
              </a:rPr>
              <a:t>This is usually used as a way to identify outliers. Data points that lie more than one standard deviation from the mean can be considered unusual. </a:t>
            </a:r>
            <a:endParaRPr lang="en-GB" dirty="0">
              <a:solidFill>
                <a:schemeClr val="bg1"/>
              </a:solidFill>
            </a:endParaRPr>
          </a:p>
          <a:p>
            <a:r>
              <a:rPr lang="en-GB" i="1" dirty="0">
                <a:solidFill>
                  <a:schemeClr val="bg1"/>
                </a:solidFill>
              </a:rPr>
              <a:t>You can talk about how extreme a data point is by talking about “how many </a:t>
            </a:r>
            <a:r>
              <a:rPr lang="en-GB" i="1" dirty="0" err="1">
                <a:solidFill>
                  <a:schemeClr val="bg1"/>
                </a:solidFill>
              </a:rPr>
              <a:t>sigmas</a:t>
            </a:r>
            <a:r>
              <a:rPr lang="en-GB" i="1" dirty="0">
                <a:solidFill>
                  <a:schemeClr val="bg1"/>
                </a:solidFill>
              </a:rPr>
              <a:t>” away from the mean it is. </a:t>
            </a:r>
            <a:endParaRPr lang="en-GB" dirty="0">
              <a:solidFill>
                <a:schemeClr val="bg1"/>
              </a:solidFill>
            </a:endParaRPr>
          </a:p>
          <a:p>
            <a:endParaRPr lang="en-US" baseline="3000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058010" y="5336550"/>
            <a:ext cx="49096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https://www.youtube.com/watch?v=qqOyy_NjflU</a:t>
            </a:r>
            <a:r>
              <a:rPr lang="en-GB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371049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Population vs sample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790" y="1585765"/>
            <a:ext cx="7025926" cy="3750785"/>
          </a:xfrm>
        </p:spPr>
        <p:txBody>
          <a:bodyPr/>
          <a:lstStyle/>
          <a:p>
            <a:r>
              <a:rPr lang="en-GB" sz="2000" dirty="0">
                <a:solidFill>
                  <a:schemeClr val="bg1"/>
                </a:solidFill>
              </a:rPr>
              <a:t>If you’re working with a sample of data instead of an entire data set (the entire </a:t>
            </a:r>
            <a:r>
              <a:rPr lang="en-GB" sz="2000" i="1" dirty="0">
                <a:solidFill>
                  <a:schemeClr val="bg1"/>
                </a:solidFill>
              </a:rPr>
              <a:t>population</a:t>
            </a:r>
            <a:r>
              <a:rPr lang="en-GB" sz="2000" dirty="0">
                <a:solidFill>
                  <a:schemeClr val="bg1"/>
                </a:solidFill>
              </a:rPr>
              <a:t>)... </a:t>
            </a:r>
          </a:p>
          <a:p>
            <a:r>
              <a:rPr lang="en-GB" sz="2000" dirty="0">
                <a:solidFill>
                  <a:schemeClr val="bg1"/>
                </a:solidFill>
              </a:rPr>
              <a:t>Then you want to use the “sample variance” instead of the “population variance” </a:t>
            </a:r>
          </a:p>
          <a:p>
            <a:r>
              <a:rPr lang="en-GB" sz="2000" dirty="0">
                <a:solidFill>
                  <a:schemeClr val="bg1"/>
                </a:solidFill>
              </a:rPr>
              <a:t>For N samples, you just divide the squared variances by N-1 instead of N. </a:t>
            </a:r>
          </a:p>
          <a:p>
            <a:r>
              <a:rPr lang="en-GB" sz="2000" dirty="0">
                <a:solidFill>
                  <a:schemeClr val="bg1"/>
                </a:solidFill>
              </a:rPr>
              <a:t> So, in our example, we computed the population variance like this: 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bg1"/>
                </a:solidFill>
              </a:rPr>
              <a:t>	𝜎2= (11.56 + 0.16 + 0.36 + 0.16 + 12.96) / 5 = 5.04 ▫</a:t>
            </a:r>
          </a:p>
          <a:p>
            <a:r>
              <a:rPr lang="en-GB" sz="2000" dirty="0">
                <a:solidFill>
                  <a:schemeClr val="bg1"/>
                </a:solidFill>
              </a:rPr>
              <a:t>But the sample variance would be: 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bg1"/>
                </a:solidFill>
              </a:rPr>
              <a:t>	𝑆2= (11.56 + 0.16 + 0.36 + 0.16 + 12.96) / 4 = 6.3 </a:t>
            </a:r>
          </a:p>
          <a:p>
            <a:endParaRPr lang="en-US" sz="200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57812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Population vs sample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AF2DCA3A-40F7-3F47-8ADC-1B7D0B9CA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860" y="1739900"/>
            <a:ext cx="5664200" cy="337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3436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Probability density function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303" y="1255842"/>
            <a:ext cx="6680447" cy="3863011"/>
          </a:xfrm>
        </p:spPr>
        <p:txBody>
          <a:bodyPr/>
          <a:lstStyle/>
          <a:p>
            <a:r>
              <a:rPr lang="en-GB" sz="2400" dirty="0">
                <a:solidFill>
                  <a:schemeClr val="bg1"/>
                </a:solidFill>
              </a:rPr>
              <a:t>The probability that a random variable X</a:t>
            </a:r>
            <a:r>
              <a:rPr lang="en-GB" sz="2400" i="1" dirty="0">
                <a:solidFill>
                  <a:schemeClr val="bg1"/>
                </a:solidFill>
              </a:rPr>
              <a:t> </a:t>
            </a:r>
            <a:r>
              <a:rPr lang="en-GB" sz="2400" dirty="0">
                <a:solidFill>
                  <a:schemeClr val="bg1"/>
                </a:solidFill>
              </a:rPr>
              <a:t>takes a value in the (open or closed) interval [</a:t>
            </a:r>
            <a:r>
              <a:rPr lang="en-GB" sz="2400" dirty="0" err="1">
                <a:solidFill>
                  <a:schemeClr val="bg1"/>
                </a:solidFill>
              </a:rPr>
              <a:t>a,b</a:t>
            </a:r>
            <a:r>
              <a:rPr lang="en-GB" sz="2400" dirty="0">
                <a:solidFill>
                  <a:schemeClr val="bg1"/>
                </a:solidFill>
              </a:rPr>
              <a:t>] is given by the integral of a function called the </a:t>
            </a:r>
            <a:r>
              <a:rPr lang="en-GB" sz="2400" b="1" dirty="0">
                <a:solidFill>
                  <a:schemeClr val="bg1"/>
                </a:solidFill>
              </a:rPr>
              <a:t>probability density function </a:t>
            </a:r>
            <a:r>
              <a:rPr lang="en-GB" sz="2400" b="1" dirty="0" err="1">
                <a:solidFill>
                  <a:schemeClr val="bg1"/>
                </a:solidFill>
              </a:rPr>
              <a:t>f</a:t>
            </a:r>
            <a:r>
              <a:rPr lang="en-GB" sz="2400" b="1" baseline="-25000" dirty="0" err="1">
                <a:solidFill>
                  <a:schemeClr val="bg1"/>
                </a:solidFill>
              </a:rPr>
              <a:t>x</a:t>
            </a:r>
            <a:r>
              <a:rPr lang="en-GB" sz="2400" b="1" dirty="0">
                <a:solidFill>
                  <a:schemeClr val="bg1"/>
                </a:solidFill>
              </a:rPr>
              <a:t>(x) :</a:t>
            </a:r>
          </a:p>
          <a:p>
            <a:endParaRPr lang="en-GB" sz="2400" b="1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4C4F6356-4DD9-0746-85F9-CB4FCEF7A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954" y="2978149"/>
            <a:ext cx="3378200" cy="901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429543-F817-B44C-BAA4-30084D912B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4374" y="2589672"/>
            <a:ext cx="7555713" cy="32755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8943ABC-6205-5647-AAFB-6E9E369DD7DD}"/>
              </a:ext>
            </a:extLst>
          </p:cNvPr>
          <p:cNvSpPr txBox="1"/>
          <p:nvPr/>
        </p:nvSpPr>
        <p:spPr>
          <a:xfrm>
            <a:off x="1161049" y="6081607"/>
            <a:ext cx="85384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Gives you the probability of a data point falling within some given range of a given value. 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1791" y="5545375"/>
            <a:ext cx="357666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https://www.youtube.com/watch?v=Fvi9A_tEmXQ</a:t>
            </a:r>
            <a:r>
              <a:rPr lang="en-GB" sz="1200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591912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Percentile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16315"/>
            <a:ext cx="6286908" cy="3820236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A percentile (or a centile) is a measure used in statistics indicating the value </a:t>
            </a:r>
            <a:r>
              <a:rPr lang="en-GB" i="1" dirty="0">
                <a:solidFill>
                  <a:schemeClr val="bg1"/>
                </a:solidFill>
              </a:rPr>
              <a:t>below which</a:t>
            </a:r>
            <a:r>
              <a:rPr lang="en-GB" dirty="0">
                <a:solidFill>
                  <a:schemeClr val="bg1"/>
                </a:solidFill>
              </a:rPr>
              <a:t> a given percentage of observations in a group of observations fall. </a:t>
            </a:r>
          </a:p>
          <a:p>
            <a:r>
              <a:rPr lang="en-GB" dirty="0">
                <a:solidFill>
                  <a:schemeClr val="bg1"/>
                </a:solidFill>
              </a:rPr>
              <a:t>For example, the 20th percentile is the value (or score) below which 20% of the observations may be found.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17273" y="5336551"/>
            <a:ext cx="50779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https://www.youtube.com/watch?v=Ngyt8Q5tWkU</a:t>
            </a:r>
            <a:r>
              <a:rPr lang="en-GB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215002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791" y="166774"/>
            <a:ext cx="9097686" cy="106822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Percentile in a normal distribution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A0E5222-4CEE-1D4B-9D67-901B773E4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2" y="1234997"/>
            <a:ext cx="5759104" cy="5388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3262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Moments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469985"/>
            <a:ext cx="7201308" cy="3866565"/>
          </a:xfrm>
        </p:spPr>
        <p:txBody>
          <a:bodyPr/>
          <a:lstStyle/>
          <a:p>
            <a:r>
              <a:rPr lang="en-GB" sz="2000" dirty="0">
                <a:solidFill>
                  <a:schemeClr val="bg1"/>
                </a:solidFill>
              </a:rPr>
              <a:t>Quantitative measures of the shape of a probability density function </a:t>
            </a:r>
          </a:p>
          <a:p>
            <a:r>
              <a:rPr lang="en-GB" sz="2000" dirty="0">
                <a:solidFill>
                  <a:schemeClr val="bg1"/>
                </a:solidFill>
              </a:rPr>
              <a:t>Mathematically they are a bit hard to wrap your head around: </a:t>
            </a:r>
          </a:p>
          <a:p>
            <a:endParaRPr lang="en-GB" sz="2000" dirty="0">
              <a:solidFill>
                <a:schemeClr val="bg1"/>
              </a:solidFill>
            </a:endParaRPr>
          </a:p>
          <a:p>
            <a:endParaRPr lang="en-GB" sz="2000" dirty="0">
              <a:solidFill>
                <a:schemeClr val="bg1"/>
              </a:solidFill>
            </a:endParaRPr>
          </a:p>
          <a:p>
            <a:r>
              <a:rPr lang="en-GB" sz="2000" dirty="0">
                <a:solidFill>
                  <a:schemeClr val="bg1"/>
                </a:solidFill>
              </a:rPr>
              <a:t>But intuitively, it’s a lot simpler in statistics. </a:t>
            </a:r>
          </a:p>
          <a:p>
            <a:r>
              <a:rPr lang="en-GB" sz="2000" dirty="0">
                <a:solidFill>
                  <a:schemeClr val="bg1"/>
                </a:solidFill>
              </a:rPr>
              <a:t>The first moment is the mean. </a:t>
            </a:r>
          </a:p>
          <a:p>
            <a:r>
              <a:rPr lang="en-GB" sz="2000" dirty="0">
                <a:solidFill>
                  <a:schemeClr val="bg1"/>
                </a:solidFill>
              </a:rPr>
              <a:t>The second moment is the variance. </a:t>
            </a:r>
          </a:p>
          <a:p>
            <a:endParaRPr lang="en-GB" sz="2000" dirty="0">
              <a:solidFill>
                <a:schemeClr val="bg1"/>
              </a:solidFill>
            </a:endParaRPr>
          </a:p>
          <a:p>
            <a:endParaRPr lang="en-GB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16688C0A-E248-0940-A7A6-B4E57B16B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373" y="2620995"/>
            <a:ext cx="8497104" cy="66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6860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Third Moment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9806" y="1284790"/>
            <a:ext cx="6343900" cy="1364872"/>
          </a:xfrm>
        </p:spPr>
        <p:txBody>
          <a:bodyPr/>
          <a:lstStyle/>
          <a:p>
            <a:r>
              <a:rPr lang="en-GB" sz="2400" dirty="0">
                <a:solidFill>
                  <a:schemeClr val="bg1"/>
                </a:solidFill>
              </a:rPr>
              <a:t>How “lopsided” is the distribution? </a:t>
            </a:r>
          </a:p>
          <a:p>
            <a:r>
              <a:rPr lang="en-GB" sz="2400" dirty="0">
                <a:solidFill>
                  <a:schemeClr val="bg1"/>
                </a:solidFill>
              </a:rPr>
              <a:t>A distribution with a longer tail on the left will be skewed left, and have a negative skew.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D7B486EE-F20F-994E-A8C9-F68CED475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804" y="2649662"/>
            <a:ext cx="7972673" cy="301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6476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Fourth moment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238491"/>
            <a:ext cx="6136437" cy="1438879"/>
          </a:xfrm>
        </p:spPr>
        <p:txBody>
          <a:bodyPr/>
          <a:lstStyle/>
          <a:p>
            <a:r>
              <a:rPr lang="en-GB" sz="2400" dirty="0">
                <a:solidFill>
                  <a:schemeClr val="bg1"/>
                </a:solidFill>
              </a:rPr>
              <a:t>The fourth moment is “kurtosis” </a:t>
            </a:r>
          </a:p>
          <a:p>
            <a:r>
              <a:rPr lang="en-GB" sz="2400" dirty="0">
                <a:solidFill>
                  <a:schemeClr val="bg1"/>
                </a:solidFill>
              </a:rPr>
              <a:t> How thick is the tail, and how sharp is the peak, compared to a normal distribution? </a:t>
            </a:r>
          </a:p>
          <a:p>
            <a:r>
              <a:rPr lang="en-GB" sz="2400" dirty="0">
                <a:solidFill>
                  <a:schemeClr val="bg1"/>
                </a:solidFill>
              </a:rPr>
              <a:t>Example:</a:t>
            </a:r>
          </a:p>
          <a:p>
            <a:pPr marL="0" indent="0">
              <a:buNone/>
            </a:pPr>
            <a:r>
              <a:rPr lang="en-GB" sz="2400" dirty="0">
                <a:solidFill>
                  <a:schemeClr val="bg1"/>
                </a:solidFill>
              </a:rPr>
              <a:t>       higher peaks have higher kurtosis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0250A9CF-0172-BF41-878D-E31F8201D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076" y="2652040"/>
            <a:ext cx="5246871" cy="3650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0236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Correlation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85765"/>
            <a:ext cx="6703597" cy="3750785"/>
          </a:xfrm>
        </p:spPr>
        <p:txBody>
          <a:bodyPr/>
          <a:lstStyle/>
          <a:p>
            <a:r>
              <a:rPr lang="en-GB" sz="2400" b="1" dirty="0">
                <a:solidFill>
                  <a:schemeClr val="bg1"/>
                </a:solidFill>
              </a:rPr>
              <a:t>Correlation</a:t>
            </a:r>
            <a:r>
              <a:rPr lang="en-GB" sz="2400" dirty="0">
                <a:solidFill>
                  <a:schemeClr val="bg1"/>
                </a:solidFill>
              </a:rPr>
              <a:t> is a term that is a measure of the strength of a linear relationship between two quantitative variables (e.g., height, weight). </a:t>
            </a:r>
          </a:p>
          <a:p>
            <a:r>
              <a:rPr lang="en-GB" sz="2400" dirty="0">
                <a:solidFill>
                  <a:schemeClr val="bg1"/>
                </a:solidFill>
              </a:rPr>
              <a:t>Correlation of -1 means a perfect inverse correlation</a:t>
            </a:r>
          </a:p>
          <a:p>
            <a:pPr marL="0" indent="0">
              <a:buNone/>
            </a:pPr>
            <a:r>
              <a:rPr lang="en-GB" sz="2400" dirty="0">
                <a:solidFill>
                  <a:schemeClr val="bg1"/>
                </a:solidFill>
              </a:rPr>
              <a:t>	Correlation of 0: no correlation</a:t>
            </a:r>
            <a:br>
              <a:rPr lang="en-GB" sz="2400" dirty="0">
                <a:solidFill>
                  <a:schemeClr val="bg1"/>
                </a:solidFill>
              </a:rPr>
            </a:br>
            <a:r>
              <a:rPr lang="en-GB" sz="2400" dirty="0">
                <a:solidFill>
                  <a:schemeClr val="bg1"/>
                </a:solidFill>
              </a:rPr>
              <a:t>	Correlation 1: perfect correlation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268061" y="4707374"/>
            <a:ext cx="50686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https://www.youtube.com/watch?v=dsyTQNUvqH0</a:t>
            </a:r>
            <a:r>
              <a:rPr lang="en-GB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342784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Conditional </a:t>
            </a:r>
            <a:r>
              <a:rPr lang="en-GB" dirty="0" err="1">
                <a:solidFill>
                  <a:schemeClr val="bg1"/>
                </a:solidFill>
              </a:rPr>
              <a:t>probabilty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85765"/>
            <a:ext cx="6610999" cy="3750785"/>
          </a:xfrm>
        </p:spPr>
        <p:txBody>
          <a:bodyPr/>
          <a:lstStyle/>
          <a:p>
            <a:r>
              <a:rPr lang="en-GB" sz="2400" dirty="0">
                <a:solidFill>
                  <a:schemeClr val="bg1"/>
                </a:solidFill>
              </a:rPr>
              <a:t>If I have two events that depend on each other, what’s the probability that both will occur? </a:t>
            </a:r>
          </a:p>
          <a:p>
            <a:r>
              <a:rPr lang="en-GB" sz="2400" dirty="0">
                <a:solidFill>
                  <a:schemeClr val="bg1"/>
                </a:solidFill>
              </a:rPr>
              <a:t>Notation: P(A,B) is the probability of A and B both occurring • P(B|A) : Probability of B given that A has occurred</a:t>
            </a:r>
          </a:p>
          <a:p>
            <a:r>
              <a:rPr lang="en-GB" sz="2400" dirty="0">
                <a:solidFill>
                  <a:schemeClr val="bg1"/>
                </a:solidFill>
              </a:rPr>
              <a:t>We know: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5152F43-0C71-1245-A8D8-839E0F627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866" y="3965629"/>
            <a:ext cx="5583382" cy="161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9262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Example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770927"/>
            <a:ext cx="6896542" cy="3565623"/>
          </a:xfrm>
        </p:spPr>
        <p:txBody>
          <a:bodyPr/>
          <a:lstStyle/>
          <a:p>
            <a:r>
              <a:rPr lang="en-GB" sz="2400" dirty="0">
                <a:solidFill>
                  <a:schemeClr val="bg1"/>
                </a:solidFill>
              </a:rPr>
              <a:t>I give my students two tests. 60% of my students passed both tests, but the first test was easier – 80% passed that one. What percentage of students who passed the first test also passed the second? </a:t>
            </a:r>
          </a:p>
          <a:p>
            <a:r>
              <a:rPr lang="en-GB" sz="2400" dirty="0">
                <a:solidFill>
                  <a:schemeClr val="bg1"/>
                </a:solidFill>
              </a:rPr>
              <a:t>A = passing the first test, B = passing the second test </a:t>
            </a:r>
          </a:p>
          <a:p>
            <a:r>
              <a:rPr lang="en-GB" sz="2400" dirty="0">
                <a:solidFill>
                  <a:schemeClr val="bg1"/>
                </a:solidFill>
              </a:rPr>
              <a:t>So we are asking for P(B|A) – the probability of B given A </a:t>
            </a:r>
          </a:p>
          <a:p>
            <a:r>
              <a:rPr lang="en-GB" sz="2400" dirty="0">
                <a:solidFill>
                  <a:schemeClr val="bg1"/>
                </a:solidFill>
              </a:rPr>
              <a:t>P(B|A) = P(A,B) / P(A) = 0.6 / 0.8 = 0.75 </a:t>
            </a:r>
          </a:p>
          <a:p>
            <a:r>
              <a:rPr lang="en-GB" sz="2400" dirty="0">
                <a:solidFill>
                  <a:schemeClr val="bg1"/>
                </a:solidFill>
              </a:rPr>
              <a:t>75% of students who passed the first test passed the second. 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45331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791" y="227564"/>
            <a:ext cx="7612569" cy="150192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Data science for beginners with python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49734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06376" y="3244334"/>
            <a:ext cx="50321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https://www.youtube.com/watch?v=jNeUBWrrRsQ</a:t>
            </a:r>
            <a:r>
              <a:rPr lang="en-GB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490419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51203" y="473254"/>
            <a:ext cx="41406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b="1" spc="-50" dirty="0">
                <a:solidFill>
                  <a:schemeClr val="bg1"/>
                </a:solidFill>
              </a:rPr>
              <a:t>+44 (0)207 016 8000</a:t>
            </a:r>
          </a:p>
          <a:p>
            <a:pPr algn="r"/>
            <a:r>
              <a:rPr lang="en-GB" sz="2400" b="1" spc="-50" dirty="0">
                <a:solidFill>
                  <a:schemeClr val="bg1"/>
                </a:solidFill>
              </a:rPr>
              <a:t>info@rcl.ac.uk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C5E74A4-5FCD-B077-F6C6-2E8B35A40B2A}"/>
              </a:ext>
            </a:extLst>
          </p:cNvPr>
          <p:cNvSpPr txBox="1">
            <a:spLocks/>
          </p:cNvSpPr>
          <p:nvPr/>
        </p:nvSpPr>
        <p:spPr>
          <a:xfrm>
            <a:off x="1493042" y="2678039"/>
            <a:ext cx="7612569" cy="15019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381126769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with title v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EEF4A9A-6F52-463F-B9BD-692FFDDA97F4}" vid="{F337B077-720F-4B8E-B798-F176975EC2C4}"/>
    </a:ext>
  </a:extLst>
</a:theme>
</file>

<file path=ppt/theme/theme2.xml><?xml version="1.0" encoding="utf-8"?>
<a:theme xmlns:a="http://schemas.openxmlformats.org/drawingml/2006/main" name="Standar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EEF4A9A-6F52-463F-B9BD-692FFDDA97F4}" vid="{09A1DB2C-4B5C-4017-B6FF-EB1754EDCDEC}"/>
    </a:ext>
  </a:extLst>
</a:theme>
</file>

<file path=ppt/theme/theme3.xml><?xml version="1.0" encoding="utf-8"?>
<a:theme xmlns:a="http://schemas.openxmlformats.org/drawingml/2006/main" name="1_With pictur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EEF4A9A-6F52-463F-B9BD-692FFDDA97F4}" vid="{F72C3147-3FEF-4CF9-AC97-23DC2D5D868E}"/>
    </a:ext>
  </a:extLst>
</a:theme>
</file>

<file path=ppt/theme/theme4.xml><?xml version="1.0" encoding="utf-8"?>
<a:theme xmlns:a="http://schemas.openxmlformats.org/drawingml/2006/main" name="Back cov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EEF4A9A-6F52-463F-B9BD-692FFDDA97F4}" vid="{F60A8510-89EC-4E20-8B1F-07A70434F97F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75ef6c9-0060-4440-9efa-3aae0a8a23a8">
      <Terms xmlns="http://schemas.microsoft.com/office/infopath/2007/PartnerControls"/>
    </lcf76f155ced4ddcb4097134ff3c332f>
    <TaxCatchAll xmlns="9d301abb-ba59-43ab-9a75-408870ab3cc0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DB369FD76D0546996D1DC1AD8E7EDB" ma:contentTypeVersion="14" ma:contentTypeDescription="Create a new document." ma:contentTypeScope="" ma:versionID="a8a246a838d298cff2420937b2d1f928">
  <xsd:schema xmlns:xsd="http://www.w3.org/2001/XMLSchema" xmlns:xs="http://www.w3.org/2001/XMLSchema" xmlns:p="http://schemas.microsoft.com/office/2006/metadata/properties" xmlns:ns2="175ef6c9-0060-4440-9efa-3aae0a8a23a8" xmlns:ns3="9d301abb-ba59-43ab-9a75-408870ab3cc0" targetNamespace="http://schemas.microsoft.com/office/2006/metadata/properties" ma:root="true" ma:fieldsID="2dd389673d4a76d7545e311e243f8361" ns2:_="" ns3:_="">
    <xsd:import namespace="175ef6c9-0060-4440-9efa-3aae0a8a23a8"/>
    <xsd:import namespace="9d301abb-ba59-43ab-9a75-408870ab3cc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5ef6c9-0060-4440-9efa-3aae0a8a23a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4247cd83-a7c4-41c3-9ccf-b3de8fb2a7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301abb-ba59-43ab-9a75-408870ab3cc0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8b33bba8-9c31-41b7-9cc8-b10a3e474c41}" ma:internalName="TaxCatchAll" ma:showField="CatchAllData" ma:web="9d301abb-ba59-43ab-9a75-408870ab3cc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62B2D3C-25D4-464F-BCA1-AFB62F16217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2DD5A7-A4C3-4402-B37F-DD1845CD5537}">
  <ds:schemaRefs>
    <ds:schemaRef ds:uri="http://schemas.microsoft.com/office/2006/metadata/properties"/>
    <ds:schemaRef ds:uri="http://schemas.microsoft.com/office/infopath/2007/PartnerControls"/>
    <ds:schemaRef ds:uri="175ef6c9-0060-4440-9efa-3aae0a8a23a8"/>
    <ds:schemaRef ds:uri="9d301abb-ba59-43ab-9a75-408870ab3cc0"/>
  </ds:schemaRefs>
</ds:datastoreItem>
</file>

<file path=customXml/itemProps3.xml><?xml version="1.0" encoding="utf-8"?>
<ds:datastoreItem xmlns:ds="http://schemas.openxmlformats.org/officeDocument/2006/customXml" ds:itemID="{4422D590-2836-4E54-8F29-6401E3F577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5ef6c9-0060-4440-9efa-3aae0a8a23a8"/>
    <ds:schemaRef ds:uri="9d301abb-ba59-43ab-9a75-408870ab3cc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Light blue-Cover</Template>
  <TotalTime>0</TotalTime>
  <Words>2397</Words>
  <Application>Microsoft Office PowerPoint</Application>
  <PresentationFormat>Widescreen</PresentationFormat>
  <Paragraphs>311</Paragraphs>
  <Slides>40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40</vt:i4>
      </vt:variant>
    </vt:vector>
  </HeadingPairs>
  <TitlesOfParts>
    <vt:vector size="48" baseType="lpstr">
      <vt:lpstr>Arial</vt:lpstr>
      <vt:lpstr>Arial Unicode MS</vt:lpstr>
      <vt:lpstr>Calibri</vt:lpstr>
      <vt:lpstr>Tahoma</vt:lpstr>
      <vt:lpstr>Cover with title v1</vt:lpstr>
      <vt:lpstr>Standart</vt:lpstr>
      <vt:lpstr>1_With picture</vt:lpstr>
      <vt:lpstr>Back cover</vt:lpstr>
      <vt:lpstr>Applied Machine learning</vt:lpstr>
      <vt:lpstr>Applied Machine learning </vt:lpstr>
      <vt:lpstr>Machine learning</vt:lpstr>
      <vt:lpstr>PowerPoint Presentation</vt:lpstr>
      <vt:lpstr>Learning objectives</vt:lpstr>
      <vt:lpstr>What is Data Science?</vt:lpstr>
      <vt:lpstr>Relationship between Data Science, AI and ML</vt:lpstr>
      <vt:lpstr>Relationship between Data Science, AI and ML</vt:lpstr>
      <vt:lpstr>Relationship between Data Science, AI and ML</vt:lpstr>
      <vt:lpstr>Importance of Data Science in AI and ML</vt:lpstr>
      <vt:lpstr>What is Feature Engineering in ML</vt:lpstr>
      <vt:lpstr>Key steps in Feature Engineering</vt:lpstr>
      <vt:lpstr>Real world example of Feature Engineering</vt:lpstr>
      <vt:lpstr>Real world example of Feature Engineering</vt:lpstr>
      <vt:lpstr>Real world example of Feature Engineering</vt:lpstr>
      <vt:lpstr>Feature Engineering in Summary</vt:lpstr>
      <vt:lpstr>Type of data &amp; Statistical analysis</vt:lpstr>
      <vt:lpstr>Numerical</vt:lpstr>
      <vt:lpstr>Categorical</vt:lpstr>
      <vt:lpstr>Ordinal</vt:lpstr>
      <vt:lpstr>Mean</vt:lpstr>
      <vt:lpstr>Median</vt:lpstr>
      <vt:lpstr>Median</vt:lpstr>
      <vt:lpstr>Mode</vt:lpstr>
      <vt:lpstr>Histogram-normal distribution</vt:lpstr>
      <vt:lpstr>variance</vt:lpstr>
      <vt:lpstr>Standard deviation</vt:lpstr>
      <vt:lpstr>Population vs sample</vt:lpstr>
      <vt:lpstr>Population vs sample</vt:lpstr>
      <vt:lpstr>Probability density function</vt:lpstr>
      <vt:lpstr>Percentile</vt:lpstr>
      <vt:lpstr>Percentile in a normal distribution</vt:lpstr>
      <vt:lpstr>Moments</vt:lpstr>
      <vt:lpstr>Third Moment</vt:lpstr>
      <vt:lpstr>Fourth moment</vt:lpstr>
      <vt:lpstr>Correlation</vt:lpstr>
      <vt:lpstr>Conditional probabilty</vt:lpstr>
      <vt:lpstr>Example</vt:lpstr>
      <vt:lpstr>Data science for beginners with python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Bachelor’s degree</dc:title>
  <dc:creator>Nalinda Somasiri</dc:creator>
  <cp:lastModifiedBy>Somdip Dey</cp:lastModifiedBy>
  <cp:revision>70</cp:revision>
  <dcterms:created xsi:type="dcterms:W3CDTF">2021-07-24T10:34:01Z</dcterms:created>
  <dcterms:modified xsi:type="dcterms:W3CDTF">2026-01-30T11:27:04Z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0x01010064DB369FD76D0546996D1DC1AD8E7EDB</vt:lpwstr>
  </property>
  <property fmtid="{D5CDD505-2E9C-101B-9397-08002B2CF9AE}" pid="3" name="MediaServiceImageTags">
    <vt:lpwstr/>
  </property>
</Properties>
</file>