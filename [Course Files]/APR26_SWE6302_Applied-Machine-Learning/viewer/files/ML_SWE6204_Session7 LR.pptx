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slideLayouts/slideLayout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  <p:sldMasterId id="2147483732" r:id="rId5"/>
    <p:sldMasterId id="2147483658" r:id="rId6"/>
    <p:sldMasterId id="2147483710" r:id="rId7"/>
    <p:sldMasterId id="2147483706" r:id="rId8"/>
  </p:sldMasterIdLst>
  <p:notesMasterIdLst>
    <p:notesMasterId r:id="rId31"/>
  </p:notesMasterIdLst>
  <p:sldIdLst>
    <p:sldId id="261" r:id="rId9"/>
    <p:sldId id="257" r:id="rId10"/>
    <p:sldId id="265" r:id="rId11"/>
    <p:sldId id="306" r:id="rId12"/>
    <p:sldId id="311" r:id="rId13"/>
    <p:sldId id="374" r:id="rId14"/>
    <p:sldId id="375" r:id="rId15"/>
    <p:sldId id="376" r:id="rId16"/>
    <p:sldId id="313" r:id="rId17"/>
    <p:sldId id="314" r:id="rId18"/>
    <p:sldId id="315" r:id="rId19"/>
    <p:sldId id="371" r:id="rId20"/>
    <p:sldId id="316" r:id="rId21"/>
    <p:sldId id="317" r:id="rId22"/>
    <p:sldId id="318" r:id="rId23"/>
    <p:sldId id="366" r:id="rId24"/>
    <p:sldId id="370" r:id="rId25"/>
    <p:sldId id="367" r:id="rId26"/>
    <p:sldId id="368" r:id="rId27"/>
    <p:sldId id="369" r:id="rId28"/>
    <p:sldId id="373" r:id="rId29"/>
    <p:sldId id="26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4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696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3/23/2022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ishisid.medium.com/?source=post_page-----8b334a3dab09-----------------------------------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https://www.mygreatlearning.com/blog/linear-regression-in-machine-learning/</a:t>
            </a:r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  <a:p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  <a:p>
            <a:pPr algn="l"/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method tries to find the best fit line which shows the relationship between the dependent variable and predictors with least error. </a:t>
            </a:r>
          </a:p>
          <a:p>
            <a:pPr algn="l"/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In regression, the output/dependent variable is the function of an independent variable and the coefficient and the error term.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4342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812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369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104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6983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480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220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2E104D-C80E-6B44-82FA-6DDCE0FDA00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756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can place the line "by eye": try to have the line as close as possible to all points, and a similar number of points above and below the line. 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82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u="none" strike="noStrike" dirty="0">
              <a:effectLst/>
              <a:latin typeface="inherit"/>
              <a:hlinkClick r:id="rId3"/>
            </a:endParaRPr>
          </a:p>
          <a:p>
            <a:endParaRPr lang="en-GB" u="none" strike="noStrike" dirty="0">
              <a:effectLst/>
              <a:latin typeface="inherit"/>
              <a:hlinkClick r:id="rId3"/>
            </a:endParaRPr>
          </a:p>
          <a:p>
            <a:r>
              <a:rPr lang="en-GB" b="0" u="none" strike="noStrike" dirty="0">
                <a:solidFill>
                  <a:srgbClr val="292929"/>
                </a:solidFill>
                <a:effectLst/>
                <a:latin typeface="inherit"/>
                <a:hlinkClick r:id="rId3"/>
              </a:rPr>
              <a:t>Rishi Sidhu</a:t>
            </a:r>
            <a:endParaRPr lang="en-GB" b="0" dirty="0">
              <a:solidFill>
                <a:srgbClr val="292929"/>
              </a:solidFill>
              <a:effectLst/>
              <a:latin typeface="sohne"/>
            </a:endParaRP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Jun 5, 2019</a:t>
            </a: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·</a:t>
            </a:r>
            <a:endParaRPr lang="en-GB" dirty="0">
              <a:effectLst/>
            </a:endParaRP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 </a:t>
            </a:r>
          </a:p>
          <a:p>
            <a:r>
              <a:rPr lang="en-GB" b="0" dirty="0">
                <a:solidFill>
                  <a:srgbClr val="757575"/>
                </a:solidFill>
                <a:effectLst/>
                <a:latin typeface="sohne"/>
              </a:rPr>
              <a:t>·</a:t>
            </a:r>
            <a:endParaRPr lang="en-GB" dirty="0">
              <a:effectLst/>
            </a:endParaRPr>
          </a:p>
          <a:p>
            <a:r>
              <a:rPr lang="en-GB" b="0" dirty="0">
                <a:solidFill>
                  <a:srgbClr val="668AAA"/>
                </a:solidFill>
                <a:effectLst/>
                <a:latin typeface="sohne"/>
              </a:rPr>
              <a:t>Listen</a:t>
            </a:r>
          </a:p>
          <a:p>
            <a:r>
              <a:rPr lang="en-GB" b="1" i="0" dirty="0">
                <a:solidFill>
                  <a:srgbClr val="292929"/>
                </a:solidFill>
                <a:effectLst/>
                <a:latin typeface="sohne"/>
              </a:rPr>
              <a:t>Layman’s Introduction to Linear Regression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305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0324-914A-964A-9804-CEE5E14C6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64A1C-B966-2A49-9104-678C3FAF2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351DC-8943-8644-A339-8FC809865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3/23/2022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46BE7-F85D-E646-AB8C-E26CABBC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D89FD-808A-0D41-BCB1-C155998F3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78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  <p:sldLayoutId id="2147483734" r:id="rId3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laymans-introduction-to-linear-regression-8b334a3dab09#:~:text=Linear%20regression%20attempts%20to%20model,variable%20(e.g.%20your%20expenses)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rishisid.medium.com/?source=post_page-----8b334a3dab09-----------------------------------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REGRESSION METHODS</a:t>
            </a:r>
            <a:endParaRPr lang="en-GB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Linear Regression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the Linear Regression Loss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R-Squared Error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Linear Regression Python example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is a method of </a:t>
            </a:r>
            <a:r>
              <a:rPr lang="en-GB" sz="2000" b="0" i="0" dirty="0" err="1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modeling</a:t>
            </a:r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 a target value based on independent predictors</a:t>
            </a:r>
          </a:p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It is a statistical tool which is used to find out the relationship between the outcome variable also known as the dependent variable, and one or more variable often called as independent variables</a:t>
            </a:r>
          </a:p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This method is mostly used for forecasting and finding out cause-and-effect relationships between variables</a:t>
            </a:r>
          </a:p>
          <a:p>
            <a:r>
              <a:rPr lang="en-GB" sz="20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techniques mostly differ based on the number of independent variables and the type of relationship between the independent and dependent variables. </a:t>
            </a:r>
            <a:endParaRPr 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67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283324"/>
            <a:ext cx="10712388" cy="4265923"/>
          </a:xfrm>
        </p:spPr>
        <p:txBody>
          <a:bodyPr/>
          <a:lstStyle/>
          <a:p>
            <a:pPr algn="l"/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Regression method tries to find the best fit line which shows the relationship between the dependent variable and predictors with least error. </a:t>
            </a:r>
          </a:p>
          <a:p>
            <a:pPr algn="l"/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In regression, the output/dependent variable is the function of an independent variable and the coefficient and the error term.</a:t>
            </a:r>
          </a:p>
          <a:p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Linear Regression is the basic form of regression analysis. It assumes that there is a linear relationship between the dependent variable and the predictor(s). </a:t>
            </a:r>
          </a:p>
          <a:p>
            <a:r>
              <a:rPr lang="en-GB" sz="2400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 </a:t>
            </a:r>
            <a:endParaRPr lang="en-US" sz="24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9408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2698858"/>
          </a:xfrm>
        </p:spPr>
        <p:txBody>
          <a:bodyPr/>
          <a:lstStyle/>
          <a:p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Through the best fit line, we can describe the impact of change in independent variables on the dependent variable. </a:t>
            </a:r>
          </a:p>
          <a:p>
            <a:pPr algn="l"/>
            <a:endParaRPr lang="en-GB" b="0" i="0" dirty="0">
              <a:solidFill>
                <a:srgbClr val="222222"/>
              </a:solidFill>
              <a:effectLst/>
              <a:latin typeface="Poppins" panose="00000500000000000000" pitchFamily="2" charset="0"/>
            </a:endParaRP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Poppins" panose="00000500000000000000" pitchFamily="2" charset="0"/>
              </a:rPr>
              <a:t>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30" name="Picture 6">
            <a:extLst>
              <a:ext uri="{FF2B5EF4-FFF2-40B4-BE49-F238E27FC236}">
                <a16:creationId xmlns:a16="http://schemas.microsoft.com/office/drawing/2014/main" id="{D2145C99-DA40-47CD-8DC6-6C289E0AB6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539" y="3244645"/>
            <a:ext cx="4838700" cy="1240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F6CC599-8E99-4CA1-93A1-805F8C90B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13" y="2933525"/>
            <a:ext cx="6121198" cy="2644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4830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REGRESSION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Fit a line to a data set of observations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Use this line to predict unobserved values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1" descr="page63image1795104">
            <a:extLst>
              <a:ext uri="{FF2B5EF4-FFF2-40B4-BE49-F238E27FC236}">
                <a16:creationId xmlns:a16="http://schemas.microsoft.com/office/drawing/2014/main" id="{41E94E0A-9135-1D4A-A33A-951ADAB0CD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058" y="2660994"/>
            <a:ext cx="5363056" cy="322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Minimise the loss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EB74FC7-9CD3-9541-8239-A88F548F4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523" y="1357978"/>
            <a:ext cx="6472189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Linear regression technique </a:t>
            </a:r>
            <a:r>
              <a:rPr lang="en-GB" dirty="0" err="1">
                <a:solidFill>
                  <a:srgbClr val="942D6D"/>
                </a:solidFill>
              </a:rPr>
              <a:t>i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5C23D07-63B0-0541-861F-E4BB448D0E6C}"/>
              </a:ext>
            </a:extLst>
          </p:cNvPr>
          <p:cNvSpPr/>
          <p:nvPr/>
        </p:nvSpPr>
        <p:spPr>
          <a:xfrm>
            <a:off x="470171" y="1299401"/>
            <a:ext cx="782092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Usually using “least squares”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Minimizes the squared-error between each point and the line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Remember the slope-intercept equation of a line? y=</a:t>
            </a:r>
            <a:r>
              <a:rPr lang="en-GB" sz="2800" dirty="0" err="1"/>
              <a:t>mx+b</a:t>
            </a:r>
            <a:r>
              <a:rPr lang="en-GB" sz="2800" dirty="0"/>
              <a:t>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The slope is the correlation between the two variables times the standard deviation in Y, all divided by the standard deviation in X. </a:t>
            </a:r>
          </a:p>
        </p:txBody>
      </p:sp>
      <p:pic>
        <p:nvPicPr>
          <p:cNvPr id="8" name="Picture 1" descr="page64image1806080">
            <a:extLst>
              <a:ext uri="{FF2B5EF4-FFF2-40B4-BE49-F238E27FC236}">
                <a16:creationId xmlns:a16="http://schemas.microsoft.com/office/drawing/2014/main" id="{835E6528-F09F-834D-8437-3F67D153B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675" y="2356787"/>
            <a:ext cx="3628153" cy="2717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Linear regression technique ii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5C23D07-63B0-0541-861F-E4BB448D0E6C}"/>
              </a:ext>
            </a:extLst>
          </p:cNvPr>
          <p:cNvSpPr/>
          <p:nvPr/>
        </p:nvSpPr>
        <p:spPr>
          <a:xfrm>
            <a:off x="470171" y="1553908"/>
            <a:ext cx="856434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Neat how standard deviation how some real mathematical meaning, eh?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/>
              <a:t>The intercept is the mean of Y minus the slope 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times the mean of X </a:t>
            </a:r>
          </a:p>
          <a:p>
            <a:pPr marL="342900" indent="-342900">
              <a:buClr>
                <a:srgbClr val="942F6D"/>
              </a:buClr>
              <a:buFont typeface="Wingdings" pitchFamily="2" charset="2"/>
              <a:buChar char="§"/>
            </a:pP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Python will do all that for you</a:t>
            </a:r>
            <a:r>
              <a:rPr lang="en-GB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</a:rPr>
              <a:t>. </a:t>
            </a:r>
            <a:endParaRPr lang="en-GB" sz="2800" dirty="0">
              <a:solidFill>
                <a:schemeClr val="tx1">
                  <a:lumMod val="75000"/>
                  <a:lumOff val="25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776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How does it work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Least squares minimizes the sum of squared errors. </a:t>
            </a:r>
          </a:p>
          <a:p>
            <a:pPr marL="342900" indent="-342900"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the same as maximizing the likelihood of the observed data if you start thinking of the problem in terms of probabilities and probability distribution functions </a:t>
            </a:r>
          </a:p>
          <a:p>
            <a:pPr marL="342900" indent="-342900"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sometimes called “maximum likelihood estimation”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optimiser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0171" y="1441443"/>
            <a:ext cx="7763591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Gradient Descent is an alternate method to least squares.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Basically, iterates to find the line that best follows the contours defined by the data.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 make sense when dealing with 3D data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Easy to try in Python and just compare the results to least squares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But usually, least squares is a perfectly good choice. </a:t>
            </a:r>
          </a:p>
          <a:p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1" descr="page66image1793312">
            <a:extLst>
              <a:ext uri="{FF2B5EF4-FFF2-40B4-BE49-F238E27FC236}">
                <a16:creationId xmlns:a16="http://schemas.microsoft.com/office/drawing/2014/main" id="{1630DBA8-F172-CA40-8E1E-A439B03FD4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8322" y="1623701"/>
            <a:ext cx="4126284" cy="339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227812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Measurement error with r-squared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do we measure how well our line fits our data? </a:t>
            </a:r>
          </a:p>
          <a:p>
            <a:pPr marL="342900" indent="-342900">
              <a:buFont typeface="Wingdings" pitchFamily="2" charset="2"/>
              <a:buChar char="§"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R-squared (aka coefficient of determination) measures: </a:t>
            </a:r>
          </a:p>
          <a:p>
            <a:pPr marL="342900" indent="-342900"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buClr>
                <a:schemeClr val="accent1"/>
              </a:buClr>
              <a:buFont typeface="Wingdings" pitchFamily="2" charset="2"/>
              <a:buChar char="§"/>
            </a:pP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sz="3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fraction of the total variation in Y that is captured by the model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7A80526-515E-8146-8626-B0C10771A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795" y="2489199"/>
            <a:ext cx="7670800" cy="187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AF6711-A15A-A94C-944A-54554E6E93B2}"/>
              </a:ext>
            </a:extLst>
          </p:cNvPr>
          <p:cNvSpPr/>
          <p:nvPr/>
        </p:nvSpPr>
        <p:spPr>
          <a:xfrm>
            <a:off x="3412025" y="2628107"/>
            <a:ext cx="589821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000">
                <a:latin typeface="Calibri" panose="020F0502020204030204" pitchFamily="34" charset="0"/>
              </a:rPr>
              <a:t>Let’s play with an example. </a:t>
            </a:r>
            <a:endParaRPr lang="en-GB" sz="4000">
              <a:effectLst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E3451C-7C12-6A4C-B2DE-71BCB41490BD}"/>
              </a:ext>
            </a:extLst>
          </p:cNvPr>
          <p:cNvCxnSpPr>
            <a:cxnSpLocks/>
          </p:cNvCxnSpPr>
          <p:nvPr/>
        </p:nvCxnSpPr>
        <p:spPr>
          <a:xfrm flipH="1">
            <a:off x="451743" y="15278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1F00A5-BF4F-164A-A0FA-CA32DC1ADE11}"/>
              </a:ext>
            </a:extLst>
          </p:cNvPr>
          <p:cNvCxnSpPr>
            <a:cxnSpLocks/>
          </p:cNvCxnSpPr>
          <p:nvPr/>
        </p:nvCxnSpPr>
        <p:spPr>
          <a:xfrm flipV="1">
            <a:off x="451743" y="83758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854936-2C28-7F43-B3CA-B23454B0A91F}"/>
              </a:ext>
            </a:extLst>
          </p:cNvPr>
          <p:cNvCxnSpPr>
            <a:cxnSpLocks/>
          </p:cNvCxnSpPr>
          <p:nvPr/>
        </p:nvCxnSpPr>
        <p:spPr>
          <a:xfrm flipV="1">
            <a:off x="449831" y="1670657"/>
            <a:ext cx="0" cy="457292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488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Least square regression-example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410205"/>
            <a:ext cx="10712388" cy="1457278"/>
          </a:xfrm>
        </p:spPr>
        <p:txBody>
          <a:bodyPr/>
          <a:lstStyle/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 of Best Fit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Imagine you have some points, and want to have a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line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that best fits them like this: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B1C1ECD-5BD5-B14D-AC01-1DFCDE7550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427" y="2681003"/>
            <a:ext cx="4920687" cy="276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00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The line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Our aim is to calculate the values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(slope) and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(y-intercept) in the equation of a line : y = mx + b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Where: 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how far up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how far along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Slope or Gradient (how steep the line is)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the Y Intercept (where the line crosses the Y axis)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578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steps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E269650-E250-044C-A2D2-AD9FC2F1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712" y="1269978"/>
            <a:ext cx="8354765" cy="451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405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activity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50"/>
            <a:ext cx="10712388" cy="966256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Sam found how many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hours of sunshine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vs how many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ice creams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were sold at the shop from Monday to Friday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Calculate Linear regression line using above equation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9E899B8-2A43-0247-BB13-32068DEBD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426" y="2856007"/>
            <a:ext cx="3852527" cy="302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9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REFERENCE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103303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  <a:hlinkClick r:id="rId3"/>
              </a:rPr>
              <a:t>https://towardsdatascience.com/laymans-introduction-to-linear-regression-8b334a3dab09#:~:text=Linear%20regression%20attempts%20to%20model,variable%20(e.g.%20your%20expenses)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r>
              <a:rPr lang="en-GB" u="none" strike="noStrike" dirty="0">
                <a:effectLst/>
                <a:latin typeface="inherit"/>
                <a:hlinkClick r:id="rId4"/>
              </a:rPr>
              <a:t>https://www.mygreatlearning.com/blog/linear-regression-in-machine-learning/</a:t>
            </a:r>
          </a:p>
          <a:p>
            <a:r>
              <a:rPr lang="en-GB" u="none" strike="noStrike" dirty="0">
                <a:effectLst/>
                <a:latin typeface="inherit"/>
                <a:hlinkClick r:id="rId4"/>
              </a:rPr>
              <a:t>https://www.youtube.com/watch?v=JvS2triCgOY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13639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E5CF88-6910-4195-9602-C8257AF22E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61880A6E-B286-43C6-BEC2-2D84CC3488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6C1C04-28AF-4B6D-B137-6B1F3470F1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1a28a2-5857-4321-9bd8-c602fba5c8bc"/>
    <ds:schemaRef ds:uri="5086911d-6e48-4cf3-b087-1eb55996af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336</TotalTime>
  <Words>809</Words>
  <Application>Microsoft Office PowerPoint</Application>
  <PresentationFormat>Widescreen</PresentationFormat>
  <Paragraphs>103</Paragraphs>
  <Slides>22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Arial</vt:lpstr>
      <vt:lpstr>Calibri</vt:lpstr>
      <vt:lpstr>Georgia</vt:lpstr>
      <vt:lpstr>inherit</vt:lpstr>
      <vt:lpstr>Poppins</vt:lpstr>
      <vt:lpstr>sohne</vt:lpstr>
      <vt:lpstr>Wingdings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REGRESSION</vt:lpstr>
      <vt:lpstr>REGRESSION</vt:lpstr>
      <vt:lpstr>REGRESSION</vt:lpstr>
      <vt:lpstr>REGRESSION</vt:lpstr>
      <vt:lpstr>Minimise the loss</vt:lpstr>
      <vt:lpstr>Linear regression technique i</vt:lpstr>
      <vt:lpstr>Linear regression technique ii</vt:lpstr>
      <vt:lpstr>How does it work</vt:lpstr>
      <vt:lpstr>optimiser</vt:lpstr>
      <vt:lpstr>Measurement error with r-squared</vt:lpstr>
      <vt:lpstr>PowerPoint Presentation</vt:lpstr>
      <vt:lpstr>Least square regression-example</vt:lpstr>
      <vt:lpstr>The line</vt:lpstr>
      <vt:lpstr>steps</vt:lpstr>
      <vt:lpstr>activity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kusumlata Sheoran</cp:lastModifiedBy>
  <cp:revision>63</cp:revision>
  <dcterms:created xsi:type="dcterms:W3CDTF">2021-07-24T10:34:01Z</dcterms:created>
  <dcterms:modified xsi:type="dcterms:W3CDTF">2022-03-23T22:58:16Z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