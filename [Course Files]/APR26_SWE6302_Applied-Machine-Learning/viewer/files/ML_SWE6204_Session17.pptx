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4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1.xml" ContentType="application/vnd.openxmlformats-officedocument.them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32" r:id="rId2"/>
    <p:sldMasterId id="2147483658" r:id="rId3"/>
    <p:sldMasterId id="2147483710" r:id="rId4"/>
    <p:sldMasterId id="2147483706" r:id="rId5"/>
  </p:sldMasterIdLst>
  <p:notesMasterIdLst>
    <p:notesMasterId r:id="rId17"/>
  </p:notesMasterIdLst>
  <p:sldIdLst>
    <p:sldId id="261" r:id="rId6"/>
    <p:sldId id="257" r:id="rId7"/>
    <p:sldId id="265" r:id="rId8"/>
    <p:sldId id="306" r:id="rId9"/>
    <p:sldId id="311" r:id="rId10"/>
    <p:sldId id="313" r:id="rId11"/>
    <p:sldId id="314" r:id="rId12"/>
    <p:sldId id="315" r:id="rId13"/>
    <p:sldId id="316" r:id="rId14"/>
    <p:sldId id="317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rindu" initials="T" lastIdx="2" clrIdx="0">
    <p:extLst>
      <p:ext uri="{19B8F6BF-5375-455C-9EA6-DF929625EA0E}">
        <p15:presenceInfo xmlns:p15="http://schemas.microsoft.com/office/powerpoint/2012/main" userId="Tharind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768"/>
    <a:srgbClr val="0D3E63"/>
    <a:srgbClr val="942D6D"/>
    <a:srgbClr val="232C58"/>
    <a:srgbClr val="942F6D"/>
    <a:srgbClr val="6FC8F0"/>
    <a:srgbClr val="B0E1F7"/>
    <a:srgbClr val="71C5E8"/>
    <a:srgbClr val="093E62"/>
    <a:srgbClr val="16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40" autoAdjust="0"/>
    <p:restoredTop sz="73061" autoAdjust="0"/>
  </p:normalViewPr>
  <p:slideViewPr>
    <p:cSldViewPr snapToGrid="0">
      <p:cViewPr varScale="1">
        <p:scale>
          <a:sx n="92" d="100"/>
          <a:sy n="92" d="100"/>
        </p:scale>
        <p:origin x="152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ustomXml" Target="../customXml/item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customXml" Target="../customXml/item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18DF-9495-47FB-843C-0D1FCB3E09C9}" type="datetimeFigureOut">
              <a:rPr lang="en-US" smtClean="0"/>
              <a:t>12/10/21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CC11-19A3-4E27-AB70-5FB3E1779C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5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title  </a:t>
            </a:r>
            <a:endParaRPr lang="en-GB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5"/>
            <a:ext cx="10515600" cy="1290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308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arson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rgbClr val="942F6D"/>
                </a:solidFill>
                <a:latin typeface="+mn-lt"/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4"/>
            <a:ext cx="10515600" cy="1820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rgbClr val="656768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045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9097686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1791" y="1811976"/>
            <a:ext cx="10994852" cy="4033348"/>
          </a:xfrm>
          <a:prstGeom prst="rect">
            <a:avLst/>
          </a:prstGeom>
        </p:spPr>
        <p:txBody>
          <a:bodyPr/>
          <a:lstStyle>
            <a:lvl1pPr>
              <a:buClr>
                <a:srgbClr val="942F6D"/>
              </a:buClr>
              <a:defRPr baseline="0">
                <a:solidFill>
                  <a:srgbClr val="656768"/>
                </a:solidFill>
              </a:defRPr>
            </a:lvl1pPr>
            <a:lvl2pPr>
              <a:buClr>
                <a:srgbClr val="942F6D"/>
              </a:buClr>
              <a:defRPr>
                <a:solidFill>
                  <a:srgbClr val="656768"/>
                </a:solidFill>
              </a:defRPr>
            </a:lvl2pPr>
            <a:lvl3pPr>
              <a:buClr>
                <a:srgbClr val="942F6D"/>
              </a:buClr>
              <a:defRPr>
                <a:solidFill>
                  <a:srgbClr val="656768"/>
                </a:solidFill>
              </a:defRPr>
            </a:lvl3pPr>
            <a:lvl4pPr>
              <a:buClr>
                <a:srgbClr val="942F6D"/>
              </a:buClr>
              <a:defRPr>
                <a:solidFill>
                  <a:srgbClr val="656768"/>
                </a:solidFill>
              </a:defRPr>
            </a:lvl4pPr>
            <a:lvl5pPr>
              <a:buClr>
                <a:srgbClr val="942F6D"/>
              </a:buClr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610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281159" y="0"/>
            <a:ext cx="591084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800" baseline="0"/>
            </a:lvl1pPr>
          </a:lstStyle>
          <a:p>
            <a:r>
              <a:rPr lang="en-GB" dirty="0"/>
              <a:t>Click to add picture 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1791" y="1760537"/>
            <a:ext cx="5491361" cy="384550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6FC8F0"/>
              </a:buClr>
              <a:buNone/>
              <a:defRPr baseline="0">
                <a:solidFill>
                  <a:srgbClr val="656768"/>
                </a:solidFill>
              </a:defRPr>
            </a:lvl1pPr>
            <a:lvl2pPr marL="4572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2pPr>
            <a:lvl3pPr marL="9144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3pPr>
            <a:lvl4pPr marL="13716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4pPr>
            <a:lvl5pPr marL="18288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436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30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6FC8F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3868" y="839558"/>
            <a:ext cx="2149506" cy="10659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38" y="789413"/>
            <a:ext cx="3468947" cy="16199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00" y="5835495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7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702" y="788182"/>
            <a:ext cx="3466926" cy="1620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0456" y="843742"/>
            <a:ext cx="2149506" cy="10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9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230" y="536045"/>
            <a:ext cx="1605949" cy="720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5982061"/>
            <a:ext cx="12192000" cy="875939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3239" y="6092032"/>
            <a:ext cx="1253879" cy="62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04" r:id="rId2"/>
  </p:sldLayoutIdLst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4200" b="1" kern="1200" cap="all" spc="-50" baseline="0">
          <a:solidFill>
            <a:srgbClr val="942F6D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0564" y="5569783"/>
            <a:ext cx="1433004" cy="710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91" y="5568969"/>
            <a:ext cx="160595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6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4200" b="1" kern="1200" cap="all" spc="-50" baseline="0">
          <a:solidFill>
            <a:srgbClr val="0D3E6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E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/>
          <a:stretch/>
        </p:blipFill>
        <p:spPr>
          <a:xfrm>
            <a:off x="1814513" y="3016664"/>
            <a:ext cx="8562975" cy="38413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160" y="1067668"/>
            <a:ext cx="3854386" cy="180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9792" y="4898051"/>
            <a:ext cx="1433004" cy="7106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707" y="5412938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3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TtKF996oEl8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Regent College London</a:t>
            </a:r>
          </a:p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145804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236519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D52EB-A3E0-3F4C-9EBC-AC778DE3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EF0A4-9481-7245-BC4A-7DDD704352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SUPPORT VECTOR MACHINE</a:t>
            </a:r>
          </a:p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(SVM)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6E8E5-BE8D-1A44-B2E2-3F645E09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768" y="1704061"/>
            <a:ext cx="6551188" cy="39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2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A340-02CC-904F-8C88-B5AA849D9854}"/>
              </a:ext>
            </a:extLst>
          </p:cNvPr>
          <p:cNvSpPr txBox="1">
            <a:spLocks/>
          </p:cNvSpPr>
          <p:nvPr/>
        </p:nvSpPr>
        <p:spPr>
          <a:xfrm>
            <a:off x="1591827" y="2985581"/>
            <a:ext cx="10515600" cy="1186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4200" b="1" kern="1200" cap="all" spc="-50" baseline="0">
                <a:solidFill>
                  <a:srgbClr val="942F6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/>
              <a:t>Module 1 – Support vector machine (</a:t>
            </a:r>
            <a:r>
              <a:rPr lang="en-GB" dirty="0" err="1"/>
              <a:t>svm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4182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concept of SVM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Application of SVM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99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942D6D"/>
                </a:solidFill>
              </a:rPr>
              <a:t>svm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Works well for classifying higher-dimensional data (lots of features) </a:t>
            </a:r>
          </a:p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Finds higher-dimensional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support vectors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across which to divide the data (mathematically, these support vectors define hyperplanes. Needless to say I’m not going to get into the mathematical details!) </a:t>
            </a:r>
          </a:p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Uses something called the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kernel trick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represent data in higher- dimensional spaces to find hyperplanes that might not be apparent in lower dimensions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55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hyperplanes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important point is that SVM’s employ some advanced mathematical trickery to cluster data, and it can handle data sets with lots of features. </a:t>
            </a:r>
          </a:p>
          <a:p>
            <a:pPr>
              <a:buClr>
                <a:srgbClr val="942D6D"/>
              </a:buClr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It’s also fairly expensive – the “kernel trick” is the only thing that makes it possible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51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Support vector classification (SVC)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5909465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practice you’ll use something called SVC to classify data using SVM. </a:t>
            </a:r>
          </a:p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use different “kernels” with SVC. Some will work better than others for a given data set.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1" descr="page129image1787264">
            <a:extLst>
              <a:ext uri="{FF2B5EF4-FFF2-40B4-BE49-F238E27FC236}">
                <a16:creationId xmlns:a16="http://schemas.microsoft.com/office/drawing/2014/main" id="{4C9B68F0-4B0B-E047-8197-21F46922C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582" y="1592275"/>
            <a:ext cx="4843036" cy="362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781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Python coding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6234A94-F67D-634D-96F7-5978608C376A}"/>
              </a:ext>
            </a:extLst>
          </p:cNvPr>
          <p:cNvSpPr/>
          <p:nvPr/>
        </p:nvSpPr>
        <p:spPr>
          <a:xfrm>
            <a:off x="2452255" y="2453790"/>
            <a:ext cx="806143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Let’s play with SVC’s</a:t>
            </a:r>
          </a:p>
          <a:p>
            <a:br>
              <a:rPr lang="en-GB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Don’t even try to do this without scikit-learn. </a:t>
            </a:r>
          </a:p>
        </p:txBody>
      </p:sp>
    </p:spTree>
    <p:extLst>
      <p:ext uri="{BB962C8B-B14F-4D97-AF65-F5344CB8AC3E}">
        <p14:creationId xmlns:p14="http://schemas.microsoft.com/office/powerpoint/2010/main" val="1476343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SVM coding video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Watch the video and try to code this in your Python environment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	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hlinkClick r:id="rId2"/>
              </a:rPr>
              <a:t>https://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hlinkClick r:id="rId2"/>
              </a:rPr>
              <a:t>www.youtube.com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hlinkClick r:id="rId2"/>
              </a:rPr>
              <a:t>/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hlinkClick r:id="rId2"/>
              </a:rPr>
              <a:t>watch?v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hlinkClick r:id="rId2"/>
              </a:rPr>
              <a:t>=TtKF996oEl8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191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62778" y="1121436"/>
            <a:ext cx="4140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+44 (0)207 016 8000</a:t>
            </a:r>
          </a:p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info@rcl.ac.uk</a:t>
            </a:r>
          </a:p>
        </p:txBody>
      </p:sp>
    </p:spTree>
    <p:extLst>
      <p:ext uri="{BB962C8B-B14F-4D97-AF65-F5344CB8AC3E}">
        <p14:creationId xmlns:p14="http://schemas.microsoft.com/office/powerpoint/2010/main" val="138112676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lue-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626083B1-0830-460F-AA05-F809A184AD55}"/>
    </a:ext>
  </a:extLst>
</a:theme>
</file>

<file path=ppt/theme/theme2.xml><?xml version="1.0" encoding="utf-8"?>
<a:theme xmlns:a="http://schemas.openxmlformats.org/drawingml/2006/main" name="Pearson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2DF3C6F-D641-4496-AE49-B1B2B2E63DA0}"/>
    </a:ext>
  </a:extLst>
</a:theme>
</file>

<file path=ppt/theme/theme3.xml><?xml version="1.0" encoding="utf-8"?>
<a:theme xmlns:a="http://schemas.openxmlformats.org/drawingml/2006/main" name="Light blue-insid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4F60302-919A-40C2-AA8C-08C631E4BB03}"/>
    </a:ext>
  </a:extLst>
</a:theme>
</file>

<file path=ppt/theme/theme4.xml><?xml version="1.0" encoding="utf-8"?>
<a:theme xmlns:a="http://schemas.openxmlformats.org/drawingml/2006/main" name="With pic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1A762B6E-1460-46E8-A288-DB6DA20E3E72}"/>
    </a:ext>
  </a:extLst>
</a:theme>
</file>

<file path=ppt/theme/theme5.xml><?xml version="1.0" encoding="utf-8"?>
<a:theme xmlns:a="http://schemas.openxmlformats.org/drawingml/2006/main" name="Back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848B4BB2-990F-4FF4-835D-66EEAC45A09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6AD14CB602547BFCB7D842FEF14EE" ma:contentTypeVersion="12" ma:contentTypeDescription="Create a new document." ma:contentTypeScope="" ma:versionID="7eb5c53f2e1d37f62fa8f0bcfdfd5d6f">
  <xsd:schema xmlns:xsd="http://www.w3.org/2001/XMLSchema" xmlns:xs="http://www.w3.org/2001/XMLSchema" xmlns:p="http://schemas.microsoft.com/office/2006/metadata/properties" xmlns:ns2="6b1a28a2-5857-4321-9bd8-c602fba5c8bc" xmlns:ns3="5086911d-6e48-4cf3-b087-1eb55996afa6" targetNamespace="http://schemas.microsoft.com/office/2006/metadata/properties" ma:root="true" ma:fieldsID="8facba7d21f799de60139a8943772e56" ns2:_="" ns3:_="">
    <xsd:import namespace="6b1a28a2-5857-4321-9bd8-c602fba5c8bc"/>
    <xsd:import namespace="5086911d-6e48-4cf3-b087-1eb55996af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1a28a2-5857-4321-9bd8-c602fba5c8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6911d-6e48-4cf3-b087-1eb55996afa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0D5FD87-1024-4E4C-82C9-BA59B0E07983}"/>
</file>

<file path=customXml/itemProps2.xml><?xml version="1.0" encoding="utf-8"?>
<ds:datastoreItem xmlns:ds="http://schemas.openxmlformats.org/officeDocument/2006/customXml" ds:itemID="{9D1262CF-6003-4B6A-BDD3-69870F0CC403}"/>
</file>

<file path=customXml/itemProps3.xml><?xml version="1.0" encoding="utf-8"?>
<ds:datastoreItem xmlns:ds="http://schemas.openxmlformats.org/officeDocument/2006/customXml" ds:itemID="{497EBD50-27EF-490D-9573-3E13169F3F39}"/>
</file>

<file path=docProps/app.xml><?xml version="1.0" encoding="utf-8"?>
<Properties xmlns="http://schemas.openxmlformats.org/officeDocument/2006/extended-properties" xmlns:vt="http://schemas.openxmlformats.org/officeDocument/2006/docPropsVTypes">
  <Template>Light blue-Cover</Template>
  <TotalTime>223</TotalTime>
  <Words>249</Words>
  <Application>Microsoft Macintosh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Light blue-Cover</vt:lpstr>
      <vt:lpstr>Pearson slide</vt:lpstr>
      <vt:lpstr>Light blue-inside slide</vt:lpstr>
      <vt:lpstr>With picture</vt:lpstr>
      <vt:lpstr>Back cover</vt:lpstr>
      <vt:lpstr>Machine learning</vt:lpstr>
      <vt:lpstr>Machine learning </vt:lpstr>
      <vt:lpstr>Machine learning</vt:lpstr>
      <vt:lpstr>PowerPoint Presentation</vt:lpstr>
      <vt:lpstr>Learning objectives</vt:lpstr>
      <vt:lpstr>svm</vt:lpstr>
      <vt:lpstr>hyperplanes</vt:lpstr>
      <vt:lpstr>Support vector classification (SVC)</vt:lpstr>
      <vt:lpstr>Python coding</vt:lpstr>
      <vt:lpstr>SVM coding video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Bachelor’s degree</dc:title>
  <dc:creator>Nalinda Somasiri</dc:creator>
  <cp:lastModifiedBy>Nalinda Somasiri</cp:lastModifiedBy>
  <cp:revision>42</cp:revision>
  <dcterms:created xsi:type="dcterms:W3CDTF">2021-07-24T10:34:01Z</dcterms:created>
  <dcterms:modified xsi:type="dcterms:W3CDTF">2021-12-10T16:25:20Z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0x010100E386AD14CB602547BFCB7D842FEF14EE</vt:lpwstr>
  </property>
</Properties>
</file>