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3.xml" ContentType="application/vnd.openxmlformats-officedocument.theme+xml"/>
  <Override PartName="/ppt/slideLayouts/slideLayout6.xml" ContentType="application/vnd.openxmlformats-officedocument.presentationml.slideLayout+xml"/>
  <Override PartName="/ppt/theme/theme4.xml" ContentType="application/vnd.openxmlformats-officedocument.theme+xml"/>
  <Override PartName="/ppt/slideLayouts/slideLayout7.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 id="2147483651" r:id="rId5"/>
    <p:sldMasterId id="2147483653" r:id="rId6"/>
    <p:sldMasterId id="2147483656" r:id="rId7"/>
    <p:sldMasterId id="2147483658" r:id="rId8"/>
  </p:sldMasterIdLst>
  <p:notesMasterIdLst>
    <p:notesMasterId r:id="rId61"/>
  </p:notesMasterIdLst>
  <p:sldIdLst>
    <p:sldId id="261" r:id="rId9"/>
    <p:sldId id="257" r:id="rId10"/>
    <p:sldId id="265" r:id="rId11"/>
    <p:sldId id="311" r:id="rId12"/>
    <p:sldId id="306" r:id="rId13"/>
    <p:sldId id="351" r:id="rId14"/>
    <p:sldId id="341" r:id="rId15"/>
    <p:sldId id="344" r:id="rId16"/>
    <p:sldId id="352" r:id="rId17"/>
    <p:sldId id="326" r:id="rId18"/>
    <p:sldId id="331" r:id="rId19"/>
    <p:sldId id="330" r:id="rId20"/>
    <p:sldId id="322" r:id="rId21"/>
    <p:sldId id="336" r:id="rId22"/>
    <p:sldId id="347" r:id="rId23"/>
    <p:sldId id="327" r:id="rId24"/>
    <p:sldId id="318" r:id="rId25"/>
    <p:sldId id="313" r:id="rId26"/>
    <p:sldId id="314" r:id="rId27"/>
    <p:sldId id="315" r:id="rId28"/>
    <p:sldId id="348" r:id="rId29"/>
    <p:sldId id="316" r:id="rId30"/>
    <p:sldId id="317" r:id="rId31"/>
    <p:sldId id="353" r:id="rId32"/>
    <p:sldId id="346" r:id="rId33"/>
    <p:sldId id="354" r:id="rId34"/>
    <p:sldId id="355" r:id="rId35"/>
    <p:sldId id="356" r:id="rId36"/>
    <p:sldId id="357" r:id="rId37"/>
    <p:sldId id="358" r:id="rId38"/>
    <p:sldId id="359" r:id="rId39"/>
    <p:sldId id="360" r:id="rId40"/>
    <p:sldId id="333" r:id="rId41"/>
    <p:sldId id="361" r:id="rId42"/>
    <p:sldId id="362" r:id="rId43"/>
    <p:sldId id="363" r:id="rId44"/>
    <p:sldId id="364" r:id="rId45"/>
    <p:sldId id="365" r:id="rId46"/>
    <p:sldId id="324" r:id="rId47"/>
    <p:sldId id="325" r:id="rId48"/>
    <p:sldId id="329" r:id="rId49"/>
    <p:sldId id="332" r:id="rId50"/>
    <p:sldId id="334" r:id="rId51"/>
    <p:sldId id="335" r:id="rId52"/>
    <p:sldId id="339" r:id="rId53"/>
    <p:sldId id="366" r:id="rId54"/>
    <p:sldId id="345" r:id="rId55"/>
    <p:sldId id="367" r:id="rId56"/>
    <p:sldId id="321" r:id="rId57"/>
    <p:sldId id="349" r:id="rId58"/>
    <p:sldId id="368" r:id="rId59"/>
    <p:sldId id="350"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harindu" initials="T"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56768"/>
    <a:srgbClr val="0D3E63"/>
    <a:srgbClr val="942D6D"/>
    <a:srgbClr val="232C58"/>
    <a:srgbClr val="942F6D"/>
    <a:srgbClr val="6FC8F0"/>
    <a:srgbClr val="B0E1F7"/>
    <a:srgbClr val="71C5E8"/>
    <a:srgbClr val="093E62"/>
    <a:srgbClr val="1665A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385" autoAdjust="0"/>
    <p:restoredTop sz="93792" autoAdjust="0"/>
  </p:normalViewPr>
  <p:slideViewPr>
    <p:cSldViewPr snapToGrid="0">
      <p:cViewPr varScale="1">
        <p:scale>
          <a:sx n="53" d="100"/>
          <a:sy n="53" d="100"/>
        </p:scale>
        <p:origin x="376" y="36"/>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slide" Target="slides/slide39.xml"/><Relationship Id="rId50" Type="http://schemas.openxmlformats.org/officeDocument/2006/relationships/slide" Target="slides/slide42.xml"/><Relationship Id="rId55" Type="http://schemas.openxmlformats.org/officeDocument/2006/relationships/slide" Target="slides/slide47.xml"/><Relationship Id="rId63" Type="http://schemas.openxmlformats.org/officeDocument/2006/relationships/presProps" Target="pres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slide" Target="slides/slide45.xml"/><Relationship Id="rId58" Type="http://schemas.openxmlformats.org/officeDocument/2006/relationships/slide" Target="slides/slide50.xml"/><Relationship Id="rId66" Type="http://schemas.openxmlformats.org/officeDocument/2006/relationships/tableStyles" Target="tableStyles.xml"/><Relationship Id="rId5" Type="http://schemas.openxmlformats.org/officeDocument/2006/relationships/slideMaster" Target="slideMasters/slideMaster2.xml"/><Relationship Id="rId61" Type="http://schemas.openxmlformats.org/officeDocument/2006/relationships/notesMaster" Target="notesMasters/notesMaster1.xml"/><Relationship Id="rId19" Type="http://schemas.openxmlformats.org/officeDocument/2006/relationships/slide" Target="slides/slide1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slide" Target="slides/slide48.xml"/><Relationship Id="rId64" Type="http://schemas.openxmlformats.org/officeDocument/2006/relationships/viewProps" Target="viewProps.xml"/><Relationship Id="rId8" Type="http://schemas.openxmlformats.org/officeDocument/2006/relationships/slideMaster" Target="slideMasters/slideMaster5.xml"/><Relationship Id="rId51" Type="http://schemas.openxmlformats.org/officeDocument/2006/relationships/slide" Target="slides/slide43.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slide" Target="slides/slide51.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slide" Target="slides/slide52.xml"/><Relationship Id="rId65"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9218DF-9495-47FB-843C-0D1FCB3E09C9}" type="datetimeFigureOut">
              <a:rPr lang="en-US" smtClean="0"/>
              <a:t>2/15/2026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ACCC11-19A3-4E27-AB70-5FB3E1779C6E}" type="slidenum">
              <a:rPr lang="en-US" smtClean="0"/>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datacamp.com/tutorial/naive-bayes-scikit-learn"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datacamp.com/tutorial/svm-classification-scikit-learn-python"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www.datacamp.com/tutorial/svm-classification-scikit-learn-python"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www.jeremyjordan.me/author/jeremy/" TargetMode="External"/><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www.youtube.com/watch?v=l3dZ6ZNFjo0" TargetMode="External"/><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www.youtube.com/watch?v=l3dZ6ZNFjo0" TargetMode="External"/><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4</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 explanation :</a:t>
            </a:r>
          </a:p>
          <a:p>
            <a:r>
              <a:rPr lang="en-US" dirty="0"/>
              <a:t>Machine Learning Basics: Confusion Matrix &amp; Precision/Recall Simplified | By Dr. Ry @Stemplicity</a:t>
            </a:r>
          </a:p>
          <a:p>
            <a:r>
              <a:rPr lang="en-US" dirty="0"/>
              <a:t>Professor Ryan</a:t>
            </a:r>
          </a:p>
          <a:p>
            <a:pPr marL="0" marR="0">
              <a:spcBef>
                <a:spcPts val="0"/>
              </a:spcBef>
              <a:spcAft>
                <a:spcPts val="1200"/>
              </a:spcAft>
            </a:pPr>
            <a:r>
              <a:rPr lang="en-US" dirty="0"/>
              <a:t> </a:t>
            </a:r>
            <a:r>
              <a:rPr lang="en-GB" sz="1800" b="1" dirty="0">
                <a:effectLst/>
                <a:latin typeface="Arial" panose="020B0604020202020204" pitchFamily="34" charset="0"/>
                <a:ea typeface="Times New Roman" panose="02020603050405020304" pitchFamily="18" charset="0"/>
              </a:rPr>
              <a:t>True Positives (TP)</a:t>
            </a:r>
            <a:r>
              <a:rPr lang="en-GB" sz="1800" dirty="0">
                <a:effectLst/>
                <a:latin typeface="Arial" panose="020B0604020202020204" pitchFamily="34" charset="0"/>
                <a:ea typeface="Times New Roman" panose="02020603050405020304" pitchFamily="18" charset="0"/>
              </a:rPr>
              <a:t> – True Positives occur when we predict an observation belongs to a certain class and the observation actually belongs to that class.</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1200"/>
              </a:spcAft>
            </a:pPr>
            <a:r>
              <a:rPr lang="en-GB" sz="1800" b="1" dirty="0">
                <a:effectLst/>
                <a:latin typeface="Arial" panose="020B0604020202020204" pitchFamily="34" charset="0"/>
                <a:ea typeface="Times New Roman" panose="02020603050405020304" pitchFamily="18" charset="0"/>
              </a:rPr>
              <a:t>True Negatives (TN)</a:t>
            </a:r>
            <a:r>
              <a:rPr lang="en-GB" sz="1800" dirty="0">
                <a:effectLst/>
                <a:latin typeface="Arial" panose="020B0604020202020204" pitchFamily="34" charset="0"/>
                <a:ea typeface="Times New Roman" panose="02020603050405020304" pitchFamily="18" charset="0"/>
              </a:rPr>
              <a:t> – True Negatives occur when we predict an observation does not belong to a certain class and the observation actually does not belong to that class.</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1200"/>
              </a:spcAft>
            </a:pPr>
            <a:r>
              <a:rPr lang="en-GB" sz="1800" b="1" dirty="0">
                <a:effectLst/>
                <a:latin typeface="Arial" panose="020B0604020202020204" pitchFamily="34" charset="0"/>
                <a:ea typeface="Times New Roman" panose="02020603050405020304" pitchFamily="18" charset="0"/>
              </a:rPr>
              <a:t>False Positives (FP)</a:t>
            </a:r>
            <a:r>
              <a:rPr lang="en-GB" sz="1800" dirty="0">
                <a:effectLst/>
                <a:latin typeface="Arial" panose="020B0604020202020204" pitchFamily="34" charset="0"/>
                <a:ea typeface="Times New Roman" panose="02020603050405020304" pitchFamily="18" charset="0"/>
              </a:rPr>
              <a:t> – False Positives occur when we predict an observation belongs to a certain class but the observation actually does not belong to that class. This type of error is called </a:t>
            </a:r>
            <a:r>
              <a:rPr lang="en-GB" sz="1800" b="1" dirty="0">
                <a:effectLst/>
                <a:latin typeface="Arial" panose="020B0604020202020204" pitchFamily="34" charset="0"/>
                <a:ea typeface="Times New Roman" panose="02020603050405020304" pitchFamily="18" charset="0"/>
              </a:rPr>
              <a:t>Type I error.</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1200"/>
              </a:spcAft>
            </a:pPr>
            <a:r>
              <a:rPr lang="en-GB" sz="1800" b="1" dirty="0">
                <a:effectLst/>
                <a:latin typeface="Arial" panose="020B0604020202020204" pitchFamily="34" charset="0"/>
                <a:ea typeface="Times New Roman" panose="02020603050405020304" pitchFamily="18" charset="0"/>
              </a:rPr>
              <a:t>False Negatives (FN)</a:t>
            </a:r>
            <a:r>
              <a:rPr lang="en-GB" sz="1800" dirty="0">
                <a:effectLst/>
                <a:latin typeface="Arial" panose="020B0604020202020204" pitchFamily="34" charset="0"/>
                <a:ea typeface="Times New Roman" panose="02020603050405020304" pitchFamily="18" charset="0"/>
              </a:rPr>
              <a:t> – False Negatives occur when we predict an observation does not belong to a certain class but the observation actually belongs to that class. This is a very serious error and it is called </a:t>
            </a:r>
            <a:r>
              <a:rPr lang="en-GB" sz="1800" b="1" dirty="0">
                <a:effectLst/>
                <a:latin typeface="Arial" panose="020B0604020202020204" pitchFamily="34" charset="0"/>
                <a:ea typeface="Times New Roman" panose="02020603050405020304" pitchFamily="18" charset="0"/>
              </a:rPr>
              <a:t>Type II error.</a:t>
            </a:r>
            <a:endParaRPr lang="en-US" sz="1800" dirty="0">
              <a:effectLst/>
              <a:latin typeface="Times New Roman" panose="02020603050405020304" pitchFamily="18" charset="0"/>
              <a:ea typeface="Times New Roman" panose="02020603050405020304" pitchFamily="18" charset="0"/>
            </a:endParaRPr>
          </a:p>
          <a:p>
            <a:endParaRPr lang="en-US" dirty="0"/>
          </a:p>
          <a:p>
            <a:r>
              <a:rPr lang="en-US" dirty="0"/>
              <a:t> </a:t>
            </a:r>
          </a:p>
        </p:txBody>
      </p:sp>
      <p:sp>
        <p:nvSpPr>
          <p:cNvPr id="4" name="Slide Number Placeholder 3"/>
          <p:cNvSpPr>
            <a:spLocks noGrp="1"/>
          </p:cNvSpPr>
          <p:nvPr>
            <p:ph type="sldNum" sz="quarter" idx="5"/>
          </p:nvPr>
        </p:nvSpPr>
        <p:spPr/>
        <p:txBody>
          <a:bodyPr/>
          <a:lstStyle/>
          <a:p>
            <a:fld id="{1FACCC11-19A3-4E27-AB70-5FB3E1779C6E}" type="slidenum">
              <a:rPr lang="en-US" smtClean="0"/>
              <a:t>7</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FACCC11-19A3-4E27-AB70-5FB3E1779C6E}" type="slidenum">
              <a:rPr lang="en-US" smtClean="0"/>
              <a:t>11</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a:solidFill>
                  <a:srgbClr val="1B2437"/>
                </a:solidFill>
                <a:effectLst/>
                <a:latin typeface="Inter"/>
              </a:rPr>
              <a:t> </a:t>
            </a:r>
          </a:p>
        </p:txBody>
      </p:sp>
      <p:sp>
        <p:nvSpPr>
          <p:cNvPr id="4" name="Slide Number Placeholder 3"/>
          <p:cNvSpPr>
            <a:spLocks noGrp="1"/>
          </p:cNvSpPr>
          <p:nvPr>
            <p:ph type="sldNum" sz="quarter" idx="5"/>
          </p:nvPr>
        </p:nvSpPr>
        <p:spPr/>
        <p:txBody>
          <a:bodyPr/>
          <a:lstStyle/>
          <a:p>
            <a:fld id="{1FACCC11-19A3-4E27-AB70-5FB3E1779C6E}" type="slidenum">
              <a:rPr lang="en-US" smtClean="0"/>
              <a:t>14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Naive Bayes Classifier Tutorial: with Python Scikit-learn | </a:t>
            </a:r>
            <a:r>
              <a:rPr lang="en-US" dirty="0" err="1">
                <a:hlinkClick r:id="rId3"/>
              </a:rPr>
              <a:t>DataCamp</a:t>
            </a:r>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16</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a:solidFill>
                  <a:srgbClr val="05192D"/>
                </a:solidFill>
                <a:effectLst/>
                <a:latin typeface="Studio-Feixen-Sans"/>
              </a:rPr>
              <a:t>Probability of playing:</a:t>
            </a:r>
            <a:endParaRPr lang="en-US" b="0" i="0" dirty="0">
              <a:solidFill>
                <a:srgbClr val="05192D"/>
              </a:solidFill>
              <a:effectLst/>
              <a:latin typeface="Studio-Feixen-Sans"/>
            </a:endParaRPr>
          </a:p>
          <a:p>
            <a:pPr algn="l"/>
            <a:r>
              <a:rPr lang="en-US" b="0" i="1" dirty="0">
                <a:solidFill>
                  <a:srgbClr val="05192D"/>
                </a:solidFill>
                <a:effectLst/>
                <a:latin typeface="Studio-Feixen-Sans"/>
              </a:rPr>
              <a:t>P(Yes | Overcast) = P(Overcast | Yes) </a:t>
            </a:r>
            <a:r>
              <a:rPr lang="en-US" b="0" i="0" dirty="0">
                <a:solidFill>
                  <a:srgbClr val="05192D"/>
                </a:solidFill>
                <a:effectLst/>
                <a:latin typeface="Studio-Feixen-Sans"/>
              </a:rPr>
              <a:t>P(Yes) / P (Overcast) .....................(1)</a:t>
            </a:r>
          </a:p>
          <a:p>
            <a:pPr algn="l">
              <a:buFont typeface="+mj-lt"/>
              <a:buAutoNum type="arabicPeriod"/>
            </a:pPr>
            <a:r>
              <a:rPr lang="en-US" b="0" i="0" dirty="0">
                <a:solidFill>
                  <a:srgbClr val="05192D"/>
                </a:solidFill>
                <a:effectLst/>
                <a:latin typeface="Studio-Feixen-Sans"/>
              </a:rPr>
              <a:t>Calculate Prior Probabilities:</a:t>
            </a:r>
          </a:p>
          <a:p>
            <a:pPr algn="l">
              <a:buFont typeface="+mj-lt"/>
              <a:buAutoNum type="arabicPeriod"/>
            </a:pPr>
            <a:r>
              <a:rPr lang="en-US" b="0" i="0" dirty="0">
                <a:solidFill>
                  <a:srgbClr val="05192D"/>
                </a:solidFill>
                <a:effectLst/>
                <a:latin typeface="Studio-Feixen-Sans"/>
              </a:rPr>
              <a:t>P(Overcast) = 4/14 = 0.29</a:t>
            </a:r>
          </a:p>
          <a:p>
            <a:pPr algn="l">
              <a:buFont typeface="+mj-lt"/>
              <a:buAutoNum type="arabicPeriod"/>
            </a:pPr>
            <a:r>
              <a:rPr lang="en-US" b="0" i="0" dirty="0">
                <a:solidFill>
                  <a:srgbClr val="05192D"/>
                </a:solidFill>
                <a:effectLst/>
                <a:latin typeface="Studio-Feixen-Sans"/>
              </a:rPr>
              <a:t>P(Yes)= 9/14 = 0.64</a:t>
            </a:r>
          </a:p>
          <a:p>
            <a:pPr algn="l">
              <a:buFont typeface="+mj-lt"/>
              <a:buAutoNum type="arabicPeriod"/>
            </a:pPr>
            <a:r>
              <a:rPr lang="en-US" b="0" i="0" dirty="0">
                <a:solidFill>
                  <a:srgbClr val="05192D"/>
                </a:solidFill>
                <a:effectLst/>
                <a:latin typeface="Studio-Feixen-Sans"/>
              </a:rPr>
              <a:t> Calculate Posterior Probabilities:</a:t>
            </a:r>
          </a:p>
          <a:p>
            <a:pPr algn="l">
              <a:buFont typeface="+mj-lt"/>
              <a:buAutoNum type="arabicPeriod"/>
            </a:pPr>
            <a:r>
              <a:rPr lang="en-US" b="0" i="0" dirty="0">
                <a:solidFill>
                  <a:srgbClr val="05192D"/>
                </a:solidFill>
                <a:effectLst/>
                <a:latin typeface="Studio-Feixen-Sans"/>
              </a:rPr>
              <a:t>P(Overcast |Yes) = 4/9 = 0.44</a:t>
            </a:r>
          </a:p>
          <a:p>
            <a:pPr algn="l">
              <a:buFont typeface="+mj-lt"/>
              <a:buAutoNum type="arabicPeriod"/>
            </a:pPr>
            <a:r>
              <a:rPr lang="en-US" b="0" i="0" dirty="0">
                <a:solidFill>
                  <a:srgbClr val="05192D"/>
                </a:solidFill>
                <a:effectLst/>
                <a:latin typeface="Studio-Feixen-Sans"/>
              </a:rPr>
              <a:t> Put Prior and Posterior probabilities in equation (1)</a:t>
            </a:r>
          </a:p>
          <a:p>
            <a:pPr algn="l">
              <a:buFont typeface="+mj-lt"/>
              <a:buAutoNum type="arabicPeriod"/>
            </a:pPr>
            <a:r>
              <a:rPr lang="en-US" b="0" i="0" dirty="0">
                <a:solidFill>
                  <a:srgbClr val="05192D"/>
                </a:solidFill>
                <a:effectLst/>
                <a:latin typeface="Studio-Feixen-Sans"/>
              </a:rPr>
              <a:t>P (Yes | Overcast) = 0.44 * 0.64 / 0.29 = 0.98(Higher)</a:t>
            </a:r>
          </a:p>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22</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800" b="1" u="sng" kern="1800" spc="-75" dirty="0">
                <a:solidFill>
                  <a:srgbClr val="05192D"/>
                </a:solidFill>
                <a:effectLst/>
                <a:latin typeface="Arial" panose="020B0604020202020204" pitchFamily="34" charset="0"/>
                <a:ea typeface="Times New Roman" panose="02020603050405020304" pitchFamily="18" charset="0"/>
                <a:cs typeface="Times New Roman" panose="02020603050405020304" pitchFamily="18" charset="0"/>
                <a:hlinkClick r:id="rId3"/>
              </a:rPr>
              <a:t>https://www.datacamp.com/tutorial/svm-classification-scikit-learn-python</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25</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a:t>Pycomates</a:t>
            </a:r>
            <a:endParaRPr lang="en-GB" dirty="0"/>
          </a:p>
          <a:p>
            <a:r>
              <a:rPr lang="en-GB" dirty="0"/>
              <a:t>(Siddarth,2022)</a:t>
            </a:r>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26</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a:t>pycomates</a:t>
            </a:r>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27</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a:t>pycomates</a:t>
            </a:r>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28</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200" b="1" u="sng" kern="1800" spc="-75" dirty="0">
                <a:solidFill>
                  <a:srgbClr val="05192D"/>
                </a:solidFill>
                <a:effectLst/>
                <a:latin typeface="Arial" panose="020B0604020202020204" pitchFamily="34" charset="0"/>
                <a:ea typeface="Times New Roman" panose="02020603050405020304" pitchFamily="18" charset="0"/>
                <a:cs typeface="Times New Roman" panose="02020603050405020304" pitchFamily="18" charset="0"/>
                <a:hlinkClick r:id="rId3"/>
              </a:rPr>
              <a:t>https://www.datacamp.com/tutorial/svm-classification-scikit-learn-python</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29</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https://www.pycodemates.com/2022/07/support-vector-machines-detailed-overview.html</a:t>
            </a:r>
          </a:p>
        </p:txBody>
      </p:sp>
      <p:sp>
        <p:nvSpPr>
          <p:cNvPr id="4" name="Slide Number Placeholder 3"/>
          <p:cNvSpPr>
            <a:spLocks noGrp="1"/>
          </p:cNvSpPr>
          <p:nvPr>
            <p:ph type="sldNum" sz="quarter" idx="5"/>
          </p:nvPr>
        </p:nvSpPr>
        <p:spPr/>
        <p:txBody>
          <a:bodyPr/>
          <a:lstStyle/>
          <a:p>
            <a:fld id="{1FACCC11-19A3-4E27-AB70-5FB3E1779C6E}" type="slidenum">
              <a:rPr lang="en-US" smtClean="0"/>
              <a:t>35</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37</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fontAlgn="base">
              <a:lnSpc>
                <a:spcPts val="1680"/>
              </a:lnSpc>
              <a:spcBef>
                <a:spcPts val="0"/>
              </a:spcBef>
              <a:spcAft>
                <a:spcPts val="0"/>
              </a:spcAft>
            </a:pPr>
            <a:r>
              <a:rPr lang="en-US" sz="1200" u="sng" kern="0" dirty="0">
                <a:solidFill>
                  <a:srgbClr val="2B2F36"/>
                </a:solidFill>
                <a:effectLst/>
                <a:latin typeface="inherit"/>
                <a:ea typeface="Times New Roman" panose="02020603050405020304" pitchFamily="18" charset="0"/>
                <a:cs typeface="Times New Roman" panose="02020603050405020304" pitchFamily="18" charset="0"/>
                <a:hlinkClick r:id="rId3"/>
              </a:rPr>
              <a:t>JEREMY JORDAN</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fontAlgn="base">
              <a:lnSpc>
                <a:spcPct val="107000"/>
              </a:lnSpc>
              <a:spcBef>
                <a:spcPts val="0"/>
              </a:spcBef>
              <a:spcAft>
                <a:spcPts val="0"/>
              </a:spcAft>
            </a:pPr>
            <a:r>
              <a:rPr lang="en-US" sz="1200" kern="0" dirty="0">
                <a:effectLst/>
                <a:latin typeface="inherit"/>
                <a:ea typeface="Times New Roman" panose="02020603050405020304" pitchFamily="18" charset="0"/>
                <a:cs typeface="Times New Roman" panose="02020603050405020304" pitchFamily="18" charset="0"/>
              </a:rPr>
              <a:t> </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39</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2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The main idea behind SVM classifier is to find a hyperplane that maximally separates the data points of different classes. In other words, we are looking for the largest margin between the data points belonging to two classes. The hyperplane is selected such that it maximizes the distance between the hyperplane and the closest data points from each class, which are called </a:t>
            </a:r>
            <a:r>
              <a:rPr lang="en-US" sz="12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support vectors</a:t>
            </a:r>
            <a:r>
              <a:rPr lang="en-US" sz="12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These points have a direct impact on the position and orientation of the hyperplane. The rationale behind having decision boundaries with </a:t>
            </a:r>
            <a:r>
              <a:rPr lang="en-US" sz="12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large margins</a:t>
            </a:r>
            <a:r>
              <a:rPr lang="en-US" sz="12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is that they tend to have a </a:t>
            </a:r>
            <a:r>
              <a:rPr lang="en-US" sz="12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lower generalization error</a:t>
            </a:r>
            <a:r>
              <a:rPr lang="en-US" sz="12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whereas models with </a:t>
            </a:r>
            <a:r>
              <a:rPr lang="en-US" sz="12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small margins</a:t>
            </a:r>
            <a:r>
              <a:rPr lang="en-US" sz="12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are more prone to </a:t>
            </a:r>
            <a:r>
              <a:rPr lang="en-US" sz="12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overfitting</a:t>
            </a:r>
            <a:r>
              <a:rPr lang="en-US" sz="12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Hence, SVM classifier is also termed as </a:t>
            </a:r>
            <a:r>
              <a:rPr lang="en-US" sz="12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maximum margin classifier</a:t>
            </a:r>
            <a:r>
              <a:rPr lang="en-US" sz="12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meaning that it finds the line or hyperplane that has the largest distance to the nearest training data points (support vectors) of any class. The following picture represents the same.</a:t>
            </a:r>
            <a:br>
              <a:rPr lang="en-US" sz="12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br>
            <a:endParaRPr lang="en-US" dirty="0"/>
          </a:p>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41</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https://www.pycodemates.com/2022/10/classification-of-iris-dataset-using-SVM-in-python.html</a:t>
            </a:r>
          </a:p>
        </p:txBody>
      </p:sp>
      <p:sp>
        <p:nvSpPr>
          <p:cNvPr id="4" name="Slide Number Placeholder 3"/>
          <p:cNvSpPr>
            <a:spLocks noGrp="1"/>
          </p:cNvSpPr>
          <p:nvPr>
            <p:ph type="sldNum" sz="quarter" idx="5"/>
          </p:nvPr>
        </p:nvSpPr>
        <p:spPr/>
        <p:txBody>
          <a:bodyPr/>
          <a:lstStyle/>
          <a:p>
            <a:fld id="{1FACCC11-19A3-4E27-AB70-5FB3E1779C6E}" type="slidenum">
              <a:rPr lang="en-US" smtClean="0"/>
              <a:t>45</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https://www.shiksha.com/online-courses/articles/support-vector-machines-python-code/</a:t>
            </a:r>
          </a:p>
          <a:p>
            <a:r>
              <a:rPr lang="en-US" dirty="0" err="1">
                <a:solidFill>
                  <a:srgbClr val="F8F8F2"/>
                </a:solidFill>
                <a:effectLst/>
              </a:rPr>
              <a:t>svc_diag</a:t>
            </a:r>
            <a:r>
              <a:rPr lang="en-US" dirty="0">
                <a:solidFill>
                  <a:srgbClr val="66D9EF"/>
                </a:solidFill>
                <a:effectLst/>
              </a:rPr>
              <a:t>=</a:t>
            </a:r>
            <a:r>
              <a:rPr lang="en-US" dirty="0">
                <a:solidFill>
                  <a:srgbClr val="F8F8F2"/>
                </a:solidFill>
                <a:effectLst/>
              </a:rPr>
              <a:t>SVC(C</a:t>
            </a:r>
            <a:r>
              <a:rPr lang="en-US" dirty="0">
                <a:solidFill>
                  <a:srgbClr val="66D9EF"/>
                </a:solidFill>
                <a:effectLst/>
              </a:rPr>
              <a:t>=</a:t>
            </a:r>
            <a:r>
              <a:rPr lang="en-US" dirty="0">
                <a:solidFill>
                  <a:srgbClr val="AE81FF"/>
                </a:solidFill>
                <a:effectLst/>
              </a:rPr>
              <a:t>10</a:t>
            </a:r>
            <a:r>
              <a:rPr lang="en-US" dirty="0">
                <a:solidFill>
                  <a:srgbClr val="F8F8F2"/>
                </a:solidFill>
                <a:effectLst/>
              </a:rPr>
              <a:t>,kernel</a:t>
            </a:r>
            <a:r>
              <a:rPr lang="en-US" dirty="0">
                <a:solidFill>
                  <a:srgbClr val="66D9EF"/>
                </a:solidFill>
                <a:effectLst/>
              </a:rPr>
              <a:t>=</a:t>
            </a:r>
            <a:r>
              <a:rPr lang="en-US" dirty="0">
                <a:solidFill>
                  <a:srgbClr val="A6E22E"/>
                </a:solidFill>
                <a:effectLst/>
              </a:rPr>
              <a:t>'</a:t>
            </a:r>
            <a:r>
              <a:rPr lang="en-US" dirty="0" err="1">
                <a:solidFill>
                  <a:srgbClr val="A6E22E"/>
                </a:solidFill>
                <a:effectLst/>
              </a:rPr>
              <a:t>rbf</a:t>
            </a:r>
            <a:r>
              <a:rPr lang="en-US" dirty="0">
                <a:solidFill>
                  <a:srgbClr val="A6E22E"/>
                </a:solidFill>
                <a:effectLst/>
              </a:rPr>
              <a:t>'</a:t>
            </a:r>
            <a:r>
              <a:rPr lang="en-US" dirty="0">
                <a:solidFill>
                  <a:srgbClr val="F8F8F2"/>
                </a:solidFill>
                <a:effectLst/>
              </a:rPr>
              <a:t>,gamma</a:t>
            </a:r>
            <a:r>
              <a:rPr lang="en-US" dirty="0">
                <a:solidFill>
                  <a:srgbClr val="66D9EF"/>
                </a:solidFill>
                <a:effectLst/>
              </a:rPr>
              <a:t>=</a:t>
            </a:r>
            <a:r>
              <a:rPr lang="en-US" dirty="0">
                <a:solidFill>
                  <a:srgbClr val="AE81FF"/>
                </a:solidFill>
                <a:effectLst/>
              </a:rPr>
              <a:t>2</a:t>
            </a:r>
            <a:r>
              <a:rPr lang="en-US" dirty="0">
                <a:solidFill>
                  <a:srgbClr val="F8F8F2"/>
                </a:solidFill>
                <a:effectLst/>
              </a:rPr>
              <a:t>)</a:t>
            </a:r>
          </a:p>
          <a:p>
            <a:r>
              <a:rPr lang="en-US" dirty="0" err="1">
                <a:solidFill>
                  <a:srgbClr val="F8F8F2"/>
                </a:solidFill>
                <a:effectLst/>
              </a:rPr>
              <a:t>svc_diag.fit</a:t>
            </a:r>
            <a:r>
              <a:rPr lang="en-US" dirty="0">
                <a:solidFill>
                  <a:srgbClr val="F8F8F2"/>
                </a:solidFill>
                <a:effectLst/>
              </a:rPr>
              <a:t>(</a:t>
            </a:r>
            <a:r>
              <a:rPr lang="en-US" dirty="0" err="1">
                <a:solidFill>
                  <a:srgbClr val="F8F8F2"/>
                </a:solidFill>
                <a:effectLst/>
              </a:rPr>
              <a:t>X_train,y_train</a:t>
            </a:r>
            <a:r>
              <a:rPr lang="en-US" dirty="0">
                <a:solidFill>
                  <a:srgbClr val="F8F8F2"/>
                </a:solidFill>
                <a:effectLst/>
              </a:rPr>
              <a:t>)</a:t>
            </a:r>
          </a:p>
          <a:p>
            <a:endParaRPr lang="en-US" dirty="0">
              <a:solidFill>
                <a:srgbClr val="F8F8F2"/>
              </a:solidFill>
              <a:effectLst/>
            </a:endParaRPr>
          </a:p>
          <a:p>
            <a:br>
              <a:rPr lang="en-US" dirty="0">
                <a:solidFill>
                  <a:srgbClr val="F8F8F2"/>
                </a:solidFill>
                <a:effectLst/>
              </a:rPr>
            </a:br>
            <a:r>
              <a:rPr lang="en-US" dirty="0" err="1">
                <a:solidFill>
                  <a:srgbClr val="F8F8F2"/>
                </a:solidFill>
                <a:effectLst/>
              </a:rPr>
              <a:t>svc_diag</a:t>
            </a:r>
            <a:r>
              <a:rPr lang="en-US" dirty="0">
                <a:solidFill>
                  <a:srgbClr val="F8F8F2"/>
                </a:solidFill>
                <a:effectLst/>
              </a:rPr>
              <a:t> </a:t>
            </a:r>
            <a:r>
              <a:rPr lang="en-US" dirty="0">
                <a:solidFill>
                  <a:srgbClr val="66D9EF"/>
                </a:solidFill>
                <a:effectLst/>
              </a:rPr>
              <a:t>=</a:t>
            </a:r>
            <a:r>
              <a:rPr lang="en-US" dirty="0">
                <a:solidFill>
                  <a:srgbClr val="F8F8F2"/>
                </a:solidFill>
                <a:effectLst/>
              </a:rPr>
              <a:t> SVC(C</a:t>
            </a:r>
            <a:r>
              <a:rPr lang="en-US" dirty="0">
                <a:solidFill>
                  <a:srgbClr val="66D9EF"/>
                </a:solidFill>
                <a:effectLst/>
              </a:rPr>
              <a:t>=</a:t>
            </a:r>
            <a:r>
              <a:rPr lang="en-US" dirty="0">
                <a:solidFill>
                  <a:srgbClr val="AE81FF"/>
                </a:solidFill>
                <a:effectLst/>
              </a:rPr>
              <a:t>10</a:t>
            </a:r>
            <a:r>
              <a:rPr lang="en-US" dirty="0">
                <a:solidFill>
                  <a:srgbClr val="F8F8F2"/>
                </a:solidFill>
                <a:effectLst/>
              </a:rPr>
              <a:t>,kernel</a:t>
            </a:r>
            <a:r>
              <a:rPr lang="en-US" dirty="0">
                <a:solidFill>
                  <a:srgbClr val="66D9EF"/>
                </a:solidFill>
                <a:effectLst/>
              </a:rPr>
              <a:t>=</a:t>
            </a:r>
            <a:r>
              <a:rPr lang="en-US" dirty="0">
                <a:solidFill>
                  <a:srgbClr val="A6E22E"/>
                </a:solidFill>
                <a:effectLst/>
              </a:rPr>
              <a:t>'linear’</a:t>
            </a:r>
            <a:r>
              <a:rPr lang="en-US" dirty="0">
                <a:solidFill>
                  <a:srgbClr val="F8F8F2"/>
                </a:solidFill>
                <a:effectLst/>
              </a:rPr>
              <a:t>)</a:t>
            </a:r>
          </a:p>
          <a:p>
            <a:br>
              <a:rPr lang="en-US" dirty="0"/>
            </a:br>
            <a:endParaRPr lang="en-US" dirty="0">
              <a:solidFill>
                <a:srgbClr val="F8F8F2"/>
              </a:solidFill>
              <a:effectLst/>
            </a:endParaRPr>
          </a:p>
          <a:p>
            <a:endParaRPr lang="en-US" dirty="0">
              <a:solidFill>
                <a:srgbClr val="F8F8F2"/>
              </a:solidFill>
              <a:effectLst/>
            </a:endParaRPr>
          </a:p>
          <a:p>
            <a:endParaRPr lang="en-US" dirty="0"/>
          </a:p>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46</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dirty="0"/>
              <a:t>https://www.shiksha.com/online-courses/articles/support-vector-machines-python-code/</a:t>
            </a:r>
          </a:p>
          <a:p>
            <a:pPr algn="l"/>
            <a:endParaRPr lang="en-US" b="0" i="0" dirty="0">
              <a:solidFill>
                <a:srgbClr val="1B2437"/>
              </a:solidFill>
              <a:effectLst/>
              <a:latin typeface="Inter"/>
            </a:endParaRPr>
          </a:p>
          <a:p>
            <a:pPr algn="l"/>
            <a:r>
              <a:rPr lang="en-US" b="0" i="0" dirty="0">
                <a:solidFill>
                  <a:srgbClr val="1B2437"/>
                </a:solidFill>
                <a:effectLst/>
                <a:latin typeface="Inter"/>
              </a:rPr>
              <a:t>1. </a:t>
            </a:r>
            <a:r>
              <a:rPr lang="en-US" b="1" i="0" dirty="0">
                <a:solidFill>
                  <a:srgbClr val="1B2437"/>
                </a:solidFill>
                <a:effectLst/>
                <a:latin typeface="Inter"/>
              </a:rPr>
              <a:t>Hyperplane</a:t>
            </a:r>
            <a:r>
              <a:rPr lang="en-US" b="0" i="0" dirty="0">
                <a:solidFill>
                  <a:srgbClr val="1B2437"/>
                </a:solidFill>
                <a:effectLst/>
                <a:latin typeface="Inter"/>
              </a:rPr>
              <a:t>:</a:t>
            </a:r>
          </a:p>
          <a:p>
            <a:pPr algn="l"/>
            <a:r>
              <a:rPr lang="en-US" b="0" i="0" dirty="0">
                <a:solidFill>
                  <a:srgbClr val="445578"/>
                </a:solidFill>
                <a:effectLst/>
                <a:latin typeface="Inter"/>
              </a:rPr>
              <a:t>Hyperplanes, also known as decision boundaries or decision planes, are the boundaries that aid in the classification of data points. The side of the hyperplane where a new data point lands can be divided into multiple groups. The hyperplane’s dimension is determined by the number of features assigned to a dataset. The hyperplane can be a simple line if the dataset only has two features. A hyperplane is a two-dimensional plane when a dataset comprises three features.</a:t>
            </a:r>
          </a:p>
          <a:p>
            <a:pPr algn="l"/>
            <a:r>
              <a:rPr lang="en-US" b="0" i="0" dirty="0">
                <a:solidFill>
                  <a:srgbClr val="1B2437"/>
                </a:solidFill>
                <a:effectLst/>
                <a:latin typeface="Inter"/>
              </a:rPr>
              <a:t>2. </a:t>
            </a:r>
            <a:r>
              <a:rPr lang="en-US" b="1" i="0" dirty="0">
                <a:solidFill>
                  <a:srgbClr val="1B2437"/>
                </a:solidFill>
                <a:effectLst/>
                <a:latin typeface="Inter"/>
              </a:rPr>
              <a:t>Support Vectors</a:t>
            </a:r>
            <a:r>
              <a:rPr lang="en-US" b="0" i="0" dirty="0">
                <a:solidFill>
                  <a:srgbClr val="1B2437"/>
                </a:solidFill>
                <a:effectLst/>
                <a:latin typeface="Inter"/>
              </a:rPr>
              <a:t>:</a:t>
            </a:r>
          </a:p>
          <a:p>
            <a:pPr algn="l"/>
            <a:r>
              <a:rPr lang="en-US" b="0" i="0" dirty="0">
                <a:solidFill>
                  <a:srgbClr val="445578"/>
                </a:solidFill>
                <a:effectLst/>
                <a:latin typeface="Inter"/>
              </a:rPr>
              <a:t>Support vectors are the data points closest to the hyperplane and affect its position. These vectors are called support vectors because they alter hyperplane location, hence the Support Vector Machine Algorithm.</a:t>
            </a:r>
          </a:p>
          <a:p>
            <a:pPr algn="l"/>
            <a:r>
              <a:rPr lang="en-US" b="0" i="0" dirty="0">
                <a:solidFill>
                  <a:srgbClr val="1B2437"/>
                </a:solidFill>
                <a:effectLst/>
                <a:latin typeface="Inter"/>
              </a:rPr>
              <a:t>3. </a:t>
            </a:r>
            <a:r>
              <a:rPr lang="en-US" b="1" i="0" dirty="0">
                <a:solidFill>
                  <a:srgbClr val="1B2437"/>
                </a:solidFill>
                <a:effectLst/>
                <a:latin typeface="Inter"/>
              </a:rPr>
              <a:t>Margin</a:t>
            </a:r>
            <a:r>
              <a:rPr lang="en-US" b="0" i="0" dirty="0">
                <a:solidFill>
                  <a:srgbClr val="1B2437"/>
                </a:solidFill>
                <a:effectLst/>
                <a:latin typeface="Inter"/>
              </a:rPr>
              <a:t>:</a:t>
            </a:r>
          </a:p>
          <a:p>
            <a:pPr algn="l"/>
            <a:r>
              <a:rPr lang="en-US" b="0" i="0" dirty="0">
                <a:solidFill>
                  <a:srgbClr val="445578"/>
                </a:solidFill>
                <a:effectLst/>
                <a:latin typeface="Inter"/>
              </a:rPr>
              <a:t>The distance between the hyperplane and the support vectors is the margin. The hyperplane that optimizes the margin is always chosen using SVM. The wider the margin, the more accurate the results are. There are two types of margins in SVM algorithms: hard and soft.</a:t>
            </a:r>
          </a:p>
          <a:p>
            <a:pPr algn="l"/>
            <a:r>
              <a:rPr lang="en-US" b="0" i="0" dirty="0">
                <a:solidFill>
                  <a:srgbClr val="445578"/>
                </a:solidFill>
                <a:effectLst/>
                <a:latin typeface="Inter"/>
              </a:rPr>
              <a:t>SVM can select two parallel lines that maximize the marginal distance when the training dataset is linearly separable; this is known as a hard margin. The SVM admits some margin violations when the training dataset is not linearly separable. A soft margin permits some data points to remain on the wrong side of the hyperplane or between the margin and the hyperplane while maintaining accuracy.</a:t>
            </a:r>
          </a:p>
          <a:p>
            <a:endParaRPr lang="en-US" dirty="0"/>
          </a:p>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47</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dirty="0"/>
              <a:t> </a:t>
            </a:r>
          </a:p>
          <a:p>
            <a:pPr marL="0" marR="0" lvl="0" indent="0" algn="l" defTabSz="914400" rtl="0" eaLnBrk="1" fontAlgn="auto" latinLnBrk="0" hangingPunct="1">
              <a:lnSpc>
                <a:spcPct val="100000"/>
              </a:lnSpc>
              <a:spcBef>
                <a:spcPts val="0"/>
              </a:spcBef>
              <a:spcAft>
                <a:spcPts val="0"/>
              </a:spcAft>
              <a:buClrTx/>
              <a:buSzTx/>
              <a:buFontTx/>
              <a:buNone/>
              <a:defRPr/>
            </a:pPr>
            <a:endParaRPr lang="en-GB" dirty="0">
              <a:hlinkClick r:id="rId3"/>
            </a:endParaRPr>
          </a:p>
          <a:p>
            <a:pPr marL="0" marR="0" lvl="0" indent="0" algn="l" defTabSz="914400" rtl="0" eaLnBrk="1" fontAlgn="auto" latinLnBrk="0" hangingPunct="1">
              <a:lnSpc>
                <a:spcPct val="100000"/>
              </a:lnSpc>
              <a:spcBef>
                <a:spcPts val="0"/>
              </a:spcBef>
              <a:spcAft>
                <a:spcPts val="0"/>
              </a:spcAft>
              <a:buClrTx/>
              <a:buSzTx/>
              <a:buFontTx/>
              <a:buNone/>
              <a:defRPr/>
            </a:pPr>
            <a:r>
              <a:rPr lang="en-GB" b="0" i="0" dirty="0">
                <a:solidFill>
                  <a:srgbClr val="020202"/>
                </a:solidFill>
                <a:effectLst/>
                <a:latin typeface="Menlo"/>
              </a:rPr>
              <a:t> </a:t>
            </a:r>
            <a:endParaRPr lang="en-GB" b="0" i="0" dirty="0">
              <a:solidFill>
                <a:srgbClr val="020202"/>
              </a:solidFill>
              <a:effectLst/>
              <a:latin typeface="Menlo"/>
              <a:hlinkClick r:id="rId3"/>
            </a:endParaRPr>
          </a:p>
          <a:p>
            <a:pPr marL="0" marR="0" lvl="0" indent="0" algn="l" defTabSz="914400" rtl="0" eaLnBrk="1" fontAlgn="auto" latinLnBrk="0" hangingPunct="1">
              <a:lnSpc>
                <a:spcPct val="100000"/>
              </a:lnSpc>
              <a:spcBef>
                <a:spcPts val="0"/>
              </a:spcBef>
              <a:spcAft>
                <a:spcPts val="0"/>
              </a:spcAft>
              <a:buClrTx/>
              <a:buSzTx/>
              <a:buFontTx/>
              <a:buNone/>
              <a:defRPr/>
            </a:pPr>
            <a:endParaRPr lang="en-GB" dirty="0">
              <a:hlinkClick r:id="rId3"/>
            </a:endParaRPr>
          </a:p>
        </p:txBody>
      </p:sp>
      <p:sp>
        <p:nvSpPr>
          <p:cNvPr id="4" name="Slide Number Placeholder 3"/>
          <p:cNvSpPr>
            <a:spLocks noGrp="1"/>
          </p:cNvSpPr>
          <p:nvPr>
            <p:ph type="sldNum" sz="quarter" idx="5"/>
          </p:nvPr>
        </p:nvSpPr>
        <p:spPr/>
        <p:txBody>
          <a:bodyPr/>
          <a:lstStyle/>
          <a:p>
            <a:fld id="{1FACCC11-19A3-4E27-AB70-5FB3E1779C6E}" type="slidenum">
              <a:rPr lang="en-US" smtClean="0"/>
              <a:t>49</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dirty="0"/>
              <a:t> </a:t>
            </a:r>
          </a:p>
          <a:p>
            <a:pPr marL="0" marR="0" lvl="0" indent="0" algn="l" defTabSz="914400" rtl="0" eaLnBrk="1" fontAlgn="auto" latinLnBrk="0" hangingPunct="1">
              <a:lnSpc>
                <a:spcPct val="100000"/>
              </a:lnSpc>
              <a:spcBef>
                <a:spcPts val="0"/>
              </a:spcBef>
              <a:spcAft>
                <a:spcPts val="0"/>
              </a:spcAft>
              <a:buClrTx/>
              <a:buSzTx/>
              <a:buFontTx/>
              <a:buNone/>
              <a:defRPr/>
            </a:pPr>
            <a:endParaRPr lang="en-GB" dirty="0">
              <a:hlinkClick r:id="rId3"/>
            </a:endParaRPr>
          </a:p>
          <a:p>
            <a:pPr marL="0" marR="0" lvl="0" indent="0" algn="l" defTabSz="914400" rtl="0" eaLnBrk="1" fontAlgn="auto" latinLnBrk="0" hangingPunct="1">
              <a:lnSpc>
                <a:spcPct val="100000"/>
              </a:lnSpc>
              <a:spcBef>
                <a:spcPts val="0"/>
              </a:spcBef>
              <a:spcAft>
                <a:spcPts val="0"/>
              </a:spcAft>
              <a:buClrTx/>
              <a:buSzTx/>
              <a:buFontTx/>
              <a:buNone/>
              <a:defRPr/>
            </a:pPr>
            <a:r>
              <a:rPr lang="en-GB" b="0" i="0" dirty="0">
                <a:solidFill>
                  <a:srgbClr val="020202"/>
                </a:solidFill>
                <a:effectLst/>
                <a:latin typeface="Menlo"/>
              </a:rPr>
              <a:t> </a:t>
            </a:r>
            <a:endParaRPr lang="en-GB" b="0" i="0" dirty="0">
              <a:solidFill>
                <a:srgbClr val="020202"/>
              </a:solidFill>
              <a:effectLst/>
              <a:latin typeface="Menlo"/>
              <a:hlinkClick r:id="rId3"/>
            </a:endParaRPr>
          </a:p>
          <a:p>
            <a:pPr marL="0" marR="0" lvl="0" indent="0" algn="l" defTabSz="914400" rtl="0" eaLnBrk="1" fontAlgn="auto" latinLnBrk="0" hangingPunct="1">
              <a:lnSpc>
                <a:spcPct val="100000"/>
              </a:lnSpc>
              <a:spcBef>
                <a:spcPts val="0"/>
              </a:spcBef>
              <a:spcAft>
                <a:spcPts val="0"/>
              </a:spcAft>
              <a:buClrTx/>
              <a:buSzTx/>
              <a:buFontTx/>
              <a:buNone/>
              <a:defRPr/>
            </a:pPr>
            <a:endParaRPr lang="en-GB" dirty="0">
              <a:hlinkClick r:id="rId3"/>
            </a:endParaRPr>
          </a:p>
        </p:txBody>
      </p:sp>
      <p:sp>
        <p:nvSpPr>
          <p:cNvPr id="4" name="Slide Number Placeholder 3"/>
          <p:cNvSpPr>
            <a:spLocks noGrp="1"/>
          </p:cNvSpPr>
          <p:nvPr>
            <p:ph type="sldNum" sz="quarter" idx="5"/>
          </p:nvPr>
        </p:nvSpPr>
        <p:spPr/>
        <p:txBody>
          <a:bodyPr/>
          <a:lstStyle/>
          <a:p>
            <a:fld id="{1FACCC11-19A3-4E27-AB70-5FB3E1779C6E}" type="slidenum">
              <a:rPr lang="en-US" smtClean="0"/>
              <a:t>50</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 </a:t>
            </a:r>
          </a:p>
        </p:txBody>
      </p:sp>
      <p:sp>
        <p:nvSpPr>
          <p:cNvPr id="4" name="Slide Number Placeholder 3"/>
          <p:cNvSpPr>
            <a:spLocks noGrp="1"/>
          </p:cNvSpPr>
          <p:nvPr>
            <p:ph type="sldNum" sz="quarter" idx="5"/>
          </p:nvPr>
        </p:nvSpPr>
        <p:spPr/>
        <p:txBody>
          <a:bodyPr/>
          <a:lstStyle/>
          <a:p>
            <a:fld id="{1FACCC11-19A3-4E27-AB70-5FB3E1779C6E}" type="slidenum">
              <a:rPr lang="en-US" smtClean="0"/>
              <a:t>51</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Master" Target="../slideMasters/slideMaster5.xml"/><Relationship Id="rId6" Type="http://schemas.openxmlformats.org/officeDocument/2006/relationships/image" Target="../media/image12.svg"/><Relationship Id="rId5" Type="http://schemas.openxmlformats.org/officeDocument/2006/relationships/image" Target="../media/image6.png"/><Relationship Id="rId4" Type="http://schemas.openxmlformats.org/officeDocument/2006/relationships/image" Target="../media/image11.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ight blue-Title">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838200" y="3136307"/>
            <a:ext cx="10515600" cy="1186075"/>
          </a:xfrm>
          <a:prstGeom prst="rect">
            <a:avLst/>
          </a:prstGeom>
        </p:spPr>
        <p:txBody>
          <a:bodyPr anchor="b"/>
          <a:lstStyle>
            <a:lvl1pPr algn="ctr">
              <a:lnSpc>
                <a:spcPts val="4500"/>
              </a:lnSpc>
              <a:defRPr sz="5200" b="1" cap="all" spc="-50" baseline="0">
                <a:solidFill>
                  <a:schemeClr val="bg1"/>
                </a:solidFill>
                <a:latin typeface="+mn-lt"/>
              </a:defRPr>
            </a:lvl1pPr>
          </a:lstStyle>
          <a:p>
            <a:r>
              <a:rPr lang="en-US" dirty="0"/>
              <a:t>Click to edit title  </a:t>
            </a:r>
            <a:endParaRPr lang="en-GB" dirty="0"/>
          </a:p>
        </p:txBody>
      </p:sp>
      <p:sp>
        <p:nvSpPr>
          <p:cNvPr id="5" name="Text Placeholder 5"/>
          <p:cNvSpPr>
            <a:spLocks noGrp="1"/>
          </p:cNvSpPr>
          <p:nvPr>
            <p:ph type="body" sz="quarter" idx="10"/>
          </p:nvPr>
        </p:nvSpPr>
        <p:spPr>
          <a:xfrm>
            <a:off x="838200" y="4495085"/>
            <a:ext cx="10515600" cy="1290414"/>
          </a:xfrm>
          <a:prstGeom prst="rect">
            <a:avLst/>
          </a:prstGeom>
        </p:spPr>
        <p:txBody>
          <a:bodyPr/>
          <a:lstStyle>
            <a:lvl1pPr marL="0" indent="0" algn="ctr">
              <a:buNone/>
              <a:defRPr sz="2800" spc="-50" baseline="0">
                <a:solidFill>
                  <a:schemeClr val="bg1"/>
                </a:solidFill>
              </a:defRPr>
            </a:lvl1pPr>
          </a:lstStyle>
          <a:p>
            <a:pPr lvl="0"/>
            <a:r>
              <a:rPr lang="en-GB"/>
              <a:t>Click to edit Master text styles</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FDE934FF-F4E1-47C5-9CA5-30A81DDE2BE4}" type="datetimeFigureOut">
              <a:rPr lang="en-US" smtClean="0"/>
              <a:t>2/15/2026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earson slide with title">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710565" y="1777407"/>
            <a:ext cx="10515600" cy="1186075"/>
          </a:xfrm>
          <a:prstGeom prst="rect">
            <a:avLst/>
          </a:prstGeom>
        </p:spPr>
        <p:txBody>
          <a:bodyPr anchor="b"/>
          <a:lstStyle>
            <a:lvl1pPr algn="ctr">
              <a:lnSpc>
                <a:spcPts val="4500"/>
              </a:lnSpc>
              <a:defRPr sz="5200" b="1" cap="all" spc="-50" baseline="0">
                <a:solidFill>
                  <a:srgbClr val="942F6D"/>
                </a:solidFill>
                <a:latin typeface="+mn-lt"/>
              </a:defRPr>
            </a:lvl1pPr>
          </a:lstStyle>
          <a:p>
            <a:r>
              <a:rPr lang="en-US" dirty="0"/>
              <a:t>Click to edit title </a:t>
            </a:r>
            <a:endParaRPr lang="en-GB" dirty="0"/>
          </a:p>
        </p:txBody>
      </p:sp>
      <p:sp>
        <p:nvSpPr>
          <p:cNvPr id="6" name="Text Placeholder 5"/>
          <p:cNvSpPr>
            <a:spLocks noGrp="1"/>
          </p:cNvSpPr>
          <p:nvPr>
            <p:ph type="body" sz="quarter" idx="10"/>
          </p:nvPr>
        </p:nvSpPr>
        <p:spPr>
          <a:xfrm>
            <a:off x="710565" y="3173014"/>
            <a:ext cx="10515600" cy="1820257"/>
          </a:xfrm>
          <a:prstGeom prst="rect">
            <a:avLst/>
          </a:prstGeom>
        </p:spPr>
        <p:txBody>
          <a:bodyPr/>
          <a:lstStyle>
            <a:lvl1pPr marL="0" indent="0" algn="ctr">
              <a:buNone/>
              <a:defRPr sz="2800" spc="-50" baseline="0">
                <a:solidFill>
                  <a:srgbClr val="656768"/>
                </a:solidFill>
              </a:defRPr>
            </a:lvl1pPr>
          </a:lstStyle>
          <a:p>
            <a:pPr lvl="0"/>
            <a:r>
              <a:rPr lang="en-US" dirty="0"/>
              <a:t>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ight blue-slide with content">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601791" y="555478"/>
            <a:ext cx="9097686" cy="1068223"/>
          </a:xfrm>
          <a:prstGeom prst="rect">
            <a:avLst/>
          </a:prstGeom>
        </p:spPr>
        <p:txBody>
          <a:bodyPr vert="horz" lIns="91440" tIns="45720" rIns="91440" bIns="45720" rtlCol="0" anchor="t">
            <a:normAutofit/>
          </a:bodyPr>
          <a:lstStyle>
            <a:lvl1pPr>
              <a:defRPr>
                <a:solidFill>
                  <a:srgbClr val="942F6D"/>
                </a:solidFill>
              </a:defRPr>
            </a:lvl1pPr>
          </a:lstStyle>
          <a:p>
            <a:r>
              <a:rPr lang="en-US" dirty="0"/>
              <a:t>Click to edit title </a:t>
            </a:r>
            <a:endParaRPr lang="en-GB" dirty="0"/>
          </a:p>
        </p:txBody>
      </p:sp>
      <p:sp>
        <p:nvSpPr>
          <p:cNvPr id="9" name="Text Placeholder 8"/>
          <p:cNvSpPr>
            <a:spLocks noGrp="1"/>
          </p:cNvSpPr>
          <p:nvPr>
            <p:ph type="body" sz="quarter" idx="10" hasCustomPrompt="1"/>
          </p:nvPr>
        </p:nvSpPr>
        <p:spPr>
          <a:xfrm>
            <a:off x="601791" y="1811976"/>
            <a:ext cx="10994852" cy="4033348"/>
          </a:xfrm>
          <a:prstGeom prst="rect">
            <a:avLst/>
          </a:prstGeom>
        </p:spPr>
        <p:txBody>
          <a:bodyPr/>
          <a:lstStyle>
            <a:lvl1pPr>
              <a:buClr>
                <a:srgbClr val="942F6D"/>
              </a:buClr>
              <a:defRPr baseline="0">
                <a:solidFill>
                  <a:srgbClr val="656768"/>
                </a:solidFill>
              </a:defRPr>
            </a:lvl1pPr>
            <a:lvl2pPr>
              <a:buClr>
                <a:srgbClr val="942F6D"/>
              </a:buClr>
              <a:defRPr>
                <a:solidFill>
                  <a:srgbClr val="656768"/>
                </a:solidFill>
              </a:defRPr>
            </a:lvl2pPr>
            <a:lvl3pPr>
              <a:buClr>
                <a:srgbClr val="942F6D"/>
              </a:buClr>
              <a:defRPr>
                <a:solidFill>
                  <a:srgbClr val="656768"/>
                </a:solidFill>
              </a:defRPr>
            </a:lvl3pPr>
            <a:lvl4pPr>
              <a:buClr>
                <a:srgbClr val="942F6D"/>
              </a:buClr>
              <a:defRPr>
                <a:solidFill>
                  <a:srgbClr val="656768"/>
                </a:solidFill>
              </a:defRPr>
            </a:lvl4pPr>
            <a:lvl5pPr>
              <a:buClr>
                <a:srgbClr val="942F6D"/>
              </a:buClr>
              <a:defRPr>
                <a:solidFill>
                  <a:srgbClr val="656768"/>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3" name="Picture Placeholder 2"/>
          <p:cNvSpPr>
            <a:spLocks noGrp="1"/>
          </p:cNvSpPr>
          <p:nvPr>
            <p:ph type="pic" sz="quarter" idx="10" hasCustomPrompt="1"/>
          </p:nvPr>
        </p:nvSpPr>
        <p:spPr>
          <a:xfrm>
            <a:off x="6281159" y="0"/>
            <a:ext cx="5910840" cy="6858000"/>
          </a:xfrm>
          <a:prstGeom prst="rect">
            <a:avLst/>
          </a:prstGeom>
        </p:spPr>
        <p:txBody>
          <a:bodyPr anchor="ctr">
            <a:normAutofit/>
          </a:bodyPr>
          <a:lstStyle>
            <a:lvl1pPr marL="0" indent="0" algn="ctr">
              <a:lnSpc>
                <a:spcPct val="150000"/>
              </a:lnSpc>
              <a:buNone/>
              <a:defRPr sz="2800" baseline="0"/>
            </a:lvl1pPr>
          </a:lstStyle>
          <a:p>
            <a:r>
              <a:rPr lang="en-GB" dirty="0"/>
              <a:t>Click to add picture </a:t>
            </a:r>
          </a:p>
        </p:txBody>
      </p:sp>
      <p:sp>
        <p:nvSpPr>
          <p:cNvPr id="8" name="Title Placeholder 1"/>
          <p:cNvSpPr>
            <a:spLocks noGrp="1"/>
          </p:cNvSpPr>
          <p:nvPr>
            <p:ph type="title" hasCustomPrompt="1"/>
          </p:nvPr>
        </p:nvSpPr>
        <p:spPr>
          <a:xfrm>
            <a:off x="601791" y="555478"/>
            <a:ext cx="5491361" cy="1068223"/>
          </a:xfrm>
          <a:prstGeom prst="rect">
            <a:avLst/>
          </a:prstGeom>
        </p:spPr>
        <p:txBody>
          <a:bodyPr vert="horz" lIns="91440" tIns="45720" rIns="91440" bIns="45720" rtlCol="0" anchor="t">
            <a:normAutofit/>
          </a:bodyPr>
          <a:lstStyle>
            <a:lvl1pPr>
              <a:defRPr>
                <a:solidFill>
                  <a:srgbClr val="942F6D"/>
                </a:solidFill>
              </a:defRPr>
            </a:lvl1pPr>
          </a:lstStyle>
          <a:p>
            <a:r>
              <a:rPr lang="en-US" dirty="0"/>
              <a:t>Click to edit title</a:t>
            </a:r>
            <a:endParaRPr lang="en-GB" dirty="0"/>
          </a:p>
        </p:txBody>
      </p:sp>
      <p:sp>
        <p:nvSpPr>
          <p:cNvPr id="4" name="Text Placeholder 3"/>
          <p:cNvSpPr>
            <a:spLocks noGrp="1"/>
          </p:cNvSpPr>
          <p:nvPr>
            <p:ph type="body" sz="quarter" idx="11" hasCustomPrompt="1"/>
          </p:nvPr>
        </p:nvSpPr>
        <p:spPr>
          <a:xfrm>
            <a:off x="601791" y="1760537"/>
            <a:ext cx="5491361" cy="3845503"/>
          </a:xfrm>
          <a:prstGeom prst="rect">
            <a:avLst/>
          </a:prstGeom>
        </p:spPr>
        <p:txBody>
          <a:bodyPr/>
          <a:lstStyle>
            <a:lvl1pPr marL="0" indent="0">
              <a:buClr>
                <a:srgbClr val="6FC8F0"/>
              </a:buClr>
              <a:buNone/>
              <a:defRPr baseline="0">
                <a:solidFill>
                  <a:srgbClr val="656768"/>
                </a:solidFill>
              </a:defRPr>
            </a:lvl1pPr>
            <a:lvl2pPr marL="457200" indent="0">
              <a:buClr>
                <a:srgbClr val="6FC8F0"/>
              </a:buClr>
              <a:buNone/>
              <a:defRPr>
                <a:solidFill>
                  <a:srgbClr val="656768"/>
                </a:solidFill>
              </a:defRPr>
            </a:lvl2pPr>
            <a:lvl3pPr marL="914400" indent="0">
              <a:buClr>
                <a:srgbClr val="6FC8F0"/>
              </a:buClr>
              <a:buNone/>
              <a:defRPr>
                <a:solidFill>
                  <a:srgbClr val="656768"/>
                </a:solidFill>
              </a:defRPr>
            </a:lvl3pPr>
            <a:lvl4pPr marL="1371600" indent="0">
              <a:buClr>
                <a:srgbClr val="6FC8F0"/>
              </a:buClr>
              <a:buNone/>
              <a:defRPr>
                <a:solidFill>
                  <a:srgbClr val="656768"/>
                </a:solidFill>
              </a:defRPr>
            </a:lvl4pPr>
            <a:lvl5pPr marL="1828800" indent="0">
              <a:buClr>
                <a:srgbClr val="6FC8F0"/>
              </a:buClr>
              <a:buNone/>
              <a:defRPr>
                <a:solidFill>
                  <a:srgbClr val="656768"/>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descr="A picture containing text, clipart&#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79233" y="927488"/>
            <a:ext cx="2495310" cy="1152049"/>
          </a:xfrm>
          <a:prstGeom prst="rect">
            <a:avLst/>
          </a:prstGeom>
        </p:spPr>
      </p:pic>
      <p:pic>
        <p:nvPicPr>
          <p:cNvPr id="14" name="Graphic 13"/>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169667" y="1033477"/>
            <a:ext cx="3314700" cy="723931"/>
          </a:xfrm>
          <a:prstGeom prst="rect">
            <a:avLst/>
          </a:prstGeom>
        </p:spPr>
      </p:pic>
      <p:sp>
        <p:nvSpPr>
          <p:cNvPr id="2" name="Isosceles Triangle 1"/>
          <p:cNvSpPr/>
          <p:nvPr userDrawn="1"/>
        </p:nvSpPr>
        <p:spPr>
          <a:xfrm rot="5400000">
            <a:off x="1747328" y="5566954"/>
            <a:ext cx="155700" cy="9988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65">
              <a:ln>
                <a:noFill/>
              </a:ln>
            </a:endParaRPr>
          </a:p>
        </p:txBody>
      </p:sp>
      <p:pic>
        <p:nvPicPr>
          <p:cNvPr id="3" name="Graphic 2"/>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2013106" y="5538064"/>
            <a:ext cx="1371600" cy="180983"/>
          </a:xfrm>
          <a:prstGeom prst="rect">
            <a:avLst/>
          </a:prstGeom>
        </p:spPr>
      </p:pic>
      <p:pic>
        <p:nvPicPr>
          <p:cNvPr id="5" name="Picture 4"/>
          <p:cNvPicPr>
            <a:picLocks noChangeAspect="1"/>
          </p:cNvPicPr>
          <p:nvPr userDrawn="1"/>
        </p:nvPicPr>
        <p:blipFill>
          <a:blip r:embed="rId7" cstate="print">
            <a:extLst>
              <a:ext uri="{28A0092B-C50C-407E-A947-70E740481C1C}">
                <a14:useLocalDpi xmlns:a14="http://schemas.microsoft.com/office/drawing/2010/main" val="0"/>
              </a:ext>
            </a:extLst>
          </a:blip>
          <a:srcRect/>
          <a:stretch>
            <a:fillRect/>
          </a:stretch>
        </p:blipFill>
        <p:spPr>
          <a:xfrm>
            <a:off x="8856512" y="5065192"/>
            <a:ext cx="1451310" cy="433375"/>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7.svg"/><Relationship Id="rId2" Type="http://schemas.openxmlformats.org/officeDocument/2006/relationships/theme" Target="../theme/theme2.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7" Type="http://schemas.openxmlformats.org/officeDocument/2006/relationships/image" Target="../media/image7.svg"/><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7.svg"/><Relationship Id="rId2" Type="http://schemas.openxmlformats.org/officeDocument/2006/relationships/theme" Target="../theme/theme4.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theme" Target="../theme/theme5.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rgbClr val="942F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6FC8F0"/>
              </a:solidFill>
            </a:endParaRPr>
          </a:p>
        </p:txBody>
      </p:sp>
      <p:pic>
        <p:nvPicPr>
          <p:cNvPr id="2" name="Picture 1" descr="A picture containing text, clipart&#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738091" y="651936"/>
            <a:ext cx="1835181" cy="847242"/>
          </a:xfrm>
          <a:prstGeom prst="rect">
            <a:avLst/>
          </a:prstGeom>
        </p:spPr>
      </p:pic>
      <p:pic>
        <p:nvPicPr>
          <p:cNvPr id="4" name="Picture 3"/>
          <p:cNvPicPr>
            <a:picLocks noChangeAspect="1"/>
          </p:cNvPicPr>
          <p:nvPr userDrawn="1"/>
        </p:nvPicPr>
        <p:blipFill>
          <a:blip r:embed="rId5" cstate="print">
            <a:extLst>
              <a:ext uri="{28A0092B-C50C-407E-A947-70E740481C1C}">
                <a14:useLocalDpi xmlns:a14="http://schemas.microsoft.com/office/drawing/2010/main" val="0"/>
              </a:ext>
            </a:extLst>
          </a:blip>
          <a:srcRect/>
          <a:stretch>
            <a:fillRect/>
          </a:stretch>
        </p:blipFill>
        <p:spPr>
          <a:xfrm>
            <a:off x="10122171" y="5895580"/>
            <a:ext cx="1451310" cy="433357"/>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43113" y="3228975"/>
            <a:ext cx="8105775" cy="3629025"/>
          </a:xfrm>
          <a:prstGeom prst="rect">
            <a:avLst/>
          </a:prstGeom>
        </p:spPr>
      </p:pic>
      <p:pic>
        <p:nvPicPr>
          <p:cNvPr id="3" name="Picture 2" descr="A picture containing text, sign, clipart&#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017063" y="677074"/>
            <a:ext cx="1559570" cy="720000"/>
          </a:xfrm>
          <a:prstGeom prst="rect">
            <a:avLst/>
          </a:prstGeom>
        </p:spPr>
      </p:pic>
      <p:pic>
        <p:nvPicPr>
          <p:cNvPr id="9" name="Picture 8"/>
          <p:cNvPicPr>
            <a:picLocks noChangeAspect="1"/>
          </p:cNvPicPr>
          <p:nvPr userDrawn="1"/>
        </p:nvPicPr>
        <p:blipFill>
          <a:blip r:embed="rId5" cstate="print">
            <a:extLst>
              <a:ext uri="{28A0092B-C50C-407E-A947-70E740481C1C}">
                <a14:useLocalDpi xmlns:a14="http://schemas.microsoft.com/office/drawing/2010/main" val="0"/>
              </a:ext>
            </a:extLst>
          </a:blip>
          <a:srcRect/>
          <a:stretch>
            <a:fillRect/>
          </a:stretch>
        </p:blipFill>
        <p:spPr>
          <a:xfrm>
            <a:off x="10248624" y="5611775"/>
            <a:ext cx="1328009" cy="396539"/>
          </a:xfrm>
          <a:prstGeom prst="rect">
            <a:avLst/>
          </a:prstGeom>
        </p:spPr>
      </p:pic>
      <p:sp>
        <p:nvSpPr>
          <p:cNvPr id="5" name="Rectangle 4"/>
          <p:cNvSpPr/>
          <p:nvPr userDrawn="1"/>
        </p:nvSpPr>
        <p:spPr>
          <a:xfrm>
            <a:off x="0" y="6502400"/>
            <a:ext cx="12192000" cy="355600"/>
          </a:xfrm>
          <a:prstGeom prst="rect">
            <a:avLst/>
          </a:prstGeom>
          <a:solidFill>
            <a:srgbClr val="942F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Graphic 5"/>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0535747" y="6603728"/>
            <a:ext cx="1371600" cy="180975"/>
          </a:xfrm>
          <a:prstGeom prst="rect">
            <a:avLst/>
          </a:prstGeom>
        </p:spPr>
      </p:pic>
      <p:sp>
        <p:nvSpPr>
          <p:cNvPr id="8" name="Isosceles Triangle 7"/>
          <p:cNvSpPr/>
          <p:nvPr userDrawn="1"/>
        </p:nvSpPr>
        <p:spPr>
          <a:xfrm rot="5400000">
            <a:off x="10297085" y="6626156"/>
            <a:ext cx="144000" cy="10800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n>
                <a:noFill/>
              </a:ln>
              <a:noFill/>
            </a:endParaRPr>
          </a:p>
        </p:txBody>
      </p:sp>
    </p:spTree>
  </p:cSld>
  <p:clrMap bg1="lt1" tx1="dk1" bg2="lt2" tx2="dk2" accent1="accent1" accent2="accent2" accent3="accent3" accent4="accent4" accent5="accent5" accent6="accent6" hlink="hlink" folHlink="folHlink"/>
  <p:sldLayoutIdLst>
    <p:sldLayoutId id="214748365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Picture 2" descr="A picture containing text, sign, clipart&#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017063" y="677074"/>
            <a:ext cx="1559570" cy="720000"/>
          </a:xfrm>
          <a:prstGeom prst="rect">
            <a:avLst/>
          </a:prstGeom>
        </p:spPr>
      </p:pic>
      <p:pic>
        <p:nvPicPr>
          <p:cNvPr id="9" name="Picture 8"/>
          <p:cNvPicPr>
            <a:picLocks noChangeAspect="1"/>
          </p:cNvPicPr>
          <p:nvPr userDrawn="1"/>
        </p:nvPicPr>
        <p:blipFill>
          <a:blip r:embed="rId5" cstate="print">
            <a:extLst>
              <a:ext uri="{28A0092B-C50C-407E-A947-70E740481C1C}">
                <a14:useLocalDpi xmlns:a14="http://schemas.microsoft.com/office/drawing/2010/main" val="0"/>
              </a:ext>
            </a:extLst>
          </a:blip>
          <a:srcRect/>
          <a:stretch>
            <a:fillRect/>
          </a:stretch>
        </p:blipFill>
        <p:spPr>
          <a:xfrm>
            <a:off x="10248624" y="5611775"/>
            <a:ext cx="1328009" cy="396539"/>
          </a:xfrm>
          <a:prstGeom prst="rect">
            <a:avLst/>
          </a:prstGeom>
        </p:spPr>
      </p:pic>
      <p:sp>
        <p:nvSpPr>
          <p:cNvPr id="4" name="Rectangle 4"/>
          <p:cNvSpPr/>
          <p:nvPr userDrawn="1"/>
        </p:nvSpPr>
        <p:spPr>
          <a:xfrm>
            <a:off x="0" y="6502400"/>
            <a:ext cx="12192000" cy="355600"/>
          </a:xfrm>
          <a:prstGeom prst="rect">
            <a:avLst/>
          </a:prstGeom>
          <a:solidFill>
            <a:srgbClr val="942F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Graphic 5"/>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0535747" y="6603728"/>
            <a:ext cx="1371600" cy="180975"/>
          </a:xfrm>
          <a:prstGeom prst="rect">
            <a:avLst/>
          </a:prstGeom>
        </p:spPr>
      </p:pic>
      <p:sp>
        <p:nvSpPr>
          <p:cNvPr id="8" name="Isosceles Triangle 7"/>
          <p:cNvSpPr/>
          <p:nvPr userDrawn="1"/>
        </p:nvSpPr>
        <p:spPr>
          <a:xfrm rot="5400000">
            <a:off x="10297085" y="6626156"/>
            <a:ext cx="144000" cy="10800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n>
                <a:noFill/>
              </a:ln>
              <a:noFill/>
            </a:endParaRPr>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Lst>
  <p:txStyles>
    <p:titleStyle>
      <a:lvl1pPr algn="l" defTabSz="914400" rtl="0" eaLnBrk="1" latinLnBrk="0" hangingPunct="1">
        <a:lnSpc>
          <a:spcPts val="3200"/>
        </a:lnSpc>
        <a:spcBef>
          <a:spcPct val="0"/>
        </a:spcBef>
        <a:buNone/>
        <a:defRPr sz="4200" b="1" kern="1200" cap="all" spc="-50" baseline="0">
          <a:solidFill>
            <a:srgbClr val="942F6D"/>
          </a:solidFill>
          <a:latin typeface="+mn-lt"/>
          <a:ea typeface="+mj-ea"/>
          <a:cs typeface="+mj-cs"/>
        </a:defRPr>
      </a:lvl1pPr>
    </p:titleStyle>
    <p:body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a:solidFill>
            <a:srgbClr val="0D3E63"/>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0D3E63"/>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0D3E63"/>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43113" y="3228975"/>
            <a:ext cx="8105775" cy="3629025"/>
          </a:xfrm>
          <a:prstGeom prst="rect">
            <a:avLst/>
          </a:prstGeom>
        </p:spPr>
      </p:pic>
      <p:pic>
        <p:nvPicPr>
          <p:cNvPr id="4" name="Picture 3" descr="A picture containing text, sign, clipart&#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017063" y="677074"/>
            <a:ext cx="1559570" cy="720000"/>
          </a:xfrm>
          <a:prstGeom prst="rect">
            <a:avLst/>
          </a:prstGeom>
        </p:spPr>
      </p:pic>
      <p:pic>
        <p:nvPicPr>
          <p:cNvPr id="9" name="Picture 8"/>
          <p:cNvPicPr>
            <a:picLocks noChangeAspect="1"/>
          </p:cNvPicPr>
          <p:nvPr userDrawn="1"/>
        </p:nvPicPr>
        <p:blipFill>
          <a:blip r:embed="rId5" cstate="print">
            <a:extLst>
              <a:ext uri="{28A0092B-C50C-407E-A947-70E740481C1C}">
                <a14:useLocalDpi xmlns:a14="http://schemas.microsoft.com/office/drawing/2010/main" val="0"/>
              </a:ext>
            </a:extLst>
          </a:blip>
          <a:srcRect/>
          <a:stretch>
            <a:fillRect/>
          </a:stretch>
        </p:blipFill>
        <p:spPr>
          <a:xfrm>
            <a:off x="10248624" y="5611775"/>
            <a:ext cx="1328009" cy="396539"/>
          </a:xfrm>
          <a:prstGeom prst="rect">
            <a:avLst/>
          </a:prstGeom>
        </p:spPr>
      </p:pic>
      <p:sp>
        <p:nvSpPr>
          <p:cNvPr id="5" name="Rectangle 4"/>
          <p:cNvSpPr/>
          <p:nvPr userDrawn="1"/>
        </p:nvSpPr>
        <p:spPr>
          <a:xfrm>
            <a:off x="0" y="6502400"/>
            <a:ext cx="12192000" cy="355600"/>
          </a:xfrm>
          <a:prstGeom prst="rect">
            <a:avLst/>
          </a:prstGeom>
          <a:solidFill>
            <a:srgbClr val="942F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8" name="Graphic 5"/>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0535747" y="6603728"/>
            <a:ext cx="1371600" cy="180975"/>
          </a:xfrm>
          <a:prstGeom prst="rect">
            <a:avLst/>
          </a:prstGeom>
        </p:spPr>
      </p:pic>
      <p:sp>
        <p:nvSpPr>
          <p:cNvPr id="10" name="Isosceles Triangle 9"/>
          <p:cNvSpPr/>
          <p:nvPr userDrawn="1"/>
        </p:nvSpPr>
        <p:spPr>
          <a:xfrm rot="5400000">
            <a:off x="10297085" y="6626156"/>
            <a:ext cx="144000" cy="10800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n>
                <a:noFill/>
              </a:ln>
              <a:noFill/>
            </a:endParaRP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ts val="3500"/>
        </a:lnSpc>
        <a:spcBef>
          <a:spcPct val="0"/>
        </a:spcBef>
        <a:buNone/>
        <a:defRPr sz="4200" b="1" kern="1200" cap="all" spc="-50" baseline="0">
          <a:solidFill>
            <a:srgbClr val="0D3E63"/>
          </a:solidFill>
          <a:latin typeface="+mn-lt"/>
          <a:ea typeface="+mj-ea"/>
          <a:cs typeface="+mj-cs"/>
        </a:defRPr>
      </a:lvl1pPr>
    </p:titleStyle>
    <p:body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a:solidFill>
            <a:srgbClr val="0D3E63"/>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0D3E63"/>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0D3E63"/>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a:xfrm>
            <a:off x="0" y="0"/>
            <a:ext cx="12192000" cy="6858294"/>
          </a:xfrm>
          <a:prstGeom prst="rect">
            <a:avLst/>
          </a:prstGeom>
        </p:spPr>
      </p:pic>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845820" rtl="0" eaLnBrk="1" latinLnBrk="0" hangingPunct="1">
        <a:lnSpc>
          <a:spcPct val="90000"/>
        </a:lnSpc>
        <a:spcBef>
          <a:spcPct val="0"/>
        </a:spcBef>
        <a:buNone/>
        <a:defRPr sz="4070" kern="1200">
          <a:solidFill>
            <a:schemeClr val="tx1"/>
          </a:solidFill>
          <a:latin typeface="+mj-lt"/>
          <a:ea typeface="+mj-ea"/>
          <a:cs typeface="+mj-cs"/>
        </a:defRPr>
      </a:lvl1pPr>
    </p:titleStyle>
    <p:bodyStyle>
      <a:lvl1pPr marL="211455" indent="-211455" algn="l" defTabSz="845820" rtl="0" eaLnBrk="1" latinLnBrk="0" hangingPunct="1">
        <a:lnSpc>
          <a:spcPct val="90000"/>
        </a:lnSpc>
        <a:spcBef>
          <a:spcPts val="925"/>
        </a:spcBef>
        <a:buFont typeface="Arial" panose="020B0604020202020204" pitchFamily="34" charset="0"/>
        <a:buChar char="•"/>
        <a:defRPr sz="2590" kern="1200">
          <a:solidFill>
            <a:schemeClr val="tx1"/>
          </a:solidFill>
          <a:latin typeface="+mn-lt"/>
          <a:ea typeface="+mn-ea"/>
          <a:cs typeface="+mn-cs"/>
        </a:defRPr>
      </a:lvl1pPr>
      <a:lvl2pPr marL="634365" indent="-211455" algn="l" defTabSz="845820" rtl="0" eaLnBrk="1" latinLnBrk="0" hangingPunct="1">
        <a:lnSpc>
          <a:spcPct val="90000"/>
        </a:lnSpc>
        <a:spcBef>
          <a:spcPct val="93000"/>
        </a:spcBef>
        <a:buFont typeface="Arial" panose="020B0604020202020204" pitchFamily="34" charset="0"/>
        <a:buChar char="•"/>
        <a:defRPr sz="2220" kern="1200">
          <a:solidFill>
            <a:schemeClr val="tx1"/>
          </a:solidFill>
          <a:latin typeface="+mn-lt"/>
          <a:ea typeface="+mn-ea"/>
          <a:cs typeface="+mn-cs"/>
        </a:defRPr>
      </a:lvl2pPr>
      <a:lvl3pPr marL="1057275" indent="-211455" algn="l" defTabSz="845820" rtl="0" eaLnBrk="1" latinLnBrk="0" hangingPunct="1">
        <a:lnSpc>
          <a:spcPct val="90000"/>
        </a:lnSpc>
        <a:spcBef>
          <a:spcPct val="93000"/>
        </a:spcBef>
        <a:buFont typeface="Arial" panose="020B0604020202020204" pitchFamily="34" charset="0"/>
        <a:buChar char="•"/>
        <a:defRPr sz="1850" kern="1200">
          <a:solidFill>
            <a:schemeClr val="tx1"/>
          </a:solidFill>
          <a:latin typeface="+mn-lt"/>
          <a:ea typeface="+mn-ea"/>
          <a:cs typeface="+mn-cs"/>
        </a:defRPr>
      </a:lvl3pPr>
      <a:lvl4pPr marL="1480185" indent="-211455" algn="l" defTabSz="845820" rtl="0" eaLnBrk="1" latinLnBrk="0" hangingPunct="1">
        <a:lnSpc>
          <a:spcPct val="90000"/>
        </a:lnSpc>
        <a:spcBef>
          <a:spcPct val="93000"/>
        </a:spcBef>
        <a:buFont typeface="Arial" panose="020B0604020202020204" pitchFamily="34" charset="0"/>
        <a:buChar char="•"/>
        <a:defRPr sz="1665" kern="1200">
          <a:solidFill>
            <a:schemeClr val="tx1"/>
          </a:solidFill>
          <a:latin typeface="+mn-lt"/>
          <a:ea typeface="+mn-ea"/>
          <a:cs typeface="+mn-cs"/>
        </a:defRPr>
      </a:lvl4pPr>
      <a:lvl5pPr marL="1903095" indent="-211455" algn="l" defTabSz="845820" rtl="0" eaLnBrk="1" latinLnBrk="0" hangingPunct="1">
        <a:lnSpc>
          <a:spcPct val="90000"/>
        </a:lnSpc>
        <a:spcBef>
          <a:spcPct val="93000"/>
        </a:spcBef>
        <a:buFont typeface="Arial" panose="020B0604020202020204" pitchFamily="34" charset="0"/>
        <a:buChar char="•"/>
        <a:defRPr sz="1665" kern="1200">
          <a:solidFill>
            <a:schemeClr val="tx1"/>
          </a:solidFill>
          <a:latin typeface="+mn-lt"/>
          <a:ea typeface="+mn-ea"/>
          <a:cs typeface="+mn-cs"/>
        </a:defRPr>
      </a:lvl5pPr>
      <a:lvl6pPr marL="2326005" indent="-211455" algn="l" defTabSz="845820" rtl="0" eaLnBrk="1" latinLnBrk="0" hangingPunct="1">
        <a:lnSpc>
          <a:spcPct val="90000"/>
        </a:lnSpc>
        <a:spcBef>
          <a:spcPct val="93000"/>
        </a:spcBef>
        <a:buFont typeface="Arial" panose="020B0604020202020204" pitchFamily="34" charset="0"/>
        <a:buChar char="•"/>
        <a:defRPr sz="1665" kern="1200">
          <a:solidFill>
            <a:schemeClr val="tx1"/>
          </a:solidFill>
          <a:latin typeface="+mn-lt"/>
          <a:ea typeface="+mn-ea"/>
          <a:cs typeface="+mn-cs"/>
        </a:defRPr>
      </a:lvl6pPr>
      <a:lvl7pPr marL="2748915" indent="-211455" algn="l" defTabSz="845820" rtl="0" eaLnBrk="1" latinLnBrk="0" hangingPunct="1">
        <a:lnSpc>
          <a:spcPct val="90000"/>
        </a:lnSpc>
        <a:spcBef>
          <a:spcPct val="93000"/>
        </a:spcBef>
        <a:buFont typeface="Arial" panose="020B0604020202020204" pitchFamily="34" charset="0"/>
        <a:buChar char="•"/>
        <a:defRPr sz="1665" kern="1200">
          <a:solidFill>
            <a:schemeClr val="tx1"/>
          </a:solidFill>
          <a:latin typeface="+mn-lt"/>
          <a:ea typeface="+mn-ea"/>
          <a:cs typeface="+mn-cs"/>
        </a:defRPr>
      </a:lvl7pPr>
      <a:lvl8pPr marL="3171190" indent="-211455" algn="l" defTabSz="845820" rtl="0" eaLnBrk="1" latinLnBrk="0" hangingPunct="1">
        <a:lnSpc>
          <a:spcPct val="90000"/>
        </a:lnSpc>
        <a:spcBef>
          <a:spcPct val="93000"/>
        </a:spcBef>
        <a:buFont typeface="Arial" panose="020B0604020202020204" pitchFamily="34" charset="0"/>
        <a:buChar char="•"/>
        <a:defRPr sz="1665" kern="1200">
          <a:solidFill>
            <a:schemeClr val="tx1"/>
          </a:solidFill>
          <a:latin typeface="+mn-lt"/>
          <a:ea typeface="+mn-ea"/>
          <a:cs typeface="+mn-cs"/>
        </a:defRPr>
      </a:lvl8pPr>
      <a:lvl9pPr marL="3594100" indent="-211455" algn="l" defTabSz="845820" rtl="0" eaLnBrk="1" latinLnBrk="0" hangingPunct="1">
        <a:lnSpc>
          <a:spcPct val="90000"/>
        </a:lnSpc>
        <a:spcBef>
          <a:spcPct val="93000"/>
        </a:spcBef>
        <a:buFont typeface="Arial" panose="020B0604020202020204" pitchFamily="34" charset="0"/>
        <a:buChar char="•"/>
        <a:defRPr sz="1665" kern="1200">
          <a:solidFill>
            <a:schemeClr val="tx1"/>
          </a:solidFill>
          <a:latin typeface="+mn-lt"/>
          <a:ea typeface="+mn-ea"/>
          <a:cs typeface="+mn-cs"/>
        </a:defRPr>
      </a:lvl9pPr>
    </p:bodyStyle>
    <p:otherStyle>
      <a:defPPr>
        <a:defRPr lang="en-US"/>
      </a:defPPr>
      <a:lvl1pPr marL="0" algn="l" defTabSz="845820" rtl="0" eaLnBrk="1" latinLnBrk="0" hangingPunct="1">
        <a:defRPr sz="1665" kern="1200">
          <a:solidFill>
            <a:schemeClr val="tx1"/>
          </a:solidFill>
          <a:latin typeface="+mn-lt"/>
          <a:ea typeface="+mn-ea"/>
          <a:cs typeface="+mn-cs"/>
        </a:defRPr>
      </a:lvl1pPr>
      <a:lvl2pPr marL="422910" algn="l" defTabSz="845820" rtl="0" eaLnBrk="1" latinLnBrk="0" hangingPunct="1">
        <a:defRPr sz="1665" kern="1200">
          <a:solidFill>
            <a:schemeClr val="tx1"/>
          </a:solidFill>
          <a:latin typeface="+mn-lt"/>
          <a:ea typeface="+mn-ea"/>
          <a:cs typeface="+mn-cs"/>
        </a:defRPr>
      </a:lvl2pPr>
      <a:lvl3pPr marL="845820" algn="l" defTabSz="845820" rtl="0" eaLnBrk="1" latinLnBrk="0" hangingPunct="1">
        <a:defRPr sz="1665" kern="1200">
          <a:solidFill>
            <a:schemeClr val="tx1"/>
          </a:solidFill>
          <a:latin typeface="+mn-lt"/>
          <a:ea typeface="+mn-ea"/>
          <a:cs typeface="+mn-cs"/>
        </a:defRPr>
      </a:lvl3pPr>
      <a:lvl4pPr marL="1268730" algn="l" defTabSz="845820" rtl="0" eaLnBrk="1" latinLnBrk="0" hangingPunct="1">
        <a:defRPr sz="1665" kern="1200">
          <a:solidFill>
            <a:schemeClr val="tx1"/>
          </a:solidFill>
          <a:latin typeface="+mn-lt"/>
          <a:ea typeface="+mn-ea"/>
          <a:cs typeface="+mn-cs"/>
        </a:defRPr>
      </a:lvl4pPr>
      <a:lvl5pPr marL="1691640" algn="l" defTabSz="845820" rtl="0" eaLnBrk="1" latinLnBrk="0" hangingPunct="1">
        <a:defRPr sz="1665" kern="1200">
          <a:solidFill>
            <a:schemeClr val="tx1"/>
          </a:solidFill>
          <a:latin typeface="+mn-lt"/>
          <a:ea typeface="+mn-ea"/>
          <a:cs typeface="+mn-cs"/>
        </a:defRPr>
      </a:lvl5pPr>
      <a:lvl6pPr marL="2114550" algn="l" defTabSz="845820" rtl="0" eaLnBrk="1" latinLnBrk="0" hangingPunct="1">
        <a:defRPr sz="1665" kern="1200">
          <a:solidFill>
            <a:schemeClr val="tx1"/>
          </a:solidFill>
          <a:latin typeface="+mn-lt"/>
          <a:ea typeface="+mn-ea"/>
          <a:cs typeface="+mn-cs"/>
        </a:defRPr>
      </a:lvl6pPr>
      <a:lvl7pPr marL="2537460" algn="l" defTabSz="845820" rtl="0" eaLnBrk="1" latinLnBrk="0" hangingPunct="1">
        <a:defRPr sz="1665" kern="1200">
          <a:solidFill>
            <a:schemeClr val="tx1"/>
          </a:solidFill>
          <a:latin typeface="+mn-lt"/>
          <a:ea typeface="+mn-ea"/>
          <a:cs typeface="+mn-cs"/>
        </a:defRPr>
      </a:lvl7pPr>
      <a:lvl8pPr marL="2959735" algn="l" defTabSz="845820" rtl="0" eaLnBrk="1" latinLnBrk="0" hangingPunct="1">
        <a:defRPr sz="1665" kern="1200">
          <a:solidFill>
            <a:schemeClr val="tx1"/>
          </a:solidFill>
          <a:latin typeface="+mn-lt"/>
          <a:ea typeface="+mn-ea"/>
          <a:cs typeface="+mn-cs"/>
        </a:defRPr>
      </a:lvl8pPr>
      <a:lvl9pPr marL="3382645" algn="l" defTabSz="845820" rtl="0" eaLnBrk="1" latinLnBrk="0" hangingPunct="1">
        <a:defRPr sz="166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www.youtube.com/watch?v=vz_xuxYS2PM" TargetMode="Externa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8" Type="http://schemas.openxmlformats.org/officeDocument/2006/relationships/hyperlink" Target="http://i.imgur.com/kxWgh.png?ref=jeremyjordan.me" TargetMode="External"/><Relationship Id="rId3" Type="http://schemas.openxmlformats.org/officeDocument/2006/relationships/image" Target="../media/image25.png"/><Relationship Id="rId7" Type="http://schemas.openxmlformats.org/officeDocument/2006/relationships/image" Target="../media/image27.png"/><Relationship Id="rId12" Type="http://schemas.openxmlformats.org/officeDocument/2006/relationships/hyperlink" Target="http://i.imgur.com/BWYYZ.png?ref=jeremyjordan.me" TargetMode="External"/><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hyperlink" Target="http://i.imgur.com/aLZlG.png?ref=jeremyjordan.me" TargetMode="External"/><Relationship Id="rId11" Type="http://schemas.openxmlformats.org/officeDocument/2006/relationships/image" Target="../media/image29.png"/><Relationship Id="rId5" Type="http://schemas.openxmlformats.org/officeDocument/2006/relationships/image" Target="../media/image26.png"/><Relationship Id="rId10" Type="http://schemas.openxmlformats.org/officeDocument/2006/relationships/hyperlink" Target="http://i.imgur.com/ePy4V.png?ref=jeremyjordan.me" TargetMode="External"/><Relationship Id="rId4" Type="http://schemas.openxmlformats.org/officeDocument/2006/relationships/hyperlink" Target="http://i.imgur.com/zDBbD.png?ref=jeremyjordan.me" TargetMode="External"/><Relationship Id="rId9" Type="http://schemas.openxmlformats.org/officeDocument/2006/relationships/image" Target="../media/image28.png"/></Relationships>
</file>

<file path=ppt/slides/_rels/slide4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4.xml"/><Relationship Id="rId6" Type="http://schemas.openxmlformats.org/officeDocument/2006/relationships/hyperlink" Target="http://i.imgur.com/gWdPX.png?ref=jeremyjordan.me" TargetMode="External"/><Relationship Id="rId5" Type="http://schemas.openxmlformats.org/officeDocument/2006/relationships/image" Target="../media/image32.png"/><Relationship Id="rId4" Type="http://schemas.openxmlformats.org/officeDocument/2006/relationships/hyperlink" Target="http://i.imgur.com/WuxyO.png?ref=jeremyjordan.me" TargetMode="External"/></Relationships>
</file>

<file path=ppt/slides/_rels/slide41.xml.rels><?xml version="1.0" encoding="UTF-8" standalone="yes"?>
<Relationships xmlns="http://schemas.openxmlformats.org/package/2006/relationships"><Relationship Id="rId3" Type="http://schemas.openxmlformats.org/officeDocument/2006/relationships/hyperlink" Target="https://vitalflux.com/classification-model-svm-classifier-python-example/" TargetMode="External"/><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3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hyperlink" Target="https://vitalflux.com/wp-content/uploads/2022/08/support-vector-machine-1.png" TargetMode="Externa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hyperlink" Target="https://www.youtube.com/watch?v=TtKF996oEl8" TargetMode="Externa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hyperlink" Target="https://serokell.io/blog/naive-bayes-classifiers" TargetMode="External"/><Relationship Id="rId7" Type="http://schemas.openxmlformats.org/officeDocument/2006/relationships/hyperlink" Target="https://lifewithdata.com/2022/02/06/confusion-matrix-how-to-plot-and-interpret-confusion-matrix/" TargetMode="External"/><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hyperlink" Target="https://digitalmind.io/post/saving-machine-learning-models#saving-machine-learning-models" TargetMode="External"/><Relationship Id="rId5" Type="http://schemas.openxmlformats.org/officeDocument/2006/relationships/hyperlink" Target="https://digitalmind.io/post/train-test-split-and-cross-validation" TargetMode="External"/><Relationship Id="rId4" Type="http://schemas.openxmlformats.org/officeDocument/2006/relationships/hyperlink" Target="https://www.youtube.com/watch?v=l3dZ6ZNFjo0" TargetMode="External"/></Relationships>
</file>

<file path=ppt/slides/_rels/slide50.xml.rels><?xml version="1.0" encoding="UTF-8" standalone="yes"?>
<Relationships xmlns="http://schemas.openxmlformats.org/package/2006/relationships"><Relationship Id="rId8" Type="http://schemas.openxmlformats.org/officeDocument/2006/relationships/hyperlink" Target="https://byjus.com/maths/bayes-theorem/" TargetMode="External"/><Relationship Id="rId3" Type="http://schemas.openxmlformats.org/officeDocument/2006/relationships/hyperlink" Target="https://www.investopedia.com/terms/b/bayes-theorem.asp" TargetMode="External"/><Relationship Id="rId7" Type="http://schemas.openxmlformats.org/officeDocument/2006/relationships/hyperlink" Target="https://www.mathsisfun.com/data/bayes-theorem.html" TargetMode="External"/><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hyperlink" Target="https://corporatefinanceinstitute.com/resources/data-science/bayes-theorem/" TargetMode="External"/><Relationship Id="rId5" Type="http://schemas.openxmlformats.org/officeDocument/2006/relationships/hyperlink" Target="https://plato.stanford.edu/entries/bayes-theorem/" TargetMode="External"/><Relationship Id="rId4" Type="http://schemas.openxmlformats.org/officeDocument/2006/relationships/hyperlink" Target="https://en.wikipedia.org/wiki/Bayes%27_theorem" TargetMode="External"/></Relationships>
</file>

<file path=ppt/slides/_rels/slide51.xml.rels><?xml version="1.0" encoding="UTF-8" standalone="yes"?>
<Relationships xmlns="http://schemas.openxmlformats.org/package/2006/relationships"><Relationship Id="rId8" Type="http://schemas.openxmlformats.org/officeDocument/2006/relationships/hyperlink" Target="https://www.kaggle.com/code/xopxesalmon/svm-2dimension-hyperplane-visualization" TargetMode="External"/><Relationship Id="rId3" Type="http://schemas.openxmlformats.org/officeDocument/2006/relationships/hyperlink" Target="https://www.pycodemates.com/2022/07/support-vector-machines-detailed-overview.html" TargetMode="External"/><Relationship Id="rId7" Type="http://schemas.openxmlformats.org/officeDocument/2006/relationships/hyperlink" Target="https://www.kaggle.com/code/arshid/support-vector-machine-on-iris-flower-dataset/notebook" TargetMode="External"/><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hyperlink" Target="https://www.youtube.com/watch?v=VB_OcBYh3bw" TargetMode="External"/><Relationship Id="rId5" Type="http://schemas.openxmlformats.org/officeDocument/2006/relationships/hyperlink" Target="https://www.shiksha.com/online-courses/articles/support-vector-machines-python-code/" TargetMode="External"/><Relationship Id="rId4" Type="http://schemas.openxmlformats.org/officeDocument/2006/relationships/hyperlink" Target="https://vitalflux.com/classification-model-svm-classifier-python-example/"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Applied Machine learning</a:t>
            </a:r>
          </a:p>
        </p:txBody>
      </p:sp>
      <p:sp>
        <p:nvSpPr>
          <p:cNvPr id="3" name="Text Placeholder 2"/>
          <p:cNvSpPr>
            <a:spLocks noGrp="1"/>
          </p:cNvSpPr>
          <p:nvPr>
            <p:ph type="body" sz="quarter" idx="10"/>
          </p:nvPr>
        </p:nvSpPr>
        <p:spPr/>
        <p:txBody>
          <a:bodyPr/>
          <a:lstStyle/>
          <a:p>
            <a:r>
              <a:rPr lang="en-GB" dirty="0"/>
              <a:t>Regent College London</a:t>
            </a:r>
          </a:p>
          <a:p>
            <a:r>
              <a:rPr lang="en-GB" dirty="0"/>
              <a:t>SWE6302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Applied Machine learning </a:t>
            </a:r>
          </a:p>
        </p:txBody>
      </p:sp>
      <p:sp>
        <p:nvSpPr>
          <p:cNvPr id="3" name="Text Placeholder 2"/>
          <p:cNvSpPr>
            <a:spLocks noGrp="1"/>
          </p:cNvSpPr>
          <p:nvPr>
            <p:ph type="body" sz="quarter" idx="10"/>
          </p:nvPr>
        </p:nvSpPr>
        <p:spPr/>
        <p:txBody>
          <a:bodyPr/>
          <a:lstStyle/>
          <a:p>
            <a:r>
              <a:rPr lang="en-GB" dirty="0"/>
              <a:t>SWE6302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a:t>Applied Machine learning</a:t>
            </a:r>
            <a:endParaRPr lang="en-US" dirty="0"/>
          </a:p>
        </p:txBody>
      </p:sp>
      <p:sp>
        <p:nvSpPr>
          <p:cNvPr id="4" name="Text Placeholder 3"/>
          <p:cNvSpPr>
            <a:spLocks noGrp="1"/>
          </p:cNvSpPr>
          <p:nvPr>
            <p:ph type="body" sz="quarter" idx="11"/>
          </p:nvPr>
        </p:nvSpPr>
        <p:spPr>
          <a:xfrm>
            <a:off x="6987986" y="2608262"/>
            <a:ext cx="5491361" cy="3845503"/>
          </a:xfrm>
        </p:spPr>
        <p:txBody>
          <a:bodyPr/>
          <a:lstStyle/>
          <a:p>
            <a:endParaRPr lang="en-US" dirty="0"/>
          </a:p>
          <a:p>
            <a:r>
              <a:rPr lang="en-GB" dirty="0">
                <a:solidFill>
                  <a:schemeClr val="tx1">
                    <a:lumMod val="65000"/>
                    <a:lumOff val="35000"/>
                  </a:schemeClr>
                </a:solidFill>
                <a:latin typeface="Calibri" panose="020F0502020204030204" pitchFamily="34" charset="0"/>
              </a:rPr>
              <a:t>NAÏVE BAYES TECHNIQUE</a:t>
            </a:r>
          </a:p>
          <a:p>
            <a:r>
              <a:rPr lang="en-GB" dirty="0">
                <a:solidFill>
                  <a:schemeClr val="tx1">
                    <a:lumMod val="65000"/>
                    <a:lumOff val="35000"/>
                  </a:schemeClr>
                </a:solidFill>
                <a:latin typeface="Calibri" panose="020F0502020204030204" pitchFamily="34" charset="0"/>
              </a:rPr>
              <a:t>&amp; SVM</a:t>
            </a:r>
            <a:endParaRPr lang="en-GB" dirty="0">
              <a:solidFill>
                <a:schemeClr val="tx1">
                  <a:lumMod val="65000"/>
                  <a:lumOff val="35000"/>
                </a:schemeClr>
              </a:solidFill>
            </a:endParaRPr>
          </a:p>
          <a:p>
            <a:endParaRPr lang="en-US" dirty="0"/>
          </a:p>
        </p:txBody>
      </p:sp>
      <p:pic>
        <p:nvPicPr>
          <p:cNvPr id="5" name="Picture 4"/>
          <p:cNvPicPr>
            <a:picLocks noChangeAspect="1"/>
          </p:cNvPicPr>
          <p:nvPr/>
        </p:nvPicPr>
        <p:blipFill>
          <a:blip r:embed="rId2"/>
          <a:stretch>
            <a:fillRect/>
          </a:stretch>
        </p:blipFill>
        <p:spPr>
          <a:xfrm>
            <a:off x="72668" y="1623416"/>
            <a:ext cx="6551188" cy="395845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942D6D"/>
                </a:solidFill>
              </a:rPr>
              <a:t>Learning objectives</a:t>
            </a:r>
            <a:endParaRPr lang="en-US" dirty="0">
              <a:solidFill>
                <a:srgbClr val="942D6D"/>
              </a:solidFill>
            </a:endParaRPr>
          </a:p>
        </p:txBody>
      </p:sp>
      <p:sp>
        <p:nvSpPr>
          <p:cNvPr id="3" name="Text Placeholder 2"/>
          <p:cNvSpPr>
            <a:spLocks noGrp="1"/>
          </p:cNvSpPr>
          <p:nvPr>
            <p:ph type="body" sz="quarter" idx="10"/>
          </p:nvPr>
        </p:nvSpPr>
        <p:spPr>
          <a:xfrm>
            <a:off x="877821" y="1521449"/>
            <a:ext cx="10712388" cy="3815101"/>
          </a:xfrm>
        </p:spPr>
        <p:txBody>
          <a:bodyPr/>
          <a:lstStyle/>
          <a:p>
            <a:r>
              <a:rPr lang="en-GB" dirty="0">
                <a:solidFill>
                  <a:schemeClr val="tx1">
                    <a:lumMod val="75000"/>
                    <a:lumOff val="25000"/>
                  </a:schemeClr>
                </a:solidFill>
              </a:rPr>
              <a:t>Confusion Matrix </a:t>
            </a:r>
          </a:p>
          <a:p>
            <a:r>
              <a:rPr lang="en-GB" dirty="0">
                <a:solidFill>
                  <a:schemeClr val="tx1">
                    <a:lumMod val="75000"/>
                    <a:lumOff val="25000"/>
                  </a:schemeClr>
                </a:solidFill>
              </a:rPr>
              <a:t>Making a classification syntax </a:t>
            </a:r>
          </a:p>
          <a:p>
            <a:r>
              <a:rPr lang="en-US" dirty="0">
                <a:solidFill>
                  <a:schemeClr val="tx1">
                    <a:lumMod val="75000"/>
                    <a:lumOff val="25000"/>
                  </a:schemeClr>
                </a:solidFill>
              </a:rPr>
              <a:t>Understand the Bayes theorem</a:t>
            </a:r>
          </a:p>
          <a:p>
            <a:r>
              <a:rPr lang="en-GB" dirty="0">
                <a:solidFill>
                  <a:schemeClr val="tx1">
                    <a:lumMod val="75000"/>
                    <a:lumOff val="25000"/>
                  </a:schemeClr>
                </a:solidFill>
              </a:rPr>
              <a:t>Understand the how Naïve Bayes algorithm work</a:t>
            </a:r>
          </a:p>
          <a:p>
            <a:r>
              <a:rPr lang="en-GB" dirty="0">
                <a:solidFill>
                  <a:schemeClr val="tx1">
                    <a:lumMod val="75000"/>
                    <a:lumOff val="25000"/>
                  </a:schemeClr>
                </a:solidFill>
              </a:rPr>
              <a:t>Application of Naïve Bayes</a:t>
            </a:r>
          </a:p>
          <a:p>
            <a:r>
              <a:rPr lang="en-GB" dirty="0">
                <a:solidFill>
                  <a:schemeClr val="tx1">
                    <a:lumMod val="75000"/>
                    <a:lumOff val="25000"/>
                  </a:schemeClr>
                </a:solidFill>
              </a:rPr>
              <a:t>K-Folds and Cross validation </a:t>
            </a:r>
          </a:p>
          <a:p>
            <a:r>
              <a:rPr lang="en-GB" dirty="0">
                <a:solidFill>
                  <a:schemeClr val="tx1">
                    <a:lumMod val="75000"/>
                    <a:lumOff val="25000"/>
                  </a:schemeClr>
                </a:solidFill>
              </a:rPr>
              <a:t>Understand Support Vector Machines</a:t>
            </a:r>
          </a:p>
          <a:p>
            <a:r>
              <a:rPr lang="en-GB" dirty="0">
                <a:solidFill>
                  <a:schemeClr val="tx1">
                    <a:lumMod val="75000"/>
                    <a:lumOff val="25000"/>
                  </a:schemeClr>
                </a:solidFill>
              </a:rPr>
              <a:t>Examples using Python</a:t>
            </a:r>
          </a:p>
          <a:p>
            <a:endParaRPr lang="en-US" dirty="0">
              <a:solidFill>
                <a:schemeClr val="bg2">
                  <a:lumMod val="25000"/>
                </a:schemeClr>
              </a:solidFill>
            </a:endParaRPr>
          </a:p>
        </p:txBody>
      </p:sp>
      <p:cxnSp>
        <p:nvCxnSpPr>
          <p:cNvPr id="4" name="Straight Connector 3"/>
          <p:cNvCxnSpPr/>
          <p:nvPr/>
        </p:nvCxnSpPr>
        <p:spPr>
          <a:xfrm flipH="1">
            <a:off x="601791" y="1070621"/>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72083" y="423248"/>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70171" y="1089589"/>
            <a:ext cx="1912" cy="4298063"/>
          </a:xfrm>
          <a:prstGeom prst="line">
            <a:avLst/>
          </a:prstGeom>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591827" y="2985581"/>
            <a:ext cx="10515600" cy="1186075"/>
          </a:xfrm>
          <a:prstGeom prst="rect">
            <a:avLst/>
          </a:prstGeom>
        </p:spPr>
        <p:txBody>
          <a:bodyPr/>
          <a:lstStyle>
            <a:lvl1pPr algn="l" defTabSz="914400" rtl="0" eaLnBrk="1" latinLnBrk="0" hangingPunct="1">
              <a:lnSpc>
                <a:spcPts val="3200"/>
              </a:lnSpc>
              <a:spcBef>
                <a:spcPct val="0"/>
              </a:spcBef>
              <a:buNone/>
              <a:defRPr sz="4200" b="1" kern="1200" cap="all" spc="-50" baseline="0">
                <a:solidFill>
                  <a:srgbClr val="942F6D"/>
                </a:solidFill>
                <a:latin typeface="+mn-lt"/>
                <a:ea typeface="+mj-ea"/>
                <a:cs typeface="+mj-cs"/>
              </a:defRPr>
            </a:lvl1pPr>
          </a:lstStyle>
          <a:p>
            <a:r>
              <a:rPr lang="en-GB" dirty="0"/>
              <a:t>Module 1 – Confusion Matrix</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54BE03-1314-4310-96E6-145AAC23311A}"/>
              </a:ext>
            </a:extLst>
          </p:cNvPr>
          <p:cNvSpPr txBox="1"/>
          <p:nvPr/>
        </p:nvSpPr>
        <p:spPr>
          <a:xfrm>
            <a:off x="874295" y="2239878"/>
            <a:ext cx="9323805" cy="1938992"/>
          </a:xfrm>
          <a:prstGeom prst="rect">
            <a:avLst/>
          </a:prstGeom>
          <a:noFill/>
        </p:spPr>
        <p:txBody>
          <a:bodyPr wrap="square" rtlCol="0">
            <a:spAutoFit/>
          </a:bodyPr>
          <a:lstStyle/>
          <a:p>
            <a:r>
              <a:rPr lang="en-US" sz="2400" dirty="0"/>
              <a:t>A confusion matrix is a, table layout that summarizes the performance of a classification model by comparing predicted labels against true labels. It provides a detailed, class-wise breakdown of correct predictions and types of errors (false positives/negatives), offering deeper insight than accuracy alone</a:t>
            </a:r>
            <a:endParaRPr lang="en-GB" sz="2400" dirty="0"/>
          </a:p>
        </p:txBody>
      </p:sp>
      <p:sp>
        <p:nvSpPr>
          <p:cNvPr id="3" name="Title 1">
            <a:extLst>
              <a:ext uri="{FF2B5EF4-FFF2-40B4-BE49-F238E27FC236}">
                <a16:creationId xmlns:a16="http://schemas.microsoft.com/office/drawing/2014/main" id="{49DFF642-8777-2A67-51CC-5CF81C2E9EC3}"/>
              </a:ext>
            </a:extLst>
          </p:cNvPr>
          <p:cNvSpPr txBox="1">
            <a:spLocks/>
          </p:cNvSpPr>
          <p:nvPr/>
        </p:nvSpPr>
        <p:spPr>
          <a:xfrm>
            <a:off x="601791" y="555478"/>
            <a:ext cx="9097686" cy="1068223"/>
          </a:xfrm>
          <a:prstGeom prst="rect">
            <a:avLst/>
          </a:prstGeom>
        </p:spPr>
        <p:txBody>
          <a:bodyPr/>
          <a:lstStyle>
            <a:lvl1pPr algn="l" defTabSz="914400" rtl="0" eaLnBrk="1" latinLnBrk="0" hangingPunct="1">
              <a:lnSpc>
                <a:spcPts val="3200"/>
              </a:lnSpc>
              <a:spcBef>
                <a:spcPct val="0"/>
              </a:spcBef>
              <a:buNone/>
              <a:defRPr sz="4200" b="1" kern="1200" cap="all" spc="-50" baseline="0">
                <a:solidFill>
                  <a:srgbClr val="942F6D"/>
                </a:solidFill>
                <a:latin typeface="+mn-lt"/>
                <a:ea typeface="+mj-ea"/>
                <a:cs typeface="+mj-cs"/>
              </a:defRPr>
            </a:lvl1pPr>
          </a:lstStyle>
          <a:p>
            <a:r>
              <a:rPr lang="en-GB"/>
              <a:t>Confusion matrix  </a:t>
            </a:r>
            <a:endParaRPr lang="en-US" dirty="0"/>
          </a:p>
        </p:txBody>
      </p:sp>
    </p:spTree>
    <p:extLst>
      <p:ext uri="{BB962C8B-B14F-4D97-AF65-F5344CB8AC3E}">
        <p14:creationId xmlns:p14="http://schemas.microsoft.com/office/powerpoint/2010/main" val="23993509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Confusion matrix  </a:t>
            </a:r>
            <a:endParaRPr lang="en-US" dirty="0"/>
          </a:p>
        </p:txBody>
      </p:sp>
      <p:sp>
        <p:nvSpPr>
          <p:cNvPr id="3" name="Text Placeholder 2"/>
          <p:cNvSpPr>
            <a:spLocks noGrp="1"/>
          </p:cNvSpPr>
          <p:nvPr>
            <p:ph type="body" sz="quarter" idx="10"/>
          </p:nvPr>
        </p:nvSpPr>
        <p:spPr>
          <a:xfrm>
            <a:off x="215501" y="1089588"/>
            <a:ext cx="8535307" cy="4755735"/>
          </a:xfrm>
        </p:spPr>
        <p:txBody>
          <a:bodyPr/>
          <a:lstStyle/>
          <a:p>
            <a:r>
              <a:rPr lang="en-GB" sz="2400" dirty="0">
                <a:solidFill>
                  <a:srgbClr val="FF0000"/>
                </a:solidFill>
              </a:rPr>
              <a:t>TP-</a:t>
            </a:r>
            <a:r>
              <a:rPr lang="en-GB" sz="2400" dirty="0"/>
              <a:t>True Positive cases when the classifier predicted TRUE (they have the disease) and the correct class was TRUE (patient has the disease)</a:t>
            </a:r>
          </a:p>
          <a:p>
            <a:r>
              <a:rPr lang="en-US" sz="2400" dirty="0">
                <a:solidFill>
                  <a:srgbClr val="FF0000"/>
                </a:solidFill>
              </a:rPr>
              <a:t>TN-</a:t>
            </a:r>
            <a:r>
              <a:rPr lang="en-US" sz="2400" dirty="0"/>
              <a:t>True Negative cases when the classifier predicted FALSE (no disease) and the correct class was FALSE (patient do not have the disease)</a:t>
            </a:r>
          </a:p>
          <a:p>
            <a:r>
              <a:rPr lang="en-US" sz="2400" dirty="0">
                <a:solidFill>
                  <a:srgbClr val="FF0000"/>
                </a:solidFill>
              </a:rPr>
              <a:t>FP</a:t>
            </a:r>
            <a:r>
              <a:rPr lang="en-US" sz="2400" dirty="0"/>
              <a:t>-False Positive cases when the classifier predicted  TRUE , but the correct class was FALSE (Patient did not have the disease) –Type I Error</a:t>
            </a:r>
          </a:p>
          <a:p>
            <a:r>
              <a:rPr lang="en-US" sz="2400" dirty="0">
                <a:solidFill>
                  <a:srgbClr val="FF0000"/>
                </a:solidFill>
              </a:rPr>
              <a:t>FN</a:t>
            </a:r>
            <a:r>
              <a:rPr lang="en-US" sz="2400" dirty="0"/>
              <a:t>-False Negative classifier predicted FALSE (patient do not have disease) but they actually do have the disease-Type II Error </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74122" y="1947672"/>
            <a:ext cx="3454291" cy="253790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9699923" y="4752636"/>
            <a:ext cx="1890732" cy="369332"/>
          </a:xfrm>
          <a:prstGeom prst="rect">
            <a:avLst/>
          </a:prstGeom>
          <a:noFill/>
        </p:spPr>
        <p:txBody>
          <a:bodyPr wrap="square">
            <a:spAutoFit/>
          </a:bodyPr>
          <a:lstStyle/>
          <a:p>
            <a:r>
              <a:rPr lang="en-US" sz="1800" dirty="0">
                <a:effectLst/>
                <a:latin typeface="Trebuchet MS" panose="020B0603020202020204" pitchFamily="34" charset="0"/>
                <a:ea typeface="Calibri" panose="020F0502020204030204" pitchFamily="34" charset="0"/>
                <a:cs typeface="Times New Roman" panose="02020603050405020304" pitchFamily="18" charset="0"/>
              </a:rPr>
              <a:t>(BPRASAD.2022)</a:t>
            </a:r>
            <a:endParaRPr lang="en-GB"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5571" y="276713"/>
            <a:ext cx="9097686" cy="691431"/>
          </a:xfrm>
        </p:spPr>
        <p:txBody>
          <a:bodyPr/>
          <a:lstStyle/>
          <a:p>
            <a:r>
              <a:rPr lang="en-GB" dirty="0"/>
              <a:t>Example of confusion matrix</a:t>
            </a:r>
          </a:p>
        </p:txBody>
      </p:sp>
      <p:sp>
        <p:nvSpPr>
          <p:cNvPr id="3" name="Text Placeholder 2"/>
          <p:cNvSpPr>
            <a:spLocks noGrp="1"/>
          </p:cNvSpPr>
          <p:nvPr>
            <p:ph type="body" sz="quarter" idx="10"/>
          </p:nvPr>
        </p:nvSpPr>
        <p:spPr>
          <a:xfrm>
            <a:off x="365761" y="968433"/>
            <a:ext cx="7431577" cy="4465411"/>
          </a:xfrm>
        </p:spPr>
        <p:txBody>
          <a:bodyPr/>
          <a:lstStyle/>
          <a:p>
            <a:pPr marL="0" indent="0" algn="just">
              <a:lnSpc>
                <a:spcPct val="100000"/>
              </a:lnSpc>
              <a:spcBef>
                <a:spcPts val="0"/>
              </a:spcBef>
              <a:spcAft>
                <a:spcPts val="800"/>
              </a:spcAft>
              <a:buNone/>
            </a:pPr>
            <a:r>
              <a:rPr lang="en-US" sz="1800" kern="0" dirty="0">
                <a:solidFill>
                  <a:srgbClr val="222222"/>
                </a:solidFill>
                <a:effectLst/>
                <a:latin typeface="Trebuchet MS" panose="020B0603020202020204" pitchFamily="34" charset="0"/>
                <a:ea typeface="Times New Roman" panose="02020603050405020304" pitchFamily="18" charset="0"/>
                <a:cs typeface="Times New Roman" panose="02020603050405020304" pitchFamily="18" charset="0"/>
              </a:rPr>
              <a:t>Let us calculate the TP, TN, FP, and FN values for the class </a:t>
            </a:r>
            <a:r>
              <a:rPr lang="en-US" sz="1800" b="1" kern="0" dirty="0" err="1">
                <a:solidFill>
                  <a:srgbClr val="222222"/>
                </a:solidFill>
                <a:effectLst/>
                <a:latin typeface="Trebuchet MS" panose="020B0603020202020204" pitchFamily="34" charset="0"/>
                <a:ea typeface="Times New Roman" panose="02020603050405020304" pitchFamily="18" charset="0"/>
                <a:cs typeface="Times New Roman" panose="02020603050405020304" pitchFamily="18" charset="0"/>
              </a:rPr>
              <a:t>Setosa</a:t>
            </a:r>
            <a:r>
              <a:rPr lang="en-US" sz="1800" b="1" kern="0" dirty="0">
                <a:solidFill>
                  <a:srgbClr val="222222"/>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800" kern="0" dirty="0">
                <a:solidFill>
                  <a:srgbClr val="222222"/>
                </a:solidFill>
                <a:effectLst/>
                <a:latin typeface="Trebuchet MS" panose="020B0603020202020204" pitchFamily="34" charset="0"/>
                <a:ea typeface="Times New Roman" panose="02020603050405020304" pitchFamily="18" charset="0"/>
                <a:cs typeface="Times New Roman" panose="02020603050405020304" pitchFamily="18" charset="0"/>
              </a:rPr>
              <a:t>using the Above tricks:</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0000"/>
              </a:lnSpc>
              <a:spcBef>
                <a:spcPts val="0"/>
              </a:spcBef>
              <a:spcAft>
                <a:spcPts val="800"/>
              </a:spcAft>
              <a:buNone/>
            </a:pPr>
            <a:r>
              <a:rPr lang="en-US" sz="1800" b="1" kern="0" dirty="0">
                <a:solidFill>
                  <a:srgbClr val="222222"/>
                </a:solidFill>
                <a:effectLst/>
                <a:latin typeface="Trebuchet MS" panose="020B0603020202020204" pitchFamily="34" charset="0"/>
                <a:ea typeface="Times New Roman" panose="02020603050405020304" pitchFamily="18" charset="0"/>
                <a:cs typeface="Times New Roman" panose="02020603050405020304" pitchFamily="18" charset="0"/>
              </a:rPr>
              <a:t>TP</a:t>
            </a:r>
            <a:r>
              <a:rPr lang="en-US" sz="1800" kern="0" dirty="0">
                <a:solidFill>
                  <a:srgbClr val="222222"/>
                </a:solidFill>
                <a:effectLst/>
                <a:latin typeface="Trebuchet MS" panose="020B0603020202020204" pitchFamily="34" charset="0"/>
                <a:ea typeface="Times New Roman" panose="02020603050405020304" pitchFamily="18" charset="0"/>
                <a:cs typeface="Times New Roman" panose="02020603050405020304" pitchFamily="18" charset="0"/>
              </a:rPr>
              <a:t>: The actual value and predicted value should be the same. So, concerning </a:t>
            </a:r>
            <a:r>
              <a:rPr lang="en-US" sz="1800" kern="0" dirty="0" err="1">
                <a:solidFill>
                  <a:srgbClr val="222222"/>
                </a:solidFill>
                <a:effectLst/>
                <a:latin typeface="Trebuchet MS" panose="020B0603020202020204" pitchFamily="34" charset="0"/>
                <a:ea typeface="Times New Roman" panose="02020603050405020304" pitchFamily="18" charset="0"/>
                <a:cs typeface="Times New Roman" panose="02020603050405020304" pitchFamily="18" charset="0"/>
              </a:rPr>
              <a:t>Setosa</a:t>
            </a:r>
            <a:r>
              <a:rPr lang="en-US" sz="1800" kern="0" dirty="0">
                <a:solidFill>
                  <a:srgbClr val="222222"/>
                </a:solidFill>
                <a:effectLst/>
                <a:latin typeface="Trebuchet MS" panose="020B0603020202020204" pitchFamily="34" charset="0"/>
                <a:ea typeface="Times New Roman" panose="02020603050405020304" pitchFamily="18" charset="0"/>
                <a:cs typeface="Times New Roman" panose="02020603050405020304" pitchFamily="18" charset="0"/>
              </a:rPr>
              <a:t> class, the value of cell 1 is the TP value.</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0000"/>
              </a:lnSpc>
              <a:spcBef>
                <a:spcPts val="0"/>
              </a:spcBef>
              <a:spcAft>
                <a:spcPts val="800"/>
              </a:spcAft>
              <a:buNone/>
            </a:pPr>
            <a:r>
              <a:rPr lang="en-US" sz="1800" b="1" kern="0" dirty="0">
                <a:solidFill>
                  <a:srgbClr val="222222"/>
                </a:solidFill>
                <a:effectLst/>
                <a:latin typeface="Trebuchet MS" panose="020B0603020202020204" pitchFamily="34" charset="0"/>
                <a:ea typeface="Times New Roman" panose="02020603050405020304" pitchFamily="18" charset="0"/>
                <a:cs typeface="Times New Roman" panose="02020603050405020304" pitchFamily="18" charset="0"/>
              </a:rPr>
              <a:t>FN</a:t>
            </a:r>
            <a:r>
              <a:rPr lang="en-US" sz="1800" kern="0" dirty="0">
                <a:solidFill>
                  <a:srgbClr val="222222"/>
                </a:solidFill>
                <a:effectLst/>
                <a:latin typeface="Trebuchet MS" panose="020B0603020202020204" pitchFamily="34" charset="0"/>
                <a:ea typeface="Times New Roman" panose="02020603050405020304" pitchFamily="18" charset="0"/>
                <a:cs typeface="Times New Roman" panose="02020603050405020304" pitchFamily="18" charset="0"/>
              </a:rPr>
              <a:t>: The sum of values of corresponding rows except for the TP value</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0000"/>
              </a:lnSpc>
              <a:spcBef>
                <a:spcPts val="0"/>
              </a:spcBef>
              <a:spcAft>
                <a:spcPts val="800"/>
              </a:spcAft>
              <a:buNone/>
            </a:pPr>
            <a:r>
              <a:rPr lang="en-US" sz="1800" kern="0" dirty="0">
                <a:solidFill>
                  <a:srgbClr val="222222"/>
                </a:solidFill>
                <a:effectLst/>
                <a:latin typeface="Trebuchet MS" panose="020B0603020202020204" pitchFamily="34" charset="0"/>
                <a:ea typeface="Times New Roman" panose="02020603050405020304" pitchFamily="18" charset="0"/>
                <a:cs typeface="Times New Roman" panose="02020603050405020304" pitchFamily="18" charset="0"/>
              </a:rPr>
              <a:t>FN = (cell 2 + cell3) == (0 + 0)= 0</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spcAft>
                <a:spcPts val="800"/>
              </a:spcAft>
              <a:buNone/>
            </a:pPr>
            <a:r>
              <a:rPr lang="en-US" sz="1800" kern="0" spc="-5" dirty="0">
                <a:solidFill>
                  <a:srgbClr val="292929"/>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800" b="1" kern="0" dirty="0">
                <a:solidFill>
                  <a:srgbClr val="222222"/>
                </a:solidFill>
                <a:effectLst/>
                <a:latin typeface="Trebuchet MS" panose="020B0603020202020204" pitchFamily="34" charset="0"/>
                <a:ea typeface="Times New Roman" panose="02020603050405020304" pitchFamily="18" charset="0"/>
                <a:cs typeface="Times New Roman" panose="02020603050405020304" pitchFamily="18" charset="0"/>
              </a:rPr>
              <a:t>FP: </a:t>
            </a:r>
            <a:r>
              <a:rPr lang="en-US" sz="1800" kern="0" dirty="0">
                <a:solidFill>
                  <a:srgbClr val="222222"/>
                </a:solidFill>
                <a:effectLst/>
                <a:latin typeface="Trebuchet MS" panose="020B0603020202020204" pitchFamily="34" charset="0"/>
                <a:ea typeface="Times New Roman" panose="02020603050405020304" pitchFamily="18" charset="0"/>
                <a:cs typeface="Times New Roman" panose="02020603050405020304" pitchFamily="18" charset="0"/>
              </a:rPr>
              <a:t>The sum of values of the corresponding column except for the TP value.</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0000"/>
              </a:lnSpc>
              <a:spcBef>
                <a:spcPts val="0"/>
              </a:spcBef>
              <a:spcAft>
                <a:spcPts val="800"/>
              </a:spcAft>
              <a:buNone/>
            </a:pPr>
            <a:r>
              <a:rPr lang="en-US" sz="1800" kern="0" dirty="0">
                <a:solidFill>
                  <a:srgbClr val="222222"/>
                </a:solidFill>
                <a:effectLst/>
                <a:latin typeface="Trebuchet MS" panose="020B0603020202020204" pitchFamily="34" charset="0"/>
                <a:ea typeface="Times New Roman" panose="02020603050405020304" pitchFamily="18" charset="0"/>
                <a:cs typeface="Times New Roman" panose="02020603050405020304" pitchFamily="18" charset="0"/>
              </a:rPr>
              <a:t>FP = (cell 4 + cell 7)= (0 + 0)= 0</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spcAft>
                <a:spcPts val="800"/>
              </a:spcAft>
              <a:buNone/>
            </a:pPr>
            <a:r>
              <a:rPr lang="en-US" sz="1800" kern="0" spc="-5" dirty="0">
                <a:solidFill>
                  <a:srgbClr val="292929"/>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800" b="1" kern="0" dirty="0">
                <a:solidFill>
                  <a:srgbClr val="222222"/>
                </a:solidFill>
                <a:effectLst/>
                <a:latin typeface="Trebuchet MS" panose="020B0603020202020204" pitchFamily="34" charset="0"/>
                <a:ea typeface="Times New Roman" panose="02020603050405020304" pitchFamily="18" charset="0"/>
                <a:cs typeface="Times New Roman" panose="02020603050405020304" pitchFamily="18" charset="0"/>
              </a:rPr>
              <a:t>TN: </a:t>
            </a:r>
            <a:r>
              <a:rPr lang="en-US" sz="1800" kern="0" dirty="0">
                <a:solidFill>
                  <a:srgbClr val="222222"/>
                </a:solidFill>
                <a:effectLst/>
                <a:latin typeface="Trebuchet MS" panose="020B0603020202020204" pitchFamily="34" charset="0"/>
                <a:ea typeface="Times New Roman" panose="02020603050405020304" pitchFamily="18" charset="0"/>
                <a:cs typeface="Times New Roman" panose="02020603050405020304" pitchFamily="18" charset="0"/>
              </a:rPr>
              <a:t>The sum of values of all columns and rows except the values of that class that we are calculating the values for.</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0000"/>
              </a:lnSpc>
              <a:spcBef>
                <a:spcPts val="0"/>
              </a:spcBef>
              <a:spcAft>
                <a:spcPts val="800"/>
              </a:spcAft>
              <a:buNone/>
            </a:pPr>
            <a:r>
              <a:rPr lang="en-US" sz="1800" kern="0" dirty="0">
                <a:solidFill>
                  <a:srgbClr val="222222"/>
                </a:solidFill>
                <a:effectLst/>
                <a:latin typeface="Trebuchet MS" panose="020B0603020202020204" pitchFamily="34" charset="0"/>
                <a:ea typeface="Times New Roman" panose="02020603050405020304" pitchFamily="18" charset="0"/>
                <a:cs typeface="Times New Roman" panose="02020603050405020304" pitchFamily="18" charset="0"/>
              </a:rPr>
              <a:t>TN = (cell 5 + cell 6 + cell 8 + cell 9)= 17 + 1 +0 + 11= 29</a:t>
            </a:r>
            <a:endParaRPr lang="en-GB" dirty="0"/>
          </a:p>
        </p:txBody>
      </p:sp>
      <p:graphicFrame>
        <p:nvGraphicFramePr>
          <p:cNvPr id="6" name="Table 5"/>
          <p:cNvGraphicFramePr>
            <a:graphicFrameLocks noGrp="1"/>
          </p:cNvGraphicFramePr>
          <p:nvPr/>
        </p:nvGraphicFramePr>
        <p:xfrm>
          <a:off x="2615565" y="5083752"/>
          <a:ext cx="5937250" cy="1342011"/>
        </p:xfrm>
        <a:graphic>
          <a:graphicData uri="http://schemas.openxmlformats.org/drawingml/2006/table">
            <a:tbl>
              <a:tblPr firstRow="1" firstCol="1" bandRow="1">
                <a:tableStyleId>{5C22544A-7EE6-4342-B048-85BDC9FD1C3A}</a:tableStyleId>
              </a:tblPr>
              <a:tblGrid>
                <a:gridCol w="1187450">
                  <a:extLst>
                    <a:ext uri="{9D8B030D-6E8A-4147-A177-3AD203B41FA5}">
                      <a16:colId xmlns:a16="http://schemas.microsoft.com/office/drawing/2014/main" val="20000"/>
                    </a:ext>
                  </a:extLst>
                </a:gridCol>
                <a:gridCol w="1187450">
                  <a:extLst>
                    <a:ext uri="{9D8B030D-6E8A-4147-A177-3AD203B41FA5}">
                      <a16:colId xmlns:a16="http://schemas.microsoft.com/office/drawing/2014/main" val="20001"/>
                    </a:ext>
                  </a:extLst>
                </a:gridCol>
                <a:gridCol w="1187450">
                  <a:extLst>
                    <a:ext uri="{9D8B030D-6E8A-4147-A177-3AD203B41FA5}">
                      <a16:colId xmlns:a16="http://schemas.microsoft.com/office/drawing/2014/main" val="20002"/>
                    </a:ext>
                  </a:extLst>
                </a:gridCol>
                <a:gridCol w="1187450">
                  <a:extLst>
                    <a:ext uri="{9D8B030D-6E8A-4147-A177-3AD203B41FA5}">
                      <a16:colId xmlns:a16="http://schemas.microsoft.com/office/drawing/2014/main" val="20003"/>
                    </a:ext>
                  </a:extLst>
                </a:gridCol>
                <a:gridCol w="1187450">
                  <a:extLst>
                    <a:ext uri="{9D8B030D-6E8A-4147-A177-3AD203B41FA5}">
                      <a16:colId xmlns:a16="http://schemas.microsoft.com/office/drawing/2014/main" val="20004"/>
                    </a:ext>
                  </a:extLst>
                </a:gridCol>
              </a:tblGrid>
              <a:tr h="407035">
                <a:tc gridSpan="5">
                  <a:txBody>
                    <a:bodyPr/>
                    <a:lstStyle/>
                    <a:p>
                      <a:pPr algn="ctr">
                        <a:lnSpc>
                          <a:spcPct val="107000"/>
                        </a:lnSpc>
                        <a:spcAft>
                          <a:spcPts val="800"/>
                        </a:spcAft>
                      </a:pPr>
                      <a:r>
                        <a:rPr lang="en-US" sz="1500" kern="0" spc="-5">
                          <a:effectLst/>
                        </a:rPr>
                        <a:t>Predicted Values</a:t>
                      </a:r>
                      <a:endParaRPr lang="en-GB"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0">
                <a:tc rowSpan="4">
                  <a:txBody>
                    <a:bodyPr/>
                    <a:lstStyle/>
                    <a:p>
                      <a:pPr>
                        <a:lnSpc>
                          <a:spcPct val="107000"/>
                        </a:lnSpc>
                        <a:spcAft>
                          <a:spcPts val="800"/>
                        </a:spcAft>
                      </a:pPr>
                      <a:r>
                        <a:rPr lang="en-US" sz="1500" kern="0" spc="-5">
                          <a:effectLst/>
                        </a:rPr>
                        <a:t>Actual Values</a:t>
                      </a:r>
                      <a:endParaRPr lang="en-GB" sz="1100" kern="100">
                        <a:effectLst/>
                      </a:endParaRPr>
                    </a:p>
                    <a:p>
                      <a:pPr>
                        <a:lnSpc>
                          <a:spcPct val="107000"/>
                        </a:lnSpc>
                        <a:spcAft>
                          <a:spcPts val="800"/>
                        </a:spcAft>
                      </a:pPr>
                      <a:r>
                        <a:rPr lang="en-US" sz="1500" kern="0" spc="-5">
                          <a:effectLst/>
                        </a:rPr>
                        <a:t> </a:t>
                      </a:r>
                      <a:endParaRPr lang="en-GB"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500" kern="0" spc="-5">
                          <a:effectLst/>
                        </a:rPr>
                        <a:t> </a:t>
                      </a:r>
                      <a:endParaRPr lang="en-GB"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500" kern="0" spc="-5">
                          <a:effectLst/>
                        </a:rPr>
                        <a:t>Setosa</a:t>
                      </a:r>
                      <a:endParaRPr lang="en-GB"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500" kern="0" spc="-5">
                          <a:effectLst/>
                        </a:rPr>
                        <a:t>Versicolor</a:t>
                      </a:r>
                      <a:endParaRPr lang="en-GB"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500" kern="0" spc="-5">
                          <a:effectLst/>
                        </a:rPr>
                        <a:t>Virginica</a:t>
                      </a:r>
                      <a:endParaRPr lang="en-GB"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0">
                <a:tc vMerge="1">
                  <a:txBody>
                    <a:bodyPr/>
                    <a:lstStyle/>
                    <a:p>
                      <a:endParaRPr lang="en-US"/>
                    </a:p>
                  </a:txBody>
                  <a:tcPr/>
                </a:tc>
                <a:tc>
                  <a:txBody>
                    <a:bodyPr/>
                    <a:lstStyle/>
                    <a:p>
                      <a:pPr>
                        <a:lnSpc>
                          <a:spcPct val="107000"/>
                        </a:lnSpc>
                        <a:spcAft>
                          <a:spcPts val="800"/>
                        </a:spcAft>
                      </a:pPr>
                      <a:r>
                        <a:rPr lang="en-US" sz="1500" kern="0" spc="-5">
                          <a:effectLst/>
                        </a:rPr>
                        <a:t>Setosa</a:t>
                      </a:r>
                      <a:endParaRPr lang="en-GB"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500" kern="0" spc="-5">
                          <a:effectLst/>
                        </a:rPr>
                        <a:t>16 C1 </a:t>
                      </a:r>
                      <a:endParaRPr lang="en-GB"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500" kern="0" spc="-5">
                          <a:effectLst/>
                        </a:rPr>
                        <a:t>0 C2</a:t>
                      </a:r>
                      <a:endParaRPr lang="en-GB"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500" kern="0" spc="-5">
                          <a:effectLst/>
                        </a:rPr>
                        <a:t>0 C3</a:t>
                      </a:r>
                      <a:endParaRPr lang="en-GB"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0">
                <a:tc vMerge="1">
                  <a:txBody>
                    <a:bodyPr/>
                    <a:lstStyle/>
                    <a:p>
                      <a:endParaRPr lang="en-US"/>
                    </a:p>
                  </a:txBody>
                  <a:tcPr/>
                </a:tc>
                <a:tc>
                  <a:txBody>
                    <a:bodyPr/>
                    <a:lstStyle/>
                    <a:p>
                      <a:pPr>
                        <a:lnSpc>
                          <a:spcPct val="107000"/>
                        </a:lnSpc>
                        <a:spcAft>
                          <a:spcPts val="800"/>
                        </a:spcAft>
                      </a:pPr>
                      <a:r>
                        <a:rPr lang="en-US" sz="1500" kern="0" spc="-5">
                          <a:effectLst/>
                        </a:rPr>
                        <a:t>Versicolor</a:t>
                      </a:r>
                      <a:endParaRPr lang="en-GB"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500" kern="0" spc="-5">
                          <a:effectLst/>
                        </a:rPr>
                        <a:t>0 C4</a:t>
                      </a:r>
                      <a:endParaRPr lang="en-GB"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500" kern="0" spc="-5">
                          <a:effectLst/>
                        </a:rPr>
                        <a:t>17 C5  </a:t>
                      </a:r>
                      <a:endParaRPr lang="en-GB"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500" kern="0" spc="-5">
                          <a:effectLst/>
                        </a:rPr>
                        <a:t>1 C6</a:t>
                      </a:r>
                      <a:endParaRPr lang="en-GB"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0">
                <a:tc vMerge="1">
                  <a:txBody>
                    <a:bodyPr/>
                    <a:lstStyle/>
                    <a:p>
                      <a:endParaRPr lang="en-US"/>
                    </a:p>
                  </a:txBody>
                  <a:tcPr/>
                </a:tc>
                <a:tc>
                  <a:txBody>
                    <a:bodyPr/>
                    <a:lstStyle/>
                    <a:p>
                      <a:pPr>
                        <a:lnSpc>
                          <a:spcPct val="107000"/>
                        </a:lnSpc>
                        <a:spcAft>
                          <a:spcPts val="800"/>
                        </a:spcAft>
                      </a:pPr>
                      <a:r>
                        <a:rPr lang="en-US" sz="1500" kern="0" spc="-5">
                          <a:effectLst/>
                        </a:rPr>
                        <a:t>Virginica</a:t>
                      </a:r>
                      <a:endParaRPr lang="en-GB"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500" kern="0" spc="-5">
                          <a:effectLst/>
                        </a:rPr>
                        <a:t>0 C7</a:t>
                      </a:r>
                      <a:endParaRPr lang="en-GB"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500" kern="0" spc="-5">
                          <a:effectLst/>
                        </a:rPr>
                        <a:t>0 C8</a:t>
                      </a:r>
                      <a:endParaRPr lang="en-GB"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500" kern="0" spc="-5" dirty="0">
                          <a:effectLst/>
                        </a:rPr>
                        <a:t>11 C9 </a:t>
                      </a:r>
                      <a:endParaRPr lang="en-GB"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40ED2-E26B-843F-3A60-0FE3BBB98D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6CDC57-4AA0-E913-EC42-CCFE08CDCA50}"/>
              </a:ext>
            </a:extLst>
          </p:cNvPr>
          <p:cNvSpPr txBox="1"/>
          <p:nvPr/>
        </p:nvSpPr>
        <p:spPr>
          <a:xfrm>
            <a:off x="1591827" y="2985581"/>
            <a:ext cx="10515600" cy="1186075"/>
          </a:xfrm>
          <a:prstGeom prst="rect">
            <a:avLst/>
          </a:prstGeom>
        </p:spPr>
        <p:txBody>
          <a:bodyPr/>
          <a:lstStyle>
            <a:lvl1pPr algn="l" defTabSz="914400" rtl="0" eaLnBrk="1" latinLnBrk="0" hangingPunct="1">
              <a:lnSpc>
                <a:spcPts val="3200"/>
              </a:lnSpc>
              <a:spcBef>
                <a:spcPct val="0"/>
              </a:spcBef>
              <a:buNone/>
              <a:defRPr sz="4200" b="1" kern="1200" cap="all" spc="-50" baseline="0">
                <a:solidFill>
                  <a:srgbClr val="942F6D"/>
                </a:solidFill>
                <a:latin typeface="+mn-lt"/>
                <a:ea typeface="+mj-ea"/>
                <a:cs typeface="+mj-cs"/>
              </a:defRPr>
            </a:lvl1pPr>
          </a:lstStyle>
          <a:p>
            <a:r>
              <a:rPr lang="en-GB" dirty="0"/>
              <a:t>Module 2 – Naïve Bayes Classifier</a:t>
            </a:r>
          </a:p>
        </p:txBody>
      </p:sp>
    </p:spTree>
    <p:extLst>
      <p:ext uri="{BB962C8B-B14F-4D97-AF65-F5344CB8AC3E}">
        <p14:creationId xmlns:p14="http://schemas.microsoft.com/office/powerpoint/2010/main" val="42278404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Naïve Bayes Classifier</a:t>
            </a:r>
            <a:endParaRPr lang="en-US" dirty="0"/>
          </a:p>
        </p:txBody>
      </p:sp>
      <p:sp>
        <p:nvSpPr>
          <p:cNvPr id="3" name="Text Placeholder 2"/>
          <p:cNvSpPr>
            <a:spLocks noGrp="1"/>
          </p:cNvSpPr>
          <p:nvPr>
            <p:ph type="body" sz="quarter" idx="10"/>
          </p:nvPr>
        </p:nvSpPr>
        <p:spPr>
          <a:xfrm>
            <a:off x="215573" y="1345891"/>
            <a:ext cx="11479427" cy="4485503"/>
          </a:xfrm>
        </p:spPr>
        <p:txBody>
          <a:bodyPr/>
          <a:lstStyle/>
          <a:p>
            <a:r>
              <a:rPr lang="en-GB" dirty="0"/>
              <a:t>It is a statistical classification technique based on Bayes Theorem</a:t>
            </a:r>
          </a:p>
          <a:p>
            <a:r>
              <a:rPr lang="en-GB" dirty="0"/>
              <a:t>Supervised learning algorithm</a:t>
            </a:r>
          </a:p>
          <a:p>
            <a:r>
              <a:rPr lang="en-GB" dirty="0"/>
              <a:t>It has high accuracy and speed on larger datasets</a:t>
            </a:r>
          </a:p>
          <a:p>
            <a:r>
              <a:rPr lang="en-GB" dirty="0"/>
              <a:t>NBC assumes that effect of particular feature in a class is independent of other features.</a:t>
            </a:r>
          </a:p>
          <a:p>
            <a:r>
              <a:rPr lang="en-GB" dirty="0"/>
              <a:t>For example, if a loan is applicable or not depends on income, previous loan, age etc. Even if these features are interdependent , these features are still considered independent.</a:t>
            </a:r>
          </a:p>
          <a:p>
            <a:r>
              <a:rPr lang="en-GB" dirty="0"/>
              <a:t>This assumption simplifies computation and so it is considered as naïve and the assumption is called class conditional independence</a:t>
            </a:r>
          </a:p>
          <a:p>
            <a:endParaRPr lang="en-GB" dirty="0"/>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Cont..</a:t>
            </a:r>
            <a:endParaRPr lang="en-US" dirty="0"/>
          </a:p>
        </p:txBody>
      </p:sp>
      <p:sp>
        <p:nvSpPr>
          <p:cNvPr id="3" name="Text Placeholder 2"/>
          <p:cNvSpPr>
            <a:spLocks noGrp="1"/>
          </p:cNvSpPr>
          <p:nvPr>
            <p:ph type="body" sz="quarter" idx="10"/>
          </p:nvPr>
        </p:nvSpPr>
        <p:spPr>
          <a:xfrm>
            <a:off x="601791" y="1623701"/>
            <a:ext cx="10994852" cy="4221623"/>
          </a:xfrm>
        </p:spPr>
        <p:txBody>
          <a:bodyPr/>
          <a:lstStyle/>
          <a:p>
            <a:pPr marL="0" marR="0" fontAlgn="base">
              <a:lnSpc>
                <a:spcPct val="100000"/>
              </a:lnSpc>
              <a:spcBef>
                <a:spcPts val="0"/>
              </a:spcBef>
              <a:spcAft>
                <a:spcPts val="0"/>
              </a:spcAft>
            </a:pPr>
            <a:r>
              <a:rPr lang="en-GB" sz="2400" spc="-10" dirty="0">
                <a:solidFill>
                  <a:srgbClr val="3A505F"/>
                </a:solidFill>
                <a:effectLst/>
                <a:ea typeface="Times New Roman" panose="02020603050405020304" pitchFamily="18" charset="0"/>
              </a:rPr>
              <a:t>That is changing the value of one feature, does not directly influence or change the value of any of the other features used in the algorithm.</a:t>
            </a:r>
          </a:p>
          <a:p>
            <a:pPr marL="0" marR="0" fontAlgn="base">
              <a:lnSpc>
                <a:spcPct val="100000"/>
              </a:lnSpc>
              <a:spcBef>
                <a:spcPts val="0"/>
              </a:spcBef>
              <a:spcAft>
                <a:spcPts val="0"/>
              </a:spcAft>
            </a:pPr>
            <a:endParaRPr lang="en-GB" sz="2400" spc="-10" dirty="0">
              <a:solidFill>
                <a:srgbClr val="3A505F"/>
              </a:solidFill>
              <a:effectLst/>
              <a:ea typeface="Times New Roman" panose="02020603050405020304" pitchFamily="18" charset="0"/>
            </a:endParaRPr>
          </a:p>
          <a:p>
            <a:pPr marL="0" fontAlgn="base">
              <a:lnSpc>
                <a:spcPct val="100000"/>
              </a:lnSpc>
              <a:spcBef>
                <a:spcPts val="0"/>
              </a:spcBef>
            </a:pPr>
            <a:r>
              <a:rPr lang="en-GB" sz="2400" dirty="0">
                <a:solidFill>
                  <a:srgbClr val="000000"/>
                </a:solidFill>
                <a:effectLst/>
                <a:ea typeface="Times New Roman" panose="02020603050405020304" pitchFamily="18" charset="0"/>
              </a:rPr>
              <a:t>It really is a naive assumption to make about real-world data. </a:t>
            </a:r>
          </a:p>
          <a:p>
            <a:pPr marL="0" fontAlgn="base">
              <a:lnSpc>
                <a:spcPct val="100000"/>
              </a:lnSpc>
              <a:spcBef>
                <a:spcPts val="0"/>
              </a:spcBef>
            </a:pPr>
            <a:endParaRPr lang="en-GB" sz="2400" dirty="0">
              <a:solidFill>
                <a:srgbClr val="000000"/>
              </a:solidFill>
              <a:effectLst/>
              <a:ea typeface="Times New Roman" panose="02020603050405020304" pitchFamily="18" charset="0"/>
            </a:endParaRPr>
          </a:p>
          <a:p>
            <a:pPr marL="0" fontAlgn="base">
              <a:lnSpc>
                <a:spcPct val="100000"/>
              </a:lnSpc>
              <a:spcBef>
                <a:spcPts val="0"/>
              </a:spcBef>
            </a:pPr>
            <a:r>
              <a:rPr lang="en-GB" sz="2400" dirty="0">
                <a:solidFill>
                  <a:srgbClr val="000000"/>
                </a:solidFill>
                <a:effectLst/>
                <a:ea typeface="Times New Roman" panose="02020603050405020304" pitchFamily="18" charset="0"/>
              </a:rPr>
              <a:t>For example, if you use Naive Bayes for sentiment analysis, given the sentence ‘I like Harry Potter’, the algorithm will look at the individual words and not the full sentence. In a sentence, words that stand next to each other influence the meaning of each other, and the position of words in a sentence is also important. However, for the algorithm, phrases like ‘I like Harry Potter’, Harry Potter like I’, and ‘Potter I like Harry’ are the same.</a:t>
            </a:r>
            <a:endParaRPr lang="en-US" sz="2400" dirty="0">
              <a:effectLst/>
              <a:ea typeface="Times New Roman" panose="02020603050405020304" pitchFamily="18" charset="0"/>
            </a:endParaRPr>
          </a:p>
          <a:p>
            <a:pPr marL="0" marR="0" fontAlgn="base">
              <a:lnSpc>
                <a:spcPct val="100000"/>
              </a:lnSpc>
              <a:spcBef>
                <a:spcPts val="0"/>
              </a:spcBef>
              <a:spcAft>
                <a:spcPts val="0"/>
              </a:spcAft>
            </a:pPr>
            <a:endParaRPr lang="en-US" sz="2400" dirty="0">
              <a:effectLst/>
              <a:ea typeface="Times New Roman" panose="02020603050405020304" pitchFamily="18" charset="0"/>
            </a:endParaRPr>
          </a:p>
          <a:p>
            <a:pPr>
              <a:lnSpc>
                <a:spcPct val="100000"/>
              </a:lnSpc>
            </a:pP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1791" y="555478"/>
            <a:ext cx="9345398" cy="1068223"/>
          </a:xfrm>
        </p:spPr>
        <p:txBody>
          <a:bodyPr/>
          <a:lstStyle/>
          <a:p>
            <a:r>
              <a:rPr lang="en-GB" dirty="0"/>
              <a:t>Advantages &amp; Disadvantage of naïve bayes</a:t>
            </a:r>
            <a:endParaRPr lang="en-US" dirty="0"/>
          </a:p>
        </p:txBody>
      </p:sp>
      <p:sp>
        <p:nvSpPr>
          <p:cNvPr id="3" name="Text Placeholder 2"/>
          <p:cNvSpPr>
            <a:spLocks noGrp="1"/>
          </p:cNvSpPr>
          <p:nvPr>
            <p:ph type="body" sz="quarter" idx="10"/>
          </p:nvPr>
        </p:nvSpPr>
        <p:spPr>
          <a:xfrm>
            <a:off x="321276" y="1811976"/>
            <a:ext cx="11275367" cy="4033348"/>
          </a:xfrm>
        </p:spPr>
        <p:txBody>
          <a:bodyPr/>
          <a:lstStyle/>
          <a:p>
            <a:r>
              <a:rPr lang="en-GB" sz="2200" dirty="0">
                <a:solidFill>
                  <a:srgbClr val="000000"/>
                </a:solidFill>
                <a:effectLst/>
                <a:ea typeface="Times New Roman" panose="02020603050405020304" pitchFamily="18" charset="0"/>
              </a:rPr>
              <a:t>Turns out that the algorithm is able to effectively solve many complex problems. For example, building a text classifier with Naive Bayes is much easier than with more hyped algorithms such as neural networks. </a:t>
            </a:r>
          </a:p>
          <a:p>
            <a:r>
              <a:rPr lang="en-GB" sz="2200" dirty="0">
                <a:solidFill>
                  <a:srgbClr val="000000"/>
                </a:solidFill>
                <a:effectLst/>
                <a:ea typeface="Times New Roman" panose="02020603050405020304" pitchFamily="18" charset="0"/>
              </a:rPr>
              <a:t>The model works well even with insufficient or </a:t>
            </a:r>
            <a:r>
              <a:rPr lang="en-GB" sz="2200" dirty="0" err="1">
                <a:solidFill>
                  <a:srgbClr val="000000"/>
                </a:solidFill>
                <a:effectLst/>
                <a:ea typeface="Times New Roman" panose="02020603050405020304" pitchFamily="18" charset="0"/>
              </a:rPr>
              <a:t>mislabeled</a:t>
            </a:r>
            <a:r>
              <a:rPr lang="en-GB" sz="2200" dirty="0">
                <a:solidFill>
                  <a:srgbClr val="000000"/>
                </a:solidFill>
                <a:effectLst/>
                <a:ea typeface="Times New Roman" panose="02020603050405020304" pitchFamily="18" charset="0"/>
              </a:rPr>
              <a:t> data, so you don’t have to ‘feed’ it hundreds of thousands of examples before you can get something reasonable out of it. </a:t>
            </a:r>
          </a:p>
          <a:p>
            <a:r>
              <a:rPr lang="en-GB" sz="2200" dirty="0">
                <a:solidFill>
                  <a:srgbClr val="000000"/>
                </a:solidFill>
                <a:effectLst/>
                <a:ea typeface="Times New Roman" panose="02020603050405020304" pitchFamily="18" charset="0"/>
              </a:rPr>
              <a:t>Even if Naive Bayes can take as much as 50 lines, it is very effective.</a:t>
            </a:r>
            <a:endParaRPr lang="en-US" sz="2200" dirty="0">
              <a:effectLst/>
              <a:ea typeface="Times New Roman" panose="02020603050405020304" pitchFamily="18" charset="0"/>
            </a:endParaRPr>
          </a:p>
          <a:p>
            <a:pPr marL="0" marR="0">
              <a:spcBef>
                <a:spcPts val="1200"/>
              </a:spcBef>
              <a:spcAft>
                <a:spcPts val="1200"/>
              </a:spcAft>
            </a:pPr>
            <a:r>
              <a:rPr lang="en-GB" sz="2200" dirty="0">
                <a:solidFill>
                  <a:srgbClr val="000000"/>
                </a:solidFill>
                <a:effectLst/>
                <a:ea typeface="Times New Roman" panose="02020603050405020304" pitchFamily="18" charset="0"/>
              </a:rPr>
              <a:t>It performs better with categorical than with numerical values. </a:t>
            </a:r>
          </a:p>
          <a:p>
            <a:pPr marL="0" marR="0">
              <a:spcBef>
                <a:spcPts val="1200"/>
              </a:spcBef>
              <a:spcAft>
                <a:spcPts val="1200"/>
              </a:spcAft>
            </a:pPr>
            <a:r>
              <a:rPr lang="en-GB" sz="2200" dirty="0">
                <a:solidFill>
                  <a:srgbClr val="000000"/>
                </a:solidFill>
                <a:effectLst/>
                <a:ea typeface="Times New Roman" panose="02020603050405020304" pitchFamily="18" charset="0"/>
              </a:rPr>
              <a:t>It automatically assumes the bell curve distribution, which is not always right. </a:t>
            </a:r>
          </a:p>
          <a:p>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Where is naïve bayes used </a:t>
            </a:r>
          </a:p>
        </p:txBody>
      </p:sp>
      <p:sp>
        <p:nvSpPr>
          <p:cNvPr id="3" name="Text Placeholder 2"/>
          <p:cNvSpPr>
            <a:spLocks noGrp="1"/>
          </p:cNvSpPr>
          <p:nvPr>
            <p:ph type="body" sz="quarter" idx="10"/>
          </p:nvPr>
        </p:nvSpPr>
        <p:spPr>
          <a:xfrm>
            <a:off x="-223" y="1271270"/>
            <a:ext cx="11776297" cy="4725184"/>
          </a:xfrm>
        </p:spPr>
        <p:txBody>
          <a:bodyPr/>
          <a:lstStyle/>
          <a:p>
            <a:pPr algn="l">
              <a:buFont typeface="Arial" panose="020B0604020202020204" pitchFamily="34" charset="0"/>
              <a:buChar char="•"/>
            </a:pPr>
            <a:r>
              <a:rPr lang="en-GB" sz="2200" b="0" i="0" dirty="0">
                <a:solidFill>
                  <a:srgbClr val="000000"/>
                </a:solidFill>
                <a:effectLst/>
                <a:latin typeface="Calibri" panose="020F0502020204030204" pitchFamily="34" charset="0"/>
                <a:cs typeface="Calibri" panose="020F0502020204030204" pitchFamily="34" charset="0"/>
              </a:rPr>
              <a:t>Document classification. This algorithm can help you to determine to which category a given document belongs. It can be used to classify texts into different languages, genres, or topics (through the presence of keywords).</a:t>
            </a:r>
          </a:p>
          <a:p>
            <a:pPr algn="l">
              <a:buFont typeface="Arial" panose="020B0604020202020204" pitchFamily="34" charset="0"/>
              <a:buChar char="•"/>
            </a:pPr>
            <a:r>
              <a:rPr lang="en-GB" sz="2200" b="0" i="0" dirty="0">
                <a:solidFill>
                  <a:srgbClr val="000000"/>
                </a:solidFill>
                <a:effectLst/>
                <a:latin typeface="Calibri" panose="020F0502020204030204" pitchFamily="34" charset="0"/>
                <a:cs typeface="Calibri" panose="020F0502020204030204" pitchFamily="34" charset="0"/>
              </a:rPr>
              <a:t>Spam filtering. Naive Bayes easily sorts out spam using keywords. For example, in spam, you can see the word ‘</a:t>
            </a:r>
            <a:r>
              <a:rPr lang="en-GB" sz="2200" b="0" i="0" dirty="0" err="1">
                <a:solidFill>
                  <a:srgbClr val="000000"/>
                </a:solidFill>
                <a:effectLst/>
                <a:latin typeface="Calibri" panose="020F0502020204030204" pitchFamily="34" charset="0"/>
                <a:cs typeface="Calibri" panose="020F0502020204030204" pitchFamily="34" charset="0"/>
              </a:rPr>
              <a:t>hmrc</a:t>
            </a:r>
            <a:r>
              <a:rPr lang="en-GB" sz="2200" b="0" i="0" dirty="0">
                <a:solidFill>
                  <a:srgbClr val="000000"/>
                </a:solidFill>
                <a:effectLst/>
                <a:latin typeface="Calibri" panose="020F0502020204030204" pitchFamily="34" charset="0"/>
                <a:cs typeface="Calibri" panose="020F0502020204030204" pitchFamily="34" charset="0"/>
              </a:rPr>
              <a:t>-tax-refund’ much more often than in regular mail. The algorithm must be trained to recognize such probabilities and, then, it can efficiently apply them for spam filtering.</a:t>
            </a:r>
          </a:p>
          <a:p>
            <a:pPr algn="l">
              <a:buFont typeface="Arial" panose="020B0604020202020204" pitchFamily="34" charset="0"/>
              <a:buChar char="•"/>
            </a:pPr>
            <a:r>
              <a:rPr lang="en-GB" sz="2200" b="0" i="0" dirty="0">
                <a:solidFill>
                  <a:srgbClr val="000000"/>
                </a:solidFill>
                <a:effectLst/>
                <a:latin typeface="Calibri" panose="020F0502020204030204" pitchFamily="34" charset="0"/>
                <a:cs typeface="Calibri" panose="020F0502020204030204" pitchFamily="34" charset="0"/>
              </a:rPr>
              <a:t>Sentiment analysis. Based on what emotions the words in a text express, Naive Bayes can calculate the probability of it being positive or negative. For example, in customer reviews, ‘good’ or ‘inexpensive’ usually mean that the customer is satisfied. However, Naive Bayes is not sensitive to sarcasm.</a:t>
            </a:r>
          </a:p>
          <a:p>
            <a:pPr algn="l">
              <a:buFont typeface="Arial" panose="020B0604020202020204" pitchFamily="34" charset="0"/>
              <a:buChar char="•"/>
            </a:pPr>
            <a:r>
              <a:rPr lang="en-GB" sz="2200" b="0" i="0" dirty="0">
                <a:solidFill>
                  <a:srgbClr val="000000"/>
                </a:solidFill>
                <a:effectLst/>
                <a:latin typeface="Calibri" panose="020F0502020204030204" pitchFamily="34" charset="0"/>
                <a:cs typeface="Calibri" panose="020F0502020204030204" pitchFamily="34" charset="0"/>
              </a:rPr>
              <a:t>Image classification. For personal and research purposes, it is easy to build a Naive Bayesian classifier. It can be trained to recognize hand-written digits or put images into categories through supervised machine learning.</a:t>
            </a:r>
          </a:p>
          <a:p>
            <a:endParaRPr lang="en-GB" sz="2200" dirty="0">
              <a:latin typeface="Calibri" panose="020F0502020204030204" pitchFamily="34" charset="0"/>
              <a:cs typeface="Calibri" panose="020F050202020403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K-fold Cross Validation</a:t>
            </a:r>
            <a:endParaRPr lang="en-US" dirty="0"/>
          </a:p>
        </p:txBody>
      </p:sp>
      <p:sp>
        <p:nvSpPr>
          <p:cNvPr id="3" name="Text Placeholder 2"/>
          <p:cNvSpPr>
            <a:spLocks noGrp="1"/>
          </p:cNvSpPr>
          <p:nvPr>
            <p:ph type="body" sz="quarter" idx="10"/>
          </p:nvPr>
        </p:nvSpPr>
        <p:spPr>
          <a:xfrm>
            <a:off x="402957" y="1348353"/>
            <a:ext cx="8087644" cy="4602996"/>
          </a:xfrm>
        </p:spPr>
        <p:txBody>
          <a:bodyPr/>
          <a:lstStyle/>
          <a:p>
            <a:pPr algn="just" fontAlgn="base"/>
            <a:r>
              <a:rPr lang="en-GB" sz="2400" b="0" i="0" dirty="0">
                <a:solidFill>
                  <a:srgbClr val="3C4257"/>
                </a:solidFill>
                <a:effectLst/>
                <a:latin typeface="Calibri" panose="020F0502020204030204" pitchFamily="34" charset="0"/>
                <a:cs typeface="Calibri" panose="020F0502020204030204" pitchFamily="34" charset="0"/>
              </a:rPr>
              <a:t>In train-test split you're a setting aside a chunk of your data, so you won't be able to use it to train your algorithm. </a:t>
            </a:r>
          </a:p>
          <a:p>
            <a:pPr algn="just" fontAlgn="base"/>
            <a:r>
              <a:rPr lang="en-GB" sz="2400" b="0" i="0" dirty="0">
                <a:solidFill>
                  <a:srgbClr val="3C4257"/>
                </a:solidFill>
                <a:effectLst/>
                <a:latin typeface="Calibri" panose="020F0502020204030204" pitchFamily="34" charset="0"/>
                <a:cs typeface="Calibri" panose="020F0502020204030204" pitchFamily="34" charset="0"/>
              </a:rPr>
              <a:t>Also data is sampled at random, it has a chance of being skewed in some way, not representing the whole dataset properly.</a:t>
            </a:r>
          </a:p>
          <a:p>
            <a:pPr algn="just" fontAlgn="base"/>
            <a:r>
              <a:rPr lang="en-GB" sz="2400" b="0" i="0" dirty="0">
                <a:solidFill>
                  <a:srgbClr val="3C4257"/>
                </a:solidFill>
                <a:effectLst/>
                <a:latin typeface="Calibri" panose="020F0502020204030204" pitchFamily="34" charset="0"/>
                <a:cs typeface="Calibri" panose="020F0502020204030204" pitchFamily="34" charset="0"/>
              </a:rPr>
              <a:t>K-fold cross validation addresses these problems.</a:t>
            </a:r>
          </a:p>
          <a:p>
            <a:pPr algn="just" fontAlgn="base"/>
            <a:r>
              <a:rPr lang="en-GB" sz="2400" b="0" i="0" dirty="0">
                <a:solidFill>
                  <a:srgbClr val="3C4257"/>
                </a:solidFill>
                <a:effectLst/>
                <a:latin typeface="Calibri" panose="020F0502020204030204" pitchFamily="34" charset="0"/>
                <a:cs typeface="Calibri" panose="020F0502020204030204" pitchFamily="34" charset="0"/>
              </a:rPr>
              <a:t>First split the data into several (10 for example, if k = 10) subsets, called </a:t>
            </a:r>
            <a:r>
              <a:rPr lang="en-GB" sz="2400" b="0" i="1" dirty="0">
                <a:solidFill>
                  <a:srgbClr val="3C4257"/>
                </a:solidFill>
                <a:effectLst/>
                <a:latin typeface="Calibri" panose="020F0502020204030204" pitchFamily="34" charset="0"/>
                <a:cs typeface="Calibri" panose="020F0502020204030204" pitchFamily="34" charset="0"/>
              </a:rPr>
              <a:t>folds</a:t>
            </a:r>
            <a:r>
              <a:rPr lang="en-GB" sz="2400" b="0" i="0" dirty="0">
                <a:solidFill>
                  <a:srgbClr val="3C4257"/>
                </a:solidFill>
                <a:effectLst/>
                <a:latin typeface="Calibri" panose="020F0502020204030204" pitchFamily="34" charset="0"/>
                <a:cs typeface="Calibri" panose="020F0502020204030204" pitchFamily="34" charset="0"/>
              </a:rPr>
              <a:t>. </a:t>
            </a:r>
          </a:p>
          <a:p>
            <a:pPr algn="just" fontAlgn="base"/>
            <a:r>
              <a:rPr lang="en-GB" sz="2400" b="0" i="0" dirty="0">
                <a:solidFill>
                  <a:srgbClr val="3C4257"/>
                </a:solidFill>
                <a:effectLst/>
                <a:latin typeface="Calibri" panose="020F0502020204030204" pitchFamily="34" charset="0"/>
                <a:cs typeface="Calibri" panose="020F0502020204030204" pitchFamily="34" charset="0"/>
              </a:rPr>
              <a:t>Then you train and evaluate your model 10 times, setting aside each one of the folds in turn, and training the model on the remaining 9 folds</a:t>
            </a:r>
          </a:p>
          <a:p>
            <a:endParaRPr lang="en-US" sz="2400" dirty="0">
              <a:solidFill>
                <a:srgbClr val="FF0000"/>
              </a:solidFill>
              <a:latin typeface="Calibri" panose="020F0502020204030204" pitchFamily="34" charset="0"/>
              <a:cs typeface="Calibri" panose="020F0502020204030204" pitchFamily="34" charset="0"/>
            </a:endParaRPr>
          </a:p>
        </p:txBody>
      </p:sp>
      <p:pic>
        <p:nvPicPr>
          <p:cNvPr id="1028"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90600" y="1828526"/>
            <a:ext cx="3701400" cy="2511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8952230" y="4339590"/>
            <a:ext cx="3392805" cy="1198880"/>
          </a:xfrm>
          <a:prstGeom prst="rect">
            <a:avLst/>
          </a:prstGeom>
          <a:noFill/>
        </p:spPr>
        <p:txBody>
          <a:bodyPr wrap="square">
            <a:spAutoFit/>
          </a:bodyPr>
          <a:lstStyle/>
          <a:p>
            <a:r>
              <a:rPr lang="en-GB" b="0" i="0" dirty="0">
                <a:solidFill>
                  <a:srgbClr val="575757"/>
                </a:solidFill>
                <a:effectLst/>
                <a:latin typeface="Georgia" panose="02040502050405020303" pitchFamily="18" charset="0"/>
              </a:rPr>
              <a:t>K-fold cross-validation can be used to select the best model among a set of candidate models.</a:t>
            </a:r>
            <a:endParaRPr lang="en-GB"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Using python</a:t>
            </a:r>
          </a:p>
        </p:txBody>
      </p:sp>
      <p:sp>
        <p:nvSpPr>
          <p:cNvPr id="3" name="Text Placeholder 2"/>
          <p:cNvSpPr>
            <a:spLocks noGrp="1"/>
          </p:cNvSpPr>
          <p:nvPr>
            <p:ph type="body" sz="quarter" idx="10"/>
          </p:nvPr>
        </p:nvSpPr>
        <p:spPr/>
        <p:txBody>
          <a:bodyPr/>
          <a:lstStyle/>
          <a:p>
            <a:r>
              <a:rPr lang="en-GB" sz="3200" dirty="0"/>
              <a:t>Example </a:t>
            </a:r>
            <a:r>
              <a:rPr lang="en-US" sz="3200" dirty="0"/>
              <a:t>Using Naïve Bayes Classifier by </a:t>
            </a:r>
            <a:r>
              <a:rPr lang="en-GB" sz="4800" dirty="0"/>
              <a:t>K-Fold and validating by </a:t>
            </a:r>
            <a:r>
              <a:rPr lang="en-GB" sz="4800" dirty="0" err="1"/>
              <a:t>Cross_val_score</a:t>
            </a:r>
            <a:r>
              <a:rPr lang="en-GB" sz="4800" dirty="0"/>
              <a:t>()</a:t>
            </a:r>
            <a:endParaRPr lang="en-US" sz="3200" dirty="0"/>
          </a:p>
          <a:p>
            <a:r>
              <a:rPr lang="en-GB" sz="3200" dirty="0"/>
              <a:t>See the Practical Implementation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probability</a:t>
            </a:r>
          </a:p>
        </p:txBody>
      </p:sp>
      <p:sp>
        <p:nvSpPr>
          <p:cNvPr id="3" name="Text Placeholder 2"/>
          <p:cNvSpPr>
            <a:spLocks noGrp="1"/>
          </p:cNvSpPr>
          <p:nvPr>
            <p:ph type="body" sz="quarter" idx="10"/>
          </p:nvPr>
        </p:nvSpPr>
        <p:spPr/>
        <p:txBody>
          <a:bodyPr/>
          <a:lstStyle/>
          <a:p>
            <a:r>
              <a:rPr lang="en-GB" dirty="0"/>
              <a:t>Weather conditions and playing sports. You need to calculate the probability of playing sports. So, to classify whether players will play or not. </a:t>
            </a:r>
          </a:p>
          <a:p>
            <a:r>
              <a:rPr lang="en-GB" dirty="0"/>
              <a:t>Prior and posterior probability calculation, can use the frequency and the likelihood tables. </a:t>
            </a:r>
          </a:p>
          <a:p>
            <a:r>
              <a:rPr lang="en-GB" dirty="0"/>
              <a:t>Frequency table contains the occurrence of labels for all features </a:t>
            </a:r>
          </a:p>
          <a:p>
            <a:r>
              <a:rPr lang="en-GB" dirty="0"/>
              <a:t>These are likelihood tables.</a:t>
            </a:r>
          </a:p>
          <a:p>
            <a:endParaRPr lang="en-GB" dirty="0"/>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942D6D"/>
                </a:solidFill>
              </a:rPr>
              <a:t>Bayes theorem</a:t>
            </a:r>
            <a:endParaRPr lang="en-US" dirty="0">
              <a:solidFill>
                <a:srgbClr val="942D6D"/>
              </a:solidFill>
            </a:endParaRPr>
          </a:p>
        </p:txBody>
      </p:sp>
      <p:cxnSp>
        <p:nvCxnSpPr>
          <p:cNvPr id="4" name="Straight Connector 3"/>
          <p:cNvCxnSpPr/>
          <p:nvPr/>
        </p:nvCxnSpPr>
        <p:spPr>
          <a:xfrm flipH="1">
            <a:off x="601791" y="1070621"/>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72083" y="423248"/>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70171" y="1089589"/>
            <a:ext cx="1912" cy="4298063"/>
          </a:xfrm>
          <a:prstGeom prst="line">
            <a:avLst/>
          </a:prstGeom>
        </p:spPr>
        <p:style>
          <a:lnRef idx="2">
            <a:schemeClr val="dk1"/>
          </a:lnRef>
          <a:fillRef idx="0">
            <a:schemeClr val="dk1"/>
          </a:fillRef>
          <a:effectRef idx="1">
            <a:schemeClr val="dk1"/>
          </a:effectRef>
          <a:fontRef idx="minor">
            <a:schemeClr val="tx1"/>
          </a:fontRef>
        </p:style>
      </p:cxnSp>
      <p:sp>
        <p:nvSpPr>
          <p:cNvPr id="7" name="Rectangle 6"/>
          <p:cNvSpPr/>
          <p:nvPr/>
        </p:nvSpPr>
        <p:spPr>
          <a:xfrm>
            <a:off x="2682298" y="6117855"/>
            <a:ext cx="4989571" cy="369332"/>
          </a:xfrm>
          <a:prstGeom prst="rect">
            <a:avLst/>
          </a:prstGeom>
        </p:spPr>
        <p:txBody>
          <a:bodyPr wrap="none">
            <a:spAutoFit/>
          </a:bodyPr>
          <a:lstStyle/>
          <a:p>
            <a:r>
              <a:rPr lang="en-GB" dirty="0">
                <a:hlinkClick r:id="rId2"/>
              </a:rPr>
              <a:t>https://www.youtube.com/watch?v=vz_xuxYS2PM</a:t>
            </a:r>
            <a:r>
              <a:rPr lang="en-GB" dirty="0"/>
              <a:t> </a:t>
            </a:r>
          </a:p>
        </p:txBody>
      </p:sp>
      <p:sp>
        <p:nvSpPr>
          <p:cNvPr id="13" name="TextBox 12"/>
          <p:cNvSpPr txBox="1"/>
          <p:nvPr/>
        </p:nvSpPr>
        <p:spPr>
          <a:xfrm>
            <a:off x="601790" y="1161577"/>
            <a:ext cx="10753146" cy="1815882"/>
          </a:xfrm>
          <a:prstGeom prst="rect">
            <a:avLst/>
          </a:prstGeom>
          <a:noFill/>
        </p:spPr>
        <p:txBody>
          <a:bodyPr wrap="square">
            <a:spAutoFit/>
          </a:bodyPr>
          <a:lstStyle/>
          <a:p>
            <a:r>
              <a:rPr lang="en-GB" sz="2800" dirty="0"/>
              <a:t>Bayes' Theorem is a mathematical formula used to determine the conditional probability of an event, based on prior knowledge of conditions that might be related to the event. It allows for the updating of probability estimates as new evidence is presented.</a:t>
            </a:r>
          </a:p>
        </p:txBody>
      </p:sp>
      <p:pic>
        <p:nvPicPr>
          <p:cNvPr id="15" name="Picture 14" descr="A black text on a white background&#10;&#10;Description automatically generated"/>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86049" y="3068414"/>
            <a:ext cx="3382068" cy="1102727"/>
          </a:xfrm>
          <a:prstGeom prst="rect">
            <a:avLst/>
          </a:prstGeom>
        </p:spPr>
      </p:pic>
      <p:sp>
        <p:nvSpPr>
          <p:cNvPr id="17" name="TextBox 16"/>
          <p:cNvSpPr txBox="1"/>
          <p:nvPr/>
        </p:nvSpPr>
        <p:spPr>
          <a:xfrm>
            <a:off x="601790" y="4404692"/>
            <a:ext cx="10489882" cy="1292662"/>
          </a:xfrm>
          <a:prstGeom prst="rect">
            <a:avLst/>
          </a:prstGeom>
          <a:noFill/>
        </p:spPr>
        <p:txBody>
          <a:bodyPr wrap="square">
            <a:spAutoFit/>
          </a:bodyPr>
          <a:lstStyle/>
          <a:p>
            <a:r>
              <a:rPr lang="en-GB" dirty="0"/>
              <a:t>Where:</a:t>
            </a:r>
          </a:p>
          <a:p>
            <a:pPr marL="285750" indent="-285750">
              <a:buFont typeface="Arial" panose="020B0604020202020204" pitchFamily="34" charset="0"/>
              <a:buChar char="•"/>
            </a:pPr>
            <a:r>
              <a:rPr lang="en-GB" sz="2000" dirty="0"/>
              <a:t>𝑃(𝐴∣𝐵) is the probability of event A occurring given that B is true.</a:t>
            </a:r>
          </a:p>
          <a:p>
            <a:pPr marL="285750" indent="-285750">
              <a:buFont typeface="Arial" panose="020B0604020202020204" pitchFamily="34" charset="0"/>
              <a:buChar char="•"/>
            </a:pPr>
            <a:r>
              <a:rPr lang="en-GB" sz="2000" dirty="0"/>
              <a:t>𝑃(𝐵∣𝐴) is the probability of event B occurring given that A is true.</a:t>
            </a:r>
          </a:p>
          <a:p>
            <a:pPr marL="285750" indent="-285750">
              <a:buFont typeface="Arial" panose="020B0604020202020204" pitchFamily="34" charset="0"/>
              <a:buChar char="•"/>
            </a:pPr>
            <a:r>
              <a:rPr lang="en-GB" sz="2000" dirty="0"/>
              <a:t>𝑃(𝐴) and 𝑃(𝐵) are the probabilities of events A and B independently of each other.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942D6D"/>
                </a:solidFill>
              </a:rPr>
              <a:t>How naïve Bayes algorithm works?</a:t>
            </a:r>
            <a:endParaRPr lang="en-US" dirty="0">
              <a:solidFill>
                <a:srgbClr val="942D6D"/>
              </a:solidFill>
            </a:endParaRPr>
          </a:p>
        </p:txBody>
      </p:sp>
      <p:sp>
        <p:nvSpPr>
          <p:cNvPr id="3" name="Text Placeholder 2"/>
          <p:cNvSpPr>
            <a:spLocks noGrp="1"/>
          </p:cNvSpPr>
          <p:nvPr>
            <p:ph type="body" sz="quarter" idx="10"/>
          </p:nvPr>
        </p:nvSpPr>
        <p:spPr>
          <a:xfrm>
            <a:off x="601790" y="1521449"/>
            <a:ext cx="9603745" cy="3815101"/>
          </a:xfrm>
        </p:spPr>
        <p:txBody>
          <a:bodyPr/>
          <a:lstStyle/>
          <a:p>
            <a:r>
              <a:rPr lang="en-GB" dirty="0">
                <a:solidFill>
                  <a:schemeClr val="tx1">
                    <a:lumMod val="75000"/>
                    <a:lumOff val="25000"/>
                  </a:schemeClr>
                </a:solidFill>
              </a:rPr>
              <a:t>Let’s understand it using an example. Below I have a training data set of weather and corresponding target variable ‘Play’ (suggesting possibilities of playing). Now, we need to classify whether players will play or not based on weather condition. Let’s follow the below steps to perform it.</a:t>
            </a:r>
          </a:p>
          <a:p>
            <a:endParaRPr lang="en-GB" dirty="0">
              <a:solidFill>
                <a:schemeClr val="tx1">
                  <a:lumMod val="75000"/>
                  <a:lumOff val="25000"/>
                </a:schemeClr>
              </a:solidFill>
            </a:endParaRPr>
          </a:p>
          <a:p>
            <a:r>
              <a:rPr lang="en-GB" dirty="0">
                <a:solidFill>
                  <a:schemeClr val="tx1">
                    <a:lumMod val="75000"/>
                    <a:lumOff val="25000"/>
                  </a:schemeClr>
                </a:solidFill>
              </a:rPr>
              <a:t>Step 1</a:t>
            </a:r>
            <a:r>
              <a:rPr lang="en-GB" i="1" dirty="0">
                <a:solidFill>
                  <a:schemeClr val="tx1">
                    <a:lumMod val="75000"/>
                    <a:lumOff val="25000"/>
                  </a:schemeClr>
                </a:solidFill>
              </a:rPr>
              <a:t> - </a:t>
            </a:r>
            <a:r>
              <a:rPr lang="en-GB" dirty="0">
                <a:solidFill>
                  <a:schemeClr val="tx1">
                    <a:lumMod val="75000"/>
                    <a:lumOff val="25000"/>
                  </a:schemeClr>
                </a:solidFill>
              </a:rPr>
              <a:t>Convert the data set into a frequency table</a:t>
            </a:r>
          </a:p>
          <a:p>
            <a:r>
              <a:rPr lang="en-GB" dirty="0">
                <a:solidFill>
                  <a:schemeClr val="tx1">
                    <a:lumMod val="75000"/>
                    <a:lumOff val="25000"/>
                  </a:schemeClr>
                </a:solidFill>
              </a:rPr>
              <a:t>Step 2 - Create Likelihood table by finding the probabilities</a:t>
            </a:r>
            <a:endParaRPr lang="en-GB" i="1" dirty="0">
              <a:solidFill>
                <a:schemeClr val="tx1">
                  <a:lumMod val="75000"/>
                  <a:lumOff val="25000"/>
                </a:schemeClr>
              </a:solidFill>
            </a:endParaRPr>
          </a:p>
          <a:p>
            <a:endParaRPr lang="en-US" dirty="0">
              <a:solidFill>
                <a:schemeClr val="bg2">
                  <a:lumMod val="25000"/>
                </a:schemeClr>
              </a:solidFill>
            </a:endParaRPr>
          </a:p>
        </p:txBody>
      </p:sp>
      <p:cxnSp>
        <p:nvCxnSpPr>
          <p:cNvPr id="4" name="Straight Connector 3"/>
          <p:cNvCxnSpPr/>
          <p:nvPr/>
        </p:nvCxnSpPr>
        <p:spPr>
          <a:xfrm flipH="1">
            <a:off x="601791" y="1070621"/>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72083" y="423248"/>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70171" y="1089589"/>
            <a:ext cx="1912" cy="4298063"/>
          </a:xfrm>
          <a:prstGeom prst="line">
            <a:avLst/>
          </a:prstGeom>
        </p:spPr>
        <p:style>
          <a:lnRef idx="2">
            <a:schemeClr val="dk1"/>
          </a:lnRef>
          <a:fillRef idx="0">
            <a:schemeClr val="dk1"/>
          </a:fillRef>
          <a:effectRef idx="1">
            <a:schemeClr val="dk1"/>
          </a:effectRef>
          <a:fontRef idx="minor">
            <a:schemeClr val="tx1"/>
          </a:fontRef>
        </p:style>
      </p:cxnSp>
      <p:pic>
        <p:nvPicPr>
          <p:cNvPr id="7" name="Picture 6"/>
          <p:cNvPicPr>
            <a:picLocks noChangeAspect="1"/>
          </p:cNvPicPr>
          <p:nvPr/>
        </p:nvPicPr>
        <p:blipFill>
          <a:blip r:embed="rId2"/>
          <a:stretch>
            <a:fillRect/>
          </a:stretch>
        </p:blipFill>
        <p:spPr>
          <a:xfrm>
            <a:off x="10019198" y="1514522"/>
            <a:ext cx="1936062" cy="3802357"/>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942D6D"/>
                </a:solidFill>
              </a:rPr>
              <a:t>Frequency table</a:t>
            </a:r>
            <a:endParaRPr lang="en-US" dirty="0">
              <a:solidFill>
                <a:srgbClr val="942D6D"/>
              </a:solidFill>
            </a:endParaRPr>
          </a:p>
        </p:txBody>
      </p:sp>
      <p:cxnSp>
        <p:nvCxnSpPr>
          <p:cNvPr id="4" name="Straight Connector 3"/>
          <p:cNvCxnSpPr/>
          <p:nvPr/>
        </p:nvCxnSpPr>
        <p:spPr>
          <a:xfrm flipH="1">
            <a:off x="601791" y="1070621"/>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72083" y="423248"/>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70171" y="1089589"/>
            <a:ext cx="1912" cy="4298063"/>
          </a:xfrm>
          <a:prstGeom prst="line">
            <a:avLst/>
          </a:prstGeom>
        </p:spPr>
        <p:style>
          <a:lnRef idx="2">
            <a:schemeClr val="dk1"/>
          </a:lnRef>
          <a:fillRef idx="0">
            <a:schemeClr val="dk1"/>
          </a:fillRef>
          <a:effectRef idx="1">
            <a:schemeClr val="dk1"/>
          </a:effectRef>
          <a:fontRef idx="minor">
            <a:schemeClr val="tx1"/>
          </a:fontRef>
        </p:style>
      </p:cxnSp>
      <p:graphicFrame>
        <p:nvGraphicFramePr>
          <p:cNvPr id="7" name="Table 6"/>
          <p:cNvGraphicFramePr>
            <a:graphicFrameLocks noGrp="1"/>
          </p:cNvGraphicFramePr>
          <p:nvPr/>
        </p:nvGraphicFramePr>
        <p:xfrm>
          <a:off x="1948070" y="1825644"/>
          <a:ext cx="6808299" cy="3504536"/>
        </p:xfrm>
        <a:graphic>
          <a:graphicData uri="http://schemas.openxmlformats.org/drawingml/2006/table">
            <a:tbl>
              <a:tblPr>
                <a:tableStyleId>{5C22544A-7EE6-4342-B048-85BDC9FD1C3A}</a:tableStyleId>
              </a:tblPr>
              <a:tblGrid>
                <a:gridCol w="2269433">
                  <a:extLst>
                    <a:ext uri="{9D8B030D-6E8A-4147-A177-3AD203B41FA5}">
                      <a16:colId xmlns:a16="http://schemas.microsoft.com/office/drawing/2014/main" val="20000"/>
                    </a:ext>
                  </a:extLst>
                </a:gridCol>
                <a:gridCol w="2269433">
                  <a:extLst>
                    <a:ext uri="{9D8B030D-6E8A-4147-A177-3AD203B41FA5}">
                      <a16:colId xmlns:a16="http://schemas.microsoft.com/office/drawing/2014/main" val="20001"/>
                    </a:ext>
                  </a:extLst>
                </a:gridCol>
                <a:gridCol w="2269433">
                  <a:extLst>
                    <a:ext uri="{9D8B030D-6E8A-4147-A177-3AD203B41FA5}">
                      <a16:colId xmlns:a16="http://schemas.microsoft.com/office/drawing/2014/main" val="20002"/>
                    </a:ext>
                  </a:extLst>
                </a:gridCol>
              </a:tblGrid>
              <a:tr h="500648">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tc gridSpan="2">
                  <a:txBody>
                    <a:bodyPr/>
                    <a:lstStyle/>
                    <a:p>
                      <a:pPr algn="l" fontAlgn="b"/>
                      <a:r>
                        <a:rPr lang="en-GB" sz="1200" u="none" strike="noStrike">
                          <a:effectLst/>
                        </a:rPr>
                        <a:t>Frequnecy Table</a:t>
                      </a:r>
                      <a:endParaRPr lang="en-GB" sz="1200" b="0" i="0" u="none" strike="noStrike">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extLst>
                  <a:ext uri="{0D108BD9-81ED-4DB2-BD59-A6C34878D82A}">
                    <a16:rowId xmlns:a16="http://schemas.microsoft.com/office/drawing/2014/main" val="10000"/>
                  </a:ext>
                </a:extLst>
              </a:tr>
              <a:tr h="500648">
                <a:tc>
                  <a:txBody>
                    <a:bodyPr/>
                    <a:lstStyle/>
                    <a:p>
                      <a:pPr algn="l" fontAlgn="b"/>
                      <a:r>
                        <a:rPr lang="en-GB" sz="1200" u="none" strike="noStrike">
                          <a:effectLst/>
                        </a:rPr>
                        <a:t> </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a:effectLst/>
                        </a:rPr>
                        <a:t> </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a:effectLst/>
                        </a:rPr>
                        <a:t> </a:t>
                      </a:r>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1"/>
                  </a:ext>
                </a:extLst>
              </a:tr>
              <a:tr h="500648">
                <a:tc>
                  <a:txBody>
                    <a:bodyPr/>
                    <a:lstStyle/>
                    <a:p>
                      <a:pPr algn="l" fontAlgn="b"/>
                      <a:r>
                        <a:rPr lang="en-GB" sz="1200" u="none" strike="noStrike">
                          <a:effectLst/>
                        </a:rPr>
                        <a:t>Weather</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a:effectLst/>
                        </a:rPr>
                        <a:t>No </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a:effectLst/>
                        </a:rPr>
                        <a:t>Yes</a:t>
                      </a:r>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2"/>
                  </a:ext>
                </a:extLst>
              </a:tr>
              <a:tr h="500648">
                <a:tc>
                  <a:txBody>
                    <a:bodyPr/>
                    <a:lstStyle/>
                    <a:p>
                      <a:pPr algn="l" fontAlgn="b"/>
                      <a:r>
                        <a:rPr lang="en-GB" sz="1200" u="none" strike="noStrike">
                          <a:effectLst/>
                        </a:rPr>
                        <a:t>Overcast</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dirty="0">
                          <a:effectLst/>
                        </a:rPr>
                        <a:t> </a:t>
                      </a:r>
                      <a:endParaRPr lang="en-GB"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dirty="0">
                          <a:effectLst/>
                        </a:rPr>
                        <a:t> </a:t>
                      </a:r>
                      <a:endParaRPr lang="en-GB"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3"/>
                  </a:ext>
                </a:extLst>
              </a:tr>
              <a:tr h="500648">
                <a:tc>
                  <a:txBody>
                    <a:bodyPr/>
                    <a:lstStyle/>
                    <a:p>
                      <a:pPr algn="l" fontAlgn="b"/>
                      <a:r>
                        <a:rPr lang="en-GB" sz="1200" u="none" strike="noStrike">
                          <a:effectLst/>
                        </a:rPr>
                        <a:t>Rainy</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dirty="0">
                          <a:effectLst/>
                        </a:rPr>
                        <a:t> </a:t>
                      </a:r>
                      <a:endParaRPr lang="en-GB"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dirty="0">
                          <a:effectLst/>
                        </a:rPr>
                        <a:t> </a:t>
                      </a:r>
                      <a:endParaRPr lang="en-GB"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4"/>
                  </a:ext>
                </a:extLst>
              </a:tr>
              <a:tr h="500648">
                <a:tc>
                  <a:txBody>
                    <a:bodyPr/>
                    <a:lstStyle/>
                    <a:p>
                      <a:pPr algn="l" fontAlgn="b"/>
                      <a:r>
                        <a:rPr lang="en-GB" sz="1200" u="none" strike="noStrike">
                          <a:effectLst/>
                        </a:rPr>
                        <a:t>Sunny</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dirty="0">
                          <a:effectLst/>
                        </a:rPr>
                        <a:t> </a:t>
                      </a:r>
                      <a:endParaRPr lang="en-GB"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dirty="0">
                          <a:effectLst/>
                        </a:rPr>
                        <a:t> </a:t>
                      </a:r>
                      <a:endParaRPr lang="en-GB"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5"/>
                  </a:ext>
                </a:extLst>
              </a:tr>
              <a:tr h="500648">
                <a:tc>
                  <a:txBody>
                    <a:bodyPr/>
                    <a:lstStyle/>
                    <a:p>
                      <a:pPr algn="l" fontAlgn="b"/>
                      <a:r>
                        <a:rPr lang="en-GB" sz="1200" u="none" strike="noStrike">
                          <a:effectLst/>
                        </a:rPr>
                        <a:t>Total</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a:effectLst/>
                        </a:rPr>
                        <a:t> </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dirty="0">
                          <a:effectLst/>
                        </a:rPr>
                        <a:t> </a:t>
                      </a:r>
                      <a:endParaRPr lang="en-GB"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6"/>
                  </a:ext>
                </a:extLst>
              </a:tr>
            </a:tbl>
          </a:graphicData>
        </a:graphic>
      </p:graphicFrame>
      <p:pic>
        <p:nvPicPr>
          <p:cNvPr id="8" name="Picture 7"/>
          <p:cNvPicPr>
            <a:picLocks noChangeAspect="1"/>
          </p:cNvPicPr>
          <p:nvPr/>
        </p:nvPicPr>
        <p:blipFill>
          <a:blip r:embed="rId2"/>
          <a:stretch>
            <a:fillRect/>
          </a:stretch>
        </p:blipFill>
        <p:spPr>
          <a:xfrm>
            <a:off x="9493929" y="1392865"/>
            <a:ext cx="1936062" cy="3802357"/>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942D6D"/>
                </a:solidFill>
              </a:rPr>
              <a:t>Likelihood table</a:t>
            </a:r>
            <a:endParaRPr lang="en-US" dirty="0">
              <a:solidFill>
                <a:srgbClr val="942D6D"/>
              </a:solidFill>
            </a:endParaRPr>
          </a:p>
        </p:txBody>
      </p:sp>
      <p:cxnSp>
        <p:nvCxnSpPr>
          <p:cNvPr id="4" name="Straight Connector 3"/>
          <p:cNvCxnSpPr/>
          <p:nvPr/>
        </p:nvCxnSpPr>
        <p:spPr>
          <a:xfrm flipH="1">
            <a:off x="601791" y="1070621"/>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72083" y="423248"/>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70171" y="1089589"/>
            <a:ext cx="1912" cy="4298063"/>
          </a:xfrm>
          <a:prstGeom prst="line">
            <a:avLst/>
          </a:prstGeom>
        </p:spPr>
        <p:style>
          <a:lnRef idx="2">
            <a:schemeClr val="dk1"/>
          </a:lnRef>
          <a:fillRef idx="0">
            <a:schemeClr val="dk1"/>
          </a:fillRef>
          <a:effectRef idx="1">
            <a:schemeClr val="dk1"/>
          </a:effectRef>
          <a:fontRef idx="minor">
            <a:schemeClr val="tx1"/>
          </a:fontRef>
        </p:style>
      </p:cxnSp>
      <p:graphicFrame>
        <p:nvGraphicFramePr>
          <p:cNvPr id="9" name="Table 8"/>
          <p:cNvGraphicFramePr>
            <a:graphicFrameLocks noGrp="1"/>
          </p:cNvGraphicFramePr>
          <p:nvPr/>
        </p:nvGraphicFramePr>
        <p:xfrm>
          <a:off x="2960874" y="2034304"/>
          <a:ext cx="5802240" cy="2789392"/>
        </p:xfrm>
        <a:graphic>
          <a:graphicData uri="http://schemas.openxmlformats.org/drawingml/2006/table">
            <a:tbl>
              <a:tblPr>
                <a:tableStyleId>{5C22544A-7EE6-4342-B048-85BDC9FD1C3A}</a:tableStyleId>
              </a:tblPr>
              <a:tblGrid>
                <a:gridCol w="1450560">
                  <a:extLst>
                    <a:ext uri="{9D8B030D-6E8A-4147-A177-3AD203B41FA5}">
                      <a16:colId xmlns:a16="http://schemas.microsoft.com/office/drawing/2014/main" val="20000"/>
                    </a:ext>
                  </a:extLst>
                </a:gridCol>
                <a:gridCol w="1450560">
                  <a:extLst>
                    <a:ext uri="{9D8B030D-6E8A-4147-A177-3AD203B41FA5}">
                      <a16:colId xmlns:a16="http://schemas.microsoft.com/office/drawing/2014/main" val="20001"/>
                    </a:ext>
                  </a:extLst>
                </a:gridCol>
                <a:gridCol w="1450560">
                  <a:extLst>
                    <a:ext uri="{9D8B030D-6E8A-4147-A177-3AD203B41FA5}">
                      <a16:colId xmlns:a16="http://schemas.microsoft.com/office/drawing/2014/main" val="20002"/>
                    </a:ext>
                  </a:extLst>
                </a:gridCol>
                <a:gridCol w="1450560">
                  <a:extLst>
                    <a:ext uri="{9D8B030D-6E8A-4147-A177-3AD203B41FA5}">
                      <a16:colId xmlns:a16="http://schemas.microsoft.com/office/drawing/2014/main" val="20003"/>
                    </a:ext>
                  </a:extLst>
                </a:gridCol>
              </a:tblGrid>
              <a:tr h="348674">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tc gridSpan="2">
                  <a:txBody>
                    <a:bodyPr/>
                    <a:lstStyle/>
                    <a:p>
                      <a:pPr algn="l" fontAlgn="b"/>
                      <a:r>
                        <a:rPr lang="en-GB" sz="1200" u="none" strike="noStrike">
                          <a:effectLst/>
                        </a:rPr>
                        <a:t>Likelyhood Table</a:t>
                      </a:r>
                      <a:endParaRPr lang="en-GB" sz="1200" b="0" i="0" u="none" strike="noStrike">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0"/>
                  </a:ext>
                </a:extLst>
              </a:tr>
              <a:tr h="348674">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1"/>
                  </a:ext>
                </a:extLst>
              </a:tr>
              <a:tr h="348674">
                <a:tc>
                  <a:txBody>
                    <a:bodyPr/>
                    <a:lstStyle/>
                    <a:p>
                      <a:pPr algn="l" fontAlgn="b"/>
                      <a:r>
                        <a:rPr lang="en-GB" sz="1200" u="none" strike="noStrike">
                          <a:effectLst/>
                        </a:rPr>
                        <a:t>Weather</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a:effectLst/>
                        </a:rPr>
                        <a:t>No </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a:effectLst/>
                        </a:rPr>
                        <a:t>Yes</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a:effectLst/>
                        </a:rPr>
                        <a:t> </a:t>
                      </a:r>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2"/>
                  </a:ext>
                </a:extLst>
              </a:tr>
              <a:tr h="348674">
                <a:tc>
                  <a:txBody>
                    <a:bodyPr/>
                    <a:lstStyle/>
                    <a:p>
                      <a:pPr algn="l" fontAlgn="b"/>
                      <a:r>
                        <a:rPr lang="en-GB" sz="1200" u="none" strike="noStrike">
                          <a:effectLst/>
                        </a:rPr>
                        <a:t>Overcast</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dirty="0">
                          <a:effectLst/>
                        </a:rPr>
                        <a:t> </a:t>
                      </a:r>
                      <a:endParaRPr lang="en-GB"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4</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0.29</a:t>
                      </a:r>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3"/>
                  </a:ext>
                </a:extLst>
              </a:tr>
              <a:tr h="348674">
                <a:tc>
                  <a:txBody>
                    <a:bodyPr/>
                    <a:lstStyle/>
                    <a:p>
                      <a:pPr algn="l" fontAlgn="b"/>
                      <a:r>
                        <a:rPr lang="en-GB" sz="1200" u="none" strike="noStrike">
                          <a:effectLst/>
                        </a:rPr>
                        <a:t>Rainy</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3</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2</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0.36</a:t>
                      </a:r>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4"/>
                  </a:ext>
                </a:extLst>
              </a:tr>
              <a:tr h="348674">
                <a:tc>
                  <a:txBody>
                    <a:bodyPr/>
                    <a:lstStyle/>
                    <a:p>
                      <a:pPr algn="l" fontAlgn="b"/>
                      <a:r>
                        <a:rPr lang="en-GB" sz="1200" u="none" strike="noStrike">
                          <a:effectLst/>
                        </a:rPr>
                        <a:t>Sunny</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2</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3</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0.36</a:t>
                      </a:r>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5"/>
                  </a:ext>
                </a:extLst>
              </a:tr>
              <a:tr h="348674">
                <a:tc>
                  <a:txBody>
                    <a:bodyPr/>
                    <a:lstStyle/>
                    <a:p>
                      <a:pPr algn="l" fontAlgn="b"/>
                      <a:r>
                        <a:rPr lang="en-GB" sz="1200" u="none" strike="noStrike">
                          <a:effectLst/>
                        </a:rPr>
                        <a:t>Total</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5</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9</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a:effectLst/>
                        </a:rPr>
                        <a:t> </a:t>
                      </a:r>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6"/>
                  </a:ext>
                </a:extLst>
              </a:tr>
              <a:tr h="348674">
                <a:tc>
                  <a:txBody>
                    <a:bodyPr/>
                    <a:lstStyle/>
                    <a:p>
                      <a:pPr algn="l" fontAlgn="b"/>
                      <a:r>
                        <a:rPr lang="en-GB" sz="1200" u="none" strike="noStrike" dirty="0">
                          <a:effectLst/>
                        </a:rPr>
                        <a:t> </a:t>
                      </a:r>
                      <a:endParaRPr lang="en-GB"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0.36</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0.64</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dirty="0">
                          <a:effectLst/>
                        </a:rPr>
                        <a:t> </a:t>
                      </a:r>
                      <a:endParaRPr lang="en-GB"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7"/>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Naïve bayes technique</a:t>
            </a:r>
            <a:endParaRPr lang="en-US" dirty="0"/>
          </a:p>
        </p:txBody>
      </p:sp>
      <p:pic>
        <p:nvPicPr>
          <p:cNvPr id="1026" name="Picture 2" descr="tabl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9794" y="1738741"/>
            <a:ext cx="7153275" cy="39147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solidFill>
                  <a:srgbClr val="942D6D"/>
                </a:solidFill>
              </a:rPr>
              <a:t>Probabilty</a:t>
            </a:r>
            <a:r>
              <a:rPr lang="en-GB" dirty="0">
                <a:solidFill>
                  <a:srgbClr val="942D6D"/>
                </a:solidFill>
              </a:rPr>
              <a:t> </a:t>
            </a:r>
            <a:endParaRPr lang="en-US" dirty="0">
              <a:solidFill>
                <a:srgbClr val="942D6D"/>
              </a:solidFill>
            </a:endParaRPr>
          </a:p>
        </p:txBody>
      </p:sp>
      <p:sp>
        <p:nvSpPr>
          <p:cNvPr id="3" name="Text Placeholder 2"/>
          <p:cNvSpPr>
            <a:spLocks noGrp="1"/>
          </p:cNvSpPr>
          <p:nvPr>
            <p:ph type="body" sz="quarter" idx="10"/>
          </p:nvPr>
        </p:nvSpPr>
        <p:spPr>
          <a:xfrm>
            <a:off x="601790" y="1521449"/>
            <a:ext cx="11457669" cy="4414894"/>
          </a:xfrm>
        </p:spPr>
        <p:txBody>
          <a:bodyPr/>
          <a:lstStyle/>
          <a:p>
            <a:r>
              <a:rPr lang="en-US" sz="2200" dirty="0">
                <a:solidFill>
                  <a:schemeClr val="tx1">
                    <a:lumMod val="75000"/>
                    <a:lumOff val="25000"/>
                  </a:schemeClr>
                </a:solidFill>
              </a:rPr>
              <a:t>P(</a:t>
            </a:r>
            <a:r>
              <a:rPr lang="en-US" sz="2200" dirty="0" err="1">
                <a:solidFill>
                  <a:schemeClr val="tx1">
                    <a:lumMod val="75000"/>
                    <a:lumOff val="25000"/>
                  </a:schemeClr>
                </a:solidFill>
              </a:rPr>
              <a:t>Yes|Overcast</a:t>
            </a:r>
            <a:r>
              <a:rPr lang="en-US" sz="2200" dirty="0">
                <a:solidFill>
                  <a:schemeClr val="tx1">
                    <a:lumMod val="75000"/>
                    <a:lumOff val="25000"/>
                  </a:schemeClr>
                </a:solidFill>
              </a:rPr>
              <a:t>) ?</a:t>
            </a:r>
          </a:p>
          <a:p>
            <a:pPr algn="l"/>
            <a:r>
              <a:rPr lang="en-US" sz="2200" b="1" i="0" dirty="0">
                <a:solidFill>
                  <a:srgbClr val="05192D"/>
                </a:solidFill>
                <a:effectLst/>
                <a:latin typeface="Calibri" panose="020F0502020204030204" pitchFamily="34" charset="0"/>
                <a:cs typeface="Calibri" panose="020F0502020204030204" pitchFamily="34" charset="0"/>
              </a:rPr>
              <a:t>Probability of playing:</a:t>
            </a:r>
            <a:endParaRPr lang="en-US" sz="2200" b="0" i="0" dirty="0">
              <a:solidFill>
                <a:srgbClr val="05192D"/>
              </a:solidFill>
              <a:effectLst/>
              <a:latin typeface="Calibri" panose="020F0502020204030204" pitchFamily="34" charset="0"/>
              <a:cs typeface="Calibri" panose="020F0502020204030204" pitchFamily="34" charset="0"/>
            </a:endParaRPr>
          </a:p>
          <a:p>
            <a:pPr algn="l"/>
            <a:r>
              <a:rPr lang="en-US" sz="2200" b="0" i="1" dirty="0">
                <a:solidFill>
                  <a:srgbClr val="05192D"/>
                </a:solidFill>
                <a:effectLst/>
                <a:latin typeface="Calibri" panose="020F0502020204030204" pitchFamily="34" charset="0"/>
                <a:cs typeface="Calibri" panose="020F0502020204030204" pitchFamily="34" charset="0"/>
              </a:rPr>
              <a:t>P(Yes | Overcast) = P(Overcast | Yes) </a:t>
            </a:r>
            <a:r>
              <a:rPr lang="en-US" sz="2200" b="0" i="0" dirty="0">
                <a:solidFill>
                  <a:srgbClr val="05192D"/>
                </a:solidFill>
                <a:effectLst/>
                <a:latin typeface="Calibri" panose="020F0502020204030204" pitchFamily="34" charset="0"/>
                <a:cs typeface="Calibri" panose="020F0502020204030204" pitchFamily="34" charset="0"/>
              </a:rPr>
              <a:t>P(Yes) / P (Overcast) .....................(1)</a:t>
            </a:r>
          </a:p>
          <a:p>
            <a:pPr algn="l">
              <a:buFont typeface="+mj-lt"/>
              <a:buAutoNum type="arabicPeriod"/>
            </a:pPr>
            <a:r>
              <a:rPr lang="en-US" sz="2200" b="0" i="0" dirty="0">
                <a:solidFill>
                  <a:srgbClr val="05192D"/>
                </a:solidFill>
                <a:effectLst/>
                <a:latin typeface="Calibri" panose="020F0502020204030204" pitchFamily="34" charset="0"/>
                <a:cs typeface="Calibri" panose="020F0502020204030204" pitchFamily="34" charset="0"/>
              </a:rPr>
              <a:t>Calculate Prior Probabilities:</a:t>
            </a:r>
          </a:p>
          <a:p>
            <a:pPr algn="l">
              <a:buFont typeface="+mj-lt"/>
              <a:buAutoNum type="arabicPeriod"/>
            </a:pPr>
            <a:r>
              <a:rPr lang="en-US" sz="2200" b="0" i="0" dirty="0">
                <a:solidFill>
                  <a:srgbClr val="05192D"/>
                </a:solidFill>
                <a:effectLst/>
                <a:latin typeface="Calibri" panose="020F0502020204030204" pitchFamily="34" charset="0"/>
                <a:cs typeface="Calibri" panose="020F0502020204030204" pitchFamily="34" charset="0"/>
              </a:rPr>
              <a:t>P(Overcast) = 4/14 = 0.29</a:t>
            </a:r>
          </a:p>
          <a:p>
            <a:pPr algn="l">
              <a:buFont typeface="+mj-lt"/>
              <a:buAutoNum type="arabicPeriod"/>
            </a:pPr>
            <a:r>
              <a:rPr lang="en-US" sz="2200" b="0" i="0" dirty="0">
                <a:solidFill>
                  <a:srgbClr val="05192D"/>
                </a:solidFill>
                <a:effectLst/>
                <a:latin typeface="Calibri" panose="020F0502020204030204" pitchFamily="34" charset="0"/>
                <a:cs typeface="Calibri" panose="020F0502020204030204" pitchFamily="34" charset="0"/>
              </a:rPr>
              <a:t>P(Yes)= 9/14 = 0.64</a:t>
            </a:r>
          </a:p>
          <a:p>
            <a:pPr algn="l">
              <a:buFont typeface="+mj-lt"/>
              <a:buAutoNum type="arabicPeriod"/>
            </a:pPr>
            <a:r>
              <a:rPr lang="en-US" sz="2200" b="0" i="0" dirty="0">
                <a:solidFill>
                  <a:srgbClr val="05192D"/>
                </a:solidFill>
                <a:effectLst/>
                <a:latin typeface="Calibri" panose="020F0502020204030204" pitchFamily="34" charset="0"/>
                <a:cs typeface="Calibri" panose="020F0502020204030204" pitchFamily="34" charset="0"/>
              </a:rPr>
              <a:t> Calculate Posterior Probabilities:</a:t>
            </a:r>
          </a:p>
          <a:p>
            <a:pPr algn="l">
              <a:buFont typeface="+mj-lt"/>
              <a:buAutoNum type="arabicPeriod"/>
            </a:pPr>
            <a:r>
              <a:rPr lang="en-US" sz="2200" b="0" i="0" dirty="0">
                <a:solidFill>
                  <a:srgbClr val="05192D"/>
                </a:solidFill>
                <a:effectLst/>
                <a:latin typeface="Calibri" panose="020F0502020204030204" pitchFamily="34" charset="0"/>
                <a:cs typeface="Calibri" panose="020F0502020204030204" pitchFamily="34" charset="0"/>
              </a:rPr>
              <a:t>P(Overcast |Yes) = 4/9 = 0.44</a:t>
            </a:r>
          </a:p>
          <a:p>
            <a:pPr algn="l">
              <a:buFont typeface="+mj-lt"/>
              <a:buAutoNum type="arabicPeriod"/>
            </a:pPr>
            <a:r>
              <a:rPr lang="en-US" sz="2200" b="0" i="0" dirty="0">
                <a:solidFill>
                  <a:srgbClr val="05192D"/>
                </a:solidFill>
                <a:effectLst/>
                <a:latin typeface="Calibri" panose="020F0502020204030204" pitchFamily="34" charset="0"/>
                <a:cs typeface="Calibri" panose="020F0502020204030204" pitchFamily="34" charset="0"/>
              </a:rPr>
              <a:t> Put Prior and Posterior probabilities in equation (1)</a:t>
            </a:r>
          </a:p>
          <a:p>
            <a:pPr algn="l">
              <a:buFont typeface="+mj-lt"/>
              <a:buAutoNum type="arabicPeriod"/>
            </a:pPr>
            <a:r>
              <a:rPr lang="en-US" sz="2200" b="0" i="0" dirty="0">
                <a:solidFill>
                  <a:srgbClr val="05192D"/>
                </a:solidFill>
                <a:effectLst/>
                <a:latin typeface="Calibri" panose="020F0502020204030204" pitchFamily="34" charset="0"/>
                <a:cs typeface="Calibri" panose="020F0502020204030204" pitchFamily="34" charset="0"/>
              </a:rPr>
              <a:t>P (Yes | Overcast) = 0.44 * 0.64 / 0.29 = 0.98(Higher)</a:t>
            </a:r>
          </a:p>
          <a:p>
            <a:endParaRPr lang="en-US" sz="2200" dirty="0">
              <a:solidFill>
                <a:schemeClr val="tx1">
                  <a:lumMod val="75000"/>
                  <a:lumOff val="25000"/>
                </a:schemeClr>
              </a:solidFill>
              <a:latin typeface="Calibri" panose="020F0502020204030204" pitchFamily="34" charset="0"/>
              <a:cs typeface="Calibri" panose="020F0502020204030204" pitchFamily="34" charset="0"/>
            </a:endParaRPr>
          </a:p>
          <a:p>
            <a:endParaRPr lang="en-US" sz="2200" dirty="0">
              <a:solidFill>
                <a:schemeClr val="bg2">
                  <a:lumMod val="25000"/>
                </a:schemeClr>
              </a:solidFill>
              <a:latin typeface="Calibri" panose="020F0502020204030204" pitchFamily="34" charset="0"/>
              <a:cs typeface="Calibri" panose="020F0502020204030204" pitchFamily="34" charset="0"/>
            </a:endParaRPr>
          </a:p>
        </p:txBody>
      </p:sp>
      <p:cxnSp>
        <p:nvCxnSpPr>
          <p:cNvPr id="4" name="Straight Connector 3"/>
          <p:cNvCxnSpPr/>
          <p:nvPr/>
        </p:nvCxnSpPr>
        <p:spPr>
          <a:xfrm flipH="1">
            <a:off x="601791" y="1070621"/>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72083" y="423248"/>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70171" y="1089589"/>
            <a:ext cx="1912" cy="4298063"/>
          </a:xfrm>
          <a:prstGeom prst="line">
            <a:avLst/>
          </a:prstGeom>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942D6D"/>
                </a:solidFill>
              </a:rPr>
              <a:t>example</a:t>
            </a:r>
            <a:endParaRPr lang="en-US" dirty="0">
              <a:solidFill>
                <a:srgbClr val="942D6D"/>
              </a:solidFill>
            </a:endParaRPr>
          </a:p>
        </p:txBody>
      </p:sp>
      <p:cxnSp>
        <p:nvCxnSpPr>
          <p:cNvPr id="4" name="Straight Connector 3"/>
          <p:cNvCxnSpPr/>
          <p:nvPr/>
        </p:nvCxnSpPr>
        <p:spPr>
          <a:xfrm flipH="1">
            <a:off x="601791" y="1070621"/>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72083" y="423248"/>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70171" y="1089589"/>
            <a:ext cx="1912" cy="4298063"/>
          </a:xfrm>
          <a:prstGeom prst="line">
            <a:avLst/>
          </a:prstGeom>
        </p:spPr>
        <p:style>
          <a:lnRef idx="2">
            <a:schemeClr val="dk1"/>
          </a:lnRef>
          <a:fillRef idx="0">
            <a:schemeClr val="dk1"/>
          </a:fillRef>
          <a:effectRef idx="1">
            <a:schemeClr val="dk1"/>
          </a:effectRef>
          <a:fontRef idx="minor">
            <a:schemeClr val="tx1"/>
          </a:fontRef>
        </p:style>
      </p:cxnSp>
      <p:pic>
        <p:nvPicPr>
          <p:cNvPr id="7" name="Picture 6"/>
          <p:cNvPicPr>
            <a:picLocks noChangeAspect="1"/>
          </p:cNvPicPr>
          <p:nvPr/>
        </p:nvPicPr>
        <p:blipFill>
          <a:blip r:embed="rId2"/>
          <a:stretch>
            <a:fillRect/>
          </a:stretch>
        </p:blipFill>
        <p:spPr>
          <a:xfrm>
            <a:off x="958850" y="2095500"/>
            <a:ext cx="10274300" cy="2667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6F5C0-6484-3F21-0C5D-687E92CA80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CC341E-0DF0-5D2A-4115-BF94B2D491CE}"/>
              </a:ext>
            </a:extLst>
          </p:cNvPr>
          <p:cNvSpPr txBox="1"/>
          <p:nvPr/>
        </p:nvSpPr>
        <p:spPr>
          <a:xfrm>
            <a:off x="1591827" y="2985581"/>
            <a:ext cx="10515600" cy="1186075"/>
          </a:xfrm>
          <a:prstGeom prst="rect">
            <a:avLst/>
          </a:prstGeom>
        </p:spPr>
        <p:txBody>
          <a:bodyPr/>
          <a:lstStyle>
            <a:lvl1pPr algn="l" defTabSz="914400" rtl="0" eaLnBrk="1" latinLnBrk="0" hangingPunct="1">
              <a:lnSpc>
                <a:spcPts val="3200"/>
              </a:lnSpc>
              <a:spcBef>
                <a:spcPct val="0"/>
              </a:spcBef>
              <a:buNone/>
              <a:defRPr sz="4200" b="1" kern="1200" cap="all" spc="-50" baseline="0">
                <a:solidFill>
                  <a:srgbClr val="942F6D"/>
                </a:solidFill>
                <a:latin typeface="+mn-lt"/>
                <a:ea typeface="+mj-ea"/>
                <a:cs typeface="+mj-cs"/>
              </a:defRPr>
            </a:lvl1pPr>
          </a:lstStyle>
          <a:p>
            <a:r>
              <a:rPr lang="en-GB" dirty="0"/>
              <a:t>Module 3 – Support vector machine</a:t>
            </a:r>
          </a:p>
        </p:txBody>
      </p:sp>
    </p:spTree>
    <p:extLst>
      <p:ext uri="{BB962C8B-B14F-4D97-AF65-F5344CB8AC3E}">
        <p14:creationId xmlns:p14="http://schemas.microsoft.com/office/powerpoint/2010/main" val="38521120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SVM introduction</a:t>
            </a:r>
            <a:endParaRPr lang="en-US" dirty="0"/>
          </a:p>
        </p:txBody>
      </p:sp>
      <p:sp>
        <p:nvSpPr>
          <p:cNvPr id="3" name="Text Placeholder 2"/>
          <p:cNvSpPr>
            <a:spLocks noGrp="1"/>
          </p:cNvSpPr>
          <p:nvPr>
            <p:ph type="body" sz="quarter" idx="10"/>
          </p:nvPr>
        </p:nvSpPr>
        <p:spPr>
          <a:xfrm>
            <a:off x="177421" y="1337481"/>
            <a:ext cx="7397086" cy="4507843"/>
          </a:xfrm>
        </p:spPr>
        <p:txBody>
          <a:bodyPr/>
          <a:lstStyle/>
          <a:p>
            <a:r>
              <a:rPr lang="en-GB" sz="2600" dirty="0"/>
              <a:t>Support vector machine is mostly considered as a Classification Algorithm but can be used for Regression as well. </a:t>
            </a:r>
          </a:p>
          <a:p>
            <a:r>
              <a:rPr lang="en-US" sz="2600" dirty="0"/>
              <a:t>SVM constructs a hyperplane in multidimensional space to separate different classes. </a:t>
            </a:r>
          </a:p>
          <a:p>
            <a:r>
              <a:rPr lang="en-US" sz="2600" dirty="0"/>
              <a:t>SVM generates optimal hyperplane in an iterative manner, which is used to minimize an error. </a:t>
            </a:r>
          </a:p>
          <a:p>
            <a:r>
              <a:rPr lang="en-US" sz="2600" dirty="0"/>
              <a:t>The core idea of SVM is to find a maximum marginal hyperplane(MMH) that best divides the dataset into classes.</a:t>
            </a:r>
          </a:p>
          <a:p>
            <a:endParaRPr lang="en-US" sz="2600" dirty="0"/>
          </a:p>
        </p:txBody>
      </p:sp>
      <p:pic>
        <p:nvPicPr>
          <p:cNvPr id="4" name="Picture 3" descr="Support Vectors"/>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574507" y="2015967"/>
            <a:ext cx="3875405" cy="315087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1791" y="555479"/>
            <a:ext cx="9097686" cy="713764"/>
          </a:xfrm>
        </p:spPr>
        <p:txBody>
          <a:bodyPr/>
          <a:lstStyle/>
          <a:p>
            <a:r>
              <a:rPr lang="en-GB" dirty="0"/>
              <a:t>Key terms</a:t>
            </a:r>
            <a:endParaRPr lang="en-US" dirty="0"/>
          </a:p>
        </p:txBody>
      </p:sp>
      <p:sp>
        <p:nvSpPr>
          <p:cNvPr id="3" name="Text Placeholder 2"/>
          <p:cNvSpPr>
            <a:spLocks noGrp="1"/>
          </p:cNvSpPr>
          <p:nvPr>
            <p:ph type="body" sz="quarter" idx="10"/>
          </p:nvPr>
        </p:nvSpPr>
        <p:spPr>
          <a:xfrm>
            <a:off x="278297" y="1269242"/>
            <a:ext cx="6241774" cy="4576082"/>
          </a:xfrm>
        </p:spPr>
        <p:txBody>
          <a:bodyPr/>
          <a:lstStyle/>
          <a:p>
            <a:r>
              <a:rPr lang="en-US" sz="1800" dirty="0">
                <a:solidFill>
                  <a:srgbClr val="FF0000"/>
                </a:solidFill>
              </a:rPr>
              <a:t>Decision Boundary</a:t>
            </a:r>
            <a:r>
              <a:rPr lang="en-US" sz="1800" dirty="0"/>
              <a:t>: a line or surface that separates different regions in a data space. Each region is associated with a class label, and the decision boundary is used to predict the class label of new data points.</a:t>
            </a:r>
          </a:p>
          <a:p>
            <a:r>
              <a:rPr lang="en-US" sz="1800" dirty="0"/>
              <a:t>Decision boundary can be a line or plane that separates the data space into two regions, one associated with the class label +1 and the other with the class label -1.</a:t>
            </a:r>
          </a:p>
          <a:p>
            <a:r>
              <a:rPr lang="en-US" sz="1800" b="0" i="0" dirty="0">
                <a:solidFill>
                  <a:srgbClr val="08102B"/>
                </a:solidFill>
                <a:effectLst/>
                <a:latin typeface="Noto Sans" panose="020B0502040504020204" pitchFamily="34" charset="0"/>
              </a:rPr>
              <a:t>When the decision boundary is more than 2-dimensional, it is called a hyperplane.</a:t>
            </a:r>
          </a:p>
          <a:p>
            <a:pPr algn="l"/>
            <a:r>
              <a:rPr lang="en-US" sz="1800" b="1" i="0" dirty="0">
                <a:solidFill>
                  <a:srgbClr val="FF0000"/>
                </a:solidFill>
                <a:effectLst/>
                <a:latin typeface="Noto Sans" panose="020B0502040504020204" pitchFamily="34" charset="0"/>
              </a:rPr>
              <a:t>Support Vectors</a:t>
            </a:r>
            <a:r>
              <a:rPr lang="en-US" sz="1800" b="1" i="0" dirty="0">
                <a:solidFill>
                  <a:srgbClr val="08102B"/>
                </a:solidFill>
                <a:effectLst/>
                <a:latin typeface="Noto Sans" panose="020B0502040504020204" pitchFamily="34" charset="0"/>
              </a:rPr>
              <a:t>:</a:t>
            </a:r>
            <a:r>
              <a:rPr lang="en-US" sz="1800" b="0" i="0" dirty="0">
                <a:solidFill>
                  <a:srgbClr val="08102B"/>
                </a:solidFill>
                <a:effectLst/>
                <a:latin typeface="Noto Sans" panose="020B0502040504020204" pitchFamily="34" charset="0"/>
              </a:rPr>
              <a:t> data points that lie closest to the separating line between the two classes.</a:t>
            </a:r>
          </a:p>
          <a:p>
            <a:r>
              <a:rPr lang="en-US" sz="1800" dirty="0">
                <a:solidFill>
                  <a:srgbClr val="FF0000"/>
                </a:solidFill>
              </a:rPr>
              <a:t>Marginal Distance</a:t>
            </a:r>
            <a:r>
              <a:rPr lang="en-US" sz="1800" dirty="0"/>
              <a:t>: is the distance between the closest point in the training data set and the decision boundary. Increasing the margin distance can lead to improved generalization performance, </a:t>
            </a:r>
            <a:r>
              <a:rPr lang="en-US" sz="1800" dirty="0" err="1"/>
              <a:t>ie</a:t>
            </a:r>
            <a:r>
              <a:rPr lang="en-US" sz="1800" dirty="0"/>
              <a:t>,  better out-of-sample prediction.</a:t>
            </a:r>
            <a:endParaRPr lang="en-US" sz="1800" dirty="0">
              <a:solidFill>
                <a:srgbClr val="08102B"/>
              </a:solidFill>
              <a:latin typeface="Noto Sans" panose="020B0502040504020204" pitchFamily="34" charset="0"/>
            </a:endParaRPr>
          </a:p>
        </p:txBody>
      </p:sp>
      <p:pic>
        <p:nvPicPr>
          <p:cNvPr id="1026" name="Picture 2" descr="Support Vector Machine Represent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92513" y="2827281"/>
            <a:ext cx="3838857" cy="264816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8841374" y="5367337"/>
            <a:ext cx="1716206" cy="382558"/>
          </a:xfrm>
          <a:prstGeom prst="rect">
            <a:avLst/>
          </a:prstGeom>
          <a:noFill/>
        </p:spPr>
        <p:txBody>
          <a:bodyPr wrap="square">
            <a:spAutoFit/>
          </a:bodyPr>
          <a:lstStyle/>
          <a:p>
            <a:r>
              <a:rPr lang="en-GB" dirty="0"/>
              <a:t>(Siddarth,2022)</a:t>
            </a:r>
            <a:endParaRPr lang="en-US" dirty="0"/>
          </a:p>
        </p:txBody>
      </p:sp>
      <p:sp>
        <p:nvSpPr>
          <p:cNvPr id="7" name="TextBox 6"/>
          <p:cNvSpPr txBox="1"/>
          <p:nvPr/>
        </p:nvSpPr>
        <p:spPr>
          <a:xfrm>
            <a:off x="6334539" y="1382558"/>
            <a:ext cx="5340626" cy="1200329"/>
          </a:xfrm>
          <a:prstGeom prst="rect">
            <a:avLst/>
          </a:prstGeom>
          <a:noFill/>
        </p:spPr>
        <p:txBody>
          <a:bodyPr wrap="square">
            <a:spAutoFit/>
          </a:bodyPr>
          <a:lstStyle/>
          <a:p>
            <a:r>
              <a:rPr lang="en-US" sz="1800" dirty="0">
                <a:solidFill>
                  <a:srgbClr val="FF0000"/>
                </a:solidFill>
              </a:rPr>
              <a:t>Linear Separability</a:t>
            </a:r>
            <a:r>
              <a:rPr lang="en-US" sz="1800" dirty="0"/>
              <a:t>: split into two groups using a single line.</a:t>
            </a:r>
            <a:endParaRPr lang="en-US" sz="1800" dirty="0">
              <a:solidFill>
                <a:srgbClr val="08102B"/>
              </a:solidFill>
              <a:latin typeface="Noto Sans" panose="020B0502040504020204" pitchFamily="34" charset="0"/>
            </a:endParaRPr>
          </a:p>
          <a:p>
            <a:r>
              <a:rPr lang="en-US" sz="1800" dirty="0">
                <a:solidFill>
                  <a:srgbClr val="FF0000"/>
                </a:solidFill>
              </a:rPr>
              <a:t>Non-linear separability</a:t>
            </a:r>
            <a:r>
              <a:rPr lang="en-US" sz="1800" dirty="0"/>
              <a:t>: Non-linear separable data is data that cannot be separated by a linear line.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SVM Working</a:t>
            </a:r>
            <a:endParaRPr lang="en-US" dirty="0"/>
          </a:p>
        </p:txBody>
      </p:sp>
      <p:sp>
        <p:nvSpPr>
          <p:cNvPr id="3" name="Text Placeholder 2"/>
          <p:cNvSpPr>
            <a:spLocks noGrp="1"/>
          </p:cNvSpPr>
          <p:nvPr>
            <p:ph type="body" sz="quarter" idx="10"/>
          </p:nvPr>
        </p:nvSpPr>
        <p:spPr>
          <a:xfrm>
            <a:off x="120015" y="1312545"/>
            <a:ext cx="10960100" cy="4718685"/>
          </a:xfrm>
        </p:spPr>
        <p:txBody>
          <a:bodyPr/>
          <a:lstStyle/>
          <a:p>
            <a:r>
              <a:rPr lang="en-US" sz="2200" dirty="0"/>
              <a:t>A hyperplane between the two classes of data, and then finding the best line that separates them. The best line that separates the data is the one that has the most distance from all the data points in one class and the least distance from all the data points in the other class.</a:t>
            </a:r>
          </a:p>
          <a:p>
            <a:r>
              <a:rPr lang="en-US" sz="2200" dirty="0"/>
              <a:t>To find this line:</a:t>
            </a:r>
          </a:p>
          <a:p>
            <a:r>
              <a:rPr lang="en-US" sz="2200" dirty="0"/>
              <a:t>SVM uses a technique called “linear regression”. Linear regression finds the best line that fits a set of data points. </a:t>
            </a:r>
          </a:p>
          <a:p>
            <a:r>
              <a:rPr lang="en-US" sz="2200" dirty="0"/>
              <a:t>to find the line that has the smallest “error”. Error is just a fancy word for the distance between a data point and the line. </a:t>
            </a:r>
          </a:p>
          <a:p>
            <a:r>
              <a:rPr lang="en-US" sz="2200" dirty="0"/>
              <a:t>SVM uses a technique called “support vectors”: Support vectors are data points that lie on the hyperplane. They are the most important data points because they help to define the hyperplane that can separate the data points. </a:t>
            </a:r>
          </a:p>
          <a:p>
            <a:r>
              <a:rPr lang="en-US" sz="2200" dirty="0"/>
              <a:t>The decision boundary or decision hyperplane including all the support vectors is the one that maximizes the margin between the two classes.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SVM Working cont..</a:t>
            </a:r>
            <a:endParaRPr lang="en-US" dirty="0"/>
          </a:p>
        </p:txBody>
      </p:sp>
      <p:sp>
        <p:nvSpPr>
          <p:cNvPr id="3" name="Text Placeholder 2"/>
          <p:cNvSpPr>
            <a:spLocks noGrp="1"/>
          </p:cNvSpPr>
          <p:nvPr>
            <p:ph type="body" sz="quarter" idx="10"/>
          </p:nvPr>
        </p:nvSpPr>
        <p:spPr>
          <a:xfrm>
            <a:off x="251791" y="1126435"/>
            <a:ext cx="6573079" cy="4718889"/>
          </a:xfrm>
        </p:spPr>
        <p:txBody>
          <a:bodyPr/>
          <a:lstStyle/>
          <a:p>
            <a:r>
              <a:rPr lang="en-US" sz="2200" dirty="0"/>
              <a:t>Aim of SVM is to increase the marginal distance(as shown in the graph) as much as possible so as to reduce the generalization error. </a:t>
            </a:r>
          </a:p>
          <a:p>
            <a:r>
              <a:rPr lang="en-US" sz="2200" dirty="0"/>
              <a:t>Increasing the marginal distance will improve the performance of the model on unseen data. </a:t>
            </a:r>
          </a:p>
          <a:p>
            <a:r>
              <a:rPr lang="en-US" sz="2200" dirty="0"/>
              <a:t>So here what happens is that when the margin distance increases the possibility of predicting the wrong class will decrease since the decision boundary is now far from the points of the two separate classes.</a:t>
            </a:r>
          </a:p>
          <a:p>
            <a:r>
              <a:rPr lang="en-US" sz="2200" dirty="0"/>
              <a:t>So when considering a new data point, if it lies near to negative hyperplane(shown on the graph) it is more likely to belong to the negative class and if it lies near the positive hyperplane it is more likely to belong to the positive class.</a:t>
            </a:r>
          </a:p>
        </p:txBody>
      </p:sp>
      <p:sp>
        <p:nvSpPr>
          <p:cNvPr id="5" name="TextBox 4"/>
          <p:cNvSpPr txBox="1"/>
          <p:nvPr/>
        </p:nvSpPr>
        <p:spPr>
          <a:xfrm>
            <a:off x="7010400" y="1900722"/>
            <a:ext cx="4929809" cy="3170099"/>
          </a:xfrm>
          <a:prstGeom prst="rect">
            <a:avLst/>
          </a:prstGeom>
          <a:noFill/>
        </p:spPr>
        <p:txBody>
          <a:bodyPr wrap="square">
            <a:spAutoFit/>
          </a:bodyPr>
          <a:lstStyle/>
          <a:p>
            <a:pPr marL="285750" indent="-285750">
              <a:buFont typeface="Arial" panose="020B0604020202020204" pitchFamily="34" charset="0"/>
              <a:buChar char="•"/>
            </a:pPr>
            <a:r>
              <a:rPr lang="en-US" sz="2000" dirty="0">
                <a:solidFill>
                  <a:srgbClr val="FF0000"/>
                </a:solidFill>
              </a:rPr>
              <a:t>When training the SVM  model, we first need to find the support vectors.</a:t>
            </a:r>
          </a:p>
          <a:p>
            <a:pPr marL="285750" indent="-285750">
              <a:buFont typeface="Arial" panose="020B0604020202020204" pitchFamily="34" charset="0"/>
              <a:buChar char="•"/>
            </a:pPr>
            <a:r>
              <a:rPr lang="en-US" sz="2000" dirty="0">
                <a:solidFill>
                  <a:srgbClr val="FF0000"/>
                </a:solidFill>
              </a:rPr>
              <a:t>Then we need to find the line that maximizes the margin between the two classes. </a:t>
            </a:r>
          </a:p>
          <a:p>
            <a:pPr marL="285750" indent="-285750">
              <a:buFont typeface="Arial" panose="020B0604020202020204" pitchFamily="34" charset="0"/>
              <a:buChar char="•"/>
            </a:pPr>
            <a:r>
              <a:rPr lang="en-US" sz="2000" dirty="0">
                <a:solidFill>
                  <a:srgbClr val="FF0000"/>
                </a:solidFill>
              </a:rPr>
              <a:t>This line is the decision boundary.</a:t>
            </a:r>
          </a:p>
          <a:p>
            <a:pPr marL="285750" indent="-285750">
              <a:buFont typeface="Arial" panose="020B0604020202020204" pitchFamily="34" charset="0"/>
              <a:buChar char="•"/>
            </a:pPr>
            <a:r>
              <a:rPr lang="en-US" sz="2000" dirty="0">
                <a:solidFill>
                  <a:srgbClr val="FF0000"/>
                </a:solidFill>
              </a:rPr>
              <a:t>Once we have the decision boundary, we can use it to predict the class of new data points. </a:t>
            </a:r>
          </a:p>
          <a:p>
            <a:endParaRPr lang="en-US" sz="2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Advantages and disadvantages</a:t>
            </a:r>
            <a:endParaRPr lang="en-US" dirty="0"/>
          </a:p>
        </p:txBody>
      </p:sp>
      <p:sp>
        <p:nvSpPr>
          <p:cNvPr id="3" name="Text Placeholder 2"/>
          <p:cNvSpPr>
            <a:spLocks noGrp="1"/>
          </p:cNvSpPr>
          <p:nvPr>
            <p:ph type="body" sz="quarter" idx="10"/>
          </p:nvPr>
        </p:nvSpPr>
        <p:spPr>
          <a:xfrm>
            <a:off x="300251" y="1405719"/>
            <a:ext cx="11505062" cy="4896803"/>
          </a:xfrm>
        </p:spPr>
        <p:txBody>
          <a:bodyPr/>
          <a:lstStyle/>
          <a:p>
            <a:pPr marL="0" marR="0">
              <a:lnSpc>
                <a:spcPct val="107000"/>
              </a:lnSpc>
              <a:spcBef>
                <a:spcPts val="0"/>
              </a:spcBef>
              <a:spcAft>
                <a:spcPts val="1050"/>
              </a:spcAft>
            </a:pPr>
            <a:r>
              <a:rPr lang="en-US" sz="2000" kern="0" dirty="0">
                <a:solidFill>
                  <a:srgbClr val="92D050"/>
                </a:solidFill>
                <a:effectLst/>
                <a:latin typeface="Arial" panose="020B0604020202020204" pitchFamily="34" charset="0"/>
                <a:ea typeface="Times New Roman" panose="02020603050405020304" pitchFamily="18" charset="0"/>
                <a:cs typeface="Times New Roman" panose="02020603050405020304" pitchFamily="18" charset="0"/>
              </a:rPr>
              <a:t>SVM Classifiers offer good accuracy</a:t>
            </a:r>
          </a:p>
          <a:p>
            <a:pPr marL="0" marR="0">
              <a:lnSpc>
                <a:spcPct val="107000"/>
              </a:lnSpc>
              <a:spcBef>
                <a:spcPts val="0"/>
              </a:spcBef>
              <a:spcAft>
                <a:spcPts val="1050"/>
              </a:spcAft>
            </a:pPr>
            <a:r>
              <a:rPr lang="en-US" sz="2000" kern="0" dirty="0">
                <a:solidFill>
                  <a:srgbClr val="92D050"/>
                </a:solidFill>
                <a:latin typeface="Arial" panose="020B0604020202020204" pitchFamily="34" charset="0"/>
                <a:ea typeface="Times New Roman" panose="02020603050405020304" pitchFamily="18" charset="0"/>
                <a:cs typeface="Times New Roman" panose="02020603050405020304" pitchFamily="18" charset="0"/>
              </a:rPr>
              <a:t>P</a:t>
            </a:r>
            <a:r>
              <a:rPr lang="en-US" sz="2000" kern="0" dirty="0">
                <a:solidFill>
                  <a:srgbClr val="92D050"/>
                </a:solidFill>
                <a:effectLst/>
                <a:latin typeface="Arial" panose="020B0604020202020204" pitchFamily="34" charset="0"/>
                <a:ea typeface="Times New Roman" panose="02020603050405020304" pitchFamily="18" charset="0"/>
                <a:cs typeface="Times New Roman" panose="02020603050405020304" pitchFamily="18" charset="0"/>
              </a:rPr>
              <a:t>erform faster prediction compared to Naïve Bayes algorithm. </a:t>
            </a:r>
          </a:p>
          <a:p>
            <a:pPr marL="0" marR="0">
              <a:lnSpc>
                <a:spcPct val="107000"/>
              </a:lnSpc>
              <a:spcBef>
                <a:spcPts val="0"/>
              </a:spcBef>
              <a:spcAft>
                <a:spcPts val="1050"/>
              </a:spcAft>
            </a:pPr>
            <a:r>
              <a:rPr lang="en-US" sz="2000" kern="0" dirty="0">
                <a:solidFill>
                  <a:srgbClr val="92D050"/>
                </a:solidFill>
                <a:effectLst/>
                <a:latin typeface="Arial" panose="020B0604020202020204" pitchFamily="34" charset="0"/>
                <a:ea typeface="Times New Roman" panose="02020603050405020304" pitchFamily="18" charset="0"/>
                <a:cs typeface="Times New Roman" panose="02020603050405020304" pitchFamily="18" charset="0"/>
              </a:rPr>
              <a:t>Uses less memory because they use a subset of training points in the decision phase. </a:t>
            </a:r>
          </a:p>
          <a:p>
            <a:pPr marL="0" marR="0">
              <a:lnSpc>
                <a:spcPct val="107000"/>
              </a:lnSpc>
              <a:spcBef>
                <a:spcPts val="0"/>
              </a:spcBef>
              <a:spcAft>
                <a:spcPts val="1050"/>
              </a:spcAft>
            </a:pPr>
            <a:r>
              <a:rPr lang="en-US" sz="2000" kern="0" dirty="0">
                <a:solidFill>
                  <a:srgbClr val="92D050"/>
                </a:solidFill>
                <a:effectLst/>
                <a:latin typeface="Arial" panose="020B0604020202020204" pitchFamily="34" charset="0"/>
                <a:ea typeface="Times New Roman" panose="02020603050405020304" pitchFamily="18" charset="0"/>
                <a:cs typeface="Times New Roman" panose="02020603050405020304" pitchFamily="18" charset="0"/>
              </a:rPr>
              <a:t>SVM works well with a clear margin of separation and with high dimensional space.</a:t>
            </a:r>
          </a:p>
          <a:p>
            <a:pPr marL="0" marR="0">
              <a:lnSpc>
                <a:spcPct val="107000"/>
              </a:lnSpc>
              <a:spcBef>
                <a:spcPts val="0"/>
              </a:spcBef>
              <a:spcAft>
                <a:spcPts val="1050"/>
              </a:spcAft>
            </a:pPr>
            <a:endParaRPr lang="en-US" sz="2000" kern="0" dirty="0">
              <a:solidFill>
                <a:srgbClr val="05192D"/>
              </a:solidFill>
              <a:effectLst/>
              <a:latin typeface="Arial" panose="020B0604020202020204" pitchFamily="34" charset="0"/>
              <a:ea typeface="Times New Roman" panose="02020603050405020304" pitchFamily="18" charset="0"/>
              <a:cs typeface="Times New Roman" panose="02020603050405020304" pitchFamily="18" charset="0"/>
            </a:endParaRPr>
          </a:p>
          <a:p>
            <a:pPr marL="0" marR="0">
              <a:lnSpc>
                <a:spcPct val="107000"/>
              </a:lnSpc>
              <a:spcBef>
                <a:spcPts val="0"/>
              </a:spcBef>
              <a:spcAft>
                <a:spcPts val="1050"/>
              </a:spcAft>
            </a:pPr>
            <a:r>
              <a:rPr lang="en-US" sz="2000" kern="0" dirty="0">
                <a:solidFill>
                  <a:srgbClr val="05192D"/>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kern="0" dirty="0">
                <a:solidFill>
                  <a:srgbClr val="FF0000"/>
                </a:solidFill>
                <a:effectLst/>
                <a:latin typeface="Arial" panose="020B0604020202020204" pitchFamily="34" charset="0"/>
                <a:ea typeface="Times New Roman" panose="02020603050405020304" pitchFamily="18" charset="0"/>
                <a:cs typeface="Times New Roman" panose="02020603050405020304" pitchFamily="18" charset="0"/>
              </a:rPr>
              <a:t>Not suitable for large datasets because of its high training time and it also takes more time in training compared to Naïve Bayes. </a:t>
            </a:r>
          </a:p>
          <a:p>
            <a:pPr marL="0" marR="0">
              <a:lnSpc>
                <a:spcPct val="107000"/>
              </a:lnSpc>
              <a:spcBef>
                <a:spcPts val="0"/>
              </a:spcBef>
              <a:spcAft>
                <a:spcPts val="1050"/>
              </a:spcAft>
            </a:pPr>
            <a:r>
              <a:rPr lang="en-US" sz="2000" kern="0" dirty="0">
                <a:solidFill>
                  <a:srgbClr val="FF0000"/>
                </a:solidFill>
                <a:effectLst/>
                <a:latin typeface="Arial" panose="020B0604020202020204" pitchFamily="34" charset="0"/>
                <a:ea typeface="Times New Roman" panose="02020603050405020304" pitchFamily="18" charset="0"/>
                <a:cs typeface="Times New Roman" panose="02020603050405020304" pitchFamily="18" charset="0"/>
              </a:rPr>
              <a:t>It works poorly with overlapping classes </a:t>
            </a:r>
          </a:p>
          <a:p>
            <a:pPr marL="0" marR="0">
              <a:lnSpc>
                <a:spcPct val="107000"/>
              </a:lnSpc>
              <a:spcBef>
                <a:spcPts val="0"/>
              </a:spcBef>
              <a:spcAft>
                <a:spcPts val="1050"/>
              </a:spcAft>
            </a:pPr>
            <a:r>
              <a:rPr lang="en-US" sz="2000" kern="0" dirty="0">
                <a:solidFill>
                  <a:srgbClr val="FF0000"/>
                </a:solidFill>
                <a:effectLst/>
                <a:latin typeface="Arial" panose="020B0604020202020204" pitchFamily="34" charset="0"/>
                <a:ea typeface="Times New Roman" panose="02020603050405020304" pitchFamily="18" charset="0"/>
                <a:cs typeface="Times New Roman" panose="02020603050405020304" pitchFamily="18" charset="0"/>
              </a:rPr>
              <a:t>Sensitive to the type of kernel used.</a:t>
            </a:r>
            <a:endParaRPr lang="en-US" sz="20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Tuning hyperparameters</a:t>
            </a:r>
            <a:endParaRPr lang="en-US" dirty="0"/>
          </a:p>
        </p:txBody>
      </p:sp>
      <p:sp>
        <p:nvSpPr>
          <p:cNvPr id="3" name="Text Placeholder 2"/>
          <p:cNvSpPr>
            <a:spLocks noGrp="1"/>
          </p:cNvSpPr>
          <p:nvPr>
            <p:ph type="body" sz="quarter" idx="10"/>
          </p:nvPr>
        </p:nvSpPr>
        <p:spPr>
          <a:xfrm>
            <a:off x="601791" y="1307009"/>
            <a:ext cx="2646376" cy="4033348"/>
          </a:xfrm>
        </p:spPr>
        <p:txBody>
          <a:bodyPr/>
          <a:lstStyle/>
          <a:p>
            <a:r>
              <a:rPr lang="en-GB" dirty="0"/>
              <a:t>Kernel: </a:t>
            </a:r>
          </a:p>
          <a:p>
            <a:r>
              <a:rPr lang="en-GB" dirty="0"/>
              <a:t>Regularization</a:t>
            </a:r>
          </a:p>
          <a:p>
            <a:r>
              <a:rPr lang="en-GB" dirty="0"/>
              <a:t>Gamma</a:t>
            </a:r>
          </a:p>
          <a:p>
            <a:endParaRPr lang="en-US" dirty="0"/>
          </a:p>
        </p:txBody>
      </p:sp>
      <p:sp>
        <p:nvSpPr>
          <p:cNvPr id="4" name="Text Placeholder 2"/>
          <p:cNvSpPr txBox="1"/>
          <p:nvPr/>
        </p:nvSpPr>
        <p:spPr>
          <a:xfrm>
            <a:off x="3671248" y="1307009"/>
            <a:ext cx="7578646" cy="4376434"/>
          </a:xfrm>
          <a:prstGeom prst="rect">
            <a:avLst/>
          </a:prstGeom>
        </p:spPr>
        <p:txBody>
          <a:bodyPr/>
          <a:lst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baseline="0">
                <a:solidFill>
                  <a:srgbClr val="656768"/>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656768"/>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656768"/>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solidFill>
                  <a:srgbClr val="FF0000"/>
                </a:solidFill>
              </a:rPr>
              <a:t>Kernel: </a:t>
            </a:r>
            <a:r>
              <a:rPr lang="en-GB" dirty="0"/>
              <a:t>To transform the dataset into the required form</a:t>
            </a:r>
          </a:p>
          <a:p>
            <a:r>
              <a:rPr lang="en-GB" dirty="0"/>
              <a:t>Functions: Linear, Polynomial and RBF- Radial basis function</a:t>
            </a:r>
          </a:p>
          <a:p>
            <a:endParaRPr lang="en-GB" dirty="0"/>
          </a:p>
          <a:p>
            <a:endParaRPr lang="en-GB" dirty="0"/>
          </a:p>
          <a:p>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Tuning hyperparameters</a:t>
            </a:r>
            <a:endParaRPr lang="en-US" dirty="0"/>
          </a:p>
        </p:txBody>
      </p:sp>
      <p:sp>
        <p:nvSpPr>
          <p:cNvPr id="3" name="Text Placeholder 2"/>
          <p:cNvSpPr>
            <a:spLocks noGrp="1"/>
          </p:cNvSpPr>
          <p:nvPr>
            <p:ph type="body" sz="quarter" idx="10"/>
          </p:nvPr>
        </p:nvSpPr>
        <p:spPr>
          <a:xfrm>
            <a:off x="601156" y="1932484"/>
            <a:ext cx="2646376" cy="4033348"/>
          </a:xfrm>
        </p:spPr>
        <p:txBody>
          <a:bodyPr/>
          <a:lstStyle/>
          <a:p>
            <a:r>
              <a:rPr lang="en-GB" dirty="0"/>
              <a:t>Kernel: </a:t>
            </a:r>
          </a:p>
          <a:p>
            <a:r>
              <a:rPr lang="en-GB" dirty="0"/>
              <a:t>Regularization</a:t>
            </a:r>
          </a:p>
          <a:p>
            <a:r>
              <a:rPr lang="en-GB" dirty="0"/>
              <a:t>Gamma</a:t>
            </a:r>
          </a:p>
          <a:p>
            <a:endParaRPr lang="en-US" dirty="0"/>
          </a:p>
        </p:txBody>
      </p:sp>
      <p:sp>
        <p:nvSpPr>
          <p:cNvPr id="4" name="Text Placeholder 2"/>
          <p:cNvSpPr txBox="1"/>
          <p:nvPr/>
        </p:nvSpPr>
        <p:spPr>
          <a:xfrm>
            <a:off x="3418517" y="1855649"/>
            <a:ext cx="7918961" cy="4376434"/>
          </a:xfrm>
          <a:prstGeom prst="rect">
            <a:avLst/>
          </a:prstGeom>
        </p:spPr>
        <p:txBody>
          <a:bodyPr/>
          <a:lst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baseline="0">
                <a:solidFill>
                  <a:srgbClr val="656768"/>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656768"/>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656768"/>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solidFill>
                  <a:srgbClr val="FF0000"/>
                </a:solidFill>
              </a:rPr>
              <a:t>Regularization: </a:t>
            </a:r>
            <a:r>
              <a:rPr lang="en-GB" dirty="0">
                <a:solidFill>
                  <a:schemeClr val="tx1"/>
                </a:solidFill>
              </a:rPr>
              <a:t>To maintain regularization, C is the penalty parameter.</a:t>
            </a:r>
          </a:p>
          <a:p>
            <a:r>
              <a:rPr lang="en-GB" dirty="0">
                <a:solidFill>
                  <a:schemeClr val="tx1"/>
                </a:solidFill>
              </a:rPr>
              <a:t>C represents mis-classification or error term</a:t>
            </a:r>
          </a:p>
          <a:p>
            <a:r>
              <a:rPr lang="en-GB" dirty="0">
                <a:solidFill>
                  <a:schemeClr val="tx1"/>
                </a:solidFill>
              </a:rPr>
              <a:t>A small value of C creates Small-margin hyperplane</a:t>
            </a:r>
          </a:p>
          <a:p>
            <a:r>
              <a:rPr lang="en-GB" dirty="0">
                <a:solidFill>
                  <a:schemeClr val="tx1"/>
                </a:solidFill>
              </a:rPr>
              <a:t>Larger value of C creates a larger-margin hyperplane</a:t>
            </a:r>
          </a:p>
          <a:p>
            <a:endParaRPr lang="en-GB" dirty="0">
              <a:solidFill>
                <a:schemeClr val="tx1"/>
              </a:solidFill>
            </a:endParaRPr>
          </a:p>
          <a:p>
            <a:endParaRPr lang="en-GB" dirty="0">
              <a:solidFill>
                <a:schemeClr val="tx1"/>
              </a:solidFill>
            </a:endParaRPr>
          </a:p>
          <a:p>
            <a:endParaRPr lang="en-GB" dirty="0"/>
          </a:p>
          <a:p>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Tuning hyperparameters</a:t>
            </a:r>
            <a:endParaRPr lang="en-US" dirty="0"/>
          </a:p>
        </p:txBody>
      </p:sp>
      <p:sp>
        <p:nvSpPr>
          <p:cNvPr id="3" name="Text Placeholder 2"/>
          <p:cNvSpPr>
            <a:spLocks noGrp="1"/>
          </p:cNvSpPr>
          <p:nvPr>
            <p:ph type="body" sz="quarter" idx="10"/>
          </p:nvPr>
        </p:nvSpPr>
        <p:spPr>
          <a:xfrm>
            <a:off x="601791" y="1795324"/>
            <a:ext cx="2646376" cy="4033348"/>
          </a:xfrm>
        </p:spPr>
        <p:txBody>
          <a:bodyPr/>
          <a:lstStyle/>
          <a:p>
            <a:r>
              <a:rPr lang="en-GB" dirty="0"/>
              <a:t>Kernel: </a:t>
            </a:r>
          </a:p>
          <a:p>
            <a:r>
              <a:rPr lang="en-GB" dirty="0"/>
              <a:t>Regularization</a:t>
            </a:r>
          </a:p>
          <a:p>
            <a:r>
              <a:rPr lang="en-GB" dirty="0"/>
              <a:t>Gamma</a:t>
            </a:r>
          </a:p>
          <a:p>
            <a:endParaRPr lang="en-US" dirty="0"/>
          </a:p>
        </p:txBody>
      </p:sp>
      <p:sp>
        <p:nvSpPr>
          <p:cNvPr id="4" name="Text Placeholder 2"/>
          <p:cNvSpPr txBox="1"/>
          <p:nvPr/>
        </p:nvSpPr>
        <p:spPr>
          <a:xfrm>
            <a:off x="3451537" y="1623874"/>
            <a:ext cx="7918961" cy="4376434"/>
          </a:xfrm>
          <a:prstGeom prst="rect">
            <a:avLst/>
          </a:prstGeom>
        </p:spPr>
        <p:txBody>
          <a:bodyPr/>
          <a:lst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baseline="0">
                <a:solidFill>
                  <a:srgbClr val="656768"/>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656768"/>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656768"/>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solidFill>
                  <a:srgbClr val="FF0000"/>
                </a:solidFill>
              </a:rPr>
              <a:t>Gamma: </a:t>
            </a:r>
            <a:r>
              <a:rPr lang="en-GB" dirty="0">
                <a:solidFill>
                  <a:schemeClr val="tx1"/>
                </a:solidFill>
              </a:rPr>
              <a:t>Small value loosely fit the training set</a:t>
            </a:r>
          </a:p>
          <a:p>
            <a:r>
              <a:rPr lang="en-GB" dirty="0">
                <a:solidFill>
                  <a:schemeClr val="tx1"/>
                </a:solidFill>
              </a:rPr>
              <a:t>Large value exactly fit the training set resulting in overfitting</a:t>
            </a:r>
          </a:p>
          <a:p>
            <a:r>
              <a:rPr lang="en-GB" dirty="0">
                <a:solidFill>
                  <a:schemeClr val="tx1"/>
                </a:solidFill>
              </a:rPr>
              <a:t>Low value of Gamma consider nearby points for separation of the line.</a:t>
            </a:r>
          </a:p>
          <a:p>
            <a:r>
              <a:rPr lang="en-GB" dirty="0">
                <a:solidFill>
                  <a:schemeClr val="tx1"/>
                </a:solidFill>
              </a:rPr>
              <a:t>High value of Gamma considers all data points for separation of the line.</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5716" y="314178"/>
            <a:ext cx="9097686" cy="1068223"/>
          </a:xfrm>
        </p:spPr>
        <p:txBody>
          <a:bodyPr/>
          <a:lstStyle/>
          <a:p>
            <a:r>
              <a:rPr lang="en-GB" dirty="0"/>
              <a:t>parameters</a:t>
            </a:r>
            <a:endParaRPr lang="en-US" dirty="0"/>
          </a:p>
        </p:txBody>
      </p:sp>
      <p:sp>
        <p:nvSpPr>
          <p:cNvPr id="3" name="Text Placeholder 2"/>
          <p:cNvSpPr>
            <a:spLocks noGrp="1"/>
          </p:cNvSpPr>
          <p:nvPr>
            <p:ph type="body" sz="quarter" idx="10"/>
          </p:nvPr>
        </p:nvSpPr>
        <p:spPr>
          <a:xfrm>
            <a:off x="128905" y="852805"/>
            <a:ext cx="9836785" cy="4542155"/>
          </a:xfrm>
        </p:spPr>
        <p:txBody>
          <a:bodyPr/>
          <a:lstStyle/>
          <a:p>
            <a:pPr marL="342900" marR="0" lvl="0" indent="-342900" fontAlgn="base">
              <a:lnSpc>
                <a:spcPct val="107000"/>
              </a:lnSpc>
              <a:spcBef>
                <a:spcPts val="0"/>
              </a:spcBef>
              <a:spcAft>
                <a:spcPts val="1200"/>
              </a:spcAft>
              <a:buSzPts val="1000"/>
              <a:buFont typeface="Symbol" panose="05050102010706020507" pitchFamily="18" charset="2"/>
              <a:buChar char=""/>
              <a:tabLst>
                <a:tab pos="457200" algn="l"/>
              </a:tabLst>
            </a:pPr>
            <a:r>
              <a:rPr lang="en-US" sz="16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C</a:t>
            </a:r>
            <a: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is typically used as a </a:t>
            </a:r>
            <a:r>
              <a:rPr lang="en-US" sz="16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regularization parameter</a:t>
            </a:r>
            <a: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to control overfitting, allowing the algorithm to make more accurate predictions on new data points. The strength of the regularization is inversely proportional to C. C represents the penalty parameter for misclassifying data </a:t>
            </a:r>
            <a:r>
              <a:rPr lang="en-US" sz="1600" kern="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points.</a:t>
            </a:r>
          </a:p>
          <a:p>
            <a:pPr marL="342900" marR="0" lvl="0" indent="-342900" fontAlgn="base">
              <a:lnSpc>
                <a:spcPct val="107000"/>
              </a:lnSpc>
              <a:spcBef>
                <a:spcPts val="0"/>
              </a:spcBef>
              <a:spcAft>
                <a:spcPts val="1200"/>
              </a:spcAft>
              <a:buSzPts val="1000"/>
              <a:buFont typeface="Symbol" panose="05050102010706020507" pitchFamily="18" charset="2"/>
              <a:buChar char=""/>
              <a:tabLst>
                <a:tab pos="457200" algn="l"/>
              </a:tabLst>
            </a:pPr>
            <a:r>
              <a:rPr lang="en-US" sz="1600" kern="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a:t>
            </a:r>
            <a: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Simply speaking, C controls the trade-off between maximizing the margin and minimizing training error. If C is set too low, the model will fail to accurately classify data points due to underfitting and can produce inaccurate results. A smaller value of C will result in a larger margin, but may lead to more misclassifications. If C is set too high, then the model will have difficulty correctly separating data points due to overfitting and can show poor accuracy scores. A larger value of C will result in a smaller margin, but may lead to better classification accuracy.</a:t>
            </a:r>
            <a:b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br>
            <a:b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br>
            <a: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The choice of C depends on the problem at hand and the characteristics of the dataset. In general, a smaller value of C is preferred when the dataset is noisy, or when the goal is to have a more generalizable model that can perform well on new, unseen data. A larger value of C is preferred when the dataset is clean and the goal is to maximize classification accuracy on the training data.</a:t>
            </a:r>
            <a:b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br>
            <a:b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br>
            <a: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As a general guideline, it’s a good idea to start with a smaller value of C and gradually increase it until the desired level of classification accuracy is achieved. However, it’s important to keep in mind that a larger value of C may lead to overfitting, which means that the model performs well on the training data but poorly on new, unseen data. Therefore, it’s important to strike a balance between maximizing the margin and minimizing the classification error, and choose an appropriate value of C based on the specific problem and dataset.</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fontAlgn="base">
              <a:lnSpc>
                <a:spcPct val="107000"/>
              </a:lnSpc>
              <a:spcBef>
                <a:spcPts val="0"/>
              </a:spcBef>
              <a:spcAft>
                <a:spcPts val="1200"/>
              </a:spcAft>
              <a:buSzPts val="1000"/>
              <a:buFont typeface="Symbol" panose="05050102010706020507" pitchFamily="18" charset="2"/>
              <a:buChar char=""/>
              <a:tabLst>
                <a:tab pos="457200" algn="l"/>
              </a:tabLst>
            </a:pPr>
            <a: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parameters</a:t>
            </a:r>
            <a:endParaRPr lang="en-US" dirty="0"/>
          </a:p>
        </p:txBody>
      </p:sp>
      <p:sp>
        <p:nvSpPr>
          <p:cNvPr id="3" name="Text Placeholder 2"/>
          <p:cNvSpPr>
            <a:spLocks noGrp="1"/>
          </p:cNvSpPr>
          <p:nvPr>
            <p:ph type="body" sz="quarter" idx="10"/>
          </p:nvPr>
        </p:nvSpPr>
        <p:spPr>
          <a:xfrm>
            <a:off x="128905" y="1511935"/>
            <a:ext cx="11390903" cy="4542304"/>
          </a:xfrm>
        </p:spPr>
        <p:txBody>
          <a:bodyPr/>
          <a:lstStyle/>
          <a:p>
            <a:pPr marL="342900" marR="0" lvl="0" indent="-342900" fontAlgn="base">
              <a:lnSpc>
                <a:spcPct val="107000"/>
              </a:lnSpc>
              <a:spcBef>
                <a:spcPts val="0"/>
              </a:spcBef>
              <a:spcAft>
                <a:spcPts val="1200"/>
              </a:spcAft>
              <a:buSzPts val="1000"/>
              <a:buFont typeface="Symbol" panose="05050102010706020507" pitchFamily="18" charset="2"/>
              <a:buChar char=""/>
              <a:tabLst>
                <a:tab pos="457200" algn="l"/>
              </a:tabLst>
            </a:pPr>
            <a: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When training a support vector machine (SVM) model using </a:t>
            </a:r>
            <a:r>
              <a:rPr lang="en-US" sz="1600" kern="0" dirty="0" err="1">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Sklearn</a:t>
            </a:r>
            <a: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SVC algorithm, the </a:t>
            </a:r>
            <a:r>
              <a:rPr lang="en-US" sz="16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gamma hyperparameter</a:t>
            </a:r>
            <a: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can take on two special values: ‘scale’, ‘auto’ or ‘float’. When gamma is set to ‘scale’, it means that the value of gamma is calculated as </a:t>
            </a:r>
            <a:r>
              <a:rPr lang="en-US" sz="16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1 / (number of features * variance in data)</a:t>
            </a:r>
            <a: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This ensures that all features are given equal importance in the model and produces consistent results no matter how many features are used.</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fontAlgn="base">
              <a:lnSpc>
                <a:spcPct val="107000"/>
              </a:lnSpc>
              <a:spcBef>
                <a:spcPts val="0"/>
              </a:spcBef>
              <a:spcAft>
                <a:spcPts val="0"/>
              </a:spcAft>
              <a:buSzPts val="1000"/>
              <a:buFont typeface="Symbol" panose="05050102010706020507" pitchFamily="18" charset="2"/>
              <a:buChar char=""/>
              <a:tabLst>
                <a:tab pos="457200" algn="l"/>
              </a:tabLst>
            </a:pPr>
            <a:r>
              <a:rPr lang="en-US" sz="16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SVM kernel</a:t>
            </a:r>
            <a: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is a mathematical function that is used to map the data points from one space into another, usually higher dimensional space. When training a support vector machine (SVM) model using </a:t>
            </a:r>
            <a:r>
              <a:rPr lang="en-US" sz="1600" kern="0" dirty="0" err="1">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Sklearn</a:t>
            </a:r>
            <a: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SVC algorithm, the kernel hyperparameter can take on several values: ‘</a:t>
            </a:r>
            <a:r>
              <a:rPr lang="en-US" sz="16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linear’, ‘poly’, ‘</a:t>
            </a:r>
            <a:r>
              <a:rPr lang="en-US" sz="1600" b="1" kern="0" dirty="0" err="1">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rbf</a:t>
            </a:r>
            <a:r>
              <a:rPr lang="en-US" sz="16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and ‘sigmoid’</a:t>
            </a:r>
            <a: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fontAlgn="base">
              <a:lnSpc>
                <a:spcPct val="107000"/>
              </a:lnSpc>
              <a:spcBef>
                <a:spcPts val="0"/>
              </a:spcBef>
              <a:spcAft>
                <a:spcPts val="0"/>
              </a:spcAft>
              <a:buSzPts val="1000"/>
              <a:buFont typeface="Symbol" panose="05050102010706020507" pitchFamily="18" charset="2"/>
              <a:buChar char=""/>
              <a:tabLst>
                <a:tab pos="914400" algn="l"/>
              </a:tabLst>
            </a:pPr>
            <a:r>
              <a:rPr lang="en-US" sz="16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When kernel is set to ‘linear’</a:t>
            </a:r>
            <a: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it means that the model will use a linear boundary for classification and regression. This is the simplest type of SVM and works best when data are linearly separable.</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fontAlgn="base">
              <a:lnSpc>
                <a:spcPct val="107000"/>
              </a:lnSpc>
              <a:spcBef>
                <a:spcPts val="0"/>
              </a:spcBef>
              <a:spcAft>
                <a:spcPts val="0"/>
              </a:spcAft>
              <a:buSzPts val="1000"/>
              <a:buFont typeface="Symbol" panose="05050102010706020507" pitchFamily="18" charset="2"/>
              <a:buChar char=""/>
              <a:tabLst>
                <a:tab pos="914400" algn="l"/>
              </a:tabLst>
            </a:pPr>
            <a:r>
              <a:rPr lang="en-US" sz="16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When kernel is set to ‘poly’,</a:t>
            </a:r>
            <a: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it means that the model will use polynomial functions of degree higher than 1 for classification. This type of SVM is more suitable for complex non-linear datasets.</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fontAlgn="base">
              <a:lnSpc>
                <a:spcPct val="107000"/>
              </a:lnSpc>
              <a:spcBef>
                <a:spcPts val="0"/>
              </a:spcBef>
              <a:spcAft>
                <a:spcPts val="0"/>
              </a:spcAft>
              <a:buSzPts val="1000"/>
              <a:buFont typeface="Symbol" panose="05050102010706020507" pitchFamily="18" charset="2"/>
              <a:buChar char=""/>
              <a:tabLst>
                <a:tab pos="914400" algn="l"/>
              </a:tabLst>
            </a:pPr>
            <a:r>
              <a:rPr lang="en-US" sz="16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When kernel is set to ‘</a:t>
            </a:r>
            <a:r>
              <a:rPr lang="en-US" sz="1600" b="1" kern="0" dirty="0" err="1">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rbf</a:t>
            </a:r>
            <a:r>
              <a:rPr lang="en-US" sz="16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a:t>
            </a:r>
            <a: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it means that the model will use radial basis </a:t>
            </a:r>
            <a:r>
              <a:rPr lang="en-US" sz="1600" kern="0" dirty="0" err="1">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funcitons</a:t>
            </a:r>
            <a: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for classification or regression. RBF kernels are capable of dealing with complex multi-class datasets and have good generalization performance with noisy data points.</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fontAlgn="base">
              <a:lnSpc>
                <a:spcPct val="107000"/>
              </a:lnSpc>
              <a:spcBef>
                <a:spcPts val="0"/>
              </a:spcBef>
              <a:spcAft>
                <a:spcPts val="0"/>
              </a:spcAft>
              <a:buSzPts val="1000"/>
              <a:buFont typeface="Symbol" panose="05050102010706020507" pitchFamily="18" charset="2"/>
              <a:buChar char=""/>
              <a:tabLst>
                <a:tab pos="914400" algn="l"/>
              </a:tabLst>
            </a:pP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Application of </a:t>
            </a:r>
            <a:r>
              <a:rPr lang="en-GB" dirty="0" err="1"/>
              <a:t>svm</a:t>
            </a:r>
            <a:endParaRPr lang="en-US" dirty="0"/>
          </a:p>
        </p:txBody>
      </p:sp>
      <p:sp>
        <p:nvSpPr>
          <p:cNvPr id="3" name="Text Placeholder 2"/>
          <p:cNvSpPr>
            <a:spLocks noGrp="1"/>
          </p:cNvSpPr>
          <p:nvPr>
            <p:ph type="body" sz="quarter" idx="10"/>
          </p:nvPr>
        </p:nvSpPr>
        <p:spPr/>
        <p:txBody>
          <a:bodyPr/>
          <a:lstStyle/>
          <a:p>
            <a:r>
              <a:rPr lang="en-US" dirty="0"/>
              <a:t>Sentiment analysis: A support vector machine can be used to classify the sentiment of a text as positive, negative, or neutral.</a:t>
            </a:r>
          </a:p>
          <a:p>
            <a:r>
              <a:rPr lang="en-US" dirty="0"/>
              <a:t>Spam detection: Can be used to classify emails as spam or not spam.</a:t>
            </a:r>
          </a:p>
          <a:p>
            <a:r>
              <a:rPr lang="en-US" dirty="0"/>
              <a:t>Image recognition: Can be used to identify objects in images.</a:t>
            </a:r>
          </a:p>
          <a:p>
            <a:r>
              <a:rPr lang="en-US" dirty="0"/>
              <a:t>Fraud detection: Can be used to identify fraudulent activity.</a:t>
            </a:r>
          </a:p>
          <a:p>
            <a:r>
              <a:rPr lang="en-US" dirty="0"/>
              <a:t>Stock prediction: Can be used to predict future stock prices.</a:t>
            </a:r>
          </a:p>
          <a:p>
            <a:r>
              <a:rPr lang="en-US" dirty="0"/>
              <a:t>Weather prediction: Can be used to predict future weather patterns.</a:t>
            </a:r>
          </a:p>
          <a:p>
            <a:r>
              <a:rPr lang="en-US" dirty="0"/>
              <a:t>Disease diagnosis: Can be used to diagnose diseases like cancer.</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942D6D"/>
                </a:solidFill>
              </a:rPr>
              <a:t>Overview: </a:t>
            </a:r>
            <a:r>
              <a:rPr lang="en-GB" dirty="0" err="1">
                <a:solidFill>
                  <a:srgbClr val="942D6D"/>
                </a:solidFill>
              </a:rPr>
              <a:t>svm</a:t>
            </a:r>
            <a:endParaRPr lang="en-US" dirty="0">
              <a:solidFill>
                <a:srgbClr val="942D6D"/>
              </a:solidFill>
            </a:endParaRPr>
          </a:p>
        </p:txBody>
      </p:sp>
      <p:sp>
        <p:nvSpPr>
          <p:cNvPr id="3" name="Text Placeholder 2"/>
          <p:cNvSpPr>
            <a:spLocks noGrp="1"/>
          </p:cNvSpPr>
          <p:nvPr>
            <p:ph type="body" sz="quarter" idx="10"/>
          </p:nvPr>
        </p:nvSpPr>
        <p:spPr>
          <a:xfrm>
            <a:off x="877821" y="1521449"/>
            <a:ext cx="10712388" cy="3815101"/>
          </a:xfrm>
        </p:spPr>
        <p:txBody>
          <a:bodyPr/>
          <a:lstStyle/>
          <a:p>
            <a:r>
              <a:rPr lang="en-GB" dirty="0">
                <a:solidFill>
                  <a:schemeClr val="tx1">
                    <a:lumMod val="75000"/>
                    <a:lumOff val="25000"/>
                  </a:schemeClr>
                </a:solidFill>
              </a:rPr>
              <a:t>Works well for classifying higher-dimensional data (lots of features) </a:t>
            </a:r>
          </a:p>
          <a:p>
            <a:r>
              <a:rPr lang="en-GB" dirty="0">
                <a:solidFill>
                  <a:schemeClr val="tx1">
                    <a:lumMod val="75000"/>
                    <a:lumOff val="25000"/>
                  </a:schemeClr>
                </a:solidFill>
              </a:rPr>
              <a:t>Finds higher-dimensional </a:t>
            </a:r>
            <a:r>
              <a:rPr lang="en-GB" i="1" dirty="0">
                <a:solidFill>
                  <a:schemeClr val="tx1">
                    <a:lumMod val="75000"/>
                    <a:lumOff val="25000"/>
                  </a:schemeClr>
                </a:solidFill>
              </a:rPr>
              <a:t>support vectors </a:t>
            </a:r>
            <a:r>
              <a:rPr lang="en-GB" dirty="0">
                <a:solidFill>
                  <a:schemeClr val="tx1">
                    <a:lumMod val="75000"/>
                    <a:lumOff val="25000"/>
                  </a:schemeClr>
                </a:solidFill>
              </a:rPr>
              <a:t>across which to divide the data (mathematically, these support vectors define hyperplanes. Needless to say I’m not going to get into the mathematical details!) </a:t>
            </a:r>
          </a:p>
          <a:p>
            <a:r>
              <a:rPr lang="en-GB" dirty="0">
                <a:solidFill>
                  <a:schemeClr val="tx1">
                    <a:lumMod val="75000"/>
                    <a:lumOff val="25000"/>
                  </a:schemeClr>
                </a:solidFill>
              </a:rPr>
              <a:t>Uses something called the </a:t>
            </a:r>
            <a:r>
              <a:rPr lang="en-GB" i="1" dirty="0">
                <a:solidFill>
                  <a:schemeClr val="tx1">
                    <a:lumMod val="75000"/>
                    <a:lumOff val="25000"/>
                  </a:schemeClr>
                </a:solidFill>
              </a:rPr>
              <a:t>kernel trick </a:t>
            </a:r>
            <a:r>
              <a:rPr lang="en-GB" dirty="0">
                <a:solidFill>
                  <a:schemeClr val="tx1">
                    <a:lumMod val="75000"/>
                    <a:lumOff val="25000"/>
                  </a:schemeClr>
                </a:solidFill>
              </a:rPr>
              <a:t>to represent data in higher- dimensional spaces to find hyperplanes that might not be apparent in lower dimensions </a:t>
            </a:r>
          </a:p>
          <a:p>
            <a:endParaRPr lang="en-US" dirty="0">
              <a:solidFill>
                <a:schemeClr val="bg2">
                  <a:lumMod val="25000"/>
                </a:schemeClr>
              </a:solidFill>
            </a:endParaRPr>
          </a:p>
        </p:txBody>
      </p:sp>
      <p:cxnSp>
        <p:nvCxnSpPr>
          <p:cNvPr id="4" name="Straight Connector 3"/>
          <p:cNvCxnSpPr/>
          <p:nvPr/>
        </p:nvCxnSpPr>
        <p:spPr>
          <a:xfrm flipH="1">
            <a:off x="601791" y="1070621"/>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72083" y="423248"/>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70171" y="1089589"/>
            <a:ext cx="1912" cy="4298063"/>
          </a:xfrm>
          <a:prstGeom prst="line">
            <a:avLst/>
          </a:prstGeom>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SVM</a:t>
            </a:r>
            <a:endParaRPr lang="en-US" dirty="0"/>
          </a:p>
        </p:txBody>
      </p:sp>
      <p:sp>
        <p:nvSpPr>
          <p:cNvPr id="3" name="Text Placeholder 2"/>
          <p:cNvSpPr>
            <a:spLocks noGrp="1"/>
          </p:cNvSpPr>
          <p:nvPr>
            <p:ph type="body" sz="quarter" idx="10"/>
          </p:nvPr>
        </p:nvSpPr>
        <p:spPr>
          <a:xfrm>
            <a:off x="601791" y="1247770"/>
            <a:ext cx="7900183" cy="4705557"/>
          </a:xfrm>
        </p:spPr>
        <p:txBody>
          <a:bodyPr/>
          <a:lstStyle/>
          <a:p>
            <a:pPr algn="just"/>
            <a:r>
              <a:rPr lang="en-US" sz="22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Support Vector Machines (SVMs) are a powerful and versatile machine learning algorithm that has gained widespread popularity among data scientists in recent years. </a:t>
            </a:r>
          </a:p>
          <a:p>
            <a:pPr algn="just"/>
            <a:r>
              <a:rPr lang="en-US" sz="22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SVMs are widely used for classification, regression, and outlier detection (</a:t>
            </a:r>
            <a:r>
              <a:rPr lang="en-US" sz="2200" b="1" u="sng" kern="0" dirty="0">
                <a:solidFill>
                  <a:srgbClr val="62A6E4"/>
                </a:solidFill>
                <a:effectLst/>
                <a:latin typeface="Georgia" panose="02040502050405020303" pitchFamily="18" charset="0"/>
                <a:ea typeface="Times New Roman" panose="02020603050405020304" pitchFamily="18" charset="0"/>
                <a:cs typeface="Times New Roman" panose="02020603050405020304" pitchFamily="18" charset="0"/>
              </a:rPr>
              <a:t>one-class SVM</a:t>
            </a:r>
            <a:r>
              <a:rPr lang="en-US" sz="22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and have proven to be highly effective in solving complex problems in various fields, including </a:t>
            </a:r>
            <a:r>
              <a:rPr lang="en-US" sz="22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computer vision</a:t>
            </a:r>
            <a:r>
              <a:rPr lang="en-US" sz="22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(image classification, object detection, etc.), </a:t>
            </a:r>
            <a:r>
              <a:rPr lang="en-US" sz="22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natural language processing</a:t>
            </a:r>
            <a:r>
              <a:rPr lang="en-US" sz="22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(sentiment analysis, text classification, etc.), and </a:t>
            </a:r>
            <a:r>
              <a:rPr lang="en-US" sz="22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bioinformatics</a:t>
            </a:r>
            <a:r>
              <a:rPr lang="en-US" sz="22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(gene expression analysis, protein classification, disease diagnosis, etc.).</a:t>
            </a:r>
          </a:p>
          <a:p>
            <a:pPr algn="just"/>
            <a:r>
              <a:rPr lang="en-US" sz="22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At times, SVM for classification is termed as </a:t>
            </a:r>
            <a:r>
              <a:rPr lang="en-US" sz="22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support vector classification (SVC)</a:t>
            </a:r>
            <a:r>
              <a:rPr lang="en-US" sz="22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and SVM for regression is termed as </a:t>
            </a:r>
            <a:r>
              <a:rPr lang="en-US" sz="22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support vector regression (SVR)</a:t>
            </a:r>
            <a:r>
              <a:rPr lang="en-US" sz="22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a:t>
            </a:r>
            <a:endParaRPr lang="en-US" sz="2200" dirty="0"/>
          </a:p>
          <a:p>
            <a:endParaRPr lang="en-US" sz="22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2200" dirty="0"/>
          </a:p>
        </p:txBody>
      </p:sp>
      <p:pic>
        <p:nvPicPr>
          <p:cNvPr id="4" name="Picture 3" descr="SVM algorithm visual representation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803531" y="2127852"/>
            <a:ext cx="3143885" cy="244665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942D6D"/>
                </a:solidFill>
              </a:rPr>
              <a:t>Support vector classification (SVC)</a:t>
            </a:r>
            <a:endParaRPr lang="en-US" dirty="0">
              <a:solidFill>
                <a:srgbClr val="942D6D"/>
              </a:solidFill>
            </a:endParaRPr>
          </a:p>
        </p:txBody>
      </p:sp>
      <p:sp>
        <p:nvSpPr>
          <p:cNvPr id="3" name="Text Placeholder 2"/>
          <p:cNvSpPr>
            <a:spLocks noGrp="1"/>
          </p:cNvSpPr>
          <p:nvPr>
            <p:ph type="body" sz="quarter" idx="10"/>
          </p:nvPr>
        </p:nvSpPr>
        <p:spPr>
          <a:xfrm>
            <a:off x="877821" y="1521449"/>
            <a:ext cx="5909465" cy="3815101"/>
          </a:xfrm>
        </p:spPr>
        <p:txBody>
          <a:bodyPr/>
          <a:lstStyle/>
          <a:p>
            <a:r>
              <a:rPr lang="en-GB" dirty="0">
                <a:solidFill>
                  <a:schemeClr val="tx1">
                    <a:lumMod val="75000"/>
                    <a:lumOff val="25000"/>
                  </a:schemeClr>
                </a:solidFill>
              </a:rPr>
              <a:t>In practice you’ll use something called SVC to classify data using SVM. </a:t>
            </a:r>
          </a:p>
          <a:p>
            <a:endParaRPr lang="en-GB" dirty="0">
              <a:solidFill>
                <a:schemeClr val="tx1">
                  <a:lumMod val="75000"/>
                  <a:lumOff val="25000"/>
                </a:schemeClr>
              </a:solidFill>
            </a:endParaRPr>
          </a:p>
          <a:p>
            <a:r>
              <a:rPr lang="en-GB" dirty="0">
                <a:solidFill>
                  <a:schemeClr val="tx1">
                    <a:lumMod val="75000"/>
                    <a:lumOff val="25000"/>
                  </a:schemeClr>
                </a:solidFill>
              </a:rPr>
              <a:t>You can use different “kernels” with SVC. Some will work better than others for a given data set. </a:t>
            </a:r>
          </a:p>
          <a:p>
            <a:endParaRPr lang="en-US" dirty="0">
              <a:solidFill>
                <a:schemeClr val="bg2">
                  <a:lumMod val="25000"/>
                </a:schemeClr>
              </a:solidFill>
            </a:endParaRPr>
          </a:p>
        </p:txBody>
      </p:sp>
      <p:cxnSp>
        <p:nvCxnSpPr>
          <p:cNvPr id="4" name="Straight Connector 3"/>
          <p:cNvCxnSpPr/>
          <p:nvPr/>
        </p:nvCxnSpPr>
        <p:spPr>
          <a:xfrm flipH="1">
            <a:off x="601791" y="1070621"/>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72083" y="423248"/>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70171" y="1089589"/>
            <a:ext cx="1912" cy="4298063"/>
          </a:xfrm>
          <a:prstGeom prst="line">
            <a:avLst/>
          </a:prstGeom>
        </p:spPr>
        <p:style>
          <a:lnRef idx="2">
            <a:schemeClr val="dk1"/>
          </a:lnRef>
          <a:fillRef idx="0">
            <a:schemeClr val="dk1"/>
          </a:fillRef>
          <a:effectRef idx="1">
            <a:schemeClr val="dk1"/>
          </a:effectRef>
          <a:fontRef idx="minor">
            <a:schemeClr val="tx1"/>
          </a:fontRef>
        </p:style>
      </p:cxnSp>
      <p:pic>
        <p:nvPicPr>
          <p:cNvPr id="7" name="Picture 1" descr="page129image178726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99582" y="1592275"/>
            <a:ext cx="4843036" cy="36290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How </a:t>
            </a:r>
            <a:r>
              <a:rPr lang="en-GB" dirty="0" err="1"/>
              <a:t>svm</a:t>
            </a:r>
            <a:r>
              <a:rPr lang="en-GB" dirty="0"/>
              <a:t> works</a:t>
            </a:r>
            <a:endParaRPr lang="en-US" dirty="0"/>
          </a:p>
        </p:txBody>
      </p:sp>
      <p:sp>
        <p:nvSpPr>
          <p:cNvPr id="3" name="Text Placeholder 2"/>
          <p:cNvSpPr>
            <a:spLocks noGrp="1"/>
          </p:cNvSpPr>
          <p:nvPr>
            <p:ph type="body" sz="quarter" idx="10"/>
          </p:nvPr>
        </p:nvSpPr>
        <p:spPr>
          <a:xfrm>
            <a:off x="363251" y="1381049"/>
            <a:ext cx="3983461" cy="2219402"/>
          </a:xfrm>
        </p:spPr>
        <p:txBody>
          <a:bodyPr/>
          <a:lstStyle/>
          <a:p>
            <a:r>
              <a:rPr lang="en-US" sz="2000" kern="0" dirty="0">
                <a:effectLst/>
                <a:latin typeface="Calibri" panose="020F0502020204030204" pitchFamily="34" charset="0"/>
                <a:ea typeface="Times New Roman" panose="02020603050405020304" pitchFamily="18" charset="0"/>
                <a:cs typeface="Calibri" panose="020F0502020204030204" pitchFamily="34" charset="0"/>
              </a:rPr>
              <a:t>Support vector machines (SVM); this classifier works well in complicated feature domains, albeit requiring clear separation between classes. </a:t>
            </a:r>
          </a:p>
          <a:p>
            <a:r>
              <a:rPr lang="en-US" sz="2000" kern="0" dirty="0">
                <a:effectLst/>
                <a:latin typeface="Calibri" panose="020F0502020204030204" pitchFamily="34" charset="0"/>
                <a:ea typeface="Times New Roman" panose="02020603050405020304" pitchFamily="18" charset="0"/>
                <a:cs typeface="Calibri" panose="020F0502020204030204" pitchFamily="34" charset="0"/>
              </a:rPr>
              <a:t>SVMs don't work well with noisy data </a:t>
            </a:r>
            <a:endParaRPr lang="en-US" sz="2000" dirty="0">
              <a:latin typeface="Calibri" panose="020F0502020204030204" pitchFamily="34" charset="0"/>
              <a:cs typeface="Calibri" panose="020F0502020204030204" pitchFamily="34" charset="0"/>
            </a:endParaRPr>
          </a:p>
        </p:txBody>
      </p:sp>
      <p:pic>
        <p:nvPicPr>
          <p:cNvPr id="4" name="Picture 3" descr="Chart, bubble chart&#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03577" y="1674495"/>
            <a:ext cx="2178050" cy="1633220"/>
          </a:xfrm>
          <a:prstGeom prst="rect">
            <a:avLst/>
          </a:prstGeom>
          <a:noFill/>
          <a:ln>
            <a:noFill/>
          </a:ln>
        </p:spPr>
      </p:pic>
      <p:sp>
        <p:nvSpPr>
          <p:cNvPr id="6" name="TextBox 5"/>
          <p:cNvSpPr txBox="1"/>
          <p:nvPr/>
        </p:nvSpPr>
        <p:spPr>
          <a:xfrm>
            <a:off x="3933281" y="3437570"/>
            <a:ext cx="2728686" cy="645160"/>
          </a:xfrm>
          <a:prstGeom prst="rect">
            <a:avLst/>
          </a:prstGeom>
          <a:noFill/>
        </p:spPr>
        <p:txBody>
          <a:bodyPr wrap="square">
            <a:spAutoFit/>
          </a:bodyPr>
          <a:lstStyle/>
          <a:p>
            <a:r>
              <a:rPr lang="en-US" sz="1800" kern="0" dirty="0">
                <a:solidFill>
                  <a:srgbClr val="15171A"/>
                </a:solidFill>
                <a:effectLst/>
                <a:latin typeface="Calibri" panose="020F0502020204030204" pitchFamily="34" charset="0"/>
                <a:ea typeface="Times New Roman" panose="02020603050405020304" pitchFamily="18" charset="0"/>
                <a:cs typeface="Calibri" panose="020F0502020204030204" pitchFamily="34" charset="0"/>
                <a:hlinkClick r:id="rId4"/>
              </a:rPr>
              <a:t>http://i.imgur.com/zDBbD.png</a:t>
            </a:r>
            <a:endParaRPr lang="en-US" dirty="0">
              <a:latin typeface="Calibri" panose="020F0502020204030204" pitchFamily="34" charset="0"/>
              <a:cs typeface="Calibri" panose="020F0502020204030204" pitchFamily="34" charset="0"/>
            </a:endParaRPr>
          </a:p>
        </p:txBody>
      </p:sp>
      <p:pic>
        <p:nvPicPr>
          <p:cNvPr id="7" name="Picture 6" descr="Chart, bubble chart&#10;&#10;Description automatically generated"/>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043816" y="1556706"/>
            <a:ext cx="2216150" cy="1661795"/>
          </a:xfrm>
          <a:prstGeom prst="rect">
            <a:avLst/>
          </a:prstGeom>
          <a:noFill/>
          <a:ln>
            <a:noFill/>
          </a:ln>
        </p:spPr>
      </p:pic>
      <p:sp>
        <p:nvSpPr>
          <p:cNvPr id="9" name="TextBox 8"/>
          <p:cNvSpPr txBox="1"/>
          <p:nvPr/>
        </p:nvSpPr>
        <p:spPr>
          <a:xfrm>
            <a:off x="6795802" y="3465196"/>
            <a:ext cx="3469971" cy="368300"/>
          </a:xfrm>
          <a:prstGeom prst="rect">
            <a:avLst/>
          </a:prstGeom>
          <a:noFill/>
        </p:spPr>
        <p:txBody>
          <a:bodyPr wrap="square">
            <a:spAutoFit/>
          </a:bodyPr>
          <a:lstStyle/>
          <a:p>
            <a:r>
              <a:rPr lang="en-US" sz="1800" kern="0" dirty="0">
                <a:solidFill>
                  <a:srgbClr val="15171A"/>
                </a:solidFill>
                <a:effectLst/>
                <a:latin typeface="Calibri" panose="020F0502020204030204" pitchFamily="34" charset="0"/>
                <a:ea typeface="Times New Roman" panose="02020603050405020304" pitchFamily="18" charset="0"/>
                <a:cs typeface="Calibri" panose="020F0502020204030204" pitchFamily="34" charset="0"/>
                <a:hlinkClick r:id="rId6"/>
              </a:rPr>
              <a:t>http://i.imgur.com/aLZlG.png</a:t>
            </a:r>
            <a:endParaRPr lang="en-US" dirty="0">
              <a:latin typeface="Calibri" panose="020F0502020204030204" pitchFamily="34" charset="0"/>
              <a:cs typeface="Calibri" panose="020F0502020204030204" pitchFamily="34" charset="0"/>
            </a:endParaRPr>
          </a:p>
        </p:txBody>
      </p:sp>
      <p:pic>
        <p:nvPicPr>
          <p:cNvPr id="10" name="Picture 9" descr="Background pattern&#10;&#10;Description automatically generated"/>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859394" y="4332821"/>
            <a:ext cx="1641475" cy="1231106"/>
          </a:xfrm>
          <a:prstGeom prst="rect">
            <a:avLst/>
          </a:prstGeom>
          <a:noFill/>
          <a:ln>
            <a:noFill/>
          </a:ln>
        </p:spPr>
      </p:pic>
      <p:sp>
        <p:nvSpPr>
          <p:cNvPr id="12" name="TextBox 11"/>
          <p:cNvSpPr txBox="1"/>
          <p:nvPr/>
        </p:nvSpPr>
        <p:spPr>
          <a:xfrm>
            <a:off x="3403781" y="5675402"/>
            <a:ext cx="6096000" cy="368300"/>
          </a:xfrm>
          <a:prstGeom prst="rect">
            <a:avLst/>
          </a:prstGeom>
          <a:noFill/>
        </p:spPr>
        <p:txBody>
          <a:bodyPr wrap="square">
            <a:spAutoFit/>
          </a:bodyPr>
          <a:lstStyle/>
          <a:p>
            <a:r>
              <a:rPr lang="en-US" sz="1800" kern="0" dirty="0">
                <a:solidFill>
                  <a:srgbClr val="15171A"/>
                </a:solidFill>
                <a:effectLst/>
                <a:latin typeface="Calibri" panose="020F0502020204030204" pitchFamily="34" charset="0"/>
                <a:ea typeface="Times New Roman" panose="02020603050405020304" pitchFamily="18" charset="0"/>
                <a:cs typeface="Calibri" panose="020F0502020204030204" pitchFamily="34" charset="0"/>
                <a:hlinkClick r:id="rId8"/>
              </a:rPr>
              <a:t>http://i.imgur.com/kxWgh.png</a:t>
            </a:r>
            <a:endParaRPr lang="en-US" dirty="0">
              <a:latin typeface="Calibri" panose="020F0502020204030204" pitchFamily="34" charset="0"/>
              <a:cs typeface="Calibri" panose="020F0502020204030204" pitchFamily="34" charset="0"/>
            </a:endParaRPr>
          </a:p>
        </p:txBody>
      </p:sp>
      <p:sp>
        <p:nvSpPr>
          <p:cNvPr id="14" name="TextBox 13"/>
          <p:cNvSpPr txBox="1"/>
          <p:nvPr/>
        </p:nvSpPr>
        <p:spPr>
          <a:xfrm>
            <a:off x="204285" y="4532790"/>
            <a:ext cx="3188272" cy="1198880"/>
          </a:xfrm>
          <a:prstGeom prst="rect">
            <a:avLst/>
          </a:prstGeom>
          <a:noFill/>
        </p:spPr>
        <p:txBody>
          <a:bodyPr wrap="square">
            <a:spAutoFit/>
          </a:bodyPr>
          <a:lstStyle/>
          <a:p>
            <a:r>
              <a:rPr lang="en-US" sz="1800" i="1" kern="0" dirty="0">
                <a:effectLst/>
                <a:latin typeface="Calibri" panose="020F0502020204030204" pitchFamily="34" charset="0"/>
                <a:ea typeface="Times New Roman" panose="02020603050405020304" pitchFamily="18" charset="0"/>
                <a:cs typeface="Calibri" panose="020F0502020204030204" pitchFamily="34" charset="0"/>
              </a:rPr>
              <a:t>SVMs try to put the stick in the best possible place by having as big a gap on either side of the stick as possible.</a:t>
            </a:r>
            <a:endParaRPr lang="en-US" dirty="0">
              <a:latin typeface="Calibri" panose="020F0502020204030204" pitchFamily="34" charset="0"/>
              <a:cs typeface="Calibri" panose="020F0502020204030204" pitchFamily="34" charset="0"/>
            </a:endParaRPr>
          </a:p>
        </p:txBody>
      </p:sp>
      <p:pic>
        <p:nvPicPr>
          <p:cNvPr id="15" name="Picture 14" descr="Bubble chart&#10;&#10;Description automatically generated with medium confidence"/>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871443" y="4084380"/>
            <a:ext cx="1787465" cy="1340710"/>
          </a:xfrm>
          <a:prstGeom prst="rect">
            <a:avLst/>
          </a:prstGeom>
          <a:noFill/>
          <a:ln>
            <a:noFill/>
          </a:ln>
        </p:spPr>
      </p:pic>
      <p:sp>
        <p:nvSpPr>
          <p:cNvPr id="17" name="TextBox 16"/>
          <p:cNvSpPr txBox="1"/>
          <p:nvPr/>
        </p:nvSpPr>
        <p:spPr>
          <a:xfrm>
            <a:off x="6661472" y="5675568"/>
            <a:ext cx="6096000" cy="368300"/>
          </a:xfrm>
          <a:prstGeom prst="rect">
            <a:avLst/>
          </a:prstGeom>
          <a:noFill/>
        </p:spPr>
        <p:txBody>
          <a:bodyPr wrap="square">
            <a:spAutoFit/>
          </a:bodyPr>
          <a:lstStyle/>
          <a:p>
            <a:r>
              <a:rPr lang="en-US" sz="1800" i="1" kern="0" dirty="0">
                <a:solidFill>
                  <a:srgbClr val="15171A"/>
                </a:solidFill>
                <a:effectLst/>
                <a:latin typeface="Calibri" panose="020F0502020204030204" pitchFamily="34" charset="0"/>
                <a:ea typeface="Times New Roman" panose="02020603050405020304" pitchFamily="18" charset="0"/>
                <a:cs typeface="Calibri" panose="020F0502020204030204" pitchFamily="34" charset="0"/>
                <a:hlinkClick r:id="rId10"/>
              </a:rPr>
              <a:t>http://i.imgur.com/ePy4V.png</a:t>
            </a:r>
            <a:endParaRPr lang="en-US" dirty="0">
              <a:latin typeface="Calibri" panose="020F0502020204030204" pitchFamily="34" charset="0"/>
              <a:cs typeface="Calibri" panose="020F0502020204030204" pitchFamily="34" charset="0"/>
            </a:endParaRPr>
          </a:p>
        </p:txBody>
      </p:sp>
      <p:pic>
        <p:nvPicPr>
          <p:cNvPr id="18" name="Picture 17" descr="Background pattern&#10;&#10;Description automatically generated"/>
          <p:cNvPicPr>
            <a:picLocks noChangeAspect="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0111422" y="3218625"/>
            <a:ext cx="1642653" cy="1231990"/>
          </a:xfrm>
          <a:prstGeom prst="rect">
            <a:avLst/>
          </a:prstGeom>
          <a:noFill/>
          <a:ln>
            <a:noFill/>
          </a:ln>
        </p:spPr>
      </p:pic>
      <p:sp>
        <p:nvSpPr>
          <p:cNvPr id="20" name="TextBox 19"/>
          <p:cNvSpPr txBox="1"/>
          <p:nvPr/>
        </p:nvSpPr>
        <p:spPr>
          <a:xfrm>
            <a:off x="9099825" y="4598402"/>
            <a:ext cx="3092223" cy="387350"/>
          </a:xfrm>
          <a:prstGeom prst="rect">
            <a:avLst/>
          </a:prstGeom>
          <a:noFill/>
        </p:spPr>
        <p:txBody>
          <a:bodyPr wrap="square">
            <a:spAutoFit/>
          </a:bodyPr>
          <a:lstStyle/>
          <a:p>
            <a:pPr marL="0" marR="0" fontAlgn="base">
              <a:lnSpc>
                <a:spcPct val="107000"/>
              </a:lnSpc>
              <a:spcBef>
                <a:spcPts val="0"/>
              </a:spcBef>
              <a:spcAft>
                <a:spcPts val="800"/>
              </a:spcAft>
            </a:pPr>
            <a:r>
              <a:rPr lang="en-US" sz="1800" i="1" kern="0" dirty="0">
                <a:solidFill>
                  <a:srgbClr val="15171A"/>
                </a:solidFill>
                <a:effectLst/>
                <a:latin typeface="Calibri" panose="020F0502020204030204" pitchFamily="34" charset="0"/>
                <a:ea typeface="Times New Roman" panose="02020603050405020304" pitchFamily="18" charset="0"/>
                <a:cs typeface="Calibri" panose="020F0502020204030204" pitchFamily="34" charset="0"/>
                <a:hlinkClick r:id="rId12"/>
              </a:rPr>
              <a:t>http://i.imgur.com/BWYYZ.png</a:t>
            </a:r>
            <a:endParaRPr lang="en-US" sz="1200" kern="100" dirty="0">
              <a:effectLst/>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Another challenge</a:t>
            </a:r>
            <a:endParaRPr lang="en-US" dirty="0"/>
          </a:p>
        </p:txBody>
      </p:sp>
      <p:pic>
        <p:nvPicPr>
          <p:cNvPr id="4" name="Picture 3" descr="Chart, bubble chart&#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7976" y="1621756"/>
            <a:ext cx="2268855" cy="1701800"/>
          </a:xfrm>
          <a:prstGeom prst="rect">
            <a:avLst/>
          </a:prstGeom>
          <a:noFill/>
          <a:ln>
            <a:noFill/>
          </a:ln>
        </p:spPr>
      </p:pic>
      <p:pic>
        <p:nvPicPr>
          <p:cNvPr id="5" name="Picture 4" descr="Diagram&#10;&#10;Description automatically generated"/>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003588" y="1127081"/>
            <a:ext cx="3878850" cy="2170683"/>
          </a:xfrm>
          <a:prstGeom prst="rect">
            <a:avLst/>
          </a:prstGeom>
          <a:noFill/>
          <a:ln>
            <a:noFill/>
          </a:ln>
        </p:spPr>
      </p:pic>
      <p:sp>
        <p:nvSpPr>
          <p:cNvPr id="7" name="TextBox 6"/>
          <p:cNvSpPr txBox="1"/>
          <p:nvPr/>
        </p:nvSpPr>
        <p:spPr>
          <a:xfrm>
            <a:off x="4485194" y="3323708"/>
            <a:ext cx="6096000" cy="368300"/>
          </a:xfrm>
          <a:prstGeom prst="rect">
            <a:avLst/>
          </a:prstGeom>
          <a:noFill/>
        </p:spPr>
        <p:txBody>
          <a:bodyPr wrap="square">
            <a:spAutoFit/>
          </a:bodyPr>
          <a:lstStyle/>
          <a:p>
            <a:r>
              <a:rPr lang="en-US" sz="1800" i="1" kern="0" dirty="0">
                <a:solidFill>
                  <a:srgbClr val="15171A"/>
                </a:solidFill>
                <a:effectLst/>
                <a:latin typeface="Calibri" panose="020F0502020204030204" pitchFamily="34" charset="0"/>
                <a:ea typeface="Times New Roman" panose="02020603050405020304" pitchFamily="18" charset="0"/>
                <a:cs typeface="Calibri" panose="020F0502020204030204" pitchFamily="34" charset="0"/>
              </a:rPr>
              <a:t>h</a:t>
            </a:r>
            <a:r>
              <a:rPr lang="en-US" sz="1800" i="1" kern="0" dirty="0">
                <a:solidFill>
                  <a:srgbClr val="15171A"/>
                </a:solidFill>
                <a:effectLst/>
                <a:latin typeface="Calibri" panose="020F0502020204030204" pitchFamily="34" charset="0"/>
                <a:ea typeface="Times New Roman" panose="02020603050405020304" pitchFamily="18" charset="0"/>
                <a:cs typeface="Calibri" panose="020F0502020204030204" pitchFamily="34" charset="0"/>
                <a:hlinkClick r:id="rId4"/>
              </a:rPr>
              <a:t>ttp://i.imgur.com/WuxyO.png</a:t>
            </a:r>
            <a:endParaRPr lang="en-US" dirty="0">
              <a:latin typeface="Calibri" panose="020F0502020204030204" pitchFamily="34" charset="0"/>
              <a:cs typeface="Calibri" panose="020F0502020204030204" pitchFamily="34" charset="0"/>
            </a:endParaRPr>
          </a:p>
        </p:txBody>
      </p:sp>
      <p:pic>
        <p:nvPicPr>
          <p:cNvPr id="8" name="Picture 7" descr="Icon&#10;&#10;Description automatically generated with medium confidence"/>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271659" y="3776172"/>
            <a:ext cx="1730964" cy="1298428"/>
          </a:xfrm>
          <a:prstGeom prst="rect">
            <a:avLst/>
          </a:prstGeom>
          <a:noFill/>
          <a:ln>
            <a:noFill/>
          </a:ln>
        </p:spPr>
      </p:pic>
      <p:sp>
        <p:nvSpPr>
          <p:cNvPr id="10" name="TextBox 9"/>
          <p:cNvSpPr txBox="1"/>
          <p:nvPr/>
        </p:nvSpPr>
        <p:spPr>
          <a:xfrm>
            <a:off x="985169" y="5425250"/>
            <a:ext cx="3234953" cy="368300"/>
          </a:xfrm>
          <a:prstGeom prst="rect">
            <a:avLst/>
          </a:prstGeom>
          <a:noFill/>
        </p:spPr>
        <p:txBody>
          <a:bodyPr wrap="square">
            <a:spAutoFit/>
          </a:bodyPr>
          <a:lstStyle/>
          <a:p>
            <a:r>
              <a:rPr lang="en-US" sz="1800" i="1" kern="0" dirty="0">
                <a:solidFill>
                  <a:srgbClr val="15171A"/>
                </a:solidFill>
                <a:effectLst/>
                <a:latin typeface="Calibri" panose="020F0502020204030204" pitchFamily="34" charset="0"/>
                <a:ea typeface="Times New Roman" panose="02020603050405020304" pitchFamily="18" charset="0"/>
                <a:cs typeface="Calibri" panose="020F0502020204030204" pitchFamily="34" charset="0"/>
                <a:hlinkClick r:id="rId6"/>
              </a:rPr>
              <a:t>http://i.imgur.com/gWdPX.png</a:t>
            </a:r>
            <a:endParaRPr lang="en-US" dirty="0">
              <a:latin typeface="Calibri" panose="020F0502020204030204" pitchFamily="34" charset="0"/>
              <a:cs typeface="Calibri" panose="020F0502020204030204" pitchFamily="34" charset="0"/>
            </a:endParaRPr>
          </a:p>
        </p:txBody>
      </p:sp>
      <p:sp>
        <p:nvSpPr>
          <p:cNvPr id="12" name="TextBox 11"/>
          <p:cNvSpPr txBox="1"/>
          <p:nvPr/>
        </p:nvSpPr>
        <p:spPr>
          <a:xfrm>
            <a:off x="4685758" y="4265857"/>
            <a:ext cx="6966434" cy="979805"/>
          </a:xfrm>
          <a:prstGeom prst="rect">
            <a:avLst/>
          </a:prstGeom>
          <a:noFill/>
        </p:spPr>
        <p:txBody>
          <a:bodyPr wrap="square">
            <a:spAutoFit/>
          </a:bodyPr>
          <a:lstStyle/>
          <a:p>
            <a:pPr marL="0" marR="0" fontAlgn="base">
              <a:lnSpc>
                <a:spcPct val="107000"/>
              </a:lnSpc>
              <a:spcBef>
                <a:spcPts val="0"/>
              </a:spcBef>
              <a:spcAft>
                <a:spcPts val="800"/>
              </a:spcAft>
            </a:pPr>
            <a:r>
              <a:rPr lang="en-US" sz="1800" i="1" kern="0" dirty="0">
                <a:effectLst/>
                <a:latin typeface="Calibri" panose="020F0502020204030204" pitchFamily="34" charset="0"/>
                <a:ea typeface="Times New Roman" panose="02020603050405020304" pitchFamily="18" charset="0"/>
                <a:cs typeface="Calibri" panose="020F0502020204030204" pitchFamily="34" charset="0"/>
              </a:rPr>
              <a:t>Balls </a:t>
            </a:r>
            <a:r>
              <a:rPr lang="en-US" sz="1800" b="1" i="1" kern="0" dirty="0">
                <a:solidFill>
                  <a:srgbClr val="090A0B"/>
                </a:solidFill>
                <a:effectLst/>
                <a:latin typeface="Calibri" panose="020F0502020204030204" pitchFamily="34" charset="0"/>
                <a:ea typeface="Times New Roman" panose="02020603050405020304" pitchFamily="18" charset="0"/>
                <a:cs typeface="Calibri" panose="020F0502020204030204" pitchFamily="34" charset="0"/>
              </a:rPr>
              <a:t>data</a:t>
            </a:r>
            <a:r>
              <a:rPr lang="en-US" sz="1800" i="1" kern="0" dirty="0">
                <a:effectLst/>
                <a:latin typeface="Calibri" panose="020F0502020204030204" pitchFamily="34" charset="0"/>
                <a:ea typeface="Times New Roman" panose="02020603050405020304" pitchFamily="18" charset="0"/>
                <a:cs typeface="Calibri" panose="020F0502020204030204" pitchFamily="34" charset="0"/>
              </a:rPr>
              <a:t>, the stick is a </a:t>
            </a:r>
            <a:r>
              <a:rPr lang="en-US" sz="1800" b="1" i="1" kern="0" dirty="0">
                <a:solidFill>
                  <a:srgbClr val="090A0B"/>
                </a:solidFill>
                <a:effectLst/>
                <a:latin typeface="Calibri" panose="020F0502020204030204" pitchFamily="34" charset="0"/>
                <a:ea typeface="Times New Roman" panose="02020603050405020304" pitchFamily="18" charset="0"/>
                <a:cs typeface="Calibri" panose="020F0502020204030204" pitchFamily="34" charset="0"/>
              </a:rPr>
              <a:t>classifier</a:t>
            </a:r>
            <a:r>
              <a:rPr lang="en-US" sz="1800" i="1" kern="0" dirty="0">
                <a:effectLst/>
                <a:latin typeface="Calibri" panose="020F0502020204030204" pitchFamily="34" charset="0"/>
                <a:ea typeface="Times New Roman" panose="02020603050405020304" pitchFamily="18" charset="0"/>
                <a:cs typeface="Calibri" panose="020F0502020204030204" pitchFamily="34" charset="0"/>
              </a:rPr>
              <a:t>, the biggest gap trick is called </a:t>
            </a:r>
            <a:r>
              <a:rPr lang="en-US" sz="1800" b="1" i="1" kern="0" dirty="0">
                <a:solidFill>
                  <a:srgbClr val="090A0B"/>
                </a:solidFill>
                <a:effectLst/>
                <a:latin typeface="Calibri" panose="020F0502020204030204" pitchFamily="34" charset="0"/>
                <a:ea typeface="Times New Roman" panose="02020603050405020304" pitchFamily="18" charset="0"/>
                <a:cs typeface="Calibri" panose="020F0502020204030204" pitchFamily="34" charset="0"/>
              </a:rPr>
              <a:t>optimization</a:t>
            </a:r>
            <a:r>
              <a:rPr lang="en-US" sz="1800" i="1" kern="0" dirty="0">
                <a:effectLst/>
                <a:latin typeface="Calibri" panose="020F0502020204030204" pitchFamily="34" charset="0"/>
                <a:ea typeface="Times New Roman" panose="02020603050405020304" pitchFamily="18" charset="0"/>
                <a:cs typeface="Calibri" panose="020F0502020204030204" pitchFamily="34" charset="0"/>
              </a:rPr>
              <a:t>, flipping the table is called </a:t>
            </a:r>
            <a:r>
              <a:rPr lang="en-US" sz="1800" b="1" i="1" kern="0" dirty="0">
                <a:solidFill>
                  <a:srgbClr val="090A0B"/>
                </a:solidFill>
                <a:effectLst/>
                <a:latin typeface="Calibri" panose="020F0502020204030204" pitchFamily="34" charset="0"/>
                <a:ea typeface="Times New Roman" panose="02020603050405020304" pitchFamily="18" charset="0"/>
                <a:cs typeface="Calibri" panose="020F0502020204030204" pitchFamily="34" charset="0"/>
              </a:rPr>
              <a:t>kernelling</a:t>
            </a:r>
            <a:r>
              <a:rPr lang="en-US" sz="1800" i="1" kern="0" dirty="0">
                <a:effectLst/>
                <a:latin typeface="Calibri" panose="020F0502020204030204" pitchFamily="34" charset="0"/>
                <a:ea typeface="Times New Roman" panose="02020603050405020304" pitchFamily="18" charset="0"/>
                <a:cs typeface="Calibri" panose="020F0502020204030204" pitchFamily="34" charset="0"/>
              </a:rPr>
              <a:t> and the piece of paper a </a:t>
            </a:r>
            <a:r>
              <a:rPr lang="en-US" sz="1800" b="1" i="1" kern="0" dirty="0">
                <a:solidFill>
                  <a:srgbClr val="090A0B"/>
                </a:solidFill>
                <a:effectLst/>
                <a:latin typeface="Calibri" panose="020F0502020204030204" pitchFamily="34" charset="0"/>
                <a:ea typeface="Times New Roman" panose="02020603050405020304" pitchFamily="18" charset="0"/>
                <a:cs typeface="Calibri" panose="020F0502020204030204" pitchFamily="34" charset="0"/>
              </a:rPr>
              <a:t>hyperplane</a:t>
            </a:r>
            <a:r>
              <a:rPr lang="en-US" sz="1800" i="1" kern="0" dirty="0">
                <a:effectLst/>
                <a:latin typeface="Calibri" panose="020F0502020204030204" pitchFamily="34" charset="0"/>
                <a:ea typeface="Times New Roman" panose="02020603050405020304" pitchFamily="18" charset="0"/>
                <a:cs typeface="Calibri" panose="020F0502020204030204" pitchFamily="34" charset="0"/>
              </a:rPr>
              <a:t>.</a:t>
            </a:r>
            <a:endParaRPr lang="en-US" sz="1200" kern="100"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6" name="TextBox 5"/>
          <p:cNvSpPr txBox="1"/>
          <p:nvPr/>
        </p:nvSpPr>
        <p:spPr>
          <a:xfrm>
            <a:off x="3371273" y="1126877"/>
            <a:ext cx="6096000" cy="368300"/>
          </a:xfrm>
          <a:prstGeom prst="rect">
            <a:avLst/>
          </a:prstGeom>
          <a:noFill/>
        </p:spPr>
        <p:txBody>
          <a:bodyPr wrap="square">
            <a:spAutoFit/>
          </a:bodyPr>
          <a:lstStyle/>
          <a:p>
            <a:pPr algn="l"/>
            <a:r>
              <a:rPr lang="en-US" b="0" i="0" dirty="0">
                <a:solidFill>
                  <a:srgbClr val="1B2437"/>
                </a:solidFill>
                <a:effectLst/>
                <a:latin typeface="Inter"/>
              </a:rPr>
              <a:t> </a:t>
            </a:r>
            <a:r>
              <a:rPr lang="en-US" b="1" i="0" dirty="0">
                <a:solidFill>
                  <a:srgbClr val="1B2437"/>
                </a:solidFill>
                <a:effectLst/>
                <a:latin typeface="Calibri" panose="020F0502020204030204" pitchFamily="34" charset="0"/>
                <a:cs typeface="Calibri" panose="020F0502020204030204" pitchFamily="34" charset="0"/>
              </a:rPr>
              <a:t>Non-linear SVM</a:t>
            </a:r>
            <a:r>
              <a:rPr lang="en-US" b="0" i="0" dirty="0">
                <a:solidFill>
                  <a:srgbClr val="1B2437"/>
                </a:solidFill>
                <a:effectLst/>
                <a:latin typeface="Calibri" panose="020F0502020204030204" pitchFamily="34" charset="0"/>
                <a:cs typeface="Calibri" panose="020F0502020204030204" pitchFamily="34" charset="0"/>
              </a:rPr>
              <a: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Visual view</a:t>
            </a:r>
            <a:endParaRPr lang="en-US" dirty="0"/>
          </a:p>
        </p:txBody>
      </p:sp>
      <p:sp>
        <p:nvSpPr>
          <p:cNvPr id="3" name="Text Placeholder 2"/>
          <p:cNvSpPr>
            <a:spLocks noGrp="1"/>
          </p:cNvSpPr>
          <p:nvPr>
            <p:ph type="body" sz="quarter" idx="10"/>
          </p:nvPr>
        </p:nvSpPr>
        <p:spPr>
          <a:xfrm>
            <a:off x="601791" y="1811976"/>
            <a:ext cx="5989509" cy="4033348"/>
          </a:xfrm>
        </p:spPr>
        <p:txBody>
          <a:bodyPr/>
          <a:lstStyle/>
          <a:p>
            <a:pPr marL="0" fontAlgn="base">
              <a:lnSpc>
                <a:spcPct val="107000"/>
              </a:lnSpc>
              <a:spcBef>
                <a:spcPts val="0"/>
              </a:spcBef>
              <a:spcAft>
                <a:spcPts val="375"/>
              </a:spcAft>
            </a:pPr>
            <a:r>
              <a:rPr lang="en-US" sz="2200" b="1" u="sng" kern="1800" dirty="0" err="1">
                <a:solidFill>
                  <a:srgbClr val="000000"/>
                </a:solidFill>
                <a:effectLst/>
                <a:latin typeface="Georgia" panose="02040502050405020303" pitchFamily="18" charset="0"/>
                <a:ea typeface="Times New Roman" panose="02020603050405020304" pitchFamily="18" charset="0"/>
                <a:cs typeface="Times New Roman" panose="02020603050405020304" pitchFamily="18" charset="0"/>
                <a:hlinkClick r:id="rId3"/>
              </a:rPr>
              <a:t>Kumar.A</a:t>
            </a:r>
            <a:r>
              <a:rPr lang="en-US" sz="2200" b="1" u="sng" kern="1800" dirty="0">
                <a:solidFill>
                  <a:srgbClr val="000000"/>
                </a:solidFill>
                <a:effectLst/>
                <a:latin typeface="Georgia" panose="02040502050405020303" pitchFamily="18" charset="0"/>
                <a:ea typeface="Times New Roman" panose="02020603050405020304" pitchFamily="18" charset="0"/>
                <a:cs typeface="Times New Roman" panose="02020603050405020304" pitchFamily="18" charset="0"/>
                <a:hlinkClick r:id="rId3"/>
              </a:rPr>
              <a:t>.</a:t>
            </a:r>
            <a:r>
              <a:rPr lang="en-US" sz="2200" b="1" kern="1800" dirty="0">
                <a:solidFill>
                  <a:srgbClr val="020F06"/>
                </a:solidFill>
                <a:effectLst/>
                <a:latin typeface="Georgia" panose="02040502050405020303" pitchFamily="18" charset="0"/>
                <a:ea typeface="Times New Roman" panose="02020603050405020304" pitchFamily="18" charset="0"/>
                <a:cs typeface="Times New Roman" panose="02020603050405020304" pitchFamily="18" charset="0"/>
              </a:rPr>
              <a:t> 2023.Support Vector Machine (SVM) Python </a:t>
            </a:r>
            <a:r>
              <a:rPr lang="en-US" sz="2200" b="1" kern="1800" dirty="0" err="1">
                <a:solidFill>
                  <a:srgbClr val="020F06"/>
                </a:solidFill>
                <a:effectLst/>
                <a:latin typeface="Georgia" panose="02040502050405020303" pitchFamily="18" charset="0"/>
                <a:ea typeface="Times New Roman" panose="02020603050405020304" pitchFamily="18" charset="0"/>
                <a:cs typeface="Times New Roman" panose="02020603050405020304" pitchFamily="18" charset="0"/>
              </a:rPr>
              <a:t>Example</a:t>
            </a:r>
            <a:r>
              <a:rPr lang="en-US" sz="2200" b="1" u="sng" kern="1800" dirty="0" err="1">
                <a:solidFill>
                  <a:srgbClr val="000000"/>
                </a:solidFill>
                <a:effectLst/>
                <a:latin typeface="Georgia" panose="02040502050405020303" pitchFamily="18" charset="0"/>
                <a:ea typeface="Times New Roman" panose="02020603050405020304" pitchFamily="18" charset="0"/>
                <a:cs typeface="Times New Roman" panose="02020603050405020304" pitchFamily="18" charset="0"/>
                <a:hlinkClick r:id="rId3"/>
              </a:rPr>
              <a:t>.https</a:t>
            </a:r>
            <a:r>
              <a:rPr lang="en-US" sz="2200" b="1" u="sng" kern="1800" dirty="0">
                <a:solidFill>
                  <a:srgbClr val="000000"/>
                </a:solidFill>
                <a:effectLst/>
                <a:latin typeface="Georgia" panose="02040502050405020303" pitchFamily="18" charset="0"/>
                <a:ea typeface="Times New Roman" panose="02020603050405020304" pitchFamily="18" charset="0"/>
                <a:cs typeface="Times New Roman" panose="02020603050405020304" pitchFamily="18" charset="0"/>
                <a:hlinkClick r:id="rId3"/>
              </a:rPr>
              <a:t>://vitalflux.com/classification-model-svm-classifier-python-example/</a:t>
            </a:r>
            <a:endParaRPr lang="en-US" sz="2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fontAlgn="base">
              <a:lnSpc>
                <a:spcPct val="107000"/>
              </a:lnSpc>
              <a:spcBef>
                <a:spcPts val="0"/>
              </a:spcBef>
              <a:spcAft>
                <a:spcPts val="750"/>
              </a:spcAft>
            </a:pPr>
            <a:endParaRPr lang="en-US" sz="22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a:p>
            <a:endParaRPr lang="en-US" dirty="0"/>
          </a:p>
        </p:txBody>
      </p:sp>
      <p:pic>
        <p:nvPicPr>
          <p:cNvPr id="4" name="Picture 3" descr="support vector machine - SVM"/>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531396" y="1623557"/>
            <a:ext cx="5660604" cy="3496103"/>
          </a:xfrm>
          <a:prstGeom prst="rect">
            <a:avLst/>
          </a:prstGeom>
          <a:noFill/>
          <a:ln>
            <a:noFill/>
          </a:ln>
        </p:spPr>
      </p:pic>
      <p:sp>
        <p:nvSpPr>
          <p:cNvPr id="6" name="TextBox 5"/>
          <p:cNvSpPr txBox="1"/>
          <p:nvPr/>
        </p:nvSpPr>
        <p:spPr>
          <a:xfrm>
            <a:off x="8276236" y="5328425"/>
            <a:ext cx="2230827" cy="369332"/>
          </a:xfrm>
          <a:prstGeom prst="rect">
            <a:avLst/>
          </a:prstGeom>
          <a:noFill/>
        </p:spPr>
        <p:txBody>
          <a:bodyPr wrap="square">
            <a:spAutoFit/>
          </a:bodyPr>
          <a:lstStyle/>
          <a:p>
            <a:r>
              <a:rPr lang="en-US" sz="1800" b="1" u="sng" kern="1800" dirty="0" err="1">
                <a:solidFill>
                  <a:srgbClr val="000000"/>
                </a:solidFill>
                <a:effectLst/>
                <a:latin typeface="Georgia" panose="02040502050405020303" pitchFamily="18" charset="0"/>
                <a:ea typeface="Times New Roman" panose="02020603050405020304" pitchFamily="18" charset="0"/>
                <a:cs typeface="Times New Roman" panose="02020603050405020304" pitchFamily="18" charset="0"/>
                <a:hlinkClick r:id="rId3"/>
              </a:rPr>
              <a:t>Kumar.A</a:t>
            </a:r>
            <a:r>
              <a:rPr lang="en-US" sz="1800" b="1" u="sng" kern="1800" dirty="0">
                <a:solidFill>
                  <a:srgbClr val="000000"/>
                </a:solidFill>
                <a:effectLst/>
                <a:latin typeface="Georgia" panose="02040502050405020303" pitchFamily="18" charset="0"/>
                <a:ea typeface="Times New Roman" panose="02020603050405020304" pitchFamily="18" charset="0"/>
                <a:cs typeface="Times New Roman" panose="02020603050405020304" pitchFamily="18" charset="0"/>
                <a:hlinkClick r:id="rId3"/>
              </a:rPr>
              <a:t>.</a:t>
            </a:r>
            <a:r>
              <a:rPr lang="en-US" sz="1800" b="1" kern="1800" dirty="0">
                <a:solidFill>
                  <a:srgbClr val="020F06"/>
                </a:solidFill>
                <a:effectLst/>
                <a:latin typeface="Georgia" panose="02040502050405020303" pitchFamily="18" charset="0"/>
                <a:ea typeface="Times New Roman" panose="02020603050405020304" pitchFamily="18" charset="0"/>
                <a:cs typeface="Times New Roman" panose="02020603050405020304" pitchFamily="18" charset="0"/>
              </a:rPr>
              <a:t> 2023</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a:t>
            </a:r>
            <a:endParaRPr lang="en-US" dirty="0"/>
          </a:p>
        </p:txBody>
      </p:sp>
      <p:sp>
        <p:nvSpPr>
          <p:cNvPr id="3" name="Text Placeholder 2"/>
          <p:cNvSpPr>
            <a:spLocks noGrp="1"/>
          </p:cNvSpPr>
          <p:nvPr>
            <p:ph type="body" sz="quarter" idx="10"/>
          </p:nvPr>
        </p:nvSpPr>
        <p:spPr>
          <a:xfrm>
            <a:off x="-189" y="1360170"/>
            <a:ext cx="10994852" cy="4748044"/>
          </a:xfrm>
        </p:spPr>
        <p:txBody>
          <a:bodyPr/>
          <a:lstStyle/>
          <a:p>
            <a: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Given labeled training data (for supervised learning), the SVM classification algorithm outputs an optimal hyperplane which categorizes new data examples into different classes. </a:t>
            </a:r>
          </a:p>
          <a:p>
            <a: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This hyperplane is then used to make predictions on new data points. Let’s take an example to understand Support Vector Machine concepts in a better manner. Say you have been asked to predict whether a customer will churn or not and you have all their past transaction records as well as demographic information. </a:t>
            </a:r>
          </a:p>
          <a:p>
            <a: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After exploring the data, you’ve found that there’s not much difference between the average transaction amount of customers who churned and those who didn’t. You also found that most of the customers who churned live relatively far from the city center. </a:t>
            </a:r>
          </a:p>
          <a:p>
            <a: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Based on these findings, you decided to use Support Vector Machine classification algorithm to build your prediction model. Model trained using SVM classification algorithm will be able to classify the customers as high risk (churned) or otherwise. </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There are some key concepts that are important to understand when working with SVMs. First, the data points that are closest to the hyperplane are called </a:t>
            </a:r>
            <a:r>
              <a:rPr lang="en-US" sz="16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support vectors</a:t>
            </a:r>
            <a: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Second, when the data is not linearly separable, SVMs use a technique called kernel trick, which maps the original features into a higher-dimensional feature space where the data is linearly separable.</a:t>
            </a:r>
          </a:p>
          <a:p>
            <a: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In this new feature space, we can draw a hyperplane that separates the two classes.  </a:t>
            </a:r>
            <a:r>
              <a:rPr lang="en-US" sz="16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three hyperparameters that results in different SVM models (hypothesis): C,  gamma and kernel function</a:t>
            </a:r>
            <a: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a:t>
            </a:r>
            <a:endParaRPr lang="en-US" sz="1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a:t>
            </a:r>
            <a:endParaRPr lang="en-US" dirty="0"/>
          </a:p>
        </p:txBody>
      </p:sp>
      <p:sp>
        <p:nvSpPr>
          <p:cNvPr id="3" name="Text Placeholder 2"/>
          <p:cNvSpPr>
            <a:spLocks noGrp="1"/>
          </p:cNvSpPr>
          <p:nvPr>
            <p:ph type="body" sz="quarter" idx="10"/>
          </p:nvPr>
        </p:nvSpPr>
        <p:spPr>
          <a:xfrm>
            <a:off x="601790" y="1811976"/>
            <a:ext cx="8548113" cy="4033348"/>
          </a:xfrm>
        </p:spPr>
        <p:txBody>
          <a:bodyPr/>
          <a:lstStyle/>
          <a:p>
            <a:r>
              <a:rPr lang="en-US" sz="18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As an example, let’s say we have a dataset with two features (x1 and x2) and two classes (0 and 1). We can visualize this data by plotting it in a two-dimensional space, with each point colored according to its class label. Look at the diagram below.</a:t>
            </a:r>
          </a:p>
          <a:p>
            <a:r>
              <a:rPr lang="en-US" sz="18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In the above case, we can see that there are different straight lines that can perfectly separate the two classes. </a:t>
            </a:r>
          </a:p>
          <a:p>
            <a:r>
              <a:rPr lang="en-US" sz="18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However, we can still find a decision boundary that does a pretty good job. </a:t>
            </a:r>
          </a:p>
          <a:p>
            <a:r>
              <a:rPr lang="en-US" sz="18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This boundary is generated by Support Vector Machine algorithm.  Using SVM algorithm, as mentioned above, training the model represents finding the hyperplane (dashed line in the picture below) which separates the data belonging to two different classes by </a:t>
            </a:r>
            <a:r>
              <a:rPr lang="en-US" sz="18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maximum or largest margin</a:t>
            </a:r>
            <a:r>
              <a:rPr lang="en-US" sz="18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And, the points closest to this hyperplane are called </a:t>
            </a:r>
            <a:r>
              <a:rPr lang="en-US" sz="18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support vectors</a:t>
            </a:r>
            <a:r>
              <a:rPr lang="en-US" sz="18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pic>
        <p:nvPicPr>
          <p:cNvPr id="4" name="Picture 3" descr="support vector machine which hyperplane"/>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149904" y="2338705"/>
            <a:ext cx="2440305" cy="218059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visual</a:t>
            </a:r>
          </a:p>
        </p:txBody>
      </p:sp>
      <p:sp>
        <p:nvSpPr>
          <p:cNvPr id="3" name="Text Placeholder 2"/>
          <p:cNvSpPr>
            <a:spLocks noGrp="1"/>
          </p:cNvSpPr>
          <p:nvPr>
            <p:ph type="body" sz="quarter" idx="10"/>
          </p:nvPr>
        </p:nvSpPr>
        <p:spPr>
          <a:xfrm>
            <a:off x="601791" y="1811976"/>
            <a:ext cx="6294309" cy="4033348"/>
          </a:xfrm>
        </p:spPr>
        <p:txBody>
          <a:bodyPr/>
          <a:lstStyle/>
          <a:p>
            <a:r>
              <a:rPr lang="en-US" sz="18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The blue square points represent one class and the red dots represent another class. The black line is the decision boundary learned by an SVM. </a:t>
            </a:r>
          </a:p>
          <a:p>
            <a:r>
              <a:rPr lang="en-US" sz="18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As you can see, the SVM has placed the boundary in such a way as to maximize the margin between the two classes. Here is a visual representation of how SVM classification works. </a:t>
            </a:r>
          </a:p>
          <a:p>
            <a:r>
              <a:rPr lang="en-US" sz="18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The most important hyperparameters are the </a:t>
            </a:r>
            <a:r>
              <a:rPr lang="en-US" sz="18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kernel function</a:t>
            </a:r>
            <a:r>
              <a:rPr lang="en-US" sz="18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and the r</a:t>
            </a:r>
            <a:r>
              <a:rPr lang="en-US" sz="18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egularization parameters such as C and gamma</a:t>
            </a:r>
            <a:r>
              <a:rPr lang="en-US" sz="18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a:t>
            </a:r>
          </a:p>
          <a:p>
            <a:r>
              <a:rPr lang="en-US" sz="18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The kernel function determines how data points are transformed into higher dimensional space</a:t>
            </a:r>
          </a:p>
          <a:p>
            <a:r>
              <a:rPr lang="en-US" sz="1800" kern="0" dirty="0">
                <a:solidFill>
                  <a:srgbClr val="575757"/>
                </a:solidFill>
                <a:latin typeface="Georgia" panose="02040502050405020303" pitchFamily="18" charset="0"/>
                <a:ea typeface="Times New Roman" panose="02020603050405020304" pitchFamily="18" charset="0"/>
                <a:cs typeface="Times New Roman" panose="02020603050405020304" pitchFamily="18" charset="0"/>
              </a:rPr>
              <a:t>R</a:t>
            </a:r>
            <a:r>
              <a:rPr lang="en-US" sz="18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egularization parameter controls the trade-off between model complexity and overfitting. </a:t>
            </a:r>
            <a:endParaRPr lang="en-US" dirty="0"/>
          </a:p>
        </p:txBody>
      </p:sp>
      <p:pic>
        <p:nvPicPr>
          <p:cNvPr id="4" name="Picture 3" descr="support vector machine -  SVM">
            <a:hlinkClick r:id="rId2"/>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089168" y="2172045"/>
            <a:ext cx="4889872" cy="270475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a:t>
            </a:r>
            <a:endParaRPr lang="en-US" dirty="0"/>
          </a:p>
        </p:txBody>
      </p:sp>
      <p:sp>
        <p:nvSpPr>
          <p:cNvPr id="3" name="Text Placeholder 2"/>
          <p:cNvSpPr>
            <a:spLocks noGrp="1"/>
          </p:cNvSpPr>
          <p:nvPr>
            <p:ph type="body" sz="quarter" idx="10"/>
          </p:nvPr>
        </p:nvSpPr>
        <p:spPr>
          <a:xfrm>
            <a:off x="601791" y="1058091"/>
            <a:ext cx="10994852" cy="4787233"/>
          </a:xfrm>
        </p:spPr>
        <p:txBody>
          <a:bodyPr/>
          <a:lstStyle/>
          <a:p>
            <a:pPr algn="l"/>
            <a:r>
              <a:rPr lang="en-US" sz="2200" b="0" i="0" dirty="0">
                <a:solidFill>
                  <a:schemeClr val="tx1"/>
                </a:solidFill>
                <a:effectLst/>
                <a:latin typeface="Consolas" panose="020B0609020204030204" pitchFamily="49" charset="0"/>
              </a:rPr>
              <a:t>from </a:t>
            </a:r>
            <a:r>
              <a:rPr lang="en-US" sz="2200" b="0" i="0" dirty="0" err="1">
                <a:solidFill>
                  <a:schemeClr val="tx1"/>
                </a:solidFill>
                <a:effectLst/>
                <a:latin typeface="Consolas" panose="020B0609020204030204" pitchFamily="49" charset="0"/>
              </a:rPr>
              <a:t>sklearn.svm</a:t>
            </a:r>
            <a:r>
              <a:rPr lang="en-US" sz="2200" b="0" i="0" dirty="0">
                <a:solidFill>
                  <a:schemeClr val="tx1"/>
                </a:solidFill>
                <a:effectLst/>
                <a:latin typeface="Consolas" panose="020B0609020204030204" pitchFamily="49" charset="0"/>
              </a:rPr>
              <a:t> import SVC</a:t>
            </a:r>
          </a:p>
          <a:p>
            <a:pPr algn="l"/>
            <a:r>
              <a:rPr lang="en-US" sz="2200" b="0" i="0" dirty="0">
                <a:solidFill>
                  <a:schemeClr val="tx1"/>
                </a:solidFill>
                <a:effectLst/>
                <a:latin typeface="Consolas" panose="020B0609020204030204" pitchFamily="49" charset="0"/>
              </a:rPr>
              <a:t>from </a:t>
            </a:r>
            <a:r>
              <a:rPr lang="en-US" sz="2200" b="0" i="0" dirty="0" err="1">
                <a:solidFill>
                  <a:schemeClr val="tx1"/>
                </a:solidFill>
                <a:effectLst/>
                <a:latin typeface="Consolas" panose="020B0609020204030204" pitchFamily="49" charset="0"/>
              </a:rPr>
              <a:t>sklearn.metrics</a:t>
            </a:r>
            <a:r>
              <a:rPr lang="en-US" sz="2200" b="0" i="0" dirty="0">
                <a:solidFill>
                  <a:schemeClr val="tx1"/>
                </a:solidFill>
                <a:effectLst/>
                <a:latin typeface="Consolas" panose="020B0609020204030204" pitchFamily="49" charset="0"/>
              </a:rPr>
              <a:t> import </a:t>
            </a:r>
            <a:r>
              <a:rPr lang="en-US" sz="2200" b="0" i="0" dirty="0" err="1">
                <a:solidFill>
                  <a:schemeClr val="tx1"/>
                </a:solidFill>
                <a:effectLst/>
                <a:latin typeface="Consolas" panose="020B0609020204030204" pitchFamily="49" charset="0"/>
              </a:rPr>
              <a:t>accuracy_score</a:t>
            </a:r>
            <a:endParaRPr lang="en-US" sz="2200" b="0" i="0" dirty="0">
              <a:solidFill>
                <a:schemeClr val="tx1"/>
              </a:solidFill>
              <a:effectLst/>
              <a:latin typeface="Consolas" panose="020B0609020204030204" pitchFamily="49" charset="0"/>
            </a:endParaRPr>
          </a:p>
          <a:p>
            <a:pPr algn="l"/>
            <a:r>
              <a:rPr lang="en-US" sz="2200" b="0" i="0" dirty="0">
                <a:solidFill>
                  <a:schemeClr val="tx1"/>
                </a:solidFill>
                <a:effectLst/>
                <a:latin typeface="Consolas" panose="020B0609020204030204" pitchFamily="49" charset="0"/>
              </a:rPr>
              <a:t>#</a:t>
            </a:r>
            <a:r>
              <a:rPr lang="en-US" sz="2200" b="0" i="1" dirty="0">
                <a:solidFill>
                  <a:schemeClr val="tx1"/>
                </a:solidFill>
                <a:effectLst/>
                <a:latin typeface="Consolas" panose="020B0609020204030204" pitchFamily="49" charset="0"/>
              </a:rPr>
              <a:t> Input the kernel from the user</a:t>
            </a:r>
            <a:endParaRPr lang="en-US" sz="2200" b="0" i="0" dirty="0">
              <a:solidFill>
                <a:schemeClr val="tx1"/>
              </a:solidFill>
              <a:effectLst/>
              <a:latin typeface="Consolas" panose="020B0609020204030204" pitchFamily="49" charset="0"/>
            </a:endParaRPr>
          </a:p>
          <a:p>
            <a:pPr algn="l"/>
            <a:br>
              <a:rPr lang="en-US" sz="2200" b="0" i="0" dirty="0">
                <a:solidFill>
                  <a:schemeClr val="tx1"/>
                </a:solidFill>
                <a:effectLst/>
                <a:latin typeface="Consolas" panose="020B0609020204030204" pitchFamily="49" charset="0"/>
              </a:rPr>
            </a:br>
            <a:r>
              <a:rPr lang="en-US" sz="2200" b="0" i="0" dirty="0">
                <a:solidFill>
                  <a:schemeClr val="tx1"/>
                </a:solidFill>
                <a:effectLst/>
                <a:latin typeface="Consolas" panose="020B0609020204030204" pitchFamily="49" charset="0"/>
              </a:rPr>
              <a:t>kernels = ['linear', '</a:t>
            </a:r>
            <a:r>
              <a:rPr lang="en-US" sz="2200" b="0" i="0" dirty="0" err="1">
                <a:solidFill>
                  <a:schemeClr val="tx1"/>
                </a:solidFill>
                <a:effectLst/>
                <a:latin typeface="Consolas" panose="020B0609020204030204" pitchFamily="49" charset="0"/>
              </a:rPr>
              <a:t>rbf</a:t>
            </a:r>
            <a:r>
              <a:rPr lang="en-US" sz="2200" b="0" i="0" dirty="0">
                <a:solidFill>
                  <a:schemeClr val="tx1"/>
                </a:solidFill>
                <a:effectLst/>
                <a:latin typeface="Consolas" panose="020B0609020204030204" pitchFamily="49" charset="0"/>
              </a:rPr>
              <a:t>', 'poly']</a:t>
            </a:r>
          </a:p>
          <a:p>
            <a:pPr algn="l"/>
            <a:br>
              <a:rPr lang="en-US" sz="2200" b="0" i="0" dirty="0">
                <a:solidFill>
                  <a:schemeClr val="tx1"/>
                </a:solidFill>
                <a:effectLst/>
                <a:latin typeface="Consolas" panose="020B0609020204030204" pitchFamily="49" charset="0"/>
              </a:rPr>
            </a:br>
            <a:r>
              <a:rPr lang="en-US" sz="2200" b="0" i="0" dirty="0">
                <a:solidFill>
                  <a:schemeClr val="tx1"/>
                </a:solidFill>
                <a:effectLst/>
                <a:latin typeface="Consolas" panose="020B0609020204030204" pitchFamily="49" charset="0"/>
              </a:rPr>
              <a:t>for kernel in kernels:</a:t>
            </a:r>
          </a:p>
          <a:p>
            <a:pPr algn="l"/>
            <a:r>
              <a:rPr lang="en-US" sz="2200" b="0" i="0" dirty="0">
                <a:solidFill>
                  <a:schemeClr val="tx1"/>
                </a:solidFill>
                <a:effectLst/>
                <a:latin typeface="Consolas" panose="020B0609020204030204" pitchFamily="49" charset="0"/>
              </a:rPr>
              <a:t>    model = SVC(kernel=kernel)</a:t>
            </a:r>
          </a:p>
          <a:p>
            <a:pPr algn="l"/>
            <a:r>
              <a:rPr lang="en-US" sz="2200" b="0" i="0" dirty="0">
                <a:solidFill>
                  <a:schemeClr val="tx1"/>
                </a:solidFill>
                <a:effectLst/>
                <a:latin typeface="Consolas" panose="020B0609020204030204" pitchFamily="49" charset="0"/>
              </a:rPr>
              <a:t>    </a:t>
            </a:r>
            <a:r>
              <a:rPr lang="en-US" sz="2200" b="0" i="0" dirty="0" err="1">
                <a:solidFill>
                  <a:schemeClr val="tx1"/>
                </a:solidFill>
                <a:effectLst/>
                <a:latin typeface="Consolas" panose="020B0609020204030204" pitchFamily="49" charset="0"/>
              </a:rPr>
              <a:t>model.fit</a:t>
            </a:r>
            <a:r>
              <a:rPr lang="en-US" sz="2200" b="0" i="0" dirty="0">
                <a:solidFill>
                  <a:schemeClr val="tx1"/>
                </a:solidFill>
                <a:effectLst/>
                <a:latin typeface="Consolas" panose="020B0609020204030204" pitchFamily="49" charset="0"/>
              </a:rPr>
              <a:t>(</a:t>
            </a:r>
            <a:r>
              <a:rPr lang="en-US" sz="2200" b="0" i="0" dirty="0" err="1">
                <a:solidFill>
                  <a:schemeClr val="tx1"/>
                </a:solidFill>
                <a:effectLst/>
                <a:latin typeface="Consolas" panose="020B0609020204030204" pitchFamily="49" charset="0"/>
              </a:rPr>
              <a:t>X_train</a:t>
            </a:r>
            <a:r>
              <a:rPr lang="en-US" sz="2200" b="0" i="0" dirty="0">
                <a:solidFill>
                  <a:schemeClr val="tx1"/>
                </a:solidFill>
                <a:effectLst/>
                <a:latin typeface="Consolas" panose="020B0609020204030204" pitchFamily="49" charset="0"/>
              </a:rPr>
              <a:t>, </a:t>
            </a:r>
            <a:r>
              <a:rPr lang="en-US" sz="2200" b="0" i="0" dirty="0" err="1">
                <a:solidFill>
                  <a:schemeClr val="tx1"/>
                </a:solidFill>
                <a:effectLst/>
                <a:latin typeface="Consolas" panose="020B0609020204030204" pitchFamily="49" charset="0"/>
              </a:rPr>
              <a:t>y_train</a:t>
            </a:r>
            <a:r>
              <a:rPr lang="en-US" sz="2200" b="0" i="0" dirty="0">
                <a:solidFill>
                  <a:schemeClr val="tx1"/>
                </a:solidFill>
                <a:effectLst/>
                <a:latin typeface="Consolas" panose="020B0609020204030204" pitchFamily="49" charset="0"/>
              </a:rPr>
              <a:t>)</a:t>
            </a:r>
          </a:p>
          <a:p>
            <a:pPr algn="l"/>
            <a:r>
              <a:rPr lang="en-US" sz="2200" b="0" i="0" dirty="0">
                <a:solidFill>
                  <a:schemeClr val="tx1"/>
                </a:solidFill>
                <a:effectLst/>
                <a:latin typeface="Consolas" panose="020B0609020204030204" pitchFamily="49" charset="0"/>
              </a:rPr>
              <a:t>    pred = </a:t>
            </a:r>
            <a:r>
              <a:rPr lang="en-US" sz="2200" b="0" i="0" dirty="0" err="1">
                <a:solidFill>
                  <a:schemeClr val="tx1"/>
                </a:solidFill>
                <a:effectLst/>
                <a:latin typeface="Consolas" panose="020B0609020204030204" pitchFamily="49" charset="0"/>
              </a:rPr>
              <a:t>model.predict</a:t>
            </a:r>
            <a:r>
              <a:rPr lang="en-US" sz="2200" b="0" i="0" dirty="0">
                <a:solidFill>
                  <a:schemeClr val="tx1"/>
                </a:solidFill>
                <a:effectLst/>
                <a:latin typeface="Consolas" panose="020B0609020204030204" pitchFamily="49" charset="0"/>
              </a:rPr>
              <a:t>(</a:t>
            </a:r>
            <a:r>
              <a:rPr lang="en-US" sz="2200" b="0" i="0" dirty="0" err="1">
                <a:solidFill>
                  <a:schemeClr val="tx1"/>
                </a:solidFill>
                <a:effectLst/>
                <a:latin typeface="Consolas" panose="020B0609020204030204" pitchFamily="49" charset="0"/>
              </a:rPr>
              <a:t>X_test</a:t>
            </a:r>
            <a:r>
              <a:rPr lang="en-US" sz="2200" b="0" i="0" dirty="0">
                <a:solidFill>
                  <a:schemeClr val="tx1"/>
                </a:solidFill>
                <a:effectLst/>
                <a:latin typeface="Consolas" panose="020B0609020204030204" pitchFamily="49" charset="0"/>
              </a:rPr>
              <a:t>)</a:t>
            </a:r>
          </a:p>
          <a:p>
            <a:pPr algn="l"/>
            <a:r>
              <a:rPr lang="en-US" sz="2200" b="0" i="0" dirty="0">
                <a:solidFill>
                  <a:schemeClr val="tx1"/>
                </a:solidFill>
                <a:effectLst/>
                <a:latin typeface="Consolas" panose="020B0609020204030204" pitchFamily="49" charset="0"/>
              </a:rPr>
              <a:t>    print("Accuracy using {}:".format(kernel), </a:t>
            </a:r>
            <a:r>
              <a:rPr lang="en-US" sz="2200" b="0" i="0" dirty="0" err="1">
                <a:solidFill>
                  <a:schemeClr val="tx1"/>
                </a:solidFill>
                <a:effectLst/>
                <a:latin typeface="Consolas" panose="020B0609020204030204" pitchFamily="49" charset="0"/>
              </a:rPr>
              <a:t>accuracy_score</a:t>
            </a:r>
            <a:r>
              <a:rPr lang="en-US" sz="2200" b="0" i="0" dirty="0">
                <a:solidFill>
                  <a:schemeClr val="tx1"/>
                </a:solidFill>
                <a:effectLst/>
                <a:latin typeface="Consolas" panose="020B0609020204030204" pitchFamily="49" charset="0"/>
              </a:rPr>
              <a:t>(pred, </a:t>
            </a:r>
            <a:r>
              <a:rPr lang="en-US" sz="2200" b="0" i="0" dirty="0" err="1">
                <a:solidFill>
                  <a:schemeClr val="tx1"/>
                </a:solidFill>
                <a:effectLst/>
                <a:latin typeface="Consolas" panose="020B0609020204030204" pitchFamily="49" charset="0"/>
              </a:rPr>
              <a:t>y_test</a:t>
            </a:r>
            <a:r>
              <a:rPr lang="en-US" sz="2200" b="0" i="0" dirty="0">
                <a:solidFill>
                  <a:schemeClr val="tx1"/>
                </a:solidFill>
                <a:effectLst/>
                <a:latin typeface="Consolas" panose="020B0609020204030204" pitchFamily="49" charset="0"/>
              </a:rPr>
              <a:t>))</a:t>
            </a:r>
          </a:p>
          <a:p>
            <a:br>
              <a:rPr lang="en-US" sz="2200" dirty="0">
                <a:solidFill>
                  <a:schemeClr val="tx1"/>
                </a:solidFill>
              </a:rPr>
            </a:br>
            <a:endParaRPr lang="en-US" sz="2200" dirty="0">
              <a:solidFill>
                <a:schemeClr val="tx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305245" y="1559881"/>
            <a:ext cx="11300399" cy="4184090"/>
          </a:xfrm>
        </p:spPr>
        <p:txBody>
          <a:bodyPr/>
          <a:lstStyle/>
          <a:p>
            <a:pPr algn="l"/>
            <a:r>
              <a:rPr lang="en-US" b="0" i="0" dirty="0">
                <a:solidFill>
                  <a:srgbClr val="1B2437"/>
                </a:solidFill>
                <a:effectLst/>
                <a:latin typeface="Calibri" panose="020F0502020204030204" pitchFamily="34" charset="0"/>
                <a:cs typeface="Calibri" panose="020F0502020204030204" pitchFamily="34" charset="0"/>
              </a:rPr>
              <a:t>Some important hyperparameters that should be considered before training the model:</a:t>
            </a:r>
          </a:p>
          <a:p>
            <a:pPr algn="l">
              <a:buFont typeface="Arial" panose="020B0604020202020204" pitchFamily="34" charset="0"/>
              <a:buChar char="•"/>
            </a:pPr>
            <a:r>
              <a:rPr lang="en-US" b="1" i="0" dirty="0">
                <a:solidFill>
                  <a:srgbClr val="445578"/>
                </a:solidFill>
                <a:effectLst/>
                <a:latin typeface="Calibri" panose="020F0502020204030204" pitchFamily="34" charset="0"/>
                <a:cs typeface="Calibri" panose="020F0502020204030204" pitchFamily="34" charset="0"/>
              </a:rPr>
              <a:t>C</a:t>
            </a:r>
            <a:r>
              <a:rPr lang="en-US" b="0" i="0" dirty="0">
                <a:solidFill>
                  <a:srgbClr val="445578"/>
                </a:solidFill>
                <a:effectLst/>
                <a:latin typeface="Calibri" panose="020F0502020204030204" pitchFamily="34" charset="0"/>
                <a:cs typeface="Calibri" panose="020F0502020204030204" pitchFamily="34" charset="0"/>
              </a:rPr>
              <a:t>: The regularization parameter has a float value and is 1.0 by default. Must be strictly positive.</a:t>
            </a:r>
          </a:p>
          <a:p>
            <a:pPr algn="l">
              <a:buFont typeface="Arial" panose="020B0604020202020204" pitchFamily="34" charset="0"/>
              <a:buChar char="•"/>
            </a:pPr>
            <a:r>
              <a:rPr lang="en-US" b="1" i="0" dirty="0">
                <a:solidFill>
                  <a:srgbClr val="445578"/>
                </a:solidFill>
                <a:effectLst/>
                <a:latin typeface="Calibri" panose="020F0502020204030204" pitchFamily="34" charset="0"/>
                <a:cs typeface="Calibri" panose="020F0502020204030204" pitchFamily="34" charset="0"/>
              </a:rPr>
              <a:t>kernel</a:t>
            </a:r>
            <a:r>
              <a:rPr lang="en-US" b="0" i="0" dirty="0">
                <a:solidFill>
                  <a:srgbClr val="445578"/>
                </a:solidFill>
                <a:effectLst/>
                <a:latin typeface="Calibri" panose="020F0502020204030204" pitchFamily="34" charset="0"/>
                <a:cs typeface="Calibri" panose="020F0502020204030204" pitchFamily="34" charset="0"/>
              </a:rPr>
              <a:t>: Specifies the kernel type used in the algorithm. ‘linear,’ ‘poly,’ ‘</a:t>
            </a:r>
            <a:r>
              <a:rPr lang="en-US" b="0" i="0" dirty="0" err="1">
                <a:solidFill>
                  <a:srgbClr val="445578"/>
                </a:solidFill>
                <a:effectLst/>
                <a:latin typeface="Calibri" panose="020F0502020204030204" pitchFamily="34" charset="0"/>
                <a:cs typeface="Calibri" panose="020F0502020204030204" pitchFamily="34" charset="0"/>
              </a:rPr>
              <a:t>rbf</a:t>
            </a:r>
            <a:r>
              <a:rPr lang="en-US" b="0" i="0" dirty="0">
                <a:solidFill>
                  <a:srgbClr val="445578"/>
                </a:solidFill>
                <a:effectLst/>
                <a:latin typeface="Calibri" panose="020F0502020204030204" pitchFamily="34" charset="0"/>
                <a:cs typeface="Calibri" panose="020F0502020204030204" pitchFamily="34" charset="0"/>
              </a:rPr>
              <a:t>.’</a:t>
            </a:r>
          </a:p>
          <a:p>
            <a:pPr algn="l">
              <a:buFont typeface="Arial" panose="020B0604020202020204" pitchFamily="34" charset="0"/>
              <a:buChar char="•"/>
            </a:pPr>
            <a:r>
              <a:rPr lang="en-US" b="1" i="0" dirty="0">
                <a:solidFill>
                  <a:srgbClr val="445578"/>
                </a:solidFill>
                <a:effectLst/>
                <a:latin typeface="Calibri" panose="020F0502020204030204" pitchFamily="34" charset="0"/>
                <a:cs typeface="Calibri" panose="020F0502020204030204" pitchFamily="34" charset="0"/>
              </a:rPr>
              <a:t>degree</a:t>
            </a:r>
            <a:r>
              <a:rPr lang="en-US" b="0" i="0" dirty="0">
                <a:solidFill>
                  <a:srgbClr val="445578"/>
                </a:solidFill>
                <a:effectLst/>
                <a:latin typeface="Calibri" panose="020F0502020204030204" pitchFamily="34" charset="0"/>
                <a:cs typeface="Calibri" panose="020F0502020204030204" pitchFamily="34" charset="0"/>
              </a:rPr>
              <a:t>: An optional integer value to specify the degree of polynomial kernel function which is ignored by all other kernels</a:t>
            </a:r>
          </a:p>
          <a:p>
            <a:pPr algn="l">
              <a:buFont typeface="Arial" panose="020B0604020202020204" pitchFamily="34" charset="0"/>
              <a:buChar char="•"/>
            </a:pPr>
            <a:r>
              <a:rPr lang="en-US" b="1" i="0" dirty="0">
                <a:solidFill>
                  <a:srgbClr val="445578"/>
                </a:solidFill>
                <a:effectLst/>
                <a:latin typeface="Calibri" panose="020F0502020204030204" pitchFamily="34" charset="0"/>
                <a:cs typeface="Calibri" panose="020F0502020204030204" pitchFamily="34" charset="0"/>
              </a:rPr>
              <a:t>gamma</a:t>
            </a:r>
            <a:r>
              <a:rPr lang="en-US" b="0" i="0" dirty="0">
                <a:solidFill>
                  <a:srgbClr val="445578"/>
                </a:solidFill>
                <a:effectLst/>
                <a:latin typeface="Calibri" panose="020F0502020204030204" pitchFamily="34" charset="0"/>
                <a:cs typeface="Calibri" panose="020F0502020204030204" pitchFamily="34" charset="0"/>
              </a:rPr>
              <a:t>: Kernel coefficient for ‘</a:t>
            </a:r>
            <a:r>
              <a:rPr lang="en-US" b="0" i="0" dirty="0" err="1">
                <a:solidFill>
                  <a:srgbClr val="445578"/>
                </a:solidFill>
                <a:effectLst/>
                <a:latin typeface="Calibri" panose="020F0502020204030204" pitchFamily="34" charset="0"/>
                <a:cs typeface="Calibri" panose="020F0502020204030204" pitchFamily="34" charset="0"/>
              </a:rPr>
              <a:t>rbf</a:t>
            </a:r>
            <a:r>
              <a:rPr lang="en-US" b="0" i="0" dirty="0">
                <a:solidFill>
                  <a:srgbClr val="445578"/>
                </a:solidFill>
                <a:effectLst/>
                <a:latin typeface="Calibri" panose="020F0502020204030204" pitchFamily="34" charset="0"/>
                <a:cs typeface="Calibri" panose="020F0502020204030204" pitchFamily="34" charset="0"/>
              </a:rPr>
              <a:t>’,’poly’</a:t>
            </a:r>
            <a:endParaRPr lang="en-US" dirty="0">
              <a:latin typeface="Calibri" panose="020F0502020204030204" pitchFamily="34" charset="0"/>
              <a:cs typeface="Calibri" panose="020F0502020204030204" pitchFamily="3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Key terminologies of SVM</a:t>
            </a:r>
            <a:endParaRPr lang="en-US" dirty="0"/>
          </a:p>
        </p:txBody>
      </p:sp>
      <p:sp>
        <p:nvSpPr>
          <p:cNvPr id="3" name="Text Placeholder 2"/>
          <p:cNvSpPr>
            <a:spLocks noGrp="1"/>
          </p:cNvSpPr>
          <p:nvPr>
            <p:ph type="body" sz="quarter" idx="10"/>
          </p:nvPr>
        </p:nvSpPr>
        <p:spPr>
          <a:xfrm>
            <a:off x="129343" y="1142928"/>
            <a:ext cx="4374867" cy="4687598"/>
          </a:xfrm>
        </p:spPr>
        <p:txBody>
          <a:bodyPr/>
          <a:lstStyle/>
          <a:p>
            <a:pPr algn="l"/>
            <a:r>
              <a:rPr lang="en-US" sz="2000" b="0" i="0" dirty="0">
                <a:solidFill>
                  <a:srgbClr val="1B2437"/>
                </a:solidFill>
                <a:effectLst/>
                <a:latin typeface="Calibri" panose="020F0502020204030204" pitchFamily="34" charset="0"/>
                <a:cs typeface="Calibri" panose="020F0502020204030204" pitchFamily="34" charset="0"/>
              </a:rPr>
              <a:t>1. </a:t>
            </a:r>
            <a:r>
              <a:rPr lang="en-US" sz="2000" b="1" i="0" dirty="0">
                <a:solidFill>
                  <a:srgbClr val="1B2437"/>
                </a:solidFill>
                <a:effectLst/>
                <a:latin typeface="Calibri" panose="020F0502020204030204" pitchFamily="34" charset="0"/>
                <a:cs typeface="Calibri" panose="020F0502020204030204" pitchFamily="34" charset="0"/>
              </a:rPr>
              <a:t>Hyperplane</a:t>
            </a:r>
            <a:r>
              <a:rPr lang="en-US" sz="2000" b="0" i="0" dirty="0">
                <a:solidFill>
                  <a:srgbClr val="1B2437"/>
                </a:solidFill>
                <a:effectLst/>
                <a:latin typeface="Calibri" panose="020F0502020204030204" pitchFamily="34" charset="0"/>
                <a:cs typeface="Calibri" panose="020F0502020204030204" pitchFamily="34" charset="0"/>
              </a:rPr>
              <a:t>:</a:t>
            </a:r>
            <a:r>
              <a:rPr lang="en-US" sz="2000" b="0" i="0" dirty="0">
                <a:solidFill>
                  <a:srgbClr val="445578"/>
                </a:solidFill>
                <a:effectLst/>
                <a:latin typeface="Calibri" panose="020F0502020204030204" pitchFamily="34" charset="0"/>
                <a:cs typeface="Calibri" panose="020F0502020204030204" pitchFamily="34" charset="0"/>
              </a:rPr>
              <a:t> or decision boundaries or decision planes:  boundaries that aid in the classification of data points. </a:t>
            </a:r>
          </a:p>
          <a:p>
            <a:pPr algn="l"/>
            <a:r>
              <a:rPr lang="en-US" sz="2000" b="0" i="0" dirty="0">
                <a:solidFill>
                  <a:srgbClr val="445578"/>
                </a:solidFill>
                <a:effectLst/>
                <a:latin typeface="Calibri" panose="020F0502020204030204" pitchFamily="34" charset="0"/>
                <a:cs typeface="Calibri" panose="020F0502020204030204" pitchFamily="34" charset="0"/>
              </a:rPr>
              <a:t>A hyperplane is a two-dimensional plane when a dataset comprises three features.</a:t>
            </a:r>
          </a:p>
          <a:p>
            <a:pPr algn="l"/>
            <a:r>
              <a:rPr lang="en-US" sz="2000" b="0" i="0" dirty="0">
                <a:solidFill>
                  <a:srgbClr val="1B2437"/>
                </a:solidFill>
                <a:effectLst/>
                <a:latin typeface="Calibri" panose="020F0502020204030204" pitchFamily="34" charset="0"/>
                <a:cs typeface="Calibri" panose="020F0502020204030204" pitchFamily="34" charset="0"/>
              </a:rPr>
              <a:t>2. </a:t>
            </a:r>
            <a:r>
              <a:rPr lang="en-US" sz="2000" b="1" i="0" dirty="0">
                <a:solidFill>
                  <a:srgbClr val="1B2437"/>
                </a:solidFill>
                <a:effectLst/>
                <a:latin typeface="Calibri" panose="020F0502020204030204" pitchFamily="34" charset="0"/>
                <a:cs typeface="Calibri" panose="020F0502020204030204" pitchFamily="34" charset="0"/>
              </a:rPr>
              <a:t>Support Vectors</a:t>
            </a:r>
            <a:r>
              <a:rPr lang="en-US" sz="2000" b="0" i="0" dirty="0">
                <a:solidFill>
                  <a:srgbClr val="1B2437"/>
                </a:solidFill>
                <a:effectLst/>
                <a:latin typeface="Calibri" panose="020F0502020204030204" pitchFamily="34" charset="0"/>
                <a:cs typeface="Calibri" panose="020F0502020204030204" pitchFamily="34" charset="0"/>
              </a:rPr>
              <a:t>:</a:t>
            </a:r>
          </a:p>
          <a:p>
            <a:pPr algn="l"/>
            <a:r>
              <a:rPr lang="en-US" sz="2000" b="0" i="0" dirty="0">
                <a:solidFill>
                  <a:srgbClr val="445578"/>
                </a:solidFill>
                <a:effectLst/>
                <a:latin typeface="Calibri" panose="020F0502020204030204" pitchFamily="34" charset="0"/>
                <a:cs typeface="Calibri" panose="020F0502020204030204" pitchFamily="34" charset="0"/>
              </a:rPr>
              <a:t>Support vectors are the data points closest to the hyperplane and affect its position. </a:t>
            </a:r>
          </a:p>
          <a:p>
            <a:pPr algn="l"/>
            <a:r>
              <a:rPr lang="en-US" sz="2000" b="0" i="0" dirty="0">
                <a:solidFill>
                  <a:srgbClr val="445578"/>
                </a:solidFill>
                <a:effectLst/>
                <a:latin typeface="Calibri" panose="020F0502020204030204" pitchFamily="34" charset="0"/>
                <a:cs typeface="Calibri" panose="020F0502020204030204" pitchFamily="34" charset="0"/>
              </a:rPr>
              <a:t>These vectors are called support vectors because they alter hyperplane location, hence the Support Vector Machine Algorithm.</a:t>
            </a:r>
            <a:endParaRPr lang="en-US" sz="2000" dirty="0">
              <a:latin typeface="Calibri" panose="020F0502020204030204" pitchFamily="34" charset="0"/>
              <a:cs typeface="Calibri" panose="020F0502020204030204" pitchFamily="34" charset="0"/>
            </a:endParaRPr>
          </a:p>
        </p:txBody>
      </p:sp>
      <p:sp>
        <p:nvSpPr>
          <p:cNvPr id="6" name="Text Placeholder 2"/>
          <p:cNvSpPr txBox="1"/>
          <p:nvPr/>
        </p:nvSpPr>
        <p:spPr>
          <a:xfrm>
            <a:off x="4504876" y="1027358"/>
            <a:ext cx="4661210" cy="4803212"/>
          </a:xfrm>
          <a:prstGeom prst="rect">
            <a:avLst/>
          </a:prstGeom>
        </p:spPr>
        <p:txBody>
          <a:bodyPr/>
          <a:lst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baseline="0">
                <a:solidFill>
                  <a:srgbClr val="656768"/>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656768"/>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656768"/>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solidFill>
                  <a:srgbClr val="1B2437"/>
                </a:solidFill>
                <a:latin typeface="Calibri" panose="020F0502020204030204" pitchFamily="34" charset="0"/>
                <a:cs typeface="Calibri" panose="020F0502020204030204" pitchFamily="34" charset="0"/>
              </a:rPr>
              <a:t>3. </a:t>
            </a:r>
            <a:r>
              <a:rPr lang="en-US" sz="2000" b="1" dirty="0">
                <a:solidFill>
                  <a:srgbClr val="1B2437"/>
                </a:solidFill>
                <a:latin typeface="Calibri" panose="020F0502020204030204" pitchFamily="34" charset="0"/>
                <a:cs typeface="Calibri" panose="020F0502020204030204" pitchFamily="34" charset="0"/>
              </a:rPr>
              <a:t>Margin</a:t>
            </a:r>
            <a:r>
              <a:rPr lang="en-US" sz="2000" dirty="0">
                <a:solidFill>
                  <a:srgbClr val="1B2437"/>
                </a:solidFill>
                <a:latin typeface="Calibri" panose="020F0502020204030204" pitchFamily="34" charset="0"/>
                <a:cs typeface="Calibri" panose="020F0502020204030204" pitchFamily="34" charset="0"/>
              </a:rPr>
              <a:t>:</a:t>
            </a:r>
          </a:p>
          <a:p>
            <a:r>
              <a:rPr lang="en-US" sz="2000" dirty="0">
                <a:solidFill>
                  <a:srgbClr val="445578"/>
                </a:solidFill>
                <a:latin typeface="Calibri" panose="020F0502020204030204" pitchFamily="34" charset="0"/>
                <a:cs typeface="Calibri" panose="020F0502020204030204" pitchFamily="34" charset="0"/>
              </a:rPr>
              <a:t>The distance between the hyperplane and the support vectors is the margin. </a:t>
            </a:r>
          </a:p>
          <a:p>
            <a:r>
              <a:rPr lang="en-US" sz="2000" dirty="0">
                <a:solidFill>
                  <a:srgbClr val="445578"/>
                </a:solidFill>
                <a:latin typeface="Calibri" panose="020F0502020204030204" pitchFamily="34" charset="0"/>
                <a:cs typeface="Calibri" panose="020F0502020204030204" pitchFamily="34" charset="0"/>
              </a:rPr>
              <a:t>The wider the margin, the more accurate the results are. There are two types of margins in SVM algorithms: hard and soft.</a:t>
            </a:r>
          </a:p>
          <a:p>
            <a:r>
              <a:rPr lang="en-US" sz="2000" dirty="0">
                <a:solidFill>
                  <a:srgbClr val="445578"/>
                </a:solidFill>
                <a:latin typeface="Calibri" panose="020F0502020204030204" pitchFamily="34" charset="0"/>
                <a:cs typeface="Calibri" panose="020F0502020204030204" pitchFamily="34" charset="0"/>
              </a:rPr>
              <a:t>SVM can select two parallel lines that maximize the marginal distance when the training dataset is linearly separable; this is known as a hard margin. </a:t>
            </a:r>
          </a:p>
          <a:p>
            <a:r>
              <a:rPr lang="en-US" sz="2000" dirty="0">
                <a:solidFill>
                  <a:srgbClr val="445578"/>
                </a:solidFill>
                <a:latin typeface="Calibri" panose="020F0502020204030204" pitchFamily="34" charset="0"/>
                <a:cs typeface="Calibri" panose="020F0502020204030204" pitchFamily="34" charset="0"/>
              </a:rPr>
              <a:t>The SVM admits some margin violations when the training dataset is not linearly separable. A soft margin permits some data points to remain on the wrong side of the hyperplane or between the margin and the hyperplane while maintaining </a:t>
            </a:r>
            <a:r>
              <a:rPr lang="en-US" sz="2000" dirty="0" err="1">
                <a:solidFill>
                  <a:srgbClr val="445578"/>
                </a:solidFill>
                <a:latin typeface="Calibri" panose="020F0502020204030204" pitchFamily="34" charset="0"/>
                <a:cs typeface="Calibri" panose="020F0502020204030204" pitchFamily="34" charset="0"/>
              </a:rPr>
              <a:t>accuracy.</a:t>
            </a:r>
            <a:r>
              <a:rPr lang="en-US" sz="2000" b="1" dirty="0" err="1">
                <a:solidFill>
                  <a:srgbClr val="1B2437"/>
                </a:solidFill>
                <a:latin typeface="Calibri" panose="020F0502020204030204" pitchFamily="34" charset="0"/>
                <a:cs typeface="Calibri" panose="020F0502020204030204" pitchFamily="34" charset="0"/>
              </a:rPr>
              <a:t>ypes</a:t>
            </a:r>
            <a:r>
              <a:rPr lang="en-US" sz="2000" b="1" dirty="0">
                <a:solidFill>
                  <a:srgbClr val="1B2437"/>
                </a:solidFill>
                <a:latin typeface="Calibri" panose="020F0502020204030204" pitchFamily="34" charset="0"/>
                <a:cs typeface="Calibri" panose="020F0502020204030204" pitchFamily="34" charset="0"/>
              </a:rPr>
              <a:t> of SVM</a:t>
            </a:r>
          </a:p>
          <a:p>
            <a:endParaRPr lang="en-US" sz="2000" dirty="0">
              <a:latin typeface="Calibri" panose="020F0502020204030204" pitchFamily="34" charset="0"/>
              <a:cs typeface="Calibri" panose="020F0502020204030204" pitchFamily="34" charset="0"/>
            </a:endParaRPr>
          </a:p>
          <a:p>
            <a:r>
              <a:rPr lang="en-US" sz="2000" b="1" dirty="0">
                <a:solidFill>
                  <a:srgbClr val="1B2437"/>
                </a:solidFill>
                <a:latin typeface="Inter"/>
              </a:rPr>
              <a:t> </a:t>
            </a:r>
          </a:p>
          <a:p>
            <a:endParaRPr lang="en-US" sz="2000" dirty="0"/>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4935" y="2309495"/>
            <a:ext cx="3187065" cy="256667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942D6D"/>
                </a:solidFill>
              </a:rPr>
              <a:t>SVM coding video</a:t>
            </a:r>
            <a:endParaRPr lang="en-US" dirty="0">
              <a:solidFill>
                <a:srgbClr val="942D6D"/>
              </a:solidFill>
            </a:endParaRPr>
          </a:p>
        </p:txBody>
      </p:sp>
      <p:sp>
        <p:nvSpPr>
          <p:cNvPr id="3" name="Text Placeholder 2"/>
          <p:cNvSpPr>
            <a:spLocks noGrp="1"/>
          </p:cNvSpPr>
          <p:nvPr>
            <p:ph type="body" sz="quarter" idx="10"/>
          </p:nvPr>
        </p:nvSpPr>
        <p:spPr>
          <a:xfrm>
            <a:off x="877821" y="1521449"/>
            <a:ext cx="10712388" cy="3815101"/>
          </a:xfrm>
        </p:spPr>
        <p:txBody>
          <a:bodyPr/>
          <a:lstStyle/>
          <a:p>
            <a:r>
              <a:rPr lang="en-US" dirty="0">
                <a:solidFill>
                  <a:schemeClr val="bg2">
                    <a:lumMod val="25000"/>
                  </a:schemeClr>
                </a:solidFill>
              </a:rPr>
              <a:t>Watch the video and try to code this in your Python environment</a:t>
            </a:r>
          </a:p>
          <a:p>
            <a:endParaRPr lang="en-US" dirty="0">
              <a:solidFill>
                <a:schemeClr val="bg2">
                  <a:lumMod val="25000"/>
                </a:schemeClr>
              </a:solidFill>
            </a:endParaRPr>
          </a:p>
          <a:p>
            <a:pPr marL="0" indent="0">
              <a:buNone/>
            </a:pPr>
            <a:r>
              <a:rPr lang="en-US" dirty="0">
                <a:solidFill>
                  <a:schemeClr val="bg2">
                    <a:lumMod val="25000"/>
                  </a:schemeClr>
                </a:solidFill>
              </a:rPr>
              <a:t>	</a:t>
            </a:r>
            <a:r>
              <a:rPr lang="en-US" dirty="0">
                <a:solidFill>
                  <a:schemeClr val="bg2">
                    <a:lumMod val="25000"/>
                  </a:schemeClr>
                </a:solidFill>
                <a:hlinkClick r:id="rId2"/>
              </a:rPr>
              <a:t>https://</a:t>
            </a:r>
            <a:r>
              <a:rPr lang="en-US" dirty="0" err="1">
                <a:solidFill>
                  <a:schemeClr val="bg2">
                    <a:lumMod val="25000"/>
                  </a:schemeClr>
                </a:solidFill>
                <a:hlinkClick r:id="rId2"/>
              </a:rPr>
              <a:t>www.youtube.com</a:t>
            </a:r>
            <a:r>
              <a:rPr lang="en-US" dirty="0">
                <a:solidFill>
                  <a:schemeClr val="bg2">
                    <a:lumMod val="25000"/>
                  </a:schemeClr>
                </a:solidFill>
                <a:hlinkClick r:id="rId2"/>
              </a:rPr>
              <a:t>/</a:t>
            </a:r>
            <a:r>
              <a:rPr lang="en-US" dirty="0" err="1">
                <a:solidFill>
                  <a:schemeClr val="bg2">
                    <a:lumMod val="25000"/>
                  </a:schemeClr>
                </a:solidFill>
                <a:hlinkClick r:id="rId2"/>
              </a:rPr>
              <a:t>watch?v</a:t>
            </a:r>
            <a:r>
              <a:rPr lang="en-US" dirty="0">
                <a:solidFill>
                  <a:schemeClr val="bg2">
                    <a:lumMod val="25000"/>
                  </a:schemeClr>
                </a:solidFill>
                <a:hlinkClick r:id="rId2"/>
              </a:rPr>
              <a:t>=TtKF996oEl8</a:t>
            </a:r>
            <a:endParaRPr lang="en-US" dirty="0">
              <a:solidFill>
                <a:schemeClr val="bg2">
                  <a:lumMod val="25000"/>
                </a:schemeClr>
              </a:solidFill>
            </a:endParaRPr>
          </a:p>
        </p:txBody>
      </p:sp>
      <p:cxnSp>
        <p:nvCxnSpPr>
          <p:cNvPr id="4" name="Straight Connector 3"/>
          <p:cNvCxnSpPr/>
          <p:nvPr/>
        </p:nvCxnSpPr>
        <p:spPr>
          <a:xfrm flipH="1">
            <a:off x="601791" y="1070621"/>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72083" y="423248"/>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70171" y="1089589"/>
            <a:ext cx="1912" cy="4298063"/>
          </a:xfrm>
          <a:prstGeom prst="line">
            <a:avLst/>
          </a:prstGeom>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4706" y="295408"/>
            <a:ext cx="9097686" cy="717268"/>
          </a:xfrm>
        </p:spPr>
        <p:txBody>
          <a:bodyPr/>
          <a:lstStyle/>
          <a:p>
            <a:r>
              <a:rPr lang="en-GB" dirty="0"/>
              <a:t>reference</a:t>
            </a:r>
          </a:p>
        </p:txBody>
      </p:sp>
      <p:sp>
        <p:nvSpPr>
          <p:cNvPr id="3" name="Text Placeholder 2"/>
          <p:cNvSpPr>
            <a:spLocks noGrp="1"/>
          </p:cNvSpPr>
          <p:nvPr>
            <p:ph type="body" sz="quarter" idx="10"/>
          </p:nvPr>
        </p:nvSpPr>
        <p:spPr>
          <a:xfrm>
            <a:off x="247135" y="1272746"/>
            <a:ext cx="11689492" cy="4572578"/>
          </a:xfrm>
        </p:spPr>
        <p:txBody>
          <a:bodyPr/>
          <a:lstStyle/>
          <a:p>
            <a:r>
              <a:rPr lang="en-GB" sz="1200" dirty="0"/>
              <a:t>Gavrilova,Y.2021. Naive Bayes Algorithm for Beginners.[Online].Available at: </a:t>
            </a:r>
            <a:r>
              <a:rPr lang="en-GB" sz="1200" dirty="0">
                <a:hlinkClick r:id="rId3"/>
              </a:rPr>
              <a:t>https://serokell.io/blog/naive-bayes-classifiers</a:t>
            </a:r>
            <a:endParaRPr lang="en-GB" sz="1200" dirty="0"/>
          </a:p>
          <a:p>
            <a:r>
              <a:rPr lang="en-US" sz="1200" dirty="0" err="1"/>
              <a:t>Navlani</a:t>
            </a:r>
            <a:r>
              <a:rPr lang="en-US" sz="1200" dirty="0"/>
              <a:t>, A. &amp; Awan, A. A., 2023. Naive Bayes Classification Tutorial using Scikit-learn. [Online].Available at: https://www.datacamp.com/tutorial/naive-bayes-scikit-learn </a:t>
            </a:r>
          </a:p>
          <a:p>
            <a:r>
              <a:rPr lang="en-GB" sz="1200" b="1" i="0" dirty="0" err="1">
                <a:solidFill>
                  <a:srgbClr val="0F0F0F"/>
                </a:solidFill>
                <a:effectLst/>
              </a:rPr>
              <a:t>Simplilearn</a:t>
            </a:r>
            <a:r>
              <a:rPr lang="en-GB" sz="1200" b="1" i="0" dirty="0">
                <a:solidFill>
                  <a:srgbClr val="0F0F0F"/>
                </a:solidFill>
                <a:effectLst/>
              </a:rPr>
              <a:t>.</a:t>
            </a:r>
            <a:r>
              <a:rPr lang="en-GB" sz="1200" dirty="0">
                <a:hlinkClick r:id="rId4"/>
              </a:rPr>
              <a:t> </a:t>
            </a:r>
            <a:r>
              <a:rPr lang="en-GB" sz="1200" dirty="0"/>
              <a:t>2018.Learn how to build and evaluate a Naive Bayes Classifier using Python's Scikit-learn package .</a:t>
            </a:r>
            <a:r>
              <a:rPr lang="en-GB" sz="1200" dirty="0">
                <a:effectLst/>
                <a:ea typeface="Calibri" panose="020F0502020204030204" pitchFamily="34" charset="0"/>
                <a:cs typeface="Times New Roman" panose="02020603050405020304" pitchFamily="18" charset="0"/>
              </a:rPr>
              <a:t>[Online].Available at: </a:t>
            </a:r>
            <a:r>
              <a:rPr lang="en-GB" sz="1200" dirty="0">
                <a:hlinkClick r:id="rId4"/>
              </a:rPr>
              <a:t>https://www.youtube.com/watch?v=l3dZ6ZNFjo0</a:t>
            </a:r>
            <a:endParaRPr lang="en-GB" sz="1200" dirty="0"/>
          </a:p>
          <a:p>
            <a:r>
              <a:rPr lang="en-US" sz="1200" dirty="0">
                <a:effectLst/>
                <a:ea typeface="Calibri" panose="020F0502020204030204" pitchFamily="34" charset="0"/>
                <a:cs typeface="Times New Roman" panose="02020603050405020304" pitchFamily="18" charset="0"/>
              </a:rPr>
              <a:t>Digitalmind.2022. Train-test split and cross-validation</a:t>
            </a:r>
            <a:r>
              <a:rPr lang="en-GB" sz="1200" dirty="0">
                <a:effectLst/>
                <a:ea typeface="Calibri" panose="020F0502020204030204" pitchFamily="34" charset="0"/>
                <a:cs typeface="Times New Roman" panose="02020603050405020304" pitchFamily="18" charset="0"/>
              </a:rPr>
              <a:t>.[Online].Available at: </a:t>
            </a:r>
            <a:r>
              <a:rPr lang="en-US" sz="1200" u="sng" dirty="0">
                <a:solidFill>
                  <a:srgbClr val="0000FF"/>
                </a:solidFill>
                <a:effectLst/>
                <a:ea typeface="Calibri" panose="020F0502020204030204" pitchFamily="34" charset="0"/>
                <a:cs typeface="Times New Roman" panose="02020603050405020304" pitchFamily="18" charset="0"/>
                <a:hlinkClick r:id="rId5"/>
              </a:rPr>
              <a:t>https://digitalmind.io/post/train-test-split-and-cross-validation</a:t>
            </a:r>
            <a:endParaRPr lang="en-US" sz="1200" dirty="0">
              <a:effectLst/>
              <a:ea typeface="Calibri" panose="020F0502020204030204" pitchFamily="34" charset="0"/>
              <a:cs typeface="Times New Roman" panose="02020603050405020304" pitchFamily="18" charset="0"/>
            </a:endParaRPr>
          </a:p>
          <a:p>
            <a:pPr marL="0" marR="0">
              <a:lnSpc>
                <a:spcPct val="115000"/>
              </a:lnSpc>
              <a:spcBef>
                <a:spcPts val="0"/>
              </a:spcBef>
              <a:spcAft>
                <a:spcPts val="1000"/>
              </a:spcAft>
            </a:pPr>
            <a:r>
              <a:rPr lang="en-US" sz="1200" dirty="0">
                <a:effectLst/>
                <a:ea typeface="Calibri" panose="020F0502020204030204" pitchFamily="34" charset="0"/>
                <a:cs typeface="Times New Roman" panose="02020603050405020304" pitchFamily="18" charset="0"/>
              </a:rPr>
              <a:t>Digitalmind.2022.Saving Machine Learning Models.</a:t>
            </a:r>
            <a:r>
              <a:rPr lang="en-GB" sz="1200" dirty="0">
                <a:effectLst/>
                <a:ea typeface="Calibri" panose="020F0502020204030204" pitchFamily="34" charset="0"/>
                <a:cs typeface="Times New Roman" panose="02020603050405020304" pitchFamily="18" charset="0"/>
              </a:rPr>
              <a:t>[Online].Available at: </a:t>
            </a:r>
            <a:r>
              <a:rPr lang="en-US" sz="1200" u="sng" dirty="0">
                <a:solidFill>
                  <a:srgbClr val="0000FF"/>
                </a:solidFill>
                <a:effectLst/>
                <a:ea typeface="Calibri" panose="020F0502020204030204" pitchFamily="34" charset="0"/>
                <a:cs typeface="Times New Roman" panose="02020603050405020304" pitchFamily="18" charset="0"/>
                <a:hlinkClick r:id="rId6"/>
              </a:rPr>
              <a:t>https://digitalmind.io/post/saving-machine-learning-models#saving-machine-learning-models</a:t>
            </a:r>
            <a:endParaRPr lang="en-US" sz="1200" dirty="0">
              <a:effectLst/>
              <a:ea typeface="Calibri" panose="020F0502020204030204" pitchFamily="34" charset="0"/>
              <a:cs typeface="Times New Roman" panose="02020603050405020304" pitchFamily="18" charset="0"/>
            </a:endParaRPr>
          </a:p>
          <a:p>
            <a:r>
              <a:rPr lang="en-GB" sz="1200" dirty="0">
                <a:effectLst/>
                <a:ea typeface="Calibri" panose="020F0502020204030204" pitchFamily="34" charset="0"/>
                <a:cs typeface="Times New Roman" panose="02020603050405020304" pitchFamily="18" charset="0"/>
              </a:rPr>
              <a:t>Singh,Y.2022.How to Generate Datasets Using </a:t>
            </a:r>
            <a:r>
              <a:rPr lang="en-GB" sz="1200" dirty="0" err="1">
                <a:effectLst/>
                <a:ea typeface="Calibri" panose="020F0502020204030204" pitchFamily="34" charset="0"/>
                <a:cs typeface="Times New Roman" panose="02020603050405020304" pitchFamily="18" charset="0"/>
              </a:rPr>
              <a:t>make_classification</a:t>
            </a:r>
            <a:r>
              <a:rPr lang="en-GB" sz="1200" dirty="0">
                <a:effectLst/>
                <a:ea typeface="Calibri" panose="020F0502020204030204" pitchFamily="34" charset="0"/>
                <a:cs typeface="Times New Roman" panose="02020603050405020304" pitchFamily="18" charset="0"/>
              </a:rPr>
              <a:t> .[Online].Available at: https://proclusacademy.com/blog/sklearn_make_classification/ </a:t>
            </a:r>
          </a:p>
          <a:p>
            <a:pPr>
              <a:lnSpc>
                <a:spcPct val="107000"/>
              </a:lnSpc>
              <a:spcAft>
                <a:spcPts val="800"/>
              </a:spcAft>
            </a:pPr>
            <a:r>
              <a:rPr lang="en-US" sz="1200" kern="0" dirty="0">
                <a:effectLst/>
                <a:ea typeface="Times New Roman" panose="02020603050405020304" pitchFamily="18" charset="0"/>
                <a:cs typeface="Times New Roman" panose="02020603050405020304" pitchFamily="18" charset="0"/>
              </a:rPr>
              <a:t>KHALUSOVA,M.2022. MACHINE LEARNING MODEL EVALUATION METRICS PART 2: MULTI-CLASS CLASSIFICATION.</a:t>
            </a:r>
            <a:r>
              <a:rPr lang="en-GB" sz="1200" dirty="0"/>
              <a:t> .[Online].Available at: </a:t>
            </a:r>
            <a:r>
              <a:rPr lang="en-US" sz="1200" kern="0" dirty="0">
                <a:effectLst/>
                <a:ea typeface="Times New Roman" panose="02020603050405020304" pitchFamily="18" charset="0"/>
                <a:cs typeface="Times New Roman" panose="02020603050405020304" pitchFamily="18" charset="0"/>
              </a:rPr>
              <a:t>https://www.mariakhalusova.com/posts/2019-04-17-ml-model-evaluation-metrics-p2/</a:t>
            </a:r>
            <a:endParaRPr lang="en-GB" sz="1200" kern="100" dirty="0">
              <a:effectLst/>
              <a:ea typeface="Calibri" panose="020F0502020204030204" pitchFamily="34" charset="0"/>
              <a:cs typeface="Times New Roman" panose="02020603050405020304" pitchFamily="18" charset="0"/>
            </a:endParaRPr>
          </a:p>
          <a:p>
            <a:pPr>
              <a:lnSpc>
                <a:spcPts val="3000"/>
              </a:lnSpc>
              <a:spcBef>
                <a:spcPts val="720"/>
              </a:spcBef>
              <a:spcAft>
                <a:spcPts val="800"/>
              </a:spcAft>
            </a:pPr>
            <a:r>
              <a:rPr lang="en-US" sz="1200" kern="0" dirty="0">
                <a:solidFill>
                  <a:srgbClr val="292929"/>
                </a:solidFill>
                <a:effectLst/>
                <a:ea typeface="Times New Roman" panose="02020603050405020304" pitchFamily="18" charset="0"/>
                <a:cs typeface="Times New Roman" panose="02020603050405020304" pitchFamily="18" charset="0"/>
              </a:rPr>
              <a:t>Sim,N.2021.Understanding Multi-class Classification Confusion Matrix in Python.</a:t>
            </a:r>
            <a:r>
              <a:rPr lang="en-GB" sz="1200" dirty="0"/>
              <a:t>.[Online].Available at: </a:t>
            </a:r>
            <a:r>
              <a:rPr lang="en-US" sz="1200" kern="0" dirty="0">
                <a:solidFill>
                  <a:srgbClr val="292929"/>
                </a:solidFill>
                <a:effectLst/>
                <a:ea typeface="Times New Roman" panose="02020603050405020304" pitchFamily="18" charset="0"/>
                <a:cs typeface="Times New Roman" panose="02020603050405020304" pitchFamily="18" charset="0"/>
              </a:rPr>
              <a:t>https://nicoleeesim97.medium.com/understanding-multi-class-classification-confusion-matrix-in-python-8a45848ed28</a:t>
            </a:r>
            <a:endParaRPr lang="en-GB" sz="1200" kern="100" dirty="0">
              <a:effectLst/>
              <a:ea typeface="Calibri" panose="020F0502020204030204" pitchFamily="34" charset="0"/>
              <a:cs typeface="Times New Roman" panose="02020603050405020304" pitchFamily="18" charset="0"/>
            </a:endParaRPr>
          </a:p>
          <a:p>
            <a:pPr>
              <a:lnSpc>
                <a:spcPct val="107000"/>
              </a:lnSpc>
              <a:spcAft>
                <a:spcPts val="800"/>
              </a:spcAft>
            </a:pPr>
            <a:r>
              <a:rPr lang="en-US" sz="1200" kern="0" dirty="0">
                <a:effectLst/>
                <a:ea typeface="Times New Roman" panose="02020603050405020304" pitchFamily="18" charset="0"/>
                <a:cs typeface="Times New Roman" panose="02020603050405020304" pitchFamily="18" charset="0"/>
              </a:rPr>
              <a:t> Rashida.2022.Learn Precision, Recall, and F1 Score of Multiclass Classification in Depth</a:t>
            </a:r>
            <a:r>
              <a:rPr lang="en-GB" sz="1200" dirty="0"/>
              <a:t> .[Online].Available at:</a:t>
            </a:r>
            <a:r>
              <a:rPr lang="en-US" sz="1200" kern="0" dirty="0">
                <a:effectLst/>
                <a:ea typeface="Times New Roman" panose="02020603050405020304" pitchFamily="18" charset="0"/>
                <a:cs typeface="Times New Roman" panose="02020603050405020304" pitchFamily="18" charset="0"/>
              </a:rPr>
              <a:t>.https://regenerativetoday.com/learn-precision-recall-and-f1-score-of-multiclass-classification-in-depth/</a:t>
            </a:r>
          </a:p>
          <a:p>
            <a:pPr>
              <a:lnSpc>
                <a:spcPct val="107000"/>
              </a:lnSpc>
              <a:spcAft>
                <a:spcPts val="800"/>
              </a:spcAft>
            </a:pPr>
            <a:r>
              <a:rPr lang="en-US" sz="1200" dirty="0">
                <a:effectLst/>
                <a:ea typeface="Calibri" panose="020F0502020204030204" pitchFamily="34" charset="0"/>
                <a:cs typeface="Times New Roman" panose="02020603050405020304" pitchFamily="18" charset="0"/>
              </a:rPr>
              <a:t>BPRASAD.2022.Confusion Matrix – How to plot and Interpret Confusion Matrix.</a:t>
            </a:r>
            <a:r>
              <a:rPr lang="en-GB" sz="1200" dirty="0">
                <a:effectLst/>
                <a:ea typeface="Calibri" panose="020F0502020204030204" pitchFamily="34" charset="0"/>
                <a:cs typeface="Times New Roman" panose="02020603050405020304" pitchFamily="18" charset="0"/>
              </a:rPr>
              <a:t>[Online].Available at: </a:t>
            </a:r>
            <a:r>
              <a:rPr lang="en-US" sz="1200" u="sng" dirty="0">
                <a:solidFill>
                  <a:srgbClr val="0000FF"/>
                </a:solidFill>
                <a:effectLst/>
                <a:ea typeface="Calibri" panose="020F0502020204030204" pitchFamily="34" charset="0"/>
                <a:cs typeface="Times New Roman" panose="02020603050405020304" pitchFamily="18" charset="0"/>
                <a:hlinkClick r:id="rId7"/>
              </a:rPr>
              <a:t>https://lifewithdata.com/2022/02/06/confusion-matrix-how-to-plot-and-interpret-confusion-matrix/</a:t>
            </a:r>
            <a:endParaRPr lang="en-GB" sz="1200" dirty="0">
              <a:effectLst/>
              <a:ea typeface="Calibri" panose="020F0502020204030204" pitchFamily="34" charset="0"/>
              <a:cs typeface="Times New Roman" panose="02020603050405020304" pitchFamily="18" charset="0"/>
            </a:endParaRPr>
          </a:p>
          <a:p>
            <a:pPr>
              <a:lnSpc>
                <a:spcPct val="107000"/>
              </a:lnSpc>
              <a:spcAft>
                <a:spcPts val="800"/>
              </a:spcAft>
            </a:pPr>
            <a:endParaRPr lang="en-GB"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4706" y="295408"/>
            <a:ext cx="9097686" cy="717268"/>
          </a:xfrm>
        </p:spPr>
        <p:txBody>
          <a:bodyPr/>
          <a:lstStyle/>
          <a:p>
            <a:r>
              <a:rPr lang="en-GB" dirty="0"/>
              <a:t>reference</a:t>
            </a:r>
          </a:p>
        </p:txBody>
      </p:sp>
      <p:sp>
        <p:nvSpPr>
          <p:cNvPr id="5" name="Rectangle 2"/>
          <p:cNvSpPr>
            <a:spLocks noGrp="1" noChangeArrowheads="1"/>
          </p:cNvSpPr>
          <p:nvPr>
            <p:ph type="body" sz="quarter" idx="10"/>
          </p:nvPr>
        </p:nvSpPr>
        <p:spPr bwMode="auto">
          <a:xfrm>
            <a:off x="247650" y="1273175"/>
            <a:ext cx="11688763"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hlinkClick r:id="rId3"/>
              </a:rPr>
              <a:t>investopedia.com - Bayes' Theorem: What It Is, Formula, and Examples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hlinkClick r:id="rId4"/>
              </a:rPr>
              <a:t>wikipedia.org - Bayes' theorem</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hlinkClick r:id="rId5"/>
              </a:rPr>
              <a:t>plato.stanford.edu - Bayes' Theorem</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hlinkClick r:id="rId6"/>
              </a:rPr>
              <a:t>corporatefinanceinstitute.com - Bayes' Theorem - Definition, Formula, and Example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hlinkClick r:id="rId7"/>
              </a:rPr>
              <a:t>mathsisfun.com - Bayes' Theorem</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hlinkClick r:id="rId8"/>
              </a:rPr>
              <a:t>byjus.com - Bayes Theorem - Statement, Proof, Formula, Derivation &amp; ...</a:t>
            </a: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reference</a:t>
            </a:r>
            <a:endParaRPr lang="en-US" dirty="0"/>
          </a:p>
        </p:txBody>
      </p:sp>
      <p:sp>
        <p:nvSpPr>
          <p:cNvPr id="3" name="Text Placeholder 2"/>
          <p:cNvSpPr>
            <a:spLocks noGrp="1"/>
          </p:cNvSpPr>
          <p:nvPr>
            <p:ph type="body" sz="quarter" idx="10"/>
          </p:nvPr>
        </p:nvSpPr>
        <p:spPr>
          <a:xfrm>
            <a:off x="601791" y="1351128"/>
            <a:ext cx="11223416" cy="4494196"/>
          </a:xfrm>
        </p:spPr>
        <p:txBody>
          <a:bodyPr/>
          <a:lstStyle/>
          <a:p>
            <a:pPr marL="0" fontAlgn="base">
              <a:lnSpc>
                <a:spcPct val="107000"/>
              </a:lnSpc>
              <a:spcBef>
                <a:spcPts val="0"/>
              </a:spcBef>
              <a:spcAft>
                <a:spcPts val="375"/>
              </a:spcAft>
            </a:pPr>
            <a:r>
              <a:rPr lang="en-US" sz="1800" b="1" kern="1800" dirty="0">
                <a:solidFill>
                  <a:srgbClr val="020F06"/>
                </a:solidFill>
                <a:latin typeface="Georgia" panose="02040502050405020303" pitchFamily="18" charset="0"/>
                <a:cs typeface="Times New Roman" panose="02020603050405020304" pitchFamily="18" charset="0"/>
              </a:rPr>
              <a:t>Siddarth.2022.A Detailed Overview to the Basics of Support Vector Machines in Machine Learning</a:t>
            </a:r>
            <a:r>
              <a:rPr lang="en-US" sz="1800" b="1" kern="1800" dirty="0">
                <a:solidFill>
                  <a:srgbClr val="020F06"/>
                </a:solidFill>
                <a:effectLst/>
                <a:latin typeface="Georgia" panose="02040502050405020303" pitchFamily="18" charset="0"/>
                <a:ea typeface="Times New Roman" panose="02020603050405020304" pitchFamily="18" charset="0"/>
                <a:cs typeface="Times New Roman" panose="02020603050405020304" pitchFamily="18" charset="0"/>
              </a:rPr>
              <a:t> .[Online].Available at: </a:t>
            </a:r>
            <a:r>
              <a:rPr lang="en-US" sz="1800" b="1" kern="1800" dirty="0">
                <a:solidFill>
                  <a:srgbClr val="020F06"/>
                </a:solidFill>
                <a:latin typeface="Georgia" panose="02040502050405020303" pitchFamily="18" charset="0"/>
                <a:cs typeface="Times New Roman" panose="02020603050405020304" pitchFamily="18" charset="0"/>
                <a:hlinkClick r:id="rId3"/>
              </a:rPr>
              <a:t>https://www.pycodemates.com/2022/07/support-vector-machines-detailed-overview.html</a:t>
            </a:r>
            <a:endParaRPr lang="en-US" sz="1800" b="1" kern="1800" dirty="0">
              <a:solidFill>
                <a:srgbClr val="020F06"/>
              </a:solidFill>
              <a:latin typeface="Georgia" panose="02040502050405020303" pitchFamily="18" charset="0"/>
              <a:cs typeface="Times New Roman" panose="02020603050405020304" pitchFamily="18" charset="0"/>
            </a:endParaRPr>
          </a:p>
          <a:p>
            <a:pPr marL="0" fontAlgn="base">
              <a:lnSpc>
                <a:spcPct val="107000"/>
              </a:lnSpc>
              <a:spcBef>
                <a:spcPts val="0"/>
              </a:spcBef>
              <a:spcAft>
                <a:spcPts val="375"/>
              </a:spcAft>
            </a:pPr>
            <a:r>
              <a:rPr lang="en-US" sz="1800" b="1" u="sng" kern="1800" dirty="0" err="1">
                <a:solidFill>
                  <a:srgbClr val="000000"/>
                </a:solidFill>
                <a:effectLst/>
                <a:latin typeface="Georgia" panose="02040502050405020303" pitchFamily="18" charset="0"/>
                <a:ea typeface="Times New Roman" panose="02020603050405020304" pitchFamily="18" charset="0"/>
                <a:cs typeface="Times New Roman" panose="02020603050405020304" pitchFamily="18" charset="0"/>
                <a:hlinkClick r:id="rId4"/>
              </a:rPr>
              <a:t>Kumar.A</a:t>
            </a:r>
            <a:r>
              <a:rPr lang="en-US" sz="1800" b="1" u="sng" kern="1800" dirty="0">
                <a:solidFill>
                  <a:srgbClr val="000000"/>
                </a:solidFill>
                <a:effectLst/>
                <a:latin typeface="Georgia" panose="02040502050405020303" pitchFamily="18" charset="0"/>
                <a:ea typeface="Times New Roman" panose="02020603050405020304" pitchFamily="18" charset="0"/>
                <a:cs typeface="Times New Roman" panose="02020603050405020304" pitchFamily="18" charset="0"/>
                <a:hlinkClick r:id="rId4"/>
              </a:rPr>
              <a:t>.</a:t>
            </a:r>
            <a:r>
              <a:rPr lang="en-US" sz="1800" b="1" kern="1800" dirty="0">
                <a:solidFill>
                  <a:srgbClr val="020F06"/>
                </a:solidFill>
                <a:effectLst/>
                <a:latin typeface="Georgia" panose="02040502050405020303" pitchFamily="18" charset="0"/>
                <a:ea typeface="Times New Roman" panose="02020603050405020304" pitchFamily="18" charset="0"/>
                <a:cs typeface="Times New Roman" panose="02020603050405020304" pitchFamily="18" charset="0"/>
              </a:rPr>
              <a:t> 2023.Support Vector Machine (SVM) Python Example.[Online].Available </a:t>
            </a:r>
            <a:r>
              <a:rPr lang="en-US" sz="1800" b="1" kern="1800" dirty="0" err="1">
                <a:solidFill>
                  <a:srgbClr val="020F06"/>
                </a:solidFill>
                <a:effectLst/>
                <a:latin typeface="Georgia" panose="02040502050405020303" pitchFamily="18" charset="0"/>
                <a:ea typeface="Times New Roman" panose="02020603050405020304" pitchFamily="18" charset="0"/>
                <a:cs typeface="Times New Roman" panose="02020603050405020304" pitchFamily="18" charset="0"/>
              </a:rPr>
              <a:t>at:</a:t>
            </a:r>
            <a:r>
              <a:rPr lang="en-US" sz="1800" b="1" u="sng" kern="1800" dirty="0" err="1">
                <a:solidFill>
                  <a:srgbClr val="000000"/>
                </a:solidFill>
                <a:effectLst/>
                <a:latin typeface="Georgia" panose="02040502050405020303" pitchFamily="18" charset="0"/>
                <a:ea typeface="Times New Roman" panose="02020603050405020304" pitchFamily="18" charset="0"/>
                <a:cs typeface="Times New Roman" panose="02020603050405020304" pitchFamily="18" charset="0"/>
                <a:hlinkClick r:id="rId4"/>
              </a:rPr>
              <a:t>https</a:t>
            </a:r>
            <a:r>
              <a:rPr lang="en-US" sz="1800" b="1" u="sng" kern="1800" dirty="0">
                <a:solidFill>
                  <a:srgbClr val="000000"/>
                </a:solidFill>
                <a:effectLst/>
                <a:latin typeface="Georgia" panose="02040502050405020303" pitchFamily="18" charset="0"/>
                <a:ea typeface="Times New Roman" panose="02020603050405020304" pitchFamily="18" charset="0"/>
                <a:cs typeface="Times New Roman" panose="02020603050405020304" pitchFamily="18" charset="0"/>
                <a:hlinkClick r:id="rId4"/>
              </a:rPr>
              <a:t>://vitalflux.com/classification-model-</a:t>
            </a:r>
            <a:r>
              <a:rPr lang="en-US" sz="1800" b="1" u="sng" kern="1800" dirty="0" err="1">
                <a:solidFill>
                  <a:srgbClr val="000000"/>
                </a:solidFill>
                <a:effectLst/>
                <a:latin typeface="Georgia" panose="02040502050405020303" pitchFamily="18" charset="0"/>
                <a:ea typeface="Times New Roman" panose="02020603050405020304" pitchFamily="18" charset="0"/>
                <a:cs typeface="Times New Roman" panose="02020603050405020304" pitchFamily="18" charset="0"/>
                <a:hlinkClick r:id="rId4"/>
              </a:rPr>
              <a:t>svm</a:t>
            </a:r>
            <a:r>
              <a:rPr lang="en-US" sz="1800" b="1" u="sng" kern="1800" dirty="0">
                <a:solidFill>
                  <a:srgbClr val="000000"/>
                </a:solidFill>
                <a:effectLst/>
                <a:latin typeface="Georgia" panose="02040502050405020303" pitchFamily="18" charset="0"/>
                <a:ea typeface="Times New Roman" panose="02020603050405020304" pitchFamily="18" charset="0"/>
                <a:cs typeface="Times New Roman" panose="02020603050405020304" pitchFamily="18" charset="0"/>
                <a:hlinkClick r:id="rId4"/>
              </a:rPr>
              <a:t>-classifier-python-example/</a:t>
            </a:r>
            <a:endParaRPr lang="en-US" sz="1800" b="1" u="sng" kern="1800" dirty="0">
              <a:solidFill>
                <a:srgbClr val="000000"/>
              </a:solidFill>
              <a:effectLst/>
              <a:latin typeface="Georgia" panose="02040502050405020303" pitchFamily="18" charset="0"/>
              <a:ea typeface="Times New Roman" panose="02020603050405020304" pitchFamily="18" charset="0"/>
              <a:cs typeface="Times New Roman" panose="02020603050405020304" pitchFamily="18" charset="0"/>
            </a:endParaRPr>
          </a:p>
          <a:p>
            <a:pPr marL="0" fontAlgn="base">
              <a:lnSpc>
                <a:spcPct val="107000"/>
              </a:lnSpc>
              <a:spcBef>
                <a:spcPts val="0"/>
              </a:spcBef>
              <a:spcAft>
                <a:spcPts val="375"/>
              </a:spcAft>
            </a:pPr>
            <a:r>
              <a:rPr lang="en-US" sz="1800" b="1" u="sng" kern="1800" dirty="0">
                <a:solidFill>
                  <a:srgbClr val="000000"/>
                </a:solidFill>
                <a:effectLst/>
                <a:latin typeface="Georgia" panose="02040502050405020303" pitchFamily="18" charset="0"/>
                <a:ea typeface="Times New Roman" panose="02020603050405020304" pitchFamily="18" charset="0"/>
                <a:cs typeface="Times New Roman" panose="02020603050405020304" pitchFamily="18" charset="0"/>
              </a:rPr>
              <a:t>Dwarki,V.2022.Support Vector Machines: Python code.[Online].Available at: </a:t>
            </a:r>
            <a:r>
              <a:rPr lang="en-US" sz="1800" b="1" u="sng" kern="1800" dirty="0">
                <a:solidFill>
                  <a:srgbClr val="000000"/>
                </a:solidFill>
                <a:effectLst/>
                <a:latin typeface="Georgia" panose="02040502050405020303" pitchFamily="18" charset="0"/>
                <a:ea typeface="Times New Roman" panose="02020603050405020304" pitchFamily="18" charset="0"/>
                <a:cs typeface="Times New Roman" panose="02020603050405020304" pitchFamily="18" charset="0"/>
                <a:hlinkClick r:id="rId5"/>
              </a:rPr>
              <a:t>https://www.shiksha.com/online-courses/articles/support-vector-machines-python-code/</a:t>
            </a:r>
            <a:endParaRPr lang="en-US" sz="1800" b="1" u="sng" kern="1800" dirty="0">
              <a:solidFill>
                <a:srgbClr val="000000"/>
              </a:solidFill>
              <a:effectLst/>
              <a:latin typeface="Georgia" panose="02040502050405020303" pitchFamily="18" charset="0"/>
              <a:ea typeface="Times New Roman" panose="02020603050405020304" pitchFamily="18" charset="0"/>
              <a:cs typeface="Times New Roman" panose="02020603050405020304" pitchFamily="18" charset="0"/>
            </a:endParaRPr>
          </a:p>
          <a:p>
            <a:pPr marL="0" fontAlgn="base">
              <a:lnSpc>
                <a:spcPct val="107000"/>
              </a:lnSpc>
              <a:spcBef>
                <a:spcPts val="0"/>
              </a:spcBef>
              <a:spcAft>
                <a:spcPts val="375"/>
              </a:spcAft>
            </a:pPr>
            <a:r>
              <a:rPr lang="en-US" sz="1800" b="1" u="sng" kern="1800" dirty="0">
                <a:solidFill>
                  <a:srgbClr val="000000"/>
                </a:solidFill>
                <a:effectLst/>
                <a:latin typeface="Georgia" panose="02040502050405020303" pitchFamily="18" charset="0"/>
                <a:ea typeface="Times New Roman" panose="02020603050405020304" pitchFamily="18" charset="0"/>
                <a:cs typeface="Times New Roman" panose="02020603050405020304" pitchFamily="18" charset="0"/>
              </a:rPr>
              <a:t>Unfold Data Science.2022.Support vector machine in machine learning | Support vector machine python | SVM parameter tuning.[Online].Available at: </a:t>
            </a:r>
            <a:r>
              <a:rPr lang="en-US" sz="1800" b="1" u="sng" kern="1800" dirty="0">
                <a:solidFill>
                  <a:srgbClr val="000000"/>
                </a:solidFill>
                <a:effectLst/>
                <a:latin typeface="Georgia" panose="02040502050405020303" pitchFamily="18" charset="0"/>
                <a:ea typeface="Times New Roman" panose="02020603050405020304" pitchFamily="18" charset="0"/>
                <a:cs typeface="Times New Roman" panose="02020603050405020304" pitchFamily="18" charset="0"/>
                <a:hlinkClick r:id="rId6"/>
              </a:rPr>
              <a:t>https://www.youtube.com/watch?v=VB_OcBYh3bw</a:t>
            </a:r>
            <a:endParaRPr lang="en-US" sz="1800" b="1" u="sng" kern="1800" dirty="0">
              <a:solidFill>
                <a:srgbClr val="000000"/>
              </a:solidFill>
              <a:effectLst/>
              <a:latin typeface="Georgia" panose="02040502050405020303" pitchFamily="18" charset="0"/>
              <a:ea typeface="Times New Roman" panose="02020603050405020304" pitchFamily="18" charset="0"/>
              <a:cs typeface="Times New Roman" panose="02020603050405020304" pitchFamily="18" charset="0"/>
            </a:endParaRPr>
          </a:p>
          <a:p>
            <a:pPr marL="0" fontAlgn="base">
              <a:lnSpc>
                <a:spcPct val="107000"/>
              </a:lnSpc>
              <a:spcBef>
                <a:spcPts val="0"/>
              </a:spcBef>
              <a:spcAft>
                <a:spcPts val="375"/>
              </a:spcAft>
            </a:pPr>
            <a:r>
              <a:rPr lang="en-US" sz="1800" b="1" u="sng" kern="1800" dirty="0">
                <a:solidFill>
                  <a:srgbClr val="000000"/>
                </a:solidFill>
                <a:effectLst/>
                <a:latin typeface="Georgia" panose="02040502050405020303" pitchFamily="18" charset="0"/>
                <a:ea typeface="Times New Roman" panose="02020603050405020304" pitchFamily="18" charset="0"/>
                <a:cs typeface="Times New Roman" panose="02020603050405020304" pitchFamily="18" charset="0"/>
              </a:rPr>
              <a:t>Babar,A,Z.2023.How to implement SVM in Python using Scikit-learn.</a:t>
            </a:r>
          </a:p>
          <a:p>
            <a:pPr marL="0" fontAlgn="base">
              <a:lnSpc>
                <a:spcPct val="107000"/>
              </a:lnSpc>
              <a:spcBef>
                <a:spcPts val="0"/>
              </a:spcBef>
              <a:spcAft>
                <a:spcPts val="375"/>
              </a:spcAft>
            </a:pPr>
            <a:r>
              <a:rPr lang="en-US" sz="1800" b="1" u="sng" kern="1800" dirty="0">
                <a:solidFill>
                  <a:srgbClr val="000000"/>
                </a:solidFill>
                <a:effectLst/>
                <a:latin typeface="Georgia" panose="02040502050405020303" pitchFamily="18" charset="0"/>
                <a:ea typeface="Times New Roman" panose="02020603050405020304" pitchFamily="18" charset="0"/>
                <a:cs typeface="Times New Roman" panose="02020603050405020304" pitchFamily="18" charset="0"/>
              </a:rPr>
              <a:t>https://www.educative.io/answers/how-to-implement-svm-in-python-using-scikit-learn</a:t>
            </a:r>
          </a:p>
          <a:p>
            <a:pPr marL="0" fontAlgn="base">
              <a:lnSpc>
                <a:spcPct val="107000"/>
              </a:lnSpc>
              <a:spcBef>
                <a:spcPts val="0"/>
              </a:spcBef>
              <a:spcAft>
                <a:spcPts val="375"/>
              </a:spcAft>
            </a:pPr>
            <a:endParaRPr lang="en-US" sz="1800" b="1" u="sng" kern="1800" dirty="0">
              <a:solidFill>
                <a:srgbClr val="000000"/>
              </a:solidFill>
              <a:effectLst/>
              <a:latin typeface="Georgia" panose="02040502050405020303" pitchFamily="18" charset="0"/>
              <a:ea typeface="Times New Roman" panose="02020603050405020304" pitchFamily="18" charset="0"/>
              <a:cs typeface="Times New Roman" panose="02020603050405020304" pitchFamily="18" charset="0"/>
            </a:endParaRPr>
          </a:p>
          <a:p>
            <a:pPr marL="0" fontAlgn="base">
              <a:lnSpc>
                <a:spcPct val="107000"/>
              </a:lnSpc>
              <a:spcBef>
                <a:spcPts val="0"/>
              </a:spcBef>
              <a:spcAft>
                <a:spcPts val="375"/>
              </a:spcAft>
            </a:pPr>
            <a:r>
              <a:rPr lang="en-US" sz="1800" dirty="0">
                <a:hlinkClick r:id="rId7"/>
              </a:rPr>
              <a:t>https://www.kaggle.com/code/arshid/support-vector-machine-on-iris-flower-dataset/notebook</a:t>
            </a:r>
            <a:endParaRPr lang="en-US" sz="1800" dirty="0"/>
          </a:p>
          <a:p>
            <a:pPr marL="0" fontAlgn="base">
              <a:lnSpc>
                <a:spcPct val="107000"/>
              </a:lnSpc>
              <a:spcBef>
                <a:spcPts val="0"/>
              </a:spcBef>
              <a:spcAft>
                <a:spcPts val="375"/>
              </a:spcAft>
            </a:pPr>
            <a:r>
              <a:rPr lang="en-US" sz="1200" dirty="0">
                <a:hlinkClick r:id="rId8"/>
              </a:rPr>
              <a:t>SVM 2Dimension-Hyperplane: Visualization | Kaggle</a:t>
            </a:r>
            <a:endParaRPr lang="en-US" sz="1800" dirty="0"/>
          </a:p>
          <a:p>
            <a:pPr marL="0" fontAlgn="base">
              <a:lnSpc>
                <a:spcPct val="107000"/>
              </a:lnSpc>
              <a:spcBef>
                <a:spcPts val="0"/>
              </a:spcBef>
              <a:spcAft>
                <a:spcPts val="375"/>
              </a:spcAft>
            </a:pPr>
            <a:endParaRPr lang="en-US" sz="1800" b="1" u="sng" kern="1800" dirty="0">
              <a:solidFill>
                <a:srgbClr val="000000"/>
              </a:solidFill>
              <a:effectLst/>
              <a:latin typeface="Georgia" panose="02040502050405020303" pitchFamily="18" charset="0"/>
              <a:ea typeface="Times New Roman" panose="02020603050405020304" pitchFamily="18" charset="0"/>
              <a:cs typeface="Times New Roman" panose="02020603050405020304" pitchFamily="18" charset="0"/>
            </a:endParaRPr>
          </a:p>
          <a:p>
            <a:pPr marL="0" fontAlgn="base">
              <a:lnSpc>
                <a:spcPct val="107000"/>
              </a:lnSpc>
              <a:spcBef>
                <a:spcPts val="0"/>
              </a:spcBef>
              <a:spcAft>
                <a:spcPts val="375"/>
              </a:spcAft>
            </a:pPr>
            <a:endParaRPr lang="en-US" sz="1800" b="1" u="sng" kern="1800" dirty="0">
              <a:solidFill>
                <a:srgbClr val="000000"/>
              </a:solidFill>
              <a:effectLst/>
              <a:latin typeface="Georgia" panose="02040502050405020303" pitchFamily="18" charset="0"/>
              <a:ea typeface="Times New Roman" panose="02020603050405020304" pitchFamily="18" charset="0"/>
              <a:cs typeface="Times New Roman" panose="02020603050405020304" pitchFamily="18" charset="0"/>
            </a:endParaRPr>
          </a:p>
          <a:p>
            <a:pPr marL="0" fontAlgn="base">
              <a:lnSpc>
                <a:spcPct val="107000"/>
              </a:lnSpc>
              <a:spcBef>
                <a:spcPts val="0"/>
              </a:spcBef>
              <a:spcAft>
                <a:spcPts val="375"/>
              </a:spcAft>
            </a:pPr>
            <a:endParaRPr lang="en-US" sz="1800" b="1" u="sng" kern="1800" dirty="0">
              <a:solidFill>
                <a:srgbClr val="000000"/>
              </a:solidFill>
              <a:effectLst/>
              <a:latin typeface="Georgia" panose="02040502050405020303" pitchFamily="18" charset="0"/>
              <a:ea typeface="Times New Roman" panose="02020603050405020304" pitchFamily="18" charset="0"/>
              <a:cs typeface="Times New Roman" panose="02020603050405020304" pitchFamily="18" charset="0"/>
            </a:endParaRPr>
          </a:p>
          <a:p>
            <a:pPr marL="0" fontAlgn="base">
              <a:lnSpc>
                <a:spcPct val="107000"/>
              </a:lnSpc>
              <a:spcBef>
                <a:spcPts val="0"/>
              </a:spcBef>
              <a:spcAft>
                <a:spcPts val="375"/>
              </a:spcAft>
            </a:pPr>
            <a:endParaRPr lang="en-US" sz="1800" b="1" u="sng" kern="1800" dirty="0">
              <a:solidFill>
                <a:srgbClr val="000000"/>
              </a:solidFill>
              <a:effectLst/>
              <a:latin typeface="Georgia" panose="02040502050405020303" pitchFamily="18" charset="0"/>
              <a:ea typeface="Times New Roman" panose="02020603050405020304" pitchFamily="18" charset="0"/>
              <a:cs typeface="Times New Roman" panose="02020603050405020304" pitchFamily="18" charset="0"/>
            </a:endParaRPr>
          </a:p>
          <a:p>
            <a:pPr marL="0" fontAlgn="base">
              <a:lnSpc>
                <a:spcPct val="107000"/>
              </a:lnSpc>
              <a:spcBef>
                <a:spcPts val="0"/>
              </a:spcBef>
              <a:spcAft>
                <a:spcPts val="375"/>
              </a:spcAft>
            </a:pPr>
            <a:endParaRPr lang="en-US" sz="1800" b="1" u="sng" kern="1800" dirty="0">
              <a:solidFill>
                <a:srgbClr val="000000"/>
              </a:solidFill>
              <a:effectLst/>
              <a:latin typeface="Georgia" panose="02040502050405020303" pitchFamily="18" charset="0"/>
              <a:ea typeface="Times New Roman" panose="02020603050405020304" pitchFamily="18" charset="0"/>
              <a:cs typeface="Times New Roman" panose="02020603050405020304" pitchFamily="18" charset="0"/>
            </a:endParaRPr>
          </a:p>
          <a:p>
            <a:pPr marL="0" fontAlgn="base">
              <a:lnSpc>
                <a:spcPct val="107000"/>
              </a:lnSpc>
              <a:spcBef>
                <a:spcPts val="0"/>
              </a:spcBef>
              <a:spcAft>
                <a:spcPts val="375"/>
              </a:spcAft>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Light blue-Cov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Pearson slid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Light blue-inside slid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With pictur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Back cov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386AD14CB602547BFCB7D842FEF14EE" ma:contentTypeVersion="15" ma:contentTypeDescription="Create a new document." ma:contentTypeScope="" ma:versionID="0a40da80dfba2f26db4fd96ff563ad7b">
  <xsd:schema xmlns:xsd="http://www.w3.org/2001/XMLSchema" xmlns:xs="http://www.w3.org/2001/XMLSchema" xmlns:p="http://schemas.microsoft.com/office/2006/metadata/properties" xmlns:ns2="6b1a28a2-5857-4321-9bd8-c602fba5c8bc" xmlns:ns3="5086911d-6e48-4cf3-b087-1eb55996afa6" targetNamespace="http://schemas.microsoft.com/office/2006/metadata/properties" ma:root="true" ma:fieldsID="11a481746c084991ab5e77ba1922d2a7" ns2:_="" ns3:_="">
    <xsd:import namespace="6b1a28a2-5857-4321-9bd8-c602fba5c8bc"/>
    <xsd:import namespace="5086911d-6e48-4cf3-b087-1eb55996afa6"/>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1a28a2-5857-4321-9bd8-c602fba5c8b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Extracted Text" ma:internalName="MediaServiceOCR" ma:readOnly="true">
      <xsd:simpleType>
        <xsd:restriction base="dms:Note">
          <xsd:maxLength value="255"/>
        </xsd:restriction>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7" nillable="true" ma:displayName="MediaServiceDateTaken" ma:hidden="true" ma:internalName="MediaServiceDateTaken" ma:readOnly="true">
      <xsd:simpleType>
        <xsd:restriction base="dms:Text"/>
      </xsd:simpleType>
    </xsd:element>
    <xsd:element name="MediaLengthInSeconds" ma:index="18" nillable="true" ma:displayName="Length (seconds)"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4247cd83-a7c4-41c3-9ccf-b3de8fb2a78f"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5086911d-6e48-4cf3-b087-1eb55996afa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9339b10e-c275-4384-8e68-845348d9a81e}" ma:internalName="TaxCatchAll" ma:showField="CatchAllData" ma:web="5086911d-6e48-4cf3-b087-1eb55996afa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6b1a28a2-5857-4321-9bd8-c602fba5c8bc">
      <Terms xmlns="http://schemas.microsoft.com/office/infopath/2007/PartnerControls"/>
    </lcf76f155ced4ddcb4097134ff3c332f>
    <TaxCatchAll xmlns="5086911d-6e48-4cf3-b087-1eb55996afa6" xsi:nil="true"/>
  </documentManagement>
</p:properties>
</file>

<file path=customXml/itemProps1.xml><?xml version="1.0" encoding="utf-8"?>
<ds:datastoreItem xmlns:ds="http://schemas.openxmlformats.org/officeDocument/2006/customXml" ds:itemID="{1CD98CFB-87FF-4F64-909A-59E33F34D3A2}">
  <ds:schemaRefs/>
</ds:datastoreItem>
</file>

<file path=customXml/itemProps2.xml><?xml version="1.0" encoding="utf-8"?>
<ds:datastoreItem xmlns:ds="http://schemas.openxmlformats.org/officeDocument/2006/customXml" ds:itemID="{6C646771-6858-4219-8EED-568113B40FBA}">
  <ds:schemaRefs/>
</ds:datastoreItem>
</file>

<file path=customXml/itemProps3.xml><?xml version="1.0" encoding="utf-8"?>
<ds:datastoreItem xmlns:ds="http://schemas.openxmlformats.org/officeDocument/2006/customXml" ds:itemID="{99EB430B-3238-4720-AB36-9310149DF86F}">
  <ds:schemaRefs/>
</ds:datastoreItem>
</file>

<file path=docProps/app.xml><?xml version="1.0" encoding="utf-8"?>
<Properties xmlns="http://schemas.openxmlformats.org/officeDocument/2006/extended-properties" xmlns:vt="http://schemas.openxmlformats.org/officeDocument/2006/docPropsVTypes">
  <Template>Light blue-Cover</Template>
  <TotalTime>0</TotalTime>
  <Words>5865</Words>
  <Application>Microsoft Office PowerPoint</Application>
  <PresentationFormat>Widescreen</PresentationFormat>
  <Paragraphs>439</Paragraphs>
  <Slides>52</Slides>
  <Notes>21</Notes>
  <HiddenSlides>0</HiddenSlides>
  <MMClips>0</MMClips>
  <ScaleCrop>false</ScaleCrop>
  <HeadingPairs>
    <vt:vector size="6" baseType="variant">
      <vt:variant>
        <vt:lpstr>Fonts Used</vt:lpstr>
      </vt:variant>
      <vt:variant>
        <vt:i4>12</vt:i4>
      </vt:variant>
      <vt:variant>
        <vt:lpstr>Theme</vt:lpstr>
      </vt:variant>
      <vt:variant>
        <vt:i4>5</vt:i4>
      </vt:variant>
      <vt:variant>
        <vt:lpstr>Slide Titles</vt:lpstr>
      </vt:variant>
      <vt:variant>
        <vt:i4>52</vt:i4>
      </vt:variant>
    </vt:vector>
  </HeadingPairs>
  <TitlesOfParts>
    <vt:vector size="69" baseType="lpstr">
      <vt:lpstr>Arial</vt:lpstr>
      <vt:lpstr>Calibri</vt:lpstr>
      <vt:lpstr>Consolas</vt:lpstr>
      <vt:lpstr>Georgia</vt:lpstr>
      <vt:lpstr>inherit</vt:lpstr>
      <vt:lpstr>Inter</vt:lpstr>
      <vt:lpstr>Menlo</vt:lpstr>
      <vt:lpstr>Noto Sans</vt:lpstr>
      <vt:lpstr>Studio-Feixen-Sans</vt:lpstr>
      <vt:lpstr>Symbol</vt:lpstr>
      <vt:lpstr>Times New Roman</vt:lpstr>
      <vt:lpstr>Trebuchet MS</vt:lpstr>
      <vt:lpstr>Light blue-Cover</vt:lpstr>
      <vt:lpstr>Pearson slide</vt:lpstr>
      <vt:lpstr>Light blue-inside slide</vt:lpstr>
      <vt:lpstr>With picture</vt:lpstr>
      <vt:lpstr>1_Back cover</vt:lpstr>
      <vt:lpstr>Applied Machine learning</vt:lpstr>
      <vt:lpstr>Applied Machine learning </vt:lpstr>
      <vt:lpstr>Applied Machine learning</vt:lpstr>
      <vt:lpstr>Learning objectives</vt:lpstr>
      <vt:lpstr>PowerPoint Presentation</vt:lpstr>
      <vt:lpstr>PowerPoint Presentation</vt:lpstr>
      <vt:lpstr>Confusion matrix  </vt:lpstr>
      <vt:lpstr>Example of confusion matrix</vt:lpstr>
      <vt:lpstr>PowerPoint Presentation</vt:lpstr>
      <vt:lpstr>Naïve Bayes Classifier</vt:lpstr>
      <vt:lpstr>Cont..</vt:lpstr>
      <vt:lpstr>Advantages &amp; Disadvantage of naïve bayes</vt:lpstr>
      <vt:lpstr>Where is naïve bayes used </vt:lpstr>
      <vt:lpstr>K-fold Cross Validation</vt:lpstr>
      <vt:lpstr>Using python</vt:lpstr>
      <vt:lpstr>Introduction to probability</vt:lpstr>
      <vt:lpstr>Bayes theorem</vt:lpstr>
      <vt:lpstr>How naïve Bayes algorithm works?</vt:lpstr>
      <vt:lpstr>Frequency table</vt:lpstr>
      <vt:lpstr>Likelihood table</vt:lpstr>
      <vt:lpstr>Naïve bayes technique</vt:lpstr>
      <vt:lpstr>Probabilty </vt:lpstr>
      <vt:lpstr>example</vt:lpstr>
      <vt:lpstr>PowerPoint Presentation</vt:lpstr>
      <vt:lpstr>SVM introduction</vt:lpstr>
      <vt:lpstr>Key terms</vt:lpstr>
      <vt:lpstr>SVM Working</vt:lpstr>
      <vt:lpstr>SVM Working cont..</vt:lpstr>
      <vt:lpstr>Advantages and disadvantages</vt:lpstr>
      <vt:lpstr>Tuning hyperparameters</vt:lpstr>
      <vt:lpstr>Tuning hyperparameters</vt:lpstr>
      <vt:lpstr>Tuning hyperparameters</vt:lpstr>
      <vt:lpstr>parameters</vt:lpstr>
      <vt:lpstr>parameters</vt:lpstr>
      <vt:lpstr>Application of svm</vt:lpstr>
      <vt:lpstr>Overview: svm</vt:lpstr>
      <vt:lpstr>SVM</vt:lpstr>
      <vt:lpstr>Support vector classification (SVC)</vt:lpstr>
      <vt:lpstr>How svm works</vt:lpstr>
      <vt:lpstr>Another challenge</vt:lpstr>
      <vt:lpstr>Visual view</vt:lpstr>
      <vt:lpstr>example</vt:lpstr>
      <vt:lpstr>example</vt:lpstr>
      <vt:lpstr>visual</vt:lpstr>
      <vt:lpstr>example</vt:lpstr>
      <vt:lpstr>PowerPoint Presentation</vt:lpstr>
      <vt:lpstr>Key terminologies of SVM</vt:lpstr>
      <vt:lpstr>SVM coding video</vt:lpstr>
      <vt:lpstr>reference</vt:lpstr>
      <vt:lpstr>reference</vt:lpstr>
      <vt:lpstr>reference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Bachelor’s degree</dc:title>
  <dc:creator>Nalinda Somasiri</dc:creator>
  <cp:lastModifiedBy>Somdip Dey</cp:lastModifiedBy>
  <cp:revision>51</cp:revision>
  <dcterms:created xsi:type="dcterms:W3CDTF">2021-07-24T10:34:00Z</dcterms:created>
  <dcterms:modified xsi:type="dcterms:W3CDTF">2026-02-15T15:00:26Z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0x010100E386AD14CB602547BFCB7D842FEF14EE</vt:lpwstr>
  </property>
  <property fmtid="{D5CDD505-2E9C-101B-9397-08002B2CF9AE}" pid="3" name="MediaServiceImageTags">
    <vt:lpwstr/>
  </property>
  <property fmtid="{D5CDD505-2E9C-101B-9397-08002B2CF9AE}" pid="4" name="ICV">
    <vt:lpwstr>0B32631684974F5CB797C9B8F5176B6C_13</vt:lpwstr>
  </property>
  <property fmtid="{D5CDD505-2E9C-101B-9397-08002B2CF9AE}" pid="5" name="KSOProductBuildVer">
    <vt:lpwstr>1033-12.2.0.22549</vt:lpwstr>
  </property>
</Properties>
</file>