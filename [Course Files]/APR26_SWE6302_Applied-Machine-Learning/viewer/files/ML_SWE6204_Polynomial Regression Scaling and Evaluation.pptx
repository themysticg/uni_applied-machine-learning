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29"/>
  </p:notesMasterIdLst>
  <p:sldIdLst>
    <p:sldId id="261" r:id="rId9"/>
    <p:sldId id="257" r:id="rId10"/>
    <p:sldId id="265" r:id="rId11"/>
    <p:sldId id="311" r:id="rId12"/>
    <p:sldId id="362" r:id="rId13"/>
    <p:sldId id="313" r:id="rId14"/>
    <p:sldId id="379" r:id="rId15"/>
    <p:sldId id="380" r:id="rId16"/>
    <p:sldId id="314" r:id="rId17"/>
    <p:sldId id="316" r:id="rId18"/>
    <p:sldId id="374" r:id="rId19"/>
    <p:sldId id="378" r:id="rId20"/>
    <p:sldId id="366" r:id="rId21"/>
    <p:sldId id="367" r:id="rId22"/>
    <p:sldId id="368" r:id="rId23"/>
    <p:sldId id="369" r:id="rId24"/>
    <p:sldId id="377" r:id="rId25"/>
    <p:sldId id="381" r:id="rId26"/>
    <p:sldId id="332" r:id="rId27"/>
    <p:sldId id="26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34EB6-0927-41C6-89BC-A80A0E3BAAF8}" v="17" dt="2023-03-29T10:33:45.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40" autoAdjust="0"/>
    <p:restoredTop sz="93792" autoAdjust="0"/>
  </p:normalViewPr>
  <p:slideViewPr>
    <p:cSldViewPr snapToGrid="0">
      <p:cViewPr varScale="1">
        <p:scale>
          <a:sx n="67" d="100"/>
          <a:sy n="67" d="100"/>
        </p:scale>
        <p:origin x="416" y="4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mlata Sheoran" userId="622bcd2c-7b88-482c-87fa-3fb3dcfc9337" providerId="ADAL" clId="{48934EB6-0927-41C6-89BC-A80A0E3BAAF8}"/>
    <pc:docChg chg="undo custSel addSld delSld modSld sldOrd">
      <pc:chgData name="Kusmlata Sheoran" userId="622bcd2c-7b88-482c-87fa-3fb3dcfc9337" providerId="ADAL" clId="{48934EB6-0927-41C6-89BC-A80A0E3BAAF8}" dt="2023-03-29T10:34:28.901" v="545" actId="14100"/>
      <pc:docMkLst>
        <pc:docMk/>
      </pc:docMkLst>
      <pc:sldChg chg="del">
        <pc:chgData name="Kusmlata Sheoran" userId="622bcd2c-7b88-482c-87fa-3fb3dcfc9337" providerId="ADAL" clId="{48934EB6-0927-41C6-89BC-A80A0E3BAAF8}" dt="2023-03-29T08:51:20.120" v="0" actId="47"/>
        <pc:sldMkLst>
          <pc:docMk/>
          <pc:sldMk cId="1741829112" sldId="306"/>
        </pc:sldMkLst>
      </pc:sldChg>
      <pc:sldChg chg="modSp mod">
        <pc:chgData name="Kusmlata Sheoran" userId="622bcd2c-7b88-482c-87fa-3fb3dcfc9337" providerId="ADAL" clId="{48934EB6-0927-41C6-89BC-A80A0E3BAAF8}" dt="2023-03-29T09:00:49.972" v="110" actId="20577"/>
        <pc:sldMkLst>
          <pc:docMk/>
          <pc:sldMk cId="1752993917" sldId="311"/>
        </pc:sldMkLst>
        <pc:spChg chg="mod">
          <ac:chgData name="Kusmlata Sheoran" userId="622bcd2c-7b88-482c-87fa-3fb3dcfc9337" providerId="ADAL" clId="{48934EB6-0927-41C6-89BC-A80A0E3BAAF8}" dt="2023-03-29T09:00:49.972" v="110" actId="20577"/>
          <ac:spMkLst>
            <pc:docMk/>
            <pc:sldMk cId="1752993917" sldId="311"/>
            <ac:spMk id="3" creationId="{03912611-42E7-6849-885B-99D97037DE6F}"/>
          </ac:spMkLst>
        </pc:spChg>
      </pc:sldChg>
      <pc:sldChg chg="ord">
        <pc:chgData name="Kusmlata Sheoran" userId="622bcd2c-7b88-482c-87fa-3fb3dcfc9337" providerId="ADAL" clId="{48934EB6-0927-41C6-89BC-A80A0E3BAAF8}" dt="2023-03-29T10:10:44.599" v="177"/>
        <pc:sldMkLst>
          <pc:docMk/>
          <pc:sldMk cId="2607557876" sldId="313"/>
        </pc:sldMkLst>
      </pc:sldChg>
      <pc:sldChg chg="del">
        <pc:chgData name="Kusmlata Sheoran" userId="622bcd2c-7b88-482c-87fa-3fb3dcfc9337" providerId="ADAL" clId="{48934EB6-0927-41C6-89BC-A80A0E3BAAF8}" dt="2023-03-29T08:54:07.025" v="2" actId="47"/>
        <pc:sldMkLst>
          <pc:docMk/>
          <pc:sldMk cId="1345781294" sldId="315"/>
        </pc:sldMkLst>
      </pc:sldChg>
      <pc:sldChg chg="modSp mod">
        <pc:chgData name="Kusmlata Sheoran" userId="622bcd2c-7b88-482c-87fa-3fb3dcfc9337" providerId="ADAL" clId="{48934EB6-0927-41C6-89BC-A80A0E3BAAF8}" dt="2023-03-29T09:52:05.178" v="175" actId="6549"/>
        <pc:sldMkLst>
          <pc:docMk/>
          <pc:sldMk cId="1476343682" sldId="316"/>
        </pc:sldMkLst>
        <pc:spChg chg="mod">
          <ac:chgData name="Kusmlata Sheoran" userId="622bcd2c-7b88-482c-87fa-3fb3dcfc9337" providerId="ADAL" clId="{48934EB6-0927-41C6-89BC-A80A0E3BAAF8}" dt="2023-03-29T09:52:05.178" v="175" actId="6549"/>
          <ac:spMkLst>
            <pc:docMk/>
            <pc:sldMk cId="1476343682" sldId="316"/>
            <ac:spMk id="8" creationId="{0FDBDB8D-B6C6-5C47-B100-FF6962AC1F7F}"/>
          </ac:spMkLst>
        </pc:spChg>
      </pc:sldChg>
      <pc:sldChg chg="modSp add mod ord modNotesTx">
        <pc:chgData name="Kusmlata Sheoran" userId="622bcd2c-7b88-482c-87fa-3fb3dcfc9337" providerId="ADAL" clId="{48934EB6-0927-41C6-89BC-A80A0E3BAAF8}" dt="2023-03-29T10:32:27.718" v="528" actId="6549"/>
        <pc:sldMkLst>
          <pc:docMk/>
          <pc:sldMk cId="2268504771" sldId="332"/>
        </pc:sldMkLst>
        <pc:spChg chg="mod">
          <ac:chgData name="Kusmlata Sheoran" userId="622bcd2c-7b88-482c-87fa-3fb3dcfc9337" providerId="ADAL" clId="{48934EB6-0927-41C6-89BC-A80A0E3BAAF8}" dt="2023-03-29T10:32:27.718" v="528" actId="6549"/>
          <ac:spMkLst>
            <pc:docMk/>
            <pc:sldMk cId="2268504771" sldId="332"/>
            <ac:spMk id="3" creationId="{92D99743-9794-73A0-D52C-98A5433C6CDF}"/>
          </ac:spMkLst>
        </pc:spChg>
      </pc:sldChg>
      <pc:sldChg chg="modSp add mod ord">
        <pc:chgData name="Kusmlata Sheoran" userId="622bcd2c-7b88-482c-87fa-3fb3dcfc9337" providerId="ADAL" clId="{48934EB6-0927-41C6-89BC-A80A0E3BAAF8}" dt="2023-03-29T09:51:27.659" v="174" actId="255"/>
        <pc:sldMkLst>
          <pc:docMk/>
          <pc:sldMk cId="1611153664" sldId="362"/>
        </pc:sldMkLst>
        <pc:spChg chg="mod">
          <ac:chgData name="Kusmlata Sheoran" userId="622bcd2c-7b88-482c-87fa-3fb3dcfc9337" providerId="ADAL" clId="{48934EB6-0927-41C6-89BC-A80A0E3BAAF8}" dt="2023-03-29T09:51:27.659" v="174" actId="255"/>
          <ac:spMkLst>
            <pc:docMk/>
            <pc:sldMk cId="1611153664" sldId="362"/>
            <ac:spMk id="3" creationId="{463594A1-A6C1-D3E3-F94D-5EB7B74047A2}"/>
          </ac:spMkLst>
        </pc:spChg>
      </pc:sldChg>
      <pc:sldChg chg="add del">
        <pc:chgData name="Kusmlata Sheoran" userId="622bcd2c-7b88-482c-87fa-3fb3dcfc9337" providerId="ADAL" clId="{48934EB6-0927-41C6-89BC-A80A0E3BAAF8}" dt="2023-03-29T08:56:52.201" v="10"/>
        <pc:sldMkLst>
          <pc:docMk/>
          <pc:sldMk cId="2050301970" sldId="363"/>
        </pc:sldMkLst>
      </pc:sldChg>
      <pc:sldChg chg="add del">
        <pc:chgData name="Kusmlata Sheoran" userId="622bcd2c-7b88-482c-87fa-3fb3dcfc9337" providerId="ADAL" clId="{48934EB6-0927-41C6-89BC-A80A0E3BAAF8}" dt="2023-03-29T08:56:51.153" v="9"/>
        <pc:sldMkLst>
          <pc:docMk/>
          <pc:sldMk cId="361118738" sldId="364"/>
        </pc:sldMkLst>
      </pc:sldChg>
      <pc:sldChg chg="add del">
        <pc:chgData name="Kusmlata Sheoran" userId="622bcd2c-7b88-482c-87fa-3fb3dcfc9337" providerId="ADAL" clId="{48934EB6-0927-41C6-89BC-A80A0E3BAAF8}" dt="2023-03-29T08:56:49.904" v="8"/>
        <pc:sldMkLst>
          <pc:docMk/>
          <pc:sldMk cId="4048451439" sldId="365"/>
        </pc:sldMkLst>
      </pc:sldChg>
      <pc:sldChg chg="add">
        <pc:chgData name="Kusmlata Sheoran" userId="622bcd2c-7b88-482c-87fa-3fb3dcfc9337" providerId="ADAL" clId="{48934EB6-0927-41C6-89BC-A80A0E3BAAF8}" dt="2023-03-29T10:23:50.814" v="292"/>
        <pc:sldMkLst>
          <pc:docMk/>
          <pc:sldMk cId="4035106074" sldId="366"/>
        </pc:sldMkLst>
      </pc:sldChg>
      <pc:sldChg chg="modSp add del mod">
        <pc:chgData name="Kusmlata Sheoran" userId="622bcd2c-7b88-482c-87fa-3fb3dcfc9337" providerId="ADAL" clId="{48934EB6-0927-41C6-89BC-A80A0E3BAAF8}" dt="2023-03-29T10:23:43.428" v="291" actId="2696"/>
        <pc:sldMkLst>
          <pc:docMk/>
          <pc:sldMk cId="4073081712" sldId="366"/>
        </pc:sldMkLst>
        <pc:spChg chg="mod">
          <ac:chgData name="Kusmlata Sheoran" userId="622bcd2c-7b88-482c-87fa-3fb3dcfc9337" providerId="ADAL" clId="{48934EB6-0927-41C6-89BC-A80A0E3BAAF8}" dt="2023-03-29T10:12:01.473" v="181" actId="6549"/>
          <ac:spMkLst>
            <pc:docMk/>
            <pc:sldMk cId="4073081712" sldId="366"/>
            <ac:spMk id="3" creationId="{0047EFC6-4809-17F0-8C50-8EFFAC62DFF3}"/>
          </ac:spMkLst>
        </pc:spChg>
      </pc:sldChg>
      <pc:sldChg chg="modSp add del mod">
        <pc:chgData name="Kusmlata Sheoran" userId="622bcd2c-7b88-482c-87fa-3fb3dcfc9337" providerId="ADAL" clId="{48934EB6-0927-41C6-89BC-A80A0E3BAAF8}" dt="2023-03-29T10:23:43.428" v="291" actId="2696"/>
        <pc:sldMkLst>
          <pc:docMk/>
          <pc:sldMk cId="1040027206" sldId="367"/>
        </pc:sldMkLst>
        <pc:spChg chg="mod">
          <ac:chgData name="Kusmlata Sheoran" userId="622bcd2c-7b88-482c-87fa-3fb3dcfc9337" providerId="ADAL" clId="{48934EB6-0927-41C6-89BC-A80A0E3BAAF8}" dt="2023-03-29T10:12:16.836" v="182" actId="14100"/>
          <ac:spMkLst>
            <pc:docMk/>
            <pc:sldMk cId="1040027206" sldId="367"/>
            <ac:spMk id="3" creationId="{143D4218-E289-D04D-451A-DE48FFC9C05D}"/>
          </ac:spMkLst>
        </pc:spChg>
        <pc:spChg chg="mod">
          <ac:chgData name="Kusmlata Sheoran" userId="622bcd2c-7b88-482c-87fa-3fb3dcfc9337" providerId="ADAL" clId="{48934EB6-0927-41C6-89BC-A80A0E3BAAF8}" dt="2023-03-29T10:12:20.829" v="183" actId="14100"/>
          <ac:spMkLst>
            <pc:docMk/>
            <pc:sldMk cId="1040027206" sldId="367"/>
            <ac:spMk id="4" creationId="{89A83ADB-D15B-E90B-48D3-8083D3622939}"/>
          </ac:spMkLst>
        </pc:spChg>
      </pc:sldChg>
      <pc:sldChg chg="add">
        <pc:chgData name="Kusmlata Sheoran" userId="622bcd2c-7b88-482c-87fa-3fb3dcfc9337" providerId="ADAL" clId="{48934EB6-0927-41C6-89BC-A80A0E3BAAF8}" dt="2023-03-29T10:23:50.814" v="292"/>
        <pc:sldMkLst>
          <pc:docMk/>
          <pc:sldMk cId="4053776504" sldId="367"/>
        </pc:sldMkLst>
      </pc:sldChg>
      <pc:sldChg chg="modSp add del mod">
        <pc:chgData name="Kusmlata Sheoran" userId="622bcd2c-7b88-482c-87fa-3fb3dcfc9337" providerId="ADAL" clId="{48934EB6-0927-41C6-89BC-A80A0E3BAAF8}" dt="2023-03-29T10:23:43.428" v="291" actId="2696"/>
        <pc:sldMkLst>
          <pc:docMk/>
          <pc:sldMk cId="420273681" sldId="368"/>
        </pc:sldMkLst>
        <pc:spChg chg="mod">
          <ac:chgData name="Kusmlata Sheoran" userId="622bcd2c-7b88-482c-87fa-3fb3dcfc9337" providerId="ADAL" clId="{48934EB6-0927-41C6-89BC-A80A0E3BAAF8}" dt="2023-03-29T10:12:34.323" v="185" actId="207"/>
          <ac:spMkLst>
            <pc:docMk/>
            <pc:sldMk cId="420273681" sldId="368"/>
            <ac:spMk id="3" creationId="{38839B19-DB84-DB9A-F558-C46CF0776EF3}"/>
          </ac:spMkLst>
        </pc:spChg>
      </pc:sldChg>
      <pc:sldChg chg="add">
        <pc:chgData name="Kusmlata Sheoran" userId="622bcd2c-7b88-482c-87fa-3fb3dcfc9337" providerId="ADAL" clId="{48934EB6-0927-41C6-89BC-A80A0E3BAAF8}" dt="2023-03-29T10:23:50.814" v="292"/>
        <pc:sldMkLst>
          <pc:docMk/>
          <pc:sldMk cId="3242614806" sldId="368"/>
        </pc:sldMkLst>
      </pc:sldChg>
      <pc:sldChg chg="modSp add mod">
        <pc:chgData name="Kusmlata Sheoran" userId="622bcd2c-7b88-482c-87fa-3fb3dcfc9337" providerId="ADAL" clId="{48934EB6-0927-41C6-89BC-A80A0E3BAAF8}" dt="2023-03-29T10:34:28.901" v="545" actId="14100"/>
        <pc:sldMkLst>
          <pc:docMk/>
          <pc:sldMk cId="491155546" sldId="369"/>
        </pc:sldMkLst>
        <pc:spChg chg="mod">
          <ac:chgData name="Kusmlata Sheoran" userId="622bcd2c-7b88-482c-87fa-3fb3dcfc9337" providerId="ADAL" clId="{48934EB6-0927-41C6-89BC-A80A0E3BAAF8}" dt="2023-03-29T10:34:28.901" v="545" actId="14100"/>
          <ac:spMkLst>
            <pc:docMk/>
            <pc:sldMk cId="491155546" sldId="369"/>
            <ac:spMk id="3" creationId="{87809790-177B-B8E4-468D-74F1A0F73FD1}"/>
          </ac:spMkLst>
        </pc:spChg>
      </pc:sldChg>
      <pc:sldChg chg="modSp add del mod">
        <pc:chgData name="Kusmlata Sheoran" userId="622bcd2c-7b88-482c-87fa-3fb3dcfc9337" providerId="ADAL" clId="{48934EB6-0927-41C6-89BC-A80A0E3BAAF8}" dt="2023-03-29T10:23:43.428" v="291" actId="2696"/>
        <pc:sldMkLst>
          <pc:docMk/>
          <pc:sldMk cId="1813316650" sldId="369"/>
        </pc:sldMkLst>
        <pc:spChg chg="mod">
          <ac:chgData name="Kusmlata Sheoran" userId="622bcd2c-7b88-482c-87fa-3fb3dcfc9337" providerId="ADAL" clId="{48934EB6-0927-41C6-89BC-A80A0E3BAAF8}" dt="2023-03-29T10:13:34.169" v="194" actId="6549"/>
          <ac:spMkLst>
            <pc:docMk/>
            <pc:sldMk cId="1813316650" sldId="369"/>
            <ac:spMk id="3" creationId="{87809790-177B-B8E4-468D-74F1A0F73FD1}"/>
          </ac:spMkLst>
        </pc:spChg>
      </pc:sldChg>
      <pc:sldChg chg="add del">
        <pc:chgData name="Kusmlata Sheoran" userId="622bcd2c-7b88-482c-87fa-3fb3dcfc9337" providerId="ADAL" clId="{48934EB6-0927-41C6-89BC-A80A0E3BAAF8}" dt="2023-03-29T09:37:14.392" v="115" actId="47"/>
        <pc:sldMkLst>
          <pc:docMk/>
          <pc:sldMk cId="4094932937" sldId="370"/>
        </pc:sldMkLst>
      </pc:sldChg>
      <pc:sldChg chg="modSp add del mod">
        <pc:chgData name="Kusmlata Sheoran" userId="622bcd2c-7b88-482c-87fa-3fb3dcfc9337" providerId="ADAL" clId="{48934EB6-0927-41C6-89BC-A80A0E3BAAF8}" dt="2023-03-29T10:25:53.536" v="293" actId="47"/>
        <pc:sldMkLst>
          <pc:docMk/>
          <pc:sldMk cId="3147470216" sldId="371"/>
        </pc:sldMkLst>
        <pc:spChg chg="mod">
          <ac:chgData name="Kusmlata Sheoran" userId="622bcd2c-7b88-482c-87fa-3fb3dcfc9337" providerId="ADAL" clId="{48934EB6-0927-41C6-89BC-A80A0E3BAAF8}" dt="2023-03-29T08:59:41.830" v="23" actId="20577"/>
          <ac:spMkLst>
            <pc:docMk/>
            <pc:sldMk cId="3147470216" sldId="371"/>
            <ac:spMk id="2" creationId="{7EA35ABF-0966-0238-C87D-54C7C411EE8F}"/>
          </ac:spMkLst>
        </pc:spChg>
        <pc:spChg chg="mod">
          <ac:chgData name="Kusmlata Sheoran" userId="622bcd2c-7b88-482c-87fa-3fb3dcfc9337" providerId="ADAL" clId="{48934EB6-0927-41C6-89BC-A80A0E3BAAF8}" dt="2023-03-29T09:37:27.153" v="119" actId="6549"/>
          <ac:spMkLst>
            <pc:docMk/>
            <pc:sldMk cId="3147470216" sldId="371"/>
            <ac:spMk id="3" creationId="{344D8285-9724-58B8-D00C-382D19C5C495}"/>
          </ac:spMkLst>
        </pc:spChg>
      </pc:sldChg>
      <pc:sldChg chg="modSp add mod">
        <pc:chgData name="Kusmlata Sheoran" userId="622bcd2c-7b88-482c-87fa-3fb3dcfc9337" providerId="ADAL" clId="{48934EB6-0927-41C6-89BC-A80A0E3BAAF8}" dt="2023-03-29T10:33:30.354" v="542" actId="20577"/>
        <pc:sldMkLst>
          <pc:docMk/>
          <pc:sldMk cId="3820216795" sldId="374"/>
        </pc:sldMkLst>
        <pc:spChg chg="mod">
          <ac:chgData name="Kusmlata Sheoran" userId="622bcd2c-7b88-482c-87fa-3fb3dcfc9337" providerId="ADAL" clId="{48934EB6-0927-41C6-89BC-A80A0E3BAAF8}" dt="2023-03-29T10:33:30.354" v="542" actId="20577"/>
          <ac:spMkLst>
            <pc:docMk/>
            <pc:sldMk cId="3820216795" sldId="374"/>
            <ac:spMk id="3" creationId="{FBDBA7B7-483A-B6D6-204F-3BD5604C2670}"/>
          </ac:spMkLst>
        </pc:spChg>
      </pc:sldChg>
      <pc:sldChg chg="add">
        <pc:chgData name="Kusmlata Sheoran" userId="622bcd2c-7b88-482c-87fa-3fb3dcfc9337" providerId="ADAL" clId="{48934EB6-0927-41C6-89BC-A80A0E3BAAF8}" dt="2023-03-29T10:33:45.672" v="544"/>
        <pc:sldMkLst>
          <pc:docMk/>
          <pc:sldMk cId="2514066111" sldId="377"/>
        </pc:sldMkLst>
      </pc:sldChg>
      <pc:sldChg chg="modSp add del mod modNotesTx">
        <pc:chgData name="Kusmlata Sheoran" userId="622bcd2c-7b88-482c-87fa-3fb3dcfc9337" providerId="ADAL" clId="{48934EB6-0927-41C6-89BC-A80A0E3BAAF8}" dt="2023-03-29T10:33:40.317" v="543" actId="2696"/>
        <pc:sldMkLst>
          <pc:docMk/>
          <pc:sldMk cId="2621784470" sldId="377"/>
        </pc:sldMkLst>
        <pc:spChg chg="mod">
          <ac:chgData name="Kusmlata Sheoran" userId="622bcd2c-7b88-482c-87fa-3fb3dcfc9337" providerId="ADAL" clId="{48934EB6-0927-41C6-89BC-A80A0E3BAAF8}" dt="2023-03-29T09:00:05.902" v="31" actId="20577"/>
          <ac:spMkLst>
            <pc:docMk/>
            <pc:sldMk cId="2621784470" sldId="377"/>
            <ac:spMk id="2" creationId="{051417ED-A6CB-D993-DACA-047971BC9E3B}"/>
          </ac:spMkLst>
        </pc:spChg>
        <pc:spChg chg="mod">
          <ac:chgData name="Kusmlata Sheoran" userId="622bcd2c-7b88-482c-87fa-3fb3dcfc9337" providerId="ADAL" clId="{48934EB6-0927-41C6-89BC-A80A0E3BAAF8}" dt="2023-03-29T09:00:22.711" v="74" actId="20577"/>
          <ac:spMkLst>
            <pc:docMk/>
            <pc:sldMk cId="2621784470" sldId="377"/>
            <ac:spMk id="3" creationId="{498792D3-C7E6-C1E0-AC76-36A67C8E1051}"/>
          </ac:spMkLst>
        </pc:spChg>
      </pc:sldChg>
      <pc:sldChg chg="add">
        <pc:chgData name="Kusmlata Sheoran" userId="622bcd2c-7b88-482c-87fa-3fb3dcfc9337" providerId="ADAL" clId="{48934EB6-0927-41C6-89BC-A80A0E3BAAF8}" dt="2023-03-29T08:59:03.244" v="16"/>
        <pc:sldMkLst>
          <pc:docMk/>
          <pc:sldMk cId="3047832307" sldId="378"/>
        </pc:sldMkLst>
      </pc:sldChg>
      <pc:sldChg chg="addSp delSp modSp new mod ord modNotesTx">
        <pc:chgData name="Kusmlata Sheoran" userId="622bcd2c-7b88-482c-87fa-3fb3dcfc9337" providerId="ADAL" clId="{48934EB6-0927-41C6-89BC-A80A0E3BAAF8}" dt="2023-03-29T09:51:16.583" v="172"/>
        <pc:sldMkLst>
          <pc:docMk/>
          <pc:sldMk cId="435493656" sldId="379"/>
        </pc:sldMkLst>
        <pc:spChg chg="mod">
          <ac:chgData name="Kusmlata Sheoran" userId="622bcd2c-7b88-482c-87fa-3fb3dcfc9337" providerId="ADAL" clId="{48934EB6-0927-41C6-89BC-A80A0E3BAAF8}" dt="2023-03-29T09:38:09.001" v="126"/>
          <ac:spMkLst>
            <pc:docMk/>
            <pc:sldMk cId="435493656" sldId="379"/>
            <ac:spMk id="2" creationId="{E57E9E90-AC1C-2CE7-9415-A54AB930E1B5}"/>
          </ac:spMkLst>
        </pc:spChg>
        <pc:spChg chg="add del mod">
          <ac:chgData name="Kusmlata Sheoran" userId="622bcd2c-7b88-482c-87fa-3fb3dcfc9337" providerId="ADAL" clId="{48934EB6-0927-41C6-89BC-A80A0E3BAAF8}" dt="2023-03-29T09:51:08.221" v="170" actId="14100"/>
          <ac:spMkLst>
            <pc:docMk/>
            <pc:sldMk cId="435493656" sldId="379"/>
            <ac:spMk id="3" creationId="{4BBAC727-6C07-433C-D1C1-B6927F7F5E82}"/>
          </ac:spMkLst>
        </pc:spChg>
        <pc:spChg chg="add del mod">
          <ac:chgData name="Kusmlata Sheoran" userId="622bcd2c-7b88-482c-87fa-3fb3dcfc9337" providerId="ADAL" clId="{48934EB6-0927-41C6-89BC-A80A0E3BAAF8}" dt="2023-03-29T09:37:47.647" v="122"/>
          <ac:spMkLst>
            <pc:docMk/>
            <pc:sldMk cId="435493656" sldId="379"/>
            <ac:spMk id="4" creationId="{ABA85C24-E770-A148-4D1B-9F06C82D677C}"/>
          </ac:spMkLst>
        </pc:spChg>
      </pc:sldChg>
      <pc:sldChg chg="modSp add mod">
        <pc:chgData name="Kusmlata Sheoran" userId="622bcd2c-7b88-482c-87fa-3fb3dcfc9337" providerId="ADAL" clId="{48934EB6-0927-41C6-89BC-A80A0E3BAAF8}" dt="2023-03-29T10:11:25.815" v="179" actId="6549"/>
        <pc:sldMkLst>
          <pc:docMk/>
          <pc:sldMk cId="2500537054" sldId="380"/>
        </pc:sldMkLst>
        <pc:spChg chg="mod">
          <ac:chgData name="Kusmlata Sheoran" userId="622bcd2c-7b88-482c-87fa-3fb3dcfc9337" providerId="ADAL" clId="{48934EB6-0927-41C6-89BC-A80A0E3BAAF8}" dt="2023-03-29T09:38:47.160" v="140" actId="20577"/>
          <ac:spMkLst>
            <pc:docMk/>
            <pc:sldMk cId="2500537054" sldId="380"/>
            <ac:spMk id="2" creationId="{E57E9E90-AC1C-2CE7-9415-A54AB930E1B5}"/>
          </ac:spMkLst>
        </pc:spChg>
        <pc:spChg chg="mod">
          <ac:chgData name="Kusmlata Sheoran" userId="622bcd2c-7b88-482c-87fa-3fb3dcfc9337" providerId="ADAL" clId="{48934EB6-0927-41C6-89BC-A80A0E3BAAF8}" dt="2023-03-29T10:11:25.815" v="179" actId="6549"/>
          <ac:spMkLst>
            <pc:docMk/>
            <pc:sldMk cId="2500537054" sldId="380"/>
            <ac:spMk id="3" creationId="{4BBAC727-6C07-433C-D1C1-B6927F7F5E82}"/>
          </ac:spMkLst>
        </pc:spChg>
      </pc:sldChg>
      <pc:sldChg chg="modSp new mod">
        <pc:chgData name="Kusmlata Sheoran" userId="622bcd2c-7b88-482c-87fa-3fb3dcfc9337" providerId="ADAL" clId="{48934EB6-0927-41C6-89BC-A80A0E3BAAF8}" dt="2023-03-29T10:28:28.501" v="513" actId="20577"/>
        <pc:sldMkLst>
          <pc:docMk/>
          <pc:sldMk cId="1738816553" sldId="381"/>
        </pc:sldMkLst>
        <pc:spChg chg="mod">
          <ac:chgData name="Kusmlata Sheoran" userId="622bcd2c-7b88-482c-87fa-3fb3dcfc9337" providerId="ADAL" clId="{48934EB6-0927-41C6-89BC-A80A0E3BAAF8}" dt="2023-03-29T10:27:26.507" v="303" actId="20577"/>
          <ac:spMkLst>
            <pc:docMk/>
            <pc:sldMk cId="1738816553" sldId="381"/>
            <ac:spMk id="2" creationId="{1E31FB9E-90BD-874E-E661-B01057EE4AE6}"/>
          </ac:spMkLst>
        </pc:spChg>
        <pc:spChg chg="mod">
          <ac:chgData name="Kusmlata Sheoran" userId="622bcd2c-7b88-482c-87fa-3fb3dcfc9337" providerId="ADAL" clId="{48934EB6-0927-41C6-89BC-A80A0E3BAAF8}" dt="2023-03-29T10:28:28.501" v="513" actId="20577"/>
          <ac:spMkLst>
            <pc:docMk/>
            <pc:sldMk cId="1738816553" sldId="381"/>
            <ac:spMk id="3" creationId="{CE9CC826-91F0-9873-C0F9-78DC4D070413}"/>
          </ac:spMkLst>
        </pc:spChg>
      </pc:sldChg>
      <pc:sldChg chg="modSp add del mod">
        <pc:chgData name="Kusmlata Sheoran" userId="622bcd2c-7b88-482c-87fa-3fb3dcfc9337" providerId="ADAL" clId="{48934EB6-0927-41C6-89BC-A80A0E3BAAF8}" dt="2023-03-29T09:50:37.537" v="167" actId="47"/>
        <pc:sldMkLst>
          <pc:docMk/>
          <pc:sldMk cId="3240183887" sldId="381"/>
        </pc:sldMkLst>
        <pc:spChg chg="mod">
          <ac:chgData name="Kusmlata Sheoran" userId="622bcd2c-7b88-482c-87fa-3fb3dcfc9337" providerId="ADAL" clId="{48934EB6-0927-41C6-89BC-A80A0E3BAAF8}" dt="2023-03-29T09:41:15.513" v="166" actId="20577"/>
          <ac:spMkLst>
            <pc:docMk/>
            <pc:sldMk cId="3240183887" sldId="381"/>
            <ac:spMk id="3" creationId="{4BBAC727-6C07-433C-D1C1-B6927F7F5E82}"/>
          </ac:spMkLst>
        </pc:spChg>
      </pc:sldChg>
    </pc:docChg>
  </pc:docChgLst>
  <pc:docChgLst>
    <pc:chgData name="Kusmlata Sheoran" userId="622bcd2c-7b88-482c-87fa-3fb3dcfc9337" providerId="ADAL" clId="{8283393E-5B34-4653-A680-7E11AD42C24E}"/>
    <pc:docChg chg="modSld">
      <pc:chgData name="Kusmlata Sheoran" userId="622bcd2c-7b88-482c-87fa-3fb3dcfc9337" providerId="ADAL" clId="{8283393E-5B34-4653-A680-7E11AD42C24E}" dt="2023-03-29T10:49:49.584" v="6" actId="20577"/>
      <pc:docMkLst>
        <pc:docMk/>
      </pc:docMkLst>
      <pc:sldChg chg="modSp mod">
        <pc:chgData name="Kusmlata Sheoran" userId="622bcd2c-7b88-482c-87fa-3fb3dcfc9337" providerId="ADAL" clId="{8283393E-5B34-4653-A680-7E11AD42C24E}" dt="2023-03-29T10:49:49.584" v="6" actId="20577"/>
        <pc:sldMkLst>
          <pc:docMk/>
          <pc:sldMk cId="2268504771" sldId="332"/>
        </pc:sldMkLst>
        <pc:spChg chg="mod">
          <ac:chgData name="Kusmlata Sheoran" userId="622bcd2c-7b88-482c-87fa-3fb3dcfc9337" providerId="ADAL" clId="{8283393E-5B34-4653-A680-7E11AD42C24E}" dt="2023-03-29T10:49:49.584" v="6" actId="20577"/>
          <ac:spMkLst>
            <pc:docMk/>
            <pc:sldMk cId="2268504771" sldId="332"/>
            <ac:spMk id="3" creationId="{92D99743-9794-73A0-D52C-98A5433C6C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3/29/2023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statology.org/polynomial-regress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statology.org/author/admi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machinelearningmastery.com/author/jasonb/"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machinelearningmastery.com/category/python-machine-learning/"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obviously.ai/post/the-difference-between-training-data-vs-test-data-in-machine-learning"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cap="all" dirty="0">
                <a:solidFill>
                  <a:srgbClr val="3D3D3D"/>
                </a:solidFill>
                <a:effectLst/>
                <a:latin typeface="inherit"/>
              </a:rPr>
              <a:t>POSTED ON</a:t>
            </a:r>
            <a:r>
              <a:rPr lang="en-US" b="0" i="0" u="none" strike="noStrike" cap="all" dirty="0">
                <a:solidFill>
                  <a:srgbClr val="3D3D3D"/>
                </a:solidFill>
                <a:effectLst/>
                <a:latin typeface="inherit"/>
                <a:hlinkClick r:id="rId3"/>
              </a:rPr>
              <a:t> NOVEMBER 18, 2020</a:t>
            </a:r>
            <a:r>
              <a:rPr lang="en-US" b="0" i="0" cap="all" dirty="0">
                <a:solidFill>
                  <a:srgbClr val="3D3D3D"/>
                </a:solidFill>
                <a:effectLst/>
                <a:latin typeface="inherit"/>
              </a:rPr>
              <a:t> BY </a:t>
            </a:r>
            <a:r>
              <a:rPr lang="en-US" b="0" i="0" u="none" strike="noStrike" cap="all" dirty="0">
                <a:solidFill>
                  <a:srgbClr val="3D3D3D"/>
                </a:solidFill>
                <a:effectLst/>
                <a:latin typeface="inherit"/>
                <a:hlinkClick r:id="rId4"/>
              </a:rPr>
              <a:t>ZACH</a:t>
            </a:r>
            <a:endParaRPr lang="en-US" b="0" i="0" cap="all" dirty="0">
              <a:solidFill>
                <a:srgbClr val="3D3D3D"/>
              </a:solidFill>
              <a:effectLst/>
              <a:latin typeface="inherit"/>
            </a:endParaRPr>
          </a:p>
          <a:p>
            <a:pPr algn="l" fontAlgn="base"/>
            <a:r>
              <a:rPr lang="en-US" b="1" i="0" dirty="0">
                <a:solidFill>
                  <a:srgbClr val="020202"/>
                </a:solidFill>
                <a:effectLst/>
                <a:latin typeface="Montserrat" panose="00000500000000000000" pitchFamily="2" charset="0"/>
              </a:rPr>
              <a:t>An Introduction to Polynomial Regression</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extLst>
      <p:ext uri="{BB962C8B-B14F-4D97-AF65-F5344CB8AC3E}">
        <p14:creationId xmlns:p14="http://schemas.microsoft.com/office/powerpoint/2010/main" val="576498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extLst>
      <p:ext uri="{BB962C8B-B14F-4D97-AF65-F5344CB8AC3E}">
        <p14:creationId xmlns:p14="http://schemas.microsoft.com/office/powerpoint/2010/main" val="3471660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4208331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extLst>
      <p:ext uri="{BB962C8B-B14F-4D97-AF65-F5344CB8AC3E}">
        <p14:creationId xmlns:p14="http://schemas.microsoft.com/office/powerpoint/2010/main" val="3352402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Polynomial Regression Analysis</a:t>
            </a:r>
          </a:p>
          <a:p>
            <a:r>
              <a:rPr lang="en-US" dirty="0" err="1"/>
              <a:t>Yulia</a:t>
            </a:r>
            <a:r>
              <a:rPr lang="en-US" dirty="0"/>
              <a:t> Gavrilova</a:t>
            </a:r>
          </a:p>
          <a:p>
            <a:r>
              <a:rPr lang="en-US" dirty="0"/>
              <a:t>Article by </a:t>
            </a:r>
            <a:r>
              <a:rPr lang="en-US" dirty="0" err="1"/>
              <a:t>Yulia</a:t>
            </a:r>
            <a:r>
              <a:rPr lang="en-US" dirty="0"/>
              <a:t> Gavrilova</a:t>
            </a:r>
          </a:p>
          <a:p>
            <a:r>
              <a:rPr lang="en-US" dirty="0"/>
              <a:t>September 21st, 2021</a:t>
            </a:r>
          </a:p>
          <a:p>
            <a:r>
              <a:rPr lang="en-US" dirty="0"/>
              <a:t>https://serokell.io/blog/polynomial-regression-analysis</a:t>
            </a:r>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extLst>
      <p:ext uri="{BB962C8B-B14F-4D97-AF65-F5344CB8AC3E}">
        <p14:creationId xmlns:p14="http://schemas.microsoft.com/office/powerpoint/2010/main" val="655115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1" dirty="0">
                <a:solidFill>
                  <a:srgbClr val="222222"/>
                </a:solidFill>
                <a:effectLst/>
                <a:latin typeface="Helvetica Neue"/>
              </a:rPr>
              <a:t>Train-Test Split for Evaluating Machine Learning Algorithms</a:t>
            </a:r>
          </a:p>
          <a:p>
            <a:pPr algn="l" fontAlgn="base"/>
            <a:r>
              <a:rPr lang="en-US" b="0" dirty="0">
                <a:solidFill>
                  <a:srgbClr val="999999"/>
                </a:solidFill>
                <a:effectLst/>
                <a:latin typeface="Helvetica Neue"/>
              </a:rPr>
              <a:t>by </a:t>
            </a:r>
            <a:r>
              <a:rPr lang="en-US" b="1" u="none" strike="noStrike" dirty="0">
                <a:solidFill>
                  <a:srgbClr val="888888"/>
                </a:solidFill>
                <a:effectLst/>
                <a:latin typeface="Helvetica Neue"/>
                <a:hlinkClick r:id="rId3" tooltip="Posts by Jason Brownlee"/>
              </a:rPr>
              <a:t>Jason Brownlee</a:t>
            </a:r>
            <a:r>
              <a:rPr lang="en-US" b="0" dirty="0">
                <a:solidFill>
                  <a:srgbClr val="999999"/>
                </a:solidFill>
                <a:effectLst/>
                <a:latin typeface="Helvetica Neue"/>
              </a:rPr>
              <a:t> on July 24, 2020 in </a:t>
            </a:r>
            <a:r>
              <a:rPr lang="en-US" b="1" u="none" strike="noStrike" dirty="0">
                <a:solidFill>
                  <a:srgbClr val="888888"/>
                </a:solidFill>
                <a:effectLst/>
                <a:latin typeface="Helvetica Neue"/>
                <a:hlinkClick r:id="rId4" tooltip="View all items in Python Machine Learning"/>
              </a:rPr>
              <a:t>Python Machine Learning</a:t>
            </a:r>
            <a:endParaRPr lang="en-US" b="0" dirty="0">
              <a:solidFill>
                <a:srgbClr val="999999"/>
              </a:solidFill>
              <a:effectLst/>
              <a:latin typeface="Helvetica Neue"/>
            </a:endParaRPr>
          </a:p>
          <a:p>
            <a:endParaRPr lang="en-US" b="1"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extLst>
      <p:ext uri="{BB962C8B-B14F-4D97-AF65-F5344CB8AC3E}">
        <p14:creationId xmlns:p14="http://schemas.microsoft.com/office/powerpoint/2010/main" val="4243622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https://www.obviously.ai/post/the-difference-between-training-data-vs-test-data-in-machine-learning</a:t>
            </a:r>
            <a:endParaRPr lang="en-US" sz="1200"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extLst>
      <p:ext uri="{BB962C8B-B14F-4D97-AF65-F5344CB8AC3E}">
        <p14:creationId xmlns:p14="http://schemas.microsoft.com/office/powerpoint/2010/main" val="1404812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55555"/>
                </a:solidFill>
                <a:effectLst/>
                <a:latin typeface="Helvetica Neue"/>
              </a:rPr>
              <a:t>When comparing machine learning algorithms, it is desirable (perhaps required) that they are fit and evaluated on the same subsets of the dataset.</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extLst>
      <p:ext uri="{BB962C8B-B14F-4D97-AF65-F5344CB8AC3E}">
        <p14:creationId xmlns:p14="http://schemas.microsoft.com/office/powerpoint/2010/main" val="1496737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ui-monospace"/>
              </a:rPr>
              <a:t>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17</a:t>
            </a:fld>
            <a:endParaRPr lang="en-US" dirty="0"/>
          </a:p>
        </p:txBody>
      </p:sp>
    </p:spTree>
    <p:extLst>
      <p:ext uri="{BB962C8B-B14F-4D97-AF65-F5344CB8AC3E}">
        <p14:creationId xmlns:p14="http://schemas.microsoft.com/office/powerpoint/2010/main" val="2301865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PS TT Commons Roman"/>
              </a:rPr>
              <a:t>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19</a:t>
            </a:fld>
            <a:endParaRPr lang="en-US" dirty="0"/>
          </a:p>
        </p:txBody>
      </p:sp>
    </p:spTree>
    <p:extLst>
      <p:ext uri="{BB962C8B-B14F-4D97-AF65-F5344CB8AC3E}">
        <p14:creationId xmlns:p14="http://schemas.microsoft.com/office/powerpoint/2010/main" val="91822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w3schools.com/python/showpython.asp?filename=demo_ml_scale_std1" TargetMode="External"/><Relationship Id="rId2" Type="http://schemas.openxmlformats.org/officeDocument/2006/relationships/hyperlink" Target="https://www.w3schools.com/python/showpython.asp?filename=demo_ml_scale_mean1"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serokell.io/blog/polynomial-regression-analysi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towardsdatascience.com/predict-loan-eligibility-using-machine-learning-models-7a14ef904057"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www.projectpro.io/recipes/and-when-use-polynomial-regressio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POLYNOMIAL REGRESSION</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concept of Polynomial Regression</a:t>
            </a:r>
          </a:p>
          <a:p>
            <a:r>
              <a:rPr lang="en-GB" dirty="0">
                <a:solidFill>
                  <a:schemeClr val="tx1">
                    <a:lumMod val="75000"/>
                    <a:lumOff val="25000"/>
                  </a:schemeClr>
                </a:solidFill>
              </a:rPr>
              <a:t>Understand the Overfitting </a:t>
            </a:r>
          </a:p>
          <a:p>
            <a:r>
              <a:rPr lang="en-GB" dirty="0">
                <a:solidFill>
                  <a:schemeClr val="tx1">
                    <a:lumMod val="75000"/>
                    <a:lumOff val="25000"/>
                  </a:schemeClr>
                </a:solidFill>
              </a:rPr>
              <a:t>Train-Test Split</a:t>
            </a:r>
          </a:p>
          <a:p>
            <a:r>
              <a:rPr lang="en-GB" dirty="0">
                <a:solidFill>
                  <a:schemeClr val="tx1">
                    <a:lumMod val="75000"/>
                    <a:lumOff val="25000"/>
                  </a:schemeClr>
                </a:solidFill>
              </a:rPr>
              <a:t>Scaling</a:t>
            </a:r>
          </a:p>
          <a:p>
            <a:r>
              <a:rPr lang="en-GB" dirty="0">
                <a:solidFill>
                  <a:schemeClr val="tx1">
                    <a:lumMod val="75000"/>
                    <a:lumOff val="25000"/>
                  </a:schemeClr>
                </a:solidFill>
              </a:rPr>
              <a:t>Examples</a:t>
            </a:r>
          </a:p>
          <a:p>
            <a:endParaRPr lang="en-GB"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C3945-4FAE-13C6-121E-AFAEFEA45B1B}"/>
              </a:ext>
            </a:extLst>
          </p:cNvPr>
          <p:cNvSpPr>
            <a:spLocks noGrp="1"/>
          </p:cNvSpPr>
          <p:nvPr>
            <p:ph type="title"/>
          </p:nvPr>
        </p:nvSpPr>
        <p:spPr/>
        <p:txBody>
          <a:bodyPr/>
          <a:lstStyle/>
          <a:p>
            <a:r>
              <a:rPr lang="en-GB" dirty="0"/>
              <a:t>Polynomial introduction</a:t>
            </a:r>
            <a:endParaRPr lang="en-US" dirty="0"/>
          </a:p>
        </p:txBody>
      </p:sp>
      <p:sp>
        <p:nvSpPr>
          <p:cNvPr id="3" name="Text Placeholder 2">
            <a:extLst>
              <a:ext uri="{FF2B5EF4-FFF2-40B4-BE49-F238E27FC236}">
                <a16:creationId xmlns:a16="http://schemas.microsoft.com/office/drawing/2014/main" id="{463594A1-A6C1-D3E3-F94D-5EB7B74047A2}"/>
              </a:ext>
            </a:extLst>
          </p:cNvPr>
          <p:cNvSpPr>
            <a:spLocks noGrp="1"/>
          </p:cNvSpPr>
          <p:nvPr>
            <p:ph type="body" sz="quarter" idx="10"/>
          </p:nvPr>
        </p:nvSpPr>
        <p:spPr>
          <a:xfrm>
            <a:off x="601791" y="1317171"/>
            <a:ext cx="10994852" cy="4528153"/>
          </a:xfrm>
        </p:spPr>
        <p:txBody>
          <a:bodyPr/>
          <a:lstStyle/>
          <a:p>
            <a:pPr algn="l" fontAlgn="base"/>
            <a:r>
              <a:rPr lang="en-US" sz="2400" b="0" i="0" dirty="0">
                <a:solidFill>
                  <a:srgbClr val="000000"/>
                </a:solidFill>
                <a:effectLst/>
                <a:latin typeface="Helvetica" panose="020B0604020202020204" pitchFamily="34" charset="0"/>
              </a:rPr>
              <a:t>When we have a dataset with one predictor variable and one </a:t>
            </a:r>
            <a:r>
              <a:rPr lang="en-US" sz="2400" b="0" i="0" u="none" strike="noStrike" dirty="0">
                <a:solidFill>
                  <a:srgbClr val="9B59B6"/>
                </a:solidFill>
                <a:effectLst/>
                <a:latin typeface="inherit"/>
              </a:rPr>
              <a:t>response variable</a:t>
            </a:r>
            <a:r>
              <a:rPr lang="en-US" sz="2400" b="0" i="0" dirty="0">
                <a:solidFill>
                  <a:srgbClr val="000000"/>
                </a:solidFill>
                <a:effectLst/>
                <a:latin typeface="Helvetica" panose="020B0604020202020204" pitchFamily="34" charset="0"/>
              </a:rPr>
              <a:t>, we often use </a:t>
            </a:r>
            <a:r>
              <a:rPr lang="en-US" sz="2400" b="0" i="0" u="none" strike="noStrike" dirty="0">
                <a:solidFill>
                  <a:srgbClr val="9B59B6"/>
                </a:solidFill>
                <a:effectLst/>
                <a:latin typeface="inherit"/>
              </a:rPr>
              <a:t>simple linear regression</a:t>
            </a:r>
            <a:r>
              <a:rPr lang="en-US" sz="2400" b="0" i="0" dirty="0">
                <a:solidFill>
                  <a:srgbClr val="000000"/>
                </a:solidFill>
                <a:effectLst/>
                <a:latin typeface="Helvetica" panose="020B0604020202020204" pitchFamily="34" charset="0"/>
              </a:rPr>
              <a:t> to quantify the relationship between the two variables.</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However, simple linear regression (SLR) assumes that the relationship between the predictor and response variable is linear. But in practice the relationship between the two variables can actually be nonlinear and attempting to use linear regression can result in a poorly fit model.</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One way to account for a nonlinear relationship between the predictor and response variable is to use </a:t>
            </a:r>
            <a:r>
              <a:rPr lang="en-US" sz="2400" b="1" i="0" dirty="0">
                <a:solidFill>
                  <a:srgbClr val="000000"/>
                </a:solidFill>
                <a:effectLst/>
                <a:latin typeface="inherit"/>
              </a:rPr>
              <a:t>polynomial regression</a:t>
            </a:r>
            <a:r>
              <a:rPr lang="en-US" sz="2400" b="0" i="0" dirty="0">
                <a:solidFill>
                  <a:srgbClr val="000000"/>
                </a:solidFill>
                <a:effectLst/>
                <a:latin typeface="Helvetica" panose="020B0604020202020204" pitchFamily="34" charset="0"/>
              </a:rPr>
              <a:t>, which takes the form:</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Y = β</a:t>
            </a:r>
            <a:r>
              <a:rPr lang="en-US" sz="2400" b="0" i="0" baseline="-25000" dirty="0">
                <a:solidFill>
                  <a:srgbClr val="000000"/>
                </a:solidFill>
                <a:effectLst/>
                <a:latin typeface="inherit"/>
              </a:rPr>
              <a:t>0</a:t>
            </a:r>
            <a:r>
              <a:rPr lang="en-US" sz="2400" b="0" i="0" dirty="0">
                <a:solidFill>
                  <a:srgbClr val="000000"/>
                </a:solidFill>
                <a:effectLst/>
                <a:latin typeface="Helvetica" panose="020B0604020202020204" pitchFamily="34" charset="0"/>
              </a:rPr>
              <a:t> + β</a:t>
            </a:r>
            <a:r>
              <a:rPr lang="en-US" sz="2400" b="0" i="0" baseline="-25000" dirty="0">
                <a:solidFill>
                  <a:srgbClr val="000000"/>
                </a:solidFill>
                <a:effectLst/>
                <a:latin typeface="inherit"/>
              </a:rPr>
              <a:t>1</a:t>
            </a:r>
            <a:r>
              <a:rPr lang="en-US" sz="2400" b="0" i="0" dirty="0">
                <a:solidFill>
                  <a:srgbClr val="000000"/>
                </a:solidFill>
                <a:effectLst/>
                <a:latin typeface="Helvetica" panose="020B0604020202020204" pitchFamily="34" charset="0"/>
              </a:rPr>
              <a:t>X + β</a:t>
            </a:r>
            <a:r>
              <a:rPr lang="en-US" sz="2400" b="0" i="0" baseline="-25000" dirty="0">
                <a:solidFill>
                  <a:srgbClr val="000000"/>
                </a:solidFill>
                <a:effectLst/>
                <a:latin typeface="inherit"/>
              </a:rPr>
              <a:t>2</a:t>
            </a:r>
            <a:r>
              <a:rPr lang="en-US" sz="2400" b="0" i="0" dirty="0">
                <a:solidFill>
                  <a:srgbClr val="000000"/>
                </a:solidFill>
                <a:effectLst/>
                <a:latin typeface="Helvetica" panose="020B0604020202020204" pitchFamily="34" charset="0"/>
              </a:rPr>
              <a:t>X</a:t>
            </a:r>
            <a:r>
              <a:rPr lang="en-US" sz="2400" b="0" i="0" baseline="30000" dirty="0">
                <a:solidFill>
                  <a:srgbClr val="000000"/>
                </a:solidFill>
                <a:effectLst/>
                <a:latin typeface="inherit"/>
              </a:rPr>
              <a:t>2</a:t>
            </a:r>
            <a:r>
              <a:rPr lang="en-US" sz="2400" b="0" i="0" dirty="0">
                <a:solidFill>
                  <a:srgbClr val="000000"/>
                </a:solidFill>
                <a:effectLst/>
                <a:latin typeface="Helvetica" panose="020B0604020202020204" pitchFamily="34" charset="0"/>
              </a:rPr>
              <a:t> + … + β</a:t>
            </a:r>
            <a:r>
              <a:rPr lang="en-US" sz="2400" b="0" i="0" baseline="-25000" dirty="0" err="1">
                <a:solidFill>
                  <a:srgbClr val="000000"/>
                </a:solidFill>
                <a:effectLst/>
                <a:latin typeface="inherit"/>
              </a:rPr>
              <a:t>h</a:t>
            </a:r>
            <a:r>
              <a:rPr lang="en-US" sz="2400" b="0" i="0" dirty="0" err="1">
                <a:solidFill>
                  <a:srgbClr val="000000"/>
                </a:solidFill>
                <a:effectLst/>
                <a:latin typeface="Helvetica" panose="020B0604020202020204" pitchFamily="34" charset="0"/>
              </a:rPr>
              <a:t>X</a:t>
            </a:r>
            <a:r>
              <a:rPr lang="en-US" sz="2400" b="0" i="0" baseline="30000" dirty="0" err="1">
                <a:solidFill>
                  <a:srgbClr val="000000"/>
                </a:solidFill>
                <a:effectLst/>
                <a:latin typeface="inherit"/>
              </a:rPr>
              <a:t>h</a:t>
            </a:r>
            <a:r>
              <a:rPr lang="en-US" sz="2400" b="0" i="0" dirty="0">
                <a:solidFill>
                  <a:srgbClr val="000000"/>
                </a:solidFill>
                <a:effectLst/>
                <a:latin typeface="Helvetica" panose="020B0604020202020204" pitchFamily="34" charset="0"/>
              </a:rPr>
              <a:t> + ε</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In this equation, </a:t>
            </a:r>
            <a:r>
              <a:rPr lang="en-US" sz="2400" b="0" i="1" dirty="0">
                <a:solidFill>
                  <a:srgbClr val="000000"/>
                </a:solidFill>
                <a:effectLst/>
                <a:latin typeface="inherit"/>
              </a:rPr>
              <a:t>h</a:t>
            </a:r>
            <a:r>
              <a:rPr lang="en-US" sz="2400" b="0" i="0" dirty="0">
                <a:solidFill>
                  <a:srgbClr val="000000"/>
                </a:solidFill>
                <a:effectLst/>
                <a:latin typeface="Helvetica" panose="020B0604020202020204" pitchFamily="34" charset="0"/>
              </a:rPr>
              <a:t> is referred to as the </a:t>
            </a:r>
            <a:r>
              <a:rPr lang="en-US" sz="2400" b="1" i="0" dirty="0">
                <a:solidFill>
                  <a:srgbClr val="000000"/>
                </a:solidFill>
                <a:effectLst/>
                <a:latin typeface="inherit"/>
              </a:rPr>
              <a:t>degree</a:t>
            </a:r>
            <a:r>
              <a:rPr lang="en-US" sz="2400" b="0" i="0" dirty="0">
                <a:solidFill>
                  <a:srgbClr val="000000"/>
                </a:solidFill>
                <a:effectLst/>
                <a:latin typeface="Helvetica" panose="020B0604020202020204" pitchFamily="34" charset="0"/>
              </a:rPr>
              <a:t> of the polynomial.</a:t>
            </a:r>
            <a:endParaRPr lang="en-US" sz="2400" b="0" i="0" dirty="0">
              <a:solidFill>
                <a:srgbClr val="3D3D3D"/>
              </a:solidFill>
              <a:effectLst/>
              <a:latin typeface="inherit"/>
            </a:endParaRPr>
          </a:p>
          <a:p>
            <a:endParaRPr lang="en-US" sz="2400" dirty="0"/>
          </a:p>
          <a:p>
            <a:endParaRPr lang="en-US" sz="2400" dirty="0"/>
          </a:p>
        </p:txBody>
      </p:sp>
    </p:spTree>
    <p:extLst>
      <p:ext uri="{BB962C8B-B14F-4D97-AF65-F5344CB8AC3E}">
        <p14:creationId xmlns:p14="http://schemas.microsoft.com/office/powerpoint/2010/main" val="161115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Why limit ourself to straight line</a:t>
            </a:r>
            <a:endParaRPr lang="en-US" dirty="0">
              <a:solidFill>
                <a:srgbClr val="942D6D"/>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0" y="1455830"/>
                <a:ext cx="6946172" cy="3815101"/>
              </a:xfrm>
            </p:spPr>
            <p:txBody>
              <a:bodyPr/>
              <a:lstStyle/>
              <a:p>
                <a:r>
                  <a:rPr lang="en-GB" dirty="0">
                    <a:solidFill>
                      <a:schemeClr val="tx1">
                        <a:lumMod val="75000"/>
                        <a:lumOff val="25000"/>
                      </a:schemeClr>
                    </a:solidFill>
                  </a:rPr>
                  <a:t>Not all relationships are linear. </a:t>
                </a:r>
              </a:p>
              <a:p>
                <a:r>
                  <a:rPr lang="en-GB" dirty="0">
                    <a:solidFill>
                      <a:schemeClr val="tx1">
                        <a:lumMod val="75000"/>
                        <a:lumOff val="25000"/>
                      </a:schemeClr>
                    </a:solidFill>
                  </a:rPr>
                  <a:t>Linear formula: y = mx + b </a:t>
                </a:r>
              </a:p>
              <a:p>
                <a:r>
                  <a:rPr lang="en-GB" dirty="0">
                    <a:solidFill>
                      <a:schemeClr val="tx1">
                        <a:lumMod val="75000"/>
                        <a:lumOff val="25000"/>
                      </a:schemeClr>
                    </a:solidFill>
                  </a:rPr>
                  <a:t>This is a “first order” or “first degree” polynomial, as the power of x is 1 </a:t>
                </a:r>
              </a:p>
              <a:p>
                <a:r>
                  <a:rPr lang="en-GB" dirty="0">
                    <a:solidFill>
                      <a:schemeClr val="tx1">
                        <a:lumMod val="75000"/>
                        <a:lumOff val="25000"/>
                      </a:schemeClr>
                    </a:solidFill>
                  </a:rPr>
                  <a:t>Second order polynomial: </a:t>
                </a:r>
                <a14:m>
                  <m:oMath xmlns:m="http://schemas.openxmlformats.org/officeDocument/2006/math">
                    <m:r>
                      <a:rPr lang="en-GB" i="1">
                        <a:solidFill>
                          <a:schemeClr val="tx1">
                            <a:lumMod val="75000"/>
                            <a:lumOff val="25000"/>
                          </a:schemeClr>
                        </a:solidFill>
                        <a:latin typeface="Cambria Math" panose="02040503050406030204" pitchFamily="18" charset="0"/>
                      </a:rPr>
                      <m:t>𝑦</m:t>
                    </m:r>
                    <m:r>
                      <a:rPr lang="en-GB" i="1">
                        <a:solidFill>
                          <a:schemeClr val="tx1">
                            <a:lumMod val="75000"/>
                            <a:lumOff val="25000"/>
                          </a:schemeClr>
                        </a:solidFill>
                        <a:latin typeface="Cambria Math" panose="02040503050406030204" pitchFamily="18" charset="0"/>
                      </a:rPr>
                      <m:t>=</m:t>
                    </m:r>
                    <m:r>
                      <a:rPr lang="en-GB" i="1">
                        <a:solidFill>
                          <a:schemeClr val="tx1">
                            <a:lumMod val="75000"/>
                            <a:lumOff val="25000"/>
                          </a:schemeClr>
                        </a:solidFill>
                        <a:latin typeface="Cambria Math" panose="02040503050406030204" pitchFamily="18" charset="0"/>
                      </a:rPr>
                      <m:t>𝑎</m:t>
                    </m:r>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2 </m:t>
                        </m:r>
                      </m:sup>
                    </m:sSup>
                  </m:oMath>
                </a14:m>
                <a:r>
                  <a:rPr lang="en-GB" dirty="0">
                    <a:solidFill>
                      <a:schemeClr val="tx1">
                        <a:lumMod val="75000"/>
                        <a:lumOff val="25000"/>
                      </a:schemeClr>
                    </a:solidFill>
                  </a:rPr>
                  <a:t>+ 𝑏𝑥 + 𝑐 </a:t>
                </a:r>
              </a:p>
              <a:p>
                <a:r>
                  <a:rPr lang="en-GB" dirty="0">
                    <a:solidFill>
                      <a:schemeClr val="tx1">
                        <a:lumMod val="75000"/>
                        <a:lumOff val="25000"/>
                      </a:schemeClr>
                    </a:solidFill>
                  </a:rPr>
                  <a:t>Third order: 𝑦= </a:t>
                </a:r>
                <a14:m>
                  <m:oMath xmlns:m="http://schemas.openxmlformats.org/officeDocument/2006/math">
                    <m:r>
                      <a:rPr lang="en-GB" i="1">
                        <a:solidFill>
                          <a:schemeClr val="tx1">
                            <a:lumMod val="75000"/>
                            <a:lumOff val="25000"/>
                          </a:schemeClr>
                        </a:solidFill>
                        <a:latin typeface="Cambria Math" panose="02040503050406030204" pitchFamily="18" charset="0"/>
                      </a:rPr>
                      <m:t>𝑎</m:t>
                    </m:r>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3 </m:t>
                        </m:r>
                      </m:sup>
                    </m:sSup>
                    <m:r>
                      <a:rPr lang="en-GB" i="1">
                        <a:solidFill>
                          <a:schemeClr val="tx1">
                            <a:lumMod val="75000"/>
                            <a:lumOff val="25000"/>
                          </a:schemeClr>
                        </a:solidFill>
                        <a:latin typeface="Cambria Math" panose="02040503050406030204" pitchFamily="18" charset="0"/>
                      </a:rPr>
                      <m:t> </m:t>
                    </m:r>
                  </m:oMath>
                </a14:m>
                <a:r>
                  <a:rPr lang="en-GB" dirty="0">
                    <a:solidFill>
                      <a:schemeClr val="tx1">
                        <a:lumMod val="75000"/>
                        <a:lumOff val="25000"/>
                      </a:schemeClr>
                    </a:solidFill>
                  </a:rPr>
                  <a:t>+ b</a:t>
                </a:r>
                <a14:m>
                  <m:oMath xmlns:m="http://schemas.openxmlformats.org/officeDocument/2006/math">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2 </m:t>
                        </m:r>
                      </m:sup>
                    </m:sSup>
                  </m:oMath>
                </a14:m>
                <a:r>
                  <a:rPr lang="en-GB" dirty="0">
                    <a:solidFill>
                      <a:schemeClr val="tx1">
                        <a:lumMod val="75000"/>
                        <a:lumOff val="25000"/>
                      </a:schemeClr>
                    </a:solidFill>
                  </a:rPr>
                  <a:t> +𝑐𝑥 + 𝑑 </a:t>
                </a:r>
              </a:p>
              <a:p>
                <a:r>
                  <a:rPr lang="en-GB" dirty="0">
                    <a:solidFill>
                      <a:schemeClr val="tx1">
                        <a:lumMod val="75000"/>
                        <a:lumOff val="25000"/>
                      </a:schemeClr>
                    </a:solidFill>
                  </a:rPr>
                  <a:t>Higher orders produce more complex curves. </a:t>
                </a:r>
              </a:p>
              <a:p>
                <a:pPr>
                  <a:buFont typeface="Wingdings" pitchFamily="2" charset="2"/>
                  <a:buChar char="§"/>
                </a:pPr>
                <a:endParaRPr lang="en-US" dirty="0">
                  <a:solidFill>
                    <a:schemeClr val="bg2">
                      <a:lumMod val="25000"/>
                    </a:schemeClr>
                  </a:solidFill>
                </a:endParaRPr>
              </a:p>
            </p:txBody>
          </p:sp>
        </mc:Choice>
        <mc:Fallback xmlns="">
          <p:sp>
            <p:nvSpPr>
              <p:cNvPr id="3" name="Text Placeholder 2">
                <a:extLst>
                  <a:ext uri="{FF2B5EF4-FFF2-40B4-BE49-F238E27FC236}">
                    <a16:creationId xmlns:a16="http://schemas.microsoft.com/office/drawing/2014/main" id="{03912611-42E7-6849-885B-99D97037DE6F}"/>
                  </a:ext>
                </a:extLst>
              </p:cNvPr>
              <p:cNvSpPr>
                <a:spLocks noGrp="1" noRot="1" noChangeAspect="1" noMove="1" noResize="1" noEditPoints="1" noAdjustHandles="1" noChangeArrowheads="1" noChangeShapeType="1" noTextEdit="1"/>
              </p:cNvSpPr>
              <p:nvPr>
                <p:ph type="body" sz="quarter" idx="10"/>
              </p:nvPr>
            </p:nvSpPr>
            <p:spPr>
              <a:xfrm>
                <a:off x="601790" y="1455830"/>
                <a:ext cx="6946172" cy="3815101"/>
              </a:xfrm>
              <a:blipFill>
                <a:blip r:embed="rId2"/>
                <a:stretch>
                  <a:fillRect l="-1642" t="-2649" r="-2372"/>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1" descr="page73image1799360">
            <a:extLst>
              <a:ext uri="{FF2B5EF4-FFF2-40B4-BE49-F238E27FC236}">
                <a16:creationId xmlns:a16="http://schemas.microsoft.com/office/drawing/2014/main" id="{274AEE6A-B44C-A447-B662-49F15E166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177" y="1712154"/>
            <a:ext cx="480060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557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9E90-AC1C-2CE7-9415-A54AB930E1B5}"/>
              </a:ext>
            </a:extLst>
          </p:cNvPr>
          <p:cNvSpPr>
            <a:spLocks noGrp="1"/>
          </p:cNvSpPr>
          <p:nvPr>
            <p:ph type="title"/>
          </p:nvPr>
        </p:nvSpPr>
        <p:spPr/>
        <p:txBody>
          <a:bodyPr/>
          <a:lstStyle/>
          <a:p>
            <a:r>
              <a:rPr lang="en-GB" dirty="0"/>
              <a:t>Polynomial introduction</a:t>
            </a:r>
            <a:endParaRPr lang="en-US" dirty="0"/>
          </a:p>
        </p:txBody>
      </p:sp>
      <p:sp>
        <p:nvSpPr>
          <p:cNvPr id="3" name="Text Placeholder 2">
            <a:extLst>
              <a:ext uri="{FF2B5EF4-FFF2-40B4-BE49-F238E27FC236}">
                <a16:creationId xmlns:a16="http://schemas.microsoft.com/office/drawing/2014/main" id="{4BBAC727-6C07-433C-D1C1-B6927F7F5E82}"/>
              </a:ext>
            </a:extLst>
          </p:cNvPr>
          <p:cNvSpPr>
            <a:spLocks noGrp="1"/>
          </p:cNvSpPr>
          <p:nvPr>
            <p:ph type="body" sz="quarter" idx="10"/>
          </p:nvPr>
        </p:nvSpPr>
        <p:spPr>
          <a:xfrm>
            <a:off x="601791" y="1340285"/>
            <a:ext cx="10994852" cy="4505039"/>
          </a:xfrm>
        </p:spPr>
        <p:txBody>
          <a:bodyPr/>
          <a:lstStyle/>
          <a:p>
            <a:pPr marL="0" marR="0">
              <a:lnSpc>
                <a:spcPct val="107000"/>
              </a:lnSpc>
              <a:spcBef>
                <a:spcPts val="0"/>
              </a:spcBef>
              <a:spcAft>
                <a:spcPts val="800"/>
              </a:spcAft>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The model is trained using Polynomial regression and leads to minimum error as well the model accuracy on the training data is 90%.</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Then you trained the model using Linear Regression and you observed that it has more errors than what was seen in the Polynomial Regression. So you decide to use the Polynomial regression, but this does not solve the problem. The problem is that when it works on the unseen data, the results are not accurate.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How does it behave in the future when used on different data?</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35493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9E90-AC1C-2CE7-9415-A54AB930E1B5}"/>
              </a:ext>
            </a:extLst>
          </p:cNvPr>
          <p:cNvSpPr>
            <a:spLocks noGrp="1"/>
          </p:cNvSpPr>
          <p:nvPr>
            <p:ph type="title"/>
          </p:nvPr>
        </p:nvSpPr>
        <p:spPr/>
        <p:txBody>
          <a:bodyPr/>
          <a:lstStyle/>
          <a:p>
            <a:r>
              <a:rPr lang="en-GB" dirty="0"/>
              <a:t>overfitting</a:t>
            </a:r>
            <a:endParaRPr lang="en-US" dirty="0"/>
          </a:p>
        </p:txBody>
      </p:sp>
      <p:sp>
        <p:nvSpPr>
          <p:cNvPr id="3" name="Text Placeholder 2">
            <a:extLst>
              <a:ext uri="{FF2B5EF4-FFF2-40B4-BE49-F238E27FC236}">
                <a16:creationId xmlns:a16="http://schemas.microsoft.com/office/drawing/2014/main" id="{4BBAC727-6C07-433C-D1C1-B6927F7F5E82}"/>
              </a:ext>
            </a:extLst>
          </p:cNvPr>
          <p:cNvSpPr>
            <a:spLocks noGrp="1"/>
          </p:cNvSpPr>
          <p:nvPr>
            <p:ph type="body" sz="quarter" idx="10"/>
          </p:nvPr>
        </p:nvSpPr>
        <p:spPr>
          <a:xfrm>
            <a:off x="601791" y="1124465"/>
            <a:ext cx="11433690" cy="4720859"/>
          </a:xfrm>
        </p:spPr>
        <p:txBody>
          <a:bodyPr/>
          <a:lstStyle/>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In polynomial regression, you can choose different degrees and every degree will  give a different curve, also as you increase the degrees, the curve wants to touch all the data that it sees during training and this results in overfitting. </a:t>
            </a: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This will lead to less errors on training data , but it will fail on the test data or the future data when the model is used. The models knows the training data does not generalize on the future data. </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Poly means many , </a:t>
            </a:r>
            <a:r>
              <a:rPr lang="en-GB" sz="2200" kern="100" dirty="0" err="1">
                <a:effectLst/>
                <a:latin typeface="Calibri" panose="020F0502020204030204" pitchFamily="34" charset="0"/>
                <a:ea typeface="Calibri" panose="020F0502020204030204" pitchFamily="34" charset="0"/>
                <a:cs typeface="Times New Roman" panose="02020603050405020304" pitchFamily="18" charset="0"/>
              </a:rPr>
              <a:t>Nomial</a:t>
            </a: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 means terms or parts </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If the 2x+5: It is a simple mathematical equation of two parts:</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2x and 5 Or 5 square 2 -2x+5 will be a straight line</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Is a polynomial of 3 terms</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err="1">
                <a:effectLst/>
                <a:latin typeface="Calibri" panose="020F0502020204030204" pitchFamily="34" charset="0"/>
                <a:ea typeface="Calibri" panose="020F0502020204030204" pitchFamily="34" charset="0"/>
                <a:cs typeface="Times New Roman" panose="02020603050405020304" pitchFamily="18" charset="0"/>
              </a:rPr>
              <a:t>Ax+b</a:t>
            </a: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 is a linear polynomial</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dirty="0">
                <a:solidFill>
                  <a:srgbClr val="111111"/>
                </a:solidFill>
                <a:effectLst/>
              </a:rPr>
              <a:t> </a:t>
            </a:r>
            <a:endParaRPr lang="en-US" sz="2200" dirty="0"/>
          </a:p>
          <a:p>
            <a:endParaRPr lang="en-US" sz="2200" dirty="0"/>
          </a:p>
        </p:txBody>
      </p:sp>
    </p:spTree>
    <p:extLst>
      <p:ext uri="{BB962C8B-B14F-4D97-AF65-F5344CB8AC3E}">
        <p14:creationId xmlns:p14="http://schemas.microsoft.com/office/powerpoint/2010/main" val="250053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Beware of overfitting</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0" y="1521449"/>
            <a:ext cx="11314179" cy="3815101"/>
          </a:xfrm>
        </p:spPr>
        <p:txBody>
          <a:bodyPr/>
          <a:lstStyle/>
          <a:p>
            <a:r>
              <a:rPr lang="en-GB" dirty="0">
                <a:solidFill>
                  <a:schemeClr val="tx1">
                    <a:lumMod val="75000"/>
                    <a:lumOff val="25000"/>
                  </a:schemeClr>
                </a:solidFill>
              </a:rPr>
              <a:t>Don’t use more degrees than you need </a:t>
            </a:r>
          </a:p>
          <a:p>
            <a:r>
              <a:rPr lang="en-GB" dirty="0">
                <a:solidFill>
                  <a:schemeClr val="tx1">
                    <a:lumMod val="75000"/>
                    <a:lumOff val="25000"/>
                  </a:schemeClr>
                </a:solidFill>
              </a:rPr>
              <a:t>Visualize your data first to see how complex of a curve there might really be </a:t>
            </a:r>
          </a:p>
          <a:p>
            <a:r>
              <a:rPr lang="en-GB" dirty="0">
                <a:solidFill>
                  <a:schemeClr val="tx1">
                    <a:lumMod val="75000"/>
                    <a:lumOff val="25000"/>
                  </a:schemeClr>
                </a:solidFill>
              </a:rPr>
              <a:t>Visualize the fit – is your curve going out of its way to accommodate outliers? </a:t>
            </a:r>
          </a:p>
          <a:p>
            <a:r>
              <a:rPr lang="en-GB" dirty="0">
                <a:solidFill>
                  <a:schemeClr val="tx1">
                    <a:lumMod val="75000"/>
                    <a:lumOff val="25000"/>
                  </a:schemeClr>
                </a:solidFill>
              </a:rPr>
              <a:t>A high r-squared simply means your curve fits your </a:t>
            </a:r>
            <a:r>
              <a:rPr lang="en-GB" i="1" dirty="0">
                <a:solidFill>
                  <a:schemeClr val="tx1">
                    <a:lumMod val="75000"/>
                    <a:lumOff val="25000"/>
                  </a:schemeClr>
                </a:solidFill>
              </a:rPr>
              <a:t>training data </a:t>
            </a:r>
            <a:r>
              <a:rPr lang="en-GB" dirty="0">
                <a:solidFill>
                  <a:schemeClr val="tx1">
                    <a:lumMod val="75000"/>
                    <a:lumOff val="25000"/>
                  </a:schemeClr>
                </a:solidFill>
              </a:rPr>
              <a:t>well; but it may not be a good predictor. </a:t>
            </a:r>
          </a:p>
          <a:p>
            <a:r>
              <a:rPr lang="en-GB" dirty="0">
                <a:solidFill>
                  <a:schemeClr val="tx1">
                    <a:lumMod val="75000"/>
                    <a:lumOff val="25000"/>
                  </a:schemeClr>
                </a:solidFill>
              </a:rPr>
              <a:t>Later we’ll talk about more principled ways to detect overfitting (train/test)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09512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Python coding</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0FDBDB8D-B6C6-5C47-B100-FF6962AC1F7F}"/>
              </a:ext>
            </a:extLst>
          </p:cNvPr>
          <p:cNvSpPr/>
          <p:nvPr/>
        </p:nvSpPr>
        <p:spPr>
          <a:xfrm>
            <a:off x="1828800" y="2138844"/>
            <a:ext cx="6096000" cy="1200329"/>
          </a:xfrm>
          <a:prstGeom prst="rect">
            <a:avLst/>
          </a:prstGeom>
        </p:spPr>
        <p:txBody>
          <a:bodyPr>
            <a:spAutoFit/>
          </a:bodyPr>
          <a:lstStyle/>
          <a:p>
            <a:r>
              <a:rPr lang="en-GB" sz="3600" dirty="0">
                <a:latin typeface="Calibri" panose="020F0502020204030204" pitchFamily="34" charset="0"/>
              </a:rPr>
              <a:t> </a:t>
            </a:r>
          </a:p>
          <a:p>
            <a:r>
              <a:rPr lang="en-GB" sz="3600" dirty="0">
                <a:latin typeface="Calibri" panose="020F0502020204030204" pitchFamily="34" charset="0"/>
                <a:cs typeface="Calibri" panose="020F0502020204030204" pitchFamily="34" charset="0"/>
              </a:rPr>
              <a:t>• </a:t>
            </a:r>
            <a:r>
              <a:rPr lang="en-GB" sz="3600" dirty="0" err="1">
                <a:latin typeface="Calibri" panose="020F0502020204030204" pitchFamily="34" charset="0"/>
                <a:cs typeface="Calibri" panose="020F0502020204030204" pitchFamily="34" charset="0"/>
              </a:rPr>
              <a:t>numpy.polyfit</a:t>
            </a:r>
            <a:r>
              <a:rPr lang="en-GB" sz="3600" dirty="0">
                <a:latin typeface="Calibri" panose="020F0502020204030204" pitchFamily="34" charset="0"/>
                <a:cs typeface="Calibri" panose="020F0502020204030204" pitchFamily="34" charset="0"/>
              </a:rPr>
              <a:t>() makes it easy. </a:t>
            </a:r>
          </a:p>
        </p:txBody>
      </p:sp>
    </p:spTree>
    <p:extLst>
      <p:ext uri="{BB962C8B-B14F-4D97-AF65-F5344CB8AC3E}">
        <p14:creationId xmlns:p14="http://schemas.microsoft.com/office/powerpoint/2010/main" val="1476343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A7531-8A6B-1851-9B28-D9952F63B020}"/>
              </a:ext>
            </a:extLst>
          </p:cNvPr>
          <p:cNvSpPr>
            <a:spLocks noGrp="1"/>
          </p:cNvSpPr>
          <p:nvPr>
            <p:ph type="title"/>
          </p:nvPr>
        </p:nvSpPr>
        <p:spPr/>
        <p:txBody>
          <a:bodyPr/>
          <a:lstStyle/>
          <a:p>
            <a:r>
              <a:rPr lang="en-GB" dirty="0"/>
              <a:t>Poly1d</a:t>
            </a:r>
            <a:endParaRPr lang="en-US" dirty="0"/>
          </a:p>
        </p:txBody>
      </p:sp>
      <p:sp>
        <p:nvSpPr>
          <p:cNvPr id="3" name="Text Placeholder 2">
            <a:extLst>
              <a:ext uri="{FF2B5EF4-FFF2-40B4-BE49-F238E27FC236}">
                <a16:creationId xmlns:a16="http://schemas.microsoft.com/office/drawing/2014/main" id="{FBDBA7B7-483A-B6D6-204F-3BD5604C2670}"/>
              </a:ext>
            </a:extLst>
          </p:cNvPr>
          <p:cNvSpPr>
            <a:spLocks noGrp="1"/>
          </p:cNvSpPr>
          <p:nvPr>
            <p:ph type="body" sz="quarter" idx="10"/>
          </p:nvPr>
        </p:nvSpPr>
        <p:spPr>
          <a:xfrm>
            <a:off x="601791" y="1185333"/>
            <a:ext cx="10994852" cy="4659991"/>
          </a:xfrm>
        </p:spPr>
        <p:txBody>
          <a:bodyPr/>
          <a:lstStyle/>
          <a:p>
            <a:r>
              <a:rPr lang="en-US" sz="2200" b="1" i="0" dirty="0">
                <a:solidFill>
                  <a:schemeClr val="tx1"/>
                </a:solidFill>
                <a:effectLst/>
                <a:latin typeface="arial" panose="020B0604020202020204" pitchFamily="34" charset="0"/>
              </a:rPr>
              <a:t>A one-dimensional polynomial class</a:t>
            </a:r>
            <a:r>
              <a:rPr lang="en-US" sz="2200" b="0" i="0" dirty="0">
                <a:solidFill>
                  <a:schemeClr val="tx1"/>
                </a:solidFill>
                <a:effectLst/>
                <a:latin typeface="arial" panose="020B0604020202020204" pitchFamily="34" charset="0"/>
              </a:rPr>
              <a:t>.</a:t>
            </a:r>
            <a:endParaRPr lang="en-US" sz="2200" dirty="0">
              <a:solidFill>
                <a:schemeClr val="tx1"/>
              </a:solidFill>
            </a:endParaRPr>
          </a:p>
          <a:p>
            <a:r>
              <a:rPr lang="en-US" sz="2200" b="0" i="0" dirty="0">
                <a:solidFill>
                  <a:schemeClr val="tx1"/>
                </a:solidFill>
                <a:effectLst/>
                <a:latin typeface="arial" panose="020B0604020202020204" pitchFamily="34" charset="0"/>
              </a:rPr>
              <a:t>The numpy.poly1d() function </a:t>
            </a:r>
            <a:r>
              <a:rPr lang="en-US" sz="2200" b="1" i="0" dirty="0">
                <a:solidFill>
                  <a:schemeClr val="tx1"/>
                </a:solidFill>
                <a:effectLst/>
                <a:latin typeface="arial" panose="020B0604020202020204" pitchFamily="34" charset="0"/>
              </a:rPr>
              <a:t>helps to define a polynomial function</a:t>
            </a:r>
            <a:r>
              <a:rPr lang="en-US" sz="2200" b="0" i="0" dirty="0">
                <a:solidFill>
                  <a:schemeClr val="tx1"/>
                </a:solidFill>
                <a:effectLst/>
                <a:latin typeface="arial" panose="020B0604020202020204" pitchFamily="34" charset="0"/>
              </a:rPr>
              <a:t>. It makes it easy to apply “natural operations” on polynomials.</a:t>
            </a:r>
          </a:p>
          <a:p>
            <a:pPr algn="l"/>
            <a:r>
              <a:rPr lang="en-US" sz="2200" b="0" i="0" dirty="0">
                <a:solidFill>
                  <a:schemeClr val="tx1"/>
                </a:solidFill>
                <a:effectLst/>
                <a:latin typeface="Verdana" panose="020B0604030504040204" pitchFamily="34" charset="0"/>
              </a:rPr>
              <a:t>#NumPy has a method that lets us make a polynomial model:</a:t>
            </a:r>
          </a:p>
          <a:p>
            <a:pPr algn="l"/>
            <a:r>
              <a:rPr lang="en-US" sz="2200" b="0" i="0" dirty="0" err="1">
                <a:solidFill>
                  <a:schemeClr val="tx1"/>
                </a:solidFill>
                <a:effectLst/>
                <a:latin typeface="Verdana" panose="020B0604030504040204" pitchFamily="34" charset="0"/>
              </a:rPr>
              <a:t>mymodel</a:t>
            </a:r>
            <a:r>
              <a:rPr lang="en-US" sz="2200" b="0" i="0" dirty="0">
                <a:solidFill>
                  <a:schemeClr val="tx1"/>
                </a:solidFill>
                <a:effectLst/>
                <a:latin typeface="Verdana" panose="020B0604030504040204" pitchFamily="34" charset="0"/>
              </a:rPr>
              <a:t> = numpy.poly1d(</a:t>
            </a:r>
            <a:r>
              <a:rPr lang="en-US" sz="2200" b="0" i="0" dirty="0" err="1">
                <a:solidFill>
                  <a:schemeClr val="tx1"/>
                </a:solidFill>
                <a:effectLst/>
                <a:latin typeface="Verdana" panose="020B0604030504040204" pitchFamily="34" charset="0"/>
              </a:rPr>
              <a:t>numpy.polyfit</a:t>
            </a:r>
            <a:r>
              <a:rPr lang="en-US" sz="2200" b="0" i="0" dirty="0">
                <a:solidFill>
                  <a:schemeClr val="tx1"/>
                </a:solidFill>
                <a:effectLst/>
                <a:latin typeface="Verdana" panose="020B0604030504040204" pitchFamily="34" charset="0"/>
              </a:rPr>
              <a:t>(x, y, 3))</a:t>
            </a:r>
          </a:p>
          <a:p>
            <a:pPr algn="l"/>
            <a:r>
              <a:rPr lang="en-US" sz="2200" b="0" i="0" dirty="0" err="1">
                <a:solidFill>
                  <a:schemeClr val="tx1"/>
                </a:solidFill>
                <a:effectLst/>
                <a:latin typeface="Courier New" panose="02070309020205020404" pitchFamily="49" charset="0"/>
              </a:rPr>
              <a:t>myline</a:t>
            </a:r>
            <a:r>
              <a:rPr lang="en-US" sz="2200" b="0" i="0" dirty="0">
                <a:solidFill>
                  <a:schemeClr val="tx1"/>
                </a:solidFill>
                <a:effectLst/>
                <a:latin typeface="Courier New" panose="02070309020205020404" pitchFamily="49" charset="0"/>
              </a:rPr>
              <a:t> = </a:t>
            </a:r>
            <a:r>
              <a:rPr lang="en-US" sz="2200" b="0" i="0" dirty="0" err="1">
                <a:solidFill>
                  <a:schemeClr val="tx1"/>
                </a:solidFill>
                <a:effectLst/>
                <a:latin typeface="Courier New" panose="02070309020205020404" pitchFamily="49" charset="0"/>
              </a:rPr>
              <a:t>numpy.linspace</a:t>
            </a:r>
            <a:r>
              <a:rPr lang="en-US" sz="2200" b="0" i="0" dirty="0">
                <a:solidFill>
                  <a:schemeClr val="tx1"/>
                </a:solidFill>
                <a:effectLst/>
                <a:latin typeface="Courier New" panose="02070309020205020404" pitchFamily="49" charset="0"/>
              </a:rPr>
              <a:t>(1, 22, 100)</a:t>
            </a:r>
            <a:endParaRPr lang="en-US" sz="2200" b="0" i="0" dirty="0">
              <a:solidFill>
                <a:schemeClr val="tx1"/>
              </a:solidFill>
              <a:effectLst/>
              <a:latin typeface="Verdana" panose="020B0604030504040204" pitchFamily="34" charset="0"/>
            </a:endParaRPr>
          </a:p>
          <a:p>
            <a:r>
              <a:rPr lang="en-US" sz="2200" dirty="0">
                <a:solidFill>
                  <a:schemeClr val="tx1"/>
                </a:solidFill>
              </a:rPr>
              <a:t>#start, end and no of points </a:t>
            </a:r>
          </a:p>
          <a:p>
            <a:r>
              <a:rPr lang="en-US" sz="2200" b="0" i="0" dirty="0">
                <a:solidFill>
                  <a:schemeClr val="tx1"/>
                </a:solidFill>
                <a:effectLst/>
                <a:latin typeface="Consolas" panose="020B0609020204030204" pitchFamily="49" charset="0"/>
              </a:rPr>
              <a:t>print(r2_score(y, </a:t>
            </a:r>
            <a:r>
              <a:rPr lang="en-US" sz="2200" b="0" i="0" dirty="0" err="1">
                <a:solidFill>
                  <a:schemeClr val="tx1"/>
                </a:solidFill>
                <a:effectLst/>
                <a:latin typeface="Consolas" panose="020B0609020204030204" pitchFamily="49" charset="0"/>
              </a:rPr>
              <a:t>mymodel</a:t>
            </a:r>
            <a:r>
              <a:rPr lang="en-US" sz="2200" b="0" i="0" dirty="0">
                <a:solidFill>
                  <a:schemeClr val="tx1"/>
                </a:solidFill>
                <a:effectLst/>
                <a:latin typeface="Consolas" panose="020B0609020204030204" pitchFamily="49" charset="0"/>
              </a:rPr>
              <a:t>(x)))</a:t>
            </a:r>
          </a:p>
          <a:p>
            <a:r>
              <a:rPr lang="en-US" sz="2200" b="0" i="0" dirty="0" err="1">
                <a:solidFill>
                  <a:schemeClr val="tx1"/>
                </a:solidFill>
                <a:effectLst/>
                <a:latin typeface="Consolas" panose="020B0609020204030204" pitchFamily="49" charset="0"/>
              </a:rPr>
              <a:t>predictedvalue</a:t>
            </a:r>
            <a:r>
              <a:rPr lang="en-US" sz="2200" b="0" i="0" dirty="0">
                <a:solidFill>
                  <a:schemeClr val="tx1"/>
                </a:solidFill>
                <a:effectLst/>
                <a:latin typeface="Consolas" panose="020B0609020204030204" pitchFamily="49" charset="0"/>
              </a:rPr>
              <a:t> = </a:t>
            </a:r>
            <a:r>
              <a:rPr lang="en-US" sz="2200" b="0" i="0" dirty="0" err="1">
                <a:solidFill>
                  <a:schemeClr val="tx1"/>
                </a:solidFill>
                <a:effectLst/>
                <a:latin typeface="Consolas" panose="020B0609020204030204" pitchFamily="49" charset="0"/>
              </a:rPr>
              <a:t>mymodel</a:t>
            </a:r>
            <a:r>
              <a:rPr lang="en-US" sz="2200" b="0" i="0" dirty="0">
                <a:solidFill>
                  <a:schemeClr val="tx1"/>
                </a:solidFill>
                <a:effectLst/>
                <a:latin typeface="Consolas" panose="020B0609020204030204" pitchFamily="49" charset="0"/>
              </a:rPr>
              <a:t>(17)</a:t>
            </a:r>
            <a:endParaRPr lang="en-US" sz="2200" dirty="0">
              <a:solidFill>
                <a:schemeClr val="tx1"/>
              </a:solidFill>
            </a:endParaRPr>
          </a:p>
          <a:p>
            <a:endParaRPr lang="en-US" sz="2200" dirty="0">
              <a:solidFill>
                <a:schemeClr val="tx1"/>
              </a:solidFill>
            </a:endParaRPr>
          </a:p>
        </p:txBody>
      </p:sp>
    </p:spTree>
    <p:extLst>
      <p:ext uri="{BB962C8B-B14F-4D97-AF65-F5344CB8AC3E}">
        <p14:creationId xmlns:p14="http://schemas.microsoft.com/office/powerpoint/2010/main" val="3820216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2B34D-D568-91F6-0A1B-CF9644A4C3F8}"/>
              </a:ext>
            </a:extLst>
          </p:cNvPr>
          <p:cNvSpPr>
            <a:spLocks noGrp="1"/>
          </p:cNvSpPr>
          <p:nvPr>
            <p:ph type="title"/>
          </p:nvPr>
        </p:nvSpPr>
        <p:spPr/>
        <p:txBody>
          <a:bodyPr/>
          <a:lstStyle/>
          <a:p>
            <a:r>
              <a:rPr lang="en-GB" dirty="0"/>
              <a:t>Advantages of polynomial regression and uses</a:t>
            </a:r>
            <a:endParaRPr lang="en-US" dirty="0"/>
          </a:p>
        </p:txBody>
      </p:sp>
      <p:sp>
        <p:nvSpPr>
          <p:cNvPr id="3" name="Text Placeholder 2">
            <a:extLst>
              <a:ext uri="{FF2B5EF4-FFF2-40B4-BE49-F238E27FC236}">
                <a16:creationId xmlns:a16="http://schemas.microsoft.com/office/drawing/2014/main" id="{A3A5421B-F5B2-B2EF-D11B-91F705357D9D}"/>
              </a:ext>
            </a:extLst>
          </p:cNvPr>
          <p:cNvSpPr>
            <a:spLocks noGrp="1"/>
          </p:cNvSpPr>
          <p:nvPr>
            <p:ph type="body" sz="quarter" idx="10"/>
          </p:nvPr>
        </p:nvSpPr>
        <p:spPr/>
        <p:txBody>
          <a:bodyPr/>
          <a:lstStyle/>
          <a:p>
            <a:r>
              <a:rPr lang="en-GB" dirty="0"/>
              <a:t>You can model non-linear relationship between variables.</a:t>
            </a:r>
          </a:p>
          <a:p>
            <a:r>
              <a:rPr lang="en-GB" dirty="0"/>
              <a:t>Tissue growth rate predictions: to consider the non-linear character of the spreading.</a:t>
            </a:r>
          </a:p>
          <a:p>
            <a:r>
              <a:rPr lang="en-GB" dirty="0"/>
              <a:t>Speed regulation software: Allows you to search for patterns in the driver behaviour and inform about the necessity to adhere to the rules even before speed limits are overtaken. Preventive measures have been reported which are effective in decreasing the number of incidents on the roads. </a:t>
            </a:r>
          </a:p>
          <a:p>
            <a:endParaRPr lang="en-US" dirty="0"/>
          </a:p>
        </p:txBody>
      </p:sp>
    </p:spTree>
    <p:extLst>
      <p:ext uri="{BB962C8B-B14F-4D97-AF65-F5344CB8AC3E}">
        <p14:creationId xmlns:p14="http://schemas.microsoft.com/office/powerpoint/2010/main" val="3047832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A4061-C816-7516-43F8-6497815FC1DC}"/>
              </a:ext>
            </a:extLst>
          </p:cNvPr>
          <p:cNvSpPr>
            <a:spLocks noGrp="1"/>
          </p:cNvSpPr>
          <p:nvPr>
            <p:ph type="title"/>
          </p:nvPr>
        </p:nvSpPr>
        <p:spPr/>
        <p:txBody>
          <a:bodyPr/>
          <a:lstStyle/>
          <a:p>
            <a:r>
              <a:rPr lang="en-GB" dirty="0"/>
              <a:t>Train-Test Split</a:t>
            </a:r>
            <a:endParaRPr lang="en-US" dirty="0"/>
          </a:p>
        </p:txBody>
      </p:sp>
      <p:sp>
        <p:nvSpPr>
          <p:cNvPr id="3" name="Text Placeholder 2">
            <a:extLst>
              <a:ext uri="{FF2B5EF4-FFF2-40B4-BE49-F238E27FC236}">
                <a16:creationId xmlns:a16="http://schemas.microsoft.com/office/drawing/2014/main" id="{0047EFC6-4809-17F0-8C50-8EFFAC62DFF3}"/>
              </a:ext>
            </a:extLst>
          </p:cNvPr>
          <p:cNvSpPr>
            <a:spLocks noGrp="1"/>
          </p:cNvSpPr>
          <p:nvPr>
            <p:ph type="body" sz="quarter" idx="10"/>
          </p:nvPr>
        </p:nvSpPr>
        <p:spPr>
          <a:xfrm>
            <a:off x="601791" y="1286359"/>
            <a:ext cx="10994852" cy="5126016"/>
          </a:xfrm>
        </p:spPr>
        <p:txBody>
          <a:bodyPr/>
          <a:lstStyle/>
          <a:p>
            <a:r>
              <a:rPr lang="en-GB" sz="2400" dirty="0"/>
              <a:t>Train-test split is used to estimate the performance of machine learning algorithms when these are used to make predictions on the data which has not been used to train the model.</a:t>
            </a:r>
          </a:p>
          <a:p>
            <a:r>
              <a:rPr lang="en-GB" sz="2400" dirty="0"/>
              <a:t>It is an evaluation procedure</a:t>
            </a:r>
          </a:p>
          <a:p>
            <a:r>
              <a:rPr lang="en-GB" sz="2400" dirty="0"/>
              <a:t>It is appropriate when there is a large dataset and can be used for  classification or regression problems. </a:t>
            </a:r>
          </a:p>
          <a:p>
            <a:r>
              <a:rPr lang="en-US" sz="2400" b="0" i="0" dirty="0">
                <a:solidFill>
                  <a:srgbClr val="555555"/>
                </a:solidFill>
                <a:effectLst/>
                <a:latin typeface="Helvetica Neue"/>
              </a:rPr>
              <a:t>scikit-learn machine learning library is used to perform the train-test split procedure</a:t>
            </a:r>
          </a:p>
          <a:p>
            <a:r>
              <a:rPr lang="en-US" sz="2400" dirty="0">
                <a:solidFill>
                  <a:srgbClr val="555555"/>
                </a:solidFill>
                <a:latin typeface="Helvetica Neue"/>
              </a:rPr>
              <a:t>It is not suitable for small datasets as there will not be enough data in the test set to effectively evaluate the model performance.</a:t>
            </a:r>
          </a:p>
          <a:p>
            <a:r>
              <a:rPr lang="en-US" sz="2400" b="0" i="0" dirty="0">
                <a:solidFill>
                  <a:srgbClr val="555555"/>
                </a:solidFill>
                <a:effectLst/>
                <a:latin typeface="Helvetica Neue"/>
              </a:rPr>
              <a:t>For small datasets k-fold cross-validation procedure will be efficient.</a:t>
            </a:r>
            <a:endParaRPr lang="en-US" sz="2400" dirty="0"/>
          </a:p>
        </p:txBody>
      </p:sp>
    </p:spTree>
    <p:extLst>
      <p:ext uri="{BB962C8B-B14F-4D97-AF65-F5344CB8AC3E}">
        <p14:creationId xmlns:p14="http://schemas.microsoft.com/office/powerpoint/2010/main" val="4035106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35814-FB4E-EEA8-E8C6-65E2E28E578D}"/>
              </a:ext>
            </a:extLst>
          </p:cNvPr>
          <p:cNvSpPr>
            <a:spLocks noGrp="1"/>
          </p:cNvSpPr>
          <p:nvPr>
            <p:ph type="title"/>
          </p:nvPr>
        </p:nvSpPr>
        <p:spPr>
          <a:xfrm>
            <a:off x="601791" y="555478"/>
            <a:ext cx="9097686" cy="901363"/>
          </a:xfrm>
        </p:spPr>
        <p:txBody>
          <a:bodyPr/>
          <a:lstStyle/>
          <a:p>
            <a:r>
              <a:rPr lang="en-GB" dirty="0"/>
              <a:t>Train-Test Split</a:t>
            </a:r>
            <a:endParaRPr lang="en-US" dirty="0"/>
          </a:p>
        </p:txBody>
      </p:sp>
      <p:sp>
        <p:nvSpPr>
          <p:cNvPr id="3" name="Text Placeholder 2">
            <a:extLst>
              <a:ext uri="{FF2B5EF4-FFF2-40B4-BE49-F238E27FC236}">
                <a16:creationId xmlns:a16="http://schemas.microsoft.com/office/drawing/2014/main" id="{143D4218-E289-D04D-451A-DE48FFC9C05D}"/>
              </a:ext>
            </a:extLst>
          </p:cNvPr>
          <p:cNvSpPr>
            <a:spLocks noGrp="1"/>
          </p:cNvSpPr>
          <p:nvPr>
            <p:ph type="body" sz="quarter" idx="10"/>
          </p:nvPr>
        </p:nvSpPr>
        <p:spPr>
          <a:xfrm>
            <a:off x="185195" y="1226634"/>
            <a:ext cx="8333772" cy="4931098"/>
          </a:xfrm>
        </p:spPr>
        <p:txBody>
          <a:bodyPr/>
          <a:lstStyle/>
          <a:p>
            <a:r>
              <a:rPr lang="en-GB" sz="2200" dirty="0"/>
              <a:t>The dataset is divided into two subsets. </a:t>
            </a:r>
          </a:p>
          <a:p>
            <a:r>
              <a:rPr lang="en-GB" sz="2200" dirty="0"/>
              <a:t>First subset is used to fit the model –Training Dataset</a:t>
            </a:r>
          </a:p>
          <a:p>
            <a:r>
              <a:rPr lang="en-GB" sz="2200" dirty="0"/>
              <a:t>Second dataset is used to pass to the model and predictions are made and compared to the expected values-Test Dataset (Evaluation Dataset)</a:t>
            </a:r>
          </a:p>
          <a:p>
            <a:r>
              <a:rPr lang="en-GB" sz="2200" dirty="0"/>
              <a:t>Training dataset is typically larger than the testing dataset.</a:t>
            </a:r>
            <a:r>
              <a:rPr lang="en-US" sz="2200" b="0" i="0" dirty="0">
                <a:solidFill>
                  <a:srgbClr val="333333"/>
                </a:solidFill>
                <a:effectLst/>
                <a:latin typeface="Epilogue"/>
              </a:rPr>
              <a:t> Once data from our datasets are fed to a machine learning algorithm, it learns patterns from the data and makes decisions.</a:t>
            </a:r>
          </a:p>
          <a:p>
            <a:r>
              <a:rPr lang="en-US" sz="2200" b="0" i="0" dirty="0">
                <a:solidFill>
                  <a:srgbClr val="333333"/>
                </a:solidFill>
                <a:effectLst/>
                <a:latin typeface="Epilogue"/>
              </a:rPr>
              <a:t>Test data provides a final, real-world check of an unseen dataset to confirm that the machine learning algorithm was trained effectively.</a:t>
            </a:r>
            <a:endParaRPr lang="en-US" sz="2200" dirty="0">
              <a:solidFill>
                <a:srgbClr val="333333"/>
              </a:solidFill>
              <a:latin typeface="Epilogue"/>
            </a:endParaRPr>
          </a:p>
          <a:p>
            <a:r>
              <a:rPr lang="en-US" sz="2200" b="0" i="0" dirty="0">
                <a:solidFill>
                  <a:srgbClr val="333333"/>
                </a:solidFill>
                <a:effectLst/>
                <a:latin typeface="Epilogue"/>
              </a:rPr>
              <a:t>The difference between training data vs. test data is clear: one trains a model, the other confirms it works (or doesn’t work) correctly with previously unseen data.</a:t>
            </a:r>
            <a:endParaRPr lang="en-GB" sz="2200" dirty="0"/>
          </a:p>
          <a:p>
            <a:r>
              <a:rPr lang="en-GB" sz="2200" dirty="0"/>
              <a:t> </a:t>
            </a:r>
          </a:p>
          <a:p>
            <a:endParaRPr lang="en-US" sz="2200" dirty="0"/>
          </a:p>
        </p:txBody>
      </p:sp>
      <p:sp>
        <p:nvSpPr>
          <p:cNvPr id="4" name="Text Placeholder 2">
            <a:extLst>
              <a:ext uri="{FF2B5EF4-FFF2-40B4-BE49-F238E27FC236}">
                <a16:creationId xmlns:a16="http://schemas.microsoft.com/office/drawing/2014/main" id="{89A83ADB-D15B-E90B-48D3-8083D3622939}"/>
              </a:ext>
            </a:extLst>
          </p:cNvPr>
          <p:cNvSpPr txBox="1">
            <a:spLocks/>
          </p:cNvSpPr>
          <p:nvPr/>
        </p:nvSpPr>
        <p:spPr>
          <a:xfrm>
            <a:off x="8518967" y="1382838"/>
            <a:ext cx="3501141" cy="4618690"/>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200" dirty="0"/>
              <a:t>Common split percentages include:</a:t>
            </a:r>
          </a:p>
          <a:p>
            <a:r>
              <a:rPr lang="en-GB" sz="2200" dirty="0"/>
              <a:t>Train : 80%, Test 20%</a:t>
            </a:r>
          </a:p>
          <a:p>
            <a:r>
              <a:rPr lang="en-GB" sz="2200" dirty="0"/>
              <a:t>Train : 67%, Test 33%</a:t>
            </a:r>
          </a:p>
          <a:p>
            <a:r>
              <a:rPr lang="en-GB" sz="2200" dirty="0"/>
              <a:t>Train : 50%, Test 50%</a:t>
            </a:r>
          </a:p>
          <a:p>
            <a:endParaRPr lang="en-GB" sz="2200" dirty="0"/>
          </a:p>
          <a:p>
            <a:endParaRPr lang="en-GB" sz="2200" dirty="0"/>
          </a:p>
          <a:p>
            <a:endParaRPr lang="en-GB" sz="2200" dirty="0"/>
          </a:p>
          <a:p>
            <a:endParaRPr lang="en-US" sz="2200" dirty="0"/>
          </a:p>
        </p:txBody>
      </p:sp>
    </p:spTree>
    <p:extLst>
      <p:ext uri="{BB962C8B-B14F-4D97-AF65-F5344CB8AC3E}">
        <p14:creationId xmlns:p14="http://schemas.microsoft.com/office/powerpoint/2010/main" val="4053776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9AF9E-B722-0B09-FF45-5B82CBEAB3CD}"/>
              </a:ext>
            </a:extLst>
          </p:cNvPr>
          <p:cNvSpPr>
            <a:spLocks noGrp="1"/>
          </p:cNvSpPr>
          <p:nvPr>
            <p:ph type="title"/>
          </p:nvPr>
        </p:nvSpPr>
        <p:spPr/>
        <p:txBody>
          <a:bodyPr/>
          <a:lstStyle/>
          <a:p>
            <a:r>
              <a:rPr lang="en-GB" dirty="0"/>
              <a:t>Syntax of splitting</a:t>
            </a:r>
            <a:endParaRPr lang="en-US" dirty="0"/>
          </a:p>
        </p:txBody>
      </p:sp>
      <p:sp>
        <p:nvSpPr>
          <p:cNvPr id="3" name="Text Placeholder 2">
            <a:extLst>
              <a:ext uri="{FF2B5EF4-FFF2-40B4-BE49-F238E27FC236}">
                <a16:creationId xmlns:a16="http://schemas.microsoft.com/office/drawing/2014/main" id="{38839B19-DB84-DB9A-F558-C46CF0776EF3}"/>
              </a:ext>
            </a:extLst>
          </p:cNvPr>
          <p:cNvSpPr>
            <a:spLocks noGrp="1"/>
          </p:cNvSpPr>
          <p:nvPr>
            <p:ph type="body" sz="quarter" idx="10"/>
          </p:nvPr>
        </p:nvSpPr>
        <p:spPr>
          <a:xfrm>
            <a:off x="601791" y="1255363"/>
            <a:ext cx="11316406" cy="4589961"/>
          </a:xfrm>
        </p:spPr>
        <p:txBody>
          <a:bodyPr/>
          <a:lstStyle/>
          <a:p>
            <a:r>
              <a:rPr lang="en-GB" dirty="0" err="1">
                <a:solidFill>
                  <a:schemeClr val="tx1"/>
                </a:solidFill>
              </a:rPr>
              <a:t>train,test</a:t>
            </a:r>
            <a:r>
              <a:rPr lang="en-GB" dirty="0">
                <a:solidFill>
                  <a:schemeClr val="tx1"/>
                </a:solidFill>
              </a:rPr>
              <a:t>=</a:t>
            </a:r>
            <a:r>
              <a:rPr lang="en-GB" dirty="0" err="1">
                <a:solidFill>
                  <a:schemeClr val="tx1"/>
                </a:solidFill>
              </a:rPr>
              <a:t>train_test_split</a:t>
            </a:r>
            <a:r>
              <a:rPr lang="en-GB" dirty="0">
                <a:solidFill>
                  <a:schemeClr val="tx1"/>
                </a:solidFill>
              </a:rPr>
              <a:t>(dataset,….)</a:t>
            </a:r>
          </a:p>
          <a:p>
            <a:endParaRPr lang="en-US" dirty="0">
              <a:solidFill>
                <a:schemeClr val="tx1"/>
              </a:solidFill>
            </a:endParaRPr>
          </a:p>
          <a:p>
            <a:r>
              <a:rPr lang="en-GB" dirty="0" err="1">
                <a:solidFill>
                  <a:schemeClr val="tx1"/>
                </a:solidFill>
              </a:rPr>
              <a:t>X_train,X_test</a:t>
            </a:r>
            <a:r>
              <a:rPr lang="en-GB" dirty="0">
                <a:solidFill>
                  <a:schemeClr val="tx1"/>
                </a:solidFill>
              </a:rPr>
              <a:t>, </a:t>
            </a:r>
            <a:r>
              <a:rPr lang="en-GB" dirty="0" err="1">
                <a:solidFill>
                  <a:schemeClr val="tx1"/>
                </a:solidFill>
              </a:rPr>
              <a:t>y_train,y_test</a:t>
            </a:r>
            <a:r>
              <a:rPr lang="en-GB" dirty="0">
                <a:solidFill>
                  <a:schemeClr val="tx1"/>
                </a:solidFill>
              </a:rPr>
              <a:t> =</a:t>
            </a:r>
            <a:r>
              <a:rPr lang="en-GB" dirty="0" err="1">
                <a:solidFill>
                  <a:schemeClr val="tx1"/>
                </a:solidFill>
              </a:rPr>
              <a:t>train_test_split</a:t>
            </a:r>
            <a:r>
              <a:rPr lang="en-GB" dirty="0">
                <a:solidFill>
                  <a:schemeClr val="tx1"/>
                </a:solidFill>
              </a:rPr>
              <a:t>(dataset or </a:t>
            </a:r>
            <a:r>
              <a:rPr lang="en-GB" dirty="0" err="1">
                <a:solidFill>
                  <a:schemeClr val="tx1"/>
                </a:solidFill>
              </a:rPr>
              <a:t>X,y</a:t>
            </a:r>
            <a:r>
              <a:rPr lang="en-GB" dirty="0">
                <a:solidFill>
                  <a:schemeClr val="tx1"/>
                </a:solidFill>
              </a:rPr>
              <a:t>,,….</a:t>
            </a:r>
            <a:r>
              <a:rPr lang="en-GB" dirty="0" err="1">
                <a:solidFill>
                  <a:schemeClr val="tx1"/>
                </a:solidFill>
              </a:rPr>
              <a:t>test_size</a:t>
            </a:r>
            <a:r>
              <a:rPr lang="en-GB" dirty="0">
                <a:solidFill>
                  <a:schemeClr val="tx1"/>
                </a:solidFill>
              </a:rPr>
              <a:t>=)</a:t>
            </a:r>
          </a:p>
          <a:p>
            <a:endParaRPr lang="en-GB" dirty="0">
              <a:solidFill>
                <a:schemeClr val="tx1"/>
              </a:solidFill>
            </a:endParaRPr>
          </a:p>
          <a:p>
            <a:pPr algn="l" fontAlgn="base"/>
            <a:r>
              <a:rPr lang="en-US" b="0" i="0" dirty="0">
                <a:solidFill>
                  <a:schemeClr val="tx1"/>
                </a:solidFill>
                <a:effectLst/>
                <a:latin typeface="inherit"/>
              </a:rPr>
              <a:t>When </a:t>
            </a:r>
            <a:r>
              <a:rPr lang="en-US" b="0" i="0" dirty="0" err="1">
                <a:solidFill>
                  <a:schemeClr val="tx1"/>
                </a:solidFill>
                <a:effectLst/>
                <a:latin typeface="inherit"/>
              </a:rPr>
              <a:t>random_state</a:t>
            </a:r>
            <a:r>
              <a:rPr lang="en-US" b="0" i="0" dirty="0">
                <a:solidFill>
                  <a:schemeClr val="tx1"/>
                </a:solidFill>
                <a:effectLst/>
                <a:latin typeface="inherit"/>
              </a:rPr>
              <a:t> is set and split again, and we should see the same split</a:t>
            </a:r>
            <a:endParaRPr lang="en-US" b="0" i="0" dirty="0">
              <a:solidFill>
                <a:schemeClr val="tx1"/>
              </a:solidFill>
              <a:effectLst/>
              <a:latin typeface="Monaco"/>
            </a:endParaRPr>
          </a:p>
          <a:p>
            <a:pPr algn="l" fontAlgn="base"/>
            <a:r>
              <a:rPr lang="en-US" b="0" i="0" dirty="0" err="1">
                <a:solidFill>
                  <a:schemeClr val="tx1"/>
                </a:solidFill>
                <a:effectLst/>
                <a:latin typeface="inherit"/>
              </a:rPr>
              <a:t>X_train</a:t>
            </a:r>
            <a:r>
              <a:rPr lang="en-US" b="0" i="0" dirty="0">
                <a:solidFill>
                  <a:schemeClr val="tx1"/>
                </a:solidFill>
                <a:effectLst/>
                <a:latin typeface="inherit"/>
              </a:rPr>
              <a:t>, </a:t>
            </a:r>
            <a:r>
              <a:rPr lang="en-US" b="0" i="0" dirty="0" err="1">
                <a:solidFill>
                  <a:schemeClr val="tx1"/>
                </a:solidFill>
                <a:effectLst/>
                <a:latin typeface="inherit"/>
              </a:rPr>
              <a:t>X_test</a:t>
            </a:r>
            <a:r>
              <a:rPr lang="en-US" b="0" i="0" dirty="0">
                <a:solidFill>
                  <a:schemeClr val="tx1"/>
                </a:solidFill>
                <a:effectLst/>
                <a:latin typeface="inherit"/>
              </a:rPr>
              <a:t>, </a:t>
            </a:r>
            <a:r>
              <a:rPr lang="en-US" b="0" i="0" dirty="0" err="1">
                <a:solidFill>
                  <a:schemeClr val="tx1"/>
                </a:solidFill>
                <a:effectLst/>
                <a:latin typeface="inherit"/>
              </a:rPr>
              <a:t>y_train</a:t>
            </a:r>
            <a:r>
              <a:rPr lang="en-US" b="0" i="0" dirty="0">
                <a:solidFill>
                  <a:schemeClr val="tx1"/>
                </a:solidFill>
                <a:effectLst/>
                <a:latin typeface="inherit"/>
              </a:rPr>
              <a:t>, </a:t>
            </a:r>
            <a:r>
              <a:rPr lang="en-US" b="0" i="0" dirty="0" err="1">
                <a:solidFill>
                  <a:schemeClr val="tx1"/>
                </a:solidFill>
                <a:effectLst/>
                <a:latin typeface="inherit"/>
              </a:rPr>
              <a:t>y_test</a:t>
            </a:r>
            <a:r>
              <a:rPr lang="en-US" b="0" i="0" dirty="0">
                <a:solidFill>
                  <a:schemeClr val="tx1"/>
                </a:solidFill>
                <a:effectLst/>
                <a:latin typeface="inherit"/>
              </a:rPr>
              <a:t> = </a:t>
            </a:r>
            <a:r>
              <a:rPr lang="en-US" b="0" i="0" dirty="0" err="1">
                <a:solidFill>
                  <a:schemeClr val="tx1"/>
                </a:solidFill>
                <a:effectLst/>
                <a:latin typeface="inherit"/>
              </a:rPr>
              <a:t>train_test_split</a:t>
            </a:r>
            <a:r>
              <a:rPr lang="en-US" b="0" i="0" dirty="0">
                <a:solidFill>
                  <a:schemeClr val="tx1"/>
                </a:solidFill>
                <a:effectLst/>
                <a:latin typeface="inherit"/>
              </a:rPr>
              <a:t>(X, y, </a:t>
            </a:r>
            <a:r>
              <a:rPr lang="en-US" b="0" i="0" dirty="0" err="1">
                <a:solidFill>
                  <a:schemeClr val="tx1"/>
                </a:solidFill>
                <a:effectLst/>
                <a:latin typeface="inherit"/>
              </a:rPr>
              <a:t>test_size</a:t>
            </a:r>
            <a:r>
              <a:rPr lang="en-US" b="0" i="0" dirty="0">
                <a:solidFill>
                  <a:schemeClr val="tx1"/>
                </a:solidFill>
                <a:effectLst/>
                <a:latin typeface="inherit"/>
              </a:rPr>
              <a:t>=0.33, </a:t>
            </a:r>
            <a:r>
              <a:rPr lang="en-US" b="0" i="0" dirty="0" err="1">
                <a:solidFill>
                  <a:schemeClr val="tx1"/>
                </a:solidFill>
                <a:effectLst/>
                <a:latin typeface="inherit"/>
              </a:rPr>
              <a:t>random_state</a:t>
            </a:r>
            <a:r>
              <a:rPr lang="en-US" b="0" i="0" dirty="0">
                <a:solidFill>
                  <a:schemeClr val="tx1"/>
                </a:solidFill>
                <a:effectLst/>
                <a:latin typeface="inherit"/>
              </a:rPr>
              <a:t>=1)</a:t>
            </a:r>
            <a:endParaRPr lang="en-US" b="0" i="0" dirty="0">
              <a:solidFill>
                <a:schemeClr val="tx1"/>
              </a:solidFill>
              <a:effectLst/>
              <a:latin typeface="Monaco"/>
            </a:endParaRPr>
          </a:p>
          <a:p>
            <a:endParaRPr lang="en-US" dirty="0">
              <a:solidFill>
                <a:schemeClr val="tx1"/>
              </a:solidFill>
            </a:endParaRPr>
          </a:p>
        </p:txBody>
      </p:sp>
    </p:spTree>
    <p:extLst>
      <p:ext uri="{BB962C8B-B14F-4D97-AF65-F5344CB8AC3E}">
        <p14:creationId xmlns:p14="http://schemas.microsoft.com/office/powerpoint/2010/main" val="3242614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3AAC-5127-CAFF-7B24-1C14B05D04EC}"/>
              </a:ext>
            </a:extLst>
          </p:cNvPr>
          <p:cNvSpPr>
            <a:spLocks noGrp="1"/>
          </p:cNvSpPr>
          <p:nvPr>
            <p:ph type="title"/>
          </p:nvPr>
        </p:nvSpPr>
        <p:spPr/>
        <p:txBody>
          <a:bodyPr/>
          <a:lstStyle/>
          <a:p>
            <a:r>
              <a:rPr lang="en-GB" dirty="0"/>
              <a:t>Scaling-standardization</a:t>
            </a:r>
            <a:endParaRPr lang="en-US" dirty="0"/>
          </a:p>
        </p:txBody>
      </p:sp>
      <p:sp>
        <p:nvSpPr>
          <p:cNvPr id="3" name="Text Placeholder 2">
            <a:extLst>
              <a:ext uri="{FF2B5EF4-FFF2-40B4-BE49-F238E27FC236}">
                <a16:creationId xmlns:a16="http://schemas.microsoft.com/office/drawing/2014/main" id="{87809790-177B-B8E4-468D-74F1A0F73FD1}"/>
              </a:ext>
            </a:extLst>
          </p:cNvPr>
          <p:cNvSpPr>
            <a:spLocks noGrp="1"/>
          </p:cNvSpPr>
          <p:nvPr>
            <p:ph type="body" sz="quarter" idx="10"/>
          </p:nvPr>
        </p:nvSpPr>
        <p:spPr>
          <a:xfrm>
            <a:off x="312516" y="1284790"/>
            <a:ext cx="5656529" cy="4780344"/>
          </a:xfrm>
        </p:spPr>
        <p:txBody>
          <a:bodyPr/>
          <a:lstStyle/>
          <a:p>
            <a:pPr marL="0" marR="0">
              <a:lnSpc>
                <a:spcPct val="107000"/>
              </a:lnSpc>
              <a:spcBef>
                <a:spcPts val="1440"/>
              </a:spcBef>
              <a:spcAft>
                <a:spcPts val="1440"/>
              </a:spcAft>
            </a:pPr>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The standardization method uses this formula:</a:t>
            </a:r>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440"/>
              </a:spcBef>
              <a:spcAft>
                <a:spcPts val="1440"/>
              </a:spcAft>
            </a:pP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Z(new value) = (x(original value) – u(mean)) / s (standard deviation)</a:t>
            </a:r>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(790 - </a:t>
            </a:r>
            <a:r>
              <a:rPr lang="en-US" sz="1700" u="sng"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hlinkClick r:id="rId2">
                  <a:extLst>
                    <a:ext uri="{A12FA001-AC4F-418D-AE19-62706E023703}">
                      <ahyp:hlinkClr xmlns:ahyp="http://schemas.microsoft.com/office/drawing/2018/hyperlinkcolor" val="tx"/>
                    </a:ext>
                  </a:extLst>
                </a:hlinkClick>
              </a:rPr>
              <a:t>1292.23</a:t>
            </a: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700" u="sng"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hlinkClick r:id="rId3">
                  <a:extLst>
                    <a:ext uri="{A12FA001-AC4F-418D-AE19-62706E023703}">
                      <ahyp:hlinkClr xmlns:ahyp="http://schemas.microsoft.com/office/drawing/2018/hyperlinkcolor" val="tx"/>
                    </a:ext>
                  </a:extLst>
                </a:hlinkClick>
              </a:rPr>
              <a:t>238.74</a:t>
            </a: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 = -2.1</a:t>
            </a:r>
          </a:p>
          <a:p>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Python </a:t>
            </a:r>
            <a:r>
              <a:rPr lang="en-US" sz="1700" dirty="0" err="1">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sklearn</a:t>
            </a:r>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 module has a method called </a:t>
            </a:r>
            <a:r>
              <a:rPr lang="en-US" sz="1700" dirty="0" err="1">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StandardScaler</a:t>
            </a: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 which returns a Scaler object with methods for transforming data sets.</a:t>
            </a:r>
          </a:p>
          <a:p>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from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sklearn.preprocessing</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 import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StandardScaler</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scale =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StandardScaler</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X =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df</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[['Weight', 'Volume']]</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scaledX</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scale.fit_transform</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(X)</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solidFill>
                <a:schemeClr val="tx1"/>
              </a:solidFill>
            </a:endParaRPr>
          </a:p>
        </p:txBody>
      </p:sp>
      <p:graphicFrame>
        <p:nvGraphicFramePr>
          <p:cNvPr id="10" name="Table 9">
            <a:extLst>
              <a:ext uri="{FF2B5EF4-FFF2-40B4-BE49-F238E27FC236}">
                <a16:creationId xmlns:a16="http://schemas.microsoft.com/office/drawing/2014/main" id="{E0F71B93-50DC-A793-8588-626191EDB5A4}"/>
              </a:ext>
            </a:extLst>
          </p:cNvPr>
          <p:cNvGraphicFramePr>
            <a:graphicFrameLocks noGrp="1"/>
          </p:cNvGraphicFramePr>
          <p:nvPr/>
        </p:nvGraphicFramePr>
        <p:xfrm>
          <a:off x="6029760" y="2871336"/>
          <a:ext cx="5364235" cy="339471"/>
        </p:xfrm>
        <a:graphic>
          <a:graphicData uri="http://schemas.openxmlformats.org/drawingml/2006/table">
            <a:tbl>
              <a:tblPr firstRow="1" firstCol="1" bandRow="1">
                <a:tableStyleId>{5C22544A-7EE6-4342-B048-85BDC9FD1C3A}</a:tableStyleId>
              </a:tblPr>
              <a:tblGrid>
                <a:gridCol w="1034945">
                  <a:extLst>
                    <a:ext uri="{9D8B030D-6E8A-4147-A177-3AD203B41FA5}">
                      <a16:colId xmlns:a16="http://schemas.microsoft.com/office/drawing/2014/main" val="2262593237"/>
                    </a:ext>
                  </a:extLst>
                </a:gridCol>
                <a:gridCol w="1037036">
                  <a:extLst>
                    <a:ext uri="{9D8B030D-6E8A-4147-A177-3AD203B41FA5}">
                      <a16:colId xmlns:a16="http://schemas.microsoft.com/office/drawing/2014/main" val="3715739921"/>
                    </a:ext>
                  </a:extLst>
                </a:gridCol>
                <a:gridCol w="1039127">
                  <a:extLst>
                    <a:ext uri="{9D8B030D-6E8A-4147-A177-3AD203B41FA5}">
                      <a16:colId xmlns:a16="http://schemas.microsoft.com/office/drawing/2014/main" val="295405646"/>
                    </a:ext>
                  </a:extLst>
                </a:gridCol>
                <a:gridCol w="1038291">
                  <a:extLst>
                    <a:ext uri="{9D8B030D-6E8A-4147-A177-3AD203B41FA5}">
                      <a16:colId xmlns:a16="http://schemas.microsoft.com/office/drawing/2014/main" val="875785362"/>
                    </a:ext>
                  </a:extLst>
                </a:gridCol>
                <a:gridCol w="1037036">
                  <a:extLst>
                    <a:ext uri="{9D8B030D-6E8A-4147-A177-3AD203B41FA5}">
                      <a16:colId xmlns:a16="http://schemas.microsoft.com/office/drawing/2014/main" val="3622322782"/>
                    </a:ext>
                  </a:extLst>
                </a:gridCol>
                <a:gridCol w="177800">
                  <a:extLst>
                    <a:ext uri="{9D8B030D-6E8A-4147-A177-3AD203B41FA5}">
                      <a16:colId xmlns:a16="http://schemas.microsoft.com/office/drawing/2014/main" val="46180086"/>
                    </a:ext>
                  </a:extLst>
                </a:gridCol>
              </a:tblGrid>
              <a:tr h="0">
                <a:tc>
                  <a:txBody>
                    <a:bodyPr/>
                    <a:lstStyle/>
                    <a:p>
                      <a:pPr marL="0" marR="0">
                        <a:lnSpc>
                          <a:spcPct val="107000"/>
                        </a:lnSpc>
                        <a:spcBef>
                          <a:spcPts val="0"/>
                        </a:spcBef>
                        <a:spcAft>
                          <a:spcPts val="0"/>
                        </a:spcAft>
                      </a:pPr>
                      <a:r>
                        <a:rPr lang="en-US" sz="1200" kern="100">
                          <a:effectLst/>
                        </a:rPr>
                        <a:t>Car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Model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Volume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Weight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CO2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tc>
                  <a:txBody>
                    <a:bodyPr/>
                    <a:lstStyle/>
                    <a:p>
                      <a:pPr>
                        <a:lnSpc>
                          <a:spcPct val="107000"/>
                        </a:lnSpc>
                      </a:pPr>
                      <a:endParaRPr lang="en-US" sz="1100" kern="100">
                        <a:effectLst/>
                        <a:latin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58165430"/>
                  </a:ext>
                </a:extLst>
              </a:tr>
            </a:tbl>
          </a:graphicData>
        </a:graphic>
      </p:graphicFrame>
      <p:graphicFrame>
        <p:nvGraphicFramePr>
          <p:cNvPr id="11" name="Table 10">
            <a:extLst>
              <a:ext uri="{FF2B5EF4-FFF2-40B4-BE49-F238E27FC236}">
                <a16:creationId xmlns:a16="http://schemas.microsoft.com/office/drawing/2014/main" id="{4F523554-8366-A814-A314-8CC2355AE9ED}"/>
              </a:ext>
            </a:extLst>
          </p:cNvPr>
          <p:cNvGraphicFramePr>
            <a:graphicFrameLocks noGrp="1"/>
          </p:cNvGraphicFramePr>
          <p:nvPr/>
        </p:nvGraphicFramePr>
        <p:xfrm>
          <a:off x="6029760" y="3178865"/>
          <a:ext cx="5303520" cy="1018413"/>
        </p:xfrm>
        <a:graphic>
          <a:graphicData uri="http://schemas.openxmlformats.org/drawingml/2006/table">
            <a:tbl>
              <a:tblPr firstRow="1" firstCol="1" bandRow="1">
                <a:tableStyleId>{5C22544A-7EE6-4342-B048-85BDC9FD1C3A}</a:tableStyleId>
              </a:tblPr>
              <a:tblGrid>
                <a:gridCol w="1224280">
                  <a:extLst>
                    <a:ext uri="{9D8B030D-6E8A-4147-A177-3AD203B41FA5}">
                      <a16:colId xmlns:a16="http://schemas.microsoft.com/office/drawing/2014/main" val="2878133016"/>
                    </a:ext>
                  </a:extLst>
                </a:gridCol>
                <a:gridCol w="1083945">
                  <a:extLst>
                    <a:ext uri="{9D8B030D-6E8A-4147-A177-3AD203B41FA5}">
                      <a16:colId xmlns:a16="http://schemas.microsoft.com/office/drawing/2014/main" val="2426746252"/>
                    </a:ext>
                  </a:extLst>
                </a:gridCol>
                <a:gridCol w="953770">
                  <a:extLst>
                    <a:ext uri="{9D8B030D-6E8A-4147-A177-3AD203B41FA5}">
                      <a16:colId xmlns:a16="http://schemas.microsoft.com/office/drawing/2014/main" val="2754151573"/>
                    </a:ext>
                  </a:extLst>
                </a:gridCol>
                <a:gridCol w="1010920">
                  <a:extLst>
                    <a:ext uri="{9D8B030D-6E8A-4147-A177-3AD203B41FA5}">
                      <a16:colId xmlns:a16="http://schemas.microsoft.com/office/drawing/2014/main" val="3230300797"/>
                    </a:ext>
                  </a:extLst>
                </a:gridCol>
                <a:gridCol w="1030605">
                  <a:extLst>
                    <a:ext uri="{9D8B030D-6E8A-4147-A177-3AD203B41FA5}">
                      <a16:colId xmlns:a16="http://schemas.microsoft.com/office/drawing/2014/main" val="3847278073"/>
                    </a:ext>
                  </a:extLst>
                </a:gridCol>
              </a:tblGrid>
              <a:tr h="0">
                <a:tc>
                  <a:txBody>
                    <a:bodyPr/>
                    <a:lstStyle/>
                    <a:p>
                      <a:pPr marL="0" marR="0">
                        <a:lnSpc>
                          <a:spcPct val="107000"/>
                        </a:lnSpc>
                        <a:spcBef>
                          <a:spcPts val="0"/>
                        </a:spcBef>
                        <a:spcAft>
                          <a:spcPts val="0"/>
                        </a:spcAft>
                      </a:pPr>
                      <a:r>
                        <a:rPr lang="en-US" sz="1200" kern="100">
                          <a:effectLst/>
                        </a:rPr>
                        <a:t>Toyota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Aygo</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dirty="0">
                          <a:effectLst/>
                        </a:rPr>
                        <a:t>1.0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790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99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extLst>
                  <a:ext uri="{0D108BD9-81ED-4DB2-BD59-A6C34878D82A}">
                    <a16:rowId xmlns:a16="http://schemas.microsoft.com/office/drawing/2014/main" val="3322355030"/>
                  </a:ext>
                </a:extLst>
              </a:tr>
              <a:tr h="0">
                <a:tc>
                  <a:txBody>
                    <a:bodyPr/>
                    <a:lstStyle/>
                    <a:p>
                      <a:pPr marL="0" marR="0">
                        <a:lnSpc>
                          <a:spcPct val="107000"/>
                        </a:lnSpc>
                        <a:spcBef>
                          <a:spcPts val="0"/>
                        </a:spcBef>
                        <a:spcAft>
                          <a:spcPts val="0"/>
                        </a:spcAft>
                      </a:pPr>
                      <a:r>
                        <a:rPr lang="en-US" sz="1200" kern="100">
                          <a:effectLst/>
                        </a:rPr>
                        <a:t>Mitsubishi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Space Star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1.2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1160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extLst>
                  <a:ext uri="{0D108BD9-81ED-4DB2-BD59-A6C34878D82A}">
                    <a16:rowId xmlns:a16="http://schemas.microsoft.com/office/drawing/2014/main" val="2680230808"/>
                  </a:ext>
                </a:extLst>
              </a:tr>
              <a:tr h="0">
                <a:tc>
                  <a:txBody>
                    <a:bodyPr/>
                    <a:lstStyle/>
                    <a:p>
                      <a:pPr marL="0" marR="0">
                        <a:lnSpc>
                          <a:spcPct val="107000"/>
                        </a:lnSpc>
                        <a:spcBef>
                          <a:spcPts val="0"/>
                        </a:spcBef>
                        <a:spcAft>
                          <a:spcPts val="0"/>
                        </a:spcAft>
                      </a:pPr>
                      <a:r>
                        <a:rPr lang="en-US" sz="1200" kern="100">
                          <a:effectLst/>
                        </a:rPr>
                        <a:t>Skoda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Citigo</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1.0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929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dirty="0">
                          <a:effectLst/>
                        </a:rPr>
                        <a:t>95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extLst>
                  <a:ext uri="{0D108BD9-81ED-4DB2-BD59-A6C34878D82A}">
                    <a16:rowId xmlns:a16="http://schemas.microsoft.com/office/drawing/2014/main" val="2398472789"/>
                  </a:ext>
                </a:extLst>
              </a:tr>
            </a:tbl>
          </a:graphicData>
        </a:graphic>
      </p:graphicFrame>
      <p:sp>
        <p:nvSpPr>
          <p:cNvPr id="12" name="Rectangle 3">
            <a:extLst>
              <a:ext uri="{FF2B5EF4-FFF2-40B4-BE49-F238E27FC236}">
                <a16:creationId xmlns:a16="http://schemas.microsoft.com/office/drawing/2014/main" id="{1C8A592E-B036-C4C3-D707-BA2DAE8276C3}"/>
              </a:ext>
            </a:extLst>
          </p:cNvPr>
          <p:cNvSpPr>
            <a:spLocks noChangeArrowheads="1"/>
          </p:cNvSpPr>
          <p:nvPr/>
        </p:nvSpPr>
        <p:spPr bwMode="auto">
          <a:xfrm>
            <a:off x="3444875" y="34940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91155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417ED-A6CB-D993-DACA-047971BC9E3B}"/>
              </a:ext>
            </a:extLst>
          </p:cNvPr>
          <p:cNvSpPr>
            <a:spLocks noGrp="1"/>
          </p:cNvSpPr>
          <p:nvPr>
            <p:ph type="title"/>
          </p:nvPr>
        </p:nvSpPr>
        <p:spPr/>
        <p:txBody>
          <a:bodyPr/>
          <a:lstStyle/>
          <a:p>
            <a:r>
              <a:rPr lang="en-GB" dirty="0"/>
              <a:t>visual</a:t>
            </a:r>
            <a:endParaRPr lang="en-US" dirty="0"/>
          </a:p>
        </p:txBody>
      </p:sp>
      <p:sp>
        <p:nvSpPr>
          <p:cNvPr id="3" name="Text Placeholder 2">
            <a:extLst>
              <a:ext uri="{FF2B5EF4-FFF2-40B4-BE49-F238E27FC236}">
                <a16:creationId xmlns:a16="http://schemas.microsoft.com/office/drawing/2014/main" id="{498792D3-C7E6-C1E0-AC76-36A67C8E1051}"/>
              </a:ext>
            </a:extLst>
          </p:cNvPr>
          <p:cNvSpPr>
            <a:spLocks noGrp="1"/>
          </p:cNvSpPr>
          <p:nvPr>
            <p:ph type="body" sz="quarter" idx="10"/>
          </p:nvPr>
        </p:nvSpPr>
        <p:spPr/>
        <p:txBody>
          <a:bodyPr/>
          <a:lstStyle/>
          <a:p>
            <a:r>
              <a:rPr lang="en-US" dirty="0">
                <a:hlinkClick r:id="rId3"/>
              </a:rPr>
              <a:t>Introduction to Polynomial Regression Analysis (serokell.io)</a:t>
            </a:r>
            <a:endParaRPr lang="en-US" dirty="0"/>
          </a:p>
          <a:p>
            <a:endParaRPr lang="en-US" dirty="0"/>
          </a:p>
          <a:p>
            <a:r>
              <a:rPr lang="en-US" dirty="0"/>
              <a:t>To watch the video on polynomial regression </a:t>
            </a:r>
          </a:p>
          <a:p>
            <a:endParaRPr lang="en-US" dirty="0"/>
          </a:p>
          <a:p>
            <a:endParaRPr lang="en-US" dirty="0"/>
          </a:p>
        </p:txBody>
      </p:sp>
    </p:spTree>
    <p:extLst>
      <p:ext uri="{BB962C8B-B14F-4D97-AF65-F5344CB8AC3E}">
        <p14:creationId xmlns:p14="http://schemas.microsoft.com/office/powerpoint/2010/main" val="2514066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1FB9E-90BD-874E-E661-B01057EE4AE6}"/>
              </a:ext>
            </a:extLst>
          </p:cNvPr>
          <p:cNvSpPr>
            <a:spLocks noGrp="1"/>
          </p:cNvSpPr>
          <p:nvPr>
            <p:ph type="title"/>
          </p:nvPr>
        </p:nvSpPr>
        <p:spPr/>
        <p:txBody>
          <a:bodyPr/>
          <a:lstStyle/>
          <a:p>
            <a:r>
              <a:rPr lang="en-GB" dirty="0"/>
              <a:t>summary</a:t>
            </a:r>
            <a:endParaRPr lang="en-US" dirty="0"/>
          </a:p>
        </p:txBody>
      </p:sp>
      <p:sp>
        <p:nvSpPr>
          <p:cNvPr id="3" name="Text Placeholder 2">
            <a:extLst>
              <a:ext uri="{FF2B5EF4-FFF2-40B4-BE49-F238E27FC236}">
                <a16:creationId xmlns:a16="http://schemas.microsoft.com/office/drawing/2014/main" id="{CE9CC826-91F0-9873-C0F9-78DC4D070413}"/>
              </a:ext>
            </a:extLst>
          </p:cNvPr>
          <p:cNvSpPr>
            <a:spLocks noGrp="1"/>
          </p:cNvSpPr>
          <p:nvPr>
            <p:ph type="body" sz="quarter" idx="10"/>
          </p:nvPr>
        </p:nvSpPr>
        <p:spPr/>
        <p:txBody>
          <a:bodyPr/>
          <a:lstStyle/>
          <a:p>
            <a:r>
              <a:rPr lang="en-GB" dirty="0"/>
              <a:t>In this session, the following concepts were discussed:</a:t>
            </a:r>
          </a:p>
          <a:p>
            <a:r>
              <a:rPr lang="en-GB" dirty="0"/>
              <a:t>Polynomial regression</a:t>
            </a:r>
          </a:p>
          <a:p>
            <a:r>
              <a:rPr lang="en-GB" dirty="0"/>
              <a:t>Advantages and issues like overfitting</a:t>
            </a:r>
          </a:p>
          <a:p>
            <a:r>
              <a:rPr lang="en-GB" dirty="0"/>
              <a:t>Scaling the data and evaluating the model using train-test </a:t>
            </a:r>
            <a:endParaRPr lang="en-US" dirty="0"/>
          </a:p>
        </p:txBody>
      </p:sp>
    </p:spTree>
    <p:extLst>
      <p:ext uri="{BB962C8B-B14F-4D97-AF65-F5344CB8AC3E}">
        <p14:creationId xmlns:p14="http://schemas.microsoft.com/office/powerpoint/2010/main" val="1738816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BB5E-878D-DD15-51D7-53CB501F38F7}"/>
              </a:ext>
            </a:extLst>
          </p:cNvPr>
          <p:cNvSpPr>
            <a:spLocks noGrp="1"/>
          </p:cNvSpPr>
          <p:nvPr>
            <p:ph type="title"/>
          </p:nvPr>
        </p:nvSpPr>
        <p:spPr/>
        <p:txBody>
          <a:bodyPr/>
          <a:lstStyle/>
          <a:p>
            <a:r>
              <a:rPr lang="en-US" sz="4400" dirty="0"/>
              <a:t>reference</a:t>
            </a:r>
            <a:endParaRPr lang="en-US" dirty="0"/>
          </a:p>
        </p:txBody>
      </p:sp>
      <p:sp>
        <p:nvSpPr>
          <p:cNvPr id="3" name="Text Placeholder 2">
            <a:extLst>
              <a:ext uri="{FF2B5EF4-FFF2-40B4-BE49-F238E27FC236}">
                <a16:creationId xmlns:a16="http://schemas.microsoft.com/office/drawing/2014/main" id="{92D99743-9794-73A0-D52C-98A5433C6CDF}"/>
              </a:ext>
            </a:extLst>
          </p:cNvPr>
          <p:cNvSpPr>
            <a:spLocks noGrp="1"/>
          </p:cNvSpPr>
          <p:nvPr>
            <p:ph type="body" sz="quarter" idx="10"/>
          </p:nvPr>
        </p:nvSpPr>
        <p:spPr>
          <a:xfrm>
            <a:off x="301084" y="1263316"/>
            <a:ext cx="11764536" cy="5039206"/>
          </a:xfrm>
        </p:spPr>
        <p:txBody>
          <a:bodyPr/>
          <a:lstStyle/>
          <a:p>
            <a:r>
              <a:rPr lang="en-US" sz="1600" dirty="0"/>
              <a:t>Bhandari,M.2020. How to predict Loan Eligibility using Machine Learning </a:t>
            </a:r>
            <a:r>
              <a:rPr lang="en-US" sz="1600" dirty="0" err="1"/>
              <a:t>Models:Build</a:t>
            </a:r>
            <a:r>
              <a:rPr lang="en-US" sz="1600" dirty="0"/>
              <a:t> predictive models to automate the process of targeting the right applicants. [Online].Available at: </a:t>
            </a:r>
            <a:r>
              <a:rPr lang="en-US" sz="1600" dirty="0">
                <a:hlinkClick r:id="rId3"/>
              </a:rPr>
              <a:t>https://towardsdatascience.com/predict-loan-eligibility-using-machine-learning-models-7a14ef904057</a:t>
            </a:r>
            <a:endParaRPr lang="en-US" sz="1600" dirty="0"/>
          </a:p>
          <a:p>
            <a:r>
              <a:rPr lang="en-US" sz="1600" dirty="0"/>
              <a:t>Loong,J.2018. Fitting Polynomial Regressions in Python. [Online].Available </a:t>
            </a:r>
            <a:r>
              <a:rPr lang="en-US" sz="1600" dirty="0" err="1"/>
              <a:t>at:https</a:t>
            </a:r>
            <a:r>
              <a:rPr lang="en-US" sz="1600" dirty="0"/>
              <a:t>://joshualoong.com/2018/10/03/Fitting-Polynomial-Regressions-in-Python/</a:t>
            </a:r>
          </a:p>
          <a:p>
            <a:r>
              <a:rPr lang="en-US" sz="1600" dirty="0" err="1"/>
              <a:t>Mahmood.S.Md</a:t>
            </a:r>
            <a:r>
              <a:rPr lang="en-US" sz="1600" dirty="0"/>
              <a:t>. 2021 .Simple Linear and Polynomial Regression. [online].Available </a:t>
            </a:r>
            <a:r>
              <a:rPr lang="en-US" sz="1600" dirty="0" err="1"/>
              <a:t>at:.https</a:t>
            </a:r>
            <a:r>
              <a:rPr lang="en-US" sz="1600" dirty="0"/>
              <a:t>://towardsdatascience.com/simply-linear-and-polynomial-regression-9c9624774f5a</a:t>
            </a:r>
          </a:p>
          <a:p>
            <a:r>
              <a:rPr lang="en-US" sz="1600" dirty="0"/>
              <a:t>Zach.2020. An Introduction to Polynomial Regression. [Online].Available </a:t>
            </a:r>
            <a:r>
              <a:rPr lang="en-US" sz="1600" dirty="0" err="1"/>
              <a:t>at:https</a:t>
            </a:r>
            <a:r>
              <a:rPr lang="en-US" sz="1600" dirty="0"/>
              <a:t>://www.statology.org/polynomial-regression/</a:t>
            </a:r>
          </a:p>
          <a:p>
            <a:r>
              <a:rPr lang="en-US" sz="1600" dirty="0"/>
              <a:t>Seher,A.2022.Overfitting Problem In Polynomial Regression . [online].Available </a:t>
            </a:r>
            <a:r>
              <a:rPr lang="en-US" sz="1600" dirty="0" err="1"/>
              <a:t>at:.https</a:t>
            </a:r>
            <a:r>
              <a:rPr lang="en-US" sz="1600" dirty="0"/>
              <a:t>://www.letscodemore.com/blog/overfitting-problem-in-polynomial-regression/</a:t>
            </a:r>
          </a:p>
          <a:p>
            <a:r>
              <a:rPr lang="en-GB" sz="1600" dirty="0">
                <a:effectLst/>
                <a:latin typeface="Calibri" panose="020F0502020204030204" pitchFamily="34" charset="0"/>
                <a:ea typeface="Calibri" panose="020F0502020204030204" pitchFamily="34" charset="0"/>
                <a:cs typeface="Times New Roman" panose="02020603050405020304" pitchFamily="18" charset="0"/>
              </a:rPr>
              <a:t>W3schools.2022.Scaling.</a:t>
            </a:r>
            <a:r>
              <a:rPr lang="en-US" sz="1600" dirty="0"/>
              <a:t> . [online].Available at:.</a:t>
            </a:r>
            <a:r>
              <a:rPr lang="en-GB" sz="1600" dirty="0">
                <a:effectLst/>
                <a:latin typeface="Calibri" panose="020F0502020204030204" pitchFamily="34" charset="0"/>
                <a:ea typeface="Calibri" panose="020F0502020204030204" pitchFamily="34" charset="0"/>
                <a:cs typeface="Times New Roman" panose="02020603050405020304" pitchFamily="18" charset="0"/>
              </a:rPr>
              <a:t>https://www.w3schools.com/python/python_ml_scale.asp</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600" dirty="0"/>
              <a:t>Sahai,S.2022.How and when to use polynomial regression in ML in python</a:t>
            </a:r>
            <a:r>
              <a:rPr lang="en-US" sz="1600" dirty="0"/>
              <a:t> [Online].Available at:</a:t>
            </a:r>
            <a:r>
              <a:rPr lang="en-GB" sz="1600" dirty="0">
                <a:hlinkClick r:id="rId4"/>
              </a:rPr>
              <a:t>https://www.projectpro.io/recipes/and-when-use-polynomial-regression</a:t>
            </a:r>
            <a:endParaRPr lang="en-GB" sz="1600" dirty="0"/>
          </a:p>
          <a:p>
            <a:r>
              <a:rPr lang="en-US" sz="1600" dirty="0"/>
              <a:t>Brownlee,J.2020.Train-Test Split for Evaluating Machine Learning Algorithms. [Online].Available </a:t>
            </a:r>
            <a:r>
              <a:rPr lang="en-US" sz="1600" dirty="0" err="1"/>
              <a:t>at:https</a:t>
            </a:r>
            <a:r>
              <a:rPr lang="en-US" sz="1600" dirty="0"/>
              <a:t>://machinelearningmastery.com/train-test-split-for-evaluating-machine-learning-algorithms/</a:t>
            </a:r>
          </a:p>
          <a:p>
            <a:r>
              <a:rPr lang="en-US" sz="1600" dirty="0"/>
              <a:t>Editorial Team.2023.Scaling vs. Normalizing </a:t>
            </a:r>
            <a:r>
              <a:rPr lang="en-US" sz="1600"/>
              <a:t>Data.[Online].Available at: https</a:t>
            </a:r>
            <a:r>
              <a:rPr lang="en-US" sz="1600" dirty="0"/>
              <a:t>://towardsai.net/p/data-science/scaling-vs-normalizing-data-5c3514887a84</a:t>
            </a:r>
          </a:p>
          <a:p>
            <a:endParaRPr lang="en-US" sz="1600" dirty="0"/>
          </a:p>
        </p:txBody>
      </p:sp>
    </p:spTree>
    <p:extLst>
      <p:ext uri="{BB962C8B-B14F-4D97-AF65-F5344CB8AC3E}">
        <p14:creationId xmlns:p14="http://schemas.microsoft.com/office/powerpoint/2010/main" val="2268504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E5878B-21DF-4AE6-B858-0CC097AA673A}">
  <ds:schemaRefs>
    <ds:schemaRef ds:uri="http://schemas.microsoft.com/sharepoint/v3/contenttype/forms"/>
  </ds:schemaRefs>
</ds:datastoreItem>
</file>

<file path=customXml/itemProps2.xml><?xml version="1.0" encoding="utf-8"?>
<ds:datastoreItem xmlns:ds="http://schemas.openxmlformats.org/officeDocument/2006/customXml" ds:itemID="{4E872A4B-0413-41BB-BAB5-274A7147C18F}">
  <ds:schemaRefs>
    <ds:schemaRef ds:uri="http://schemas.microsoft.com/office/2006/metadata/properties"/>
    <ds:schemaRef ds:uri="http://schemas.microsoft.com/office/infopath/2007/PartnerControls"/>
    <ds:schemaRef ds:uri="6b1a28a2-5857-4321-9bd8-c602fba5c8bc"/>
    <ds:schemaRef ds:uri="5086911d-6e48-4cf3-b087-1eb55996afa6"/>
  </ds:schemaRefs>
</ds:datastoreItem>
</file>

<file path=customXml/itemProps3.xml><?xml version="1.0" encoding="utf-8"?>
<ds:datastoreItem xmlns:ds="http://schemas.openxmlformats.org/officeDocument/2006/customXml" ds:itemID="{73651F7B-62D0-4EAD-8655-008A7F8A7B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1661</Words>
  <Application>Microsoft Office PowerPoint</Application>
  <PresentationFormat>Widescreen</PresentationFormat>
  <Paragraphs>160</Paragraphs>
  <Slides>20</Slides>
  <Notes>10</Notes>
  <HiddenSlides>0</HiddenSlides>
  <MMClips>0</MMClips>
  <ScaleCrop>false</ScaleCrop>
  <HeadingPairs>
    <vt:vector size="6" baseType="variant">
      <vt:variant>
        <vt:lpstr>Fonts Used</vt:lpstr>
      </vt:variant>
      <vt:variant>
        <vt:i4>16</vt:i4>
      </vt:variant>
      <vt:variant>
        <vt:lpstr>Theme</vt:lpstr>
      </vt:variant>
      <vt:variant>
        <vt:i4>5</vt:i4>
      </vt:variant>
      <vt:variant>
        <vt:lpstr>Slide Titles</vt:lpstr>
      </vt:variant>
      <vt:variant>
        <vt:i4>20</vt:i4>
      </vt:variant>
    </vt:vector>
  </HeadingPairs>
  <TitlesOfParts>
    <vt:vector size="41" baseType="lpstr">
      <vt:lpstr>arial</vt:lpstr>
      <vt:lpstr>arial</vt:lpstr>
      <vt:lpstr>Calibri</vt:lpstr>
      <vt:lpstr>Cambria Math</vt:lpstr>
      <vt:lpstr>Consolas</vt:lpstr>
      <vt:lpstr>Courier New</vt:lpstr>
      <vt:lpstr>Epilogue</vt:lpstr>
      <vt:lpstr>Helvetica</vt:lpstr>
      <vt:lpstr>Helvetica Neue</vt:lpstr>
      <vt:lpstr>inherit</vt:lpstr>
      <vt:lpstr>Monaco</vt:lpstr>
      <vt:lpstr>Montserrat</vt:lpstr>
      <vt:lpstr>PS TT Commons Roman</vt:lpstr>
      <vt:lpstr>ui-monospace</vt:lpstr>
      <vt:lpstr>Verdana</vt:lpstr>
      <vt:lpstr>Wingdings</vt:lpstr>
      <vt:lpstr>Light blue-Cover</vt:lpstr>
      <vt:lpstr>Pearson slide</vt:lpstr>
      <vt:lpstr>Light blue-inside slide</vt:lpstr>
      <vt:lpstr>With picture</vt:lpstr>
      <vt:lpstr>Back cover</vt:lpstr>
      <vt:lpstr>Machine learning</vt:lpstr>
      <vt:lpstr>Machine learning </vt:lpstr>
      <vt:lpstr>Machine learning</vt:lpstr>
      <vt:lpstr>Learning objectives</vt:lpstr>
      <vt:lpstr>Polynomial introduction</vt:lpstr>
      <vt:lpstr>Why limit ourself to straight line</vt:lpstr>
      <vt:lpstr>Polynomial introduction</vt:lpstr>
      <vt:lpstr>overfitting</vt:lpstr>
      <vt:lpstr>Beware of overfitting</vt:lpstr>
      <vt:lpstr>Python coding</vt:lpstr>
      <vt:lpstr>Poly1d</vt:lpstr>
      <vt:lpstr>Advantages of polynomial regression and uses</vt:lpstr>
      <vt:lpstr>Train-Test Split</vt:lpstr>
      <vt:lpstr>Train-Test Split</vt:lpstr>
      <vt:lpstr>Syntax of splitting</vt:lpstr>
      <vt:lpstr>Scaling-standardization</vt:lpstr>
      <vt:lpstr>visual</vt:lpstr>
      <vt:lpstr>summary</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Kusmlata Sheoran</cp:lastModifiedBy>
  <cp:revision>49</cp:revision>
  <dcterms:created xsi:type="dcterms:W3CDTF">2021-07-24T10:34:01Z</dcterms:created>
  <dcterms:modified xsi:type="dcterms:W3CDTF">2023-03-29T10:49:50Z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ies>
</file>