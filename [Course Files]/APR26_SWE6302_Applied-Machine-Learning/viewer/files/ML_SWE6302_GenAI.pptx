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51" r:id="rId5"/>
    <p:sldMasterId id="2147483653" r:id="rId6"/>
    <p:sldMasterId id="2147483656" r:id="rId7"/>
    <p:sldMasterId id="2147483659" r:id="rId8"/>
  </p:sldMasterIdLst>
  <p:notesMasterIdLst>
    <p:notesMasterId r:id="rId34"/>
  </p:notesMasterIdLst>
  <p:sldIdLst>
    <p:sldId id="261" r:id="rId9"/>
    <p:sldId id="257" r:id="rId10"/>
    <p:sldId id="265" r:id="rId11"/>
    <p:sldId id="343" r:id="rId12"/>
    <p:sldId id="353" r:id="rId13"/>
    <p:sldId id="260" r:id="rId14"/>
    <p:sldId id="359" r:id="rId15"/>
    <p:sldId id="262" r:id="rId16"/>
    <p:sldId id="263" r:id="rId17"/>
    <p:sldId id="264" r:id="rId18"/>
    <p:sldId id="360" r:id="rId19"/>
    <p:sldId id="266" r:id="rId20"/>
    <p:sldId id="267" r:id="rId21"/>
    <p:sldId id="268" r:id="rId22"/>
    <p:sldId id="269" r:id="rId23"/>
    <p:sldId id="271" r:id="rId24"/>
    <p:sldId id="289" r:id="rId25"/>
    <p:sldId id="290" r:id="rId26"/>
    <p:sldId id="272" r:id="rId27"/>
    <p:sldId id="282" r:id="rId28"/>
    <p:sldId id="362" r:id="rId29"/>
    <p:sldId id="270" r:id="rId30"/>
    <p:sldId id="363" r:id="rId31"/>
    <p:sldId id="368" r:id="rId32"/>
    <p:sldId id="35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2F6D"/>
    <a:srgbClr val="656768"/>
    <a:srgbClr val="0D3E63"/>
    <a:srgbClr val="942D6D"/>
    <a:srgbClr val="232C58"/>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87" autoAdjust="0"/>
    <p:restoredTop sz="85155" autoAdjust="0"/>
  </p:normalViewPr>
  <p:slideViewPr>
    <p:cSldViewPr snapToGrid="0">
      <p:cViewPr varScale="1">
        <p:scale>
          <a:sx n="48" d="100"/>
          <a:sy n="48" d="100"/>
        </p:scale>
        <p:origin x="824" y="3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tableStyles" Target="tableStyles.xml"/><Relationship Id="rId21" Type="http://schemas.openxmlformats.org/officeDocument/2006/relationships/slide" Target="slides/slide13.xml"/><Relationship Id="rId34"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commentAuthors" Target="commentAuthors.xml"/><Relationship Id="rId8" Type="http://schemas.openxmlformats.org/officeDocument/2006/relationships/slideMaster" Target="slideMasters/slideMaster5.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3/3/2026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Pycomates</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5</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 </a:t>
            </a:r>
          </a:p>
        </p:txBody>
      </p:sp>
      <p:sp>
        <p:nvSpPr>
          <p:cNvPr id="4" name="Slide Number Placeholder 3"/>
          <p:cNvSpPr>
            <a:spLocks noGrp="1"/>
          </p:cNvSpPr>
          <p:nvPr>
            <p:ph type="sldNum" sz="quarter" idx="5"/>
          </p:nvPr>
        </p:nvSpPr>
        <p:spPr/>
        <p:txBody>
          <a:bodyPr/>
          <a:lstStyle/>
          <a:p>
            <a:fld id="{1FACCC11-19A3-4E27-AB70-5FB3E1779C6E}" type="slidenum">
              <a:rPr lang="en-US" smtClean="0"/>
              <a:t>24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5.xml"/><Relationship Id="rId6" Type="http://schemas.openxmlformats.org/officeDocument/2006/relationships/image" Target="../media/image12.svg"/><Relationship Id="rId5" Type="http://schemas.openxmlformats.org/officeDocument/2006/relationships/image" Target="../media/image6.png"/><Relationship Id="rId4" Type="http://schemas.openxmlformats.org/officeDocument/2006/relationships/image" Target="../media/image1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736600" y="2597192"/>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736600" y="4037250"/>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777240" y="209871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777240" y="3497499"/>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255716"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255716" y="1811341"/>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FF88-ADA1-5A53-933F-350DFC423C5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09E008C-DFEA-4550-39ED-769760024CE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8786D4F-D3A1-E2A9-8F9F-59F76BDB00FC}"/>
              </a:ext>
            </a:extLst>
          </p:cNvPr>
          <p:cNvSpPr>
            <a:spLocks noGrp="1"/>
          </p:cNvSpPr>
          <p:nvPr>
            <p:ph type="dt" sz="half" idx="10"/>
          </p:nvPr>
        </p:nvSpPr>
        <p:spPr/>
        <p:txBody>
          <a:bodyPr/>
          <a:lstStyle/>
          <a:p>
            <a:fld id="{84CD318D-8324-D848-9A83-1AE834FAA703}" type="datetimeFigureOut">
              <a:rPr lang="en-US" smtClean="0"/>
              <a:t>3/3/2026</a:t>
            </a:fld>
            <a:endParaRPr lang="en-US"/>
          </a:p>
        </p:txBody>
      </p:sp>
      <p:sp>
        <p:nvSpPr>
          <p:cNvPr id="5" name="Footer Placeholder 4">
            <a:extLst>
              <a:ext uri="{FF2B5EF4-FFF2-40B4-BE49-F238E27FC236}">
                <a16:creationId xmlns:a16="http://schemas.microsoft.com/office/drawing/2014/main" id="{7F966FD1-1E1E-2308-3FD3-A274B364AF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440103-A4BF-31E0-D67D-F86A8DD2842B}"/>
              </a:ext>
            </a:extLst>
          </p:cNvPr>
          <p:cNvSpPr>
            <a:spLocks noGrp="1"/>
          </p:cNvSpPr>
          <p:nvPr>
            <p:ph type="sldNum" sz="quarter" idx="12"/>
          </p:nvPr>
        </p:nvSpPr>
        <p:spPr/>
        <p:txBody>
          <a:bodyPr/>
          <a:lstStyle/>
          <a:p>
            <a:fld id="{75B3EFC9-EDF9-C54E-8B74-DD9F363887E5}" type="slidenum">
              <a:rPr lang="en-US" smtClean="0"/>
              <a:t>‹#›</a:t>
            </a:fld>
            <a:endParaRPr lang="en-US"/>
          </a:p>
        </p:txBody>
      </p:sp>
    </p:spTree>
    <p:extLst>
      <p:ext uri="{BB962C8B-B14F-4D97-AF65-F5344CB8AC3E}">
        <p14:creationId xmlns:p14="http://schemas.microsoft.com/office/powerpoint/2010/main" val="3594760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hasCustomPrompt="1"/>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picture containing text, clipart&#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79233" y="927488"/>
            <a:ext cx="2495310" cy="1152049"/>
          </a:xfrm>
          <a:prstGeom prst="rect">
            <a:avLst/>
          </a:prstGeom>
        </p:spPr>
      </p:pic>
      <p:pic>
        <p:nvPicPr>
          <p:cNvPr id="14" name="Graphic 13"/>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169667" y="1033477"/>
            <a:ext cx="3314700" cy="723931"/>
          </a:xfrm>
          <a:prstGeom prst="rect">
            <a:avLst/>
          </a:prstGeom>
        </p:spPr>
      </p:pic>
      <p:sp>
        <p:nvSpPr>
          <p:cNvPr id="2" name="Isosceles Triangle 1"/>
          <p:cNvSpPr/>
          <p:nvPr userDrawn="1"/>
        </p:nvSpPr>
        <p:spPr>
          <a:xfrm rot="5400000">
            <a:off x="1747328" y="5566954"/>
            <a:ext cx="155700" cy="9988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65">
              <a:ln>
                <a:noFill/>
              </a:ln>
            </a:endParaRPr>
          </a:p>
        </p:txBody>
      </p:sp>
      <p:pic>
        <p:nvPicPr>
          <p:cNvPr id="3" name="Graphic 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013106" y="5538064"/>
            <a:ext cx="1371600" cy="180983"/>
          </a:xfrm>
          <a:prstGeom prst="rect">
            <a:avLst/>
          </a:prstGeom>
        </p:spPr>
      </p:pic>
      <p:pic>
        <p:nvPicPr>
          <p:cNvPr id="5" name="Picture 4"/>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a:xfrm>
            <a:off x="8856512" y="5065192"/>
            <a:ext cx="1451310" cy="43337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slideLayout" Target="../slideLayouts/slideLayout6.xml"/><Relationship Id="rId7" Type="http://schemas.openxmlformats.org/officeDocument/2006/relationships/image" Target="../media/image6.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heme" Target="../theme/theme4.xml"/><Relationship Id="rId7" Type="http://schemas.openxmlformats.org/officeDocument/2006/relationships/image" Target="../media/image6.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5.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2" name="Picture 1" descr="A picture containing text,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38091" y="651936"/>
            <a:ext cx="1835181" cy="847242"/>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122171" y="5895580"/>
            <a:ext cx="1451310" cy="43335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A picture containing text, sign, clipart&#10;&#10;Description automatically generated"/>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4"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61" r:id="rId3"/>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Graphic 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0" y="0"/>
            <a:ext cx="12192000" cy="6858294"/>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Lst>
  <p:txStyles>
    <p:titleStyle>
      <a:lvl1pPr algn="l" defTabSz="845820" rtl="0" eaLnBrk="1" latinLnBrk="0" hangingPunct="1">
        <a:lnSpc>
          <a:spcPct val="90000"/>
        </a:lnSpc>
        <a:spcBef>
          <a:spcPct val="0"/>
        </a:spcBef>
        <a:buNone/>
        <a:defRPr sz="4070" kern="1200">
          <a:solidFill>
            <a:schemeClr val="tx1"/>
          </a:solidFill>
          <a:latin typeface="+mj-lt"/>
          <a:ea typeface="+mj-ea"/>
          <a:cs typeface="+mj-cs"/>
        </a:defRPr>
      </a:lvl1pPr>
    </p:titleStyle>
    <p:bodyStyle>
      <a:lvl1pPr marL="211455" indent="-211455" algn="l" defTabSz="845820" rtl="0" eaLnBrk="1" latinLnBrk="0" hangingPunct="1">
        <a:lnSpc>
          <a:spcPct val="90000"/>
        </a:lnSpc>
        <a:spcBef>
          <a:spcPts val="925"/>
        </a:spcBef>
        <a:buFont typeface="Arial" panose="020B0604020202020204" pitchFamily="34" charset="0"/>
        <a:buChar char="•"/>
        <a:defRPr sz="2590" kern="1200">
          <a:solidFill>
            <a:schemeClr val="tx1"/>
          </a:solidFill>
          <a:latin typeface="+mn-lt"/>
          <a:ea typeface="+mn-ea"/>
          <a:cs typeface="+mn-cs"/>
        </a:defRPr>
      </a:lvl1pPr>
      <a:lvl2pPr marL="634365" indent="-211455" algn="l" defTabSz="845820" rtl="0" eaLnBrk="1" latinLnBrk="0" hangingPunct="1">
        <a:lnSpc>
          <a:spcPct val="90000"/>
        </a:lnSpc>
        <a:spcBef>
          <a:spcPct val="93000"/>
        </a:spcBef>
        <a:buFont typeface="Arial" panose="020B0604020202020204" pitchFamily="34" charset="0"/>
        <a:buChar char="•"/>
        <a:defRPr sz="2220" kern="1200">
          <a:solidFill>
            <a:schemeClr val="tx1"/>
          </a:solidFill>
          <a:latin typeface="+mn-lt"/>
          <a:ea typeface="+mn-ea"/>
          <a:cs typeface="+mn-cs"/>
        </a:defRPr>
      </a:lvl2pPr>
      <a:lvl3pPr marL="1057275" indent="-211455" algn="l" defTabSz="845820" rtl="0" eaLnBrk="1" latinLnBrk="0" hangingPunct="1">
        <a:lnSpc>
          <a:spcPct val="90000"/>
        </a:lnSpc>
        <a:spcBef>
          <a:spcPct val="93000"/>
        </a:spcBef>
        <a:buFont typeface="Arial" panose="020B0604020202020204" pitchFamily="34" charset="0"/>
        <a:buChar char="•"/>
        <a:defRPr sz="1850" kern="1200">
          <a:solidFill>
            <a:schemeClr val="tx1"/>
          </a:solidFill>
          <a:latin typeface="+mn-lt"/>
          <a:ea typeface="+mn-ea"/>
          <a:cs typeface="+mn-cs"/>
        </a:defRPr>
      </a:lvl3pPr>
      <a:lvl4pPr marL="148018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4pPr>
      <a:lvl5pPr marL="190309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5pPr>
      <a:lvl6pPr marL="232600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6pPr>
      <a:lvl7pPr marL="274891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7pPr>
      <a:lvl8pPr marL="317119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8pPr>
      <a:lvl9pPr marL="359410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9pPr>
    </p:bodyStyle>
    <p:otherStyle>
      <a:defPPr>
        <a:defRPr lang="en-US"/>
      </a:defPPr>
      <a:lvl1pPr marL="0" algn="l" defTabSz="845820" rtl="0" eaLnBrk="1" latinLnBrk="0" hangingPunct="1">
        <a:defRPr sz="1665" kern="1200">
          <a:solidFill>
            <a:schemeClr val="tx1"/>
          </a:solidFill>
          <a:latin typeface="+mn-lt"/>
          <a:ea typeface="+mn-ea"/>
          <a:cs typeface="+mn-cs"/>
        </a:defRPr>
      </a:lvl1pPr>
      <a:lvl2pPr marL="422910" algn="l" defTabSz="845820" rtl="0" eaLnBrk="1" latinLnBrk="0" hangingPunct="1">
        <a:defRPr sz="1665" kern="1200">
          <a:solidFill>
            <a:schemeClr val="tx1"/>
          </a:solidFill>
          <a:latin typeface="+mn-lt"/>
          <a:ea typeface="+mn-ea"/>
          <a:cs typeface="+mn-cs"/>
        </a:defRPr>
      </a:lvl2pPr>
      <a:lvl3pPr marL="845820" algn="l" defTabSz="845820" rtl="0" eaLnBrk="1" latinLnBrk="0" hangingPunct="1">
        <a:defRPr sz="1665" kern="1200">
          <a:solidFill>
            <a:schemeClr val="tx1"/>
          </a:solidFill>
          <a:latin typeface="+mn-lt"/>
          <a:ea typeface="+mn-ea"/>
          <a:cs typeface="+mn-cs"/>
        </a:defRPr>
      </a:lvl3pPr>
      <a:lvl4pPr marL="1268730" algn="l" defTabSz="845820" rtl="0" eaLnBrk="1" latinLnBrk="0" hangingPunct="1">
        <a:defRPr sz="1665" kern="1200">
          <a:solidFill>
            <a:schemeClr val="tx1"/>
          </a:solidFill>
          <a:latin typeface="+mn-lt"/>
          <a:ea typeface="+mn-ea"/>
          <a:cs typeface="+mn-cs"/>
        </a:defRPr>
      </a:lvl4pPr>
      <a:lvl5pPr marL="1691640" algn="l" defTabSz="845820" rtl="0" eaLnBrk="1" latinLnBrk="0" hangingPunct="1">
        <a:defRPr sz="1665" kern="1200">
          <a:solidFill>
            <a:schemeClr val="tx1"/>
          </a:solidFill>
          <a:latin typeface="+mn-lt"/>
          <a:ea typeface="+mn-ea"/>
          <a:cs typeface="+mn-cs"/>
        </a:defRPr>
      </a:lvl5pPr>
      <a:lvl6pPr marL="2114550" algn="l" defTabSz="845820" rtl="0" eaLnBrk="1" latinLnBrk="0" hangingPunct="1">
        <a:defRPr sz="1665" kern="1200">
          <a:solidFill>
            <a:schemeClr val="tx1"/>
          </a:solidFill>
          <a:latin typeface="+mn-lt"/>
          <a:ea typeface="+mn-ea"/>
          <a:cs typeface="+mn-cs"/>
        </a:defRPr>
      </a:lvl6pPr>
      <a:lvl7pPr marL="2537460" algn="l" defTabSz="845820" rtl="0" eaLnBrk="1" latinLnBrk="0" hangingPunct="1">
        <a:defRPr sz="1665" kern="1200">
          <a:solidFill>
            <a:schemeClr val="tx1"/>
          </a:solidFill>
          <a:latin typeface="+mn-lt"/>
          <a:ea typeface="+mn-ea"/>
          <a:cs typeface="+mn-cs"/>
        </a:defRPr>
      </a:lvl7pPr>
      <a:lvl8pPr marL="2959735" algn="l" defTabSz="845820" rtl="0" eaLnBrk="1" latinLnBrk="0" hangingPunct="1">
        <a:defRPr sz="1665" kern="1200">
          <a:solidFill>
            <a:schemeClr val="tx1"/>
          </a:solidFill>
          <a:latin typeface="+mn-lt"/>
          <a:ea typeface="+mn-ea"/>
          <a:cs typeface="+mn-cs"/>
        </a:defRPr>
      </a:lvl8pPr>
      <a:lvl9pPr marL="3382645" algn="l" defTabSz="845820" rtl="0" eaLnBrk="1" latinLnBrk="0" hangingPunct="1">
        <a:defRPr sz="16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proceedings.neurips.cc/paper/2017/file/3f5ee243547dee91fbd053c1c4a845aa-Paper.pdf" TargetMode="External"/><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hyperlink" Target="https://colab.research.google.com/drive/1wK33DrTXOt1prS3C_n5DZjA_JVHqVkMu?usp=sharing" TargetMode="Externa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hyperlink" Target="https://www.forbes.com/councils/forbestechcouncil/2023/10/17/which-ethical-implications-of-generative-ai-should-companies-focus-on/" TargetMode="Externa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https://www.oreilly.com/library/view/generative-deep-learning/9781492041931/"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hyperlink" Target="https://doi.org/10.4324/9781003459026" TargetMode="External"/><Relationship Id="rId4" Type="http://schemas.openxmlformats.org/officeDocument/2006/relationships/hyperlink" Target="https://www.manning.com/books/illustrated-guide-to-generative-ai"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SWE6302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 </a:t>
            </a:r>
          </a:p>
        </p:txBody>
      </p:sp>
      <p:sp>
        <p:nvSpPr>
          <p:cNvPr id="3" name="Text Placeholder 2"/>
          <p:cNvSpPr>
            <a:spLocks noGrp="1"/>
          </p:cNvSpPr>
          <p:nvPr>
            <p:ph type="body" sz="quarter" idx="10"/>
          </p:nvPr>
        </p:nvSpPr>
        <p:spPr/>
        <p:txBody>
          <a:bodyPr/>
          <a:lstStyle/>
          <a:p>
            <a:r>
              <a:rPr lang="en-GB" dirty="0"/>
              <a:t>SWE6302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1791" y="555478"/>
            <a:ext cx="7216992" cy="1068223"/>
          </a:xfrm>
        </p:spPr>
        <p:txBody>
          <a:bodyPr/>
          <a:lstStyle/>
          <a:p>
            <a:r>
              <a:rPr lang="en-GB" dirty="0"/>
              <a:t>Applied Machine learning</a:t>
            </a:r>
            <a:endParaRPr lang="en-US" dirty="0"/>
          </a:p>
        </p:txBody>
      </p:sp>
      <p:sp>
        <p:nvSpPr>
          <p:cNvPr id="4" name="Text Placeholder 3"/>
          <p:cNvSpPr>
            <a:spLocks noGrp="1"/>
          </p:cNvSpPr>
          <p:nvPr>
            <p:ph type="body" sz="quarter" idx="11"/>
          </p:nvPr>
        </p:nvSpPr>
        <p:spPr>
          <a:xfrm>
            <a:off x="7141656" y="2309812"/>
            <a:ext cx="5491361" cy="3845503"/>
          </a:xfrm>
        </p:spPr>
        <p:txBody>
          <a:bodyPr/>
          <a:lstStyle/>
          <a:p>
            <a:r>
              <a:rPr lang="en-GB" dirty="0"/>
              <a:t>Generative AI (Gen AI)</a:t>
            </a:r>
            <a:endParaRPr lang="en-US" dirty="0"/>
          </a:p>
        </p:txBody>
      </p:sp>
      <p:pic>
        <p:nvPicPr>
          <p:cNvPr id="5" name="Picture 4"/>
          <p:cNvPicPr>
            <a:picLocks noChangeAspect="1"/>
          </p:cNvPicPr>
          <p:nvPr/>
        </p:nvPicPr>
        <p:blipFill>
          <a:blip r:embed="rId2"/>
          <a:stretch>
            <a:fillRect/>
          </a:stretch>
        </p:blipFill>
        <p:spPr>
          <a:xfrm>
            <a:off x="379373" y="1449426"/>
            <a:ext cx="6551188" cy="395845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p:cNvSpPr>
            <a:spLocks noGrp="1"/>
          </p:cNvSpPr>
          <p:nvPr>
            <p:ph type="body" sz="quarter" idx="10"/>
          </p:nvPr>
        </p:nvSpPr>
        <p:spPr>
          <a:xfrm>
            <a:off x="877821" y="1306293"/>
            <a:ext cx="10712388" cy="4030258"/>
          </a:xfrm>
        </p:spPr>
        <p:txBody>
          <a:bodyPr/>
          <a:lstStyle/>
          <a:p>
            <a:r>
              <a:rPr lang="en-US" dirty="0">
                <a:solidFill>
                  <a:schemeClr val="tx1">
                    <a:lumMod val="75000"/>
                    <a:lumOff val="25000"/>
                  </a:schemeClr>
                </a:solidFill>
              </a:rPr>
              <a:t>Understand the fundamentals of Generative AI</a:t>
            </a:r>
          </a:p>
          <a:p>
            <a:r>
              <a:rPr lang="en-US" dirty="0"/>
              <a:t>Learn about Encoder-Decoder architecture</a:t>
            </a:r>
          </a:p>
          <a:p>
            <a:r>
              <a:rPr lang="en-US" dirty="0"/>
              <a:t>Learn about Transformers</a:t>
            </a:r>
          </a:p>
          <a:p>
            <a:r>
              <a:rPr lang="en-US" dirty="0"/>
              <a:t>Learn about Large Language Models (LLMs)</a:t>
            </a:r>
          </a:p>
          <a:p>
            <a:r>
              <a:rPr lang="en-US" dirty="0"/>
              <a:t>Develop and train your own LLMs</a:t>
            </a:r>
          </a:p>
          <a:p>
            <a:r>
              <a:rPr lang="en-US" dirty="0"/>
              <a:t>Learn about the ethical concerns around GenAI</a:t>
            </a:r>
          </a:p>
          <a:p>
            <a:r>
              <a:rPr lang="en-US" dirty="0"/>
              <a:t>Learn about shortcomings of LLMs</a:t>
            </a:r>
          </a:p>
          <a:p>
            <a:endParaRPr lang="en-US" dirty="0">
              <a:solidFill>
                <a:schemeClr val="tx1">
                  <a:lumMod val="75000"/>
                  <a:lumOff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431" y="719943"/>
            <a:ext cx="9097686" cy="659173"/>
          </a:xfrm>
        </p:spPr>
        <p:txBody>
          <a:bodyPr/>
          <a:lstStyle/>
          <a:p>
            <a:r>
              <a:rPr lang="en-GB" dirty="0"/>
              <a:t>GenAI introduction</a:t>
            </a:r>
            <a:endParaRPr lang="en-US" dirty="0"/>
          </a:p>
        </p:txBody>
      </p:sp>
      <p:sp>
        <p:nvSpPr>
          <p:cNvPr id="3" name="Text Placeholder 2"/>
          <p:cNvSpPr>
            <a:spLocks noGrp="1"/>
          </p:cNvSpPr>
          <p:nvPr>
            <p:ph type="body" sz="quarter" idx="10"/>
          </p:nvPr>
        </p:nvSpPr>
        <p:spPr>
          <a:xfrm>
            <a:off x="91952" y="1379116"/>
            <a:ext cx="11627892" cy="4630673"/>
          </a:xfrm>
        </p:spPr>
        <p:txBody>
          <a:bodyPr/>
          <a:lstStyle/>
          <a:p>
            <a:r>
              <a:rPr lang="en-US" sz="2400" dirty="0"/>
              <a:t>Generative AI (GenAI) is a type of artificial intelligence that creates new, original content—including text, images, code, audio, and video—by learning patterns from massive datasets using deep learning models. </a:t>
            </a:r>
          </a:p>
          <a:p>
            <a:r>
              <a:rPr lang="en-US" sz="2400" dirty="0"/>
              <a:t>Unlike traditional AI, which analyzes or classifies existing data, generative AI mimics human creativity to generate novel outputs in response to user prompts. Key examples include Large Language Models (LLMs) like GPT.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8FA1E-0B3E-8196-7714-C1E092624983}"/>
              </a:ext>
            </a:extLst>
          </p:cNvPr>
          <p:cNvSpPr>
            <a:spLocks noGrp="1"/>
          </p:cNvSpPr>
          <p:nvPr>
            <p:ph type="title"/>
          </p:nvPr>
        </p:nvSpPr>
        <p:spPr/>
        <p:txBody>
          <a:bodyPr/>
          <a:lstStyle/>
          <a:p>
            <a:r>
              <a:rPr lang="en-US" dirty="0"/>
              <a:t>AI so far…</a:t>
            </a:r>
          </a:p>
        </p:txBody>
      </p:sp>
      <p:sp>
        <p:nvSpPr>
          <p:cNvPr id="4" name="Oval 3">
            <a:extLst>
              <a:ext uri="{FF2B5EF4-FFF2-40B4-BE49-F238E27FC236}">
                <a16:creationId xmlns:a16="http://schemas.microsoft.com/office/drawing/2014/main" id="{02CAFAC6-1F96-914B-0728-F582131E9C00}"/>
              </a:ext>
            </a:extLst>
          </p:cNvPr>
          <p:cNvSpPr/>
          <p:nvPr/>
        </p:nvSpPr>
        <p:spPr>
          <a:xfrm>
            <a:off x="3877541" y="1153391"/>
            <a:ext cx="4436918" cy="501880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819855CC-0500-8CA8-8EBB-ECA3EA06E9B8}"/>
              </a:ext>
            </a:extLst>
          </p:cNvPr>
          <p:cNvSpPr/>
          <p:nvPr/>
        </p:nvSpPr>
        <p:spPr>
          <a:xfrm>
            <a:off x="4336472" y="2300071"/>
            <a:ext cx="3519055" cy="387212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6" name="Oval 5">
            <a:extLst>
              <a:ext uri="{FF2B5EF4-FFF2-40B4-BE49-F238E27FC236}">
                <a16:creationId xmlns:a16="http://schemas.microsoft.com/office/drawing/2014/main" id="{FC04A745-D595-F30A-8027-1971BE48BE9C}"/>
              </a:ext>
            </a:extLst>
          </p:cNvPr>
          <p:cNvSpPr/>
          <p:nvPr/>
        </p:nvSpPr>
        <p:spPr>
          <a:xfrm>
            <a:off x="5072494" y="3662795"/>
            <a:ext cx="2047009" cy="250940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ED22FB56-7E9E-4A42-60E0-71F2E0651656}"/>
              </a:ext>
            </a:extLst>
          </p:cNvPr>
          <p:cNvSpPr txBox="1"/>
          <p:nvPr/>
        </p:nvSpPr>
        <p:spPr>
          <a:xfrm>
            <a:off x="5832945" y="1410604"/>
            <a:ext cx="526106" cy="584775"/>
          </a:xfrm>
          <a:prstGeom prst="rect">
            <a:avLst/>
          </a:prstGeom>
          <a:noFill/>
        </p:spPr>
        <p:txBody>
          <a:bodyPr wrap="none" rtlCol="0">
            <a:spAutoFit/>
          </a:bodyPr>
          <a:lstStyle/>
          <a:p>
            <a:r>
              <a:rPr lang="en-US" sz="3200" dirty="0">
                <a:solidFill>
                  <a:schemeClr val="bg1"/>
                </a:solidFill>
              </a:rPr>
              <a:t>AI</a:t>
            </a:r>
          </a:p>
        </p:txBody>
      </p:sp>
      <p:sp>
        <p:nvSpPr>
          <p:cNvPr id="8" name="TextBox 7">
            <a:extLst>
              <a:ext uri="{FF2B5EF4-FFF2-40B4-BE49-F238E27FC236}">
                <a16:creationId xmlns:a16="http://schemas.microsoft.com/office/drawing/2014/main" id="{71BD315C-1CA8-7D87-80A2-4800E4CE4D5B}"/>
              </a:ext>
            </a:extLst>
          </p:cNvPr>
          <p:cNvSpPr txBox="1"/>
          <p:nvPr/>
        </p:nvSpPr>
        <p:spPr>
          <a:xfrm>
            <a:off x="5741574" y="2689046"/>
            <a:ext cx="708848" cy="584775"/>
          </a:xfrm>
          <a:prstGeom prst="rect">
            <a:avLst/>
          </a:prstGeom>
          <a:noFill/>
        </p:spPr>
        <p:txBody>
          <a:bodyPr wrap="none" rtlCol="0">
            <a:spAutoFit/>
          </a:bodyPr>
          <a:lstStyle/>
          <a:p>
            <a:r>
              <a:rPr lang="en-US" sz="3200" dirty="0">
                <a:solidFill>
                  <a:schemeClr val="bg1"/>
                </a:solidFill>
              </a:rPr>
              <a:t>ML</a:t>
            </a:r>
          </a:p>
        </p:txBody>
      </p:sp>
      <p:sp>
        <p:nvSpPr>
          <p:cNvPr id="9" name="TextBox 8">
            <a:extLst>
              <a:ext uri="{FF2B5EF4-FFF2-40B4-BE49-F238E27FC236}">
                <a16:creationId xmlns:a16="http://schemas.microsoft.com/office/drawing/2014/main" id="{CE6E8943-C633-F4A1-D5A4-3434A73D35D3}"/>
              </a:ext>
            </a:extLst>
          </p:cNvPr>
          <p:cNvSpPr txBox="1"/>
          <p:nvPr/>
        </p:nvSpPr>
        <p:spPr>
          <a:xfrm>
            <a:off x="5832945" y="4625109"/>
            <a:ext cx="611065" cy="584775"/>
          </a:xfrm>
          <a:prstGeom prst="rect">
            <a:avLst/>
          </a:prstGeom>
          <a:noFill/>
        </p:spPr>
        <p:txBody>
          <a:bodyPr wrap="none" rtlCol="0">
            <a:spAutoFit/>
          </a:bodyPr>
          <a:lstStyle/>
          <a:p>
            <a:r>
              <a:rPr lang="en-US" sz="3200" dirty="0"/>
              <a:t>DL</a:t>
            </a:r>
          </a:p>
        </p:txBody>
      </p:sp>
    </p:spTree>
    <p:extLst>
      <p:ext uri="{BB962C8B-B14F-4D97-AF65-F5344CB8AC3E}">
        <p14:creationId xmlns:p14="http://schemas.microsoft.com/office/powerpoint/2010/main" val="2954031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60176-CA78-1A77-A33A-285ED1C928D1}"/>
              </a:ext>
            </a:extLst>
          </p:cNvPr>
          <p:cNvSpPr>
            <a:spLocks noGrp="1"/>
          </p:cNvSpPr>
          <p:nvPr>
            <p:ph type="title"/>
          </p:nvPr>
        </p:nvSpPr>
        <p:spPr/>
        <p:txBody>
          <a:bodyPr/>
          <a:lstStyle/>
          <a:p>
            <a:r>
              <a:rPr lang="en-US" dirty="0"/>
              <a:t>Generative AI and LLMs</a:t>
            </a:r>
          </a:p>
        </p:txBody>
      </p:sp>
      <p:sp>
        <p:nvSpPr>
          <p:cNvPr id="3" name="Content Placeholder 2">
            <a:extLst>
              <a:ext uri="{FF2B5EF4-FFF2-40B4-BE49-F238E27FC236}">
                <a16:creationId xmlns:a16="http://schemas.microsoft.com/office/drawing/2014/main" id="{1623650F-C032-110E-492C-21CD19C3BA82}"/>
              </a:ext>
            </a:extLst>
          </p:cNvPr>
          <p:cNvSpPr>
            <a:spLocks noGrp="1"/>
          </p:cNvSpPr>
          <p:nvPr>
            <p:ph idx="1"/>
          </p:nvPr>
        </p:nvSpPr>
        <p:spPr/>
        <p:txBody>
          <a:bodyPr/>
          <a:lstStyle/>
          <a:p>
            <a:endParaRPr lang="en-US" dirty="0"/>
          </a:p>
        </p:txBody>
      </p:sp>
      <p:sp>
        <p:nvSpPr>
          <p:cNvPr id="4" name="TextBox 3">
            <a:extLst>
              <a:ext uri="{FF2B5EF4-FFF2-40B4-BE49-F238E27FC236}">
                <a16:creationId xmlns:a16="http://schemas.microsoft.com/office/drawing/2014/main" id="{C919D187-AD31-1720-535E-3F5B21D6A5A6}"/>
              </a:ext>
            </a:extLst>
          </p:cNvPr>
          <p:cNvSpPr txBox="1"/>
          <p:nvPr/>
        </p:nvSpPr>
        <p:spPr>
          <a:xfrm>
            <a:off x="384313" y="2213113"/>
            <a:ext cx="9833113"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t>Generative AI is a subset of Deep Learning.</a:t>
            </a:r>
          </a:p>
          <a:p>
            <a:pPr marL="342900" indent="-342900">
              <a:buFont typeface="Arial" panose="020B0604020202020204" pitchFamily="34" charset="0"/>
              <a:buChar char="•"/>
            </a:pPr>
            <a:r>
              <a:rPr lang="en-US" sz="2400" dirty="0"/>
              <a:t>Meaning, it uses Artificial Neural Networks.</a:t>
            </a:r>
          </a:p>
          <a:p>
            <a:pPr marL="342900" indent="-342900">
              <a:buFont typeface="Arial" panose="020B0604020202020204" pitchFamily="34" charset="0"/>
              <a:buChar char="•"/>
            </a:pPr>
            <a:r>
              <a:rPr lang="en-US" sz="2400" dirty="0"/>
              <a:t>Can process labeled or unlabeled data using supervised, unsupervised and semi-supervised methods.</a:t>
            </a:r>
          </a:p>
          <a:p>
            <a:pPr marL="342900" indent="-342900">
              <a:buFont typeface="Arial" panose="020B0604020202020204" pitchFamily="34" charset="0"/>
              <a:buChar char="•"/>
            </a:pPr>
            <a:r>
              <a:rPr lang="en-US" sz="2400" dirty="0"/>
              <a:t>Large language models (LLMs) are also a subset of Deep Learning.</a:t>
            </a:r>
          </a:p>
        </p:txBody>
      </p:sp>
    </p:spTree>
    <p:extLst>
      <p:ext uri="{BB962C8B-B14F-4D97-AF65-F5344CB8AC3E}">
        <p14:creationId xmlns:p14="http://schemas.microsoft.com/office/powerpoint/2010/main" val="179162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diagram with a diagram and a diagram of a diagram&#10;&#10;Description automatically generated with medium confidence">
            <a:extLst>
              <a:ext uri="{FF2B5EF4-FFF2-40B4-BE49-F238E27FC236}">
                <a16:creationId xmlns:a16="http://schemas.microsoft.com/office/drawing/2014/main" id="{4A15058B-B99B-4DF6-A359-8A9D169F8722}"/>
              </a:ext>
            </a:extLst>
          </p:cNvPr>
          <p:cNvPicPr>
            <a:picLocks noChangeAspect="1"/>
          </p:cNvPicPr>
          <p:nvPr/>
        </p:nvPicPr>
        <p:blipFill>
          <a:blip r:embed="rId2"/>
          <a:stretch>
            <a:fillRect/>
          </a:stretch>
        </p:blipFill>
        <p:spPr>
          <a:xfrm>
            <a:off x="1146313" y="1417759"/>
            <a:ext cx="9090355" cy="4022482"/>
          </a:xfrm>
          <a:prstGeom prst="rect">
            <a:avLst/>
          </a:prstGeom>
        </p:spPr>
      </p:pic>
      <p:sp>
        <p:nvSpPr>
          <p:cNvPr id="6" name="Title 1">
            <a:extLst>
              <a:ext uri="{FF2B5EF4-FFF2-40B4-BE49-F238E27FC236}">
                <a16:creationId xmlns:a16="http://schemas.microsoft.com/office/drawing/2014/main" id="{27106BB8-25A8-F594-29BC-4E97DE952F17}"/>
              </a:ext>
            </a:extLst>
          </p:cNvPr>
          <p:cNvSpPr>
            <a:spLocks noGrp="1"/>
          </p:cNvSpPr>
          <p:nvPr>
            <p:ph type="title"/>
          </p:nvPr>
        </p:nvSpPr>
        <p:spPr>
          <a:xfrm>
            <a:off x="1496289" y="134783"/>
            <a:ext cx="9576955" cy="664694"/>
          </a:xfrm>
        </p:spPr>
        <p:txBody>
          <a:bodyPr>
            <a:normAutofit/>
          </a:bodyPr>
          <a:lstStyle/>
          <a:p>
            <a:r>
              <a:rPr lang="en-US" dirty="0"/>
              <a:t>Types of DL models</a:t>
            </a:r>
          </a:p>
        </p:txBody>
      </p:sp>
    </p:spTree>
    <p:extLst>
      <p:ext uri="{BB962C8B-B14F-4D97-AF65-F5344CB8AC3E}">
        <p14:creationId xmlns:p14="http://schemas.microsoft.com/office/powerpoint/2010/main" val="1710941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hat&#10;&#10;Description automatically generated">
            <a:extLst>
              <a:ext uri="{FF2B5EF4-FFF2-40B4-BE49-F238E27FC236}">
                <a16:creationId xmlns:a16="http://schemas.microsoft.com/office/drawing/2014/main" id="{69A1CC3F-E1B7-A6E0-F683-7A3183CB9F65}"/>
              </a:ext>
            </a:extLst>
          </p:cNvPr>
          <p:cNvPicPr>
            <a:picLocks noChangeAspect="1"/>
          </p:cNvPicPr>
          <p:nvPr/>
        </p:nvPicPr>
        <p:blipFill>
          <a:blip r:embed="rId2"/>
          <a:stretch>
            <a:fillRect/>
          </a:stretch>
        </p:blipFill>
        <p:spPr>
          <a:xfrm>
            <a:off x="1487925" y="1332327"/>
            <a:ext cx="9216150" cy="4193346"/>
          </a:xfrm>
          <a:prstGeom prst="rect">
            <a:avLst/>
          </a:prstGeom>
        </p:spPr>
      </p:pic>
      <p:sp>
        <p:nvSpPr>
          <p:cNvPr id="6" name="Title 1">
            <a:extLst>
              <a:ext uri="{FF2B5EF4-FFF2-40B4-BE49-F238E27FC236}">
                <a16:creationId xmlns:a16="http://schemas.microsoft.com/office/drawing/2014/main" id="{01755D4A-97B5-864D-9178-2B55BE16780B}"/>
              </a:ext>
            </a:extLst>
          </p:cNvPr>
          <p:cNvSpPr>
            <a:spLocks noGrp="1"/>
          </p:cNvSpPr>
          <p:nvPr>
            <p:ph type="title"/>
          </p:nvPr>
        </p:nvSpPr>
        <p:spPr>
          <a:xfrm>
            <a:off x="914398" y="695892"/>
            <a:ext cx="9576955" cy="664694"/>
          </a:xfrm>
        </p:spPr>
        <p:txBody>
          <a:bodyPr>
            <a:normAutofit fontScale="90000"/>
          </a:bodyPr>
          <a:lstStyle/>
          <a:p>
            <a:r>
              <a:rPr lang="en-US" dirty="0"/>
              <a:t>Discriminative vs Generative Technique</a:t>
            </a:r>
          </a:p>
        </p:txBody>
      </p:sp>
    </p:spTree>
    <p:extLst>
      <p:ext uri="{BB962C8B-B14F-4D97-AF65-F5344CB8AC3E}">
        <p14:creationId xmlns:p14="http://schemas.microsoft.com/office/powerpoint/2010/main" val="761925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model&#10;&#10;Description automatically generated">
            <a:extLst>
              <a:ext uri="{FF2B5EF4-FFF2-40B4-BE49-F238E27FC236}">
                <a16:creationId xmlns:a16="http://schemas.microsoft.com/office/drawing/2014/main" id="{964E2244-91BA-8BC0-38E8-DE2B7E074F52}"/>
              </a:ext>
            </a:extLst>
          </p:cNvPr>
          <p:cNvPicPr>
            <a:picLocks noChangeAspect="1"/>
          </p:cNvPicPr>
          <p:nvPr/>
        </p:nvPicPr>
        <p:blipFill>
          <a:blip r:embed="rId2"/>
          <a:stretch>
            <a:fillRect/>
          </a:stretch>
        </p:blipFill>
        <p:spPr>
          <a:xfrm>
            <a:off x="1669554" y="1192948"/>
            <a:ext cx="8398316" cy="4472104"/>
          </a:xfrm>
          <a:prstGeom prst="rect">
            <a:avLst/>
          </a:prstGeom>
          <a:ln>
            <a:noFill/>
          </a:ln>
        </p:spPr>
      </p:pic>
      <p:sp>
        <p:nvSpPr>
          <p:cNvPr id="6" name="Title 1">
            <a:extLst>
              <a:ext uri="{FF2B5EF4-FFF2-40B4-BE49-F238E27FC236}">
                <a16:creationId xmlns:a16="http://schemas.microsoft.com/office/drawing/2014/main" id="{CF5935CA-323C-F749-A540-18D9799E0497}"/>
              </a:ext>
            </a:extLst>
          </p:cNvPr>
          <p:cNvSpPr>
            <a:spLocks noGrp="1"/>
          </p:cNvSpPr>
          <p:nvPr>
            <p:ph type="title"/>
          </p:nvPr>
        </p:nvSpPr>
        <p:spPr>
          <a:xfrm>
            <a:off x="1669554" y="204135"/>
            <a:ext cx="9576955" cy="664694"/>
          </a:xfrm>
        </p:spPr>
        <p:txBody>
          <a:bodyPr>
            <a:normAutofit/>
          </a:bodyPr>
          <a:lstStyle/>
          <a:p>
            <a:r>
              <a:rPr lang="en-US" dirty="0"/>
              <a:t>Predictive vs Generative model</a:t>
            </a:r>
          </a:p>
        </p:txBody>
      </p:sp>
    </p:spTree>
    <p:extLst>
      <p:ext uri="{BB962C8B-B14F-4D97-AF65-F5344CB8AC3E}">
        <p14:creationId xmlns:p14="http://schemas.microsoft.com/office/powerpoint/2010/main" val="2209245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software system&#10;&#10;Description automatically generated">
            <a:extLst>
              <a:ext uri="{FF2B5EF4-FFF2-40B4-BE49-F238E27FC236}">
                <a16:creationId xmlns:a16="http://schemas.microsoft.com/office/drawing/2014/main" id="{A112849F-7DE8-B8B0-F371-4987F87873BA}"/>
              </a:ext>
            </a:extLst>
          </p:cNvPr>
          <p:cNvPicPr>
            <a:picLocks noChangeAspect="1"/>
          </p:cNvPicPr>
          <p:nvPr/>
        </p:nvPicPr>
        <p:blipFill rotWithShape="1">
          <a:blip r:embed="rId2"/>
          <a:srcRect l="6649"/>
          <a:stretch/>
        </p:blipFill>
        <p:spPr>
          <a:xfrm>
            <a:off x="1029254" y="962073"/>
            <a:ext cx="8772919" cy="4933853"/>
          </a:xfrm>
          <a:prstGeom prst="rect">
            <a:avLst/>
          </a:prstGeom>
        </p:spPr>
      </p:pic>
      <p:sp>
        <p:nvSpPr>
          <p:cNvPr id="6" name="Title 1">
            <a:extLst>
              <a:ext uri="{FF2B5EF4-FFF2-40B4-BE49-F238E27FC236}">
                <a16:creationId xmlns:a16="http://schemas.microsoft.com/office/drawing/2014/main" id="{F45EF0E1-FA29-726B-8828-643CCA9AB8E4}"/>
              </a:ext>
            </a:extLst>
          </p:cNvPr>
          <p:cNvSpPr>
            <a:spLocks noGrp="1"/>
          </p:cNvSpPr>
          <p:nvPr>
            <p:ph type="title"/>
          </p:nvPr>
        </p:nvSpPr>
        <p:spPr>
          <a:xfrm>
            <a:off x="225218" y="172962"/>
            <a:ext cx="9576955" cy="664694"/>
          </a:xfrm>
        </p:spPr>
        <p:txBody>
          <a:bodyPr>
            <a:normAutofit/>
          </a:bodyPr>
          <a:lstStyle/>
          <a:p>
            <a:r>
              <a:rPr lang="en-US" dirty="0"/>
              <a:t>What is not a </a:t>
            </a:r>
            <a:r>
              <a:rPr lang="en-US" dirty="0" err="1"/>
              <a:t>GenAI</a:t>
            </a:r>
            <a:r>
              <a:rPr lang="en-US" dirty="0"/>
              <a:t>?</a:t>
            </a:r>
          </a:p>
        </p:txBody>
      </p:sp>
    </p:spTree>
    <p:extLst>
      <p:ext uri="{BB962C8B-B14F-4D97-AF65-F5344CB8AC3E}">
        <p14:creationId xmlns:p14="http://schemas.microsoft.com/office/powerpoint/2010/main" val="1285106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5CE12124-4C82-7A21-49AF-4DB76C12ACF9}"/>
              </a:ext>
            </a:extLst>
          </p:cNvPr>
          <p:cNvPicPr>
            <a:picLocks noChangeAspect="1"/>
          </p:cNvPicPr>
          <p:nvPr/>
        </p:nvPicPr>
        <p:blipFill rotWithShape="1">
          <a:blip r:embed="rId2"/>
          <a:srcRect l="1723" r="1" b="1"/>
          <a:stretch/>
        </p:blipFill>
        <p:spPr>
          <a:xfrm>
            <a:off x="925719" y="944917"/>
            <a:ext cx="9000159" cy="4968165"/>
          </a:xfrm>
          <a:prstGeom prst="rect">
            <a:avLst/>
          </a:prstGeom>
        </p:spPr>
      </p:pic>
      <p:sp>
        <p:nvSpPr>
          <p:cNvPr id="6" name="Title 1">
            <a:extLst>
              <a:ext uri="{FF2B5EF4-FFF2-40B4-BE49-F238E27FC236}">
                <a16:creationId xmlns:a16="http://schemas.microsoft.com/office/drawing/2014/main" id="{83941C88-BBEA-A5F3-64B0-E07BA7ED47CA}"/>
              </a:ext>
            </a:extLst>
          </p:cNvPr>
          <p:cNvSpPr>
            <a:spLocks noGrp="1"/>
          </p:cNvSpPr>
          <p:nvPr>
            <p:ph type="title"/>
          </p:nvPr>
        </p:nvSpPr>
        <p:spPr>
          <a:xfrm>
            <a:off x="196850" y="171719"/>
            <a:ext cx="9576955" cy="664694"/>
          </a:xfrm>
        </p:spPr>
        <p:txBody>
          <a:bodyPr>
            <a:normAutofit fontScale="90000"/>
          </a:bodyPr>
          <a:lstStyle/>
          <a:p>
            <a:r>
              <a:rPr lang="en-US" dirty="0" err="1"/>
              <a:t>GenAI</a:t>
            </a:r>
            <a:r>
              <a:rPr lang="en-US" dirty="0"/>
              <a:t> as represented by mathematics?</a:t>
            </a:r>
          </a:p>
        </p:txBody>
      </p:sp>
    </p:spTree>
    <p:extLst>
      <p:ext uri="{BB962C8B-B14F-4D97-AF65-F5344CB8AC3E}">
        <p14:creationId xmlns:p14="http://schemas.microsoft.com/office/powerpoint/2010/main" val="2176179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foundation model&#10;&#10;Description automatically generated">
            <a:extLst>
              <a:ext uri="{FF2B5EF4-FFF2-40B4-BE49-F238E27FC236}">
                <a16:creationId xmlns:a16="http://schemas.microsoft.com/office/drawing/2014/main" id="{1FA18A2A-89D4-A69F-B912-CA91F65CD037}"/>
              </a:ext>
            </a:extLst>
          </p:cNvPr>
          <p:cNvPicPr>
            <a:picLocks noChangeAspect="1"/>
          </p:cNvPicPr>
          <p:nvPr/>
        </p:nvPicPr>
        <p:blipFill rotWithShape="1">
          <a:blip r:embed="rId2"/>
          <a:srcRect r="3080" b="-2"/>
          <a:stretch/>
        </p:blipFill>
        <p:spPr>
          <a:xfrm>
            <a:off x="1190763" y="1138773"/>
            <a:ext cx="8297793" cy="4580453"/>
          </a:xfrm>
          <a:prstGeom prst="rect">
            <a:avLst/>
          </a:prstGeom>
        </p:spPr>
      </p:pic>
      <p:sp>
        <p:nvSpPr>
          <p:cNvPr id="2" name="Title 1">
            <a:extLst>
              <a:ext uri="{FF2B5EF4-FFF2-40B4-BE49-F238E27FC236}">
                <a16:creationId xmlns:a16="http://schemas.microsoft.com/office/drawing/2014/main" id="{116AE17F-534F-A570-8FF0-626C2F356135}"/>
              </a:ext>
            </a:extLst>
          </p:cNvPr>
          <p:cNvSpPr>
            <a:spLocks noGrp="1"/>
          </p:cNvSpPr>
          <p:nvPr>
            <p:ph type="title"/>
          </p:nvPr>
        </p:nvSpPr>
        <p:spPr>
          <a:xfrm>
            <a:off x="196851" y="171719"/>
            <a:ext cx="4229376" cy="664694"/>
          </a:xfrm>
        </p:spPr>
        <p:txBody>
          <a:bodyPr>
            <a:normAutofit/>
          </a:bodyPr>
          <a:lstStyle/>
          <a:p>
            <a:r>
              <a:rPr lang="en-US" dirty="0"/>
              <a:t>GenAI</a:t>
            </a:r>
          </a:p>
        </p:txBody>
      </p:sp>
    </p:spTree>
    <p:extLst>
      <p:ext uri="{BB962C8B-B14F-4D97-AF65-F5344CB8AC3E}">
        <p14:creationId xmlns:p14="http://schemas.microsoft.com/office/powerpoint/2010/main" val="2895022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2E63556B-801F-4F89-4B98-AE0E04246E21}"/>
              </a:ext>
            </a:extLst>
          </p:cNvPr>
          <p:cNvPicPr>
            <a:picLocks noChangeAspect="1"/>
          </p:cNvPicPr>
          <p:nvPr/>
        </p:nvPicPr>
        <p:blipFill>
          <a:blip r:embed="rId2"/>
          <a:stretch>
            <a:fillRect/>
          </a:stretch>
        </p:blipFill>
        <p:spPr>
          <a:xfrm>
            <a:off x="1557867" y="1322467"/>
            <a:ext cx="8511244" cy="4213066"/>
          </a:xfrm>
          <a:prstGeom prst="rect">
            <a:avLst/>
          </a:prstGeom>
          <a:ln>
            <a:noFill/>
          </a:ln>
        </p:spPr>
      </p:pic>
      <p:sp>
        <p:nvSpPr>
          <p:cNvPr id="6" name="Title 1">
            <a:extLst>
              <a:ext uri="{FF2B5EF4-FFF2-40B4-BE49-F238E27FC236}">
                <a16:creationId xmlns:a16="http://schemas.microsoft.com/office/drawing/2014/main" id="{276BA8CE-E136-74E4-FC46-D48AB3709D21}"/>
              </a:ext>
            </a:extLst>
          </p:cNvPr>
          <p:cNvSpPr>
            <a:spLocks noGrp="1"/>
          </p:cNvSpPr>
          <p:nvPr>
            <p:ph type="title"/>
          </p:nvPr>
        </p:nvSpPr>
        <p:spPr>
          <a:xfrm>
            <a:off x="1857065" y="79977"/>
            <a:ext cx="9576955" cy="664694"/>
          </a:xfrm>
        </p:spPr>
        <p:txBody>
          <a:bodyPr>
            <a:normAutofit/>
          </a:bodyPr>
          <a:lstStyle/>
          <a:p>
            <a:r>
              <a:rPr lang="en-US" dirty="0"/>
              <a:t>Example of </a:t>
            </a:r>
            <a:r>
              <a:rPr lang="en-US" dirty="0" err="1"/>
              <a:t>GenAI</a:t>
            </a:r>
            <a:r>
              <a:rPr lang="en-US" dirty="0"/>
              <a:t> Input/Output</a:t>
            </a:r>
          </a:p>
        </p:txBody>
      </p:sp>
    </p:spTree>
    <p:extLst>
      <p:ext uri="{BB962C8B-B14F-4D97-AF65-F5344CB8AC3E}">
        <p14:creationId xmlns:p14="http://schemas.microsoft.com/office/powerpoint/2010/main" val="2342986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omputer&#10;&#10;Description automatically generated">
            <a:extLst>
              <a:ext uri="{FF2B5EF4-FFF2-40B4-BE49-F238E27FC236}">
                <a16:creationId xmlns:a16="http://schemas.microsoft.com/office/drawing/2014/main" id="{6F1A6D06-B126-ADAF-6101-8786345C7EAD}"/>
              </a:ext>
            </a:extLst>
          </p:cNvPr>
          <p:cNvPicPr>
            <a:picLocks noChangeAspect="1"/>
          </p:cNvPicPr>
          <p:nvPr/>
        </p:nvPicPr>
        <p:blipFill>
          <a:blip r:embed="rId2"/>
          <a:stretch>
            <a:fillRect/>
          </a:stretch>
        </p:blipFill>
        <p:spPr>
          <a:xfrm>
            <a:off x="1918620" y="1871787"/>
            <a:ext cx="8354759" cy="3404562"/>
          </a:xfrm>
          <a:prstGeom prst="rect">
            <a:avLst/>
          </a:prstGeom>
        </p:spPr>
      </p:pic>
      <p:sp>
        <p:nvSpPr>
          <p:cNvPr id="6" name="Title 1">
            <a:extLst>
              <a:ext uri="{FF2B5EF4-FFF2-40B4-BE49-F238E27FC236}">
                <a16:creationId xmlns:a16="http://schemas.microsoft.com/office/drawing/2014/main" id="{4339EE7F-5831-5399-3FA7-060868316093}"/>
              </a:ext>
            </a:extLst>
          </p:cNvPr>
          <p:cNvSpPr>
            <a:spLocks noGrp="1"/>
          </p:cNvSpPr>
          <p:nvPr>
            <p:ph type="title"/>
          </p:nvPr>
        </p:nvSpPr>
        <p:spPr>
          <a:xfrm>
            <a:off x="1857065" y="79977"/>
            <a:ext cx="9576955" cy="664694"/>
          </a:xfrm>
        </p:spPr>
        <p:txBody>
          <a:bodyPr>
            <a:normAutofit/>
          </a:bodyPr>
          <a:lstStyle/>
          <a:p>
            <a:r>
              <a:rPr lang="en-US" dirty="0"/>
              <a:t>Example of </a:t>
            </a:r>
            <a:r>
              <a:rPr lang="en-US" dirty="0" err="1"/>
              <a:t>GenAI</a:t>
            </a:r>
            <a:r>
              <a:rPr lang="en-US" dirty="0"/>
              <a:t> Input/Output</a:t>
            </a:r>
          </a:p>
        </p:txBody>
      </p:sp>
    </p:spTree>
    <p:extLst>
      <p:ext uri="{BB962C8B-B14F-4D97-AF65-F5344CB8AC3E}">
        <p14:creationId xmlns:p14="http://schemas.microsoft.com/office/powerpoint/2010/main" val="3555425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7DB85-86B6-084E-E3B9-F66024A3D43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latin typeface="+mj-lt"/>
                <a:ea typeface="+mj-ea"/>
                <a:cs typeface="+mj-cs"/>
              </a:rPr>
              <a:t>Core component of </a:t>
            </a:r>
            <a:r>
              <a:rPr lang="en-US" sz="3600" kern="1200" dirty="0" err="1">
                <a:latin typeface="+mj-lt"/>
                <a:ea typeface="+mj-ea"/>
                <a:cs typeface="+mj-cs"/>
              </a:rPr>
              <a:t>GenAI</a:t>
            </a:r>
            <a:r>
              <a:rPr lang="en-US" sz="3600" kern="1200" dirty="0">
                <a:latin typeface="+mj-lt"/>
                <a:ea typeface="+mj-ea"/>
                <a:cs typeface="+mj-cs"/>
              </a:rPr>
              <a:t>: Encoder-Decoder</a:t>
            </a:r>
          </a:p>
        </p:txBody>
      </p:sp>
      <p:pic>
        <p:nvPicPr>
          <p:cNvPr id="5" name="Picture 4" descr="A diagram of a process flow&#10;&#10;Description automatically generated">
            <a:extLst>
              <a:ext uri="{FF2B5EF4-FFF2-40B4-BE49-F238E27FC236}">
                <a16:creationId xmlns:a16="http://schemas.microsoft.com/office/drawing/2014/main" id="{A2BF78F5-D981-5D82-5090-B54863702DA4}"/>
              </a:ext>
            </a:extLst>
          </p:cNvPr>
          <p:cNvPicPr>
            <a:picLocks noChangeAspect="1"/>
          </p:cNvPicPr>
          <p:nvPr/>
        </p:nvPicPr>
        <p:blipFill>
          <a:blip r:embed="rId2"/>
          <a:stretch>
            <a:fillRect/>
          </a:stretch>
        </p:blipFill>
        <p:spPr>
          <a:xfrm>
            <a:off x="3389699" y="1275943"/>
            <a:ext cx="6676147" cy="4306113"/>
          </a:xfrm>
          <a:prstGeom prst="rect">
            <a:avLst/>
          </a:prstGeom>
        </p:spPr>
      </p:pic>
    </p:spTree>
    <p:extLst>
      <p:ext uri="{BB962C8B-B14F-4D97-AF65-F5344CB8AC3E}">
        <p14:creationId xmlns:p14="http://schemas.microsoft.com/office/powerpoint/2010/main" val="2522462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2CB56-BA96-B4C2-2219-DE27749170A2}"/>
              </a:ext>
            </a:extLst>
          </p:cNvPr>
          <p:cNvSpPr>
            <a:spLocks noGrp="1"/>
          </p:cNvSpPr>
          <p:nvPr>
            <p:ph type="title"/>
          </p:nvPr>
        </p:nvSpPr>
        <p:spPr/>
        <p:txBody>
          <a:bodyPr/>
          <a:lstStyle/>
          <a:p>
            <a:r>
              <a:rPr lang="en-US" dirty="0"/>
              <a:t>Encoder</a:t>
            </a:r>
          </a:p>
        </p:txBody>
      </p:sp>
      <p:sp>
        <p:nvSpPr>
          <p:cNvPr id="3" name="Content Placeholder 2">
            <a:extLst>
              <a:ext uri="{FF2B5EF4-FFF2-40B4-BE49-F238E27FC236}">
                <a16:creationId xmlns:a16="http://schemas.microsoft.com/office/drawing/2014/main" id="{2ACD2AD4-9EF7-7B0A-E752-09E52076B71D}"/>
              </a:ext>
            </a:extLst>
          </p:cNvPr>
          <p:cNvSpPr>
            <a:spLocks noGrp="1"/>
          </p:cNvSpPr>
          <p:nvPr>
            <p:ph idx="1"/>
          </p:nvPr>
        </p:nvSpPr>
        <p:spPr>
          <a:xfrm>
            <a:off x="838199" y="1825625"/>
            <a:ext cx="8025245" cy="4351338"/>
          </a:xfrm>
        </p:spPr>
        <p:txBody>
          <a:bodyPr>
            <a:normAutofit fontScale="92500" lnSpcReduction="10000"/>
          </a:bodyPr>
          <a:lstStyle/>
          <a:p>
            <a:pPr algn="l"/>
            <a:r>
              <a:rPr lang="en-GB" b="0" i="0" u="none" strike="noStrike" dirty="0">
                <a:effectLst/>
                <a:latin typeface="Söhne"/>
              </a:rPr>
              <a:t>The encoder's role is to process the input sequence (the "Source" in the diagram) and encode it into a fixed-length context vector. This context vector aims to capture the essence of the input sequence's information.</a:t>
            </a:r>
          </a:p>
          <a:p>
            <a:pPr algn="l"/>
            <a:r>
              <a:rPr lang="en-GB" b="0" i="0" u="none" strike="noStrike" dirty="0">
                <a:effectLst/>
                <a:latin typeface="Söhne"/>
              </a:rPr>
              <a:t>For example, if the input sequence is "I love dogs and cats," the encoder would process each word (or token) in this sentence through layers (like the "Encoder layer" shown in the diagram), which could include LSTM (Long Short-Term Memory) or Transformer layers. Each word is converted into an embedding, and then the sequence of embeddings is processed to create a context vector that represents the entire sequence's meaning.</a:t>
            </a:r>
          </a:p>
        </p:txBody>
      </p:sp>
      <p:pic>
        <p:nvPicPr>
          <p:cNvPr id="4" name="Picture 3" descr="A diagram of a process flow&#10;&#10;Description automatically generated">
            <a:extLst>
              <a:ext uri="{FF2B5EF4-FFF2-40B4-BE49-F238E27FC236}">
                <a16:creationId xmlns:a16="http://schemas.microsoft.com/office/drawing/2014/main" id="{9A589A28-3977-233E-4825-10E2CBC9E008}"/>
              </a:ext>
            </a:extLst>
          </p:cNvPr>
          <p:cNvPicPr>
            <a:picLocks noChangeAspect="1"/>
          </p:cNvPicPr>
          <p:nvPr/>
        </p:nvPicPr>
        <p:blipFill rotWithShape="1">
          <a:blip r:embed="rId2"/>
          <a:srcRect l="-1" t="41216" r="58223"/>
          <a:stretch>
            <a:fillRect/>
          </a:stretch>
        </p:blipFill>
        <p:spPr>
          <a:xfrm>
            <a:off x="8643088" y="2042560"/>
            <a:ext cx="3055269" cy="2772879"/>
          </a:xfrm>
          <a:prstGeom prst="rect">
            <a:avLst/>
          </a:prstGeom>
        </p:spPr>
      </p:pic>
    </p:spTree>
    <p:extLst>
      <p:ext uri="{BB962C8B-B14F-4D97-AF65-F5344CB8AC3E}">
        <p14:creationId xmlns:p14="http://schemas.microsoft.com/office/powerpoint/2010/main" val="41617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C0847-A62F-3316-5A3F-AAC678D29B79}"/>
              </a:ext>
            </a:extLst>
          </p:cNvPr>
          <p:cNvSpPr>
            <a:spLocks noGrp="1"/>
          </p:cNvSpPr>
          <p:nvPr>
            <p:ph type="title"/>
          </p:nvPr>
        </p:nvSpPr>
        <p:spPr/>
        <p:txBody>
          <a:bodyPr/>
          <a:lstStyle/>
          <a:p>
            <a:r>
              <a:rPr lang="en-US" dirty="0"/>
              <a:t>Decoder</a:t>
            </a:r>
          </a:p>
        </p:txBody>
      </p:sp>
      <p:sp>
        <p:nvSpPr>
          <p:cNvPr id="3" name="Content Placeholder 2">
            <a:extLst>
              <a:ext uri="{FF2B5EF4-FFF2-40B4-BE49-F238E27FC236}">
                <a16:creationId xmlns:a16="http://schemas.microsoft.com/office/drawing/2014/main" id="{FD10E36A-5E6A-31FD-6589-E14659CA2BB5}"/>
              </a:ext>
            </a:extLst>
          </p:cNvPr>
          <p:cNvSpPr>
            <a:spLocks noGrp="1"/>
          </p:cNvSpPr>
          <p:nvPr>
            <p:ph idx="1"/>
          </p:nvPr>
        </p:nvSpPr>
        <p:spPr>
          <a:xfrm>
            <a:off x="838200" y="1825625"/>
            <a:ext cx="7488382" cy="4351338"/>
          </a:xfrm>
        </p:spPr>
        <p:txBody>
          <a:bodyPr>
            <a:normAutofit fontScale="70000" lnSpcReduction="20000"/>
          </a:bodyPr>
          <a:lstStyle/>
          <a:p>
            <a:pPr algn="l"/>
            <a:r>
              <a:rPr lang="en-GB" b="0" i="0" u="none" strike="noStrike" dirty="0">
                <a:effectLst/>
                <a:latin typeface="Söhne"/>
              </a:rPr>
              <a:t>The decoder's role is to generate the output sequence (the "Target" in the diagram) step by step. It uses the context vector provided by the encoder and, during each step, focuses on different parts of the input sequence to decide what the next output should be. This is facilitated by the attention mechanism.</a:t>
            </a:r>
          </a:p>
          <a:p>
            <a:pPr algn="l"/>
            <a:r>
              <a:rPr lang="en-GB" b="0" i="0" u="none" strike="noStrike" dirty="0">
                <a:effectLst/>
                <a:latin typeface="Söhne"/>
              </a:rPr>
              <a:t>The attention mechanism allows the model to automatically learn to focus on different parts of the input sequence when predicting each word of the output sequence. For example, when translating "I love dogs and cats" into another language, the attention mechanism helps the model to focus on "I love" when it's translating the equivalent words in the target language, and then focus on "dogs" and "cats" for their respective translations.</a:t>
            </a:r>
          </a:p>
          <a:p>
            <a:pPr algn="l"/>
            <a:r>
              <a:rPr lang="en-GB" b="0" i="0" u="none" strike="noStrike" dirty="0">
                <a:effectLst/>
                <a:latin typeface="Söhne"/>
              </a:rPr>
              <a:t>The decoder layers (like "Decoder layer 1" and "Decoder layer 2" in the diagram) produce a sequence of vectors. Each vector is transformed by a linear layer (fully connected layer) and then passed through a </a:t>
            </a:r>
            <a:r>
              <a:rPr lang="en-GB" b="0" i="0" u="none" strike="noStrike" dirty="0" err="1">
                <a:effectLst/>
                <a:latin typeface="Söhne"/>
              </a:rPr>
              <a:t>softmax</a:t>
            </a:r>
            <a:r>
              <a:rPr lang="en-GB" b="0" i="0" u="none" strike="noStrike" dirty="0">
                <a:effectLst/>
                <a:latin typeface="Söhne"/>
              </a:rPr>
              <a:t> function to predict the probability of each word in the target language's vocabulary. The word with the highest probability is chosen as the next word in the output sequence.</a:t>
            </a:r>
          </a:p>
        </p:txBody>
      </p:sp>
      <p:pic>
        <p:nvPicPr>
          <p:cNvPr id="4" name="Picture 3" descr="A diagram of a process flow&#10;&#10;Description automatically generated">
            <a:extLst>
              <a:ext uri="{FF2B5EF4-FFF2-40B4-BE49-F238E27FC236}">
                <a16:creationId xmlns:a16="http://schemas.microsoft.com/office/drawing/2014/main" id="{CE257801-17FF-BEEA-56EC-A0B18B0412CE}"/>
              </a:ext>
            </a:extLst>
          </p:cNvPr>
          <p:cNvPicPr>
            <a:picLocks noChangeAspect="1"/>
          </p:cNvPicPr>
          <p:nvPr/>
        </p:nvPicPr>
        <p:blipFill rotWithShape="1">
          <a:blip r:embed="rId2"/>
          <a:srcRect l="43486" t="-2503"/>
          <a:stretch/>
        </p:blipFill>
        <p:spPr>
          <a:xfrm>
            <a:off x="8614031" y="1690688"/>
            <a:ext cx="3577969" cy="4185808"/>
          </a:xfrm>
          <a:prstGeom prst="rect">
            <a:avLst/>
          </a:prstGeom>
        </p:spPr>
      </p:pic>
    </p:spTree>
    <p:extLst>
      <p:ext uri="{BB962C8B-B14F-4D97-AF65-F5344CB8AC3E}">
        <p14:creationId xmlns:p14="http://schemas.microsoft.com/office/powerpoint/2010/main" val="4221566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5D16F-F9D3-AAA3-B0BC-A97FFBD7DEED}"/>
              </a:ext>
            </a:extLst>
          </p:cNvPr>
          <p:cNvSpPr>
            <a:spLocks noGrp="1"/>
          </p:cNvSpPr>
          <p:nvPr>
            <p:ph type="title"/>
          </p:nvPr>
        </p:nvSpPr>
        <p:spPr>
          <a:xfrm>
            <a:off x="765463" y="292389"/>
            <a:ext cx="10515600" cy="1325563"/>
          </a:xfrm>
        </p:spPr>
        <p:txBody>
          <a:bodyPr/>
          <a:lstStyle/>
          <a:p>
            <a:r>
              <a:rPr lang="en-US" dirty="0"/>
              <a:t>Simple Transformer Model</a:t>
            </a:r>
          </a:p>
        </p:txBody>
      </p:sp>
      <p:pic>
        <p:nvPicPr>
          <p:cNvPr id="5" name="Picture 4" descr="A diagram of a process&#10;&#10;Description automatically generated">
            <a:extLst>
              <a:ext uri="{FF2B5EF4-FFF2-40B4-BE49-F238E27FC236}">
                <a16:creationId xmlns:a16="http://schemas.microsoft.com/office/drawing/2014/main" id="{B2395A65-B928-09AC-60BC-334AC643CA85}"/>
              </a:ext>
            </a:extLst>
          </p:cNvPr>
          <p:cNvPicPr>
            <a:picLocks noChangeAspect="1"/>
          </p:cNvPicPr>
          <p:nvPr/>
        </p:nvPicPr>
        <p:blipFill>
          <a:blip r:embed="rId2"/>
          <a:stretch>
            <a:fillRect/>
          </a:stretch>
        </p:blipFill>
        <p:spPr>
          <a:xfrm>
            <a:off x="2378332" y="1364609"/>
            <a:ext cx="7997752" cy="4143911"/>
          </a:xfrm>
          <a:prstGeom prst="rect">
            <a:avLst/>
          </a:prstGeom>
        </p:spPr>
      </p:pic>
      <p:sp>
        <p:nvSpPr>
          <p:cNvPr id="6" name="TextBox 5">
            <a:extLst>
              <a:ext uri="{FF2B5EF4-FFF2-40B4-BE49-F238E27FC236}">
                <a16:creationId xmlns:a16="http://schemas.microsoft.com/office/drawing/2014/main" id="{86770EEC-8520-8F2D-F179-2CECD8B75A24}"/>
              </a:ext>
            </a:extLst>
          </p:cNvPr>
          <p:cNvSpPr txBox="1"/>
          <p:nvPr/>
        </p:nvSpPr>
        <p:spPr>
          <a:xfrm>
            <a:off x="765463" y="5851541"/>
            <a:ext cx="8676734" cy="369332"/>
          </a:xfrm>
          <a:prstGeom prst="rect">
            <a:avLst/>
          </a:prstGeom>
          <a:noFill/>
        </p:spPr>
        <p:txBody>
          <a:bodyPr wrap="none" rtlCol="0">
            <a:spAutoFit/>
          </a:bodyPr>
          <a:lstStyle/>
          <a:p>
            <a:r>
              <a:rPr lang="en-GB" b="0" i="0" u="none" strike="noStrike" dirty="0">
                <a:solidFill>
                  <a:srgbClr val="6B6B6B"/>
                </a:solidFill>
                <a:effectLst/>
                <a:latin typeface="sohne"/>
              </a:rPr>
              <a:t>Image of </a:t>
            </a:r>
            <a:r>
              <a:rPr lang="en-GB" dirty="0">
                <a:solidFill>
                  <a:srgbClr val="6B6B6B"/>
                </a:solidFill>
                <a:latin typeface="sohne"/>
              </a:rPr>
              <a:t>t</a:t>
            </a:r>
            <a:r>
              <a:rPr lang="en-GB" b="0" i="0" u="none" strike="noStrike" dirty="0">
                <a:solidFill>
                  <a:srgbClr val="6B6B6B"/>
                </a:solidFill>
                <a:effectLst/>
                <a:latin typeface="sohne"/>
              </a:rPr>
              <a:t>he transformer - model architecture from the paper </a:t>
            </a:r>
            <a:r>
              <a:rPr lang="en-GB" b="0" i="0" u="sng" dirty="0">
                <a:effectLst/>
                <a:latin typeface="sohne"/>
                <a:hlinkClick r:id="rId3"/>
              </a:rPr>
              <a:t>Vaswani, Ashish, et al. 2017</a:t>
            </a:r>
            <a:endParaRPr lang="en-US" dirty="0"/>
          </a:p>
        </p:txBody>
      </p:sp>
      <p:sp>
        <p:nvSpPr>
          <p:cNvPr id="7" name="TextBox 6">
            <a:extLst>
              <a:ext uri="{FF2B5EF4-FFF2-40B4-BE49-F238E27FC236}">
                <a16:creationId xmlns:a16="http://schemas.microsoft.com/office/drawing/2014/main" id="{F709D971-42C3-5935-D540-8244110F4EA5}"/>
              </a:ext>
            </a:extLst>
          </p:cNvPr>
          <p:cNvSpPr txBox="1"/>
          <p:nvPr/>
        </p:nvSpPr>
        <p:spPr>
          <a:xfrm>
            <a:off x="765463" y="2145639"/>
            <a:ext cx="3629840" cy="461665"/>
          </a:xfrm>
          <a:prstGeom prst="rect">
            <a:avLst/>
          </a:prstGeom>
          <a:noFill/>
        </p:spPr>
        <p:txBody>
          <a:bodyPr wrap="none" rtlCol="0">
            <a:spAutoFit/>
          </a:bodyPr>
          <a:lstStyle/>
          <a:p>
            <a:r>
              <a:rPr lang="en-US" sz="2400" b="1" dirty="0"/>
              <a:t>“</a:t>
            </a:r>
            <a:r>
              <a:rPr lang="en-GB" sz="2400" b="1" dirty="0">
                <a:effectLst/>
                <a:latin typeface="NimbusRomNo9L"/>
              </a:rPr>
              <a:t>Attention Is All You Need</a:t>
            </a:r>
            <a:r>
              <a:rPr lang="en-US" sz="2400" b="1" dirty="0"/>
              <a:t>”</a:t>
            </a:r>
          </a:p>
        </p:txBody>
      </p:sp>
      <p:sp>
        <p:nvSpPr>
          <p:cNvPr id="9" name="Right Arrow 8">
            <a:extLst>
              <a:ext uri="{FF2B5EF4-FFF2-40B4-BE49-F238E27FC236}">
                <a16:creationId xmlns:a16="http://schemas.microsoft.com/office/drawing/2014/main" id="{935A3A58-3F30-217B-72B5-53A239FF4197}"/>
              </a:ext>
            </a:extLst>
          </p:cNvPr>
          <p:cNvSpPr/>
          <p:nvPr/>
        </p:nvSpPr>
        <p:spPr>
          <a:xfrm>
            <a:off x="3657600" y="3522518"/>
            <a:ext cx="1080655" cy="2389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790CC06-B3A9-53B0-D263-C90430E9DCB5}"/>
              </a:ext>
            </a:extLst>
          </p:cNvPr>
          <p:cNvSpPr txBox="1"/>
          <p:nvPr/>
        </p:nvSpPr>
        <p:spPr>
          <a:xfrm>
            <a:off x="2703813" y="3433741"/>
            <a:ext cx="953787" cy="369332"/>
          </a:xfrm>
          <a:prstGeom prst="rect">
            <a:avLst/>
          </a:prstGeom>
          <a:noFill/>
        </p:spPr>
        <p:txBody>
          <a:bodyPr wrap="none" rtlCol="0">
            <a:spAutoFit/>
          </a:bodyPr>
          <a:lstStyle/>
          <a:p>
            <a:r>
              <a:rPr lang="en-US" dirty="0"/>
              <a:t>Encoder</a:t>
            </a:r>
          </a:p>
        </p:txBody>
      </p:sp>
      <p:sp>
        <p:nvSpPr>
          <p:cNvPr id="11" name="Right Arrow 10">
            <a:extLst>
              <a:ext uri="{FF2B5EF4-FFF2-40B4-BE49-F238E27FC236}">
                <a16:creationId xmlns:a16="http://schemas.microsoft.com/office/drawing/2014/main" id="{218E5C25-4EFD-60CE-83B8-35D2BD766639}"/>
              </a:ext>
            </a:extLst>
          </p:cNvPr>
          <p:cNvSpPr/>
          <p:nvPr/>
        </p:nvSpPr>
        <p:spPr>
          <a:xfrm rot="10800000">
            <a:off x="7899468" y="3522518"/>
            <a:ext cx="1080655" cy="2389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21608A3-24D2-03F5-A68D-044B5CAC5C16}"/>
              </a:ext>
            </a:extLst>
          </p:cNvPr>
          <p:cNvSpPr txBox="1"/>
          <p:nvPr/>
        </p:nvSpPr>
        <p:spPr>
          <a:xfrm>
            <a:off x="9013470" y="3436565"/>
            <a:ext cx="977832" cy="369332"/>
          </a:xfrm>
          <a:prstGeom prst="rect">
            <a:avLst/>
          </a:prstGeom>
          <a:noFill/>
        </p:spPr>
        <p:txBody>
          <a:bodyPr wrap="none" rtlCol="0">
            <a:spAutoFit/>
          </a:bodyPr>
          <a:lstStyle/>
          <a:p>
            <a:r>
              <a:rPr lang="en-US" dirty="0"/>
              <a:t>Decoder</a:t>
            </a:r>
          </a:p>
        </p:txBody>
      </p:sp>
    </p:spTree>
    <p:extLst>
      <p:ext uri="{BB962C8B-B14F-4D97-AF65-F5344CB8AC3E}">
        <p14:creationId xmlns:p14="http://schemas.microsoft.com/office/powerpoint/2010/main" val="3632514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2B1BC-1EB6-947D-4F65-BBCCA40FFE07}"/>
              </a:ext>
            </a:extLst>
          </p:cNvPr>
          <p:cNvSpPr>
            <a:spLocks noGrp="1"/>
          </p:cNvSpPr>
          <p:nvPr>
            <p:ph type="title"/>
          </p:nvPr>
        </p:nvSpPr>
        <p:spPr>
          <a:xfrm>
            <a:off x="838201" y="643467"/>
            <a:ext cx="3888526" cy="1800526"/>
          </a:xfrm>
        </p:spPr>
        <p:txBody>
          <a:bodyPr>
            <a:normAutofit/>
          </a:bodyPr>
          <a:lstStyle/>
          <a:p>
            <a:r>
              <a:rPr lang="en-US" dirty="0"/>
              <a:t>Large Language Model (LLM)</a:t>
            </a:r>
          </a:p>
        </p:txBody>
      </p:sp>
      <p:sp>
        <p:nvSpPr>
          <p:cNvPr id="3" name="Content Placeholder 2">
            <a:extLst>
              <a:ext uri="{FF2B5EF4-FFF2-40B4-BE49-F238E27FC236}">
                <a16:creationId xmlns:a16="http://schemas.microsoft.com/office/drawing/2014/main" id="{F0311767-7F13-72DC-D33E-6F7527A4ACE9}"/>
              </a:ext>
            </a:extLst>
          </p:cNvPr>
          <p:cNvSpPr>
            <a:spLocks noGrp="1"/>
          </p:cNvSpPr>
          <p:nvPr>
            <p:ph idx="1"/>
          </p:nvPr>
        </p:nvSpPr>
        <p:spPr>
          <a:xfrm>
            <a:off x="838201" y="2623381"/>
            <a:ext cx="3888528" cy="3553581"/>
          </a:xfrm>
        </p:spPr>
        <p:txBody>
          <a:bodyPr>
            <a:normAutofit/>
          </a:bodyPr>
          <a:lstStyle/>
          <a:p>
            <a:r>
              <a:rPr lang="en-US" sz="2000"/>
              <a:t>In LLM architecture using Encoder-Decoder, the input sequence is first encoded into a state vector, which is then used to decode the output sequence</a:t>
            </a:r>
          </a:p>
        </p:txBody>
      </p:sp>
      <p:pic>
        <p:nvPicPr>
          <p:cNvPr id="5" name="Picture 4" descr="A diagram of a state&#10;&#10;Description automatically generated">
            <a:extLst>
              <a:ext uri="{FF2B5EF4-FFF2-40B4-BE49-F238E27FC236}">
                <a16:creationId xmlns:a16="http://schemas.microsoft.com/office/drawing/2014/main" id="{BB9F6DF7-016C-13DA-49D3-F66F638DBCFD}"/>
              </a:ext>
            </a:extLst>
          </p:cNvPr>
          <p:cNvPicPr>
            <a:picLocks noChangeAspect="1"/>
          </p:cNvPicPr>
          <p:nvPr/>
        </p:nvPicPr>
        <p:blipFill rotWithShape="1">
          <a:blip r:embed="rId2"/>
          <a:srcRect r="42959" b="18683"/>
          <a:stretch/>
        </p:blipFill>
        <p:spPr>
          <a:xfrm>
            <a:off x="6096000" y="1480080"/>
            <a:ext cx="5693008" cy="3814461"/>
          </a:xfrm>
          <a:prstGeom prst="rect">
            <a:avLst/>
          </a:prstGeom>
        </p:spPr>
      </p:pic>
    </p:spTree>
    <p:extLst>
      <p:ext uri="{BB962C8B-B14F-4D97-AF65-F5344CB8AC3E}">
        <p14:creationId xmlns:p14="http://schemas.microsoft.com/office/powerpoint/2010/main" val="3115203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986F9-C40E-16A1-699B-A7D68E10C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DEFD8-2CDE-2F03-8830-52CDE1543E12}"/>
              </a:ext>
            </a:extLst>
          </p:cNvPr>
          <p:cNvSpPr>
            <a:spLocks noGrp="1"/>
          </p:cNvSpPr>
          <p:nvPr>
            <p:ph type="title"/>
          </p:nvPr>
        </p:nvSpPr>
        <p:spPr>
          <a:xfrm>
            <a:off x="838201" y="643467"/>
            <a:ext cx="3888526" cy="1800526"/>
          </a:xfrm>
        </p:spPr>
        <p:txBody>
          <a:bodyPr>
            <a:normAutofit/>
          </a:bodyPr>
          <a:lstStyle/>
          <a:p>
            <a:r>
              <a:rPr lang="en-US" dirty="0"/>
              <a:t>A simple LLM in practice</a:t>
            </a:r>
          </a:p>
        </p:txBody>
      </p:sp>
      <p:sp>
        <p:nvSpPr>
          <p:cNvPr id="3" name="Content Placeholder 2">
            <a:extLst>
              <a:ext uri="{FF2B5EF4-FFF2-40B4-BE49-F238E27FC236}">
                <a16:creationId xmlns:a16="http://schemas.microsoft.com/office/drawing/2014/main" id="{00A5C799-307A-BD6E-BC11-F1CE306290C5}"/>
              </a:ext>
            </a:extLst>
          </p:cNvPr>
          <p:cNvSpPr>
            <a:spLocks noGrp="1"/>
          </p:cNvSpPr>
          <p:nvPr>
            <p:ph idx="1"/>
          </p:nvPr>
        </p:nvSpPr>
        <p:spPr>
          <a:xfrm>
            <a:off x="838200" y="2623381"/>
            <a:ext cx="9405729" cy="3553581"/>
          </a:xfrm>
        </p:spPr>
        <p:txBody>
          <a:bodyPr>
            <a:normAutofit/>
          </a:bodyPr>
          <a:lstStyle/>
          <a:p>
            <a:r>
              <a:rPr lang="en-US" sz="2000" dirty="0"/>
              <a:t>Access the Google </a:t>
            </a:r>
            <a:r>
              <a:rPr lang="en-US" sz="2000" dirty="0" err="1"/>
              <a:t>Colab</a:t>
            </a:r>
            <a:r>
              <a:rPr lang="en-US" sz="2000" dirty="0"/>
              <a:t> notebook: </a:t>
            </a:r>
            <a:r>
              <a:rPr lang="en-US" sz="2000" dirty="0">
                <a:hlinkClick r:id="rId2"/>
              </a:rPr>
              <a:t>https://colab.research.google.com/drive/1wK33DrTXOt1prS3C_n5DZjA_JVHqVkMu?usp=sharing</a:t>
            </a:r>
            <a:r>
              <a:rPr lang="en-US" sz="2000" dirty="0"/>
              <a:t> </a:t>
            </a:r>
          </a:p>
          <a:p>
            <a:r>
              <a:rPr lang="en-US" sz="2000" dirty="0"/>
              <a:t>For this simple LLM training we will be using the Reuters newswire classification dataset. This dataset contains over 800,000 news articles from the Reuters news agency. The articles are classified into 46 different categories.</a:t>
            </a:r>
          </a:p>
        </p:txBody>
      </p:sp>
    </p:spTree>
    <p:extLst>
      <p:ext uri="{BB962C8B-B14F-4D97-AF65-F5344CB8AC3E}">
        <p14:creationId xmlns:p14="http://schemas.microsoft.com/office/powerpoint/2010/main" val="2845979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white and red box&#10;&#10;Description automatically generated">
            <a:extLst>
              <a:ext uri="{FF2B5EF4-FFF2-40B4-BE49-F238E27FC236}">
                <a16:creationId xmlns:a16="http://schemas.microsoft.com/office/drawing/2014/main" id="{34E4FB37-95C9-6AA5-566B-B7ACD1175CE2}"/>
              </a:ext>
            </a:extLst>
          </p:cNvPr>
          <p:cNvPicPr>
            <a:picLocks noChangeAspect="1"/>
          </p:cNvPicPr>
          <p:nvPr/>
        </p:nvPicPr>
        <p:blipFill>
          <a:blip r:embed="rId2"/>
          <a:stretch>
            <a:fillRect/>
          </a:stretch>
        </p:blipFill>
        <p:spPr>
          <a:xfrm>
            <a:off x="600137" y="456770"/>
            <a:ext cx="7315201" cy="5943600"/>
          </a:xfrm>
          <a:prstGeom prst="rect">
            <a:avLst/>
          </a:prstGeom>
        </p:spPr>
      </p:pic>
      <p:sp>
        <p:nvSpPr>
          <p:cNvPr id="6" name="TextBox 5">
            <a:extLst>
              <a:ext uri="{FF2B5EF4-FFF2-40B4-BE49-F238E27FC236}">
                <a16:creationId xmlns:a16="http://schemas.microsoft.com/office/drawing/2014/main" id="{3F66959B-E253-3BB9-CBB8-23BD6EAD63C6}"/>
              </a:ext>
            </a:extLst>
          </p:cNvPr>
          <p:cNvSpPr txBox="1"/>
          <p:nvPr/>
        </p:nvSpPr>
        <p:spPr>
          <a:xfrm>
            <a:off x="8515475" y="2355272"/>
            <a:ext cx="2684489" cy="2800767"/>
          </a:xfrm>
          <a:prstGeom prst="rect">
            <a:avLst/>
          </a:prstGeom>
          <a:noFill/>
        </p:spPr>
        <p:txBody>
          <a:bodyPr wrap="square" rtlCol="0">
            <a:spAutoFit/>
          </a:bodyPr>
          <a:lstStyle/>
          <a:p>
            <a:r>
              <a:rPr lang="en-US" sz="4400" dirty="0">
                <a:solidFill>
                  <a:srgbClr val="942F6D"/>
                </a:solidFill>
              </a:rPr>
              <a:t>One of the important challenges of </a:t>
            </a:r>
            <a:r>
              <a:rPr lang="en-US" sz="4400" dirty="0" err="1">
                <a:solidFill>
                  <a:srgbClr val="942F6D"/>
                </a:solidFill>
              </a:rPr>
              <a:t>GenAI</a:t>
            </a:r>
            <a:endParaRPr lang="en-US" sz="4400" dirty="0">
              <a:solidFill>
                <a:srgbClr val="942F6D"/>
              </a:solidFill>
            </a:endParaRPr>
          </a:p>
        </p:txBody>
      </p:sp>
    </p:spTree>
    <p:extLst>
      <p:ext uri="{BB962C8B-B14F-4D97-AF65-F5344CB8AC3E}">
        <p14:creationId xmlns:p14="http://schemas.microsoft.com/office/powerpoint/2010/main" val="4275794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285E5-C42F-94F9-2553-B47142FCE2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A4117-60B1-9F4D-BEEC-CE7BB6D83756}"/>
              </a:ext>
            </a:extLst>
          </p:cNvPr>
          <p:cNvSpPr>
            <a:spLocks noGrp="1"/>
          </p:cNvSpPr>
          <p:nvPr>
            <p:ph type="title"/>
          </p:nvPr>
        </p:nvSpPr>
        <p:spPr>
          <a:xfrm>
            <a:off x="838201" y="643467"/>
            <a:ext cx="3888526" cy="1800526"/>
          </a:xfrm>
        </p:spPr>
        <p:txBody>
          <a:bodyPr>
            <a:normAutofit/>
          </a:bodyPr>
          <a:lstStyle/>
          <a:p>
            <a:r>
              <a:rPr lang="en-US" dirty="0"/>
              <a:t>In-Class Reading &amp; Discussion Task</a:t>
            </a:r>
          </a:p>
        </p:txBody>
      </p:sp>
      <p:sp>
        <p:nvSpPr>
          <p:cNvPr id="3" name="Content Placeholder 2">
            <a:extLst>
              <a:ext uri="{FF2B5EF4-FFF2-40B4-BE49-F238E27FC236}">
                <a16:creationId xmlns:a16="http://schemas.microsoft.com/office/drawing/2014/main" id="{98F2EDA5-602B-9869-A8ED-3D390AF16E6C}"/>
              </a:ext>
            </a:extLst>
          </p:cNvPr>
          <p:cNvSpPr>
            <a:spLocks noGrp="1"/>
          </p:cNvSpPr>
          <p:nvPr>
            <p:ph idx="1"/>
          </p:nvPr>
        </p:nvSpPr>
        <p:spPr>
          <a:xfrm>
            <a:off x="838200" y="2623381"/>
            <a:ext cx="9405729" cy="3553581"/>
          </a:xfrm>
        </p:spPr>
        <p:txBody>
          <a:bodyPr>
            <a:normAutofit/>
          </a:bodyPr>
          <a:lstStyle/>
          <a:p>
            <a:r>
              <a:rPr lang="en-US" sz="2000" dirty="0"/>
              <a:t>Read the article ‘Which Ethical Implications Of Generative AI Should Companies Focus On?’, published in Forbes, to understand the ethical implications of Generative AI in practice.</a:t>
            </a:r>
          </a:p>
          <a:p>
            <a:r>
              <a:rPr lang="en-US" sz="2000" dirty="0"/>
              <a:t>Article link: </a:t>
            </a:r>
            <a:r>
              <a:rPr lang="en-US" sz="2000" dirty="0">
                <a:hlinkClick r:id="rId2"/>
              </a:rPr>
              <a:t>Which Ethical Implications Of Generative AI Should Companies Focus On?</a:t>
            </a:r>
            <a:endParaRPr lang="en-US" sz="2000" dirty="0"/>
          </a:p>
          <a:p>
            <a:r>
              <a:rPr lang="en-US" sz="2000" dirty="0"/>
              <a:t>In a group of 3-5, discuss the top 3 ethical implications that you could identify from the article. </a:t>
            </a:r>
          </a:p>
        </p:txBody>
      </p:sp>
    </p:spTree>
    <p:extLst>
      <p:ext uri="{BB962C8B-B14F-4D97-AF65-F5344CB8AC3E}">
        <p14:creationId xmlns:p14="http://schemas.microsoft.com/office/powerpoint/2010/main" val="2093141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a:t>
            </a:r>
            <a:endParaRPr lang="en-US" dirty="0"/>
          </a:p>
        </p:txBody>
      </p:sp>
      <p:sp>
        <p:nvSpPr>
          <p:cNvPr id="3" name="Text Placeholder 2"/>
          <p:cNvSpPr>
            <a:spLocks noGrp="1"/>
          </p:cNvSpPr>
          <p:nvPr>
            <p:ph type="body" sz="quarter" idx="10"/>
          </p:nvPr>
        </p:nvSpPr>
        <p:spPr>
          <a:xfrm>
            <a:off x="601791" y="1351128"/>
            <a:ext cx="11223416" cy="4494196"/>
          </a:xfrm>
        </p:spPr>
        <p:txBody>
          <a:bodyPr/>
          <a:lstStyle/>
          <a:p>
            <a:r>
              <a:rPr lang="en-US" sz="1800" dirty="0">
                <a:solidFill>
                  <a:schemeClr val="tx1"/>
                </a:solidFill>
              </a:rPr>
              <a:t>Foster, D. 2019. </a:t>
            </a:r>
            <a:r>
              <a:rPr lang="en-US" sz="1800" i="1" dirty="0">
                <a:solidFill>
                  <a:schemeClr val="tx1"/>
                </a:solidFill>
              </a:rPr>
              <a:t>Generative Deep Learning: Teaching Machines to Paint, Write, Compose, and Play</a:t>
            </a:r>
            <a:r>
              <a:rPr lang="en-US" sz="1800" dirty="0">
                <a:solidFill>
                  <a:schemeClr val="tx1"/>
                </a:solidFill>
              </a:rPr>
              <a:t>. [Online]. Available at: </a:t>
            </a:r>
            <a:r>
              <a:rPr lang="en-US" sz="1800" dirty="0">
                <a:solidFill>
                  <a:schemeClr val="tx1"/>
                </a:solidFill>
                <a:hlinkClick r:id="rId3"/>
              </a:rPr>
              <a:t>https://www.oreilly.com/library/view/generative-deep-learning/9781492041931/</a:t>
            </a:r>
            <a:endParaRPr lang="en-US" sz="1800" dirty="0">
              <a:solidFill>
                <a:schemeClr val="tx1"/>
              </a:solidFill>
            </a:endParaRPr>
          </a:p>
          <a:p>
            <a:r>
              <a:rPr lang="en-US" sz="1800" dirty="0">
                <a:solidFill>
                  <a:schemeClr val="tx1"/>
                </a:solidFill>
              </a:rPr>
              <a:t>Du, N. 2024. </a:t>
            </a:r>
            <a:r>
              <a:rPr lang="en-US" sz="1800" i="1" dirty="0">
                <a:solidFill>
                  <a:schemeClr val="tx1"/>
                </a:solidFill>
              </a:rPr>
              <a:t>Illustrated Guide to Generative AI</a:t>
            </a:r>
            <a:r>
              <a:rPr lang="en-US" sz="1800" dirty="0">
                <a:solidFill>
                  <a:schemeClr val="tx1"/>
                </a:solidFill>
              </a:rPr>
              <a:t>. [Online]. Available at: </a:t>
            </a:r>
            <a:r>
              <a:rPr lang="en-US" sz="1800" dirty="0">
                <a:solidFill>
                  <a:schemeClr val="tx1"/>
                </a:solidFill>
                <a:hlinkClick r:id="rId4"/>
              </a:rPr>
              <a:t>https://www.manning.com/books/illustrated-guide-to-generative-ai</a:t>
            </a:r>
            <a:r>
              <a:rPr lang="en-US" sz="1800" dirty="0">
                <a:solidFill>
                  <a:schemeClr val="tx1"/>
                </a:solidFill>
              </a:rPr>
              <a:t> </a:t>
            </a:r>
            <a:endParaRPr lang="en-GB" sz="1800" dirty="0">
              <a:solidFill>
                <a:schemeClr val="tx1"/>
              </a:solidFill>
            </a:endParaRPr>
          </a:p>
          <a:p>
            <a:r>
              <a:rPr lang="en-GB" sz="1800" dirty="0">
                <a:solidFill>
                  <a:schemeClr val="tx1"/>
                </a:solidFill>
              </a:rPr>
              <a:t>Chan, C.K.Y. &amp; Colloton, T. 2024. </a:t>
            </a:r>
            <a:r>
              <a:rPr lang="en-GB" sz="1800" i="1" dirty="0">
                <a:solidFill>
                  <a:schemeClr val="tx1"/>
                </a:solidFill>
              </a:rPr>
              <a:t>Generative AI in Higher Education: The ChatGPT Effect</a:t>
            </a:r>
            <a:r>
              <a:rPr lang="en-GB" sz="1800" dirty="0">
                <a:solidFill>
                  <a:schemeClr val="tx1"/>
                </a:solidFill>
              </a:rPr>
              <a:t>. [Online]. Available at: </a:t>
            </a:r>
            <a:r>
              <a:rPr lang="en-GB" sz="1800" dirty="0">
                <a:solidFill>
                  <a:schemeClr val="tx1"/>
                </a:solidFill>
                <a:hlinkClick r:id="rId5"/>
              </a:rPr>
              <a:t>https://doi.org/10.4324/9781003459026</a:t>
            </a:r>
            <a:r>
              <a:rPr lang="en-GB" sz="1800" dirty="0">
                <a:solidFill>
                  <a:schemeClr val="tx1"/>
                </a:solidFill>
              </a:rPr>
              <a:t> </a:t>
            </a:r>
          </a:p>
          <a:p>
            <a:r>
              <a:rPr lang="en-GB" sz="1800" dirty="0" err="1">
                <a:solidFill>
                  <a:schemeClr val="tx1"/>
                </a:solidFill>
              </a:rPr>
              <a:t>Lahby</a:t>
            </a:r>
            <a:r>
              <a:rPr lang="en-GB" sz="1800" dirty="0">
                <a:solidFill>
                  <a:schemeClr val="tx1"/>
                </a:solidFill>
              </a:rPr>
              <a:t>, M., Schaeffer, S.E., Maleh, Y. &amp; </a:t>
            </a:r>
            <a:r>
              <a:rPr lang="en-GB" sz="1800" dirty="0" err="1">
                <a:solidFill>
                  <a:schemeClr val="tx1"/>
                </a:solidFill>
              </a:rPr>
              <a:t>Paliktzoglou</a:t>
            </a:r>
            <a:r>
              <a:rPr lang="en-GB" sz="1800" dirty="0">
                <a:solidFill>
                  <a:schemeClr val="tx1"/>
                </a:solidFill>
              </a:rPr>
              <a:t>, V. 2026. </a:t>
            </a:r>
            <a:r>
              <a:rPr lang="en-GB" sz="1800" i="1" dirty="0">
                <a:solidFill>
                  <a:schemeClr val="tx1"/>
                </a:solidFill>
              </a:rPr>
              <a:t>Generative AI in Higher Education Assessment: Theory, Practice, and Ethical Implications</a:t>
            </a:r>
            <a:r>
              <a:rPr lang="en-GB" sz="1800" dirty="0">
                <a:solidFill>
                  <a:schemeClr val="tx1"/>
                </a:solidFill>
              </a:rPr>
              <a:t>. </a:t>
            </a:r>
          </a:p>
          <a:p>
            <a:r>
              <a:rPr lang="en-GB" sz="1800" dirty="0">
                <a:solidFill>
                  <a:schemeClr val="tx1"/>
                </a:solidFill>
              </a:rPr>
              <a:t>Carrigan, M. 2024. </a:t>
            </a:r>
            <a:r>
              <a:rPr lang="en-GB" sz="1800" i="1" dirty="0">
                <a:solidFill>
                  <a:schemeClr val="tx1"/>
                </a:solidFill>
              </a:rPr>
              <a:t>Generative AI for Academics</a:t>
            </a:r>
            <a:r>
              <a:rPr lang="en-GB" sz="1800">
                <a:solidFill>
                  <a:schemeClr val="tx1"/>
                </a:solidFill>
              </a:rPr>
              <a:t>. </a:t>
            </a:r>
            <a:endParaRPr lang="en-GB" sz="1800" dirty="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5" ma:contentTypeDescription="Create a new document." ma:contentTypeScope="" ma:versionID="0a40da80dfba2f26db4fd96ff563ad7b">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11a481746c084991ab5e77ba1922d2a7"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339b10e-c275-4384-8e68-845348d9a81e}" ma:internalName="TaxCatchAll" ma:showField="CatchAllData" ma:web="5086911d-6e48-4cf3-b087-1eb55996af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b1a28a2-5857-4321-9bd8-c602fba5c8bc">
      <Terms xmlns="http://schemas.microsoft.com/office/infopath/2007/PartnerControls"/>
    </lcf76f155ced4ddcb4097134ff3c332f>
    <TaxCatchAll xmlns="5086911d-6e48-4cf3-b087-1eb55996afa6" xsi:nil="true"/>
  </documentManagement>
</p:properties>
</file>

<file path=customXml/itemProps1.xml><?xml version="1.0" encoding="utf-8"?>
<ds:datastoreItem xmlns:ds="http://schemas.openxmlformats.org/officeDocument/2006/customXml" ds:itemID="{9D1262CF-6003-4B6A-BDD3-69870F0CC403}">
  <ds:schemaRefs/>
</ds:datastoreItem>
</file>

<file path=customXml/itemProps2.xml><?xml version="1.0" encoding="utf-8"?>
<ds:datastoreItem xmlns:ds="http://schemas.openxmlformats.org/officeDocument/2006/customXml" ds:itemID="{576738D5-4CD4-4D22-9EDC-7D697560D09E}">
  <ds:schemaRefs/>
</ds:datastoreItem>
</file>

<file path=customXml/itemProps3.xml><?xml version="1.0" encoding="utf-8"?>
<ds:datastoreItem xmlns:ds="http://schemas.openxmlformats.org/officeDocument/2006/customXml" ds:itemID="{497EBD50-27EF-490D-9573-3E13169F3F39}">
  <ds:schemaRefs/>
</ds:datastoreItem>
</file>

<file path=docProps/app.xml><?xml version="1.0" encoding="utf-8"?>
<Properties xmlns="http://schemas.openxmlformats.org/officeDocument/2006/extended-properties" xmlns:vt="http://schemas.openxmlformats.org/officeDocument/2006/docPropsVTypes">
  <Template>Light blue-Cover</Template>
  <TotalTime>0</TotalTime>
  <Words>958</Words>
  <Application>Microsoft Office PowerPoint</Application>
  <PresentationFormat>Widescreen</PresentationFormat>
  <Paragraphs>69</Paragraphs>
  <Slides>25</Slides>
  <Notes>2</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25</vt:i4>
      </vt:variant>
    </vt:vector>
  </HeadingPairs>
  <TitlesOfParts>
    <vt:vector size="35" baseType="lpstr">
      <vt:lpstr>Arial</vt:lpstr>
      <vt:lpstr>Calibri</vt:lpstr>
      <vt:lpstr>NimbusRomNo9L</vt:lpstr>
      <vt:lpstr>sohne</vt:lpstr>
      <vt:lpstr>Söhne</vt:lpstr>
      <vt:lpstr>Light blue-Cover</vt:lpstr>
      <vt:lpstr>Pearson slide</vt:lpstr>
      <vt:lpstr>Light blue-inside slide</vt:lpstr>
      <vt:lpstr>With picture</vt:lpstr>
      <vt:lpstr>1_Back cover</vt:lpstr>
      <vt:lpstr>Applied Machine learning</vt:lpstr>
      <vt:lpstr>Applied Machine learning </vt:lpstr>
      <vt:lpstr>Applied Machine learning</vt:lpstr>
      <vt:lpstr>Learning objectives</vt:lpstr>
      <vt:lpstr>GenAI introduction</vt:lpstr>
      <vt:lpstr>AI so far…</vt:lpstr>
      <vt:lpstr>Generative AI and LLMs</vt:lpstr>
      <vt:lpstr>Types of DL models</vt:lpstr>
      <vt:lpstr>Discriminative vs Generative Technique</vt:lpstr>
      <vt:lpstr>Predictive vs Generative model</vt:lpstr>
      <vt:lpstr>What is not a GenAI?</vt:lpstr>
      <vt:lpstr>GenAI as represented by mathematics?</vt:lpstr>
      <vt:lpstr>GenAI</vt:lpstr>
      <vt:lpstr>Example of GenAI Input/Output</vt:lpstr>
      <vt:lpstr>Example of GenAI Input/Output</vt:lpstr>
      <vt:lpstr>Core component of GenAI: Encoder-Decoder</vt:lpstr>
      <vt:lpstr>Encoder</vt:lpstr>
      <vt:lpstr>Decoder</vt:lpstr>
      <vt:lpstr>Simple Transformer Model</vt:lpstr>
      <vt:lpstr>Large Language Model (LLM)</vt:lpstr>
      <vt:lpstr>A simple LLM in practice</vt:lpstr>
      <vt:lpstr>PowerPoint Presentation</vt:lpstr>
      <vt:lpstr>In-Class Reading &amp; Discussion Task</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Somdip Dey</cp:lastModifiedBy>
  <cp:revision>56</cp:revision>
  <dcterms:created xsi:type="dcterms:W3CDTF">2021-07-24T10:34:00Z</dcterms:created>
  <dcterms:modified xsi:type="dcterms:W3CDTF">2026-03-03T17:54:54Z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y fmtid="{D5CDD505-2E9C-101B-9397-08002B2CF9AE}" pid="3" name="MediaServiceImageTags">
    <vt:lpwstr/>
  </property>
  <property fmtid="{D5CDD505-2E9C-101B-9397-08002B2CF9AE}" pid="4" name="ICV">
    <vt:lpwstr>5C27352977F5489FB31689767F2C01C4_13</vt:lpwstr>
  </property>
  <property fmtid="{D5CDD505-2E9C-101B-9397-08002B2CF9AE}" pid="5" name="KSOProductBuildVer">
    <vt:lpwstr>1033-12.2.0.22549</vt:lpwstr>
  </property>
</Properties>
</file>