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6.xml" ContentType="application/vnd.openxmlformats-officedocument.them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22"/>
  </p:notesMasterIdLst>
  <p:sldIdLst>
    <p:sldId id="261" r:id="rId6"/>
    <p:sldId id="257" r:id="rId7"/>
    <p:sldId id="265" r:id="rId8"/>
    <p:sldId id="306" r:id="rId9"/>
    <p:sldId id="311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12" r:id="rId18"/>
    <p:sldId id="320" r:id="rId19"/>
    <p:sldId id="321" r:id="rId20"/>
    <p:sldId id="2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15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28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12/13/21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bfmFfD2RIcg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g4PchTECck" TargetMode="External"/><Relationship Id="rId2" Type="http://schemas.openxmlformats.org/officeDocument/2006/relationships/hyperlink" Target="https://www.youtube.com/watch?v=GltT9b31fRY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INTRODUCTION TO NEURAL NETWORK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Introduction to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the key concepts associated with Multilayer-perceptron networks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Linear Threshold Unit (LTU)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Perceptron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Biological inspiration 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0700" y="1572551"/>
            <a:ext cx="6267300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Neurons in your cerebral cortex are connected via axons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neuron “fires” to the neurons it’s connected to, when enough of its input signals are activated.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Very simple at the individual neuron level – but layers of neurons connected in this way can yield learning behaviour.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Billions of neurons, each with thousands of connections, yields a mind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7image3812288">
            <a:extLst>
              <a:ext uri="{FF2B5EF4-FFF2-40B4-BE49-F238E27FC236}">
                <a16:creationId xmlns:a16="http://schemas.microsoft.com/office/drawing/2014/main" id="{9BC11043-BDDD-CC4C-8A51-88CA2ABB6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164" y="1949926"/>
            <a:ext cx="5334000" cy="311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Cortical columns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6393903" cy="3815101"/>
          </a:xfrm>
        </p:spPr>
        <p:txBody>
          <a:bodyPr/>
          <a:lstStyle/>
          <a:p>
            <a:r>
              <a:rPr lang="en-GB" dirty="0"/>
              <a:t>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Neurons in your cortex seem to be arranged into many stacks, or “columns” that process information in parallel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“mini-columns” of around 100 neurons are organized into larger “hyper- columns”. There are 100 million mini- columns in your cortex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coincidentally similar to how GPU’s work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8image3801984">
            <a:extLst>
              <a:ext uri="{FF2B5EF4-FFF2-40B4-BE49-F238E27FC236}">
                <a16:creationId xmlns:a16="http://schemas.microsoft.com/office/drawing/2014/main" id="{87DA2290-6CC4-E542-9BBB-A947FA786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724" y="1486020"/>
            <a:ext cx="45593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A8A5178-724C-1849-B3EE-229DB9D93CB2}"/>
              </a:ext>
            </a:extLst>
          </p:cNvPr>
          <p:cNvSpPr/>
          <p:nvPr/>
        </p:nvSpPr>
        <p:spPr>
          <a:xfrm>
            <a:off x="6751437" y="5082889"/>
            <a:ext cx="36984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i="1" dirty="0">
                <a:solidFill>
                  <a:srgbClr val="1E1E1E"/>
                </a:solidFill>
                <a:latin typeface="Arial" panose="020B0604020202020204" pitchFamily="34" charset="0"/>
              </a:rPr>
              <a:t>(credit: Marcel </a:t>
            </a:r>
            <a:r>
              <a:rPr lang="en-GB" i="1" dirty="0" err="1">
                <a:solidFill>
                  <a:srgbClr val="1E1E1E"/>
                </a:solidFill>
                <a:latin typeface="Arial" panose="020B0604020202020204" pitchFamily="34" charset="0"/>
              </a:rPr>
              <a:t>Oberlaender</a:t>
            </a:r>
            <a:r>
              <a:rPr lang="en-GB" i="1" dirty="0">
                <a:solidFill>
                  <a:srgbClr val="1E1E1E"/>
                </a:solidFill>
                <a:latin typeface="Arial" panose="020B0604020202020204" pitchFamily="34" charset="0"/>
              </a:rPr>
              <a:t> et al.) 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The first artificial neuron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6971970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1943 !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 artificial neuron “fires” if more than N input connections are active.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Depending on the number of connections from each input neuron, and whether a connection activates or suppresses a neuron, you can construct AND, OR, and NOT logical constructs this way.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E429B2B-7120-FE41-A557-45D1C4461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353" y="1521449"/>
            <a:ext cx="3682826" cy="30671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86B81C-2019-B14B-A119-2DE8BB18E381}"/>
              </a:ext>
            </a:extLst>
          </p:cNvPr>
          <p:cNvSpPr/>
          <p:nvPr/>
        </p:nvSpPr>
        <p:spPr>
          <a:xfrm>
            <a:off x="4209881" y="505374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This example would implement C = A OR B if the threshold is 2 inputs being active. 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linear THRESHOLD UNIT (LTU)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6525271" cy="3815101"/>
          </a:xfrm>
        </p:spPr>
        <p:txBody>
          <a:bodyPr/>
          <a:lstStyle/>
          <a:p>
            <a:pPr marL="342900" indent="-34290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1957! </a:t>
            </a:r>
          </a:p>
          <a:p>
            <a:pPr marL="342900" indent="-34290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Adds weights to the inputs; output is given by a step function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4B23306-0245-5448-8E80-FB530F02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236" y="1696976"/>
            <a:ext cx="4169098" cy="356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perceptron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0" y="1572551"/>
            <a:ext cx="6549538" cy="3815101"/>
          </a:xfrm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 layer of LTU’s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                                  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MT"/>
              </a:rPr>
              <a:t>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A perceptron can learn by reinforcing weights that lead to correct behavior during training 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This too has a biological basis (“cells that fire together, wire together”) 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8FF3B67-C3E7-0249-B5F6-CB48E2F84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635" y="1507524"/>
            <a:ext cx="4591284" cy="407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Multilayer perceptron (MLP)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50"/>
            <a:ext cx="6071425" cy="1665096"/>
          </a:xfrm>
        </p:spPr>
        <p:txBody>
          <a:bodyPr/>
          <a:lstStyle/>
          <a:p>
            <a:pPr marL="342900" indent="-342900">
              <a:buClr>
                <a:srgbClr val="942D6D"/>
              </a:buClr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Addition of “hidden layers” </a:t>
            </a:r>
          </a:p>
          <a:p>
            <a:pPr marL="342900" indent="-342900">
              <a:buClr>
                <a:srgbClr val="942D6D"/>
              </a:buClr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a Deep Neural Network </a:t>
            </a:r>
          </a:p>
          <a:p>
            <a:pPr marL="342900" indent="-342900">
              <a:buClr>
                <a:srgbClr val="942D6D"/>
              </a:buClr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Training them is trickier – but we’ll talk about that.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ACDC90E-A07C-8847-B9F7-5869F4471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614" y="1136821"/>
            <a:ext cx="4049392" cy="458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Modern deep neural network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7108604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Replace step activation function with something better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Apply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softmax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the output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Training using gradient descent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4B2533CE-5B2F-B847-B191-019CAA4F0933}"/>
              </a:ext>
            </a:extLst>
          </p:cNvPr>
          <p:cNvGrpSpPr/>
          <p:nvPr/>
        </p:nvGrpSpPr>
        <p:grpSpPr>
          <a:xfrm>
            <a:off x="6689522" y="1268266"/>
            <a:ext cx="5032307" cy="4423719"/>
            <a:chOff x="6669665" y="1694077"/>
            <a:chExt cx="5032307" cy="442371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D678C5-FF17-F446-B330-D5D00231A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9665" y="1694077"/>
              <a:ext cx="5032307" cy="4423719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87874C-6C8C-AC43-BF04-B6121D45C866}"/>
                </a:ext>
              </a:extLst>
            </p:cNvPr>
            <p:cNvSpPr/>
            <p:nvPr/>
          </p:nvSpPr>
          <p:spPr>
            <a:xfrm>
              <a:off x="6669665" y="1890584"/>
              <a:ext cx="1831784" cy="3583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2326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Understanding neural network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Can you please watch the video below.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https://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hlinkClick r:id="rId2"/>
              </a:rPr>
              <a:t>www.youtube.com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/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hlinkClick r:id="rId2"/>
              </a:rPr>
              <a:t>watch?v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=bfmFfD2RIcg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023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Gradient decent method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606738-3E7E-104D-8649-13D58A628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523" y="1257672"/>
            <a:ext cx="6096614" cy="396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86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Back-propagation algorithm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Watch the video to understand Backpropagation in more detail.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https://www.youtube.com/watch?v=GltT9b31fRY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Watch the video to understand Gradient Decent  in more detail.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3"/>
              </a:rPr>
              <a:t>https://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hlinkClick r:id="rId3"/>
              </a:rPr>
              <a:t>www.youtube.com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3"/>
              </a:rPr>
              <a:t>/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hlinkClick r:id="rId3"/>
              </a:rPr>
              <a:t>watch?v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3"/>
              </a:rPr>
              <a:t>=qg4PchTECck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109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B777A5-AAE1-404E-BE46-AAB03384F181}"/>
</file>

<file path=customXml/itemProps2.xml><?xml version="1.0" encoding="utf-8"?>
<ds:datastoreItem xmlns:ds="http://schemas.openxmlformats.org/officeDocument/2006/customXml" ds:itemID="{3CD40DF5-7E20-4654-8637-65704B431081}"/>
</file>

<file path=customXml/itemProps3.xml><?xml version="1.0" encoding="utf-8"?>
<ds:datastoreItem xmlns:ds="http://schemas.openxmlformats.org/officeDocument/2006/customXml" ds:itemID="{C81B7E7A-BC5F-47C4-A856-B724C730EA6D}"/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246</TotalTime>
  <Words>441</Words>
  <Application>Microsoft Macintosh PowerPoint</Application>
  <PresentationFormat>Widescreen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ArialMT</vt:lpstr>
      <vt:lpstr>Calibri</vt:lpstr>
      <vt:lpstr>Wingdings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Biological inspiration </vt:lpstr>
      <vt:lpstr>Cortical columns</vt:lpstr>
      <vt:lpstr>The first artificial neuron</vt:lpstr>
      <vt:lpstr>linear THRESHOLD UNIT (LTU)</vt:lpstr>
      <vt:lpstr>perceptron</vt:lpstr>
      <vt:lpstr>Multilayer perceptron (MLP)</vt:lpstr>
      <vt:lpstr>Modern deep neural network</vt:lpstr>
      <vt:lpstr>Understanding neural network</vt:lpstr>
      <vt:lpstr>Gradient decent method</vt:lpstr>
      <vt:lpstr>Back-propagation algorithm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47</cp:revision>
  <dcterms:created xsi:type="dcterms:W3CDTF">2021-07-24T10:34:01Z</dcterms:created>
  <dcterms:modified xsi:type="dcterms:W3CDTF">2021-12-13T10:38:03Z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