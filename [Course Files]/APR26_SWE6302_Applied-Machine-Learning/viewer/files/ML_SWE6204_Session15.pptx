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1.xml" ContentType="application/vnd.openxmlformats-officedocument.presentationml.slide+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5.xml" ContentType="application/vnd.openxmlformats-officedocument.presentationml.slideLayout+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slideLayouts/slideLayout2.xml" ContentType="application/vnd.openxmlformats-officedocument.presentationml.slideLayout+xml"/>
  <Override PartName="/ppt/theme/theme6.xml" ContentType="application/vnd.openxmlformats-officedocument.theme+xml"/>
  <Override PartName="/ppt/theme/theme1.xml" ContentType="application/vnd.openxmlformats-officedocument.theme+xml"/>
  <Override PartName="/ppt/theme/theme5.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2" r:id="rId2"/>
    <p:sldMasterId id="2147483658" r:id="rId3"/>
    <p:sldMasterId id="2147483710" r:id="rId4"/>
    <p:sldMasterId id="2147483706" r:id="rId5"/>
  </p:sldMasterIdLst>
  <p:notesMasterIdLst>
    <p:notesMasterId r:id="rId21"/>
  </p:notesMasterIdLst>
  <p:sldIdLst>
    <p:sldId id="261" r:id="rId6"/>
    <p:sldId id="257" r:id="rId7"/>
    <p:sldId id="265" r:id="rId8"/>
    <p:sldId id="306" r:id="rId9"/>
    <p:sldId id="311" r:id="rId10"/>
    <p:sldId id="318" r:id="rId11"/>
    <p:sldId id="319" r:id="rId12"/>
    <p:sldId id="320" r:id="rId13"/>
    <p:sldId id="312" r:id="rId14"/>
    <p:sldId id="313" r:id="rId15"/>
    <p:sldId id="314" r:id="rId16"/>
    <p:sldId id="315" r:id="rId17"/>
    <p:sldId id="316" r:id="rId18"/>
    <p:sldId id="317" r:id="rId19"/>
    <p:sldId id="2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73061" autoAdjust="0"/>
  </p:normalViewPr>
  <p:slideViewPr>
    <p:cSldViewPr snapToGrid="0">
      <p:cViewPr varScale="1">
        <p:scale>
          <a:sx n="92" d="100"/>
          <a:sy n="92" d="100"/>
        </p:scale>
        <p:origin x="1520" y="16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ommentAuthors" Target="commentAuthors.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12/10/21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3559448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NAÏVE BAYES TECHNIQUE</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NAÏVE BAYES TECHNIQUE</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the Bayes theorem</a:t>
            </a:r>
          </a:p>
          <a:p>
            <a:r>
              <a:rPr lang="en-GB" dirty="0">
                <a:solidFill>
                  <a:schemeClr val="tx1">
                    <a:lumMod val="75000"/>
                    <a:lumOff val="25000"/>
                  </a:schemeClr>
                </a:solidFill>
              </a:rPr>
              <a:t>Understand the how Naïve Bayes algorithm work</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Bayes theorem</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𝑃(𝐴|𝐵) =𝑃( 𝐴 ) 𝑃( 𝐵|𝐴 ) / 𝑃( 𝐵 )</a:t>
            </a:r>
          </a:p>
          <a:p>
            <a:endParaRPr lang="en-GB" dirty="0">
              <a:solidFill>
                <a:schemeClr val="tx1">
                  <a:lumMod val="75000"/>
                  <a:lumOff val="25000"/>
                </a:schemeClr>
              </a:solidFill>
            </a:endParaRPr>
          </a:p>
          <a:p>
            <a:r>
              <a:rPr lang="en-GB" dirty="0">
                <a:solidFill>
                  <a:schemeClr val="tx1">
                    <a:lumMod val="75000"/>
                    <a:lumOff val="25000"/>
                  </a:schemeClr>
                </a:solidFill>
              </a:rPr>
              <a:t>Let’s use it for machine learning! I want a spam classifier. </a:t>
            </a:r>
          </a:p>
          <a:p>
            <a:r>
              <a:rPr lang="en-GB" dirty="0">
                <a:solidFill>
                  <a:schemeClr val="tx1">
                    <a:lumMod val="75000"/>
                    <a:lumOff val="25000"/>
                  </a:schemeClr>
                </a:solidFill>
              </a:rPr>
              <a:t>Example: how would we express the probability of an email being spam if contains the word “free”? </a:t>
            </a:r>
          </a:p>
          <a:p>
            <a:endParaRPr lang="en-GB" dirty="0">
              <a:solidFill>
                <a:schemeClr val="tx1">
                  <a:lumMod val="75000"/>
                  <a:lumOff val="25000"/>
                </a:schemeClr>
              </a:solidFill>
            </a:endParaRPr>
          </a:p>
          <a:p>
            <a:r>
              <a:rPr lang="en-GB" dirty="0">
                <a:solidFill>
                  <a:schemeClr val="tx1">
                    <a:lumMod val="75000"/>
                    <a:lumOff val="25000"/>
                  </a:schemeClr>
                </a:solidFill>
              </a:rPr>
              <a:t>𝑃(𝑆𝑝𝑎𝑚 | 𝐹𝑟𝑒𝑒)=𝑃(𝑆𝑝𝑎𝑚)𝑃(𝐹𝑟𝑒𝑒 |𝑆𝑝𝑎𝑚) / 𝑃(𝐹𝑟𝑒𝑒) </a:t>
            </a:r>
          </a:p>
          <a:p>
            <a:pPr marL="342900" indent="-342900">
              <a:buClr>
                <a:schemeClr val="accent1"/>
              </a:buClr>
              <a:buFont typeface="Wingdings" pitchFamily="2" charset="2"/>
              <a:buChar char="§"/>
            </a:pPr>
            <a:endParaRPr lang="en-GB" dirty="0"/>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00870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Bayes theorem</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342900" indent="-342900">
              <a:buFont typeface="Wingdings" pitchFamily="2" charset="2"/>
              <a:buChar char="§"/>
            </a:pPr>
            <a:r>
              <a:rPr lang="en-GB" dirty="0">
                <a:solidFill>
                  <a:schemeClr val="tx1">
                    <a:lumMod val="75000"/>
                    <a:lumOff val="25000"/>
                  </a:schemeClr>
                </a:solidFill>
              </a:rPr>
              <a:t>The numerator is the probability of a message being spam and containing the word “free” (this is subtly different from what we’re looking for) </a:t>
            </a:r>
          </a:p>
          <a:p>
            <a:pPr marL="342900" indent="-342900">
              <a:buFont typeface="Wingdings" pitchFamily="2" charset="2"/>
              <a:buChar char="§"/>
            </a:pPr>
            <a:r>
              <a:rPr lang="en-GB" dirty="0">
                <a:solidFill>
                  <a:schemeClr val="tx1">
                    <a:lumMod val="75000"/>
                    <a:lumOff val="25000"/>
                  </a:schemeClr>
                </a:solidFill>
              </a:rPr>
              <a:t>The denominator is the overall probability of an email containing the word “free”. (Equivalent to P(</a:t>
            </a:r>
            <a:r>
              <a:rPr lang="en-GB" dirty="0" err="1">
                <a:solidFill>
                  <a:schemeClr val="tx1">
                    <a:lumMod val="75000"/>
                    <a:lumOff val="25000"/>
                  </a:schemeClr>
                </a:solidFill>
              </a:rPr>
              <a:t>Free|Spam</a:t>
            </a:r>
            <a:r>
              <a:rPr lang="en-GB" dirty="0">
                <a:solidFill>
                  <a:schemeClr val="tx1">
                    <a:lumMod val="75000"/>
                    <a:lumOff val="25000"/>
                  </a:schemeClr>
                </a:solidFill>
              </a:rPr>
              <a:t>)P(Spam) + P(</a:t>
            </a:r>
            <a:r>
              <a:rPr lang="en-GB" dirty="0" err="1">
                <a:solidFill>
                  <a:schemeClr val="tx1">
                    <a:lumMod val="75000"/>
                    <a:lumOff val="25000"/>
                  </a:schemeClr>
                </a:solidFill>
              </a:rPr>
              <a:t>Free|Not</a:t>
            </a:r>
            <a:r>
              <a:rPr lang="en-GB" dirty="0">
                <a:solidFill>
                  <a:schemeClr val="tx1">
                    <a:lumMod val="75000"/>
                    <a:lumOff val="25000"/>
                  </a:schemeClr>
                </a:solidFill>
              </a:rPr>
              <a:t> Spam)P(Not Spam)) </a:t>
            </a:r>
          </a:p>
          <a:p>
            <a:pPr marL="342900" indent="-342900">
              <a:buFont typeface="Wingdings" pitchFamily="2" charset="2"/>
              <a:buChar char="§"/>
            </a:pPr>
            <a:r>
              <a:rPr lang="en-GB" dirty="0">
                <a:solidFill>
                  <a:schemeClr val="tx1">
                    <a:lumMod val="75000"/>
                    <a:lumOff val="25000"/>
                  </a:schemeClr>
                </a:solidFill>
              </a:rPr>
              <a:t>So together – this ratio is the % of emails with the word “free” that are spam.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51369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What about all the other words?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 We can construct P(Spam | Word) for every (meaningful) word we encounter during training </a:t>
            </a:r>
          </a:p>
          <a:p>
            <a:r>
              <a:rPr lang="en-GB" dirty="0">
                <a:solidFill>
                  <a:schemeClr val="tx1">
                    <a:lumMod val="75000"/>
                    <a:lumOff val="25000"/>
                  </a:schemeClr>
                </a:solidFill>
              </a:rPr>
              <a:t>Then multiply these together when analysing a new email to get the probability of it being spam.</a:t>
            </a:r>
          </a:p>
          <a:p>
            <a:r>
              <a:rPr lang="en-GB" dirty="0">
                <a:solidFill>
                  <a:schemeClr val="tx1">
                    <a:lumMod val="75000"/>
                    <a:lumOff val="25000"/>
                  </a:schemeClr>
                </a:solidFill>
              </a:rPr>
              <a:t>Assumes the presence of different words are independent of each other – one reason this is called “</a:t>
            </a:r>
            <a:r>
              <a:rPr lang="en-GB" dirty="0" err="1">
                <a:solidFill>
                  <a:schemeClr val="tx1">
                    <a:lumMod val="75000"/>
                    <a:lumOff val="25000"/>
                  </a:schemeClr>
                </a:solidFill>
              </a:rPr>
              <a:t>Naïve</a:t>
            </a:r>
            <a:r>
              <a:rPr lang="en-GB" dirty="0">
                <a:solidFill>
                  <a:schemeClr val="tx1">
                    <a:lumMod val="75000"/>
                    <a:lumOff val="25000"/>
                  </a:schemeClr>
                </a:solidFill>
              </a:rPr>
              <a:t> Bayes”.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85165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Python coding</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Scikit-learn to the rescue! </a:t>
            </a:r>
          </a:p>
          <a:p>
            <a:r>
              <a:rPr lang="en-GB" dirty="0">
                <a:solidFill>
                  <a:schemeClr val="tx1">
                    <a:lumMod val="75000"/>
                    <a:lumOff val="25000"/>
                  </a:schemeClr>
                </a:solidFill>
              </a:rPr>
              <a:t>The </a:t>
            </a:r>
            <a:r>
              <a:rPr lang="en-GB" dirty="0" err="1">
                <a:solidFill>
                  <a:schemeClr val="tx1">
                    <a:lumMod val="75000"/>
                    <a:lumOff val="25000"/>
                  </a:schemeClr>
                </a:solidFill>
              </a:rPr>
              <a:t>CountVectorizer</a:t>
            </a:r>
            <a:r>
              <a:rPr lang="en-GB" dirty="0">
                <a:solidFill>
                  <a:schemeClr val="tx1">
                    <a:lumMod val="75000"/>
                    <a:lumOff val="25000"/>
                  </a:schemeClr>
                </a:solidFill>
              </a:rPr>
              <a:t> lets us operate on lots of words at once, and </a:t>
            </a:r>
            <a:r>
              <a:rPr lang="en-GB" dirty="0" err="1">
                <a:solidFill>
                  <a:schemeClr val="tx1">
                    <a:lumMod val="75000"/>
                    <a:lumOff val="25000"/>
                  </a:schemeClr>
                </a:solidFill>
              </a:rPr>
              <a:t>MultinomialNB</a:t>
            </a:r>
            <a:r>
              <a:rPr lang="en-GB" dirty="0">
                <a:solidFill>
                  <a:schemeClr val="tx1">
                    <a:lumMod val="75000"/>
                    <a:lumOff val="25000"/>
                  </a:schemeClr>
                </a:solidFill>
              </a:rPr>
              <a:t> does all the heavy lifting on </a:t>
            </a:r>
            <a:r>
              <a:rPr lang="en-GB" dirty="0" err="1">
                <a:solidFill>
                  <a:schemeClr val="tx1">
                    <a:lumMod val="75000"/>
                    <a:lumOff val="25000"/>
                  </a:schemeClr>
                </a:solidFill>
              </a:rPr>
              <a:t>Naïve</a:t>
            </a:r>
            <a:r>
              <a:rPr lang="en-GB" dirty="0">
                <a:solidFill>
                  <a:schemeClr val="tx1">
                    <a:lumMod val="75000"/>
                    <a:lumOff val="25000"/>
                  </a:schemeClr>
                </a:solidFill>
              </a:rPr>
              <a:t> Bayes. </a:t>
            </a:r>
          </a:p>
          <a:p>
            <a:r>
              <a:rPr lang="en-GB" dirty="0">
                <a:solidFill>
                  <a:schemeClr val="tx1">
                    <a:lumMod val="75000"/>
                    <a:lumOff val="25000"/>
                  </a:schemeClr>
                </a:solidFill>
              </a:rPr>
              <a:t>We’ll train it on known sets of spam and “ham” (non-spam) emails </a:t>
            </a:r>
          </a:p>
          <a:p>
            <a:r>
              <a:rPr lang="en-GB" dirty="0">
                <a:solidFill>
                  <a:schemeClr val="tx1">
                    <a:lumMod val="75000"/>
                    <a:lumOff val="25000"/>
                  </a:schemeClr>
                </a:solidFill>
              </a:rPr>
              <a:t>	▫ So this is supervised learning! </a:t>
            </a:r>
          </a:p>
          <a:p>
            <a:r>
              <a:rPr lang="en-GB" dirty="0">
                <a:solidFill>
                  <a:schemeClr val="tx1">
                    <a:lumMod val="75000"/>
                    <a:lumOff val="25000"/>
                  </a:schemeClr>
                </a:solidFill>
              </a:rPr>
              <a:t>Let’s do this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2868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How naïve Bayes algorithm works?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0" y="1521449"/>
            <a:ext cx="9603745" cy="3815101"/>
          </a:xfrm>
        </p:spPr>
        <p:txBody>
          <a:bodyPr/>
          <a:lstStyle/>
          <a:p>
            <a:r>
              <a:rPr lang="en-GB" dirty="0">
                <a:solidFill>
                  <a:schemeClr val="tx1">
                    <a:lumMod val="75000"/>
                    <a:lumOff val="25000"/>
                  </a:schemeClr>
                </a:solidFill>
              </a:rPr>
              <a:t>Let’s understand it using an example. Below I have a training data set of weather and corresponding target variable ‘Play’ (suggesting possibilities of playing). Now, we need to classify whether players will play or not based on weather condition. Let’s follow the below steps to perform it.</a:t>
            </a:r>
          </a:p>
          <a:p>
            <a:endParaRPr lang="en-GB" dirty="0">
              <a:solidFill>
                <a:schemeClr val="tx1">
                  <a:lumMod val="75000"/>
                  <a:lumOff val="25000"/>
                </a:schemeClr>
              </a:solidFill>
            </a:endParaRPr>
          </a:p>
          <a:p>
            <a:r>
              <a:rPr lang="en-GB" dirty="0">
                <a:solidFill>
                  <a:schemeClr val="tx1">
                    <a:lumMod val="75000"/>
                    <a:lumOff val="25000"/>
                  </a:schemeClr>
                </a:solidFill>
              </a:rPr>
              <a:t>Step 1</a:t>
            </a:r>
            <a:r>
              <a:rPr lang="en-GB" i="1" dirty="0">
                <a:solidFill>
                  <a:schemeClr val="tx1">
                    <a:lumMod val="75000"/>
                    <a:lumOff val="25000"/>
                  </a:schemeClr>
                </a:solidFill>
              </a:rPr>
              <a:t> - </a:t>
            </a:r>
            <a:r>
              <a:rPr lang="en-GB" dirty="0">
                <a:solidFill>
                  <a:schemeClr val="tx1">
                    <a:lumMod val="75000"/>
                    <a:lumOff val="25000"/>
                  </a:schemeClr>
                </a:solidFill>
              </a:rPr>
              <a:t>Convert the data set into a frequency table</a:t>
            </a:r>
          </a:p>
          <a:p>
            <a:r>
              <a:rPr lang="en-GB" dirty="0">
                <a:solidFill>
                  <a:schemeClr val="tx1">
                    <a:lumMod val="75000"/>
                    <a:lumOff val="25000"/>
                  </a:schemeClr>
                </a:solidFill>
              </a:rPr>
              <a:t>Step 2 - Create Likelihood table by finding the probabilities</a:t>
            </a:r>
            <a:endParaRPr lang="en-GB" i="1"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ADA1DC89-8D30-7540-821A-5B0BD5E30915}"/>
              </a:ext>
            </a:extLst>
          </p:cNvPr>
          <p:cNvPicPr>
            <a:picLocks noChangeAspect="1"/>
          </p:cNvPicPr>
          <p:nvPr/>
        </p:nvPicPr>
        <p:blipFill>
          <a:blip r:embed="rId2"/>
          <a:stretch>
            <a:fillRect/>
          </a:stretch>
        </p:blipFill>
        <p:spPr>
          <a:xfrm>
            <a:off x="10019198" y="1514522"/>
            <a:ext cx="1936062" cy="3802357"/>
          </a:xfrm>
          <a:prstGeom prst="rect">
            <a:avLst/>
          </a:prstGeom>
        </p:spPr>
      </p:pic>
    </p:spTree>
    <p:extLst>
      <p:ext uri="{BB962C8B-B14F-4D97-AF65-F5344CB8AC3E}">
        <p14:creationId xmlns:p14="http://schemas.microsoft.com/office/powerpoint/2010/main" val="2607557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Frequency table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Table 6">
            <a:extLst>
              <a:ext uri="{FF2B5EF4-FFF2-40B4-BE49-F238E27FC236}">
                <a16:creationId xmlns:a16="http://schemas.microsoft.com/office/drawing/2014/main" id="{32E76C46-14EE-AD4C-9432-E9E2FA9BC275}"/>
              </a:ext>
            </a:extLst>
          </p:cNvPr>
          <p:cNvGraphicFramePr>
            <a:graphicFrameLocks noGrp="1"/>
          </p:cNvGraphicFramePr>
          <p:nvPr>
            <p:extLst>
              <p:ext uri="{D42A27DB-BD31-4B8C-83A1-F6EECF244321}">
                <p14:modId xmlns:p14="http://schemas.microsoft.com/office/powerpoint/2010/main" val="2040529336"/>
              </p:ext>
            </p:extLst>
          </p:nvPr>
        </p:nvGraphicFramePr>
        <p:xfrm>
          <a:off x="1948070" y="1825644"/>
          <a:ext cx="6808299" cy="3504536"/>
        </p:xfrm>
        <a:graphic>
          <a:graphicData uri="http://schemas.openxmlformats.org/drawingml/2006/table">
            <a:tbl>
              <a:tblPr>
                <a:tableStyleId>{5C22544A-7EE6-4342-B048-85BDC9FD1C3A}</a:tableStyleId>
              </a:tblPr>
              <a:tblGrid>
                <a:gridCol w="2269433">
                  <a:extLst>
                    <a:ext uri="{9D8B030D-6E8A-4147-A177-3AD203B41FA5}">
                      <a16:colId xmlns:a16="http://schemas.microsoft.com/office/drawing/2014/main" val="279423398"/>
                    </a:ext>
                  </a:extLst>
                </a:gridCol>
                <a:gridCol w="2269433">
                  <a:extLst>
                    <a:ext uri="{9D8B030D-6E8A-4147-A177-3AD203B41FA5}">
                      <a16:colId xmlns:a16="http://schemas.microsoft.com/office/drawing/2014/main" val="2249005353"/>
                    </a:ext>
                  </a:extLst>
                </a:gridCol>
                <a:gridCol w="2269433">
                  <a:extLst>
                    <a:ext uri="{9D8B030D-6E8A-4147-A177-3AD203B41FA5}">
                      <a16:colId xmlns:a16="http://schemas.microsoft.com/office/drawing/2014/main" val="1675907287"/>
                    </a:ext>
                  </a:extLst>
                </a:gridCol>
              </a:tblGrid>
              <a:tr h="500648">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Frequnecy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1781784202"/>
                  </a:ext>
                </a:extLst>
              </a:tr>
              <a:tr h="500648">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12048453"/>
                  </a:ext>
                </a:extLst>
              </a:tr>
              <a:tr h="500648">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64887118"/>
                  </a:ext>
                </a:extLst>
              </a:tr>
              <a:tr h="500648">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30854577"/>
                  </a:ext>
                </a:extLst>
              </a:tr>
              <a:tr h="500648">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8037706"/>
                  </a:ext>
                </a:extLst>
              </a:tr>
              <a:tr h="500648">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70664418"/>
                  </a:ext>
                </a:extLst>
              </a:tr>
              <a:tr h="500648">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88246464"/>
                  </a:ext>
                </a:extLst>
              </a:tr>
            </a:tbl>
          </a:graphicData>
        </a:graphic>
      </p:graphicFrame>
      <p:pic>
        <p:nvPicPr>
          <p:cNvPr id="8" name="Picture 7">
            <a:extLst>
              <a:ext uri="{FF2B5EF4-FFF2-40B4-BE49-F238E27FC236}">
                <a16:creationId xmlns:a16="http://schemas.microsoft.com/office/drawing/2014/main" id="{E5EF24EC-BFFB-EF48-BE9F-E912F97D40F8}"/>
              </a:ext>
            </a:extLst>
          </p:cNvPr>
          <p:cNvPicPr>
            <a:picLocks noChangeAspect="1"/>
          </p:cNvPicPr>
          <p:nvPr/>
        </p:nvPicPr>
        <p:blipFill>
          <a:blip r:embed="rId2"/>
          <a:stretch>
            <a:fillRect/>
          </a:stretch>
        </p:blipFill>
        <p:spPr>
          <a:xfrm>
            <a:off x="9493929" y="1392865"/>
            <a:ext cx="1936062" cy="3802357"/>
          </a:xfrm>
          <a:prstGeom prst="rect">
            <a:avLst/>
          </a:prstGeom>
        </p:spPr>
      </p:pic>
    </p:spTree>
    <p:extLst>
      <p:ext uri="{BB962C8B-B14F-4D97-AF65-F5344CB8AC3E}">
        <p14:creationId xmlns:p14="http://schemas.microsoft.com/office/powerpoint/2010/main" val="100951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Likelihood table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9" name="Table 8">
            <a:extLst>
              <a:ext uri="{FF2B5EF4-FFF2-40B4-BE49-F238E27FC236}">
                <a16:creationId xmlns:a16="http://schemas.microsoft.com/office/drawing/2014/main" id="{1BB1775D-6A22-164C-91DD-CD95019DB42B}"/>
              </a:ext>
            </a:extLst>
          </p:cNvPr>
          <p:cNvGraphicFramePr>
            <a:graphicFrameLocks noGrp="1"/>
          </p:cNvGraphicFramePr>
          <p:nvPr>
            <p:extLst>
              <p:ext uri="{D42A27DB-BD31-4B8C-83A1-F6EECF244321}">
                <p14:modId xmlns:p14="http://schemas.microsoft.com/office/powerpoint/2010/main" val="3588535225"/>
              </p:ext>
            </p:extLst>
          </p:nvPr>
        </p:nvGraphicFramePr>
        <p:xfrm>
          <a:off x="2960874" y="2034304"/>
          <a:ext cx="5802240" cy="2789392"/>
        </p:xfrm>
        <a:graphic>
          <a:graphicData uri="http://schemas.openxmlformats.org/drawingml/2006/table">
            <a:tbl>
              <a:tblPr>
                <a:tableStyleId>{5C22544A-7EE6-4342-B048-85BDC9FD1C3A}</a:tableStyleId>
              </a:tblPr>
              <a:tblGrid>
                <a:gridCol w="1450560">
                  <a:extLst>
                    <a:ext uri="{9D8B030D-6E8A-4147-A177-3AD203B41FA5}">
                      <a16:colId xmlns:a16="http://schemas.microsoft.com/office/drawing/2014/main" val="555728294"/>
                    </a:ext>
                  </a:extLst>
                </a:gridCol>
                <a:gridCol w="1450560">
                  <a:extLst>
                    <a:ext uri="{9D8B030D-6E8A-4147-A177-3AD203B41FA5}">
                      <a16:colId xmlns:a16="http://schemas.microsoft.com/office/drawing/2014/main" val="9503645"/>
                    </a:ext>
                  </a:extLst>
                </a:gridCol>
                <a:gridCol w="1450560">
                  <a:extLst>
                    <a:ext uri="{9D8B030D-6E8A-4147-A177-3AD203B41FA5}">
                      <a16:colId xmlns:a16="http://schemas.microsoft.com/office/drawing/2014/main" val="3547051541"/>
                    </a:ext>
                  </a:extLst>
                </a:gridCol>
                <a:gridCol w="1450560">
                  <a:extLst>
                    <a:ext uri="{9D8B030D-6E8A-4147-A177-3AD203B41FA5}">
                      <a16:colId xmlns:a16="http://schemas.microsoft.com/office/drawing/2014/main" val="1874212140"/>
                    </a:ext>
                  </a:extLst>
                </a:gridCol>
              </a:tblGrid>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Likelyhood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6125863"/>
                  </a:ext>
                </a:extLst>
              </a:tr>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68882001"/>
                  </a:ext>
                </a:extLst>
              </a:tr>
              <a:tr h="348674">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21477"/>
                  </a:ext>
                </a:extLst>
              </a:tr>
              <a:tr h="348674">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0.29</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0546827"/>
                  </a:ext>
                </a:extLst>
              </a:tr>
              <a:tr h="348674">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53468235"/>
                  </a:ext>
                </a:extLst>
              </a:tr>
              <a:tr h="348674">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9943776"/>
                  </a:ext>
                </a:extLst>
              </a:tr>
              <a:tr h="348674">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6672418"/>
                  </a:ext>
                </a:extLst>
              </a:tr>
              <a:tr h="348674">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0.64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7598945"/>
                  </a:ext>
                </a:extLst>
              </a:tr>
            </a:tbl>
          </a:graphicData>
        </a:graphic>
      </p:graphicFrame>
    </p:spTree>
    <p:extLst>
      <p:ext uri="{BB962C8B-B14F-4D97-AF65-F5344CB8AC3E}">
        <p14:creationId xmlns:p14="http://schemas.microsoft.com/office/powerpoint/2010/main" val="1345781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err="1">
                <a:solidFill>
                  <a:srgbClr val="942D6D"/>
                </a:solidFill>
              </a:rPr>
              <a:t>Probabilty</a:t>
            </a:r>
            <a:r>
              <a:rPr lang="en-GB" dirty="0">
                <a:solidFill>
                  <a:srgbClr val="942D6D"/>
                </a:solidFill>
              </a:rPr>
              <a:t>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P(</a:t>
            </a:r>
            <a:r>
              <a:rPr lang="en-US" dirty="0" err="1">
                <a:solidFill>
                  <a:schemeClr val="tx1">
                    <a:lumMod val="75000"/>
                    <a:lumOff val="25000"/>
                  </a:schemeClr>
                </a:solidFill>
              </a:rPr>
              <a:t>Yes|Sunny</a:t>
            </a:r>
            <a:r>
              <a:rPr lang="en-US" dirty="0">
                <a:solidFill>
                  <a:schemeClr val="tx1">
                    <a:lumMod val="75000"/>
                    <a:lumOff val="25000"/>
                  </a:schemeClr>
                </a:solidFill>
              </a:rPr>
              <a:t>)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76343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answer</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81D43CCB-4528-4246-A667-719B75C5AD96}"/>
              </a:ext>
            </a:extLst>
          </p:cNvPr>
          <p:cNvPicPr>
            <a:picLocks noChangeAspect="1"/>
          </p:cNvPicPr>
          <p:nvPr/>
        </p:nvPicPr>
        <p:blipFill>
          <a:blip r:embed="rId2"/>
          <a:stretch>
            <a:fillRect/>
          </a:stretch>
        </p:blipFill>
        <p:spPr>
          <a:xfrm>
            <a:off x="958850" y="2095500"/>
            <a:ext cx="10274300" cy="2667000"/>
          </a:xfrm>
          <a:prstGeom prst="rect">
            <a:avLst/>
          </a:prstGeom>
        </p:spPr>
      </p:pic>
    </p:spTree>
    <p:extLst>
      <p:ext uri="{BB962C8B-B14F-4D97-AF65-F5344CB8AC3E}">
        <p14:creationId xmlns:p14="http://schemas.microsoft.com/office/powerpoint/2010/main" val="3859191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F9C9D5-3B5B-443D-A18E-33AD3D81CD07}"/>
</file>

<file path=customXml/itemProps2.xml><?xml version="1.0" encoding="utf-8"?>
<ds:datastoreItem xmlns:ds="http://schemas.openxmlformats.org/officeDocument/2006/customXml" ds:itemID="{6C646771-6858-4219-8EED-568113B40FBA}"/>
</file>

<file path=customXml/itemProps3.xml><?xml version="1.0" encoding="utf-8"?>
<ds:datastoreItem xmlns:ds="http://schemas.openxmlformats.org/officeDocument/2006/customXml" ds:itemID="{99EB430B-3238-4720-AB36-9310149DF86F}"/>
</file>

<file path=docProps/app.xml><?xml version="1.0" encoding="utf-8"?>
<Properties xmlns="http://schemas.openxmlformats.org/officeDocument/2006/extended-properties" xmlns:vt="http://schemas.openxmlformats.org/officeDocument/2006/docPropsVTypes">
  <Template>Light blue-Cover</Template>
  <TotalTime>226</TotalTime>
  <Words>484</Words>
  <Application>Microsoft Macintosh PowerPoint</Application>
  <PresentationFormat>Widescreen</PresentationFormat>
  <Paragraphs>90</Paragraphs>
  <Slides>15</Slides>
  <Notes>1</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15</vt:i4>
      </vt:variant>
    </vt:vector>
  </HeadingPairs>
  <TitlesOfParts>
    <vt:vector size="23" baseType="lpstr">
      <vt:lpstr>Arial</vt:lpstr>
      <vt:lpstr>Calibri</vt:lpstr>
      <vt:lpstr>Wingdings</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Bayes theorem</vt:lpstr>
      <vt:lpstr>Bayes theorem</vt:lpstr>
      <vt:lpstr>What about all the other words?</vt:lpstr>
      <vt:lpstr>Python coding</vt:lpstr>
      <vt:lpstr>How naïve Bayes algorithm works?</vt:lpstr>
      <vt:lpstr>Frequency table</vt:lpstr>
      <vt:lpstr>Likelihood table</vt:lpstr>
      <vt:lpstr>Probabilty </vt:lpstr>
      <vt:lpstr>answer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Nalinda Somasiri</cp:lastModifiedBy>
  <cp:revision>41</cp:revision>
  <dcterms:created xsi:type="dcterms:W3CDTF">2021-07-24T10:34:01Z</dcterms:created>
  <dcterms:modified xsi:type="dcterms:W3CDTF">2021-12-10T16:05:55Z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ies>
</file>