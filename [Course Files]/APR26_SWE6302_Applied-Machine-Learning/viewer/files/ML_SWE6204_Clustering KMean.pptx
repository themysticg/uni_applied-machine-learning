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  <p:sldMasterId id="2147483732" r:id="rId5"/>
    <p:sldMasterId id="2147483658" r:id="rId6"/>
    <p:sldMasterId id="2147483710" r:id="rId7"/>
    <p:sldMasterId id="2147483706" r:id="rId8"/>
  </p:sldMasterIdLst>
  <p:notesMasterIdLst>
    <p:notesMasterId r:id="rId33"/>
  </p:notesMasterIdLst>
  <p:sldIdLst>
    <p:sldId id="261" r:id="rId9"/>
    <p:sldId id="257" r:id="rId10"/>
    <p:sldId id="265" r:id="rId11"/>
    <p:sldId id="306" r:id="rId12"/>
    <p:sldId id="311" r:id="rId13"/>
    <p:sldId id="313" r:id="rId14"/>
    <p:sldId id="314" r:id="rId15"/>
    <p:sldId id="321" r:id="rId16"/>
    <p:sldId id="322" r:id="rId17"/>
    <p:sldId id="323" r:id="rId18"/>
    <p:sldId id="324" r:id="rId19"/>
    <p:sldId id="315" r:id="rId20"/>
    <p:sldId id="316" r:id="rId21"/>
    <p:sldId id="317" r:id="rId22"/>
    <p:sldId id="318" r:id="rId23"/>
    <p:sldId id="325" r:id="rId24"/>
    <p:sldId id="326" r:id="rId25"/>
    <p:sldId id="319" r:id="rId26"/>
    <p:sldId id="330" r:id="rId27"/>
    <p:sldId id="320" r:id="rId28"/>
    <p:sldId id="327" r:id="rId29"/>
    <p:sldId id="328" r:id="rId30"/>
    <p:sldId id="329" r:id="rId31"/>
    <p:sldId id="26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40" autoAdjust="0"/>
    <p:restoredTop sz="73061" autoAdjust="0"/>
  </p:normalViewPr>
  <p:slideViewPr>
    <p:cSldViewPr snapToGrid="0">
      <p:cViewPr varScale="1">
        <p:scale>
          <a:sx n="81" d="100"/>
          <a:sy n="81" d="100"/>
        </p:scale>
        <p:origin x="141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7/22/2024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352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753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168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30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45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0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3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0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3868" y="839558"/>
            <a:ext cx="2149506" cy="1065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8" y="789413"/>
            <a:ext cx="3468947" cy="1619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00" y="5835495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02" y="788182"/>
            <a:ext cx="3466926" cy="162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456" y="843742"/>
            <a:ext cx="2149506" cy="1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30" y="536045"/>
            <a:ext cx="1605949" cy="720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982061"/>
            <a:ext cx="12192000" cy="875939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3239" y="6092032"/>
            <a:ext cx="1253879" cy="6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64" y="5569783"/>
            <a:ext cx="1433004" cy="71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1" y="5568969"/>
            <a:ext cx="160595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/>
          <a:stretch/>
        </p:blipFill>
        <p:spPr>
          <a:xfrm>
            <a:off x="1814513" y="3016664"/>
            <a:ext cx="8562975" cy="3841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60" y="1067668"/>
            <a:ext cx="3854386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9792" y="4898051"/>
            <a:ext cx="1433004" cy="7106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7" y="5412938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1XqG0kaJVH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w3schools.com/python/python_ml_k-means.asp" TargetMode="External"/><Relationship Id="rId5" Type="http://schemas.openxmlformats.org/officeDocument/2006/relationships/hyperlink" Target="https://developers.google.com/machine-learning/clustering/clustering-algorithms" TargetMode="External"/><Relationship Id="rId4" Type="http://schemas.openxmlformats.org/officeDocument/2006/relationships/hyperlink" Target="https://www.youtube.com/watch?v=4jv1pUrG0Zk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INTRODUCTION TO </a:t>
            </a:r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CLUSTERING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68" y="1704061"/>
            <a:ext cx="6551188" cy="3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</a:t>
            </a:r>
            <a:r>
              <a:rPr lang="en-GB" dirty="0" err="1"/>
              <a:t>INTRODUCTIOn</a:t>
            </a:r>
            <a:r>
              <a:rPr lang="en-GB" dirty="0"/>
              <a:t> TO clustering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Critically understand how classification is carried out depending on the classifier used 	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Interpret the classification output and the metrics to evaluate classifiers 	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Clustering Techniques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Classification -key concepts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most common application of supervised machine learning is building classification models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One-class learning: the goal is to predict if a sample belongs to the class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Two-class learning (binary classification): the objective is to find a boundary able to separate the 2 classes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Multi-class learning: the objective is to find the boundaries able to separate the classes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55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Predict unseen data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50"/>
            <a:ext cx="10712388" cy="778406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can we make a good prediction of yet unseen data?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4image1823104">
            <a:extLst>
              <a:ext uri="{FF2B5EF4-FFF2-40B4-BE49-F238E27FC236}">
                <a16:creationId xmlns:a16="http://schemas.microsoft.com/office/drawing/2014/main" id="{6E579741-C141-E348-9054-8C2F66650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427" y="2878611"/>
            <a:ext cx="5085289" cy="2509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51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algorithm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Machine learning algorithm?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A machine learning algorithm is an algorithm that is able to learn from experience. 	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 ?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 A computer program is said to learn from experience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respect to some 	class of tasks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performance measure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if its performance at tasks in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as 	measured by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P,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improves with experience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–  For every machine learning algorithm, need to define what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	     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are!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111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Task : 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process of learning itself is not the task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 is our means of attaining the ability to perform the task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-if we want a robot to be able to walk, then walking is the task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Machine learning tasks are usually described in terms of how the 	machine learning system should process an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 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-An example is a collection of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that have been 	quantitatively measured from some object or event that we want 	the machine learning system to process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192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Task : 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Typically, an example is represented as a vector 𝒙 ∈ Rn where each entry 𝑥𝑖 of the vector is a feature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- The features of an image are the values of the pixels in the 	  	image </a:t>
            </a:r>
          </a:p>
          <a:p>
            <a:pPr marL="0" indent="0">
              <a:buClr>
                <a:schemeClr val="accent1"/>
              </a:buClr>
              <a:buNone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632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Task : 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The most common machine learning tasks are: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Classification: the computer program is asked to specify which of 𝑘 	categories some input belongs to.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- Object recognition: pedestrians, cars, buses...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Regression: the computer program is asked to predict a numerical   value 	given some input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   -Prediction of the expected claim amount that an insured      		      person will make (used to set insurance premiums)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25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Task : 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Transcription: the machine learning system is asked to observe a relatively unstructured representation of some kind of data and transcribe it into discrete, textual form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Optical character recognition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Speech recognition (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siri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etc...)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781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Task : 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9806" y="1029056"/>
            <a:ext cx="10712388" cy="3815101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other most common machine learning tasks are: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Machine translation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Anomaly detection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Synthesis and sampling: the machine learning algorithm is asked to generate new examples that are similar to those in the training data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Video games can automatically generate textures for large 	objects or landscapes, rather than requiring an artist to 	manually    	label each pixel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Imputation of missing values: the machine learning algorithm is given a new example 𝒙 ∈ R𝑛, but with some entries 𝑥𝑖 of 𝒙 missing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Denoising </a:t>
            </a:r>
          </a:p>
          <a:p>
            <a:pPr marL="0" indent="0">
              <a:buNone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343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Performance measure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order to evaluate the abilities of a machine learning algorithm, we must design a quantitative measure of its performance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Performance measure P is specific to the task T being carried out by the system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classification and transcription,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–  we often measure the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accuracy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 the model.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–  An equivalent way is to measure the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error rate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191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Performance measure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Usually we are interested in how well the machine learning algorithm performs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 data that it has not seen before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–  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Dataset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for training the machine learning system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–  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 set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for measuring the performance of the machine 	learning system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500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Experience - 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95" y="1521449"/>
            <a:ext cx="11023234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Machine learning algorithms can be broadly categorized as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Unsupervised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Supervised </a:t>
            </a:r>
          </a:p>
          <a:p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Unsupervised learning algorithms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experience a dataset containing many features, then learn useful properties of the structure of this dataset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 The data is unlabelled used in clustering methods for example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 In unsupervised learning, there is no instructor or teacher, the 	algorithm must learn to make sense of the data without this guide.</a:t>
            </a:r>
          </a:p>
          <a:p>
            <a:pPr marL="0" indent="0">
              <a:buNone/>
            </a:pP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709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Experience - 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0171" y="1570001"/>
            <a:ext cx="11965343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Supervised learning algorithms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experience a dataset containing features, but each example is also associated with a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 Classify iris plants into three different species based on their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measurements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 An instructor or teacher shows the machine learning system what to do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081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Data set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Most machine learning algorithms simply experience a dataset. A dataset can be described in many ways. In all cases, a dataset is a collection of examples, which are in turn collections of features. </a:t>
            </a: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 common way of describing a dataset is with a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 matrix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– One sample per row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– One feature per column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326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K-means Clustering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0171" y="1470348"/>
            <a:ext cx="10666972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Attempts to split data into K groups that are closest to K centroids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Unsupervised learning – uses only the positions of each data point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Can uncover interesting groupings of people / things / behaviour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Example: Where do millionaires live?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What genres of music / movies / etc. naturally fall out of data?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Create your own stereotypes from demographic data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102image1806080">
            <a:extLst>
              <a:ext uri="{FF2B5EF4-FFF2-40B4-BE49-F238E27FC236}">
                <a16:creationId xmlns:a16="http://schemas.microsoft.com/office/drawing/2014/main" id="{BA270E54-63D8-DE4B-A2C8-DA6E0A153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2984" y="4081871"/>
            <a:ext cx="18796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626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K-means Clustering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Sounds fancy! Wow! Unsupervised machine learning! Clusters! K!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Actually how it works is really simple.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Randomly pick K centroids (k-means)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Assign each data point to the centroid it’s closest to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Recompute the centroids based on the average position of 	each centroid’s points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Iterate until points stop changing assignment to centroids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 want to predict the cluster for new points, just find the centroid they’re closest to.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686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Graphical example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DD1D7FF-0EAC-CB46-A7F4-0437EA312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8844"/>
            <a:ext cx="12192000" cy="257440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184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K-means clustering technique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0" y="1521449"/>
            <a:ext cx="11314179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Choosing K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Try increasing K values until you stop getting large reductions in squared error (distances from each point to their centroids)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Avoiding local minima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The random choice of initial centroids can yield different results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Run it a few times just to make sure your initial results aren’t wacky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Labelling the clusters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K-Means does not attempt to assign any meaning to the clusters you 	find</a:t>
            </a:r>
          </a:p>
          <a:p>
            <a:pPr lvl="1"/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It’s up to you to dig into the data and try to determine that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966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91" y="555477"/>
            <a:ext cx="9097686" cy="1068223"/>
          </a:xfrm>
        </p:spPr>
        <p:txBody>
          <a:bodyPr/>
          <a:lstStyle/>
          <a:p>
            <a:r>
              <a:rPr lang="en-US" dirty="0">
                <a:solidFill>
                  <a:srgbClr val="942D6D"/>
                </a:solidFill>
              </a:rPr>
              <a:t>K- Means clustering tutorial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620546" y="3897977"/>
            <a:ext cx="5003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3"/>
              </a:rPr>
              <a:t>https://www.youtube.com/watch?v=1XqG0kaJVHY</a:t>
            </a:r>
            <a:r>
              <a:rPr lang="en-GB" dirty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3620546" y="4518353"/>
            <a:ext cx="49309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https://www.youtube.com/watch?v=4jv1pUrG0Zk</a:t>
            </a:r>
            <a:r>
              <a:rPr lang="en-GB" dirty="0"/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3078480" y="1815678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5"/>
              </a:rPr>
              <a:t>https://developers.google.com/machine-learning/clustering/clustering-algorithms</a:t>
            </a:r>
            <a:r>
              <a:rPr lang="en-GB" dirty="0"/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78480" y="3274362"/>
            <a:ext cx="60385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6"/>
              </a:rPr>
              <a:t>https://www.w3schools.com/python/python_ml_k-means.asp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3535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2778" y="1121436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info@rcl.ac.uk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626083B1-0830-460F-AA05-F809A184AD55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2DF3C6F-D641-4496-AE49-B1B2B2E63DA0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4F60302-919A-40C2-AA8C-08C631E4BB03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1A762B6E-1460-46E8-A288-DB6DA20E3E72}"/>
    </a:ext>
  </a:extLst>
</a:theme>
</file>

<file path=ppt/theme/theme5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848B4BB2-990F-4FF4-835D-66EEAC45A0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b1a28a2-5857-4321-9bd8-c602fba5c8bc">
      <Terms xmlns="http://schemas.microsoft.com/office/infopath/2007/PartnerControls"/>
    </lcf76f155ced4ddcb4097134ff3c332f>
    <TaxCatchAll xmlns="5086911d-6e48-4cf3-b087-1eb55996afa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5" ma:contentTypeDescription="Create a new document." ma:contentTypeScope="" ma:versionID="0a40da80dfba2f26db4fd96ff563ad7b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11a481746c084991ab5e77ba1922d2a7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247cd83-a7c4-41c3-9ccf-b3de8fb2a7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9339b10e-c275-4384-8e68-845348d9a81e}" ma:internalName="TaxCatchAll" ma:showField="CatchAllData" ma:web="5086911d-6e48-4cf3-b087-1eb55996af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278CF7-4C24-4081-B81E-AA252697A988}">
  <ds:schemaRefs>
    <ds:schemaRef ds:uri="http://schemas.microsoft.com/office/2006/metadata/properties"/>
    <ds:schemaRef ds:uri="http://schemas.microsoft.com/office/infopath/2007/PartnerControls"/>
    <ds:schemaRef ds:uri="6b1a28a2-5857-4321-9bd8-c602fba5c8bc"/>
    <ds:schemaRef ds:uri="5086911d-6e48-4cf3-b087-1eb55996afa6"/>
  </ds:schemaRefs>
</ds:datastoreItem>
</file>

<file path=customXml/itemProps2.xml><?xml version="1.0" encoding="utf-8"?>
<ds:datastoreItem xmlns:ds="http://schemas.openxmlformats.org/officeDocument/2006/customXml" ds:itemID="{EEFCEA14-4ED5-4D13-8933-069C2E7AF8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AF7C75-521D-423C-91DF-73A05C8AFF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1a28a2-5857-4321-9bd8-c602fba5c8bc"/>
    <ds:schemaRef ds:uri="5086911d-6e48-4cf3-b087-1eb55996af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341</TotalTime>
  <Words>1230</Words>
  <Application>Microsoft Office PowerPoint</Application>
  <PresentationFormat>Widescreen</PresentationFormat>
  <Paragraphs>106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Light blue-Cover</vt:lpstr>
      <vt:lpstr>Pearson slide</vt:lpstr>
      <vt:lpstr>Light blue-inside slide</vt:lpstr>
      <vt:lpstr>With picture</vt:lpstr>
      <vt:lpstr>Back cover</vt:lpstr>
      <vt:lpstr>Machine learning</vt:lpstr>
      <vt:lpstr>Machine learning </vt:lpstr>
      <vt:lpstr>Machine learning</vt:lpstr>
      <vt:lpstr>PowerPoint Presentation</vt:lpstr>
      <vt:lpstr>Learning objectives</vt:lpstr>
      <vt:lpstr>Classification -key concepts</vt:lpstr>
      <vt:lpstr>Predict unseen data</vt:lpstr>
      <vt:lpstr>Learning algorithm</vt:lpstr>
      <vt:lpstr>Task : T</vt:lpstr>
      <vt:lpstr>Task : T</vt:lpstr>
      <vt:lpstr>Task : T</vt:lpstr>
      <vt:lpstr>Task : T</vt:lpstr>
      <vt:lpstr>Task : T</vt:lpstr>
      <vt:lpstr>Performance measure</vt:lpstr>
      <vt:lpstr>Performance measure</vt:lpstr>
      <vt:lpstr>Experience - E</vt:lpstr>
      <vt:lpstr>Experience - E</vt:lpstr>
      <vt:lpstr>Data set</vt:lpstr>
      <vt:lpstr>K-means Clustering</vt:lpstr>
      <vt:lpstr>K-means Clustering</vt:lpstr>
      <vt:lpstr>Graphical example</vt:lpstr>
      <vt:lpstr>K-means clustering technique</vt:lpstr>
      <vt:lpstr>K- Means clustering tutorial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Maksud Mazumder</cp:lastModifiedBy>
  <cp:revision>50</cp:revision>
  <dcterms:created xsi:type="dcterms:W3CDTF">2021-07-24T10:34:01Z</dcterms:created>
  <dcterms:modified xsi:type="dcterms:W3CDTF">2024-07-22T09:12:49Z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  <property fmtid="{D5CDD505-2E9C-101B-9397-08002B2CF9AE}" pid="3" name="MediaServiceImageTags">
    <vt:lpwstr/>
  </property>
</Properties>
</file>