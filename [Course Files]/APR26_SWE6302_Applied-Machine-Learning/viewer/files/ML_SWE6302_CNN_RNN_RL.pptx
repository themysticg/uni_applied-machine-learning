
<file path=[Content_Types].xml><?xml version="1.0" encoding="utf-8"?>
<Types xmlns="http://schemas.openxmlformats.org/package/2006/content-types">
  <Default Extension="gif" ContentType="image/gif"/>
  <Default Extension="jpeg" ContentType="image/jpeg"/>
  <Default Extension="jpg" ContentType="image/jp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3.xml" ContentType="application/vnd.openxmlformats-officedocument.theme+xml"/>
  <Override PartName="/ppt/slideLayouts/slideLayout9.xml" ContentType="application/vnd.openxmlformats-officedocument.presentationml.slideLayout+xml"/>
  <Override PartName="/ppt/theme/theme4.xml" ContentType="application/vnd.openxmlformats-officedocument.theme+xml"/>
  <Override PartName="/ppt/slideLayouts/slideLayout10.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media/image82.jpg" ContentType="image/jpeg"/>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4"/>
    <p:sldMasterId id="2147483651" r:id="rId5"/>
    <p:sldMasterId id="2147483653" r:id="rId6"/>
    <p:sldMasterId id="2147483656" r:id="rId7"/>
    <p:sldMasterId id="2147483658" r:id="rId8"/>
  </p:sldMasterIdLst>
  <p:notesMasterIdLst>
    <p:notesMasterId r:id="rId72"/>
  </p:notesMasterIdLst>
  <p:sldIdLst>
    <p:sldId id="261" r:id="rId9"/>
    <p:sldId id="257" r:id="rId10"/>
    <p:sldId id="265" r:id="rId11"/>
    <p:sldId id="306" r:id="rId12"/>
    <p:sldId id="311" r:id="rId13"/>
    <p:sldId id="317" r:id="rId14"/>
    <p:sldId id="325" r:id="rId15"/>
    <p:sldId id="294" r:id="rId16"/>
    <p:sldId id="297" r:id="rId17"/>
    <p:sldId id="322" r:id="rId18"/>
    <p:sldId id="262" r:id="rId19"/>
    <p:sldId id="263" r:id="rId20"/>
    <p:sldId id="264" r:id="rId21"/>
    <p:sldId id="323" r:id="rId22"/>
    <p:sldId id="266" r:id="rId23"/>
    <p:sldId id="267" r:id="rId24"/>
    <p:sldId id="268" r:id="rId25"/>
    <p:sldId id="269" r:id="rId26"/>
    <p:sldId id="270" r:id="rId27"/>
    <p:sldId id="271" r:id="rId28"/>
    <p:sldId id="272" r:id="rId29"/>
    <p:sldId id="273" r:id="rId30"/>
    <p:sldId id="274" r:id="rId31"/>
    <p:sldId id="275" r:id="rId32"/>
    <p:sldId id="276" r:id="rId33"/>
    <p:sldId id="277" r:id="rId34"/>
    <p:sldId id="278" r:id="rId35"/>
    <p:sldId id="279" r:id="rId36"/>
    <p:sldId id="280" r:id="rId37"/>
    <p:sldId id="299" r:id="rId38"/>
    <p:sldId id="287" r:id="rId39"/>
    <p:sldId id="324" r:id="rId40"/>
    <p:sldId id="301" r:id="rId41"/>
    <p:sldId id="258" r:id="rId42"/>
    <p:sldId id="260" r:id="rId43"/>
    <p:sldId id="326" r:id="rId44"/>
    <p:sldId id="327" r:id="rId45"/>
    <p:sldId id="328" r:id="rId46"/>
    <p:sldId id="329" r:id="rId47"/>
    <p:sldId id="435" r:id="rId48"/>
    <p:sldId id="437" r:id="rId49"/>
    <p:sldId id="438" r:id="rId50"/>
    <p:sldId id="439" r:id="rId51"/>
    <p:sldId id="440" r:id="rId52"/>
    <p:sldId id="441" r:id="rId53"/>
    <p:sldId id="442" r:id="rId54"/>
    <p:sldId id="281" r:id="rId55"/>
    <p:sldId id="282" r:id="rId56"/>
    <p:sldId id="444" r:id="rId57"/>
    <p:sldId id="445" r:id="rId58"/>
    <p:sldId id="446" r:id="rId59"/>
    <p:sldId id="447" r:id="rId60"/>
    <p:sldId id="448" r:id="rId61"/>
    <p:sldId id="449" r:id="rId62"/>
    <p:sldId id="450" r:id="rId63"/>
    <p:sldId id="451" r:id="rId64"/>
    <p:sldId id="452" r:id="rId65"/>
    <p:sldId id="453" r:id="rId66"/>
    <p:sldId id="454" r:id="rId67"/>
    <p:sldId id="455" r:id="rId68"/>
    <p:sldId id="456" r:id="rId69"/>
    <p:sldId id="457" r:id="rId70"/>
    <p:sldId id="321" r:id="rId7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Tharindu" initials="T" lastIdx="2"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42F6D"/>
    <a:srgbClr val="656768"/>
    <a:srgbClr val="0D3E63"/>
    <a:srgbClr val="942D6D"/>
    <a:srgbClr val="232C58"/>
    <a:srgbClr val="6FC8F0"/>
    <a:srgbClr val="B0E1F7"/>
    <a:srgbClr val="71C5E8"/>
    <a:srgbClr val="093E62"/>
    <a:srgbClr val="1665A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067" autoAdjust="0"/>
    <p:restoredTop sz="73061" autoAdjust="0"/>
  </p:normalViewPr>
  <p:slideViewPr>
    <p:cSldViewPr snapToGrid="0">
      <p:cViewPr varScale="1">
        <p:scale>
          <a:sx n="41" d="100"/>
          <a:sy n="41" d="100"/>
        </p:scale>
        <p:origin x="1104" y="20"/>
      </p:cViewPr>
      <p:guideLst/>
    </p:cSldViewPr>
  </p:slideViewPr>
  <p:outlineViewPr>
    <p:cViewPr>
      <p:scale>
        <a:sx n="33" d="100"/>
        <a:sy n="33" d="100"/>
      </p:scale>
      <p:origin x="0" y="0"/>
    </p:cViewPr>
  </p:outlineViewPr>
  <p:notesTextViewPr>
    <p:cViewPr>
      <p:scale>
        <a:sx n="3" d="2"/>
        <a:sy n="3" d="2"/>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18.xml"/><Relationship Id="rId21" Type="http://schemas.openxmlformats.org/officeDocument/2006/relationships/slide" Target="slides/slide13.xml"/><Relationship Id="rId42" Type="http://schemas.openxmlformats.org/officeDocument/2006/relationships/slide" Target="slides/slide34.xml"/><Relationship Id="rId47" Type="http://schemas.openxmlformats.org/officeDocument/2006/relationships/slide" Target="slides/slide39.xml"/><Relationship Id="rId63" Type="http://schemas.openxmlformats.org/officeDocument/2006/relationships/slide" Target="slides/slide55.xml"/><Relationship Id="rId68" Type="http://schemas.openxmlformats.org/officeDocument/2006/relationships/slide" Target="slides/slide60.xml"/><Relationship Id="rId16" Type="http://schemas.openxmlformats.org/officeDocument/2006/relationships/slide" Target="slides/slide8.xml"/><Relationship Id="rId11" Type="http://schemas.openxmlformats.org/officeDocument/2006/relationships/slide" Target="slides/slide3.xml"/><Relationship Id="rId24" Type="http://schemas.openxmlformats.org/officeDocument/2006/relationships/slide" Target="slides/slide16.xml"/><Relationship Id="rId32" Type="http://schemas.openxmlformats.org/officeDocument/2006/relationships/slide" Target="slides/slide24.xml"/><Relationship Id="rId37" Type="http://schemas.openxmlformats.org/officeDocument/2006/relationships/slide" Target="slides/slide29.xml"/><Relationship Id="rId40" Type="http://schemas.openxmlformats.org/officeDocument/2006/relationships/slide" Target="slides/slide32.xml"/><Relationship Id="rId45" Type="http://schemas.openxmlformats.org/officeDocument/2006/relationships/slide" Target="slides/slide37.xml"/><Relationship Id="rId53" Type="http://schemas.openxmlformats.org/officeDocument/2006/relationships/slide" Target="slides/slide45.xml"/><Relationship Id="rId58" Type="http://schemas.openxmlformats.org/officeDocument/2006/relationships/slide" Target="slides/slide50.xml"/><Relationship Id="rId66" Type="http://schemas.openxmlformats.org/officeDocument/2006/relationships/slide" Target="slides/slide58.xml"/><Relationship Id="rId74" Type="http://schemas.openxmlformats.org/officeDocument/2006/relationships/presProps" Target="presProps.xml"/><Relationship Id="rId5" Type="http://schemas.openxmlformats.org/officeDocument/2006/relationships/slideMaster" Target="slideMasters/slideMaster2.xml"/><Relationship Id="rId61" Type="http://schemas.openxmlformats.org/officeDocument/2006/relationships/slide" Target="slides/slide53.xml"/><Relationship Id="rId19" Type="http://schemas.openxmlformats.org/officeDocument/2006/relationships/slide" Target="slides/slide11.xml"/><Relationship Id="rId14" Type="http://schemas.openxmlformats.org/officeDocument/2006/relationships/slide" Target="slides/slide6.xml"/><Relationship Id="rId22" Type="http://schemas.openxmlformats.org/officeDocument/2006/relationships/slide" Target="slides/slide14.xml"/><Relationship Id="rId27" Type="http://schemas.openxmlformats.org/officeDocument/2006/relationships/slide" Target="slides/slide19.xml"/><Relationship Id="rId30" Type="http://schemas.openxmlformats.org/officeDocument/2006/relationships/slide" Target="slides/slide22.xml"/><Relationship Id="rId35" Type="http://schemas.openxmlformats.org/officeDocument/2006/relationships/slide" Target="slides/slide27.xml"/><Relationship Id="rId43" Type="http://schemas.openxmlformats.org/officeDocument/2006/relationships/slide" Target="slides/slide35.xml"/><Relationship Id="rId48" Type="http://schemas.openxmlformats.org/officeDocument/2006/relationships/slide" Target="slides/slide40.xml"/><Relationship Id="rId56" Type="http://schemas.openxmlformats.org/officeDocument/2006/relationships/slide" Target="slides/slide48.xml"/><Relationship Id="rId64" Type="http://schemas.openxmlformats.org/officeDocument/2006/relationships/slide" Target="slides/slide56.xml"/><Relationship Id="rId69" Type="http://schemas.openxmlformats.org/officeDocument/2006/relationships/slide" Target="slides/slide61.xml"/><Relationship Id="rId77" Type="http://schemas.openxmlformats.org/officeDocument/2006/relationships/tableStyles" Target="tableStyles.xml"/><Relationship Id="rId8" Type="http://schemas.openxmlformats.org/officeDocument/2006/relationships/slideMaster" Target="slideMasters/slideMaster5.xml"/><Relationship Id="rId51" Type="http://schemas.openxmlformats.org/officeDocument/2006/relationships/slide" Target="slides/slide43.xml"/><Relationship Id="rId72" Type="http://schemas.openxmlformats.org/officeDocument/2006/relationships/notesMaster" Target="notesMasters/notesMaster1.xml"/><Relationship Id="rId3" Type="http://schemas.openxmlformats.org/officeDocument/2006/relationships/customXml" Target="../customXml/item3.xml"/><Relationship Id="rId12" Type="http://schemas.openxmlformats.org/officeDocument/2006/relationships/slide" Target="slides/slide4.xml"/><Relationship Id="rId17" Type="http://schemas.openxmlformats.org/officeDocument/2006/relationships/slide" Target="slides/slide9.xml"/><Relationship Id="rId25" Type="http://schemas.openxmlformats.org/officeDocument/2006/relationships/slide" Target="slides/slide17.xml"/><Relationship Id="rId33" Type="http://schemas.openxmlformats.org/officeDocument/2006/relationships/slide" Target="slides/slide25.xml"/><Relationship Id="rId38" Type="http://schemas.openxmlformats.org/officeDocument/2006/relationships/slide" Target="slides/slide30.xml"/><Relationship Id="rId46" Type="http://schemas.openxmlformats.org/officeDocument/2006/relationships/slide" Target="slides/slide38.xml"/><Relationship Id="rId59" Type="http://schemas.openxmlformats.org/officeDocument/2006/relationships/slide" Target="slides/slide51.xml"/><Relationship Id="rId67" Type="http://schemas.openxmlformats.org/officeDocument/2006/relationships/slide" Target="slides/slide59.xml"/><Relationship Id="rId20" Type="http://schemas.openxmlformats.org/officeDocument/2006/relationships/slide" Target="slides/slide12.xml"/><Relationship Id="rId41" Type="http://schemas.openxmlformats.org/officeDocument/2006/relationships/slide" Target="slides/slide33.xml"/><Relationship Id="rId54" Type="http://schemas.openxmlformats.org/officeDocument/2006/relationships/slide" Target="slides/slide46.xml"/><Relationship Id="rId62" Type="http://schemas.openxmlformats.org/officeDocument/2006/relationships/slide" Target="slides/slide54.xml"/><Relationship Id="rId70" Type="http://schemas.openxmlformats.org/officeDocument/2006/relationships/slide" Target="slides/slide62.xml"/><Relationship Id="rId75"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 Target="slides/slide7.xml"/><Relationship Id="rId23" Type="http://schemas.openxmlformats.org/officeDocument/2006/relationships/slide" Target="slides/slide15.xml"/><Relationship Id="rId28" Type="http://schemas.openxmlformats.org/officeDocument/2006/relationships/slide" Target="slides/slide20.xml"/><Relationship Id="rId36" Type="http://schemas.openxmlformats.org/officeDocument/2006/relationships/slide" Target="slides/slide28.xml"/><Relationship Id="rId49" Type="http://schemas.openxmlformats.org/officeDocument/2006/relationships/slide" Target="slides/slide41.xml"/><Relationship Id="rId57" Type="http://schemas.openxmlformats.org/officeDocument/2006/relationships/slide" Target="slides/slide49.xml"/><Relationship Id="rId10" Type="http://schemas.openxmlformats.org/officeDocument/2006/relationships/slide" Target="slides/slide2.xml"/><Relationship Id="rId31" Type="http://schemas.openxmlformats.org/officeDocument/2006/relationships/slide" Target="slides/slide23.xml"/><Relationship Id="rId44" Type="http://schemas.openxmlformats.org/officeDocument/2006/relationships/slide" Target="slides/slide36.xml"/><Relationship Id="rId52" Type="http://schemas.openxmlformats.org/officeDocument/2006/relationships/slide" Target="slides/slide44.xml"/><Relationship Id="rId60" Type="http://schemas.openxmlformats.org/officeDocument/2006/relationships/slide" Target="slides/slide52.xml"/><Relationship Id="rId65" Type="http://schemas.openxmlformats.org/officeDocument/2006/relationships/slide" Target="slides/slide57.xml"/><Relationship Id="rId73" Type="http://schemas.openxmlformats.org/officeDocument/2006/relationships/commentAuthors" Target="commentAuthors.xml"/><Relationship Id="rId4" Type="http://schemas.openxmlformats.org/officeDocument/2006/relationships/slideMaster" Target="slideMasters/slideMaster1.xml"/><Relationship Id="rId9" Type="http://schemas.openxmlformats.org/officeDocument/2006/relationships/slide" Target="slides/slide1.xml"/><Relationship Id="rId13" Type="http://schemas.openxmlformats.org/officeDocument/2006/relationships/slide" Target="slides/slide5.xml"/><Relationship Id="rId18" Type="http://schemas.openxmlformats.org/officeDocument/2006/relationships/slide" Target="slides/slide10.xml"/><Relationship Id="rId39" Type="http://schemas.openxmlformats.org/officeDocument/2006/relationships/slide" Target="slides/slide31.xml"/><Relationship Id="rId34" Type="http://schemas.openxmlformats.org/officeDocument/2006/relationships/slide" Target="slides/slide26.xml"/><Relationship Id="rId50" Type="http://schemas.openxmlformats.org/officeDocument/2006/relationships/slide" Target="slides/slide42.xml"/><Relationship Id="rId55" Type="http://schemas.openxmlformats.org/officeDocument/2006/relationships/slide" Target="slides/slide47.xml"/><Relationship Id="rId76" Type="http://schemas.openxmlformats.org/officeDocument/2006/relationships/theme" Target="theme/theme1.xml"/><Relationship Id="rId7" Type="http://schemas.openxmlformats.org/officeDocument/2006/relationships/slideMaster" Target="slideMasters/slideMaster4.xml"/><Relationship Id="rId71" Type="http://schemas.openxmlformats.org/officeDocument/2006/relationships/slide" Target="slides/slide63.xml"/><Relationship Id="rId2" Type="http://schemas.openxmlformats.org/officeDocument/2006/relationships/customXml" Target="../customXml/item2.xml"/><Relationship Id="rId29" Type="http://schemas.openxmlformats.org/officeDocument/2006/relationships/slide" Target="slides/slide21.xml"/></Relationships>
</file>

<file path=ppt/diagrams/_rels/data1.xml.rels><?xml version="1.0" encoding="UTF-8" standalone="yes"?>
<Relationships xmlns="http://schemas.openxmlformats.org/package/2006/relationships"><Relationship Id="rId8" Type="http://schemas.openxmlformats.org/officeDocument/2006/relationships/image" Target="../media/image94.svg"/><Relationship Id="rId3" Type="http://schemas.openxmlformats.org/officeDocument/2006/relationships/image" Target="../media/image89.png"/><Relationship Id="rId7" Type="http://schemas.openxmlformats.org/officeDocument/2006/relationships/image" Target="../media/image93.png"/><Relationship Id="rId2" Type="http://schemas.openxmlformats.org/officeDocument/2006/relationships/image" Target="../media/image88.svg"/><Relationship Id="rId1" Type="http://schemas.openxmlformats.org/officeDocument/2006/relationships/image" Target="../media/image87.png"/><Relationship Id="rId6" Type="http://schemas.openxmlformats.org/officeDocument/2006/relationships/image" Target="../media/image92.svg"/><Relationship Id="rId5" Type="http://schemas.openxmlformats.org/officeDocument/2006/relationships/image" Target="../media/image91.png"/><Relationship Id="rId4" Type="http://schemas.openxmlformats.org/officeDocument/2006/relationships/image" Target="../media/image90.svg"/></Relationships>
</file>

<file path=ppt/diagrams/_rels/drawing1.xml.rels><?xml version="1.0" encoding="UTF-8" standalone="yes"?>
<Relationships xmlns="http://schemas.openxmlformats.org/package/2006/relationships"><Relationship Id="rId8" Type="http://schemas.openxmlformats.org/officeDocument/2006/relationships/image" Target="../media/image94.svg"/><Relationship Id="rId3" Type="http://schemas.openxmlformats.org/officeDocument/2006/relationships/image" Target="../media/image89.png"/><Relationship Id="rId7" Type="http://schemas.openxmlformats.org/officeDocument/2006/relationships/image" Target="../media/image93.png"/><Relationship Id="rId2" Type="http://schemas.openxmlformats.org/officeDocument/2006/relationships/image" Target="../media/image88.svg"/><Relationship Id="rId1" Type="http://schemas.openxmlformats.org/officeDocument/2006/relationships/image" Target="../media/image87.png"/><Relationship Id="rId6" Type="http://schemas.openxmlformats.org/officeDocument/2006/relationships/image" Target="../media/image92.svg"/><Relationship Id="rId5" Type="http://schemas.openxmlformats.org/officeDocument/2006/relationships/image" Target="../media/image91.png"/><Relationship Id="rId4" Type="http://schemas.openxmlformats.org/officeDocument/2006/relationships/image" Target="../media/image90.svg"/></Relationships>
</file>

<file path=ppt/diagrams/colors1.xml><?xml version="1.0" encoding="utf-8"?>
<dgm:colorsDef xmlns:dgm="http://schemas.openxmlformats.org/drawingml/2006/diagram" xmlns:a="http://schemas.openxmlformats.org/drawingml/2006/main" uniqueId="urn:microsoft.com/office/officeart/2018/5/colors/Iconchunking_neutralbg_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a:alpha val="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0631A54-4E70-4D7B-8B85-11E59428B27C}" type="doc">
      <dgm:prSet loTypeId="urn:microsoft.com/office/officeart/2018/2/layout/IconLabelList" loCatId="icon" qsTypeId="urn:microsoft.com/office/officeart/2005/8/quickstyle/simple1" qsCatId="simple" csTypeId="urn:microsoft.com/office/officeart/2018/5/colors/Iconchunking_neutralbg_accent1_2" csCatId="accent1" phldr="1"/>
      <dgm:spPr/>
      <dgm:t>
        <a:bodyPr/>
        <a:lstStyle/>
        <a:p>
          <a:endParaRPr lang="en-US"/>
        </a:p>
      </dgm:t>
    </dgm:pt>
    <dgm:pt modelId="{AA5DC224-E12E-4C7C-8C38-F6B0CE5D61F8}">
      <dgm:prSet/>
      <dgm:spPr/>
      <dgm:t>
        <a:bodyPr/>
        <a:lstStyle/>
        <a:p>
          <a:r>
            <a:rPr lang="en-US"/>
            <a:t>Optimization</a:t>
          </a:r>
        </a:p>
      </dgm:t>
    </dgm:pt>
    <dgm:pt modelId="{15FB43D7-296C-4CDE-B35E-CC2AB2FE6B40}" type="parTrans" cxnId="{AA1A5A7D-2DF3-4172-855C-6CABEFDB7453}">
      <dgm:prSet/>
      <dgm:spPr/>
      <dgm:t>
        <a:bodyPr/>
        <a:lstStyle/>
        <a:p>
          <a:endParaRPr lang="en-US"/>
        </a:p>
      </dgm:t>
    </dgm:pt>
    <dgm:pt modelId="{5B8AFF49-0EA3-408D-BFAD-F7B2A91D1E20}" type="sibTrans" cxnId="{AA1A5A7D-2DF3-4172-855C-6CABEFDB7453}">
      <dgm:prSet/>
      <dgm:spPr/>
      <dgm:t>
        <a:bodyPr/>
        <a:lstStyle/>
        <a:p>
          <a:endParaRPr lang="en-US"/>
        </a:p>
      </dgm:t>
    </dgm:pt>
    <dgm:pt modelId="{E6AF8F7B-198B-48FF-9E6C-A0D6EA766FCE}">
      <dgm:prSet/>
      <dgm:spPr/>
      <dgm:t>
        <a:bodyPr/>
        <a:lstStyle/>
        <a:p>
          <a:r>
            <a:rPr lang="en-US"/>
            <a:t>Delayed consequences</a:t>
          </a:r>
        </a:p>
      </dgm:t>
    </dgm:pt>
    <dgm:pt modelId="{F63419FC-0C2B-4D88-A87F-5C60750511D6}" type="parTrans" cxnId="{802D2C79-D944-4FAA-92D4-36049541D02F}">
      <dgm:prSet/>
      <dgm:spPr/>
      <dgm:t>
        <a:bodyPr/>
        <a:lstStyle/>
        <a:p>
          <a:endParaRPr lang="en-US"/>
        </a:p>
      </dgm:t>
    </dgm:pt>
    <dgm:pt modelId="{432BC0E3-3189-434C-B934-C48D2971E680}" type="sibTrans" cxnId="{802D2C79-D944-4FAA-92D4-36049541D02F}">
      <dgm:prSet/>
      <dgm:spPr/>
      <dgm:t>
        <a:bodyPr/>
        <a:lstStyle/>
        <a:p>
          <a:endParaRPr lang="en-US"/>
        </a:p>
      </dgm:t>
    </dgm:pt>
    <dgm:pt modelId="{E20E512A-1E4B-4100-AFF1-8D196EC09E2A}">
      <dgm:prSet/>
      <dgm:spPr/>
      <dgm:t>
        <a:bodyPr/>
        <a:lstStyle/>
        <a:p>
          <a:r>
            <a:rPr lang="en-US"/>
            <a:t>Exploration</a:t>
          </a:r>
        </a:p>
      </dgm:t>
    </dgm:pt>
    <dgm:pt modelId="{67580FAA-01C7-45A8-80EB-5B501A9E0777}" type="parTrans" cxnId="{FC3144A0-A431-461A-AC31-BA37C33FE511}">
      <dgm:prSet/>
      <dgm:spPr/>
      <dgm:t>
        <a:bodyPr/>
        <a:lstStyle/>
        <a:p>
          <a:endParaRPr lang="en-US"/>
        </a:p>
      </dgm:t>
    </dgm:pt>
    <dgm:pt modelId="{03C141BF-7D3C-4CAA-ACFD-07C70A2F338C}" type="sibTrans" cxnId="{FC3144A0-A431-461A-AC31-BA37C33FE511}">
      <dgm:prSet/>
      <dgm:spPr/>
      <dgm:t>
        <a:bodyPr/>
        <a:lstStyle/>
        <a:p>
          <a:endParaRPr lang="en-US"/>
        </a:p>
      </dgm:t>
    </dgm:pt>
    <dgm:pt modelId="{0C2814E4-3D65-4A98-993C-FB01F14284CB}">
      <dgm:prSet/>
      <dgm:spPr/>
      <dgm:t>
        <a:bodyPr/>
        <a:lstStyle/>
        <a:p>
          <a:r>
            <a:rPr lang="en-US"/>
            <a:t>Generalization</a:t>
          </a:r>
        </a:p>
      </dgm:t>
    </dgm:pt>
    <dgm:pt modelId="{789C50CE-FB2E-49BB-94D2-740ECAA8DF6E}" type="parTrans" cxnId="{86A6A3E9-2F13-4FD3-B93F-D4F309C8287E}">
      <dgm:prSet/>
      <dgm:spPr/>
      <dgm:t>
        <a:bodyPr/>
        <a:lstStyle/>
        <a:p>
          <a:endParaRPr lang="en-US"/>
        </a:p>
      </dgm:t>
    </dgm:pt>
    <dgm:pt modelId="{51FA510E-D9E1-4129-AD21-1A934119872B}" type="sibTrans" cxnId="{86A6A3E9-2F13-4FD3-B93F-D4F309C8287E}">
      <dgm:prSet/>
      <dgm:spPr/>
      <dgm:t>
        <a:bodyPr/>
        <a:lstStyle/>
        <a:p>
          <a:endParaRPr lang="en-US"/>
        </a:p>
      </dgm:t>
    </dgm:pt>
    <dgm:pt modelId="{365F6BCA-B6E6-40CC-BCC2-6E9AED79788E}" type="pres">
      <dgm:prSet presAssocID="{E0631A54-4E70-4D7B-8B85-11E59428B27C}" presName="root" presStyleCnt="0">
        <dgm:presLayoutVars>
          <dgm:dir/>
          <dgm:resizeHandles val="exact"/>
        </dgm:presLayoutVars>
      </dgm:prSet>
      <dgm:spPr/>
    </dgm:pt>
    <dgm:pt modelId="{14FD7B46-0E9A-434A-8607-E001CB0DBB1C}" type="pres">
      <dgm:prSet presAssocID="{AA5DC224-E12E-4C7C-8C38-F6B0CE5D61F8}" presName="compNode" presStyleCnt="0"/>
      <dgm:spPr/>
    </dgm:pt>
    <dgm:pt modelId="{976E1E17-36E7-482A-82F9-EA6D154D9F6F}" type="pres">
      <dgm:prSet presAssocID="{AA5DC224-E12E-4C7C-8C38-F6B0CE5D61F8}"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Gears"/>
        </a:ext>
      </dgm:extLst>
    </dgm:pt>
    <dgm:pt modelId="{12B9BF40-2339-431E-ACFF-1E1557570AD1}" type="pres">
      <dgm:prSet presAssocID="{AA5DC224-E12E-4C7C-8C38-F6B0CE5D61F8}" presName="spaceRect" presStyleCnt="0"/>
      <dgm:spPr/>
    </dgm:pt>
    <dgm:pt modelId="{A54D62AA-3A09-4CF7-A957-2794CFB6B47C}" type="pres">
      <dgm:prSet presAssocID="{AA5DC224-E12E-4C7C-8C38-F6B0CE5D61F8}" presName="textRect" presStyleLbl="revTx" presStyleIdx="0" presStyleCnt="4">
        <dgm:presLayoutVars>
          <dgm:chMax val="1"/>
          <dgm:chPref val="1"/>
        </dgm:presLayoutVars>
      </dgm:prSet>
      <dgm:spPr/>
    </dgm:pt>
    <dgm:pt modelId="{FBDC530B-697D-44AB-98D2-A5912391C26D}" type="pres">
      <dgm:prSet presAssocID="{5B8AFF49-0EA3-408D-BFAD-F7B2A91D1E20}" presName="sibTrans" presStyleCnt="0"/>
      <dgm:spPr/>
    </dgm:pt>
    <dgm:pt modelId="{824969BA-D7DD-4BF3-AC8C-783FBB370CAF}" type="pres">
      <dgm:prSet presAssocID="{E6AF8F7B-198B-48FF-9E6C-A0D6EA766FCE}" presName="compNode" presStyleCnt="0"/>
      <dgm:spPr/>
    </dgm:pt>
    <dgm:pt modelId="{35DBE193-6467-4A9F-A224-F7794295B9BB}" type="pres">
      <dgm:prSet presAssocID="{E6AF8F7B-198B-48FF-9E6C-A0D6EA766FCE}"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Stopwatch"/>
        </a:ext>
      </dgm:extLst>
    </dgm:pt>
    <dgm:pt modelId="{D4AEA3DD-C42D-4E1B-8BD2-89EEAFA97885}" type="pres">
      <dgm:prSet presAssocID="{E6AF8F7B-198B-48FF-9E6C-A0D6EA766FCE}" presName="spaceRect" presStyleCnt="0"/>
      <dgm:spPr/>
    </dgm:pt>
    <dgm:pt modelId="{268EBC0D-D6C8-4192-A81D-D1387404FF0E}" type="pres">
      <dgm:prSet presAssocID="{E6AF8F7B-198B-48FF-9E6C-A0D6EA766FCE}" presName="textRect" presStyleLbl="revTx" presStyleIdx="1" presStyleCnt="4">
        <dgm:presLayoutVars>
          <dgm:chMax val="1"/>
          <dgm:chPref val="1"/>
        </dgm:presLayoutVars>
      </dgm:prSet>
      <dgm:spPr/>
    </dgm:pt>
    <dgm:pt modelId="{18D28EEC-3A13-4923-8733-5202776375E1}" type="pres">
      <dgm:prSet presAssocID="{432BC0E3-3189-434C-B934-C48D2971E680}" presName="sibTrans" presStyleCnt="0"/>
      <dgm:spPr/>
    </dgm:pt>
    <dgm:pt modelId="{15E1A539-0A23-4F1C-8FE6-23F4CAE016CA}" type="pres">
      <dgm:prSet presAssocID="{E20E512A-1E4B-4100-AFF1-8D196EC09E2A}" presName="compNode" presStyleCnt="0"/>
      <dgm:spPr/>
    </dgm:pt>
    <dgm:pt modelId="{070D4AB7-B7C5-486D-B8C8-E92D4690F9F6}" type="pres">
      <dgm:prSet presAssocID="{E20E512A-1E4B-4100-AFF1-8D196EC09E2A}"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Magnifying glass"/>
        </a:ext>
      </dgm:extLst>
    </dgm:pt>
    <dgm:pt modelId="{5666308A-F185-4AF6-9217-8F9676675728}" type="pres">
      <dgm:prSet presAssocID="{E20E512A-1E4B-4100-AFF1-8D196EC09E2A}" presName="spaceRect" presStyleCnt="0"/>
      <dgm:spPr/>
    </dgm:pt>
    <dgm:pt modelId="{44BE39EC-1CD0-446D-8B9B-65F372E893F9}" type="pres">
      <dgm:prSet presAssocID="{E20E512A-1E4B-4100-AFF1-8D196EC09E2A}" presName="textRect" presStyleLbl="revTx" presStyleIdx="2" presStyleCnt="4">
        <dgm:presLayoutVars>
          <dgm:chMax val="1"/>
          <dgm:chPref val="1"/>
        </dgm:presLayoutVars>
      </dgm:prSet>
      <dgm:spPr/>
    </dgm:pt>
    <dgm:pt modelId="{2D0690E5-1B71-47A4-8BED-B0460E1F3732}" type="pres">
      <dgm:prSet presAssocID="{03C141BF-7D3C-4CAA-ACFD-07C70A2F338C}" presName="sibTrans" presStyleCnt="0"/>
      <dgm:spPr/>
    </dgm:pt>
    <dgm:pt modelId="{592C2995-AA5C-42E5-8E26-CEF0AF08AF17}" type="pres">
      <dgm:prSet presAssocID="{0C2814E4-3D65-4A98-993C-FB01F14284CB}" presName="compNode" presStyleCnt="0"/>
      <dgm:spPr/>
    </dgm:pt>
    <dgm:pt modelId="{5BDEEE76-3A76-416A-A00D-A76EBA67285D}" type="pres">
      <dgm:prSet presAssocID="{0C2814E4-3D65-4A98-993C-FB01F14284CB}"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Tick"/>
        </a:ext>
      </dgm:extLst>
    </dgm:pt>
    <dgm:pt modelId="{4B4A3CFD-B6C0-4A85-BCDA-52BDADAB4B73}" type="pres">
      <dgm:prSet presAssocID="{0C2814E4-3D65-4A98-993C-FB01F14284CB}" presName="spaceRect" presStyleCnt="0"/>
      <dgm:spPr/>
    </dgm:pt>
    <dgm:pt modelId="{52D3F670-0A6F-4ED5-8B91-64E68A31AD2E}" type="pres">
      <dgm:prSet presAssocID="{0C2814E4-3D65-4A98-993C-FB01F14284CB}" presName="textRect" presStyleLbl="revTx" presStyleIdx="3" presStyleCnt="4">
        <dgm:presLayoutVars>
          <dgm:chMax val="1"/>
          <dgm:chPref val="1"/>
        </dgm:presLayoutVars>
      </dgm:prSet>
      <dgm:spPr/>
    </dgm:pt>
  </dgm:ptLst>
  <dgm:cxnLst>
    <dgm:cxn modelId="{2C9E0E66-EBEA-4EC3-A54B-29E00C265F26}" type="presOf" srcId="{0C2814E4-3D65-4A98-993C-FB01F14284CB}" destId="{52D3F670-0A6F-4ED5-8B91-64E68A31AD2E}" srcOrd="0" destOrd="0" presId="urn:microsoft.com/office/officeart/2018/2/layout/IconLabelList"/>
    <dgm:cxn modelId="{F05CE54A-D8A0-4494-BAC0-2FC0C0C46F99}" type="presOf" srcId="{E0631A54-4E70-4D7B-8B85-11E59428B27C}" destId="{365F6BCA-B6E6-40CC-BCC2-6E9AED79788E}" srcOrd="0" destOrd="0" presId="urn:microsoft.com/office/officeart/2018/2/layout/IconLabelList"/>
    <dgm:cxn modelId="{802D2C79-D944-4FAA-92D4-36049541D02F}" srcId="{E0631A54-4E70-4D7B-8B85-11E59428B27C}" destId="{E6AF8F7B-198B-48FF-9E6C-A0D6EA766FCE}" srcOrd="1" destOrd="0" parTransId="{F63419FC-0C2B-4D88-A87F-5C60750511D6}" sibTransId="{432BC0E3-3189-434C-B934-C48D2971E680}"/>
    <dgm:cxn modelId="{AA1A5A7D-2DF3-4172-855C-6CABEFDB7453}" srcId="{E0631A54-4E70-4D7B-8B85-11E59428B27C}" destId="{AA5DC224-E12E-4C7C-8C38-F6B0CE5D61F8}" srcOrd="0" destOrd="0" parTransId="{15FB43D7-296C-4CDE-B35E-CC2AB2FE6B40}" sibTransId="{5B8AFF49-0EA3-408D-BFAD-F7B2A91D1E20}"/>
    <dgm:cxn modelId="{AE0DB883-A94C-404B-93E4-9AD7F1DDB9C9}" type="presOf" srcId="{E6AF8F7B-198B-48FF-9E6C-A0D6EA766FCE}" destId="{268EBC0D-D6C8-4192-A81D-D1387404FF0E}" srcOrd="0" destOrd="0" presId="urn:microsoft.com/office/officeart/2018/2/layout/IconLabelList"/>
    <dgm:cxn modelId="{6D44ED8B-6AE6-4184-A3BF-6F990CE38CF2}" type="presOf" srcId="{E20E512A-1E4B-4100-AFF1-8D196EC09E2A}" destId="{44BE39EC-1CD0-446D-8B9B-65F372E893F9}" srcOrd="0" destOrd="0" presId="urn:microsoft.com/office/officeart/2018/2/layout/IconLabelList"/>
    <dgm:cxn modelId="{FC3144A0-A431-461A-AC31-BA37C33FE511}" srcId="{E0631A54-4E70-4D7B-8B85-11E59428B27C}" destId="{E20E512A-1E4B-4100-AFF1-8D196EC09E2A}" srcOrd="2" destOrd="0" parTransId="{67580FAA-01C7-45A8-80EB-5B501A9E0777}" sibTransId="{03C141BF-7D3C-4CAA-ACFD-07C70A2F338C}"/>
    <dgm:cxn modelId="{F0A36DCC-C93B-4BA6-B81C-B8A58E9C58DB}" type="presOf" srcId="{AA5DC224-E12E-4C7C-8C38-F6B0CE5D61F8}" destId="{A54D62AA-3A09-4CF7-A957-2794CFB6B47C}" srcOrd="0" destOrd="0" presId="urn:microsoft.com/office/officeart/2018/2/layout/IconLabelList"/>
    <dgm:cxn modelId="{86A6A3E9-2F13-4FD3-B93F-D4F309C8287E}" srcId="{E0631A54-4E70-4D7B-8B85-11E59428B27C}" destId="{0C2814E4-3D65-4A98-993C-FB01F14284CB}" srcOrd="3" destOrd="0" parTransId="{789C50CE-FB2E-49BB-94D2-740ECAA8DF6E}" sibTransId="{51FA510E-D9E1-4129-AD21-1A934119872B}"/>
    <dgm:cxn modelId="{CF5DDE10-3965-47F5-B61D-91AEDC35A78B}" type="presParOf" srcId="{365F6BCA-B6E6-40CC-BCC2-6E9AED79788E}" destId="{14FD7B46-0E9A-434A-8607-E001CB0DBB1C}" srcOrd="0" destOrd="0" presId="urn:microsoft.com/office/officeart/2018/2/layout/IconLabelList"/>
    <dgm:cxn modelId="{271F5288-89B2-4EA7-97F4-49DF6D3CACC3}" type="presParOf" srcId="{14FD7B46-0E9A-434A-8607-E001CB0DBB1C}" destId="{976E1E17-36E7-482A-82F9-EA6D154D9F6F}" srcOrd="0" destOrd="0" presId="urn:microsoft.com/office/officeart/2018/2/layout/IconLabelList"/>
    <dgm:cxn modelId="{7F97183B-0413-4397-8649-A8ADBE841A50}" type="presParOf" srcId="{14FD7B46-0E9A-434A-8607-E001CB0DBB1C}" destId="{12B9BF40-2339-431E-ACFF-1E1557570AD1}" srcOrd="1" destOrd="0" presId="urn:microsoft.com/office/officeart/2018/2/layout/IconLabelList"/>
    <dgm:cxn modelId="{9E23886D-44A7-4B11-8D64-6D6663C0A54C}" type="presParOf" srcId="{14FD7B46-0E9A-434A-8607-E001CB0DBB1C}" destId="{A54D62AA-3A09-4CF7-A957-2794CFB6B47C}" srcOrd="2" destOrd="0" presId="urn:microsoft.com/office/officeart/2018/2/layout/IconLabelList"/>
    <dgm:cxn modelId="{E51B510E-3F9D-42CF-BEDA-498469381AA5}" type="presParOf" srcId="{365F6BCA-B6E6-40CC-BCC2-6E9AED79788E}" destId="{FBDC530B-697D-44AB-98D2-A5912391C26D}" srcOrd="1" destOrd="0" presId="urn:microsoft.com/office/officeart/2018/2/layout/IconLabelList"/>
    <dgm:cxn modelId="{176E6A50-00EE-45DA-9A88-3EAE38A62044}" type="presParOf" srcId="{365F6BCA-B6E6-40CC-BCC2-6E9AED79788E}" destId="{824969BA-D7DD-4BF3-AC8C-783FBB370CAF}" srcOrd="2" destOrd="0" presId="urn:microsoft.com/office/officeart/2018/2/layout/IconLabelList"/>
    <dgm:cxn modelId="{5E382298-703A-42D2-83F7-DD4AE445B0AA}" type="presParOf" srcId="{824969BA-D7DD-4BF3-AC8C-783FBB370CAF}" destId="{35DBE193-6467-4A9F-A224-F7794295B9BB}" srcOrd="0" destOrd="0" presId="urn:microsoft.com/office/officeart/2018/2/layout/IconLabelList"/>
    <dgm:cxn modelId="{1F21BF0B-F626-4302-9B8B-1003C343BDFB}" type="presParOf" srcId="{824969BA-D7DD-4BF3-AC8C-783FBB370CAF}" destId="{D4AEA3DD-C42D-4E1B-8BD2-89EEAFA97885}" srcOrd="1" destOrd="0" presId="urn:microsoft.com/office/officeart/2018/2/layout/IconLabelList"/>
    <dgm:cxn modelId="{361BD8C5-35A2-49BB-95FC-0B9F9C7B6CAF}" type="presParOf" srcId="{824969BA-D7DD-4BF3-AC8C-783FBB370CAF}" destId="{268EBC0D-D6C8-4192-A81D-D1387404FF0E}" srcOrd="2" destOrd="0" presId="urn:microsoft.com/office/officeart/2018/2/layout/IconLabelList"/>
    <dgm:cxn modelId="{3C3942ED-5709-490A-9B19-8F91E517C65E}" type="presParOf" srcId="{365F6BCA-B6E6-40CC-BCC2-6E9AED79788E}" destId="{18D28EEC-3A13-4923-8733-5202776375E1}" srcOrd="3" destOrd="0" presId="urn:microsoft.com/office/officeart/2018/2/layout/IconLabelList"/>
    <dgm:cxn modelId="{F1C0EE12-79C0-4E7A-B1F4-211C2B5437E8}" type="presParOf" srcId="{365F6BCA-B6E6-40CC-BCC2-6E9AED79788E}" destId="{15E1A539-0A23-4F1C-8FE6-23F4CAE016CA}" srcOrd="4" destOrd="0" presId="urn:microsoft.com/office/officeart/2018/2/layout/IconLabelList"/>
    <dgm:cxn modelId="{D332725A-42E5-459D-8A7F-A112FED4A2B0}" type="presParOf" srcId="{15E1A539-0A23-4F1C-8FE6-23F4CAE016CA}" destId="{070D4AB7-B7C5-486D-B8C8-E92D4690F9F6}" srcOrd="0" destOrd="0" presId="urn:microsoft.com/office/officeart/2018/2/layout/IconLabelList"/>
    <dgm:cxn modelId="{484418E8-F98C-49FB-BC7E-03F63A700046}" type="presParOf" srcId="{15E1A539-0A23-4F1C-8FE6-23F4CAE016CA}" destId="{5666308A-F185-4AF6-9217-8F9676675728}" srcOrd="1" destOrd="0" presId="urn:microsoft.com/office/officeart/2018/2/layout/IconLabelList"/>
    <dgm:cxn modelId="{BE233BEE-21CD-46DC-95EB-D6B78A26DD6A}" type="presParOf" srcId="{15E1A539-0A23-4F1C-8FE6-23F4CAE016CA}" destId="{44BE39EC-1CD0-446D-8B9B-65F372E893F9}" srcOrd="2" destOrd="0" presId="urn:microsoft.com/office/officeart/2018/2/layout/IconLabelList"/>
    <dgm:cxn modelId="{89EAE4DE-B0E9-4C19-BAD7-AC5050A0A921}" type="presParOf" srcId="{365F6BCA-B6E6-40CC-BCC2-6E9AED79788E}" destId="{2D0690E5-1B71-47A4-8BED-B0460E1F3732}" srcOrd="5" destOrd="0" presId="urn:microsoft.com/office/officeart/2018/2/layout/IconLabelList"/>
    <dgm:cxn modelId="{01A181C7-48F3-43F2-B7D1-AD55715F415D}" type="presParOf" srcId="{365F6BCA-B6E6-40CC-BCC2-6E9AED79788E}" destId="{592C2995-AA5C-42E5-8E26-CEF0AF08AF17}" srcOrd="6" destOrd="0" presId="urn:microsoft.com/office/officeart/2018/2/layout/IconLabelList"/>
    <dgm:cxn modelId="{32FC58AE-2928-4C4E-9AFE-E6D8A8EF1B59}" type="presParOf" srcId="{592C2995-AA5C-42E5-8E26-CEF0AF08AF17}" destId="{5BDEEE76-3A76-416A-A00D-A76EBA67285D}" srcOrd="0" destOrd="0" presId="urn:microsoft.com/office/officeart/2018/2/layout/IconLabelList"/>
    <dgm:cxn modelId="{D891267D-77E7-46C5-81ED-57D28375E759}" type="presParOf" srcId="{592C2995-AA5C-42E5-8E26-CEF0AF08AF17}" destId="{4B4A3CFD-B6C0-4A85-BCDA-52BDADAB4B73}" srcOrd="1" destOrd="0" presId="urn:microsoft.com/office/officeart/2018/2/layout/IconLabelList"/>
    <dgm:cxn modelId="{2632DF1C-75F7-4401-955C-8E5E1DAD1F5A}" type="presParOf" srcId="{592C2995-AA5C-42E5-8E26-CEF0AF08AF17}" destId="{52D3F670-0A6F-4ED5-8B91-64E68A31AD2E}" srcOrd="2" destOrd="0" presId="urn:microsoft.com/office/officeart/2018/2/layout/Icon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76E1E17-36E7-482A-82F9-EA6D154D9F6F}">
      <dsp:nvSpPr>
        <dsp:cNvPr id="0" name=""/>
        <dsp:cNvSpPr/>
      </dsp:nvSpPr>
      <dsp:spPr>
        <a:xfrm>
          <a:off x="752566" y="1045320"/>
          <a:ext cx="1066720" cy="106672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54D62AA-3A09-4CF7-A957-2794CFB6B47C}">
      <dsp:nvSpPr>
        <dsp:cNvPr id="0" name=""/>
        <dsp:cNvSpPr/>
      </dsp:nvSpPr>
      <dsp:spPr>
        <a:xfrm>
          <a:off x="100682" y="2427484"/>
          <a:ext cx="2370489"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111250">
            <a:lnSpc>
              <a:spcPct val="90000"/>
            </a:lnSpc>
            <a:spcBef>
              <a:spcPct val="0"/>
            </a:spcBef>
            <a:spcAft>
              <a:spcPct val="35000"/>
            </a:spcAft>
            <a:buNone/>
          </a:pPr>
          <a:r>
            <a:rPr lang="en-US" sz="2500" kern="1200"/>
            <a:t>Optimization</a:t>
          </a:r>
        </a:p>
      </dsp:txBody>
      <dsp:txXfrm>
        <a:off x="100682" y="2427484"/>
        <a:ext cx="2370489" cy="720000"/>
      </dsp:txXfrm>
    </dsp:sp>
    <dsp:sp modelId="{35DBE193-6467-4A9F-A224-F7794295B9BB}">
      <dsp:nvSpPr>
        <dsp:cNvPr id="0" name=""/>
        <dsp:cNvSpPr/>
      </dsp:nvSpPr>
      <dsp:spPr>
        <a:xfrm>
          <a:off x="3537891" y="1045320"/>
          <a:ext cx="1066720" cy="106672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68EBC0D-D6C8-4192-A81D-D1387404FF0E}">
      <dsp:nvSpPr>
        <dsp:cNvPr id="0" name=""/>
        <dsp:cNvSpPr/>
      </dsp:nvSpPr>
      <dsp:spPr>
        <a:xfrm>
          <a:off x="2886007" y="2427484"/>
          <a:ext cx="2370489"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111250">
            <a:lnSpc>
              <a:spcPct val="90000"/>
            </a:lnSpc>
            <a:spcBef>
              <a:spcPct val="0"/>
            </a:spcBef>
            <a:spcAft>
              <a:spcPct val="35000"/>
            </a:spcAft>
            <a:buNone/>
          </a:pPr>
          <a:r>
            <a:rPr lang="en-US" sz="2500" kern="1200"/>
            <a:t>Delayed consequences</a:t>
          </a:r>
        </a:p>
      </dsp:txBody>
      <dsp:txXfrm>
        <a:off x="2886007" y="2427484"/>
        <a:ext cx="2370489" cy="720000"/>
      </dsp:txXfrm>
    </dsp:sp>
    <dsp:sp modelId="{070D4AB7-B7C5-486D-B8C8-E92D4690F9F6}">
      <dsp:nvSpPr>
        <dsp:cNvPr id="0" name=""/>
        <dsp:cNvSpPr/>
      </dsp:nvSpPr>
      <dsp:spPr>
        <a:xfrm>
          <a:off x="6323216" y="1045320"/>
          <a:ext cx="1066720" cy="1066720"/>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4BE39EC-1CD0-446D-8B9B-65F372E893F9}">
      <dsp:nvSpPr>
        <dsp:cNvPr id="0" name=""/>
        <dsp:cNvSpPr/>
      </dsp:nvSpPr>
      <dsp:spPr>
        <a:xfrm>
          <a:off x="5671332" y="2427484"/>
          <a:ext cx="2370489"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111250">
            <a:lnSpc>
              <a:spcPct val="90000"/>
            </a:lnSpc>
            <a:spcBef>
              <a:spcPct val="0"/>
            </a:spcBef>
            <a:spcAft>
              <a:spcPct val="35000"/>
            </a:spcAft>
            <a:buNone/>
          </a:pPr>
          <a:r>
            <a:rPr lang="en-US" sz="2500" kern="1200"/>
            <a:t>Exploration</a:t>
          </a:r>
        </a:p>
      </dsp:txBody>
      <dsp:txXfrm>
        <a:off x="5671332" y="2427484"/>
        <a:ext cx="2370489" cy="720000"/>
      </dsp:txXfrm>
    </dsp:sp>
    <dsp:sp modelId="{5BDEEE76-3A76-416A-A00D-A76EBA67285D}">
      <dsp:nvSpPr>
        <dsp:cNvPr id="0" name=""/>
        <dsp:cNvSpPr/>
      </dsp:nvSpPr>
      <dsp:spPr>
        <a:xfrm>
          <a:off x="9108541" y="1045320"/>
          <a:ext cx="1066720" cy="1066720"/>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2D3F670-0A6F-4ED5-8B91-64E68A31AD2E}">
      <dsp:nvSpPr>
        <dsp:cNvPr id="0" name=""/>
        <dsp:cNvSpPr/>
      </dsp:nvSpPr>
      <dsp:spPr>
        <a:xfrm>
          <a:off x="8456657" y="2427484"/>
          <a:ext cx="2370489"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111250">
            <a:lnSpc>
              <a:spcPct val="90000"/>
            </a:lnSpc>
            <a:spcBef>
              <a:spcPct val="0"/>
            </a:spcBef>
            <a:spcAft>
              <a:spcPct val="35000"/>
            </a:spcAft>
            <a:buNone/>
          </a:pPr>
          <a:r>
            <a:rPr lang="en-US" sz="2500" kern="1200"/>
            <a:t>Generalization</a:t>
          </a:r>
        </a:p>
      </dsp:txBody>
      <dsp:txXfrm>
        <a:off x="8456657" y="2427484"/>
        <a:ext cx="2370489" cy="720000"/>
      </dsp:txXfrm>
    </dsp:sp>
  </dsp:spTree>
</dsp:drawing>
</file>

<file path=ppt/diagrams/layout1.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19218DF-9495-47FB-843C-0D1FCB3E09C9}" type="datetimeFigureOut">
              <a:rPr lang="en-US" smtClean="0"/>
              <a:t>1/30/2026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FACCC11-19A3-4E27-AB70-5FB3E1779C6E}" type="slidenum">
              <a:rPr lang="en-US" smtClean="0"/>
              <a:t>‹#›</a:t>
            </a:fld>
            <a:endParaRPr lang="en-US" dirty="0"/>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13.png"/><Relationship Id="rId2" Type="http://schemas.openxmlformats.org/officeDocument/2006/relationships/image" Target="../media/image9.png"/><Relationship Id="rId1" Type="http://schemas.openxmlformats.org/officeDocument/2006/relationships/slideMaster" Target="../slideMasters/slideMaster5.xml"/><Relationship Id="rId6" Type="http://schemas.openxmlformats.org/officeDocument/2006/relationships/image" Target="../media/image12.svg"/><Relationship Id="rId5" Type="http://schemas.openxmlformats.org/officeDocument/2006/relationships/image" Target="../media/image6.png"/><Relationship Id="rId4" Type="http://schemas.openxmlformats.org/officeDocument/2006/relationships/image" Target="../media/image11.sv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Light blue-Title">
    <p:spTree>
      <p:nvGrpSpPr>
        <p:cNvPr id="1" name=""/>
        <p:cNvGrpSpPr/>
        <p:nvPr/>
      </p:nvGrpSpPr>
      <p:grpSpPr>
        <a:xfrm>
          <a:off x="0" y="0"/>
          <a:ext cx="0" cy="0"/>
          <a:chOff x="0" y="0"/>
          <a:chExt cx="0" cy="0"/>
        </a:xfrm>
      </p:grpSpPr>
      <p:sp>
        <p:nvSpPr>
          <p:cNvPr id="4" name="Title 3"/>
          <p:cNvSpPr>
            <a:spLocks noGrp="1"/>
          </p:cNvSpPr>
          <p:nvPr>
            <p:ph type="title" hasCustomPrompt="1"/>
          </p:nvPr>
        </p:nvSpPr>
        <p:spPr>
          <a:xfrm>
            <a:off x="768350" y="2695617"/>
            <a:ext cx="10515600" cy="1186075"/>
          </a:xfrm>
          <a:prstGeom prst="rect">
            <a:avLst/>
          </a:prstGeom>
        </p:spPr>
        <p:txBody>
          <a:bodyPr anchor="b"/>
          <a:lstStyle>
            <a:lvl1pPr algn="ctr">
              <a:lnSpc>
                <a:spcPts val="4500"/>
              </a:lnSpc>
              <a:defRPr sz="5200" b="1" cap="all" spc="-50" baseline="0">
                <a:solidFill>
                  <a:schemeClr val="bg1"/>
                </a:solidFill>
                <a:latin typeface="+mn-lt"/>
              </a:defRPr>
            </a:lvl1pPr>
          </a:lstStyle>
          <a:p>
            <a:r>
              <a:rPr lang="en-US" dirty="0"/>
              <a:t>Click to edit title  </a:t>
            </a:r>
            <a:endParaRPr lang="en-GB" dirty="0"/>
          </a:p>
        </p:txBody>
      </p:sp>
      <p:sp>
        <p:nvSpPr>
          <p:cNvPr id="5" name="Text Placeholder 5"/>
          <p:cNvSpPr>
            <a:spLocks noGrp="1"/>
          </p:cNvSpPr>
          <p:nvPr>
            <p:ph type="body" sz="quarter" idx="10"/>
          </p:nvPr>
        </p:nvSpPr>
        <p:spPr>
          <a:xfrm>
            <a:off x="838200" y="4193460"/>
            <a:ext cx="10515600" cy="1290414"/>
          </a:xfrm>
          <a:prstGeom prst="rect">
            <a:avLst/>
          </a:prstGeom>
        </p:spPr>
        <p:txBody>
          <a:bodyPr/>
          <a:lstStyle>
            <a:lvl1pPr marL="0" indent="0" algn="ctr">
              <a:buNone/>
              <a:defRPr sz="2800" spc="-50" baseline="0">
                <a:solidFill>
                  <a:schemeClr val="bg1"/>
                </a:solidFill>
              </a:defRPr>
            </a:lvl1pPr>
          </a:lstStyle>
          <a:p>
            <a:pPr lvl="0"/>
            <a:r>
              <a:rPr lang="en-GB"/>
              <a:t>Click to edit Master text styles</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FDE934FF-F4E1-47C5-9CA5-30A81DDE2BE4}" type="datetimeFigureOut">
              <a:rPr lang="en-US" smtClean="0"/>
              <a:t>1/30/2026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3561BA9-CDCF-4958-B8AB-66F3BF063E13}"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Pearson slide with title">
    <p:spTree>
      <p:nvGrpSpPr>
        <p:cNvPr id="1" name=""/>
        <p:cNvGrpSpPr/>
        <p:nvPr/>
      </p:nvGrpSpPr>
      <p:grpSpPr>
        <a:xfrm>
          <a:off x="0" y="0"/>
          <a:ext cx="0" cy="0"/>
          <a:chOff x="0" y="0"/>
          <a:chExt cx="0" cy="0"/>
        </a:xfrm>
      </p:grpSpPr>
      <p:sp>
        <p:nvSpPr>
          <p:cNvPr id="4" name="Title 3"/>
          <p:cNvSpPr>
            <a:spLocks noGrp="1"/>
          </p:cNvSpPr>
          <p:nvPr>
            <p:ph type="title" hasCustomPrompt="1"/>
          </p:nvPr>
        </p:nvSpPr>
        <p:spPr>
          <a:xfrm>
            <a:off x="838200" y="2614337"/>
            <a:ext cx="10515600" cy="1186075"/>
          </a:xfrm>
          <a:prstGeom prst="rect">
            <a:avLst/>
          </a:prstGeom>
        </p:spPr>
        <p:txBody>
          <a:bodyPr anchor="b"/>
          <a:lstStyle>
            <a:lvl1pPr algn="ctr">
              <a:lnSpc>
                <a:spcPts val="4500"/>
              </a:lnSpc>
              <a:defRPr sz="5200" b="1" cap="all" spc="-50" baseline="0">
                <a:solidFill>
                  <a:srgbClr val="942F6D"/>
                </a:solidFill>
                <a:latin typeface="+mn-lt"/>
              </a:defRPr>
            </a:lvl1pPr>
          </a:lstStyle>
          <a:p>
            <a:r>
              <a:rPr lang="en-US" dirty="0"/>
              <a:t>Click to edit title </a:t>
            </a:r>
            <a:endParaRPr lang="en-GB" dirty="0"/>
          </a:p>
        </p:txBody>
      </p:sp>
      <p:sp>
        <p:nvSpPr>
          <p:cNvPr id="6" name="Text Placeholder 5"/>
          <p:cNvSpPr>
            <a:spLocks noGrp="1"/>
          </p:cNvSpPr>
          <p:nvPr>
            <p:ph type="body" sz="quarter" idx="10"/>
          </p:nvPr>
        </p:nvSpPr>
        <p:spPr>
          <a:xfrm>
            <a:off x="838200" y="3938189"/>
            <a:ext cx="10515600" cy="1820257"/>
          </a:xfrm>
          <a:prstGeom prst="rect">
            <a:avLst/>
          </a:prstGeom>
        </p:spPr>
        <p:txBody>
          <a:bodyPr/>
          <a:lstStyle>
            <a:lvl1pPr marL="0" indent="0" algn="ctr">
              <a:buNone/>
              <a:defRPr sz="2800" spc="-50" baseline="0">
                <a:solidFill>
                  <a:srgbClr val="656768"/>
                </a:solidFill>
              </a:defRPr>
            </a:lvl1pPr>
          </a:lstStyle>
          <a:p>
            <a:pPr lvl="0"/>
            <a:r>
              <a:rPr lang="en-US" dirty="0"/>
              <a:t>Edit Master text styles</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Light blue-slide with content">
    <p:spTree>
      <p:nvGrpSpPr>
        <p:cNvPr id="1" name=""/>
        <p:cNvGrpSpPr/>
        <p:nvPr/>
      </p:nvGrpSpPr>
      <p:grpSpPr>
        <a:xfrm>
          <a:off x="0" y="0"/>
          <a:ext cx="0" cy="0"/>
          <a:chOff x="0" y="0"/>
          <a:chExt cx="0" cy="0"/>
        </a:xfrm>
      </p:grpSpPr>
      <p:sp>
        <p:nvSpPr>
          <p:cNvPr id="4" name="Title Placeholder 1"/>
          <p:cNvSpPr>
            <a:spLocks noGrp="1"/>
          </p:cNvSpPr>
          <p:nvPr>
            <p:ph type="title" hasCustomPrompt="1"/>
          </p:nvPr>
        </p:nvSpPr>
        <p:spPr>
          <a:xfrm>
            <a:off x="601791" y="555478"/>
            <a:ext cx="9097686" cy="1068223"/>
          </a:xfrm>
          <a:prstGeom prst="rect">
            <a:avLst/>
          </a:prstGeom>
        </p:spPr>
        <p:txBody>
          <a:bodyPr vert="horz" lIns="91440" tIns="45720" rIns="91440" bIns="45720" rtlCol="0" anchor="t">
            <a:normAutofit/>
          </a:bodyPr>
          <a:lstStyle>
            <a:lvl1pPr>
              <a:defRPr>
                <a:solidFill>
                  <a:srgbClr val="942F6D"/>
                </a:solidFill>
              </a:defRPr>
            </a:lvl1pPr>
          </a:lstStyle>
          <a:p>
            <a:r>
              <a:rPr lang="en-US" dirty="0"/>
              <a:t>Click to edit title </a:t>
            </a:r>
            <a:endParaRPr lang="en-GB" dirty="0"/>
          </a:p>
        </p:txBody>
      </p:sp>
      <p:sp>
        <p:nvSpPr>
          <p:cNvPr id="9" name="Text Placeholder 8"/>
          <p:cNvSpPr>
            <a:spLocks noGrp="1"/>
          </p:cNvSpPr>
          <p:nvPr>
            <p:ph type="body" sz="quarter" idx="10" hasCustomPrompt="1"/>
          </p:nvPr>
        </p:nvSpPr>
        <p:spPr>
          <a:xfrm>
            <a:off x="601791" y="1811976"/>
            <a:ext cx="10994852" cy="4033348"/>
          </a:xfrm>
          <a:prstGeom prst="rect">
            <a:avLst/>
          </a:prstGeom>
        </p:spPr>
        <p:txBody>
          <a:bodyPr/>
          <a:lstStyle>
            <a:lvl1pPr>
              <a:buClr>
                <a:srgbClr val="942F6D"/>
              </a:buClr>
              <a:defRPr baseline="0">
                <a:solidFill>
                  <a:srgbClr val="656768"/>
                </a:solidFill>
              </a:defRPr>
            </a:lvl1pPr>
            <a:lvl2pPr>
              <a:buClr>
                <a:srgbClr val="942F6D"/>
              </a:buClr>
              <a:defRPr>
                <a:solidFill>
                  <a:srgbClr val="656768"/>
                </a:solidFill>
              </a:defRPr>
            </a:lvl2pPr>
            <a:lvl3pPr>
              <a:buClr>
                <a:srgbClr val="942F6D"/>
              </a:buClr>
              <a:defRPr>
                <a:solidFill>
                  <a:srgbClr val="656768"/>
                </a:solidFill>
              </a:defRPr>
            </a:lvl3pPr>
            <a:lvl4pPr>
              <a:buClr>
                <a:srgbClr val="942F6D"/>
              </a:buClr>
              <a:defRPr>
                <a:solidFill>
                  <a:srgbClr val="656768"/>
                </a:solidFill>
              </a:defRPr>
            </a:lvl4pPr>
            <a:lvl5pPr>
              <a:buClr>
                <a:srgbClr val="942F6D"/>
              </a:buClr>
              <a:defRPr>
                <a:solidFill>
                  <a:srgbClr val="656768"/>
                </a:solidFill>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9D774B-4D8B-BD53-7B60-8CBDEFF2B5FF}"/>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9BEE6AF2-16D4-6E85-3ED5-463667B99790}"/>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EC24F238-BA5B-FEF3-19C7-7555F5844F86}"/>
              </a:ext>
            </a:extLst>
          </p:cNvPr>
          <p:cNvSpPr>
            <a:spLocks noGrp="1"/>
          </p:cNvSpPr>
          <p:nvPr>
            <p:ph type="dt" sz="half" idx="10"/>
          </p:nvPr>
        </p:nvSpPr>
        <p:spPr/>
        <p:txBody>
          <a:bodyPr/>
          <a:lstStyle/>
          <a:p>
            <a:fld id="{66ED51FF-0216-A84F-931B-8011C042A505}" type="datetimeFigureOut">
              <a:rPr lang="en-US" smtClean="0"/>
              <a:t>1/30/2026</a:t>
            </a:fld>
            <a:endParaRPr lang="en-US"/>
          </a:p>
        </p:txBody>
      </p:sp>
      <p:sp>
        <p:nvSpPr>
          <p:cNvPr id="5" name="Footer Placeholder 4">
            <a:extLst>
              <a:ext uri="{FF2B5EF4-FFF2-40B4-BE49-F238E27FC236}">
                <a16:creationId xmlns:a16="http://schemas.microsoft.com/office/drawing/2014/main" id="{1CFA12F2-F0E9-0E7D-B074-BD5F75BCAFB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A5B2FD0-3076-BF39-EC27-04274F2062EE}"/>
              </a:ext>
            </a:extLst>
          </p:cNvPr>
          <p:cNvSpPr>
            <a:spLocks noGrp="1"/>
          </p:cNvSpPr>
          <p:nvPr>
            <p:ph type="sldNum" sz="quarter" idx="12"/>
          </p:nvPr>
        </p:nvSpPr>
        <p:spPr/>
        <p:txBody>
          <a:bodyPr/>
          <a:lstStyle/>
          <a:p>
            <a:fld id="{B69B416B-02D2-394A-8C52-14430B66C837}" type="slidenum">
              <a:rPr lang="en-US" smtClean="0"/>
              <a:t>‹#›</a:t>
            </a:fld>
            <a:endParaRPr lang="en-US"/>
          </a:p>
        </p:txBody>
      </p:sp>
    </p:spTree>
    <p:extLst>
      <p:ext uri="{BB962C8B-B14F-4D97-AF65-F5344CB8AC3E}">
        <p14:creationId xmlns:p14="http://schemas.microsoft.com/office/powerpoint/2010/main" val="12573390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7AFB3B-FB07-A08D-6CA6-9C99ED300873}"/>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AA88BDD5-014A-688C-68EE-D51B1E8E7605}"/>
              </a:ext>
            </a:extLst>
          </p:cNvPr>
          <p:cNvSpPr>
            <a:spLocks noGrp="1"/>
          </p:cNvSpPr>
          <p:nvPr>
            <p:ph type="dt" sz="half" idx="10"/>
          </p:nvPr>
        </p:nvSpPr>
        <p:spPr/>
        <p:txBody>
          <a:bodyPr/>
          <a:lstStyle/>
          <a:p>
            <a:fld id="{66ED51FF-0216-A84F-931B-8011C042A505}" type="datetimeFigureOut">
              <a:rPr lang="en-US" smtClean="0"/>
              <a:t>1/30/2026</a:t>
            </a:fld>
            <a:endParaRPr lang="en-US"/>
          </a:p>
        </p:txBody>
      </p:sp>
      <p:sp>
        <p:nvSpPr>
          <p:cNvPr id="4" name="Footer Placeholder 3">
            <a:extLst>
              <a:ext uri="{FF2B5EF4-FFF2-40B4-BE49-F238E27FC236}">
                <a16:creationId xmlns:a16="http://schemas.microsoft.com/office/drawing/2014/main" id="{02D4221F-B6DF-D243-38E4-8BF0213E6974}"/>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5BF0E49-35B8-920A-2989-5C0DC68B814F}"/>
              </a:ext>
            </a:extLst>
          </p:cNvPr>
          <p:cNvSpPr>
            <a:spLocks noGrp="1"/>
          </p:cNvSpPr>
          <p:nvPr>
            <p:ph type="sldNum" sz="quarter" idx="12"/>
          </p:nvPr>
        </p:nvSpPr>
        <p:spPr/>
        <p:txBody>
          <a:bodyPr/>
          <a:lstStyle/>
          <a:p>
            <a:fld id="{B69B416B-02D2-394A-8C52-14430B66C837}" type="slidenum">
              <a:rPr lang="en-US" smtClean="0"/>
              <a:t>‹#›</a:t>
            </a:fld>
            <a:endParaRPr lang="en-US"/>
          </a:p>
        </p:txBody>
      </p:sp>
    </p:spTree>
    <p:extLst>
      <p:ext uri="{BB962C8B-B14F-4D97-AF65-F5344CB8AC3E}">
        <p14:creationId xmlns:p14="http://schemas.microsoft.com/office/powerpoint/2010/main" val="39057632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
  <p:cSld name="1_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800" b="0" i="0">
                <a:solidFill>
                  <a:schemeClr val="tx1"/>
                </a:solidFill>
                <a:latin typeface="Calibri"/>
                <a:cs typeface="Calibri"/>
              </a:defRPr>
            </a:lvl1pPr>
          </a:lstStyle>
          <a:p>
            <a:endParaRPr/>
          </a:p>
        </p:txBody>
      </p:sp>
      <p:sp>
        <p:nvSpPr>
          <p:cNvPr id="3" name="Holder 3"/>
          <p:cNvSpPr>
            <a:spLocks noGrp="1"/>
          </p:cNvSpPr>
          <p:nvPr>
            <p:ph sz="half" idx="2"/>
          </p:nvPr>
        </p:nvSpPr>
        <p:spPr>
          <a:xfrm>
            <a:off x="609600" y="1577340"/>
            <a:ext cx="5303520" cy="387798"/>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387798"/>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1/30/2026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12348770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ntent with picture">
    <p:spTree>
      <p:nvGrpSpPr>
        <p:cNvPr id="1" name=""/>
        <p:cNvGrpSpPr/>
        <p:nvPr/>
      </p:nvGrpSpPr>
      <p:grpSpPr>
        <a:xfrm>
          <a:off x="0" y="0"/>
          <a:ext cx="0" cy="0"/>
          <a:chOff x="0" y="0"/>
          <a:chExt cx="0" cy="0"/>
        </a:xfrm>
      </p:grpSpPr>
      <p:sp>
        <p:nvSpPr>
          <p:cNvPr id="3" name="Picture Placeholder 2"/>
          <p:cNvSpPr>
            <a:spLocks noGrp="1"/>
          </p:cNvSpPr>
          <p:nvPr>
            <p:ph type="pic" sz="quarter" idx="10" hasCustomPrompt="1"/>
          </p:nvPr>
        </p:nvSpPr>
        <p:spPr>
          <a:xfrm>
            <a:off x="6281159" y="0"/>
            <a:ext cx="5910840" cy="6858000"/>
          </a:xfrm>
          <a:prstGeom prst="rect">
            <a:avLst/>
          </a:prstGeom>
        </p:spPr>
        <p:txBody>
          <a:bodyPr anchor="ctr">
            <a:normAutofit/>
          </a:bodyPr>
          <a:lstStyle>
            <a:lvl1pPr marL="0" indent="0" algn="ctr">
              <a:lnSpc>
                <a:spcPct val="150000"/>
              </a:lnSpc>
              <a:buNone/>
              <a:defRPr sz="2800" baseline="0"/>
            </a:lvl1pPr>
          </a:lstStyle>
          <a:p>
            <a:r>
              <a:rPr lang="en-GB" dirty="0"/>
              <a:t>Click to add picture </a:t>
            </a:r>
          </a:p>
        </p:txBody>
      </p:sp>
      <p:sp>
        <p:nvSpPr>
          <p:cNvPr id="8" name="Title Placeholder 1"/>
          <p:cNvSpPr>
            <a:spLocks noGrp="1"/>
          </p:cNvSpPr>
          <p:nvPr>
            <p:ph type="title" hasCustomPrompt="1"/>
          </p:nvPr>
        </p:nvSpPr>
        <p:spPr>
          <a:xfrm>
            <a:off x="601791" y="555478"/>
            <a:ext cx="5491361" cy="1068223"/>
          </a:xfrm>
          <a:prstGeom prst="rect">
            <a:avLst/>
          </a:prstGeom>
        </p:spPr>
        <p:txBody>
          <a:bodyPr vert="horz" lIns="91440" tIns="45720" rIns="91440" bIns="45720" rtlCol="0" anchor="t">
            <a:normAutofit/>
          </a:bodyPr>
          <a:lstStyle>
            <a:lvl1pPr>
              <a:defRPr>
                <a:solidFill>
                  <a:srgbClr val="942F6D"/>
                </a:solidFill>
              </a:defRPr>
            </a:lvl1pPr>
          </a:lstStyle>
          <a:p>
            <a:r>
              <a:rPr lang="en-US" dirty="0"/>
              <a:t>Click to edit title</a:t>
            </a:r>
            <a:endParaRPr lang="en-GB" dirty="0"/>
          </a:p>
        </p:txBody>
      </p:sp>
      <p:sp>
        <p:nvSpPr>
          <p:cNvPr id="4" name="Text Placeholder 3"/>
          <p:cNvSpPr>
            <a:spLocks noGrp="1"/>
          </p:cNvSpPr>
          <p:nvPr>
            <p:ph type="body" sz="quarter" idx="11" hasCustomPrompt="1"/>
          </p:nvPr>
        </p:nvSpPr>
        <p:spPr>
          <a:xfrm>
            <a:off x="601791" y="1760537"/>
            <a:ext cx="5491361" cy="3845503"/>
          </a:xfrm>
          <a:prstGeom prst="rect">
            <a:avLst/>
          </a:prstGeom>
        </p:spPr>
        <p:txBody>
          <a:bodyPr/>
          <a:lstStyle>
            <a:lvl1pPr marL="0" indent="0">
              <a:buClr>
                <a:srgbClr val="6FC8F0"/>
              </a:buClr>
              <a:buNone/>
              <a:defRPr baseline="0">
                <a:solidFill>
                  <a:srgbClr val="656768"/>
                </a:solidFill>
              </a:defRPr>
            </a:lvl1pPr>
            <a:lvl2pPr marL="457200" indent="0">
              <a:buClr>
                <a:srgbClr val="6FC8F0"/>
              </a:buClr>
              <a:buNone/>
              <a:defRPr>
                <a:solidFill>
                  <a:srgbClr val="656768"/>
                </a:solidFill>
              </a:defRPr>
            </a:lvl2pPr>
            <a:lvl3pPr marL="914400" indent="0">
              <a:buClr>
                <a:srgbClr val="6FC8F0"/>
              </a:buClr>
              <a:buNone/>
              <a:defRPr>
                <a:solidFill>
                  <a:srgbClr val="656768"/>
                </a:solidFill>
              </a:defRPr>
            </a:lvl3pPr>
            <a:lvl4pPr marL="1371600" indent="0">
              <a:buClr>
                <a:srgbClr val="6FC8F0"/>
              </a:buClr>
              <a:buNone/>
              <a:defRPr>
                <a:solidFill>
                  <a:srgbClr val="656768"/>
                </a:solidFill>
              </a:defRPr>
            </a:lvl4pPr>
            <a:lvl5pPr marL="1828800" indent="0">
              <a:buClr>
                <a:srgbClr val="6FC8F0"/>
              </a:buClr>
              <a:buNone/>
              <a:defRPr>
                <a:solidFill>
                  <a:srgbClr val="656768"/>
                </a:solidFill>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pic>
        <p:nvPicPr>
          <p:cNvPr id="6" name="Picture 5" descr="A picture containing text, clipart&#10;&#10;Description automatically generated"/>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779233" y="927488"/>
            <a:ext cx="2495310" cy="1152049"/>
          </a:xfrm>
          <a:prstGeom prst="rect">
            <a:avLst/>
          </a:prstGeom>
        </p:spPr>
      </p:pic>
      <p:pic>
        <p:nvPicPr>
          <p:cNvPr id="14" name="Graphic 13"/>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2169667" y="1033477"/>
            <a:ext cx="3314700" cy="723931"/>
          </a:xfrm>
          <a:prstGeom prst="rect">
            <a:avLst/>
          </a:prstGeom>
        </p:spPr>
      </p:pic>
      <p:sp>
        <p:nvSpPr>
          <p:cNvPr id="2" name="Isosceles Triangle 1"/>
          <p:cNvSpPr/>
          <p:nvPr userDrawn="1"/>
        </p:nvSpPr>
        <p:spPr>
          <a:xfrm rot="5400000">
            <a:off x="1747328" y="5566954"/>
            <a:ext cx="155700" cy="99889"/>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665">
              <a:ln>
                <a:noFill/>
              </a:ln>
            </a:endParaRPr>
          </a:p>
        </p:txBody>
      </p:sp>
      <p:pic>
        <p:nvPicPr>
          <p:cNvPr id="3" name="Graphic 2"/>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2013106" y="5538064"/>
            <a:ext cx="1371600" cy="180983"/>
          </a:xfrm>
          <a:prstGeom prst="rect">
            <a:avLst/>
          </a:prstGeom>
        </p:spPr>
      </p:pic>
      <p:pic>
        <p:nvPicPr>
          <p:cNvPr id="5" name="Picture 4"/>
          <p:cNvPicPr>
            <a:picLocks noChangeAspect="1"/>
          </p:cNvPicPr>
          <p:nvPr userDrawn="1"/>
        </p:nvPicPr>
        <p:blipFill>
          <a:blip r:embed="rId7" cstate="print">
            <a:extLst>
              <a:ext uri="{28A0092B-C50C-407E-A947-70E740481C1C}">
                <a14:useLocalDpi xmlns:a14="http://schemas.microsoft.com/office/drawing/2010/main" val="0"/>
              </a:ext>
            </a:extLst>
          </a:blip>
          <a:srcRect/>
          <a:stretch>
            <a:fillRect/>
          </a:stretch>
        </p:blipFill>
        <p:spPr>
          <a:xfrm>
            <a:off x="8856512" y="5065192"/>
            <a:ext cx="1451310" cy="433375"/>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3.jpeg"/><Relationship Id="rId7" Type="http://schemas.openxmlformats.org/officeDocument/2006/relationships/image" Target="../media/image7.svg"/><Relationship Id="rId2" Type="http://schemas.openxmlformats.org/officeDocument/2006/relationships/theme" Target="../theme/theme2.xml"/><Relationship Id="rId1" Type="http://schemas.openxmlformats.org/officeDocument/2006/relationships/slideLayout" Target="../slideLayouts/slideLayout3.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Masters/_rels/slideMaster3.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slideLayout" Target="../slideLayouts/slideLayout6.xml"/><Relationship Id="rId7" Type="http://schemas.openxmlformats.org/officeDocument/2006/relationships/image" Target="../media/image6.png"/><Relationship Id="rId2" Type="http://schemas.openxmlformats.org/officeDocument/2006/relationships/slideLayout" Target="../slideLayouts/slideLayout5.xml"/><Relationship Id="rId1" Type="http://schemas.openxmlformats.org/officeDocument/2006/relationships/slideLayout" Target="../slideLayouts/slideLayout4.xml"/><Relationship Id="rId6" Type="http://schemas.openxmlformats.org/officeDocument/2006/relationships/theme" Target="../theme/theme3.xml"/><Relationship Id="rId5" Type="http://schemas.openxmlformats.org/officeDocument/2006/relationships/slideLayout" Target="../slideLayouts/slideLayout8.xml"/><Relationship Id="rId10" Type="http://schemas.openxmlformats.org/officeDocument/2006/relationships/image" Target="../media/image4.png"/><Relationship Id="rId4" Type="http://schemas.openxmlformats.org/officeDocument/2006/relationships/slideLayout" Target="../slideLayouts/slideLayout7.xml"/><Relationship Id="rId9" Type="http://schemas.openxmlformats.org/officeDocument/2006/relationships/image" Target="../media/image5.png"/></Relationships>
</file>

<file path=ppt/slideMasters/_rels/slideMaster4.xml.rels><?xml version="1.0" encoding="UTF-8" standalone="yes"?>
<Relationships xmlns="http://schemas.openxmlformats.org/package/2006/relationships"><Relationship Id="rId3" Type="http://schemas.openxmlformats.org/officeDocument/2006/relationships/image" Target="../media/image3.jpeg"/><Relationship Id="rId7" Type="http://schemas.openxmlformats.org/officeDocument/2006/relationships/image" Target="../media/image7.svg"/><Relationship Id="rId2" Type="http://schemas.openxmlformats.org/officeDocument/2006/relationships/theme" Target="../theme/theme4.xml"/><Relationship Id="rId1" Type="http://schemas.openxmlformats.org/officeDocument/2006/relationships/slideLayout" Target="../slideLayouts/slideLayout9.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Masters/_rels/slideMaster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theme" Target="../theme/theme5.xml"/><Relationship Id="rId1"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ctangle 6"/>
          <p:cNvSpPr/>
          <p:nvPr userDrawn="1"/>
        </p:nvSpPr>
        <p:spPr>
          <a:xfrm>
            <a:off x="0" y="0"/>
            <a:ext cx="12192000" cy="6858000"/>
          </a:xfrm>
          <a:prstGeom prst="rect">
            <a:avLst/>
          </a:prstGeom>
          <a:solidFill>
            <a:srgbClr val="942F6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rgbClr val="6FC8F0"/>
              </a:solidFill>
            </a:endParaRPr>
          </a:p>
        </p:txBody>
      </p:sp>
      <p:pic>
        <p:nvPicPr>
          <p:cNvPr id="2" name="Picture 1" descr="A picture containing text, clipart&#10;&#10;Description automatically generated"/>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9738091" y="651936"/>
            <a:ext cx="1835181" cy="847242"/>
          </a:xfrm>
          <a:prstGeom prst="rect">
            <a:avLst/>
          </a:prstGeom>
        </p:spPr>
      </p:pic>
      <p:pic>
        <p:nvPicPr>
          <p:cNvPr id="4" name="Picture 3"/>
          <p:cNvPicPr>
            <a:picLocks noChangeAspect="1"/>
          </p:cNvPicPr>
          <p:nvPr userDrawn="1"/>
        </p:nvPicPr>
        <p:blipFill>
          <a:blip r:embed="rId5" cstate="print">
            <a:extLst>
              <a:ext uri="{28A0092B-C50C-407E-A947-70E740481C1C}">
                <a14:useLocalDpi xmlns:a14="http://schemas.microsoft.com/office/drawing/2010/main" val="0"/>
              </a:ext>
            </a:extLst>
          </a:blip>
          <a:srcRect/>
          <a:stretch>
            <a:fillRect/>
          </a:stretch>
        </p:blipFill>
        <p:spPr>
          <a:xfrm>
            <a:off x="10122171" y="5895580"/>
            <a:ext cx="1451310" cy="433357"/>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4" name="Picture 3"/>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2043113" y="3228975"/>
            <a:ext cx="8105775" cy="3629025"/>
          </a:xfrm>
          <a:prstGeom prst="rect">
            <a:avLst/>
          </a:prstGeom>
        </p:spPr>
      </p:pic>
      <p:pic>
        <p:nvPicPr>
          <p:cNvPr id="3" name="Picture 2" descr="A picture containing text, sign, clipart&#10;&#10;Description automatically generated"/>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0017063" y="677074"/>
            <a:ext cx="1559570" cy="720000"/>
          </a:xfrm>
          <a:prstGeom prst="rect">
            <a:avLst/>
          </a:prstGeom>
        </p:spPr>
      </p:pic>
      <p:pic>
        <p:nvPicPr>
          <p:cNvPr id="9" name="Picture 8"/>
          <p:cNvPicPr>
            <a:picLocks noChangeAspect="1"/>
          </p:cNvPicPr>
          <p:nvPr userDrawn="1"/>
        </p:nvPicPr>
        <p:blipFill>
          <a:blip r:embed="rId5" cstate="print">
            <a:extLst>
              <a:ext uri="{28A0092B-C50C-407E-A947-70E740481C1C}">
                <a14:useLocalDpi xmlns:a14="http://schemas.microsoft.com/office/drawing/2010/main" val="0"/>
              </a:ext>
            </a:extLst>
          </a:blip>
          <a:srcRect/>
          <a:stretch>
            <a:fillRect/>
          </a:stretch>
        </p:blipFill>
        <p:spPr>
          <a:xfrm>
            <a:off x="10248624" y="5611775"/>
            <a:ext cx="1328009" cy="396539"/>
          </a:xfrm>
          <a:prstGeom prst="rect">
            <a:avLst/>
          </a:prstGeom>
        </p:spPr>
      </p:pic>
      <p:sp>
        <p:nvSpPr>
          <p:cNvPr id="5" name="Rectangle 4"/>
          <p:cNvSpPr/>
          <p:nvPr userDrawn="1"/>
        </p:nvSpPr>
        <p:spPr>
          <a:xfrm>
            <a:off x="0" y="6502400"/>
            <a:ext cx="12192000" cy="355600"/>
          </a:xfrm>
          <a:prstGeom prst="rect">
            <a:avLst/>
          </a:prstGeom>
          <a:solidFill>
            <a:srgbClr val="942F6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6" name="Graphic 5"/>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10535747" y="6603728"/>
            <a:ext cx="1371600" cy="180975"/>
          </a:xfrm>
          <a:prstGeom prst="rect">
            <a:avLst/>
          </a:prstGeom>
        </p:spPr>
      </p:pic>
      <p:sp>
        <p:nvSpPr>
          <p:cNvPr id="8" name="Isosceles Triangle 7"/>
          <p:cNvSpPr/>
          <p:nvPr userDrawn="1"/>
        </p:nvSpPr>
        <p:spPr>
          <a:xfrm rot="5400000">
            <a:off x="10297085" y="6626156"/>
            <a:ext cx="144000" cy="108000"/>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ln>
                <a:noFill/>
              </a:ln>
              <a:noFill/>
            </a:endParaRPr>
          </a:p>
        </p:txBody>
      </p:sp>
    </p:spTree>
  </p:cSld>
  <p:clrMap bg1="lt1" tx1="dk1" bg2="lt2" tx2="dk2" accent1="accent1" accent2="accent2" accent3="accent3" accent4="accent4" accent5="accent5" accent6="accent6" hlink="hlink" folHlink="folHlink"/>
  <p:sldLayoutIdLst>
    <p:sldLayoutId id="2147483652"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Rectangle 4"/>
          <p:cNvSpPr/>
          <p:nvPr userDrawn="1"/>
        </p:nvSpPr>
        <p:spPr>
          <a:xfrm>
            <a:off x="0" y="6502400"/>
            <a:ext cx="12192000" cy="355600"/>
          </a:xfrm>
          <a:prstGeom prst="rect">
            <a:avLst/>
          </a:prstGeom>
          <a:solidFill>
            <a:srgbClr val="942F6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6" name="Graphic 5"/>
          <p:cNvPicPr>
            <a:picLocks noChangeAspect="1"/>
          </p:cNvPicPr>
          <p:nvPr userDrawn="1"/>
        </p:nvPicPr>
        <p:blipFill>
          <a:blip r:embed="rId7">
            <a:extLst>
              <a:ext uri="{96DAC541-7B7A-43D3-8B79-37D633B846F1}">
                <asvg:svgBlip xmlns:asvg="http://schemas.microsoft.com/office/drawing/2016/SVG/main" r:embed="rId8"/>
              </a:ext>
            </a:extLst>
          </a:blip>
          <a:stretch>
            <a:fillRect/>
          </a:stretch>
        </p:blipFill>
        <p:spPr>
          <a:xfrm>
            <a:off x="10535747" y="6603728"/>
            <a:ext cx="1371600" cy="180975"/>
          </a:xfrm>
          <a:prstGeom prst="rect">
            <a:avLst/>
          </a:prstGeom>
        </p:spPr>
      </p:pic>
      <p:sp>
        <p:nvSpPr>
          <p:cNvPr id="8" name="Isosceles Triangle 7"/>
          <p:cNvSpPr/>
          <p:nvPr userDrawn="1"/>
        </p:nvSpPr>
        <p:spPr>
          <a:xfrm rot="5400000">
            <a:off x="10297085" y="6626156"/>
            <a:ext cx="144000" cy="108000"/>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ln>
                <a:noFill/>
              </a:ln>
              <a:noFill/>
            </a:endParaRPr>
          </a:p>
        </p:txBody>
      </p:sp>
      <p:pic>
        <p:nvPicPr>
          <p:cNvPr id="9" name="Picture 8"/>
          <p:cNvPicPr>
            <a:picLocks noChangeAspect="1"/>
          </p:cNvPicPr>
          <p:nvPr userDrawn="1"/>
        </p:nvPicPr>
        <p:blipFill>
          <a:blip r:embed="rId9" cstate="print">
            <a:extLst>
              <a:ext uri="{28A0092B-C50C-407E-A947-70E740481C1C}">
                <a14:useLocalDpi xmlns:a14="http://schemas.microsoft.com/office/drawing/2010/main" val="0"/>
              </a:ext>
            </a:extLst>
          </a:blip>
          <a:srcRect/>
          <a:stretch>
            <a:fillRect/>
          </a:stretch>
        </p:blipFill>
        <p:spPr>
          <a:xfrm>
            <a:off x="10248624" y="5611775"/>
            <a:ext cx="1328009" cy="396539"/>
          </a:xfrm>
          <a:prstGeom prst="rect">
            <a:avLst/>
          </a:prstGeom>
        </p:spPr>
      </p:pic>
      <p:pic>
        <p:nvPicPr>
          <p:cNvPr id="4" name="Picture 3" descr="A picture containing text, sign, clipart&#10;&#10;Description automatically generated"/>
          <p:cNvPicPr>
            <a:picLocks noChangeAspect="1"/>
          </p:cNvPicPr>
          <p:nvPr userDrawn="1"/>
        </p:nvPicPr>
        <p:blipFill>
          <a:blip r:embed="rId10" cstate="print">
            <a:extLst>
              <a:ext uri="{28A0092B-C50C-407E-A947-70E740481C1C}">
                <a14:useLocalDpi xmlns:a14="http://schemas.microsoft.com/office/drawing/2010/main" val="0"/>
              </a:ext>
            </a:extLst>
          </a:blip>
          <a:stretch>
            <a:fillRect/>
          </a:stretch>
        </p:blipFill>
        <p:spPr>
          <a:xfrm>
            <a:off x="10017063" y="677074"/>
            <a:ext cx="1559570" cy="720000"/>
          </a:xfrm>
          <a:prstGeom prst="rect">
            <a:avLst/>
          </a:prstGeom>
        </p:spPr>
      </p:pic>
    </p:spTree>
  </p:cSld>
  <p:clrMap bg1="lt1" tx1="dk1" bg2="lt2" tx2="dk2" accent1="accent1" accent2="accent2" accent3="accent3" accent4="accent4" accent5="accent5" accent6="accent6" hlink="hlink" folHlink="folHlink"/>
  <p:sldLayoutIdLst>
    <p:sldLayoutId id="2147483654" r:id="rId1"/>
    <p:sldLayoutId id="2147483655" r:id="rId2"/>
    <p:sldLayoutId id="2147483660" r:id="rId3"/>
    <p:sldLayoutId id="2147483661" r:id="rId4"/>
    <p:sldLayoutId id="2147483662" r:id="rId5"/>
  </p:sldLayoutIdLst>
  <p:txStyles>
    <p:titleStyle>
      <a:lvl1pPr algn="l" defTabSz="914400" rtl="0" eaLnBrk="1" latinLnBrk="0" hangingPunct="1">
        <a:lnSpc>
          <a:spcPts val="3200"/>
        </a:lnSpc>
        <a:spcBef>
          <a:spcPct val="0"/>
        </a:spcBef>
        <a:buNone/>
        <a:defRPr sz="4200" b="1" kern="1200" cap="all" spc="-50" baseline="0">
          <a:solidFill>
            <a:srgbClr val="942F6D"/>
          </a:solidFill>
          <a:latin typeface="+mn-lt"/>
          <a:ea typeface="+mj-ea"/>
          <a:cs typeface="+mj-cs"/>
        </a:defRPr>
      </a:lvl1pPr>
    </p:titleStyle>
    <p:bodyStyle>
      <a:lvl1pPr marL="228600" indent="-228600" algn="l" defTabSz="914400" rtl="0" eaLnBrk="1" latinLnBrk="0" hangingPunct="1">
        <a:lnSpc>
          <a:spcPct val="90000"/>
        </a:lnSpc>
        <a:spcBef>
          <a:spcPts val="1000"/>
        </a:spcBef>
        <a:buClr>
          <a:srgbClr val="942F6D"/>
        </a:buClr>
        <a:buFont typeface="Arial" panose="020B0604020202020204" pitchFamily="34" charset="0"/>
        <a:buChar char="•"/>
        <a:defRPr sz="2800" kern="1200">
          <a:solidFill>
            <a:srgbClr val="0D3E63"/>
          </a:solidFill>
          <a:latin typeface="+mn-lt"/>
          <a:ea typeface="+mn-ea"/>
          <a:cs typeface="+mn-cs"/>
        </a:defRPr>
      </a:lvl1pPr>
      <a:lvl2pPr marL="685800" indent="-228600" algn="l" defTabSz="914400" rtl="0" eaLnBrk="1" latinLnBrk="0" hangingPunct="1">
        <a:lnSpc>
          <a:spcPct val="90000"/>
        </a:lnSpc>
        <a:spcBef>
          <a:spcPts val="500"/>
        </a:spcBef>
        <a:buClr>
          <a:srgbClr val="942F6D"/>
        </a:buClr>
        <a:buFont typeface="Arial" panose="020B0604020202020204" pitchFamily="34" charset="0"/>
        <a:buChar char="•"/>
        <a:defRPr sz="2400" kern="1200">
          <a:solidFill>
            <a:srgbClr val="0D3E63"/>
          </a:solidFill>
          <a:latin typeface="+mn-lt"/>
          <a:ea typeface="+mn-ea"/>
          <a:cs typeface="+mn-cs"/>
        </a:defRPr>
      </a:lvl2pPr>
      <a:lvl3pPr marL="1143000" indent="-228600" algn="l" defTabSz="914400" rtl="0" eaLnBrk="1" latinLnBrk="0" hangingPunct="1">
        <a:lnSpc>
          <a:spcPct val="90000"/>
        </a:lnSpc>
        <a:spcBef>
          <a:spcPts val="500"/>
        </a:spcBef>
        <a:buClr>
          <a:srgbClr val="942F6D"/>
        </a:buClr>
        <a:buFont typeface="Arial" panose="020B0604020202020204" pitchFamily="34" charset="0"/>
        <a:buChar char="•"/>
        <a:defRPr sz="2000" kern="1200">
          <a:solidFill>
            <a:srgbClr val="0D3E63"/>
          </a:solidFill>
          <a:latin typeface="+mn-lt"/>
          <a:ea typeface="+mn-ea"/>
          <a:cs typeface="+mn-cs"/>
        </a:defRPr>
      </a:lvl3pPr>
      <a:lvl4pPr marL="1600200" indent="-228600" algn="l" defTabSz="914400" rtl="0" eaLnBrk="1" latinLnBrk="0" hangingPunct="1">
        <a:lnSpc>
          <a:spcPct val="90000"/>
        </a:lnSpc>
        <a:spcBef>
          <a:spcPts val="500"/>
        </a:spcBef>
        <a:buClr>
          <a:srgbClr val="942F6D"/>
        </a:buClr>
        <a:buFont typeface="Arial" panose="020B0604020202020204" pitchFamily="34" charset="0"/>
        <a:buChar char="•"/>
        <a:defRPr sz="1800" kern="1200">
          <a:solidFill>
            <a:srgbClr val="0D3E63"/>
          </a:solidFill>
          <a:latin typeface="+mn-lt"/>
          <a:ea typeface="+mn-ea"/>
          <a:cs typeface="+mn-cs"/>
        </a:defRPr>
      </a:lvl4pPr>
      <a:lvl5pPr marL="2057400" indent="-228600" algn="l" defTabSz="914400" rtl="0" eaLnBrk="1" latinLnBrk="0" hangingPunct="1">
        <a:lnSpc>
          <a:spcPct val="90000"/>
        </a:lnSpc>
        <a:spcBef>
          <a:spcPts val="500"/>
        </a:spcBef>
        <a:buClr>
          <a:srgbClr val="942F6D"/>
        </a:buClr>
        <a:buFont typeface="Arial" panose="020B0604020202020204" pitchFamily="34" charset="0"/>
        <a:buChar char="•"/>
        <a:defRPr sz="1800" kern="1200">
          <a:solidFill>
            <a:srgbClr val="0D3E63"/>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14" name="Picture 13"/>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2043113" y="3228975"/>
            <a:ext cx="8105775" cy="3629025"/>
          </a:xfrm>
          <a:prstGeom prst="rect">
            <a:avLst/>
          </a:prstGeom>
        </p:spPr>
      </p:pic>
      <p:pic>
        <p:nvPicPr>
          <p:cNvPr id="3" name="Picture 2" descr="A picture containing text, sign, clipart&#10;&#10;Description automatically generated"/>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0017063" y="677074"/>
            <a:ext cx="1559570" cy="720000"/>
          </a:xfrm>
          <a:prstGeom prst="rect">
            <a:avLst/>
          </a:prstGeom>
        </p:spPr>
      </p:pic>
      <p:pic>
        <p:nvPicPr>
          <p:cNvPr id="9" name="Picture 8"/>
          <p:cNvPicPr>
            <a:picLocks noChangeAspect="1"/>
          </p:cNvPicPr>
          <p:nvPr userDrawn="1"/>
        </p:nvPicPr>
        <p:blipFill>
          <a:blip r:embed="rId5" cstate="print">
            <a:extLst>
              <a:ext uri="{28A0092B-C50C-407E-A947-70E740481C1C}">
                <a14:useLocalDpi xmlns:a14="http://schemas.microsoft.com/office/drawing/2010/main" val="0"/>
              </a:ext>
            </a:extLst>
          </a:blip>
          <a:srcRect/>
          <a:stretch>
            <a:fillRect/>
          </a:stretch>
        </p:blipFill>
        <p:spPr>
          <a:xfrm>
            <a:off x="10248624" y="5611775"/>
            <a:ext cx="1328009" cy="396539"/>
          </a:xfrm>
          <a:prstGeom prst="rect">
            <a:avLst/>
          </a:prstGeom>
        </p:spPr>
      </p:pic>
      <p:sp>
        <p:nvSpPr>
          <p:cNvPr id="5" name="Rectangle 4"/>
          <p:cNvSpPr/>
          <p:nvPr userDrawn="1"/>
        </p:nvSpPr>
        <p:spPr>
          <a:xfrm>
            <a:off x="0" y="6502400"/>
            <a:ext cx="12192000" cy="355600"/>
          </a:xfrm>
          <a:prstGeom prst="rect">
            <a:avLst/>
          </a:prstGeom>
          <a:solidFill>
            <a:srgbClr val="942F6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4" name="Graphic 5"/>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10535747" y="6603728"/>
            <a:ext cx="1371600" cy="180975"/>
          </a:xfrm>
          <a:prstGeom prst="rect">
            <a:avLst/>
          </a:prstGeom>
        </p:spPr>
      </p:pic>
      <p:sp>
        <p:nvSpPr>
          <p:cNvPr id="8" name="Isosceles Triangle 7"/>
          <p:cNvSpPr/>
          <p:nvPr userDrawn="1"/>
        </p:nvSpPr>
        <p:spPr>
          <a:xfrm rot="5400000">
            <a:off x="10297085" y="6626156"/>
            <a:ext cx="144000" cy="108000"/>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ln>
                <a:noFill/>
              </a:ln>
              <a:noFill/>
            </a:endParaRPr>
          </a:p>
        </p:txBody>
      </p:sp>
    </p:spTree>
  </p:cSld>
  <p:clrMap bg1="lt1" tx1="dk1" bg2="lt2" tx2="dk2" accent1="accent1" accent2="accent2" accent3="accent3" accent4="accent4" accent5="accent5" accent6="accent6" hlink="hlink" folHlink="folHlink"/>
  <p:sldLayoutIdLst>
    <p:sldLayoutId id="2147483657" r:id="rId1"/>
  </p:sldLayoutIdLst>
  <p:txStyles>
    <p:titleStyle>
      <a:lvl1pPr algn="l" defTabSz="914400" rtl="0" eaLnBrk="1" latinLnBrk="0" hangingPunct="1">
        <a:lnSpc>
          <a:spcPts val="3500"/>
        </a:lnSpc>
        <a:spcBef>
          <a:spcPct val="0"/>
        </a:spcBef>
        <a:buNone/>
        <a:defRPr sz="4200" b="1" kern="1200" cap="all" spc="-50" baseline="0">
          <a:solidFill>
            <a:srgbClr val="0D3E63"/>
          </a:solidFill>
          <a:latin typeface="+mn-lt"/>
          <a:ea typeface="+mj-ea"/>
          <a:cs typeface="+mj-cs"/>
        </a:defRPr>
      </a:lvl1pPr>
    </p:titleStyle>
    <p:bodyStyle>
      <a:lvl1pPr marL="228600" indent="-228600" algn="l" defTabSz="914400" rtl="0" eaLnBrk="1" latinLnBrk="0" hangingPunct="1">
        <a:lnSpc>
          <a:spcPct val="90000"/>
        </a:lnSpc>
        <a:spcBef>
          <a:spcPts val="1000"/>
        </a:spcBef>
        <a:buClr>
          <a:srgbClr val="942F6D"/>
        </a:buClr>
        <a:buFont typeface="Arial" panose="020B0604020202020204" pitchFamily="34" charset="0"/>
        <a:buChar char="•"/>
        <a:defRPr sz="2800" kern="1200">
          <a:solidFill>
            <a:srgbClr val="0D3E63"/>
          </a:solidFill>
          <a:latin typeface="+mn-lt"/>
          <a:ea typeface="+mn-ea"/>
          <a:cs typeface="+mn-cs"/>
        </a:defRPr>
      </a:lvl1pPr>
      <a:lvl2pPr marL="685800" indent="-228600" algn="l" defTabSz="914400" rtl="0" eaLnBrk="1" latinLnBrk="0" hangingPunct="1">
        <a:lnSpc>
          <a:spcPct val="90000"/>
        </a:lnSpc>
        <a:spcBef>
          <a:spcPts val="500"/>
        </a:spcBef>
        <a:buClr>
          <a:srgbClr val="942F6D"/>
        </a:buClr>
        <a:buFont typeface="Arial" panose="020B0604020202020204" pitchFamily="34" charset="0"/>
        <a:buChar char="•"/>
        <a:defRPr sz="2400" kern="1200">
          <a:solidFill>
            <a:srgbClr val="0D3E63"/>
          </a:solidFill>
          <a:latin typeface="+mn-lt"/>
          <a:ea typeface="+mn-ea"/>
          <a:cs typeface="+mn-cs"/>
        </a:defRPr>
      </a:lvl2pPr>
      <a:lvl3pPr marL="1143000" indent="-228600" algn="l" defTabSz="914400" rtl="0" eaLnBrk="1" latinLnBrk="0" hangingPunct="1">
        <a:lnSpc>
          <a:spcPct val="90000"/>
        </a:lnSpc>
        <a:spcBef>
          <a:spcPts val="500"/>
        </a:spcBef>
        <a:buClr>
          <a:srgbClr val="942F6D"/>
        </a:buClr>
        <a:buFont typeface="Arial" panose="020B0604020202020204" pitchFamily="34" charset="0"/>
        <a:buChar char="•"/>
        <a:defRPr sz="2000" kern="1200">
          <a:solidFill>
            <a:srgbClr val="0D3E63"/>
          </a:solidFill>
          <a:latin typeface="+mn-lt"/>
          <a:ea typeface="+mn-ea"/>
          <a:cs typeface="+mn-cs"/>
        </a:defRPr>
      </a:lvl3pPr>
      <a:lvl4pPr marL="1600200" indent="-228600" algn="l" defTabSz="914400" rtl="0" eaLnBrk="1" latinLnBrk="0" hangingPunct="1">
        <a:lnSpc>
          <a:spcPct val="90000"/>
        </a:lnSpc>
        <a:spcBef>
          <a:spcPts val="500"/>
        </a:spcBef>
        <a:buClr>
          <a:srgbClr val="942F6D"/>
        </a:buClr>
        <a:buFont typeface="Arial" panose="020B0604020202020204" pitchFamily="34" charset="0"/>
        <a:buChar char="•"/>
        <a:defRPr sz="1800" kern="1200">
          <a:solidFill>
            <a:srgbClr val="0D3E63"/>
          </a:solidFill>
          <a:latin typeface="+mn-lt"/>
          <a:ea typeface="+mn-ea"/>
          <a:cs typeface="+mn-cs"/>
        </a:defRPr>
      </a:lvl4pPr>
      <a:lvl5pPr marL="2057400" indent="-228600" algn="l" defTabSz="914400" rtl="0" eaLnBrk="1" latinLnBrk="0" hangingPunct="1">
        <a:lnSpc>
          <a:spcPct val="90000"/>
        </a:lnSpc>
        <a:spcBef>
          <a:spcPts val="500"/>
        </a:spcBef>
        <a:buClr>
          <a:srgbClr val="942F6D"/>
        </a:buClr>
        <a:buFont typeface="Arial" panose="020B0604020202020204" pitchFamily="34" charset="0"/>
        <a:buChar char="•"/>
        <a:defRPr sz="1800" kern="1200">
          <a:solidFill>
            <a:srgbClr val="0D3E63"/>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3">
            <a:extLst>
              <a:ext uri="{28A0092B-C50C-407E-A947-70E740481C1C}">
                <a14:useLocalDpi xmlns:a14="http://schemas.microsoft.com/office/drawing/2010/main" val="0"/>
              </a:ext>
            </a:extLst>
          </a:blip>
          <a:srcRect/>
          <a:stretch>
            <a:fillRect/>
          </a:stretch>
        </p:blipFill>
        <p:spPr>
          <a:xfrm>
            <a:off x="0" y="0"/>
            <a:ext cx="12192000" cy="6858294"/>
          </a:xfrm>
          <a:prstGeom prst="rect">
            <a:avLst/>
          </a:prstGeom>
        </p:spPr>
      </p:pic>
    </p:spTree>
  </p:cSld>
  <p:clrMap bg1="lt1" tx1="dk1" bg2="lt2" tx2="dk2" accent1="accent1" accent2="accent2" accent3="accent3" accent4="accent4" accent5="accent5" accent6="accent6" hlink="hlink" folHlink="folHlink"/>
  <p:sldLayoutIdLst>
    <p:sldLayoutId id="2147483659" r:id="rId1"/>
  </p:sldLayoutIdLst>
  <p:txStyles>
    <p:titleStyle>
      <a:lvl1pPr algn="l" defTabSz="845820" rtl="0" eaLnBrk="1" latinLnBrk="0" hangingPunct="1">
        <a:lnSpc>
          <a:spcPct val="90000"/>
        </a:lnSpc>
        <a:spcBef>
          <a:spcPct val="0"/>
        </a:spcBef>
        <a:buNone/>
        <a:defRPr sz="4070" kern="1200">
          <a:solidFill>
            <a:schemeClr val="tx1"/>
          </a:solidFill>
          <a:latin typeface="+mj-lt"/>
          <a:ea typeface="+mj-ea"/>
          <a:cs typeface="+mj-cs"/>
        </a:defRPr>
      </a:lvl1pPr>
    </p:titleStyle>
    <p:bodyStyle>
      <a:lvl1pPr marL="211455" indent="-211455" algn="l" defTabSz="845820" rtl="0" eaLnBrk="1" latinLnBrk="0" hangingPunct="1">
        <a:lnSpc>
          <a:spcPct val="90000"/>
        </a:lnSpc>
        <a:spcBef>
          <a:spcPts val="925"/>
        </a:spcBef>
        <a:buFont typeface="Arial" panose="020B0604020202020204" pitchFamily="34" charset="0"/>
        <a:buChar char="•"/>
        <a:defRPr sz="2590" kern="1200">
          <a:solidFill>
            <a:schemeClr val="tx1"/>
          </a:solidFill>
          <a:latin typeface="+mn-lt"/>
          <a:ea typeface="+mn-ea"/>
          <a:cs typeface="+mn-cs"/>
        </a:defRPr>
      </a:lvl1pPr>
      <a:lvl2pPr marL="634365" indent="-211455" algn="l" defTabSz="845820" rtl="0" eaLnBrk="1" latinLnBrk="0" hangingPunct="1">
        <a:lnSpc>
          <a:spcPct val="90000"/>
        </a:lnSpc>
        <a:spcBef>
          <a:spcPct val="93000"/>
        </a:spcBef>
        <a:buFont typeface="Arial" panose="020B0604020202020204" pitchFamily="34" charset="0"/>
        <a:buChar char="•"/>
        <a:defRPr sz="2220" kern="1200">
          <a:solidFill>
            <a:schemeClr val="tx1"/>
          </a:solidFill>
          <a:latin typeface="+mn-lt"/>
          <a:ea typeface="+mn-ea"/>
          <a:cs typeface="+mn-cs"/>
        </a:defRPr>
      </a:lvl2pPr>
      <a:lvl3pPr marL="1057275" indent="-211455" algn="l" defTabSz="845820" rtl="0" eaLnBrk="1" latinLnBrk="0" hangingPunct="1">
        <a:lnSpc>
          <a:spcPct val="90000"/>
        </a:lnSpc>
        <a:spcBef>
          <a:spcPct val="93000"/>
        </a:spcBef>
        <a:buFont typeface="Arial" panose="020B0604020202020204" pitchFamily="34" charset="0"/>
        <a:buChar char="•"/>
        <a:defRPr sz="1850" kern="1200">
          <a:solidFill>
            <a:schemeClr val="tx1"/>
          </a:solidFill>
          <a:latin typeface="+mn-lt"/>
          <a:ea typeface="+mn-ea"/>
          <a:cs typeface="+mn-cs"/>
        </a:defRPr>
      </a:lvl3pPr>
      <a:lvl4pPr marL="1480185" indent="-211455" algn="l" defTabSz="845820" rtl="0" eaLnBrk="1" latinLnBrk="0" hangingPunct="1">
        <a:lnSpc>
          <a:spcPct val="90000"/>
        </a:lnSpc>
        <a:spcBef>
          <a:spcPct val="93000"/>
        </a:spcBef>
        <a:buFont typeface="Arial" panose="020B0604020202020204" pitchFamily="34" charset="0"/>
        <a:buChar char="•"/>
        <a:defRPr sz="1665" kern="1200">
          <a:solidFill>
            <a:schemeClr val="tx1"/>
          </a:solidFill>
          <a:latin typeface="+mn-lt"/>
          <a:ea typeface="+mn-ea"/>
          <a:cs typeface="+mn-cs"/>
        </a:defRPr>
      </a:lvl4pPr>
      <a:lvl5pPr marL="1903095" indent="-211455" algn="l" defTabSz="845820" rtl="0" eaLnBrk="1" latinLnBrk="0" hangingPunct="1">
        <a:lnSpc>
          <a:spcPct val="90000"/>
        </a:lnSpc>
        <a:spcBef>
          <a:spcPct val="93000"/>
        </a:spcBef>
        <a:buFont typeface="Arial" panose="020B0604020202020204" pitchFamily="34" charset="0"/>
        <a:buChar char="•"/>
        <a:defRPr sz="1665" kern="1200">
          <a:solidFill>
            <a:schemeClr val="tx1"/>
          </a:solidFill>
          <a:latin typeface="+mn-lt"/>
          <a:ea typeface="+mn-ea"/>
          <a:cs typeface="+mn-cs"/>
        </a:defRPr>
      </a:lvl5pPr>
      <a:lvl6pPr marL="2326005" indent="-211455" algn="l" defTabSz="845820" rtl="0" eaLnBrk="1" latinLnBrk="0" hangingPunct="1">
        <a:lnSpc>
          <a:spcPct val="90000"/>
        </a:lnSpc>
        <a:spcBef>
          <a:spcPct val="93000"/>
        </a:spcBef>
        <a:buFont typeface="Arial" panose="020B0604020202020204" pitchFamily="34" charset="0"/>
        <a:buChar char="•"/>
        <a:defRPr sz="1665" kern="1200">
          <a:solidFill>
            <a:schemeClr val="tx1"/>
          </a:solidFill>
          <a:latin typeface="+mn-lt"/>
          <a:ea typeface="+mn-ea"/>
          <a:cs typeface="+mn-cs"/>
        </a:defRPr>
      </a:lvl6pPr>
      <a:lvl7pPr marL="2748915" indent="-211455" algn="l" defTabSz="845820" rtl="0" eaLnBrk="1" latinLnBrk="0" hangingPunct="1">
        <a:lnSpc>
          <a:spcPct val="90000"/>
        </a:lnSpc>
        <a:spcBef>
          <a:spcPct val="93000"/>
        </a:spcBef>
        <a:buFont typeface="Arial" panose="020B0604020202020204" pitchFamily="34" charset="0"/>
        <a:buChar char="•"/>
        <a:defRPr sz="1665" kern="1200">
          <a:solidFill>
            <a:schemeClr val="tx1"/>
          </a:solidFill>
          <a:latin typeface="+mn-lt"/>
          <a:ea typeface="+mn-ea"/>
          <a:cs typeface="+mn-cs"/>
        </a:defRPr>
      </a:lvl7pPr>
      <a:lvl8pPr marL="3171190" indent="-211455" algn="l" defTabSz="845820" rtl="0" eaLnBrk="1" latinLnBrk="0" hangingPunct="1">
        <a:lnSpc>
          <a:spcPct val="90000"/>
        </a:lnSpc>
        <a:spcBef>
          <a:spcPct val="93000"/>
        </a:spcBef>
        <a:buFont typeface="Arial" panose="020B0604020202020204" pitchFamily="34" charset="0"/>
        <a:buChar char="•"/>
        <a:defRPr sz="1665" kern="1200">
          <a:solidFill>
            <a:schemeClr val="tx1"/>
          </a:solidFill>
          <a:latin typeface="+mn-lt"/>
          <a:ea typeface="+mn-ea"/>
          <a:cs typeface="+mn-cs"/>
        </a:defRPr>
      </a:lvl8pPr>
      <a:lvl9pPr marL="3594100" indent="-211455" algn="l" defTabSz="845820" rtl="0" eaLnBrk="1" latinLnBrk="0" hangingPunct="1">
        <a:lnSpc>
          <a:spcPct val="90000"/>
        </a:lnSpc>
        <a:spcBef>
          <a:spcPct val="93000"/>
        </a:spcBef>
        <a:buFont typeface="Arial" panose="020B0604020202020204" pitchFamily="34" charset="0"/>
        <a:buChar char="•"/>
        <a:defRPr sz="1665" kern="1200">
          <a:solidFill>
            <a:schemeClr val="tx1"/>
          </a:solidFill>
          <a:latin typeface="+mn-lt"/>
          <a:ea typeface="+mn-ea"/>
          <a:cs typeface="+mn-cs"/>
        </a:defRPr>
      </a:lvl9pPr>
    </p:bodyStyle>
    <p:otherStyle>
      <a:defPPr>
        <a:defRPr lang="en-US"/>
      </a:defPPr>
      <a:lvl1pPr marL="0" algn="l" defTabSz="845820" rtl="0" eaLnBrk="1" latinLnBrk="0" hangingPunct="1">
        <a:defRPr sz="1665" kern="1200">
          <a:solidFill>
            <a:schemeClr val="tx1"/>
          </a:solidFill>
          <a:latin typeface="+mn-lt"/>
          <a:ea typeface="+mn-ea"/>
          <a:cs typeface="+mn-cs"/>
        </a:defRPr>
      </a:lvl1pPr>
      <a:lvl2pPr marL="422910" algn="l" defTabSz="845820" rtl="0" eaLnBrk="1" latinLnBrk="0" hangingPunct="1">
        <a:defRPr sz="1665" kern="1200">
          <a:solidFill>
            <a:schemeClr val="tx1"/>
          </a:solidFill>
          <a:latin typeface="+mn-lt"/>
          <a:ea typeface="+mn-ea"/>
          <a:cs typeface="+mn-cs"/>
        </a:defRPr>
      </a:lvl2pPr>
      <a:lvl3pPr marL="845820" algn="l" defTabSz="845820" rtl="0" eaLnBrk="1" latinLnBrk="0" hangingPunct="1">
        <a:defRPr sz="1665" kern="1200">
          <a:solidFill>
            <a:schemeClr val="tx1"/>
          </a:solidFill>
          <a:latin typeface="+mn-lt"/>
          <a:ea typeface="+mn-ea"/>
          <a:cs typeface="+mn-cs"/>
        </a:defRPr>
      </a:lvl3pPr>
      <a:lvl4pPr marL="1268730" algn="l" defTabSz="845820" rtl="0" eaLnBrk="1" latinLnBrk="0" hangingPunct="1">
        <a:defRPr sz="1665" kern="1200">
          <a:solidFill>
            <a:schemeClr val="tx1"/>
          </a:solidFill>
          <a:latin typeface="+mn-lt"/>
          <a:ea typeface="+mn-ea"/>
          <a:cs typeface="+mn-cs"/>
        </a:defRPr>
      </a:lvl4pPr>
      <a:lvl5pPr marL="1691640" algn="l" defTabSz="845820" rtl="0" eaLnBrk="1" latinLnBrk="0" hangingPunct="1">
        <a:defRPr sz="1665" kern="1200">
          <a:solidFill>
            <a:schemeClr val="tx1"/>
          </a:solidFill>
          <a:latin typeface="+mn-lt"/>
          <a:ea typeface="+mn-ea"/>
          <a:cs typeface="+mn-cs"/>
        </a:defRPr>
      </a:lvl5pPr>
      <a:lvl6pPr marL="2114550" algn="l" defTabSz="845820" rtl="0" eaLnBrk="1" latinLnBrk="0" hangingPunct="1">
        <a:defRPr sz="1665" kern="1200">
          <a:solidFill>
            <a:schemeClr val="tx1"/>
          </a:solidFill>
          <a:latin typeface="+mn-lt"/>
          <a:ea typeface="+mn-ea"/>
          <a:cs typeface="+mn-cs"/>
        </a:defRPr>
      </a:lvl6pPr>
      <a:lvl7pPr marL="2537460" algn="l" defTabSz="845820" rtl="0" eaLnBrk="1" latinLnBrk="0" hangingPunct="1">
        <a:defRPr sz="1665" kern="1200">
          <a:solidFill>
            <a:schemeClr val="tx1"/>
          </a:solidFill>
          <a:latin typeface="+mn-lt"/>
          <a:ea typeface="+mn-ea"/>
          <a:cs typeface="+mn-cs"/>
        </a:defRPr>
      </a:lvl7pPr>
      <a:lvl8pPr marL="2959735" algn="l" defTabSz="845820" rtl="0" eaLnBrk="1" latinLnBrk="0" hangingPunct="1">
        <a:defRPr sz="1665" kern="1200">
          <a:solidFill>
            <a:schemeClr val="tx1"/>
          </a:solidFill>
          <a:latin typeface="+mn-lt"/>
          <a:ea typeface="+mn-ea"/>
          <a:cs typeface="+mn-cs"/>
        </a:defRPr>
      </a:lvl8pPr>
      <a:lvl9pPr marL="3382645" algn="l" defTabSz="845820" rtl="0" eaLnBrk="1" latinLnBrk="0" hangingPunct="1">
        <a:defRPr sz="1665"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jpg"/><Relationship Id="rId1" Type="http://schemas.openxmlformats.org/officeDocument/2006/relationships/slideLayout" Target="../slideLayouts/slideLayout4.xml"/><Relationship Id="rId4" Type="http://schemas.openxmlformats.org/officeDocument/2006/relationships/image" Target="../media/image17.jpg"/></Relationships>
</file>

<file path=ppt/slides/_rels/slide7.xml.rels><?xml version="1.0" encoding="UTF-8" standalone="yes"?>
<Relationships xmlns="http://schemas.openxmlformats.org/package/2006/relationships"><Relationship Id="rId3" Type="http://schemas.openxmlformats.org/officeDocument/2006/relationships/hyperlink" Target="https://www.google.com/search?q=convolutional+layers&amp;rlz=1C1GCEB_enGB1157GB1161&amp;oq=what+are+convolutional+&amp;gs_lcrp=EgZjaHJvbWUqDAgAEAAYQxiABBiKBTIMCAAQABhDGIAEGIoFMgYIARBFGDkyBwgCEAAYgAQyBwgDEAAYgAQyBwgEEAAYgAQyBwgFEAAYgAQyBwgGEAAYgAQyBwgHEAAYgAQyBwgIEAAYgAQyBwgJEAAYgATSAQgzNTE0ajBqN6gCALACAA&amp;sourceid=chrome&amp;ie=UTF-8&amp;ved=2ahUKEwi74P-6n7OSAxW__rsIHXOLPbcQgK4QegYIAQgAEAc" TargetMode="External"/><Relationship Id="rId2" Type="http://schemas.openxmlformats.org/officeDocument/2006/relationships/hyperlink" Target="https://www.google.com/search?q=Convolutional+Neural+Networks&amp;rlz=1C1GCEB_enGB1157GB1161&amp;oq=what+are+convolutional+&amp;gs_lcrp=EgZjaHJvbWUqDAgAEAAYQxiABBiKBTIMCAAQABhDGIAEGIoFMgYIARBFGDkyBwgCEAAYgAQyBwgDEAAYgAQyBwgEEAAYgAQyBwgFEAAYgAQyBwgGEAAYgAQyBwgHEAAYgAQyBwgIEAAYgAQyBwgJEAAYgATSAQgzNTE0ajBqN6gCALACAA&amp;sourceid=chrome&amp;ie=UTF-8&amp;ved=2ahUKEwi74P-6n7OSAxW__rsIHXOLPbcQgK4QegYIAQgAEAU" TargetMode="External"/><Relationship Id="rId1" Type="http://schemas.openxmlformats.org/officeDocument/2006/relationships/slideLayout" Target="../slideLayouts/slideLayout5.xml"/><Relationship Id="rId5" Type="http://schemas.openxmlformats.org/officeDocument/2006/relationships/hyperlink" Target="https://www.google.com/search?q=fully+connected+layers&amp;rlz=1C1GCEB_enGB1157GB1161&amp;oq=what+are+convolutional+&amp;gs_lcrp=EgZjaHJvbWUqDAgAEAAYQxiABBiKBTIMCAAQABhDGIAEGIoFMgYIARBFGDkyBwgCEAAYgAQyBwgDEAAYgAQyBwgEEAAYgAQyBwgFEAAYgAQyBwgGEAAYgAQyBwgHEAAYgAQyBwgIEAAYgAQyBwgJEAAYgATSAQgzNTE0ajBqN6gCALACAA&amp;sourceid=chrome&amp;ie=UTF-8&amp;ved=2ahUKEwi74P-6n7OSAxW__rsIHXOLPbcQgK4QegYIAQgAEAk" TargetMode="External"/><Relationship Id="rId4" Type="http://schemas.openxmlformats.org/officeDocument/2006/relationships/hyperlink" Target="https://www.google.com/search?q=pooling+layers&amp;rlz=1C1GCEB_enGB1157GB1161&amp;oq=what+are+convolutional+&amp;gs_lcrp=EgZjaHJvbWUqDAgAEAAYQxiABBiKBTIMCAAQABhDGIAEGIoFMgYIARBFGDkyBwgCEAAYgAQyBwgDEAAYgAQyBwgEEAAYgAQyBwgFEAAYgAQyBwgGEAAYgAQyBwgHEAAYgAQyBwgIEAAYgAQyBwgJEAAYgATSAQgzNTE0ajBqN6gCALACAA&amp;sourceid=chrome&amp;ie=UTF-8&amp;ved=2ahUKEwi74P-6n7OSAxW__rsIHXOLPbcQgK4QegYIAQgAEAg"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jpg"/><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image" Target="../media/image20.jp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22.jpg"/><Relationship Id="rId2" Type="http://schemas.openxmlformats.org/officeDocument/2006/relationships/image" Target="../media/image21.png"/><Relationship Id="rId1" Type="http://schemas.openxmlformats.org/officeDocument/2006/relationships/slideLayout" Target="../slideLayouts/slideLayout6.xml"/><Relationship Id="rId4" Type="http://schemas.openxmlformats.org/officeDocument/2006/relationships/image" Target="../media/image23.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image" Target="../media/image25.jpg"/><Relationship Id="rId2" Type="http://schemas.openxmlformats.org/officeDocument/2006/relationships/image" Target="../media/image24.jpg"/><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hyperlink" Target="https://medium.com/apache-mxnet/multi-channel-convolutions-explained-with-ms-excel-9bbf8eb77108" TargetMode="External"/><Relationship Id="rId2" Type="http://schemas.openxmlformats.org/officeDocument/2006/relationships/image" Target="../media/image26.jpg"/><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jpg"/><Relationship Id="rId1" Type="http://schemas.openxmlformats.org/officeDocument/2006/relationships/slideLayout" Target="../slideLayouts/slideLayout6.xml"/><Relationship Id="rId4" Type="http://schemas.openxmlformats.org/officeDocument/2006/relationships/image" Target="../media/image29.jpg"/></Relationships>
</file>

<file path=ppt/slides/_rels/slide18.xml.rels><?xml version="1.0" encoding="UTF-8" standalone="yes"?>
<Relationships xmlns="http://schemas.openxmlformats.org/package/2006/relationships"><Relationship Id="rId2" Type="http://schemas.openxmlformats.org/officeDocument/2006/relationships/image" Target="../media/image30.jpg"/><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3" Type="http://schemas.openxmlformats.org/officeDocument/2006/relationships/hyperlink" Target="https://en.wikipedia.org/wiki/Kernel_" TargetMode="External"/><Relationship Id="rId2" Type="http://schemas.openxmlformats.org/officeDocument/2006/relationships/image" Target="../media/image31.jpg"/><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8" Type="http://schemas.openxmlformats.org/officeDocument/2006/relationships/image" Target="../media/image38.png"/><Relationship Id="rId13" Type="http://schemas.openxmlformats.org/officeDocument/2006/relationships/image" Target="../media/image43.png"/><Relationship Id="rId18" Type="http://schemas.openxmlformats.org/officeDocument/2006/relationships/image" Target="../media/image48.jpg"/><Relationship Id="rId3" Type="http://schemas.openxmlformats.org/officeDocument/2006/relationships/image" Target="../media/image33.png"/><Relationship Id="rId7" Type="http://schemas.openxmlformats.org/officeDocument/2006/relationships/image" Target="../media/image37.png"/><Relationship Id="rId12" Type="http://schemas.openxmlformats.org/officeDocument/2006/relationships/image" Target="../media/image42.png"/><Relationship Id="rId17" Type="http://schemas.openxmlformats.org/officeDocument/2006/relationships/image" Target="../media/image47.png"/><Relationship Id="rId2" Type="http://schemas.openxmlformats.org/officeDocument/2006/relationships/image" Target="../media/image32.png"/><Relationship Id="rId16" Type="http://schemas.openxmlformats.org/officeDocument/2006/relationships/image" Target="../media/image46.png"/><Relationship Id="rId1" Type="http://schemas.openxmlformats.org/officeDocument/2006/relationships/slideLayout" Target="../slideLayouts/slideLayout6.xml"/><Relationship Id="rId6" Type="http://schemas.openxmlformats.org/officeDocument/2006/relationships/image" Target="../media/image36.png"/><Relationship Id="rId11" Type="http://schemas.openxmlformats.org/officeDocument/2006/relationships/image" Target="../media/image41.png"/><Relationship Id="rId5" Type="http://schemas.openxmlformats.org/officeDocument/2006/relationships/image" Target="../media/image35.png"/><Relationship Id="rId15" Type="http://schemas.openxmlformats.org/officeDocument/2006/relationships/image" Target="../media/image45.png"/><Relationship Id="rId10" Type="http://schemas.openxmlformats.org/officeDocument/2006/relationships/image" Target="../media/image40.png"/><Relationship Id="rId4" Type="http://schemas.openxmlformats.org/officeDocument/2006/relationships/image" Target="../media/image34.png"/><Relationship Id="rId9" Type="http://schemas.openxmlformats.org/officeDocument/2006/relationships/image" Target="../media/image39.png"/><Relationship Id="rId14" Type="http://schemas.openxmlformats.org/officeDocument/2006/relationships/image" Target="../media/image44.png"/></Relationships>
</file>

<file path=ppt/slides/_rels/slide21.xml.rels><?xml version="1.0" encoding="UTF-8" standalone="yes"?>
<Relationships xmlns="http://schemas.openxmlformats.org/package/2006/relationships"><Relationship Id="rId3" Type="http://schemas.openxmlformats.org/officeDocument/2006/relationships/image" Target="../media/image50.jpg"/><Relationship Id="rId2" Type="http://schemas.openxmlformats.org/officeDocument/2006/relationships/image" Target="../media/image49.jpg"/><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image" Target="../media/image51.jp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52.jpg"/><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3" Type="http://schemas.openxmlformats.org/officeDocument/2006/relationships/image" Target="../media/image54.jpg"/><Relationship Id="rId2" Type="http://schemas.openxmlformats.org/officeDocument/2006/relationships/image" Target="../media/image53.jpg"/><Relationship Id="rId1" Type="http://schemas.openxmlformats.org/officeDocument/2006/relationships/slideLayout" Target="../slideLayouts/slideLayout7.xml"/><Relationship Id="rId4" Type="http://schemas.openxmlformats.org/officeDocument/2006/relationships/image" Target="../media/image55.jpg"/></Relationships>
</file>

<file path=ppt/slides/_rels/slide26.xml.rels><?xml version="1.0" encoding="UTF-8" standalone="yes"?>
<Relationships xmlns="http://schemas.openxmlformats.org/package/2006/relationships"><Relationship Id="rId2" Type="http://schemas.openxmlformats.org/officeDocument/2006/relationships/image" Target="../media/image56.jp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58.jpg"/><Relationship Id="rId2" Type="http://schemas.openxmlformats.org/officeDocument/2006/relationships/image" Target="../media/image57.jpg"/><Relationship Id="rId1" Type="http://schemas.openxmlformats.org/officeDocument/2006/relationships/slideLayout" Target="../slideLayouts/slideLayout5.xml"/><Relationship Id="rId5" Type="http://schemas.openxmlformats.org/officeDocument/2006/relationships/hyperlink" Target="https://medium.com/apache-mxnet/multi-channel-convolutions-explained-with-ms-excel-9bbf8eb77108" TargetMode="External"/><Relationship Id="rId4" Type="http://schemas.openxmlformats.org/officeDocument/2006/relationships/image" Target="../media/image59.png"/></Relationships>
</file>

<file path=ppt/slides/_rels/slide28.xml.rels><?xml version="1.0" encoding="UTF-8" standalone="yes"?>
<Relationships xmlns="http://schemas.openxmlformats.org/package/2006/relationships"><Relationship Id="rId2" Type="http://schemas.openxmlformats.org/officeDocument/2006/relationships/image" Target="../media/image60.jpg"/><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2" Type="http://schemas.openxmlformats.org/officeDocument/2006/relationships/image" Target="../media/image61.jpg"/><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3" Type="http://schemas.openxmlformats.org/officeDocument/2006/relationships/image" Target="../media/image63.svg"/><Relationship Id="rId2" Type="http://schemas.openxmlformats.org/officeDocument/2006/relationships/image" Target="../media/image62.png"/><Relationship Id="rId1" Type="http://schemas.openxmlformats.org/officeDocument/2006/relationships/slideLayout" Target="../slideLayouts/slideLayout6.xml"/><Relationship Id="rId4" Type="http://schemas.openxmlformats.org/officeDocument/2006/relationships/hyperlink" Target="https://colab.research.google.com/drive/1QKq26Z6DkH30QXEDRerE8V-csVxiwkBD?usp=sharing" TargetMode="External"/></Relationships>
</file>

<file path=ppt/slides/_rels/slide31.xml.rels><?xml version="1.0" encoding="UTF-8" standalone="yes"?>
<Relationships xmlns="http://schemas.openxmlformats.org/package/2006/relationships"><Relationship Id="rId2" Type="http://schemas.openxmlformats.org/officeDocument/2006/relationships/image" Target="../media/image64.jpg"/><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3" Type="http://schemas.openxmlformats.org/officeDocument/2006/relationships/image" Target="../media/image66.jpg"/><Relationship Id="rId2" Type="http://schemas.openxmlformats.org/officeDocument/2006/relationships/image" Target="../media/image65.jpg"/><Relationship Id="rId1" Type="http://schemas.openxmlformats.org/officeDocument/2006/relationships/slideLayout" Target="../slideLayouts/slideLayout6.xml"/><Relationship Id="rId5" Type="http://schemas.openxmlformats.org/officeDocument/2006/relationships/image" Target="../media/image68.jpg"/><Relationship Id="rId4" Type="http://schemas.openxmlformats.org/officeDocument/2006/relationships/image" Target="../media/image67.jpg"/></Relationships>
</file>

<file path=ppt/slides/_rels/slide35.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image" Target="../media/image69.jpg"/><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2" Type="http://schemas.openxmlformats.org/officeDocument/2006/relationships/image" Target="../media/image71.jpg"/><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2" Type="http://schemas.openxmlformats.org/officeDocument/2006/relationships/image" Target="../media/image72.jpg"/><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3" Type="http://schemas.openxmlformats.org/officeDocument/2006/relationships/image" Target="../media/image74.jpg"/><Relationship Id="rId2" Type="http://schemas.openxmlformats.org/officeDocument/2006/relationships/image" Target="../media/image73.jpg"/><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2" Type="http://schemas.openxmlformats.org/officeDocument/2006/relationships/image" Target="../media/image75.png"/><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2" Type="http://schemas.openxmlformats.org/officeDocument/2006/relationships/image" Target="../media/image76.png"/><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2" Type="http://schemas.openxmlformats.org/officeDocument/2006/relationships/image" Target="../media/image77.jpeg"/><Relationship Id="rId1" Type="http://schemas.openxmlformats.org/officeDocument/2006/relationships/slideLayout" Target="../slideLayouts/slideLayout6.xml"/></Relationships>
</file>

<file path=ppt/slides/_rels/slide44.xml.rels><?xml version="1.0" encoding="UTF-8" standalone="yes"?>
<Relationships xmlns="http://schemas.openxmlformats.org/package/2006/relationships"><Relationship Id="rId2" Type="http://schemas.openxmlformats.org/officeDocument/2006/relationships/image" Target="../media/image78.jpeg"/><Relationship Id="rId1"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Id2" Type="http://schemas.openxmlformats.org/officeDocument/2006/relationships/hyperlink" Target="http://www.wildml.com/2015/09/recurrent-neural-networks-tutorial-part-1-introduction-to-rnns/" TargetMode="External"/><Relationship Id="rId1" Type="http://schemas.openxmlformats.org/officeDocument/2006/relationships/slideLayout" Target="../slideLayouts/slideLayout6.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7.xml.rels><?xml version="1.0" encoding="UTF-8" standalone="yes"?>
<Relationships xmlns="http://schemas.openxmlformats.org/package/2006/relationships"><Relationship Id="rId2" Type="http://schemas.openxmlformats.org/officeDocument/2006/relationships/image" Target="../media/image79.jpg"/><Relationship Id="rId1" Type="http://schemas.openxmlformats.org/officeDocument/2006/relationships/slideLayout" Target="../slideLayouts/slideLayout6.xml"/></Relationships>
</file>

<file path=ppt/slides/_rels/slide48.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image" Target="../media/image80.png"/><Relationship Id="rId1" Type="http://schemas.openxmlformats.org/officeDocument/2006/relationships/slideLayout" Target="../slideLayouts/slideLayout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0.xml.rels><?xml version="1.0" encoding="UTF-8" standalone="yes"?>
<Relationships xmlns="http://schemas.openxmlformats.org/package/2006/relationships"><Relationship Id="rId3" Type="http://schemas.openxmlformats.org/officeDocument/2006/relationships/image" Target="../media/image63.svg"/><Relationship Id="rId2" Type="http://schemas.openxmlformats.org/officeDocument/2006/relationships/image" Target="../media/image62.png"/><Relationship Id="rId1" Type="http://schemas.openxmlformats.org/officeDocument/2006/relationships/slideLayout" Target="../slideLayouts/slideLayout6.xml"/><Relationship Id="rId4" Type="http://schemas.openxmlformats.org/officeDocument/2006/relationships/hyperlink" Target="https://colab.research.google.com/drive/10iYcP1wN1Kn-RwhJgzBcySXGBNR0uJM_?usp=sharing" TargetMode="Externa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3.xml.rels><?xml version="1.0" encoding="UTF-8" standalone="yes"?>
<Relationships xmlns="http://schemas.openxmlformats.org/package/2006/relationships"><Relationship Id="rId3" Type="http://schemas.openxmlformats.org/officeDocument/2006/relationships/hyperlink" Target="https://www.cs.toronto.edu/~vmnih/docs/dqn.pdf" TargetMode="External"/><Relationship Id="rId2" Type="http://schemas.openxmlformats.org/officeDocument/2006/relationships/image" Target="../media/image82.jpg"/><Relationship Id="rId1" Type="http://schemas.openxmlformats.org/officeDocument/2006/relationships/slideLayout" Target="../slideLayouts/slideLayout6.xml"/></Relationships>
</file>

<file path=ppt/slides/_rels/slide54.xml.rels><?xml version="1.0" encoding="UTF-8" standalone="yes"?>
<Relationships xmlns="http://schemas.openxmlformats.org/package/2006/relationships"><Relationship Id="rId3" Type="http://schemas.openxmlformats.org/officeDocument/2006/relationships/image" Target="../media/image84.gif"/><Relationship Id="rId2" Type="http://schemas.openxmlformats.org/officeDocument/2006/relationships/image" Target="../media/image83.png"/><Relationship Id="rId1" Type="http://schemas.openxmlformats.org/officeDocument/2006/relationships/slideLayout" Target="../slideLayouts/slideLayout6.xml"/></Relationships>
</file>

<file path=ppt/slides/_rels/slide55.xml.rels><?xml version="1.0" encoding="UTF-8" standalone="yes"?>
<Relationships xmlns="http://schemas.openxmlformats.org/package/2006/relationships"><Relationship Id="rId3" Type="http://schemas.openxmlformats.org/officeDocument/2006/relationships/hyperlink" Target="https://www.mdpi.com/2624-6511/5/1/11" TargetMode="External"/><Relationship Id="rId2" Type="http://schemas.openxmlformats.org/officeDocument/2006/relationships/image" Target="../media/image85.png"/><Relationship Id="rId1" Type="http://schemas.openxmlformats.org/officeDocument/2006/relationships/slideLayout" Target="../slideLayouts/slideLayout6.xml"/></Relationships>
</file>

<file path=ppt/slides/_rels/slide56.xml.rels><?xml version="1.0" encoding="UTF-8" standalone="yes"?>
<Relationships xmlns="http://schemas.openxmlformats.org/package/2006/relationships"><Relationship Id="rId2" Type="http://schemas.openxmlformats.org/officeDocument/2006/relationships/image" Target="../media/image86.png"/><Relationship Id="rId1" Type="http://schemas.openxmlformats.org/officeDocument/2006/relationships/slideLayout" Target="../slideLayouts/slideLayout6.xml"/></Relationships>
</file>

<file path=ppt/slides/_rels/slide57.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6.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9.xml.rels><?xml version="1.0" encoding="UTF-8" standalone="yes"?>
<Relationships xmlns="http://schemas.openxmlformats.org/package/2006/relationships"><Relationship Id="rId2" Type="http://schemas.openxmlformats.org/officeDocument/2006/relationships/image" Target="../media/image95.png"/><Relationship Id="rId1" Type="http://schemas.openxmlformats.org/officeDocument/2006/relationships/slideLayout" Target="../slideLayouts/slideLayout6.xml"/></Relationships>
</file>

<file path=ppt/slides/_rels/slide60.xml.rels><?xml version="1.0" encoding="UTF-8" standalone="yes"?>
<Relationships xmlns="http://schemas.openxmlformats.org/package/2006/relationships"><Relationship Id="rId2" Type="http://schemas.openxmlformats.org/officeDocument/2006/relationships/image" Target="../media/image95.png"/><Relationship Id="rId1" Type="http://schemas.openxmlformats.org/officeDocument/2006/relationships/slideLayout" Target="../slideLayouts/slideLayout6.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2.xml.rels><?xml version="1.0" encoding="UTF-8" standalone="yes"?>
<Relationships xmlns="http://schemas.openxmlformats.org/package/2006/relationships"><Relationship Id="rId2" Type="http://schemas.openxmlformats.org/officeDocument/2006/relationships/hyperlink" Target="https://colab.research.google.com/drive/1YRwh7a7p_5TvpLO_HcyTnKNBSju_0yk3?usp=sharing" TargetMode="External"/><Relationship Id="rId1" Type="http://schemas.openxmlformats.org/officeDocument/2006/relationships/slideLayout" Target="../slideLayouts/slideLayout6.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Applied Machine learning</a:t>
            </a:r>
          </a:p>
        </p:txBody>
      </p:sp>
      <p:sp>
        <p:nvSpPr>
          <p:cNvPr id="3" name="Text Placeholder 2"/>
          <p:cNvSpPr>
            <a:spLocks noGrp="1"/>
          </p:cNvSpPr>
          <p:nvPr>
            <p:ph type="body" sz="quarter" idx="10"/>
          </p:nvPr>
        </p:nvSpPr>
        <p:spPr/>
        <p:txBody>
          <a:bodyPr/>
          <a:lstStyle/>
          <a:p>
            <a:r>
              <a:rPr lang="en-GB" dirty="0"/>
              <a:t>Regent College London</a:t>
            </a:r>
          </a:p>
          <a:p>
            <a:r>
              <a:rPr lang="en-GB" dirty="0"/>
              <a:t>SWE6302</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Applied Machine learning </a:t>
            </a:r>
          </a:p>
        </p:txBody>
      </p:sp>
      <p:sp>
        <p:nvSpPr>
          <p:cNvPr id="3" name="Text Placeholder 2"/>
          <p:cNvSpPr>
            <a:spLocks noGrp="1"/>
          </p:cNvSpPr>
          <p:nvPr>
            <p:ph type="body" sz="quarter" idx="10"/>
          </p:nvPr>
        </p:nvSpPr>
        <p:spPr/>
        <p:txBody>
          <a:bodyPr/>
          <a:lstStyle/>
          <a:p>
            <a:r>
              <a:rPr lang="en-GB" dirty="0"/>
              <a:t>SWE6302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GB" dirty="0"/>
              <a:t>Machine learning</a:t>
            </a:r>
            <a:endParaRPr lang="en-US" dirty="0"/>
          </a:p>
        </p:txBody>
      </p:sp>
      <p:sp>
        <p:nvSpPr>
          <p:cNvPr id="4" name="Text Placeholder 3"/>
          <p:cNvSpPr>
            <a:spLocks noGrp="1"/>
          </p:cNvSpPr>
          <p:nvPr>
            <p:ph type="body" sz="quarter" idx="11"/>
          </p:nvPr>
        </p:nvSpPr>
        <p:spPr>
          <a:xfrm>
            <a:off x="7281356" y="2782252"/>
            <a:ext cx="5491361" cy="3845503"/>
          </a:xfrm>
        </p:spPr>
        <p:txBody>
          <a:bodyPr/>
          <a:lstStyle/>
          <a:p>
            <a:r>
              <a:rPr lang="en-GB" dirty="0"/>
              <a:t>CNN, RNN &amp; RL</a:t>
            </a:r>
            <a:endParaRPr lang="en-US" dirty="0"/>
          </a:p>
        </p:txBody>
      </p:sp>
      <p:pic>
        <p:nvPicPr>
          <p:cNvPr id="5" name="Picture 4"/>
          <p:cNvPicPr>
            <a:picLocks noChangeAspect="1"/>
          </p:cNvPicPr>
          <p:nvPr/>
        </p:nvPicPr>
        <p:blipFill>
          <a:blip r:embed="rId2"/>
          <a:stretch>
            <a:fillRect/>
          </a:stretch>
        </p:blipFill>
        <p:spPr>
          <a:xfrm>
            <a:off x="393343" y="1867256"/>
            <a:ext cx="6551188" cy="3958454"/>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p:nvPr/>
        </p:nvSpPr>
        <p:spPr>
          <a:xfrm>
            <a:off x="1591827" y="2985581"/>
            <a:ext cx="10515600" cy="1186075"/>
          </a:xfrm>
          <a:prstGeom prst="rect">
            <a:avLst/>
          </a:prstGeom>
        </p:spPr>
        <p:txBody>
          <a:bodyPr/>
          <a:lstStyle>
            <a:lvl1pPr algn="l" defTabSz="914400" rtl="0" eaLnBrk="1" latinLnBrk="0" hangingPunct="1">
              <a:lnSpc>
                <a:spcPts val="3200"/>
              </a:lnSpc>
              <a:spcBef>
                <a:spcPct val="0"/>
              </a:spcBef>
              <a:buNone/>
              <a:defRPr sz="4200" b="1" kern="1200" cap="all" spc="-50" baseline="0">
                <a:solidFill>
                  <a:srgbClr val="942F6D"/>
                </a:solidFill>
                <a:latin typeface="+mn-lt"/>
                <a:ea typeface="+mj-ea"/>
                <a:cs typeface="+mj-cs"/>
              </a:defRPr>
            </a:lvl1pPr>
          </a:lstStyle>
          <a:p>
            <a:r>
              <a:rPr lang="en-GB" dirty="0"/>
              <a:t>Module 1 – CNN/Convnet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solidFill>
                  <a:srgbClr val="942D6D"/>
                </a:solidFill>
              </a:rPr>
              <a:t>Learning objectives</a:t>
            </a:r>
            <a:endParaRPr lang="en-US" dirty="0">
              <a:solidFill>
                <a:srgbClr val="942D6D"/>
              </a:solidFill>
            </a:endParaRPr>
          </a:p>
        </p:txBody>
      </p:sp>
      <p:sp>
        <p:nvSpPr>
          <p:cNvPr id="3" name="Text Placeholder 2"/>
          <p:cNvSpPr>
            <a:spLocks noGrp="1"/>
          </p:cNvSpPr>
          <p:nvPr>
            <p:ph type="body" sz="quarter" idx="10"/>
          </p:nvPr>
        </p:nvSpPr>
        <p:spPr>
          <a:xfrm>
            <a:off x="877821" y="1521449"/>
            <a:ext cx="10712388" cy="3815101"/>
          </a:xfrm>
        </p:spPr>
        <p:txBody>
          <a:bodyPr/>
          <a:lstStyle/>
          <a:p>
            <a:r>
              <a:rPr lang="en-GB" dirty="0">
                <a:solidFill>
                  <a:schemeClr val="tx1">
                    <a:lumMod val="75000"/>
                    <a:lumOff val="25000"/>
                  </a:schemeClr>
                </a:solidFill>
              </a:rPr>
              <a:t>Understand Convolutional Neural Networks (CNNs)</a:t>
            </a:r>
          </a:p>
          <a:p>
            <a:r>
              <a:rPr lang="en-GB" dirty="0">
                <a:solidFill>
                  <a:schemeClr val="tx1">
                    <a:lumMod val="75000"/>
                    <a:lumOff val="25000"/>
                  </a:schemeClr>
                </a:solidFill>
              </a:rPr>
              <a:t>Understand Recurrent Neural Networks (RNNs)</a:t>
            </a:r>
          </a:p>
          <a:p>
            <a:r>
              <a:rPr lang="en-GB" dirty="0">
                <a:solidFill>
                  <a:schemeClr val="tx1">
                    <a:lumMod val="75000"/>
                    <a:lumOff val="25000"/>
                  </a:schemeClr>
                </a:solidFill>
              </a:rPr>
              <a:t>Introduction to Reinforcement Learning</a:t>
            </a:r>
          </a:p>
          <a:p>
            <a:endParaRPr lang="en-US" dirty="0">
              <a:solidFill>
                <a:schemeClr val="bg2">
                  <a:lumMod val="25000"/>
                </a:schemeClr>
              </a:solidFill>
            </a:endParaRPr>
          </a:p>
        </p:txBody>
      </p:sp>
      <p:cxnSp>
        <p:nvCxnSpPr>
          <p:cNvPr id="4" name="Straight Connector 3"/>
          <p:cNvCxnSpPr/>
          <p:nvPr/>
        </p:nvCxnSpPr>
        <p:spPr>
          <a:xfrm flipH="1">
            <a:off x="601791" y="1070621"/>
            <a:ext cx="8161323" cy="0"/>
          </a:xfrm>
          <a:prstGeom prst="line">
            <a:avLst/>
          </a:prstGeom>
        </p:spPr>
        <p:style>
          <a:lnRef idx="2">
            <a:schemeClr val="dk1"/>
          </a:lnRef>
          <a:fillRef idx="0">
            <a:schemeClr val="dk1"/>
          </a:fillRef>
          <a:effectRef idx="1">
            <a:schemeClr val="dk1"/>
          </a:effectRef>
          <a:fontRef idx="minor">
            <a:schemeClr val="tx1"/>
          </a:fontRef>
        </p:style>
      </p:cxnSp>
      <p:cxnSp>
        <p:nvCxnSpPr>
          <p:cNvPr id="5" name="Straight Connector 4"/>
          <p:cNvCxnSpPr/>
          <p:nvPr/>
        </p:nvCxnSpPr>
        <p:spPr>
          <a:xfrm flipV="1">
            <a:off x="472083" y="423248"/>
            <a:ext cx="0" cy="555277"/>
          </a:xfrm>
          <a:prstGeom prst="line">
            <a:avLst/>
          </a:prstGeom>
        </p:spPr>
        <p:style>
          <a:lnRef idx="2">
            <a:schemeClr val="dk1"/>
          </a:lnRef>
          <a:fillRef idx="0">
            <a:schemeClr val="dk1"/>
          </a:fillRef>
          <a:effectRef idx="1">
            <a:schemeClr val="dk1"/>
          </a:effectRef>
          <a:fontRef idx="minor">
            <a:schemeClr val="tx1"/>
          </a:fontRef>
        </p:style>
      </p:cxnSp>
      <p:cxnSp>
        <p:nvCxnSpPr>
          <p:cNvPr id="6" name="Straight Connector 5"/>
          <p:cNvCxnSpPr/>
          <p:nvPr/>
        </p:nvCxnSpPr>
        <p:spPr>
          <a:xfrm flipH="1" flipV="1">
            <a:off x="470171" y="1089589"/>
            <a:ext cx="1912" cy="4298063"/>
          </a:xfrm>
          <a:prstGeom prst="line">
            <a:avLst/>
          </a:prstGeom>
        </p:spPr>
        <p:style>
          <a:lnRef idx="2">
            <a:schemeClr val="dk1"/>
          </a:lnRef>
          <a:fillRef idx="0">
            <a:schemeClr val="dk1"/>
          </a:fillRef>
          <a:effectRef idx="1">
            <a:schemeClr val="dk1"/>
          </a:effectRef>
          <a:fontRef idx="minor">
            <a:schemeClr val="tx1"/>
          </a:fontRef>
        </p:style>
      </p:cxn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381000">
              <a:lnSpc>
                <a:spcPct val="100000"/>
              </a:lnSpc>
              <a:spcBef>
                <a:spcPts val="100"/>
              </a:spcBef>
            </a:pPr>
            <a:r>
              <a:rPr lang="en-US" sz="4400" spc="-229" dirty="0"/>
              <a:t>Supervised</a:t>
            </a:r>
            <a:r>
              <a:rPr lang="en-US" sz="4400" spc="-495" dirty="0"/>
              <a:t> </a:t>
            </a:r>
            <a:r>
              <a:rPr lang="en-US" sz="4400" spc="-210" dirty="0"/>
              <a:t>Learning</a:t>
            </a:r>
            <a:r>
              <a:rPr lang="en-US" sz="4400" spc="-365" dirty="0"/>
              <a:t> </a:t>
            </a:r>
            <a:r>
              <a:rPr lang="en-US" sz="4400" spc="-120" dirty="0"/>
              <a:t>with Neural</a:t>
            </a:r>
            <a:r>
              <a:rPr lang="en-US" sz="4400" spc="-235" dirty="0"/>
              <a:t> </a:t>
            </a:r>
            <a:r>
              <a:rPr lang="en-US" sz="4400" spc="-135" dirty="0"/>
              <a:t>Networks</a:t>
            </a:r>
            <a:endParaRPr lang="en-US" sz="4400" dirty="0"/>
          </a:p>
        </p:txBody>
      </p:sp>
      <p:cxnSp>
        <p:nvCxnSpPr>
          <p:cNvPr id="4" name="Straight Connector 3"/>
          <p:cNvCxnSpPr/>
          <p:nvPr/>
        </p:nvCxnSpPr>
        <p:spPr>
          <a:xfrm flipH="1">
            <a:off x="471616" y="1291601"/>
            <a:ext cx="8161323" cy="0"/>
          </a:xfrm>
          <a:prstGeom prst="line">
            <a:avLst/>
          </a:prstGeom>
        </p:spPr>
        <p:style>
          <a:lnRef idx="2">
            <a:schemeClr val="dk1"/>
          </a:lnRef>
          <a:fillRef idx="0">
            <a:schemeClr val="dk1"/>
          </a:fillRef>
          <a:effectRef idx="1">
            <a:schemeClr val="dk1"/>
          </a:effectRef>
          <a:fontRef idx="minor">
            <a:schemeClr val="tx1"/>
          </a:fontRef>
        </p:style>
      </p:cxnSp>
      <p:cxnSp>
        <p:nvCxnSpPr>
          <p:cNvPr id="5" name="Straight Connector 4"/>
          <p:cNvCxnSpPr/>
          <p:nvPr/>
        </p:nvCxnSpPr>
        <p:spPr>
          <a:xfrm flipV="1">
            <a:off x="472083" y="534373"/>
            <a:ext cx="0" cy="555277"/>
          </a:xfrm>
          <a:prstGeom prst="line">
            <a:avLst/>
          </a:prstGeom>
        </p:spPr>
        <p:style>
          <a:lnRef idx="2">
            <a:schemeClr val="dk1"/>
          </a:lnRef>
          <a:fillRef idx="0">
            <a:schemeClr val="dk1"/>
          </a:fillRef>
          <a:effectRef idx="1">
            <a:schemeClr val="dk1"/>
          </a:effectRef>
          <a:fontRef idx="minor">
            <a:schemeClr val="tx1"/>
          </a:fontRef>
        </p:style>
      </p:cxnSp>
      <p:cxnSp>
        <p:nvCxnSpPr>
          <p:cNvPr id="6" name="Straight Connector 5"/>
          <p:cNvCxnSpPr/>
          <p:nvPr/>
        </p:nvCxnSpPr>
        <p:spPr>
          <a:xfrm flipH="1" flipV="1">
            <a:off x="470171" y="1089589"/>
            <a:ext cx="1912" cy="4298063"/>
          </a:xfrm>
          <a:prstGeom prst="line">
            <a:avLst/>
          </a:prstGeom>
        </p:spPr>
        <p:style>
          <a:lnRef idx="2">
            <a:schemeClr val="dk1"/>
          </a:lnRef>
          <a:fillRef idx="0">
            <a:schemeClr val="dk1"/>
          </a:fillRef>
          <a:effectRef idx="1">
            <a:schemeClr val="dk1"/>
          </a:effectRef>
          <a:fontRef idx="minor">
            <a:schemeClr val="tx1"/>
          </a:fontRef>
        </p:style>
      </p:cxnSp>
      <p:sp>
        <p:nvSpPr>
          <p:cNvPr id="12" name="object 3">
            <a:extLst>
              <a:ext uri="{FF2B5EF4-FFF2-40B4-BE49-F238E27FC236}">
                <a16:creationId xmlns:a16="http://schemas.microsoft.com/office/drawing/2014/main" id="{DE31666B-45F2-2E6F-EC36-68DD5B008FC9}"/>
              </a:ext>
            </a:extLst>
          </p:cNvPr>
          <p:cNvSpPr txBox="1"/>
          <p:nvPr/>
        </p:nvSpPr>
        <p:spPr>
          <a:xfrm>
            <a:off x="4646929" y="1366257"/>
            <a:ext cx="3310254" cy="391160"/>
          </a:xfrm>
          <a:prstGeom prst="rect">
            <a:avLst/>
          </a:prstGeom>
        </p:spPr>
        <p:txBody>
          <a:bodyPr vert="horz" wrap="square" lIns="0" tIns="1270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2700">
              <a:lnSpc>
                <a:spcPct val="100000"/>
              </a:lnSpc>
              <a:spcBef>
                <a:spcPts val="100"/>
              </a:spcBef>
            </a:pPr>
            <a:r>
              <a:rPr sz="2400" b="1" spc="-130" dirty="0">
                <a:solidFill>
                  <a:srgbClr val="242424"/>
                </a:solidFill>
                <a:latin typeface="Arial"/>
                <a:cs typeface="Arial"/>
              </a:rPr>
              <a:t>Neural</a:t>
            </a:r>
            <a:r>
              <a:rPr sz="2400" b="1" spc="-270" dirty="0">
                <a:solidFill>
                  <a:srgbClr val="242424"/>
                </a:solidFill>
                <a:latin typeface="Arial"/>
                <a:cs typeface="Arial"/>
              </a:rPr>
              <a:t> </a:t>
            </a:r>
            <a:r>
              <a:rPr sz="2400" b="1" spc="-110" dirty="0">
                <a:solidFill>
                  <a:srgbClr val="242424"/>
                </a:solidFill>
                <a:latin typeface="Arial"/>
                <a:cs typeface="Arial"/>
              </a:rPr>
              <a:t>Network</a:t>
            </a:r>
            <a:r>
              <a:rPr sz="2400" b="1" spc="-300" dirty="0">
                <a:solidFill>
                  <a:srgbClr val="242424"/>
                </a:solidFill>
                <a:latin typeface="Arial"/>
                <a:cs typeface="Arial"/>
              </a:rPr>
              <a:t> </a:t>
            </a:r>
            <a:r>
              <a:rPr sz="2400" b="1" spc="-150" dirty="0">
                <a:solidFill>
                  <a:srgbClr val="242424"/>
                </a:solidFill>
                <a:latin typeface="Arial"/>
                <a:cs typeface="Arial"/>
              </a:rPr>
              <a:t>examples</a:t>
            </a:r>
            <a:endParaRPr sz="2400" dirty="0">
              <a:latin typeface="Arial"/>
              <a:cs typeface="Arial"/>
            </a:endParaRPr>
          </a:p>
        </p:txBody>
      </p:sp>
      <p:pic>
        <p:nvPicPr>
          <p:cNvPr id="13" name="object 4">
            <a:extLst>
              <a:ext uri="{FF2B5EF4-FFF2-40B4-BE49-F238E27FC236}">
                <a16:creationId xmlns:a16="http://schemas.microsoft.com/office/drawing/2014/main" id="{86458597-959D-4816-EC62-EE1BC1E4FEDB}"/>
              </a:ext>
            </a:extLst>
          </p:cNvPr>
          <p:cNvPicPr/>
          <p:nvPr/>
        </p:nvPicPr>
        <p:blipFill>
          <a:blip r:embed="rId2" cstate="print"/>
          <a:stretch>
            <a:fillRect/>
          </a:stretch>
        </p:blipFill>
        <p:spPr>
          <a:xfrm>
            <a:off x="239712" y="2369304"/>
            <a:ext cx="3558540" cy="1800859"/>
          </a:xfrm>
          <a:prstGeom prst="rect">
            <a:avLst/>
          </a:prstGeom>
        </p:spPr>
      </p:pic>
      <p:sp>
        <p:nvSpPr>
          <p:cNvPr id="14" name="object 5">
            <a:extLst>
              <a:ext uri="{FF2B5EF4-FFF2-40B4-BE49-F238E27FC236}">
                <a16:creationId xmlns:a16="http://schemas.microsoft.com/office/drawing/2014/main" id="{29097B7E-4F55-4D73-4E65-49F8951DC7DE}"/>
              </a:ext>
            </a:extLst>
          </p:cNvPr>
          <p:cNvSpPr txBox="1"/>
          <p:nvPr/>
        </p:nvSpPr>
        <p:spPr>
          <a:xfrm>
            <a:off x="526414" y="4815959"/>
            <a:ext cx="3261995" cy="299720"/>
          </a:xfrm>
          <a:prstGeom prst="rect">
            <a:avLst/>
          </a:prstGeom>
        </p:spPr>
        <p:txBody>
          <a:bodyPr vert="horz" wrap="square" lIns="0" tIns="1270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2700">
              <a:lnSpc>
                <a:spcPct val="100000"/>
              </a:lnSpc>
              <a:spcBef>
                <a:spcPts val="100"/>
              </a:spcBef>
            </a:pPr>
            <a:r>
              <a:rPr sz="1800" spc="-95" dirty="0">
                <a:latin typeface="Arial"/>
                <a:cs typeface="Arial"/>
              </a:rPr>
              <a:t>Multi</a:t>
            </a:r>
            <a:r>
              <a:rPr sz="1800" spc="-125" dirty="0">
                <a:latin typeface="Arial"/>
                <a:cs typeface="Arial"/>
              </a:rPr>
              <a:t> </a:t>
            </a:r>
            <a:r>
              <a:rPr sz="1800" spc="-100" dirty="0">
                <a:latin typeface="Arial"/>
                <a:cs typeface="Arial"/>
              </a:rPr>
              <a:t>Layer</a:t>
            </a:r>
            <a:r>
              <a:rPr sz="1800" spc="-90" dirty="0">
                <a:latin typeface="Arial"/>
                <a:cs typeface="Arial"/>
              </a:rPr>
              <a:t> </a:t>
            </a:r>
            <a:r>
              <a:rPr sz="1800" spc="-80" dirty="0">
                <a:latin typeface="Arial"/>
                <a:cs typeface="Arial"/>
              </a:rPr>
              <a:t>Neural</a:t>
            </a:r>
            <a:r>
              <a:rPr sz="1800" spc="-75" dirty="0">
                <a:latin typeface="Arial"/>
                <a:cs typeface="Arial"/>
              </a:rPr>
              <a:t> </a:t>
            </a:r>
            <a:r>
              <a:rPr sz="1800" spc="-55" dirty="0">
                <a:latin typeface="Arial"/>
                <a:cs typeface="Arial"/>
              </a:rPr>
              <a:t>Network</a:t>
            </a:r>
            <a:r>
              <a:rPr sz="1800" spc="-135" dirty="0">
                <a:latin typeface="Arial"/>
                <a:cs typeface="Arial"/>
              </a:rPr>
              <a:t> </a:t>
            </a:r>
            <a:r>
              <a:rPr sz="1800" spc="-125" dirty="0">
                <a:latin typeface="Arial"/>
                <a:cs typeface="Arial"/>
              </a:rPr>
              <a:t>(MLNN)</a:t>
            </a:r>
            <a:endParaRPr sz="1800">
              <a:latin typeface="Arial"/>
              <a:cs typeface="Arial"/>
            </a:endParaRPr>
          </a:p>
        </p:txBody>
      </p:sp>
      <p:sp>
        <p:nvSpPr>
          <p:cNvPr id="15" name="object 6">
            <a:extLst>
              <a:ext uri="{FF2B5EF4-FFF2-40B4-BE49-F238E27FC236}">
                <a16:creationId xmlns:a16="http://schemas.microsoft.com/office/drawing/2014/main" id="{B3E509A0-AF5C-9AA5-D762-12BEC52554A4}"/>
              </a:ext>
            </a:extLst>
          </p:cNvPr>
          <p:cNvSpPr txBox="1"/>
          <p:nvPr/>
        </p:nvSpPr>
        <p:spPr>
          <a:xfrm>
            <a:off x="4592002" y="4799829"/>
            <a:ext cx="3420110" cy="299720"/>
          </a:xfrm>
          <a:prstGeom prst="rect">
            <a:avLst/>
          </a:prstGeom>
        </p:spPr>
        <p:txBody>
          <a:bodyPr vert="horz" wrap="square" lIns="0" tIns="1270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2700">
              <a:lnSpc>
                <a:spcPct val="100000"/>
              </a:lnSpc>
              <a:spcBef>
                <a:spcPts val="100"/>
              </a:spcBef>
            </a:pPr>
            <a:r>
              <a:rPr sz="1800" spc="-70" dirty="0">
                <a:latin typeface="Arial"/>
                <a:cs typeface="Arial"/>
              </a:rPr>
              <a:t>Convolutional</a:t>
            </a:r>
            <a:r>
              <a:rPr sz="1800" spc="-105" dirty="0">
                <a:latin typeface="Arial"/>
                <a:cs typeface="Arial"/>
              </a:rPr>
              <a:t> </a:t>
            </a:r>
            <a:r>
              <a:rPr sz="1800" spc="-80" dirty="0">
                <a:latin typeface="Arial"/>
                <a:cs typeface="Arial"/>
              </a:rPr>
              <a:t>Neural</a:t>
            </a:r>
            <a:r>
              <a:rPr sz="1800" spc="-65" dirty="0">
                <a:latin typeface="Arial"/>
                <a:cs typeface="Arial"/>
              </a:rPr>
              <a:t> </a:t>
            </a:r>
            <a:r>
              <a:rPr sz="1800" spc="-50" dirty="0">
                <a:latin typeface="Arial"/>
                <a:cs typeface="Arial"/>
              </a:rPr>
              <a:t>Network</a:t>
            </a:r>
            <a:r>
              <a:rPr sz="1800" spc="-175" dirty="0">
                <a:latin typeface="Arial"/>
                <a:cs typeface="Arial"/>
              </a:rPr>
              <a:t> </a:t>
            </a:r>
            <a:r>
              <a:rPr sz="1800" spc="-114" dirty="0">
                <a:latin typeface="Arial"/>
                <a:cs typeface="Arial"/>
              </a:rPr>
              <a:t>(CNN)</a:t>
            </a:r>
            <a:endParaRPr sz="1800">
              <a:latin typeface="Arial"/>
              <a:cs typeface="Arial"/>
            </a:endParaRPr>
          </a:p>
        </p:txBody>
      </p:sp>
      <p:sp>
        <p:nvSpPr>
          <p:cNvPr id="16" name="object 7">
            <a:extLst>
              <a:ext uri="{FF2B5EF4-FFF2-40B4-BE49-F238E27FC236}">
                <a16:creationId xmlns:a16="http://schemas.microsoft.com/office/drawing/2014/main" id="{E3BAC4B8-72DF-411A-0DCF-A87B3C4EF5BC}"/>
              </a:ext>
            </a:extLst>
          </p:cNvPr>
          <p:cNvSpPr txBox="1"/>
          <p:nvPr/>
        </p:nvSpPr>
        <p:spPr>
          <a:xfrm>
            <a:off x="8880792" y="4816657"/>
            <a:ext cx="3071495" cy="300355"/>
          </a:xfrm>
          <a:prstGeom prst="rect">
            <a:avLst/>
          </a:prstGeom>
        </p:spPr>
        <p:txBody>
          <a:bodyPr vert="horz" wrap="square" lIns="0" tIns="1270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2700">
              <a:lnSpc>
                <a:spcPct val="100000"/>
              </a:lnSpc>
              <a:spcBef>
                <a:spcPts val="100"/>
              </a:spcBef>
            </a:pPr>
            <a:r>
              <a:rPr sz="1800" spc="-85" dirty="0">
                <a:latin typeface="Arial"/>
                <a:cs typeface="Arial"/>
              </a:rPr>
              <a:t>Recurrent</a:t>
            </a:r>
            <a:r>
              <a:rPr sz="1800" spc="-95" dirty="0">
                <a:latin typeface="Arial"/>
                <a:cs typeface="Arial"/>
              </a:rPr>
              <a:t> </a:t>
            </a:r>
            <a:r>
              <a:rPr sz="1800" spc="-80" dirty="0">
                <a:latin typeface="Arial"/>
                <a:cs typeface="Arial"/>
              </a:rPr>
              <a:t>Neural</a:t>
            </a:r>
            <a:r>
              <a:rPr sz="1800" spc="-55" dirty="0">
                <a:latin typeface="Arial"/>
                <a:cs typeface="Arial"/>
              </a:rPr>
              <a:t> </a:t>
            </a:r>
            <a:r>
              <a:rPr sz="1800" spc="-50" dirty="0">
                <a:latin typeface="Arial"/>
                <a:cs typeface="Arial"/>
              </a:rPr>
              <a:t>Network</a:t>
            </a:r>
            <a:r>
              <a:rPr sz="1800" spc="-125" dirty="0">
                <a:latin typeface="Arial"/>
                <a:cs typeface="Arial"/>
              </a:rPr>
              <a:t> </a:t>
            </a:r>
            <a:r>
              <a:rPr sz="1800" spc="-105" dirty="0">
                <a:latin typeface="Arial"/>
                <a:cs typeface="Arial"/>
              </a:rPr>
              <a:t>(RNN)</a:t>
            </a:r>
            <a:endParaRPr sz="1800">
              <a:latin typeface="Arial"/>
              <a:cs typeface="Arial"/>
            </a:endParaRPr>
          </a:p>
        </p:txBody>
      </p:sp>
      <p:pic>
        <p:nvPicPr>
          <p:cNvPr id="17" name="object 8">
            <a:extLst>
              <a:ext uri="{FF2B5EF4-FFF2-40B4-BE49-F238E27FC236}">
                <a16:creationId xmlns:a16="http://schemas.microsoft.com/office/drawing/2014/main" id="{400F6B57-66C1-EA5F-0DC5-9981822B658E}"/>
              </a:ext>
            </a:extLst>
          </p:cNvPr>
          <p:cNvPicPr/>
          <p:nvPr/>
        </p:nvPicPr>
        <p:blipFill>
          <a:blip r:embed="rId3" cstate="print"/>
          <a:stretch>
            <a:fillRect/>
          </a:stretch>
        </p:blipFill>
        <p:spPr>
          <a:xfrm>
            <a:off x="4070031" y="2453123"/>
            <a:ext cx="4305300" cy="1709419"/>
          </a:xfrm>
          <a:prstGeom prst="rect">
            <a:avLst/>
          </a:prstGeom>
        </p:spPr>
      </p:pic>
      <p:pic>
        <p:nvPicPr>
          <p:cNvPr id="18" name="object 9">
            <a:extLst>
              <a:ext uri="{FF2B5EF4-FFF2-40B4-BE49-F238E27FC236}">
                <a16:creationId xmlns:a16="http://schemas.microsoft.com/office/drawing/2014/main" id="{F7798DC8-54F2-2DFC-3940-D07B23A575B5}"/>
              </a:ext>
            </a:extLst>
          </p:cNvPr>
          <p:cNvPicPr/>
          <p:nvPr/>
        </p:nvPicPr>
        <p:blipFill>
          <a:blip r:embed="rId4" cstate="print"/>
          <a:stretch>
            <a:fillRect/>
          </a:stretch>
        </p:blipFill>
        <p:spPr>
          <a:xfrm>
            <a:off x="8710611" y="2003544"/>
            <a:ext cx="3192779" cy="2705100"/>
          </a:xfrm>
          <a:prstGeom prst="rect">
            <a:avLst/>
          </a:prstGeom>
        </p:spPr>
      </p:pic>
      <p:sp>
        <p:nvSpPr>
          <p:cNvPr id="19" name="Rectangle 18">
            <a:extLst>
              <a:ext uri="{FF2B5EF4-FFF2-40B4-BE49-F238E27FC236}">
                <a16:creationId xmlns:a16="http://schemas.microsoft.com/office/drawing/2014/main" id="{E2161511-16A7-9061-82D9-71A5BD1E5F1C}"/>
              </a:ext>
            </a:extLst>
          </p:cNvPr>
          <p:cNvSpPr/>
          <p:nvPr/>
        </p:nvSpPr>
        <p:spPr>
          <a:xfrm>
            <a:off x="3936797" y="2003544"/>
            <a:ext cx="4696691" cy="3438467"/>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endParaRPr lang="en-US"/>
          </a:p>
        </p:txBody>
      </p:sp>
      <p:cxnSp>
        <p:nvCxnSpPr>
          <p:cNvPr id="20" name="Straight Arrow Connector 19">
            <a:extLst>
              <a:ext uri="{FF2B5EF4-FFF2-40B4-BE49-F238E27FC236}">
                <a16:creationId xmlns:a16="http://schemas.microsoft.com/office/drawing/2014/main" id="{830E9A81-BC0A-8746-3955-B2ED3C80F723}"/>
              </a:ext>
            </a:extLst>
          </p:cNvPr>
          <p:cNvCxnSpPr>
            <a:stCxn id="19" idx="2"/>
          </p:cNvCxnSpPr>
          <p:nvPr/>
        </p:nvCxnSpPr>
        <p:spPr>
          <a:xfrm>
            <a:off x="6285143" y="5442011"/>
            <a:ext cx="10391" cy="405246"/>
          </a:xfrm>
          <a:prstGeom prst="straightConnector1">
            <a:avLst/>
          </a:prstGeom>
          <a:ln>
            <a:solidFill>
              <a:schemeClr val="tx1"/>
            </a:solidFill>
            <a:tailEnd type="triangle"/>
          </a:ln>
        </p:spPr>
        <p:style>
          <a:lnRef idx="3">
            <a:schemeClr val="accent1"/>
          </a:lnRef>
          <a:fillRef idx="0">
            <a:schemeClr val="accent1"/>
          </a:fillRef>
          <a:effectRef idx="2">
            <a:schemeClr val="accent1"/>
          </a:effectRef>
          <a:fontRef idx="minor">
            <a:schemeClr val="tx1"/>
          </a:fontRef>
        </p:style>
      </p:cxnSp>
      <p:sp>
        <p:nvSpPr>
          <p:cNvPr id="21" name="TextBox 12">
            <a:extLst>
              <a:ext uri="{FF2B5EF4-FFF2-40B4-BE49-F238E27FC236}">
                <a16:creationId xmlns:a16="http://schemas.microsoft.com/office/drawing/2014/main" id="{8D486EFD-D547-966C-C381-1C81E60C17A5}"/>
              </a:ext>
            </a:extLst>
          </p:cNvPr>
          <p:cNvSpPr txBox="1"/>
          <p:nvPr/>
        </p:nvSpPr>
        <p:spPr>
          <a:xfrm>
            <a:off x="5591734" y="5897523"/>
            <a:ext cx="1420645" cy="369332"/>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Today’s focus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C0549B-617D-197A-2453-01BF39707159}"/>
              </a:ext>
            </a:extLst>
          </p:cNvPr>
          <p:cNvSpPr txBox="1">
            <a:spLocks/>
          </p:cNvSpPr>
          <p:nvPr/>
        </p:nvSpPr>
        <p:spPr>
          <a:xfrm>
            <a:off x="601791" y="555478"/>
            <a:ext cx="9097686" cy="1068223"/>
          </a:xfrm>
          <a:prstGeom prst="rect">
            <a:avLst/>
          </a:prstGeom>
        </p:spPr>
        <p:txBody>
          <a:bodyPr/>
          <a:lstStyle>
            <a:lvl1pPr algn="l" defTabSz="914400" rtl="0" eaLnBrk="1" latinLnBrk="0" hangingPunct="1">
              <a:lnSpc>
                <a:spcPts val="3200"/>
              </a:lnSpc>
              <a:spcBef>
                <a:spcPct val="0"/>
              </a:spcBef>
              <a:buNone/>
              <a:defRPr sz="4200" b="1" kern="1200" cap="all" spc="-50" baseline="0">
                <a:solidFill>
                  <a:srgbClr val="942F6D"/>
                </a:solidFill>
                <a:latin typeface="+mn-lt"/>
                <a:ea typeface="+mj-ea"/>
                <a:cs typeface="+mj-cs"/>
              </a:defRPr>
            </a:lvl1pPr>
          </a:lstStyle>
          <a:p>
            <a:r>
              <a:rPr lang="en-GB" dirty="0">
                <a:solidFill>
                  <a:srgbClr val="942D6D"/>
                </a:solidFill>
              </a:rPr>
              <a:t>Convolutional Neural Networks</a:t>
            </a:r>
            <a:endParaRPr lang="en-US" dirty="0">
              <a:solidFill>
                <a:srgbClr val="942D6D"/>
              </a:solidFill>
            </a:endParaRPr>
          </a:p>
        </p:txBody>
      </p:sp>
      <p:sp>
        <p:nvSpPr>
          <p:cNvPr id="3" name="Text Placeholder 2">
            <a:extLst>
              <a:ext uri="{FF2B5EF4-FFF2-40B4-BE49-F238E27FC236}">
                <a16:creationId xmlns:a16="http://schemas.microsoft.com/office/drawing/2014/main" id="{C3DBAC00-C71E-DC57-D2E3-CCA33524F1D5}"/>
              </a:ext>
            </a:extLst>
          </p:cNvPr>
          <p:cNvSpPr txBox="1">
            <a:spLocks/>
          </p:cNvSpPr>
          <p:nvPr/>
        </p:nvSpPr>
        <p:spPr>
          <a:xfrm>
            <a:off x="877821" y="1521449"/>
            <a:ext cx="10712388" cy="3815101"/>
          </a:xfrm>
          <a:prstGeom prst="rect">
            <a:avLst/>
          </a:prstGeom>
        </p:spPr>
        <p:txBody>
          <a:bodyPr/>
          <a:lstStyle>
            <a:lvl1pPr marL="228600" indent="-228600" algn="l" defTabSz="914400" rtl="0" eaLnBrk="1" latinLnBrk="0" hangingPunct="1">
              <a:lnSpc>
                <a:spcPct val="90000"/>
              </a:lnSpc>
              <a:spcBef>
                <a:spcPts val="1000"/>
              </a:spcBef>
              <a:buClr>
                <a:srgbClr val="942F6D"/>
              </a:buClr>
              <a:buFont typeface="Arial" panose="020B0604020202020204" pitchFamily="34" charset="0"/>
              <a:buChar char="•"/>
              <a:defRPr sz="2800" kern="1200">
                <a:solidFill>
                  <a:srgbClr val="0D3E63"/>
                </a:solidFill>
                <a:latin typeface="+mn-lt"/>
                <a:ea typeface="+mn-ea"/>
                <a:cs typeface="+mn-cs"/>
              </a:defRPr>
            </a:lvl1pPr>
            <a:lvl2pPr marL="685800" indent="-228600" algn="l" defTabSz="914400" rtl="0" eaLnBrk="1" latinLnBrk="0" hangingPunct="1">
              <a:lnSpc>
                <a:spcPct val="90000"/>
              </a:lnSpc>
              <a:spcBef>
                <a:spcPts val="500"/>
              </a:spcBef>
              <a:buClr>
                <a:srgbClr val="942F6D"/>
              </a:buClr>
              <a:buFont typeface="Arial" panose="020B0604020202020204" pitchFamily="34" charset="0"/>
              <a:buChar char="•"/>
              <a:defRPr sz="2400" kern="1200">
                <a:solidFill>
                  <a:srgbClr val="0D3E63"/>
                </a:solidFill>
                <a:latin typeface="+mn-lt"/>
                <a:ea typeface="+mn-ea"/>
                <a:cs typeface="+mn-cs"/>
              </a:defRPr>
            </a:lvl2pPr>
            <a:lvl3pPr marL="1143000" indent="-228600" algn="l" defTabSz="914400" rtl="0" eaLnBrk="1" latinLnBrk="0" hangingPunct="1">
              <a:lnSpc>
                <a:spcPct val="90000"/>
              </a:lnSpc>
              <a:spcBef>
                <a:spcPts val="500"/>
              </a:spcBef>
              <a:buClr>
                <a:srgbClr val="942F6D"/>
              </a:buClr>
              <a:buFont typeface="Arial" panose="020B0604020202020204" pitchFamily="34" charset="0"/>
              <a:buChar char="•"/>
              <a:defRPr sz="2000" kern="1200">
                <a:solidFill>
                  <a:srgbClr val="0D3E63"/>
                </a:solidFill>
                <a:latin typeface="+mn-lt"/>
                <a:ea typeface="+mn-ea"/>
                <a:cs typeface="+mn-cs"/>
              </a:defRPr>
            </a:lvl3pPr>
            <a:lvl4pPr marL="1600200" indent="-228600" algn="l" defTabSz="914400" rtl="0" eaLnBrk="1" latinLnBrk="0" hangingPunct="1">
              <a:lnSpc>
                <a:spcPct val="90000"/>
              </a:lnSpc>
              <a:spcBef>
                <a:spcPts val="500"/>
              </a:spcBef>
              <a:buClr>
                <a:srgbClr val="942F6D"/>
              </a:buClr>
              <a:buFont typeface="Arial" panose="020B0604020202020204" pitchFamily="34" charset="0"/>
              <a:buChar char="•"/>
              <a:defRPr sz="1800" kern="1200">
                <a:solidFill>
                  <a:srgbClr val="0D3E63"/>
                </a:solidFill>
                <a:latin typeface="+mn-lt"/>
                <a:ea typeface="+mn-ea"/>
                <a:cs typeface="+mn-cs"/>
              </a:defRPr>
            </a:lvl4pPr>
            <a:lvl5pPr marL="2057400" indent="-228600" algn="l" defTabSz="914400" rtl="0" eaLnBrk="1" latinLnBrk="0" hangingPunct="1">
              <a:lnSpc>
                <a:spcPct val="90000"/>
              </a:lnSpc>
              <a:spcBef>
                <a:spcPts val="500"/>
              </a:spcBef>
              <a:buClr>
                <a:srgbClr val="942F6D"/>
              </a:buClr>
              <a:buFont typeface="Arial" panose="020B0604020202020204" pitchFamily="34" charset="0"/>
              <a:buChar char="•"/>
              <a:defRPr sz="1800" kern="1200">
                <a:solidFill>
                  <a:srgbClr val="0D3E63"/>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hlinkClick r:id="rId2"/>
              </a:rPr>
              <a:t>Convolutional Neural Networks</a:t>
            </a:r>
            <a:r>
              <a:rPr lang="en-US" dirty="0"/>
              <a:t> (CNNs/</a:t>
            </a:r>
            <a:r>
              <a:rPr lang="en-US" dirty="0" err="1"/>
              <a:t>ConvNets</a:t>
            </a:r>
            <a:r>
              <a:rPr lang="en-US" dirty="0"/>
              <a:t>) are specialized deep learning models that excel at analyzing visual data, mimicking the human visual cortex to identify patterns in images and videos by using </a:t>
            </a:r>
            <a:r>
              <a:rPr lang="en-US" dirty="0">
                <a:hlinkClick r:id="rId3"/>
              </a:rPr>
              <a:t>convolutional layers</a:t>
            </a:r>
            <a:r>
              <a:rPr lang="en-US" dirty="0"/>
              <a:t> to extract features, </a:t>
            </a:r>
            <a:r>
              <a:rPr lang="en-US" dirty="0">
                <a:hlinkClick r:id="rId4"/>
              </a:rPr>
              <a:t>pooling layers</a:t>
            </a:r>
            <a:r>
              <a:rPr lang="en-US" dirty="0"/>
              <a:t> to reduce dimensions, and </a:t>
            </a:r>
            <a:r>
              <a:rPr lang="en-US" dirty="0">
                <a:hlinkClick r:id="rId5"/>
              </a:rPr>
              <a:t>fully connected layers</a:t>
            </a:r>
            <a:r>
              <a:rPr lang="en-US" dirty="0"/>
              <a:t> for classification, making them ideal for tasks like object recognition and image classification. </a:t>
            </a:r>
          </a:p>
          <a:p>
            <a:r>
              <a:rPr lang="en-US" dirty="0"/>
              <a:t>They learn hierarchical representations, from simple edges to complex objects, enabling them to recognize patterns regardless of their position in the input. </a:t>
            </a:r>
            <a:endParaRPr lang="en-US" dirty="0">
              <a:solidFill>
                <a:schemeClr val="bg2">
                  <a:lumMod val="25000"/>
                </a:schemeClr>
              </a:solidFill>
            </a:endParaRPr>
          </a:p>
        </p:txBody>
      </p:sp>
    </p:spTree>
    <p:extLst>
      <p:ext uri="{BB962C8B-B14F-4D97-AF65-F5344CB8AC3E}">
        <p14:creationId xmlns:p14="http://schemas.microsoft.com/office/powerpoint/2010/main" val="405548834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7DC15A-633C-D55C-55BD-F253BE7E18AB}"/>
              </a:ext>
            </a:extLst>
          </p:cNvPr>
          <p:cNvSpPr>
            <a:spLocks noGrp="1"/>
          </p:cNvSpPr>
          <p:nvPr>
            <p:ph type="title"/>
          </p:nvPr>
        </p:nvSpPr>
        <p:spPr/>
        <p:txBody>
          <a:bodyPr/>
          <a:lstStyle/>
          <a:p>
            <a:r>
              <a:rPr lang="en-US" dirty="0"/>
              <a:t>Difference between MLPN &amp; CNN</a:t>
            </a:r>
          </a:p>
        </p:txBody>
      </p:sp>
      <p:graphicFrame>
        <p:nvGraphicFramePr>
          <p:cNvPr id="4" name="Content Placeholder 3">
            <a:extLst>
              <a:ext uri="{FF2B5EF4-FFF2-40B4-BE49-F238E27FC236}">
                <a16:creationId xmlns:a16="http://schemas.microsoft.com/office/drawing/2014/main" id="{4D1AB614-8C72-CF87-E0F0-BA5DEB1A92D9}"/>
              </a:ext>
            </a:extLst>
          </p:cNvPr>
          <p:cNvGraphicFramePr>
            <a:graphicFrameLocks noGrp="1"/>
          </p:cNvGraphicFramePr>
          <p:nvPr>
            <p:ph idx="1"/>
          </p:nvPr>
        </p:nvGraphicFramePr>
        <p:xfrm>
          <a:off x="838200" y="3132614"/>
          <a:ext cx="10515600" cy="1767840"/>
        </p:xfrm>
        <a:graphic>
          <a:graphicData uri="http://schemas.openxmlformats.org/drawingml/2006/table">
            <a:tbl>
              <a:tblPr/>
              <a:tblGrid>
                <a:gridCol w="3505200">
                  <a:extLst>
                    <a:ext uri="{9D8B030D-6E8A-4147-A177-3AD203B41FA5}">
                      <a16:colId xmlns:a16="http://schemas.microsoft.com/office/drawing/2014/main" val="1908409811"/>
                    </a:ext>
                  </a:extLst>
                </a:gridCol>
                <a:gridCol w="3505200">
                  <a:extLst>
                    <a:ext uri="{9D8B030D-6E8A-4147-A177-3AD203B41FA5}">
                      <a16:colId xmlns:a16="http://schemas.microsoft.com/office/drawing/2014/main" val="109423602"/>
                    </a:ext>
                  </a:extLst>
                </a:gridCol>
                <a:gridCol w="3505200">
                  <a:extLst>
                    <a:ext uri="{9D8B030D-6E8A-4147-A177-3AD203B41FA5}">
                      <a16:colId xmlns:a16="http://schemas.microsoft.com/office/drawing/2014/main" val="3945316724"/>
                    </a:ext>
                  </a:extLst>
                </a:gridCol>
              </a:tblGrid>
              <a:tr h="0">
                <a:tc>
                  <a:txBody>
                    <a:bodyPr/>
                    <a:lstStyle/>
                    <a:p>
                      <a:r>
                        <a:rPr lang="en-GB" sz="2000" b="1" dirty="0"/>
                        <a:t>Feature</a:t>
                      </a:r>
                    </a:p>
                  </a:txBody>
                  <a:tcPr anchor="ctr">
                    <a:lnL>
                      <a:noFill/>
                    </a:lnL>
                    <a:lnR>
                      <a:noFill/>
                    </a:lnR>
                    <a:lnT>
                      <a:noFill/>
                    </a:lnT>
                    <a:lnB w="12700" cap="flat" cmpd="sng" algn="ctr">
                      <a:solidFill>
                        <a:schemeClr val="tx1"/>
                      </a:solidFill>
                      <a:prstDash val="solid"/>
                      <a:round/>
                      <a:headEnd type="none" w="med" len="med"/>
                      <a:tailEnd type="none" w="med" len="med"/>
                    </a:lnB>
                  </a:tcPr>
                </a:tc>
                <a:tc>
                  <a:txBody>
                    <a:bodyPr/>
                    <a:lstStyle/>
                    <a:p>
                      <a:r>
                        <a:rPr lang="en-GB" sz="2000" b="1" dirty="0"/>
                        <a:t>MLP/MLN network</a:t>
                      </a:r>
                    </a:p>
                  </a:txBody>
                  <a:tcPr anchor="ctr">
                    <a:lnL>
                      <a:noFill/>
                    </a:lnL>
                    <a:lnR>
                      <a:noFill/>
                    </a:lnR>
                    <a:lnT>
                      <a:noFill/>
                    </a:lnT>
                    <a:lnB w="12700" cap="flat" cmpd="sng" algn="ctr">
                      <a:solidFill>
                        <a:schemeClr val="tx1"/>
                      </a:solidFill>
                      <a:prstDash val="solid"/>
                      <a:round/>
                      <a:headEnd type="none" w="med" len="med"/>
                      <a:tailEnd type="none" w="med" len="med"/>
                    </a:lnB>
                  </a:tcPr>
                </a:tc>
                <a:tc>
                  <a:txBody>
                    <a:bodyPr/>
                    <a:lstStyle/>
                    <a:p>
                      <a:r>
                        <a:rPr lang="en-GB" sz="2000" b="1" dirty="0"/>
                        <a:t>CNN</a:t>
                      </a:r>
                    </a:p>
                  </a:txBody>
                  <a:tcPr anchor="ctr">
                    <a:lnL>
                      <a:noFill/>
                    </a:lnL>
                    <a:lnR>
                      <a:noFill/>
                    </a:lnR>
                    <a:lnT>
                      <a:noFill/>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41329068"/>
                  </a:ext>
                </a:extLst>
              </a:tr>
              <a:tr h="0">
                <a:tc>
                  <a:txBody>
                    <a:bodyPr/>
                    <a:lstStyle/>
                    <a:p>
                      <a:r>
                        <a:rPr lang="en-GB" dirty="0"/>
                        <a:t>Layer type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a:t>Fully connected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a:t>Convolutional and pooling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65161927"/>
                  </a:ext>
                </a:extLst>
              </a:tr>
              <a:tr h="0">
                <a:tc>
                  <a:txBody>
                    <a:bodyPr/>
                    <a:lstStyle/>
                    <a:p>
                      <a:r>
                        <a:rPr lang="en-GB" dirty="0"/>
                        <a:t>Data type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a:t>Can handle any type of data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a:t>Best suited for image data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91858569"/>
                  </a:ext>
                </a:extLst>
              </a:tr>
              <a:tr h="0">
                <a:tc>
                  <a:txBody>
                    <a:bodyPr/>
                    <a:lstStyle/>
                    <a:p>
                      <a:r>
                        <a:rPr lang="en-GB" dirty="0"/>
                        <a:t>Typical applications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dirty="0"/>
                        <a:t>Image classification, regression, text classification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dirty="0"/>
                        <a:t>Image classification, object detection, semantic segmentation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68262141"/>
                  </a:ext>
                </a:extLst>
              </a:tr>
            </a:tbl>
          </a:graphicData>
        </a:graphic>
      </p:graphicFrame>
    </p:spTree>
    <p:extLst>
      <p:ext uri="{BB962C8B-B14F-4D97-AF65-F5344CB8AC3E}">
        <p14:creationId xmlns:p14="http://schemas.microsoft.com/office/powerpoint/2010/main" val="22644412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299248" y="1258172"/>
            <a:ext cx="7335520" cy="2078989"/>
          </a:xfrm>
          <a:prstGeom prst="rect">
            <a:avLst/>
          </a:prstGeom>
        </p:spPr>
        <p:txBody>
          <a:bodyPr vert="horz" wrap="square" lIns="0" tIns="12700" rIns="0" bIns="0" rtlCol="0">
            <a:spAutoFit/>
          </a:bodyPr>
          <a:lstStyle/>
          <a:p>
            <a:pPr marL="354965" marR="474345" indent="-342900">
              <a:spcBef>
                <a:spcPts val="100"/>
              </a:spcBef>
              <a:buChar char="•"/>
              <a:tabLst>
                <a:tab pos="354965" algn="l"/>
              </a:tabLst>
            </a:pPr>
            <a:r>
              <a:rPr sz="3200" dirty="0">
                <a:latin typeface="Calibri"/>
                <a:cs typeface="Calibri"/>
              </a:rPr>
              <a:t>A</a:t>
            </a:r>
            <a:r>
              <a:rPr sz="3200" spc="-85" dirty="0">
                <a:latin typeface="Calibri"/>
                <a:cs typeface="Calibri"/>
              </a:rPr>
              <a:t> </a:t>
            </a:r>
            <a:r>
              <a:rPr sz="3200" dirty="0">
                <a:latin typeface="Calibri"/>
                <a:cs typeface="Calibri"/>
              </a:rPr>
              <a:t>digital</a:t>
            </a:r>
            <a:r>
              <a:rPr sz="3200" spc="-80" dirty="0">
                <a:latin typeface="Calibri"/>
                <a:cs typeface="Calibri"/>
              </a:rPr>
              <a:t> </a:t>
            </a:r>
            <a:r>
              <a:rPr sz="3200" dirty="0">
                <a:latin typeface="Calibri"/>
                <a:cs typeface="Calibri"/>
              </a:rPr>
              <a:t>image</a:t>
            </a:r>
            <a:r>
              <a:rPr sz="3200" spc="-95" dirty="0">
                <a:latin typeface="Calibri"/>
                <a:cs typeface="Calibri"/>
              </a:rPr>
              <a:t> </a:t>
            </a:r>
            <a:r>
              <a:rPr sz="3200" dirty="0">
                <a:latin typeface="Calibri"/>
                <a:cs typeface="Calibri"/>
              </a:rPr>
              <a:t>consists</a:t>
            </a:r>
            <a:r>
              <a:rPr sz="3200" spc="-85" dirty="0">
                <a:latin typeface="Calibri"/>
                <a:cs typeface="Calibri"/>
              </a:rPr>
              <a:t> </a:t>
            </a:r>
            <a:r>
              <a:rPr sz="3200" dirty="0">
                <a:latin typeface="Calibri"/>
                <a:cs typeface="Calibri"/>
              </a:rPr>
              <a:t>of</a:t>
            </a:r>
            <a:r>
              <a:rPr sz="3200" spc="-145" dirty="0">
                <a:latin typeface="Calibri"/>
                <a:cs typeface="Calibri"/>
              </a:rPr>
              <a:t> </a:t>
            </a:r>
            <a:r>
              <a:rPr sz="3200" dirty="0">
                <a:latin typeface="Calibri"/>
                <a:cs typeface="Calibri"/>
              </a:rPr>
              <a:t>thousands</a:t>
            </a:r>
            <a:r>
              <a:rPr sz="3200" spc="-50" dirty="0">
                <a:latin typeface="Calibri"/>
                <a:cs typeface="Calibri"/>
              </a:rPr>
              <a:t> </a:t>
            </a:r>
            <a:r>
              <a:rPr sz="3200" spc="-25" dirty="0">
                <a:latin typeface="Calibri"/>
                <a:cs typeface="Calibri"/>
              </a:rPr>
              <a:t>of </a:t>
            </a:r>
            <a:r>
              <a:rPr sz="3200" spc="-10" dirty="0">
                <a:latin typeface="Calibri"/>
                <a:cs typeface="Calibri"/>
              </a:rPr>
              <a:t>pixels.</a:t>
            </a:r>
            <a:endParaRPr sz="3200">
              <a:latin typeface="Calibri"/>
              <a:cs typeface="Calibri"/>
            </a:endParaRPr>
          </a:p>
          <a:p>
            <a:pPr marL="354965" marR="5080" indent="-342900">
              <a:spcBef>
                <a:spcPts val="805"/>
              </a:spcBef>
              <a:buChar char="•"/>
              <a:tabLst>
                <a:tab pos="354965" algn="l"/>
              </a:tabLst>
            </a:pPr>
            <a:r>
              <a:rPr sz="3200" dirty="0">
                <a:latin typeface="Calibri"/>
                <a:cs typeface="Calibri"/>
              </a:rPr>
              <a:t>An</a:t>
            </a:r>
            <a:r>
              <a:rPr sz="3200" spc="-70" dirty="0">
                <a:latin typeface="Calibri"/>
                <a:cs typeface="Calibri"/>
              </a:rPr>
              <a:t> </a:t>
            </a:r>
            <a:r>
              <a:rPr sz="3200" dirty="0">
                <a:latin typeface="Calibri"/>
                <a:cs typeface="Calibri"/>
              </a:rPr>
              <a:t>RGB</a:t>
            </a:r>
            <a:r>
              <a:rPr sz="3200" spc="-60" dirty="0">
                <a:latin typeface="Calibri"/>
                <a:cs typeface="Calibri"/>
              </a:rPr>
              <a:t> </a:t>
            </a:r>
            <a:r>
              <a:rPr sz="3200" dirty="0">
                <a:latin typeface="Calibri"/>
                <a:cs typeface="Calibri"/>
              </a:rPr>
              <a:t>image</a:t>
            </a:r>
            <a:r>
              <a:rPr sz="3200" spc="-55" dirty="0">
                <a:latin typeface="Calibri"/>
                <a:cs typeface="Calibri"/>
              </a:rPr>
              <a:t> </a:t>
            </a:r>
            <a:r>
              <a:rPr sz="3200" dirty="0">
                <a:latin typeface="Calibri"/>
                <a:cs typeface="Calibri"/>
              </a:rPr>
              <a:t>has</a:t>
            </a:r>
            <a:r>
              <a:rPr sz="3200" spc="-70" dirty="0">
                <a:latin typeface="Calibri"/>
                <a:cs typeface="Calibri"/>
              </a:rPr>
              <a:t> </a:t>
            </a:r>
            <a:r>
              <a:rPr sz="3200" dirty="0">
                <a:latin typeface="Calibri"/>
                <a:cs typeface="Calibri"/>
              </a:rPr>
              <a:t>three</a:t>
            </a:r>
            <a:r>
              <a:rPr sz="3200" spc="-95" dirty="0">
                <a:latin typeface="Calibri"/>
                <a:cs typeface="Calibri"/>
              </a:rPr>
              <a:t> </a:t>
            </a:r>
            <a:r>
              <a:rPr sz="3200" spc="-10" dirty="0">
                <a:latin typeface="Calibri"/>
                <a:cs typeface="Calibri"/>
              </a:rPr>
              <a:t>layers</a:t>
            </a:r>
            <a:r>
              <a:rPr sz="3200" spc="-65" dirty="0">
                <a:latin typeface="Calibri"/>
                <a:cs typeface="Calibri"/>
              </a:rPr>
              <a:t> </a:t>
            </a:r>
            <a:r>
              <a:rPr sz="3200" dirty="0">
                <a:latin typeface="Calibri"/>
                <a:cs typeface="Calibri"/>
              </a:rPr>
              <a:t>of</a:t>
            </a:r>
            <a:r>
              <a:rPr sz="3200" spc="-60" dirty="0">
                <a:latin typeface="Calibri"/>
                <a:cs typeface="Calibri"/>
              </a:rPr>
              <a:t> </a:t>
            </a:r>
            <a:r>
              <a:rPr sz="3200" spc="-10" dirty="0">
                <a:latin typeface="Calibri"/>
                <a:cs typeface="Calibri"/>
              </a:rPr>
              <a:t>matrices [Red,Greed,Blue]</a:t>
            </a:r>
            <a:endParaRPr sz="3200">
              <a:latin typeface="Calibri"/>
              <a:cs typeface="Calibri"/>
            </a:endParaRPr>
          </a:p>
        </p:txBody>
      </p:sp>
      <p:pic>
        <p:nvPicPr>
          <p:cNvPr id="3" name="object 3"/>
          <p:cNvPicPr/>
          <p:nvPr/>
        </p:nvPicPr>
        <p:blipFill>
          <a:blip r:embed="rId2" cstate="print"/>
          <a:stretch>
            <a:fillRect/>
          </a:stretch>
        </p:blipFill>
        <p:spPr>
          <a:xfrm>
            <a:off x="2720571" y="3728258"/>
            <a:ext cx="2923540" cy="1813560"/>
          </a:xfrm>
          <a:prstGeom prst="rect">
            <a:avLst/>
          </a:prstGeom>
        </p:spPr>
      </p:pic>
      <p:pic>
        <p:nvPicPr>
          <p:cNvPr id="4" name="object 4"/>
          <p:cNvPicPr/>
          <p:nvPr/>
        </p:nvPicPr>
        <p:blipFill>
          <a:blip r:embed="rId3" cstate="print"/>
          <a:stretch>
            <a:fillRect/>
          </a:stretch>
        </p:blipFill>
        <p:spPr>
          <a:xfrm>
            <a:off x="6685193" y="3550248"/>
            <a:ext cx="2496290" cy="2036818"/>
          </a:xfrm>
          <a:prstGeom prst="rect">
            <a:avLst/>
          </a:prstGeom>
        </p:spPr>
      </p:pic>
      <p:sp>
        <p:nvSpPr>
          <p:cNvPr id="5" name="Title 1">
            <a:extLst>
              <a:ext uri="{FF2B5EF4-FFF2-40B4-BE49-F238E27FC236}">
                <a16:creationId xmlns:a16="http://schemas.microsoft.com/office/drawing/2014/main" id="{CED8C863-681B-68AB-1D98-9CBA00E03B82}"/>
              </a:ext>
            </a:extLst>
          </p:cNvPr>
          <p:cNvSpPr txBox="1">
            <a:spLocks/>
          </p:cNvSpPr>
          <p:nvPr/>
        </p:nvSpPr>
        <p:spPr>
          <a:xfrm>
            <a:off x="601791" y="555478"/>
            <a:ext cx="9097686" cy="1068223"/>
          </a:xfrm>
          <a:prstGeom prst="rect">
            <a:avLst/>
          </a:prstGeom>
        </p:spPr>
        <p:txBody>
          <a:bodyPr>
            <a:normAutofit fontScale="97500"/>
          </a:bodyPr>
          <a:lstStyle>
            <a:lvl1pPr algn="l" defTabSz="914400" rtl="0" eaLnBrk="1" latinLnBrk="0" hangingPunct="1">
              <a:lnSpc>
                <a:spcPts val="3200"/>
              </a:lnSpc>
              <a:spcBef>
                <a:spcPct val="0"/>
              </a:spcBef>
              <a:buNone/>
              <a:defRPr sz="4200" b="1" kern="1200" cap="all" spc="-50" baseline="0">
                <a:solidFill>
                  <a:srgbClr val="942F6D"/>
                </a:solidFill>
                <a:latin typeface="+mn-lt"/>
                <a:ea typeface="+mj-ea"/>
                <a:cs typeface="+mj-cs"/>
              </a:defRPr>
            </a:lvl1pPr>
          </a:lstStyle>
          <a:p>
            <a:pPr marL="381000">
              <a:lnSpc>
                <a:spcPct val="100000"/>
              </a:lnSpc>
              <a:spcBef>
                <a:spcPts val="100"/>
              </a:spcBef>
            </a:pPr>
            <a:r>
              <a:rPr lang="en-US" sz="4400" spc="-229" dirty="0"/>
              <a:t>About Digital Images</a:t>
            </a:r>
            <a:endParaRPr lang="en-US" sz="4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279072" y="123838"/>
            <a:ext cx="10515600" cy="1184683"/>
          </a:xfrm>
          <a:prstGeom prst="rect">
            <a:avLst/>
          </a:prstGeom>
        </p:spPr>
        <p:txBody>
          <a:bodyPr vert="horz" wrap="square" lIns="0" tIns="502666" rIns="0" bIns="0" rtlCol="0" anchor="ctr">
            <a:spAutoFit/>
          </a:bodyPr>
          <a:lstStyle/>
          <a:p>
            <a:pPr marL="83820">
              <a:lnSpc>
                <a:spcPct val="100000"/>
              </a:lnSpc>
              <a:spcBef>
                <a:spcPts val="100"/>
              </a:spcBef>
            </a:pPr>
            <a:r>
              <a:rPr dirty="0"/>
              <a:t>Pros</a:t>
            </a:r>
            <a:r>
              <a:rPr spc="-80" dirty="0"/>
              <a:t> </a:t>
            </a:r>
            <a:r>
              <a:rPr dirty="0"/>
              <a:t>and</a:t>
            </a:r>
            <a:r>
              <a:rPr spc="-75" dirty="0"/>
              <a:t> </a:t>
            </a:r>
            <a:r>
              <a:rPr dirty="0"/>
              <a:t>cons</a:t>
            </a:r>
            <a:r>
              <a:rPr spc="-110" dirty="0"/>
              <a:t> </a:t>
            </a:r>
            <a:r>
              <a:rPr dirty="0"/>
              <a:t>of</a:t>
            </a:r>
            <a:r>
              <a:rPr spc="-85" dirty="0"/>
              <a:t> </a:t>
            </a:r>
            <a:r>
              <a:rPr spc="-10" dirty="0"/>
              <a:t>NN\MLP</a:t>
            </a:r>
          </a:p>
        </p:txBody>
      </p:sp>
      <p:sp>
        <p:nvSpPr>
          <p:cNvPr id="3" name="object 3"/>
          <p:cNvSpPr/>
          <p:nvPr/>
        </p:nvSpPr>
        <p:spPr>
          <a:xfrm>
            <a:off x="4646351" y="3183313"/>
            <a:ext cx="86360" cy="259079"/>
          </a:xfrm>
          <a:custGeom>
            <a:avLst/>
            <a:gdLst/>
            <a:ahLst/>
            <a:cxnLst/>
            <a:rect l="l" t="t" r="r" b="b"/>
            <a:pathLst>
              <a:path w="86360" h="259079">
                <a:moveTo>
                  <a:pt x="3682" y="0"/>
                </a:moveTo>
                <a:lnTo>
                  <a:pt x="0" y="10413"/>
                </a:lnTo>
                <a:lnTo>
                  <a:pt x="14858" y="16890"/>
                </a:lnTo>
                <a:lnTo>
                  <a:pt x="27686" y="26035"/>
                </a:lnTo>
                <a:lnTo>
                  <a:pt x="53847" y="67690"/>
                </a:lnTo>
                <a:lnTo>
                  <a:pt x="61468" y="106045"/>
                </a:lnTo>
                <a:lnTo>
                  <a:pt x="62356" y="128143"/>
                </a:lnTo>
                <a:lnTo>
                  <a:pt x="61468" y="151003"/>
                </a:lnTo>
                <a:lnTo>
                  <a:pt x="53847" y="190373"/>
                </a:lnTo>
                <a:lnTo>
                  <a:pt x="27812" y="232791"/>
                </a:lnTo>
                <a:lnTo>
                  <a:pt x="381" y="248412"/>
                </a:lnTo>
                <a:lnTo>
                  <a:pt x="3682" y="258953"/>
                </a:lnTo>
                <a:lnTo>
                  <a:pt x="38862" y="242316"/>
                </a:lnTo>
                <a:lnTo>
                  <a:pt x="64769" y="213614"/>
                </a:lnTo>
                <a:lnTo>
                  <a:pt x="80644" y="175260"/>
                </a:lnTo>
                <a:lnTo>
                  <a:pt x="85979" y="129412"/>
                </a:lnTo>
                <a:lnTo>
                  <a:pt x="84708" y="105790"/>
                </a:lnTo>
                <a:lnTo>
                  <a:pt x="74041" y="63626"/>
                </a:lnTo>
                <a:lnTo>
                  <a:pt x="52831" y="29463"/>
                </a:lnTo>
                <a:lnTo>
                  <a:pt x="22351" y="6731"/>
                </a:lnTo>
                <a:lnTo>
                  <a:pt x="3682" y="0"/>
                </a:lnTo>
                <a:close/>
              </a:path>
            </a:pathLst>
          </a:custGeom>
          <a:solidFill>
            <a:srgbClr val="000000"/>
          </a:solidFill>
        </p:spPr>
        <p:txBody>
          <a:bodyPr wrap="square" lIns="0" tIns="0" rIns="0" bIns="0" rtlCol="0"/>
          <a:lstStyle/>
          <a:p>
            <a:endParaRPr/>
          </a:p>
        </p:txBody>
      </p:sp>
      <p:sp>
        <p:nvSpPr>
          <p:cNvPr id="4" name="object 4"/>
          <p:cNvSpPr/>
          <p:nvPr/>
        </p:nvSpPr>
        <p:spPr>
          <a:xfrm>
            <a:off x="4029132" y="3183313"/>
            <a:ext cx="86360" cy="259079"/>
          </a:xfrm>
          <a:custGeom>
            <a:avLst/>
            <a:gdLst/>
            <a:ahLst/>
            <a:cxnLst/>
            <a:rect l="l" t="t" r="r" b="b"/>
            <a:pathLst>
              <a:path w="86360" h="259079">
                <a:moveTo>
                  <a:pt x="82295" y="0"/>
                </a:moveTo>
                <a:lnTo>
                  <a:pt x="47243" y="16637"/>
                </a:lnTo>
                <a:lnTo>
                  <a:pt x="21335" y="45338"/>
                </a:lnTo>
                <a:lnTo>
                  <a:pt x="5333" y="83820"/>
                </a:lnTo>
                <a:lnTo>
                  <a:pt x="0" y="129412"/>
                </a:lnTo>
                <a:lnTo>
                  <a:pt x="1269" y="153289"/>
                </a:lnTo>
                <a:lnTo>
                  <a:pt x="11937" y="195326"/>
                </a:lnTo>
                <a:lnTo>
                  <a:pt x="33019" y="229489"/>
                </a:lnTo>
                <a:lnTo>
                  <a:pt x="82295" y="258953"/>
                </a:lnTo>
                <a:lnTo>
                  <a:pt x="85597" y="248412"/>
                </a:lnTo>
                <a:lnTo>
                  <a:pt x="70992" y="241808"/>
                </a:lnTo>
                <a:lnTo>
                  <a:pt x="58292" y="232791"/>
                </a:lnTo>
                <a:lnTo>
                  <a:pt x="32257" y="190373"/>
                </a:lnTo>
                <a:lnTo>
                  <a:pt x="24510" y="151003"/>
                </a:lnTo>
                <a:lnTo>
                  <a:pt x="23621" y="128143"/>
                </a:lnTo>
                <a:lnTo>
                  <a:pt x="24510" y="106045"/>
                </a:lnTo>
                <a:lnTo>
                  <a:pt x="32257" y="67690"/>
                </a:lnTo>
                <a:lnTo>
                  <a:pt x="58292" y="26035"/>
                </a:lnTo>
                <a:lnTo>
                  <a:pt x="85978" y="10413"/>
                </a:lnTo>
                <a:lnTo>
                  <a:pt x="82295" y="0"/>
                </a:lnTo>
                <a:close/>
              </a:path>
            </a:pathLst>
          </a:custGeom>
          <a:solidFill>
            <a:srgbClr val="000000"/>
          </a:solidFill>
        </p:spPr>
        <p:txBody>
          <a:bodyPr wrap="square" lIns="0" tIns="0" rIns="0" bIns="0" rtlCol="0"/>
          <a:lstStyle/>
          <a:p>
            <a:endParaRPr/>
          </a:p>
        </p:txBody>
      </p:sp>
      <p:sp>
        <p:nvSpPr>
          <p:cNvPr id="5" name="object 5"/>
          <p:cNvSpPr txBox="1"/>
          <p:nvPr/>
        </p:nvSpPr>
        <p:spPr>
          <a:xfrm>
            <a:off x="1987290" y="1598988"/>
            <a:ext cx="8259445" cy="4726305"/>
          </a:xfrm>
          <a:prstGeom prst="rect">
            <a:avLst/>
          </a:prstGeom>
        </p:spPr>
        <p:txBody>
          <a:bodyPr vert="horz" wrap="square" lIns="0" tIns="12700" rIns="0" bIns="0" rtlCol="0">
            <a:spAutoFit/>
          </a:bodyPr>
          <a:lstStyle/>
          <a:p>
            <a:pPr marL="12700">
              <a:spcBef>
                <a:spcPts val="100"/>
              </a:spcBef>
            </a:pPr>
            <a:r>
              <a:rPr sz="2400" dirty="0">
                <a:latin typeface="Calibri"/>
                <a:cs typeface="Calibri"/>
              </a:rPr>
              <a:t>A</a:t>
            </a:r>
            <a:r>
              <a:rPr sz="2400" spc="-60" dirty="0">
                <a:latin typeface="Calibri"/>
                <a:cs typeface="Calibri"/>
              </a:rPr>
              <a:t> </a:t>
            </a:r>
            <a:r>
              <a:rPr sz="2400" dirty="0">
                <a:latin typeface="Calibri"/>
                <a:cs typeface="Calibri"/>
              </a:rPr>
              <a:t>large</a:t>
            </a:r>
            <a:r>
              <a:rPr sz="2400" spc="-60" dirty="0">
                <a:latin typeface="Calibri"/>
                <a:cs typeface="Calibri"/>
              </a:rPr>
              <a:t> </a:t>
            </a:r>
            <a:r>
              <a:rPr sz="2400" spc="-20" dirty="0">
                <a:latin typeface="Calibri"/>
                <a:cs typeface="Calibri"/>
              </a:rPr>
              <a:t>dataset/image</a:t>
            </a:r>
            <a:r>
              <a:rPr sz="2400" spc="-110" dirty="0">
                <a:latin typeface="Calibri"/>
                <a:cs typeface="Calibri"/>
              </a:rPr>
              <a:t> </a:t>
            </a:r>
            <a:r>
              <a:rPr sz="2400" dirty="0">
                <a:latin typeface="Calibri"/>
                <a:cs typeface="Calibri"/>
              </a:rPr>
              <a:t>(e.g.,</a:t>
            </a:r>
            <a:r>
              <a:rPr sz="2400" spc="-85" dirty="0">
                <a:latin typeface="Calibri"/>
                <a:cs typeface="Calibri"/>
              </a:rPr>
              <a:t> </a:t>
            </a:r>
            <a:r>
              <a:rPr sz="2400" dirty="0">
                <a:latin typeface="Calibri"/>
                <a:cs typeface="Calibri"/>
              </a:rPr>
              <a:t>MNIST</a:t>
            </a:r>
            <a:r>
              <a:rPr sz="2400" spc="-75" dirty="0">
                <a:latin typeface="Calibri"/>
                <a:cs typeface="Calibri"/>
              </a:rPr>
              <a:t> </a:t>
            </a:r>
            <a:r>
              <a:rPr sz="2400" spc="-10" dirty="0">
                <a:latin typeface="Calibri"/>
                <a:cs typeface="Calibri"/>
              </a:rPr>
              <a:t>database),</a:t>
            </a:r>
            <a:r>
              <a:rPr sz="2400" spc="-80" dirty="0">
                <a:latin typeface="Calibri"/>
                <a:cs typeface="Calibri"/>
              </a:rPr>
              <a:t> </a:t>
            </a:r>
            <a:r>
              <a:rPr sz="2400" dirty="0">
                <a:latin typeface="Calibri"/>
                <a:cs typeface="Calibri"/>
              </a:rPr>
              <a:t>can</a:t>
            </a:r>
            <a:r>
              <a:rPr sz="2400" spc="-45" dirty="0">
                <a:latin typeface="Calibri"/>
                <a:cs typeface="Calibri"/>
              </a:rPr>
              <a:t> </a:t>
            </a:r>
            <a:r>
              <a:rPr sz="2400" dirty="0">
                <a:latin typeface="Calibri"/>
                <a:cs typeface="Calibri"/>
              </a:rPr>
              <a:t>be</a:t>
            </a:r>
            <a:r>
              <a:rPr sz="2400" spc="-65" dirty="0">
                <a:latin typeface="Calibri"/>
                <a:cs typeface="Calibri"/>
              </a:rPr>
              <a:t> </a:t>
            </a:r>
            <a:r>
              <a:rPr sz="2400" dirty="0">
                <a:latin typeface="Calibri"/>
                <a:cs typeface="Calibri"/>
              </a:rPr>
              <a:t>learned</a:t>
            </a:r>
            <a:r>
              <a:rPr sz="2400" spc="-35" dirty="0">
                <a:latin typeface="Calibri"/>
                <a:cs typeface="Calibri"/>
              </a:rPr>
              <a:t> </a:t>
            </a:r>
            <a:r>
              <a:rPr sz="2400" spc="-10" dirty="0">
                <a:latin typeface="Calibri"/>
                <a:cs typeface="Calibri"/>
              </a:rPr>
              <a:t>using</a:t>
            </a:r>
            <a:endParaRPr sz="2400" dirty="0">
              <a:latin typeface="Calibri"/>
              <a:cs typeface="Calibri"/>
            </a:endParaRPr>
          </a:p>
          <a:p>
            <a:pPr marL="12700"/>
            <a:r>
              <a:rPr sz="2400" dirty="0">
                <a:latin typeface="Calibri"/>
                <a:cs typeface="Calibri"/>
              </a:rPr>
              <a:t>these</a:t>
            </a:r>
            <a:r>
              <a:rPr sz="2400" spc="-55" dirty="0">
                <a:latin typeface="Calibri"/>
                <a:cs typeface="Calibri"/>
              </a:rPr>
              <a:t> </a:t>
            </a:r>
            <a:r>
              <a:rPr sz="2400" spc="-10" dirty="0">
                <a:latin typeface="Calibri"/>
                <a:cs typeface="Calibri"/>
              </a:rPr>
              <a:t>networks</a:t>
            </a:r>
            <a:r>
              <a:rPr sz="2400" spc="-110" dirty="0">
                <a:latin typeface="Calibri"/>
                <a:cs typeface="Calibri"/>
              </a:rPr>
              <a:t> </a:t>
            </a:r>
            <a:r>
              <a:rPr sz="2400" dirty="0">
                <a:latin typeface="Calibri"/>
                <a:cs typeface="Calibri"/>
              </a:rPr>
              <a:t>with</a:t>
            </a:r>
            <a:r>
              <a:rPr sz="2400" spc="-80" dirty="0">
                <a:latin typeface="Calibri"/>
                <a:cs typeface="Calibri"/>
              </a:rPr>
              <a:t> </a:t>
            </a:r>
            <a:r>
              <a:rPr sz="2400" dirty="0">
                <a:latin typeface="Calibri"/>
                <a:cs typeface="Calibri"/>
              </a:rPr>
              <a:t>very</a:t>
            </a:r>
            <a:r>
              <a:rPr sz="2400" spc="-50" dirty="0">
                <a:latin typeface="Calibri"/>
                <a:cs typeface="Calibri"/>
              </a:rPr>
              <a:t> </a:t>
            </a:r>
            <a:r>
              <a:rPr sz="2400" dirty="0">
                <a:latin typeface="Calibri"/>
                <a:cs typeface="Calibri"/>
              </a:rPr>
              <a:t>small</a:t>
            </a:r>
            <a:r>
              <a:rPr sz="2400" spc="-95" dirty="0">
                <a:latin typeface="Calibri"/>
                <a:cs typeface="Calibri"/>
              </a:rPr>
              <a:t> </a:t>
            </a:r>
            <a:r>
              <a:rPr sz="2400" dirty="0">
                <a:latin typeface="Calibri"/>
                <a:cs typeface="Calibri"/>
              </a:rPr>
              <a:t>error</a:t>
            </a:r>
            <a:r>
              <a:rPr sz="2400" spc="-55" dirty="0">
                <a:latin typeface="Calibri"/>
                <a:cs typeface="Calibri"/>
              </a:rPr>
              <a:t> </a:t>
            </a:r>
            <a:r>
              <a:rPr sz="2400" spc="-10" dirty="0">
                <a:latin typeface="Calibri"/>
                <a:cs typeface="Calibri"/>
              </a:rPr>
              <a:t>(around</a:t>
            </a:r>
            <a:r>
              <a:rPr sz="2400" spc="-75" dirty="0">
                <a:latin typeface="Calibri"/>
                <a:cs typeface="Calibri"/>
              </a:rPr>
              <a:t> </a:t>
            </a:r>
            <a:r>
              <a:rPr sz="2400" dirty="0">
                <a:latin typeface="Calibri"/>
                <a:cs typeface="Calibri"/>
              </a:rPr>
              <a:t>2%),</a:t>
            </a:r>
            <a:r>
              <a:rPr sz="2400" spc="-40" dirty="0">
                <a:latin typeface="Calibri"/>
                <a:cs typeface="Calibri"/>
              </a:rPr>
              <a:t> </a:t>
            </a:r>
            <a:r>
              <a:rPr sz="2400" spc="-25" dirty="0">
                <a:latin typeface="Calibri"/>
                <a:cs typeface="Calibri"/>
              </a:rPr>
              <a:t>but</a:t>
            </a:r>
            <a:endParaRPr sz="2400" dirty="0">
              <a:latin typeface="Calibri"/>
              <a:cs typeface="Calibri"/>
            </a:endParaRPr>
          </a:p>
          <a:p>
            <a:pPr marL="756920" marR="351155" indent="-287020">
              <a:spcBef>
                <a:spcPts val="700"/>
              </a:spcBef>
              <a:buChar char="–"/>
              <a:tabLst>
                <a:tab pos="756920" algn="l"/>
                <a:tab pos="2134235" algn="l"/>
              </a:tabLst>
            </a:pPr>
            <a:r>
              <a:rPr sz="2200" dirty="0">
                <a:latin typeface="Arial"/>
                <a:cs typeface="Arial"/>
              </a:rPr>
              <a:t>They</a:t>
            </a:r>
            <a:r>
              <a:rPr sz="2200" spc="-95" dirty="0">
                <a:latin typeface="Arial"/>
                <a:cs typeface="Arial"/>
              </a:rPr>
              <a:t> </a:t>
            </a:r>
            <a:r>
              <a:rPr sz="2200" dirty="0">
                <a:latin typeface="Arial"/>
                <a:cs typeface="Arial"/>
              </a:rPr>
              <a:t>are</a:t>
            </a:r>
            <a:r>
              <a:rPr sz="2200" spc="-55" dirty="0">
                <a:latin typeface="Arial"/>
                <a:cs typeface="Arial"/>
              </a:rPr>
              <a:t> </a:t>
            </a:r>
            <a:r>
              <a:rPr sz="2200" dirty="0">
                <a:latin typeface="Arial"/>
                <a:cs typeface="Arial"/>
              </a:rPr>
              <a:t>not</a:t>
            </a:r>
            <a:r>
              <a:rPr sz="2200" spc="-60" dirty="0">
                <a:latin typeface="Arial"/>
                <a:cs typeface="Arial"/>
              </a:rPr>
              <a:t> </a:t>
            </a:r>
            <a:r>
              <a:rPr sz="2200" dirty="0">
                <a:latin typeface="Arial"/>
                <a:cs typeface="Arial"/>
              </a:rPr>
              <a:t>suitable</a:t>
            </a:r>
            <a:r>
              <a:rPr sz="2200" spc="-50" dirty="0">
                <a:latin typeface="Arial"/>
                <a:cs typeface="Arial"/>
              </a:rPr>
              <a:t> </a:t>
            </a:r>
            <a:r>
              <a:rPr sz="2200" dirty="0">
                <a:latin typeface="Arial"/>
                <a:cs typeface="Arial"/>
              </a:rPr>
              <a:t>in</a:t>
            </a:r>
            <a:r>
              <a:rPr sz="2200" spc="-70" dirty="0">
                <a:latin typeface="Arial"/>
                <a:cs typeface="Arial"/>
              </a:rPr>
              <a:t> </a:t>
            </a:r>
            <a:r>
              <a:rPr sz="2200" dirty="0">
                <a:latin typeface="Arial"/>
                <a:cs typeface="Arial"/>
              </a:rPr>
              <a:t>capturing</a:t>
            </a:r>
            <a:r>
              <a:rPr sz="2200" spc="-70" dirty="0">
                <a:latin typeface="Arial"/>
                <a:cs typeface="Arial"/>
              </a:rPr>
              <a:t> </a:t>
            </a:r>
            <a:r>
              <a:rPr sz="2200" dirty="0">
                <a:latin typeface="Arial"/>
                <a:cs typeface="Arial"/>
              </a:rPr>
              <a:t>the</a:t>
            </a:r>
            <a:r>
              <a:rPr sz="2200" spc="-75" dirty="0">
                <a:latin typeface="Arial"/>
                <a:cs typeface="Arial"/>
              </a:rPr>
              <a:t> </a:t>
            </a:r>
            <a:r>
              <a:rPr sz="2200" dirty="0">
                <a:latin typeface="Arial"/>
                <a:cs typeface="Arial"/>
              </a:rPr>
              <a:t>spatial</a:t>
            </a:r>
            <a:r>
              <a:rPr sz="2200" spc="-75" dirty="0">
                <a:latin typeface="Arial"/>
                <a:cs typeface="Arial"/>
              </a:rPr>
              <a:t> </a:t>
            </a:r>
            <a:r>
              <a:rPr sz="2200" dirty="0">
                <a:latin typeface="Arial"/>
                <a:cs typeface="Arial"/>
              </a:rPr>
              <a:t>structure</a:t>
            </a:r>
            <a:r>
              <a:rPr sz="2200" spc="-80" dirty="0">
                <a:latin typeface="Arial"/>
                <a:cs typeface="Arial"/>
              </a:rPr>
              <a:t> </a:t>
            </a:r>
            <a:r>
              <a:rPr sz="2200" spc="-25" dirty="0">
                <a:latin typeface="Arial"/>
                <a:cs typeface="Arial"/>
              </a:rPr>
              <a:t>(in </a:t>
            </a:r>
            <a:r>
              <a:rPr sz="2200" dirty="0">
                <a:latin typeface="Arial"/>
                <a:cs typeface="Arial"/>
              </a:rPr>
              <a:t>2D)</a:t>
            </a:r>
            <a:r>
              <a:rPr sz="2200" spc="-45" dirty="0">
                <a:latin typeface="Arial"/>
                <a:cs typeface="Arial"/>
              </a:rPr>
              <a:t> </a:t>
            </a:r>
            <a:r>
              <a:rPr sz="2200" dirty="0">
                <a:latin typeface="Arial"/>
                <a:cs typeface="Arial"/>
              </a:rPr>
              <a:t>of</a:t>
            </a:r>
            <a:r>
              <a:rPr sz="2200" spc="-65" dirty="0">
                <a:latin typeface="Arial"/>
                <a:cs typeface="Arial"/>
              </a:rPr>
              <a:t> </a:t>
            </a:r>
            <a:r>
              <a:rPr sz="2200" dirty="0">
                <a:latin typeface="Arial"/>
                <a:cs typeface="Arial"/>
              </a:rPr>
              <a:t>the</a:t>
            </a:r>
            <a:r>
              <a:rPr sz="2200" spc="-75" dirty="0">
                <a:latin typeface="Arial"/>
                <a:cs typeface="Arial"/>
              </a:rPr>
              <a:t> </a:t>
            </a:r>
            <a:r>
              <a:rPr sz="2200" dirty="0">
                <a:latin typeface="Arial"/>
                <a:cs typeface="Arial"/>
              </a:rPr>
              <a:t>input</a:t>
            </a:r>
            <a:r>
              <a:rPr sz="2200" spc="-40" dirty="0">
                <a:latin typeface="Arial"/>
                <a:cs typeface="Arial"/>
              </a:rPr>
              <a:t> </a:t>
            </a:r>
            <a:r>
              <a:rPr sz="2200" dirty="0">
                <a:latin typeface="Arial"/>
                <a:cs typeface="Arial"/>
              </a:rPr>
              <a:t>images</a:t>
            </a:r>
            <a:r>
              <a:rPr sz="2200" spc="-70" dirty="0">
                <a:latin typeface="Arial"/>
                <a:cs typeface="Arial"/>
              </a:rPr>
              <a:t> </a:t>
            </a:r>
            <a:r>
              <a:rPr sz="2200" dirty="0">
                <a:latin typeface="Arial"/>
                <a:cs typeface="Arial"/>
              </a:rPr>
              <a:t>(each</a:t>
            </a:r>
            <a:r>
              <a:rPr sz="2200" spc="-40" dirty="0">
                <a:latin typeface="Arial"/>
                <a:cs typeface="Arial"/>
              </a:rPr>
              <a:t> </a:t>
            </a:r>
            <a:r>
              <a:rPr sz="2200" dirty="0">
                <a:latin typeface="Arial"/>
                <a:cs typeface="Arial"/>
              </a:rPr>
              <a:t>nxn</a:t>
            </a:r>
            <a:r>
              <a:rPr sz="2200" spc="-15" dirty="0">
                <a:latin typeface="Arial"/>
                <a:cs typeface="Arial"/>
              </a:rPr>
              <a:t> </a:t>
            </a:r>
            <a:r>
              <a:rPr sz="2200" dirty="0">
                <a:latin typeface="Arial"/>
                <a:cs typeface="Arial"/>
              </a:rPr>
              <a:t>image</a:t>
            </a:r>
            <a:r>
              <a:rPr sz="2200" spc="-60" dirty="0">
                <a:latin typeface="Arial"/>
                <a:cs typeface="Arial"/>
              </a:rPr>
              <a:t> </a:t>
            </a:r>
            <a:r>
              <a:rPr sz="2200" dirty="0">
                <a:latin typeface="Arial"/>
                <a:cs typeface="Arial"/>
              </a:rPr>
              <a:t>is</a:t>
            </a:r>
            <a:r>
              <a:rPr sz="2200" spc="-50" dirty="0">
                <a:latin typeface="Arial"/>
                <a:cs typeface="Arial"/>
              </a:rPr>
              <a:t> </a:t>
            </a:r>
            <a:r>
              <a:rPr sz="2200" dirty="0">
                <a:latin typeface="Arial"/>
                <a:cs typeface="Arial"/>
              </a:rPr>
              <a:t>unrolled</a:t>
            </a:r>
            <a:r>
              <a:rPr sz="2200" spc="-75" dirty="0">
                <a:latin typeface="Arial"/>
                <a:cs typeface="Arial"/>
              </a:rPr>
              <a:t> </a:t>
            </a:r>
            <a:r>
              <a:rPr sz="2200" dirty="0">
                <a:latin typeface="Arial"/>
                <a:cs typeface="Arial"/>
              </a:rPr>
              <a:t>into</a:t>
            </a:r>
            <a:r>
              <a:rPr sz="2200" spc="-45" dirty="0">
                <a:latin typeface="Arial"/>
                <a:cs typeface="Arial"/>
              </a:rPr>
              <a:t> </a:t>
            </a:r>
            <a:r>
              <a:rPr sz="2200" spc="-50" dirty="0">
                <a:latin typeface="Arial"/>
                <a:cs typeface="Arial"/>
              </a:rPr>
              <a:t>a </a:t>
            </a:r>
            <a:r>
              <a:rPr sz="2200" b="1" dirty="0">
                <a:latin typeface="Arial"/>
                <a:cs typeface="Arial"/>
              </a:rPr>
              <a:t>vector</a:t>
            </a:r>
            <a:r>
              <a:rPr sz="2200" b="1" spc="-65" dirty="0">
                <a:latin typeface="Arial"/>
                <a:cs typeface="Arial"/>
              </a:rPr>
              <a:t> </a:t>
            </a:r>
            <a:r>
              <a:rPr sz="2200" b="1" spc="-25" dirty="0">
                <a:latin typeface="Arial"/>
                <a:cs typeface="Arial"/>
              </a:rPr>
              <a:t>of</a:t>
            </a:r>
            <a:r>
              <a:rPr sz="2200" b="1" dirty="0">
                <a:latin typeface="Arial"/>
                <a:cs typeface="Arial"/>
              </a:rPr>
              <a:t>	</a:t>
            </a:r>
            <a:r>
              <a:rPr sz="2200" dirty="0">
                <a:latin typeface="Cambria Math"/>
                <a:cs typeface="Cambria Math"/>
              </a:rPr>
              <a:t>𝒏𝒙𝒏</a:t>
            </a:r>
            <a:r>
              <a:rPr sz="2200" spc="375" dirty="0">
                <a:latin typeface="Cambria Math"/>
                <a:cs typeface="Cambria Math"/>
              </a:rPr>
              <a:t> </a:t>
            </a:r>
            <a:r>
              <a:rPr sz="2200" dirty="0">
                <a:latin typeface="Cambria Math"/>
                <a:cs typeface="Cambria Math"/>
              </a:rPr>
              <a:t>𝒙𝟏</a:t>
            </a:r>
            <a:r>
              <a:rPr sz="2200" spc="-25" dirty="0">
                <a:latin typeface="Cambria Math"/>
                <a:cs typeface="Cambria Math"/>
              </a:rPr>
              <a:t> </a:t>
            </a:r>
            <a:r>
              <a:rPr sz="2200" spc="-50" dirty="0">
                <a:latin typeface="Arial"/>
                <a:cs typeface="Arial"/>
              </a:rPr>
              <a:t>)</a:t>
            </a:r>
            <a:endParaRPr sz="2200" dirty="0">
              <a:latin typeface="Arial"/>
              <a:cs typeface="Arial"/>
            </a:endParaRPr>
          </a:p>
          <a:p>
            <a:pPr marL="756920" marR="139700" indent="-287020">
              <a:spcBef>
                <a:spcPts val="505"/>
              </a:spcBef>
              <a:buChar char="–"/>
              <a:tabLst>
                <a:tab pos="756920" algn="l"/>
              </a:tabLst>
            </a:pPr>
            <a:r>
              <a:rPr sz="2200" dirty="0">
                <a:latin typeface="Arial"/>
                <a:cs typeface="Arial"/>
              </a:rPr>
              <a:t>Each</a:t>
            </a:r>
            <a:r>
              <a:rPr sz="2200" spc="-80" dirty="0">
                <a:latin typeface="Arial"/>
                <a:cs typeface="Arial"/>
              </a:rPr>
              <a:t> </a:t>
            </a:r>
            <a:r>
              <a:rPr sz="2200" dirty="0">
                <a:latin typeface="Arial"/>
                <a:cs typeface="Arial"/>
              </a:rPr>
              <a:t>hidden</a:t>
            </a:r>
            <a:r>
              <a:rPr sz="2200" spc="-55" dirty="0">
                <a:latin typeface="Arial"/>
                <a:cs typeface="Arial"/>
              </a:rPr>
              <a:t> </a:t>
            </a:r>
            <a:r>
              <a:rPr sz="2200" dirty="0">
                <a:latin typeface="Arial"/>
                <a:cs typeface="Arial"/>
              </a:rPr>
              <a:t>unit</a:t>
            </a:r>
            <a:r>
              <a:rPr sz="2200" spc="-20" dirty="0">
                <a:latin typeface="Arial"/>
                <a:cs typeface="Arial"/>
              </a:rPr>
              <a:t> </a:t>
            </a:r>
            <a:r>
              <a:rPr sz="2200" b="1" dirty="0">
                <a:latin typeface="Arial"/>
                <a:cs typeface="Arial"/>
              </a:rPr>
              <a:t>looks</a:t>
            </a:r>
            <a:r>
              <a:rPr sz="2200" b="1" spc="-60" dirty="0">
                <a:latin typeface="Arial"/>
                <a:cs typeface="Arial"/>
              </a:rPr>
              <a:t> </a:t>
            </a:r>
            <a:r>
              <a:rPr sz="2200" b="1" dirty="0">
                <a:latin typeface="Arial"/>
                <a:cs typeface="Arial"/>
              </a:rPr>
              <a:t>at</a:t>
            </a:r>
            <a:r>
              <a:rPr sz="2200" b="1" spc="-45" dirty="0">
                <a:latin typeface="Arial"/>
                <a:cs typeface="Arial"/>
              </a:rPr>
              <a:t> </a:t>
            </a:r>
            <a:r>
              <a:rPr sz="2200" b="1" dirty="0">
                <a:latin typeface="Arial"/>
                <a:cs typeface="Arial"/>
              </a:rPr>
              <a:t>all</a:t>
            </a:r>
            <a:r>
              <a:rPr sz="2200" b="1" spc="-80" dirty="0">
                <a:latin typeface="Arial"/>
                <a:cs typeface="Arial"/>
              </a:rPr>
              <a:t> </a:t>
            </a:r>
            <a:r>
              <a:rPr sz="2200" b="1" dirty="0">
                <a:latin typeface="Arial"/>
                <a:cs typeface="Arial"/>
              </a:rPr>
              <a:t>the</a:t>
            </a:r>
            <a:r>
              <a:rPr sz="2200" b="1" spc="-35" dirty="0">
                <a:latin typeface="Arial"/>
                <a:cs typeface="Arial"/>
              </a:rPr>
              <a:t> </a:t>
            </a:r>
            <a:r>
              <a:rPr sz="2200" b="1" dirty="0">
                <a:latin typeface="Arial"/>
                <a:cs typeface="Arial"/>
              </a:rPr>
              <a:t>units</a:t>
            </a:r>
            <a:r>
              <a:rPr sz="2200" b="1" spc="-50" dirty="0">
                <a:latin typeface="Arial"/>
                <a:cs typeface="Arial"/>
              </a:rPr>
              <a:t> </a:t>
            </a:r>
            <a:r>
              <a:rPr sz="2200" b="1" dirty="0">
                <a:latin typeface="Arial"/>
                <a:cs typeface="Arial"/>
              </a:rPr>
              <a:t>in</a:t>
            </a:r>
            <a:r>
              <a:rPr sz="2200" b="1" spc="-55" dirty="0">
                <a:latin typeface="Arial"/>
                <a:cs typeface="Arial"/>
              </a:rPr>
              <a:t> </a:t>
            </a:r>
            <a:r>
              <a:rPr sz="2200" b="1" dirty="0">
                <a:latin typeface="Arial"/>
                <a:cs typeface="Arial"/>
              </a:rPr>
              <a:t>the</a:t>
            </a:r>
            <a:r>
              <a:rPr sz="2200" b="1" spc="-60" dirty="0">
                <a:latin typeface="Arial"/>
                <a:cs typeface="Arial"/>
              </a:rPr>
              <a:t> </a:t>
            </a:r>
            <a:r>
              <a:rPr sz="2200" b="1" dirty="0">
                <a:latin typeface="Arial"/>
                <a:cs typeface="Arial"/>
              </a:rPr>
              <a:t>layer</a:t>
            </a:r>
            <a:r>
              <a:rPr sz="2200" b="1" spc="25" dirty="0">
                <a:latin typeface="Arial"/>
                <a:cs typeface="Arial"/>
              </a:rPr>
              <a:t> </a:t>
            </a:r>
            <a:r>
              <a:rPr sz="2200" b="1" spc="-10" dirty="0">
                <a:latin typeface="Arial"/>
                <a:cs typeface="Arial"/>
              </a:rPr>
              <a:t>below</a:t>
            </a:r>
            <a:r>
              <a:rPr sz="2200" spc="-10" dirty="0">
                <a:latin typeface="Arial"/>
                <a:cs typeface="Arial"/>
              </a:rPr>
              <a:t>, </a:t>
            </a:r>
            <a:r>
              <a:rPr sz="2200" dirty="0">
                <a:latin typeface="Arial"/>
                <a:cs typeface="Arial"/>
              </a:rPr>
              <a:t>so</a:t>
            </a:r>
            <a:r>
              <a:rPr sz="2200" spc="-55" dirty="0">
                <a:latin typeface="Arial"/>
                <a:cs typeface="Arial"/>
              </a:rPr>
              <a:t> </a:t>
            </a:r>
            <a:r>
              <a:rPr sz="2200" dirty="0">
                <a:latin typeface="Arial"/>
                <a:cs typeface="Arial"/>
              </a:rPr>
              <a:t>pixels</a:t>
            </a:r>
            <a:r>
              <a:rPr sz="2200" spc="-35" dirty="0">
                <a:latin typeface="Arial"/>
                <a:cs typeface="Arial"/>
              </a:rPr>
              <a:t> </a:t>
            </a:r>
            <a:r>
              <a:rPr sz="2200" dirty="0">
                <a:latin typeface="Arial"/>
                <a:cs typeface="Arial"/>
              </a:rPr>
              <a:t>that</a:t>
            </a:r>
            <a:r>
              <a:rPr sz="2200" spc="-75" dirty="0">
                <a:latin typeface="Arial"/>
                <a:cs typeface="Arial"/>
              </a:rPr>
              <a:t> </a:t>
            </a:r>
            <a:r>
              <a:rPr sz="2200" dirty="0">
                <a:latin typeface="Arial"/>
                <a:cs typeface="Arial"/>
              </a:rPr>
              <a:t>are</a:t>
            </a:r>
            <a:r>
              <a:rPr sz="2200" spc="-30" dirty="0">
                <a:latin typeface="Arial"/>
                <a:cs typeface="Arial"/>
              </a:rPr>
              <a:t> </a:t>
            </a:r>
            <a:r>
              <a:rPr sz="2200" b="1" dirty="0">
                <a:latin typeface="Arial"/>
                <a:cs typeface="Arial"/>
              </a:rPr>
              <a:t>spatially</a:t>
            </a:r>
            <a:r>
              <a:rPr sz="2200" b="1" spc="-80" dirty="0">
                <a:latin typeface="Arial"/>
                <a:cs typeface="Arial"/>
              </a:rPr>
              <a:t> </a:t>
            </a:r>
            <a:r>
              <a:rPr sz="2200" b="1" dirty="0">
                <a:latin typeface="Arial"/>
                <a:cs typeface="Arial"/>
              </a:rPr>
              <a:t>separate</a:t>
            </a:r>
            <a:r>
              <a:rPr sz="2200" b="1" spc="-45" dirty="0">
                <a:latin typeface="Arial"/>
                <a:cs typeface="Arial"/>
              </a:rPr>
              <a:t> </a:t>
            </a:r>
            <a:r>
              <a:rPr sz="2200" dirty="0">
                <a:latin typeface="Arial"/>
                <a:cs typeface="Arial"/>
              </a:rPr>
              <a:t>are</a:t>
            </a:r>
            <a:r>
              <a:rPr sz="2200" spc="-50" dirty="0">
                <a:latin typeface="Arial"/>
                <a:cs typeface="Arial"/>
              </a:rPr>
              <a:t> </a:t>
            </a:r>
            <a:r>
              <a:rPr sz="2200" dirty="0">
                <a:latin typeface="Arial"/>
                <a:cs typeface="Arial"/>
              </a:rPr>
              <a:t>treated</a:t>
            </a:r>
            <a:r>
              <a:rPr sz="2200" spc="-80" dirty="0">
                <a:latin typeface="Arial"/>
                <a:cs typeface="Arial"/>
              </a:rPr>
              <a:t> </a:t>
            </a:r>
            <a:r>
              <a:rPr sz="2200" dirty="0">
                <a:latin typeface="Arial"/>
                <a:cs typeface="Arial"/>
              </a:rPr>
              <a:t>the</a:t>
            </a:r>
            <a:r>
              <a:rPr sz="2200" spc="-85" dirty="0">
                <a:latin typeface="Arial"/>
                <a:cs typeface="Arial"/>
              </a:rPr>
              <a:t> </a:t>
            </a:r>
            <a:r>
              <a:rPr sz="2200" spc="-20" dirty="0">
                <a:latin typeface="Arial"/>
                <a:cs typeface="Arial"/>
              </a:rPr>
              <a:t>same </a:t>
            </a:r>
            <a:r>
              <a:rPr sz="2200" dirty="0">
                <a:latin typeface="Arial"/>
                <a:cs typeface="Arial"/>
              </a:rPr>
              <a:t>way</a:t>
            </a:r>
            <a:r>
              <a:rPr sz="2200" spc="-5" dirty="0">
                <a:latin typeface="Arial"/>
                <a:cs typeface="Arial"/>
              </a:rPr>
              <a:t> </a:t>
            </a:r>
            <a:r>
              <a:rPr sz="2200" dirty="0">
                <a:latin typeface="Arial"/>
                <a:cs typeface="Arial"/>
              </a:rPr>
              <a:t>as</a:t>
            </a:r>
            <a:r>
              <a:rPr sz="2200" spc="-60" dirty="0">
                <a:latin typeface="Arial"/>
                <a:cs typeface="Arial"/>
              </a:rPr>
              <a:t> </a:t>
            </a:r>
            <a:r>
              <a:rPr sz="2200" b="1" dirty="0">
                <a:latin typeface="Arial"/>
                <a:cs typeface="Arial"/>
              </a:rPr>
              <a:t>pixels</a:t>
            </a:r>
            <a:r>
              <a:rPr sz="2200" b="1" spc="-35" dirty="0">
                <a:latin typeface="Arial"/>
                <a:cs typeface="Arial"/>
              </a:rPr>
              <a:t> </a:t>
            </a:r>
            <a:r>
              <a:rPr sz="2200" b="1" dirty="0">
                <a:latin typeface="Arial"/>
                <a:cs typeface="Arial"/>
              </a:rPr>
              <a:t>that</a:t>
            </a:r>
            <a:r>
              <a:rPr sz="2200" b="1" spc="-55" dirty="0">
                <a:latin typeface="Arial"/>
                <a:cs typeface="Arial"/>
              </a:rPr>
              <a:t> </a:t>
            </a:r>
            <a:r>
              <a:rPr sz="2200" b="1" dirty="0">
                <a:latin typeface="Arial"/>
                <a:cs typeface="Arial"/>
              </a:rPr>
              <a:t>are</a:t>
            </a:r>
            <a:r>
              <a:rPr sz="2200" b="1" spc="-60" dirty="0">
                <a:latin typeface="Arial"/>
                <a:cs typeface="Arial"/>
              </a:rPr>
              <a:t> </a:t>
            </a:r>
            <a:r>
              <a:rPr sz="2200" b="1" spc="-10" dirty="0">
                <a:latin typeface="Arial"/>
                <a:cs typeface="Arial"/>
              </a:rPr>
              <a:t>adjacent</a:t>
            </a:r>
            <a:r>
              <a:rPr sz="2200" spc="-10" dirty="0">
                <a:latin typeface="Arial"/>
                <a:cs typeface="Arial"/>
              </a:rPr>
              <a:t>.</a:t>
            </a:r>
            <a:endParaRPr sz="2200" dirty="0">
              <a:latin typeface="Arial"/>
              <a:cs typeface="Arial"/>
            </a:endParaRPr>
          </a:p>
          <a:p>
            <a:pPr marL="756920" marR="76835" indent="-287020">
              <a:spcBef>
                <a:spcPts val="500"/>
              </a:spcBef>
              <a:buChar char="–"/>
              <a:tabLst>
                <a:tab pos="756920" algn="l"/>
              </a:tabLst>
            </a:pPr>
            <a:r>
              <a:rPr sz="2200" dirty="0">
                <a:latin typeface="Arial"/>
                <a:cs typeface="Arial"/>
              </a:rPr>
              <a:t>There</a:t>
            </a:r>
            <a:r>
              <a:rPr sz="2200" spc="-75" dirty="0">
                <a:latin typeface="Arial"/>
                <a:cs typeface="Arial"/>
              </a:rPr>
              <a:t> </a:t>
            </a:r>
            <a:r>
              <a:rPr sz="2200" dirty="0">
                <a:latin typeface="Arial"/>
                <a:cs typeface="Arial"/>
              </a:rPr>
              <a:t>is</a:t>
            </a:r>
            <a:r>
              <a:rPr sz="2200" spc="-40" dirty="0">
                <a:latin typeface="Arial"/>
                <a:cs typeface="Arial"/>
              </a:rPr>
              <a:t> </a:t>
            </a:r>
            <a:r>
              <a:rPr sz="2200" dirty="0">
                <a:latin typeface="Arial"/>
                <a:cs typeface="Arial"/>
              </a:rPr>
              <a:t>no</a:t>
            </a:r>
            <a:r>
              <a:rPr sz="2200" spc="-45" dirty="0">
                <a:latin typeface="Arial"/>
                <a:cs typeface="Arial"/>
              </a:rPr>
              <a:t> </a:t>
            </a:r>
            <a:r>
              <a:rPr sz="2200" dirty="0">
                <a:latin typeface="Arial"/>
                <a:cs typeface="Arial"/>
              </a:rPr>
              <a:t>simple</a:t>
            </a:r>
            <a:r>
              <a:rPr sz="2200" spc="-70" dirty="0">
                <a:latin typeface="Arial"/>
                <a:cs typeface="Arial"/>
              </a:rPr>
              <a:t> </a:t>
            </a:r>
            <a:r>
              <a:rPr sz="2200" dirty="0">
                <a:latin typeface="Arial"/>
                <a:cs typeface="Arial"/>
              </a:rPr>
              <a:t>way for</a:t>
            </a:r>
            <a:r>
              <a:rPr sz="2200" spc="-55" dirty="0">
                <a:latin typeface="Arial"/>
                <a:cs typeface="Arial"/>
              </a:rPr>
              <a:t> </a:t>
            </a:r>
            <a:r>
              <a:rPr sz="2200" dirty="0">
                <a:latin typeface="Arial"/>
                <a:cs typeface="Arial"/>
              </a:rPr>
              <a:t>networks </a:t>
            </a:r>
            <a:r>
              <a:rPr sz="2200" b="1" dirty="0">
                <a:latin typeface="Arial"/>
                <a:cs typeface="Arial"/>
              </a:rPr>
              <a:t>to</a:t>
            </a:r>
            <a:r>
              <a:rPr sz="2200" b="1" spc="-45" dirty="0">
                <a:latin typeface="Arial"/>
                <a:cs typeface="Arial"/>
              </a:rPr>
              <a:t> </a:t>
            </a:r>
            <a:r>
              <a:rPr sz="2200" b="1" dirty="0">
                <a:latin typeface="Arial"/>
                <a:cs typeface="Arial"/>
              </a:rPr>
              <a:t>learn</a:t>
            </a:r>
            <a:r>
              <a:rPr sz="2200" b="1" spc="-50" dirty="0">
                <a:latin typeface="Arial"/>
                <a:cs typeface="Arial"/>
              </a:rPr>
              <a:t> </a:t>
            </a:r>
            <a:r>
              <a:rPr sz="2200" b="1" dirty="0">
                <a:latin typeface="Arial"/>
                <a:cs typeface="Arial"/>
              </a:rPr>
              <a:t>the</a:t>
            </a:r>
            <a:r>
              <a:rPr sz="2200" b="1" spc="-20" dirty="0">
                <a:latin typeface="Arial"/>
                <a:cs typeface="Arial"/>
              </a:rPr>
              <a:t> same </a:t>
            </a:r>
            <a:r>
              <a:rPr sz="2200" b="1" dirty="0">
                <a:latin typeface="Arial"/>
                <a:cs typeface="Arial"/>
              </a:rPr>
              <a:t>features</a:t>
            </a:r>
            <a:r>
              <a:rPr sz="2200" b="1" spc="-55" dirty="0">
                <a:latin typeface="Arial"/>
                <a:cs typeface="Arial"/>
              </a:rPr>
              <a:t> </a:t>
            </a:r>
            <a:r>
              <a:rPr sz="2200" dirty="0">
                <a:latin typeface="Arial"/>
                <a:cs typeface="Arial"/>
              </a:rPr>
              <a:t>(e.g.</a:t>
            </a:r>
            <a:r>
              <a:rPr sz="2200" spc="-80" dirty="0">
                <a:latin typeface="Arial"/>
                <a:cs typeface="Arial"/>
              </a:rPr>
              <a:t> </a:t>
            </a:r>
            <a:r>
              <a:rPr sz="2200" dirty="0">
                <a:latin typeface="Arial"/>
                <a:cs typeface="Arial"/>
              </a:rPr>
              <a:t>edges)</a:t>
            </a:r>
            <a:r>
              <a:rPr sz="2200" spc="-45" dirty="0">
                <a:latin typeface="Arial"/>
                <a:cs typeface="Arial"/>
              </a:rPr>
              <a:t> </a:t>
            </a:r>
            <a:r>
              <a:rPr sz="2200" b="1" dirty="0">
                <a:latin typeface="Arial"/>
                <a:cs typeface="Arial"/>
              </a:rPr>
              <a:t>at</a:t>
            </a:r>
            <a:r>
              <a:rPr sz="2200" b="1" spc="-65" dirty="0">
                <a:latin typeface="Arial"/>
                <a:cs typeface="Arial"/>
              </a:rPr>
              <a:t> </a:t>
            </a:r>
            <a:r>
              <a:rPr sz="2200" b="1" dirty="0">
                <a:latin typeface="Arial"/>
                <a:cs typeface="Arial"/>
              </a:rPr>
              <a:t>different</a:t>
            </a:r>
            <a:r>
              <a:rPr sz="2200" b="1" spc="-45" dirty="0">
                <a:latin typeface="Arial"/>
                <a:cs typeface="Arial"/>
              </a:rPr>
              <a:t> </a:t>
            </a:r>
            <a:r>
              <a:rPr sz="2200" b="1" dirty="0">
                <a:latin typeface="Arial"/>
                <a:cs typeface="Arial"/>
              </a:rPr>
              <a:t>places</a:t>
            </a:r>
            <a:r>
              <a:rPr sz="2200" b="1" spc="-45" dirty="0">
                <a:latin typeface="Arial"/>
                <a:cs typeface="Arial"/>
              </a:rPr>
              <a:t> </a:t>
            </a:r>
            <a:r>
              <a:rPr sz="2200" dirty="0">
                <a:latin typeface="Arial"/>
                <a:cs typeface="Arial"/>
              </a:rPr>
              <a:t>in</a:t>
            </a:r>
            <a:r>
              <a:rPr sz="2200" spc="-60" dirty="0">
                <a:latin typeface="Arial"/>
                <a:cs typeface="Arial"/>
              </a:rPr>
              <a:t> </a:t>
            </a:r>
            <a:r>
              <a:rPr sz="2200" dirty="0">
                <a:latin typeface="Arial"/>
                <a:cs typeface="Arial"/>
              </a:rPr>
              <a:t>the</a:t>
            </a:r>
            <a:r>
              <a:rPr sz="2200" spc="-80" dirty="0">
                <a:latin typeface="Arial"/>
                <a:cs typeface="Arial"/>
              </a:rPr>
              <a:t> </a:t>
            </a:r>
            <a:r>
              <a:rPr sz="2200" dirty="0">
                <a:latin typeface="Arial"/>
                <a:cs typeface="Arial"/>
              </a:rPr>
              <a:t>input</a:t>
            </a:r>
            <a:r>
              <a:rPr sz="2200" spc="-30" dirty="0">
                <a:latin typeface="Arial"/>
                <a:cs typeface="Arial"/>
              </a:rPr>
              <a:t> </a:t>
            </a:r>
            <a:r>
              <a:rPr sz="2200" spc="-10" dirty="0">
                <a:latin typeface="Arial"/>
                <a:cs typeface="Arial"/>
              </a:rPr>
              <a:t>image </a:t>
            </a:r>
            <a:r>
              <a:rPr sz="2200" spc="-20" dirty="0">
                <a:latin typeface="Arial"/>
                <a:cs typeface="Arial"/>
              </a:rPr>
              <a:t>MLP.</a:t>
            </a:r>
            <a:endParaRPr sz="2200" dirty="0">
              <a:latin typeface="Arial"/>
              <a:cs typeface="Arial"/>
            </a:endParaRPr>
          </a:p>
          <a:p>
            <a:pPr marL="387350" indent="-287020" algn="ctr">
              <a:spcBef>
                <a:spcPts val="505"/>
              </a:spcBef>
              <a:buChar char="–"/>
              <a:tabLst>
                <a:tab pos="387350" algn="l"/>
              </a:tabLst>
            </a:pPr>
            <a:r>
              <a:rPr sz="2200" dirty="0">
                <a:latin typeface="Arial"/>
                <a:cs typeface="Arial"/>
              </a:rPr>
              <a:t>When</a:t>
            </a:r>
            <a:r>
              <a:rPr sz="2200" spc="-110" dirty="0">
                <a:latin typeface="Arial"/>
                <a:cs typeface="Arial"/>
              </a:rPr>
              <a:t> </a:t>
            </a:r>
            <a:r>
              <a:rPr sz="2200" dirty="0">
                <a:latin typeface="Arial"/>
                <a:cs typeface="Arial"/>
              </a:rPr>
              <a:t>input</a:t>
            </a:r>
            <a:r>
              <a:rPr sz="2200" spc="-40" dirty="0">
                <a:latin typeface="Arial"/>
                <a:cs typeface="Arial"/>
              </a:rPr>
              <a:t> </a:t>
            </a:r>
            <a:r>
              <a:rPr sz="2200" dirty="0">
                <a:latin typeface="Arial"/>
                <a:cs typeface="Arial"/>
              </a:rPr>
              <a:t>is</a:t>
            </a:r>
            <a:r>
              <a:rPr sz="2200" spc="-50" dirty="0">
                <a:latin typeface="Arial"/>
                <a:cs typeface="Arial"/>
              </a:rPr>
              <a:t> </a:t>
            </a:r>
            <a:r>
              <a:rPr sz="2200" dirty="0">
                <a:latin typeface="Arial"/>
                <a:cs typeface="Arial"/>
              </a:rPr>
              <a:t>very</a:t>
            </a:r>
            <a:r>
              <a:rPr sz="2200" spc="-65" dirty="0">
                <a:latin typeface="Arial"/>
                <a:cs typeface="Arial"/>
              </a:rPr>
              <a:t> </a:t>
            </a:r>
            <a:r>
              <a:rPr sz="2200" dirty="0">
                <a:latin typeface="Arial"/>
                <a:cs typeface="Arial"/>
              </a:rPr>
              <a:t>high</a:t>
            </a:r>
            <a:r>
              <a:rPr sz="2200" spc="-50" dirty="0">
                <a:latin typeface="Arial"/>
                <a:cs typeface="Arial"/>
              </a:rPr>
              <a:t> </a:t>
            </a:r>
            <a:r>
              <a:rPr sz="2200" dirty="0">
                <a:latin typeface="Arial"/>
                <a:cs typeface="Arial"/>
              </a:rPr>
              <a:t>dimension,</a:t>
            </a:r>
            <a:r>
              <a:rPr sz="2200" spc="-80" dirty="0">
                <a:latin typeface="Arial"/>
                <a:cs typeface="Arial"/>
              </a:rPr>
              <a:t> </a:t>
            </a:r>
            <a:r>
              <a:rPr sz="2200" dirty="0">
                <a:latin typeface="Arial"/>
                <a:cs typeface="Arial"/>
              </a:rPr>
              <a:t>we</a:t>
            </a:r>
            <a:r>
              <a:rPr sz="2200" spc="-30" dirty="0">
                <a:latin typeface="Arial"/>
                <a:cs typeface="Arial"/>
              </a:rPr>
              <a:t> </a:t>
            </a:r>
            <a:r>
              <a:rPr sz="2200" dirty="0">
                <a:latin typeface="Arial"/>
                <a:cs typeface="Arial"/>
              </a:rPr>
              <a:t>need</a:t>
            </a:r>
            <a:r>
              <a:rPr sz="2200" spc="-30" dirty="0">
                <a:latin typeface="Arial"/>
                <a:cs typeface="Arial"/>
              </a:rPr>
              <a:t> </a:t>
            </a:r>
            <a:r>
              <a:rPr sz="2200" dirty="0">
                <a:latin typeface="Arial"/>
                <a:cs typeface="Arial"/>
              </a:rPr>
              <a:t>to</a:t>
            </a:r>
            <a:r>
              <a:rPr sz="2200" spc="-70" dirty="0">
                <a:latin typeface="Arial"/>
                <a:cs typeface="Arial"/>
              </a:rPr>
              <a:t> </a:t>
            </a:r>
            <a:r>
              <a:rPr sz="2200" dirty="0">
                <a:latin typeface="Arial"/>
                <a:cs typeface="Arial"/>
              </a:rPr>
              <a:t>estimate</a:t>
            </a:r>
            <a:r>
              <a:rPr sz="2200" spc="-85" dirty="0">
                <a:latin typeface="Arial"/>
                <a:cs typeface="Arial"/>
              </a:rPr>
              <a:t> </a:t>
            </a:r>
            <a:r>
              <a:rPr sz="2200" spc="-50" dirty="0">
                <a:latin typeface="Arial"/>
                <a:cs typeface="Arial"/>
              </a:rPr>
              <a:t>a</a:t>
            </a:r>
            <a:endParaRPr sz="2200" dirty="0">
              <a:latin typeface="Arial"/>
              <a:cs typeface="Arial"/>
            </a:endParaRPr>
          </a:p>
          <a:p>
            <a:pPr marL="162560" algn="ctr"/>
            <a:r>
              <a:rPr sz="2200" b="1" dirty="0">
                <a:latin typeface="Arial"/>
                <a:cs typeface="Arial"/>
              </a:rPr>
              <a:t>large</a:t>
            </a:r>
            <a:r>
              <a:rPr sz="2200" b="1" spc="-65" dirty="0">
                <a:latin typeface="Arial"/>
                <a:cs typeface="Arial"/>
              </a:rPr>
              <a:t> </a:t>
            </a:r>
            <a:r>
              <a:rPr sz="2200" b="1" dirty="0">
                <a:latin typeface="Arial"/>
                <a:cs typeface="Arial"/>
              </a:rPr>
              <a:t>amount</a:t>
            </a:r>
            <a:r>
              <a:rPr sz="2200" b="1" spc="-35" dirty="0">
                <a:latin typeface="Arial"/>
                <a:cs typeface="Arial"/>
              </a:rPr>
              <a:t> </a:t>
            </a:r>
            <a:r>
              <a:rPr sz="2200" b="1" dirty="0">
                <a:latin typeface="Arial"/>
                <a:cs typeface="Arial"/>
              </a:rPr>
              <a:t>of</a:t>
            </a:r>
            <a:r>
              <a:rPr sz="2200" b="1" spc="-15" dirty="0">
                <a:latin typeface="Arial"/>
                <a:cs typeface="Arial"/>
              </a:rPr>
              <a:t> </a:t>
            </a:r>
            <a:r>
              <a:rPr sz="2200" b="1" dirty="0">
                <a:latin typeface="Arial"/>
                <a:cs typeface="Arial"/>
              </a:rPr>
              <a:t>parameters</a:t>
            </a:r>
            <a:r>
              <a:rPr sz="2200" b="1" spc="-55" dirty="0">
                <a:latin typeface="Arial"/>
                <a:cs typeface="Arial"/>
              </a:rPr>
              <a:t> </a:t>
            </a:r>
            <a:r>
              <a:rPr sz="2200" dirty="0">
                <a:latin typeface="Arial"/>
                <a:cs typeface="Arial"/>
              </a:rPr>
              <a:t>for</a:t>
            </a:r>
            <a:r>
              <a:rPr sz="2200" spc="-65" dirty="0">
                <a:latin typeface="Arial"/>
                <a:cs typeface="Arial"/>
              </a:rPr>
              <a:t> </a:t>
            </a:r>
            <a:r>
              <a:rPr sz="2200" dirty="0">
                <a:latin typeface="Arial"/>
                <a:cs typeface="Arial"/>
              </a:rPr>
              <a:t>a</a:t>
            </a:r>
            <a:r>
              <a:rPr sz="2200" spc="-20" dirty="0">
                <a:latin typeface="Arial"/>
                <a:cs typeface="Arial"/>
              </a:rPr>
              <a:t> </a:t>
            </a:r>
            <a:r>
              <a:rPr sz="2200" spc="-25" dirty="0">
                <a:latin typeface="Arial"/>
                <a:cs typeface="Arial"/>
              </a:rPr>
              <a:t>fully-</a:t>
            </a:r>
            <a:r>
              <a:rPr sz="2200" dirty="0">
                <a:latin typeface="Arial"/>
                <a:cs typeface="Arial"/>
              </a:rPr>
              <a:t>connected</a:t>
            </a:r>
            <a:r>
              <a:rPr sz="2200" spc="-40" dirty="0">
                <a:latin typeface="Arial"/>
                <a:cs typeface="Arial"/>
              </a:rPr>
              <a:t> </a:t>
            </a:r>
            <a:r>
              <a:rPr sz="2200" dirty="0">
                <a:latin typeface="Arial"/>
                <a:cs typeface="Arial"/>
              </a:rPr>
              <a:t>NN</a:t>
            </a:r>
            <a:r>
              <a:rPr sz="2200" spc="-40" dirty="0">
                <a:latin typeface="Arial"/>
                <a:cs typeface="Arial"/>
              </a:rPr>
              <a:t> </a:t>
            </a:r>
            <a:r>
              <a:rPr sz="2200" spc="-50" dirty="0">
                <a:latin typeface="Arial"/>
                <a:cs typeface="Arial"/>
              </a:rPr>
              <a:t>.</a:t>
            </a:r>
            <a:endParaRPr sz="2200" dirty="0">
              <a:latin typeface="Arial"/>
              <a:cs typeface="Arial"/>
            </a:endParaRPr>
          </a:p>
        </p:txBody>
      </p:sp>
      <p:grpSp>
        <p:nvGrpSpPr>
          <p:cNvPr id="6" name="object 6"/>
          <p:cNvGrpSpPr/>
          <p:nvPr/>
        </p:nvGrpSpPr>
        <p:grpSpPr>
          <a:xfrm>
            <a:off x="5431719" y="3127939"/>
            <a:ext cx="369570" cy="369570"/>
            <a:chOff x="3990847" y="3439667"/>
            <a:chExt cx="369570" cy="369570"/>
          </a:xfrm>
        </p:grpSpPr>
        <p:sp>
          <p:nvSpPr>
            <p:cNvPr id="7" name="object 7"/>
            <p:cNvSpPr/>
            <p:nvPr/>
          </p:nvSpPr>
          <p:spPr>
            <a:xfrm>
              <a:off x="3995419" y="3444239"/>
              <a:ext cx="360680" cy="360680"/>
            </a:xfrm>
            <a:custGeom>
              <a:avLst/>
              <a:gdLst/>
              <a:ahLst/>
              <a:cxnLst/>
              <a:rect l="l" t="t" r="r" b="b"/>
              <a:pathLst>
                <a:path w="360679" h="360679">
                  <a:moveTo>
                    <a:pt x="360299" y="0"/>
                  </a:moveTo>
                  <a:lnTo>
                    <a:pt x="0" y="0"/>
                  </a:lnTo>
                  <a:lnTo>
                    <a:pt x="0" y="360299"/>
                  </a:lnTo>
                  <a:lnTo>
                    <a:pt x="360299" y="360299"/>
                  </a:lnTo>
                  <a:lnTo>
                    <a:pt x="360299" y="0"/>
                  </a:lnTo>
                  <a:close/>
                </a:path>
              </a:pathLst>
            </a:custGeom>
            <a:solidFill>
              <a:srgbClr val="B9DFE1"/>
            </a:solidFill>
          </p:spPr>
          <p:txBody>
            <a:bodyPr wrap="square" lIns="0" tIns="0" rIns="0" bIns="0" rtlCol="0"/>
            <a:lstStyle/>
            <a:p>
              <a:endParaRPr/>
            </a:p>
          </p:txBody>
        </p:sp>
        <p:sp>
          <p:nvSpPr>
            <p:cNvPr id="8" name="object 8"/>
            <p:cNvSpPr/>
            <p:nvPr/>
          </p:nvSpPr>
          <p:spPr>
            <a:xfrm>
              <a:off x="3995419" y="3444239"/>
              <a:ext cx="360680" cy="360680"/>
            </a:xfrm>
            <a:custGeom>
              <a:avLst/>
              <a:gdLst/>
              <a:ahLst/>
              <a:cxnLst/>
              <a:rect l="l" t="t" r="r" b="b"/>
              <a:pathLst>
                <a:path w="360679" h="360679">
                  <a:moveTo>
                    <a:pt x="0" y="360299"/>
                  </a:moveTo>
                  <a:lnTo>
                    <a:pt x="360299" y="360299"/>
                  </a:lnTo>
                  <a:lnTo>
                    <a:pt x="360299" y="0"/>
                  </a:lnTo>
                  <a:lnTo>
                    <a:pt x="0" y="0"/>
                  </a:lnTo>
                  <a:lnTo>
                    <a:pt x="0" y="360299"/>
                  </a:lnTo>
                  <a:close/>
                </a:path>
              </a:pathLst>
            </a:custGeom>
            <a:ln w="9144">
              <a:solidFill>
                <a:srgbClr val="000000"/>
              </a:solidFill>
            </a:ln>
          </p:spPr>
          <p:txBody>
            <a:bodyPr wrap="square" lIns="0" tIns="0" rIns="0" bIns="0" rtlCol="0"/>
            <a:lstStyle/>
            <a:p>
              <a:endParaRPr/>
            </a:p>
          </p:txBody>
        </p:sp>
      </p:grpSp>
      <p:grpSp>
        <p:nvGrpSpPr>
          <p:cNvPr id="9" name="object 9"/>
          <p:cNvGrpSpPr/>
          <p:nvPr/>
        </p:nvGrpSpPr>
        <p:grpSpPr>
          <a:xfrm>
            <a:off x="5866060" y="3199061"/>
            <a:ext cx="295910" cy="225425"/>
            <a:chOff x="4425188" y="3510788"/>
            <a:chExt cx="295910" cy="225425"/>
          </a:xfrm>
        </p:grpSpPr>
        <p:sp>
          <p:nvSpPr>
            <p:cNvPr id="10" name="object 10"/>
            <p:cNvSpPr/>
            <p:nvPr/>
          </p:nvSpPr>
          <p:spPr>
            <a:xfrm>
              <a:off x="4429760" y="3515360"/>
              <a:ext cx="287020" cy="215900"/>
            </a:xfrm>
            <a:custGeom>
              <a:avLst/>
              <a:gdLst/>
              <a:ahLst/>
              <a:cxnLst/>
              <a:rect l="l" t="t" r="r" b="b"/>
              <a:pathLst>
                <a:path w="287020" h="215900">
                  <a:moveTo>
                    <a:pt x="178307" y="0"/>
                  </a:moveTo>
                  <a:lnTo>
                    <a:pt x="178307" y="53975"/>
                  </a:lnTo>
                  <a:lnTo>
                    <a:pt x="0" y="53975"/>
                  </a:lnTo>
                  <a:lnTo>
                    <a:pt x="0" y="161797"/>
                  </a:lnTo>
                  <a:lnTo>
                    <a:pt x="178307" y="161797"/>
                  </a:lnTo>
                  <a:lnTo>
                    <a:pt x="178307" y="215772"/>
                  </a:lnTo>
                  <a:lnTo>
                    <a:pt x="286512" y="107950"/>
                  </a:lnTo>
                  <a:lnTo>
                    <a:pt x="178307" y="0"/>
                  </a:lnTo>
                  <a:close/>
                </a:path>
              </a:pathLst>
            </a:custGeom>
            <a:solidFill>
              <a:srgbClr val="B9DFE1"/>
            </a:solidFill>
          </p:spPr>
          <p:txBody>
            <a:bodyPr wrap="square" lIns="0" tIns="0" rIns="0" bIns="0" rtlCol="0"/>
            <a:lstStyle/>
            <a:p>
              <a:endParaRPr/>
            </a:p>
          </p:txBody>
        </p:sp>
        <p:sp>
          <p:nvSpPr>
            <p:cNvPr id="11" name="object 11"/>
            <p:cNvSpPr/>
            <p:nvPr/>
          </p:nvSpPr>
          <p:spPr>
            <a:xfrm>
              <a:off x="4429760" y="3515360"/>
              <a:ext cx="287020" cy="215900"/>
            </a:xfrm>
            <a:custGeom>
              <a:avLst/>
              <a:gdLst/>
              <a:ahLst/>
              <a:cxnLst/>
              <a:rect l="l" t="t" r="r" b="b"/>
              <a:pathLst>
                <a:path w="287020" h="215900">
                  <a:moveTo>
                    <a:pt x="0" y="53975"/>
                  </a:moveTo>
                  <a:lnTo>
                    <a:pt x="178307" y="53975"/>
                  </a:lnTo>
                  <a:lnTo>
                    <a:pt x="178307" y="0"/>
                  </a:lnTo>
                  <a:lnTo>
                    <a:pt x="286512" y="107950"/>
                  </a:lnTo>
                  <a:lnTo>
                    <a:pt x="178307" y="215772"/>
                  </a:lnTo>
                  <a:lnTo>
                    <a:pt x="178307" y="161797"/>
                  </a:lnTo>
                  <a:lnTo>
                    <a:pt x="0" y="161797"/>
                  </a:lnTo>
                  <a:lnTo>
                    <a:pt x="0" y="53975"/>
                  </a:lnTo>
                  <a:close/>
                </a:path>
              </a:pathLst>
            </a:custGeom>
            <a:ln w="9144">
              <a:solidFill>
                <a:srgbClr val="000000"/>
              </a:solidFill>
            </a:ln>
          </p:spPr>
          <p:txBody>
            <a:bodyPr wrap="square" lIns="0" tIns="0" rIns="0" bIns="0" rtlCol="0"/>
            <a:lstStyle/>
            <a:p>
              <a:endParaRPr/>
            </a:p>
          </p:txBody>
        </p:sp>
      </p:grpSp>
      <p:grpSp>
        <p:nvGrpSpPr>
          <p:cNvPr id="12" name="object 12"/>
          <p:cNvGrpSpPr/>
          <p:nvPr/>
        </p:nvGrpSpPr>
        <p:grpSpPr>
          <a:xfrm>
            <a:off x="6241980" y="3041581"/>
            <a:ext cx="135890" cy="527685"/>
            <a:chOff x="4801108" y="3353308"/>
            <a:chExt cx="135890" cy="527685"/>
          </a:xfrm>
        </p:grpSpPr>
        <p:sp>
          <p:nvSpPr>
            <p:cNvPr id="13" name="object 13"/>
            <p:cNvSpPr/>
            <p:nvPr/>
          </p:nvSpPr>
          <p:spPr>
            <a:xfrm>
              <a:off x="4805679" y="3357879"/>
              <a:ext cx="127000" cy="518159"/>
            </a:xfrm>
            <a:custGeom>
              <a:avLst/>
              <a:gdLst/>
              <a:ahLst/>
              <a:cxnLst/>
              <a:rect l="l" t="t" r="r" b="b"/>
              <a:pathLst>
                <a:path w="127000" h="518160">
                  <a:moveTo>
                    <a:pt x="126490" y="0"/>
                  </a:moveTo>
                  <a:lnTo>
                    <a:pt x="0" y="0"/>
                  </a:lnTo>
                  <a:lnTo>
                    <a:pt x="0" y="518160"/>
                  </a:lnTo>
                  <a:lnTo>
                    <a:pt x="126490" y="518160"/>
                  </a:lnTo>
                  <a:lnTo>
                    <a:pt x="126490" y="0"/>
                  </a:lnTo>
                  <a:close/>
                </a:path>
              </a:pathLst>
            </a:custGeom>
            <a:solidFill>
              <a:srgbClr val="B9DFE1"/>
            </a:solidFill>
          </p:spPr>
          <p:txBody>
            <a:bodyPr wrap="square" lIns="0" tIns="0" rIns="0" bIns="0" rtlCol="0"/>
            <a:lstStyle/>
            <a:p>
              <a:endParaRPr/>
            </a:p>
          </p:txBody>
        </p:sp>
        <p:sp>
          <p:nvSpPr>
            <p:cNvPr id="14" name="object 14"/>
            <p:cNvSpPr/>
            <p:nvPr/>
          </p:nvSpPr>
          <p:spPr>
            <a:xfrm>
              <a:off x="4805679" y="3357879"/>
              <a:ext cx="127000" cy="518159"/>
            </a:xfrm>
            <a:custGeom>
              <a:avLst/>
              <a:gdLst/>
              <a:ahLst/>
              <a:cxnLst/>
              <a:rect l="l" t="t" r="r" b="b"/>
              <a:pathLst>
                <a:path w="127000" h="518160">
                  <a:moveTo>
                    <a:pt x="0" y="518160"/>
                  </a:moveTo>
                  <a:lnTo>
                    <a:pt x="126490" y="518160"/>
                  </a:lnTo>
                  <a:lnTo>
                    <a:pt x="126490" y="0"/>
                  </a:lnTo>
                  <a:lnTo>
                    <a:pt x="0" y="0"/>
                  </a:lnTo>
                  <a:lnTo>
                    <a:pt x="0" y="518160"/>
                  </a:lnTo>
                  <a:close/>
                </a:path>
              </a:pathLst>
            </a:custGeom>
            <a:ln w="9142">
              <a:solidFill>
                <a:srgbClr val="000000"/>
              </a:solidFill>
            </a:ln>
          </p:spPr>
          <p:txBody>
            <a:bodyPr wrap="square" lIns="0" tIns="0" rIns="0" bIns="0" rtlCol="0"/>
            <a:lstStyle/>
            <a:p>
              <a:endParaRPr/>
            </a:p>
          </p:txBody>
        </p:sp>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815056" y="669389"/>
            <a:ext cx="6104255" cy="513080"/>
          </a:xfrm>
          <a:prstGeom prst="rect">
            <a:avLst/>
          </a:prstGeom>
        </p:spPr>
        <p:txBody>
          <a:bodyPr vert="horz" wrap="square" lIns="0" tIns="12700" rIns="0" bIns="0" rtlCol="0" anchor="ctr">
            <a:spAutoFit/>
          </a:bodyPr>
          <a:lstStyle/>
          <a:p>
            <a:pPr marL="12700">
              <a:lnSpc>
                <a:spcPct val="100000"/>
              </a:lnSpc>
              <a:spcBef>
                <a:spcPts val="100"/>
              </a:spcBef>
            </a:pPr>
            <a:r>
              <a:rPr sz="3200" dirty="0">
                <a:latin typeface="Calibri"/>
                <a:cs typeface="Calibri"/>
              </a:rPr>
              <a:t>CNNs</a:t>
            </a:r>
            <a:r>
              <a:rPr sz="3200" spc="-95" dirty="0">
                <a:latin typeface="Calibri"/>
                <a:cs typeface="Calibri"/>
              </a:rPr>
              <a:t> </a:t>
            </a:r>
            <a:r>
              <a:rPr sz="3200" dirty="0">
                <a:latin typeface="Calibri"/>
                <a:cs typeface="Calibri"/>
              </a:rPr>
              <a:t>can</a:t>
            </a:r>
            <a:r>
              <a:rPr sz="3200" spc="-75" dirty="0">
                <a:latin typeface="Calibri"/>
                <a:cs typeface="Calibri"/>
              </a:rPr>
              <a:t> </a:t>
            </a:r>
            <a:r>
              <a:rPr sz="3200" dirty="0">
                <a:latin typeface="Calibri"/>
                <a:cs typeface="Calibri"/>
              </a:rPr>
              <a:t>tackle</a:t>
            </a:r>
            <a:r>
              <a:rPr sz="3200" spc="-114" dirty="0">
                <a:latin typeface="Calibri"/>
                <a:cs typeface="Calibri"/>
              </a:rPr>
              <a:t> </a:t>
            </a:r>
            <a:r>
              <a:rPr sz="3200" dirty="0">
                <a:latin typeface="Calibri"/>
                <a:cs typeface="Calibri"/>
              </a:rPr>
              <a:t>these</a:t>
            </a:r>
            <a:r>
              <a:rPr sz="3200" spc="-120" dirty="0">
                <a:latin typeface="Calibri"/>
                <a:cs typeface="Calibri"/>
              </a:rPr>
              <a:t> </a:t>
            </a:r>
            <a:r>
              <a:rPr sz="3200" dirty="0">
                <a:latin typeface="Calibri"/>
                <a:cs typeface="Calibri"/>
              </a:rPr>
              <a:t>problem</a:t>
            </a:r>
            <a:r>
              <a:rPr sz="3200" spc="-85" dirty="0">
                <a:latin typeface="Calibri"/>
                <a:cs typeface="Calibri"/>
              </a:rPr>
              <a:t> </a:t>
            </a:r>
            <a:r>
              <a:rPr sz="3200" spc="-10" dirty="0">
                <a:latin typeface="Calibri"/>
                <a:cs typeface="Calibri"/>
              </a:rPr>
              <a:t>using</a:t>
            </a:r>
            <a:endParaRPr sz="3200" dirty="0">
              <a:latin typeface="Calibri"/>
              <a:cs typeface="Calibri"/>
            </a:endParaRPr>
          </a:p>
        </p:txBody>
      </p:sp>
      <p:sp>
        <p:nvSpPr>
          <p:cNvPr id="3" name="object 3"/>
          <p:cNvSpPr txBox="1"/>
          <p:nvPr/>
        </p:nvSpPr>
        <p:spPr>
          <a:xfrm>
            <a:off x="2527935" y="2341268"/>
            <a:ext cx="7059930" cy="2764790"/>
          </a:xfrm>
          <a:prstGeom prst="rect">
            <a:avLst/>
          </a:prstGeom>
        </p:spPr>
        <p:txBody>
          <a:bodyPr vert="horz" wrap="square" lIns="0" tIns="12700" rIns="0" bIns="0" rtlCol="0">
            <a:spAutoFit/>
          </a:bodyPr>
          <a:lstStyle/>
          <a:p>
            <a:pPr marL="299720" marR="39370" indent="-287020">
              <a:spcBef>
                <a:spcPts val="100"/>
              </a:spcBef>
              <a:buChar char="–"/>
              <a:tabLst>
                <a:tab pos="299720" algn="l"/>
              </a:tabLst>
            </a:pPr>
            <a:r>
              <a:rPr sz="2800" u="heavy" dirty="0">
                <a:solidFill>
                  <a:srgbClr val="FF0000"/>
                </a:solidFill>
                <a:uFill>
                  <a:solidFill>
                    <a:srgbClr val="FF0000"/>
                  </a:solidFill>
                </a:uFill>
                <a:latin typeface="Calibri"/>
                <a:cs typeface="Calibri"/>
              </a:rPr>
              <a:t>Local</a:t>
            </a:r>
            <a:r>
              <a:rPr sz="2800" u="heavy" spc="-135" dirty="0">
                <a:solidFill>
                  <a:srgbClr val="FF0000"/>
                </a:solidFill>
                <a:uFill>
                  <a:solidFill>
                    <a:srgbClr val="FF0000"/>
                  </a:solidFill>
                </a:uFill>
                <a:latin typeface="Calibri"/>
                <a:cs typeface="Calibri"/>
              </a:rPr>
              <a:t> </a:t>
            </a:r>
            <a:r>
              <a:rPr sz="2800" u="heavy" dirty="0">
                <a:solidFill>
                  <a:srgbClr val="FF0000"/>
                </a:solidFill>
                <a:uFill>
                  <a:solidFill>
                    <a:srgbClr val="FF0000"/>
                  </a:solidFill>
                </a:uFill>
                <a:latin typeface="Calibri"/>
                <a:cs typeface="Calibri"/>
              </a:rPr>
              <a:t>receptive</a:t>
            </a:r>
            <a:r>
              <a:rPr sz="2800" u="heavy" spc="-145" dirty="0">
                <a:solidFill>
                  <a:srgbClr val="FF0000"/>
                </a:solidFill>
                <a:uFill>
                  <a:solidFill>
                    <a:srgbClr val="FF0000"/>
                  </a:solidFill>
                </a:uFill>
                <a:latin typeface="Calibri"/>
                <a:cs typeface="Calibri"/>
              </a:rPr>
              <a:t> </a:t>
            </a:r>
            <a:r>
              <a:rPr sz="2800" u="heavy" dirty="0">
                <a:solidFill>
                  <a:srgbClr val="FF0000"/>
                </a:solidFill>
                <a:uFill>
                  <a:solidFill>
                    <a:srgbClr val="FF0000"/>
                  </a:solidFill>
                </a:uFill>
                <a:latin typeface="Calibri"/>
                <a:cs typeface="Calibri"/>
              </a:rPr>
              <a:t>fields</a:t>
            </a:r>
            <a:r>
              <a:rPr sz="2800" u="heavy" spc="-45" dirty="0">
                <a:solidFill>
                  <a:srgbClr val="FF0000"/>
                </a:solidFill>
                <a:uFill>
                  <a:solidFill>
                    <a:srgbClr val="FF0000"/>
                  </a:solidFill>
                </a:uFill>
                <a:latin typeface="Calibri"/>
                <a:cs typeface="Calibri"/>
              </a:rPr>
              <a:t> </a:t>
            </a:r>
            <a:r>
              <a:rPr sz="2800" dirty="0">
                <a:latin typeface="Calibri"/>
                <a:cs typeface="Calibri"/>
              </a:rPr>
              <a:t>in</a:t>
            </a:r>
            <a:r>
              <a:rPr sz="2800" spc="-85" dirty="0">
                <a:latin typeface="Calibri"/>
                <a:cs typeface="Calibri"/>
              </a:rPr>
              <a:t> </a:t>
            </a:r>
            <a:r>
              <a:rPr sz="2800" dirty="0">
                <a:latin typeface="Calibri"/>
                <a:cs typeface="Calibri"/>
              </a:rPr>
              <a:t>which</a:t>
            </a:r>
            <a:r>
              <a:rPr sz="2800" spc="-105" dirty="0">
                <a:latin typeface="Calibri"/>
                <a:cs typeface="Calibri"/>
              </a:rPr>
              <a:t> </a:t>
            </a:r>
            <a:r>
              <a:rPr sz="2800" dirty="0">
                <a:latin typeface="Calibri"/>
                <a:cs typeface="Calibri"/>
              </a:rPr>
              <a:t>hidden</a:t>
            </a:r>
            <a:r>
              <a:rPr sz="2800" spc="-30" dirty="0">
                <a:latin typeface="Calibri"/>
                <a:cs typeface="Calibri"/>
              </a:rPr>
              <a:t> </a:t>
            </a:r>
            <a:r>
              <a:rPr sz="2800" dirty="0">
                <a:latin typeface="Calibri"/>
                <a:cs typeface="Calibri"/>
              </a:rPr>
              <a:t>units</a:t>
            </a:r>
            <a:r>
              <a:rPr sz="2800" spc="-20" dirty="0">
                <a:latin typeface="Calibri"/>
                <a:cs typeface="Calibri"/>
              </a:rPr>
              <a:t> </a:t>
            </a:r>
            <a:r>
              <a:rPr sz="2800" spc="-25" dirty="0">
                <a:latin typeface="Calibri"/>
                <a:cs typeface="Calibri"/>
              </a:rPr>
              <a:t>are </a:t>
            </a:r>
            <a:r>
              <a:rPr sz="2800" dirty="0">
                <a:latin typeface="Calibri"/>
                <a:cs typeface="Calibri"/>
              </a:rPr>
              <a:t>connected</a:t>
            </a:r>
            <a:r>
              <a:rPr sz="2800" spc="-90" dirty="0">
                <a:latin typeface="Calibri"/>
                <a:cs typeface="Calibri"/>
              </a:rPr>
              <a:t> </a:t>
            </a:r>
            <a:r>
              <a:rPr sz="2800" dirty="0">
                <a:latin typeface="Calibri"/>
                <a:cs typeface="Calibri"/>
              </a:rPr>
              <a:t>to</a:t>
            </a:r>
            <a:r>
              <a:rPr sz="2800" spc="-70" dirty="0">
                <a:latin typeface="Calibri"/>
                <a:cs typeface="Calibri"/>
              </a:rPr>
              <a:t> </a:t>
            </a:r>
            <a:r>
              <a:rPr sz="2800" b="1" dirty="0">
                <a:latin typeface="Calibri"/>
                <a:cs typeface="Calibri"/>
              </a:rPr>
              <a:t>local</a:t>
            </a:r>
            <a:r>
              <a:rPr sz="2800" b="1" spc="-50" dirty="0">
                <a:latin typeface="Calibri"/>
                <a:cs typeface="Calibri"/>
              </a:rPr>
              <a:t> </a:t>
            </a:r>
            <a:r>
              <a:rPr sz="2800" b="1" spc="-10" dirty="0">
                <a:latin typeface="Calibri"/>
                <a:cs typeface="Calibri"/>
              </a:rPr>
              <a:t>patches</a:t>
            </a:r>
            <a:r>
              <a:rPr sz="2800" b="1" spc="-85" dirty="0">
                <a:latin typeface="Calibri"/>
                <a:cs typeface="Calibri"/>
              </a:rPr>
              <a:t> </a:t>
            </a:r>
            <a:r>
              <a:rPr sz="2800" dirty="0">
                <a:latin typeface="Calibri"/>
                <a:cs typeface="Calibri"/>
              </a:rPr>
              <a:t>of</a:t>
            </a:r>
            <a:r>
              <a:rPr sz="2800" spc="-85" dirty="0">
                <a:latin typeface="Calibri"/>
                <a:cs typeface="Calibri"/>
              </a:rPr>
              <a:t> </a:t>
            </a:r>
            <a:r>
              <a:rPr sz="2800" dirty="0">
                <a:latin typeface="Calibri"/>
                <a:cs typeface="Calibri"/>
              </a:rPr>
              <a:t>the</a:t>
            </a:r>
            <a:r>
              <a:rPr sz="2800" spc="-65" dirty="0">
                <a:latin typeface="Calibri"/>
                <a:cs typeface="Calibri"/>
              </a:rPr>
              <a:t> </a:t>
            </a:r>
            <a:r>
              <a:rPr sz="2800" dirty="0">
                <a:latin typeface="Calibri"/>
                <a:cs typeface="Calibri"/>
              </a:rPr>
              <a:t>layer</a:t>
            </a:r>
            <a:r>
              <a:rPr sz="2800" spc="-85" dirty="0">
                <a:latin typeface="Calibri"/>
                <a:cs typeface="Calibri"/>
              </a:rPr>
              <a:t> </a:t>
            </a:r>
            <a:r>
              <a:rPr sz="2800" spc="-10" dirty="0">
                <a:latin typeface="Calibri"/>
                <a:cs typeface="Calibri"/>
              </a:rPr>
              <a:t>below,</a:t>
            </a:r>
            <a:endParaRPr sz="2800">
              <a:latin typeface="Calibri"/>
              <a:cs typeface="Calibri"/>
            </a:endParaRPr>
          </a:p>
          <a:p>
            <a:pPr marL="299720" marR="5080" indent="-287020">
              <a:spcBef>
                <a:spcPts val="700"/>
              </a:spcBef>
              <a:buChar char="–"/>
              <a:tabLst>
                <a:tab pos="299720" algn="l"/>
              </a:tabLst>
            </a:pPr>
            <a:r>
              <a:rPr sz="2800" u="heavy" spc="-10" dirty="0">
                <a:solidFill>
                  <a:srgbClr val="FF0000"/>
                </a:solidFill>
                <a:uFill>
                  <a:solidFill>
                    <a:srgbClr val="FF0000"/>
                  </a:solidFill>
                </a:uFill>
                <a:latin typeface="Calibri"/>
                <a:cs typeface="Calibri"/>
              </a:rPr>
              <a:t>Weight</a:t>
            </a:r>
            <a:r>
              <a:rPr sz="2800" u="heavy" spc="-114" dirty="0">
                <a:solidFill>
                  <a:srgbClr val="FF0000"/>
                </a:solidFill>
                <a:uFill>
                  <a:solidFill>
                    <a:srgbClr val="FF0000"/>
                  </a:solidFill>
                </a:uFill>
                <a:latin typeface="Calibri"/>
                <a:cs typeface="Calibri"/>
              </a:rPr>
              <a:t> </a:t>
            </a:r>
            <a:r>
              <a:rPr sz="2800" u="heavy" dirty="0">
                <a:solidFill>
                  <a:srgbClr val="FF0000"/>
                </a:solidFill>
                <a:uFill>
                  <a:solidFill>
                    <a:srgbClr val="FF0000"/>
                  </a:solidFill>
                </a:uFill>
                <a:latin typeface="Calibri"/>
                <a:cs typeface="Calibri"/>
              </a:rPr>
              <a:t>sharing</a:t>
            </a:r>
            <a:r>
              <a:rPr sz="2800" u="heavy" spc="-40" dirty="0">
                <a:solidFill>
                  <a:srgbClr val="FF0000"/>
                </a:solidFill>
                <a:uFill>
                  <a:solidFill>
                    <a:srgbClr val="FF0000"/>
                  </a:solidFill>
                </a:uFill>
                <a:latin typeface="Calibri"/>
                <a:cs typeface="Calibri"/>
              </a:rPr>
              <a:t> </a:t>
            </a:r>
            <a:r>
              <a:rPr sz="2800" dirty="0">
                <a:latin typeface="Calibri"/>
                <a:cs typeface="Calibri"/>
              </a:rPr>
              <a:t>which</a:t>
            </a:r>
            <a:r>
              <a:rPr sz="2800" spc="-95" dirty="0">
                <a:latin typeface="Calibri"/>
                <a:cs typeface="Calibri"/>
              </a:rPr>
              <a:t> </a:t>
            </a:r>
            <a:r>
              <a:rPr sz="2800" dirty="0">
                <a:latin typeface="Calibri"/>
                <a:cs typeface="Calibri"/>
              </a:rPr>
              <a:t>enables</a:t>
            </a:r>
            <a:r>
              <a:rPr sz="2800" spc="-110" dirty="0">
                <a:latin typeface="Calibri"/>
                <a:cs typeface="Calibri"/>
              </a:rPr>
              <a:t> </a:t>
            </a:r>
            <a:r>
              <a:rPr sz="2800" dirty="0">
                <a:latin typeface="Calibri"/>
                <a:cs typeface="Calibri"/>
              </a:rPr>
              <a:t>the</a:t>
            </a:r>
            <a:r>
              <a:rPr sz="2800" spc="-105" dirty="0">
                <a:latin typeface="Calibri"/>
                <a:cs typeface="Calibri"/>
              </a:rPr>
              <a:t> </a:t>
            </a:r>
            <a:r>
              <a:rPr sz="2800" spc="-10" dirty="0">
                <a:latin typeface="Calibri"/>
                <a:cs typeface="Calibri"/>
              </a:rPr>
              <a:t>construction </a:t>
            </a:r>
            <a:r>
              <a:rPr sz="2800" dirty="0">
                <a:latin typeface="Calibri"/>
                <a:cs typeface="Calibri"/>
              </a:rPr>
              <a:t>of</a:t>
            </a:r>
            <a:r>
              <a:rPr sz="2800" spc="-80" dirty="0">
                <a:latin typeface="Calibri"/>
                <a:cs typeface="Calibri"/>
              </a:rPr>
              <a:t> </a:t>
            </a:r>
            <a:r>
              <a:rPr sz="2800" spc="-10" dirty="0">
                <a:latin typeface="Calibri"/>
                <a:cs typeface="Calibri"/>
              </a:rPr>
              <a:t>feature</a:t>
            </a:r>
            <a:r>
              <a:rPr sz="2800" spc="-70" dirty="0">
                <a:latin typeface="Calibri"/>
                <a:cs typeface="Calibri"/>
              </a:rPr>
              <a:t> </a:t>
            </a:r>
            <a:r>
              <a:rPr sz="2800" spc="-20" dirty="0">
                <a:latin typeface="Calibri"/>
                <a:cs typeface="Calibri"/>
              </a:rPr>
              <a:t>maps,</a:t>
            </a:r>
            <a:endParaRPr sz="2800">
              <a:latin typeface="Calibri"/>
              <a:cs typeface="Calibri"/>
            </a:endParaRPr>
          </a:p>
          <a:p>
            <a:pPr marL="299720" marR="24765" indent="-287020">
              <a:spcBef>
                <a:spcPts val="705"/>
              </a:spcBef>
              <a:buChar char="–"/>
              <a:tabLst>
                <a:tab pos="299720" algn="l"/>
              </a:tabLst>
            </a:pPr>
            <a:r>
              <a:rPr sz="2800" u="heavy" dirty="0">
                <a:solidFill>
                  <a:srgbClr val="FF0000"/>
                </a:solidFill>
                <a:uFill>
                  <a:solidFill>
                    <a:srgbClr val="FF0000"/>
                  </a:solidFill>
                </a:uFill>
                <a:latin typeface="Calibri"/>
                <a:cs typeface="Calibri"/>
              </a:rPr>
              <a:t>Pooling</a:t>
            </a:r>
            <a:r>
              <a:rPr sz="2800" spc="-145" dirty="0">
                <a:solidFill>
                  <a:srgbClr val="FF0000"/>
                </a:solidFill>
                <a:latin typeface="Calibri"/>
                <a:cs typeface="Calibri"/>
              </a:rPr>
              <a:t> </a:t>
            </a:r>
            <a:r>
              <a:rPr sz="2800" dirty="0">
                <a:latin typeface="Calibri"/>
                <a:cs typeface="Calibri"/>
              </a:rPr>
              <a:t>which</a:t>
            </a:r>
            <a:r>
              <a:rPr sz="2800" spc="-125" dirty="0">
                <a:latin typeface="Calibri"/>
                <a:cs typeface="Calibri"/>
              </a:rPr>
              <a:t> </a:t>
            </a:r>
            <a:r>
              <a:rPr sz="2800" dirty="0">
                <a:latin typeface="Calibri"/>
                <a:cs typeface="Calibri"/>
              </a:rPr>
              <a:t>condenses</a:t>
            </a:r>
            <a:r>
              <a:rPr sz="2800" spc="-135" dirty="0">
                <a:latin typeface="Calibri"/>
                <a:cs typeface="Calibri"/>
              </a:rPr>
              <a:t> </a:t>
            </a:r>
            <a:r>
              <a:rPr sz="2800" spc="-10" dirty="0">
                <a:latin typeface="Calibri"/>
                <a:cs typeface="Calibri"/>
              </a:rPr>
              <a:t>information</a:t>
            </a:r>
            <a:r>
              <a:rPr sz="2800" spc="-40" dirty="0">
                <a:latin typeface="Calibri"/>
                <a:cs typeface="Calibri"/>
              </a:rPr>
              <a:t> </a:t>
            </a:r>
            <a:r>
              <a:rPr sz="2800" dirty="0">
                <a:latin typeface="Calibri"/>
                <a:cs typeface="Calibri"/>
              </a:rPr>
              <a:t>from</a:t>
            </a:r>
            <a:r>
              <a:rPr sz="2800" spc="-130" dirty="0">
                <a:latin typeface="Calibri"/>
                <a:cs typeface="Calibri"/>
              </a:rPr>
              <a:t> </a:t>
            </a:r>
            <a:r>
              <a:rPr sz="2800" spc="-25" dirty="0">
                <a:latin typeface="Calibri"/>
                <a:cs typeface="Calibri"/>
              </a:rPr>
              <a:t>the </a:t>
            </a:r>
            <a:r>
              <a:rPr sz="2800" spc="-10" dirty="0">
                <a:latin typeface="Calibri"/>
                <a:cs typeface="Calibri"/>
              </a:rPr>
              <a:t>previous</a:t>
            </a:r>
            <a:r>
              <a:rPr sz="2800" spc="-95" dirty="0">
                <a:latin typeface="Calibri"/>
                <a:cs typeface="Calibri"/>
              </a:rPr>
              <a:t> </a:t>
            </a:r>
            <a:r>
              <a:rPr sz="2800" spc="-10" dirty="0">
                <a:latin typeface="Calibri"/>
                <a:cs typeface="Calibri"/>
              </a:rPr>
              <a:t>layer.</a:t>
            </a:r>
            <a:endParaRPr sz="2800">
              <a:latin typeface="Calibri"/>
              <a:cs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854201" y="113087"/>
            <a:ext cx="7133935" cy="1367041"/>
          </a:xfrm>
          <a:prstGeom prst="rect">
            <a:avLst/>
          </a:prstGeom>
        </p:spPr>
        <p:txBody>
          <a:bodyPr vert="horz" wrap="square" lIns="0" tIns="12700" rIns="0" bIns="0" rtlCol="0" anchor="ctr">
            <a:spAutoFit/>
          </a:bodyPr>
          <a:lstStyle/>
          <a:p>
            <a:pPr marL="12700" marR="5080">
              <a:lnSpc>
                <a:spcPct val="100000"/>
              </a:lnSpc>
              <a:spcBef>
                <a:spcPts val="100"/>
              </a:spcBef>
            </a:pPr>
            <a:r>
              <a:rPr dirty="0"/>
              <a:t>Fully</a:t>
            </a:r>
            <a:r>
              <a:rPr spc="-70" dirty="0"/>
              <a:t> </a:t>
            </a:r>
            <a:r>
              <a:rPr spc="-10" dirty="0"/>
              <a:t>connected</a:t>
            </a:r>
            <a:r>
              <a:rPr spc="-155" dirty="0"/>
              <a:t> </a:t>
            </a:r>
            <a:r>
              <a:rPr dirty="0"/>
              <a:t>hidden</a:t>
            </a:r>
            <a:r>
              <a:rPr spc="-90" dirty="0"/>
              <a:t> </a:t>
            </a:r>
            <a:r>
              <a:rPr spc="-10" dirty="0"/>
              <a:t>layer </a:t>
            </a:r>
            <a:r>
              <a:rPr dirty="0"/>
              <a:t>(576</a:t>
            </a:r>
            <a:r>
              <a:rPr spc="-105" dirty="0"/>
              <a:t> </a:t>
            </a:r>
            <a:r>
              <a:rPr dirty="0"/>
              <a:t>hidden</a:t>
            </a:r>
            <a:r>
              <a:rPr spc="-114" dirty="0"/>
              <a:t> </a:t>
            </a:r>
            <a:r>
              <a:rPr spc="-10" dirty="0"/>
              <a:t>units)</a:t>
            </a:r>
          </a:p>
        </p:txBody>
      </p:sp>
      <p:grpSp>
        <p:nvGrpSpPr>
          <p:cNvPr id="3" name="object 3"/>
          <p:cNvGrpSpPr/>
          <p:nvPr/>
        </p:nvGrpSpPr>
        <p:grpSpPr>
          <a:xfrm>
            <a:off x="2375119" y="2154149"/>
            <a:ext cx="6735445" cy="4037965"/>
            <a:chOff x="851118" y="2154148"/>
            <a:chExt cx="6735445" cy="4037965"/>
          </a:xfrm>
        </p:grpSpPr>
        <p:pic>
          <p:nvPicPr>
            <p:cNvPr id="4" name="object 4"/>
            <p:cNvPicPr/>
            <p:nvPr/>
          </p:nvPicPr>
          <p:blipFill>
            <a:blip r:embed="rId2" cstate="print"/>
            <a:stretch>
              <a:fillRect/>
            </a:stretch>
          </p:blipFill>
          <p:spPr>
            <a:xfrm>
              <a:off x="851118" y="2154148"/>
              <a:ext cx="6735189" cy="3956747"/>
            </a:xfrm>
            <a:prstGeom prst="rect">
              <a:avLst/>
            </a:prstGeom>
          </p:spPr>
        </p:pic>
        <p:sp>
          <p:nvSpPr>
            <p:cNvPr id="5" name="object 5"/>
            <p:cNvSpPr/>
            <p:nvPr/>
          </p:nvSpPr>
          <p:spPr>
            <a:xfrm>
              <a:off x="2052320" y="5877560"/>
              <a:ext cx="1224280" cy="309880"/>
            </a:xfrm>
            <a:custGeom>
              <a:avLst/>
              <a:gdLst/>
              <a:ahLst/>
              <a:cxnLst/>
              <a:rect l="l" t="t" r="r" b="b"/>
              <a:pathLst>
                <a:path w="1224279" h="309879">
                  <a:moveTo>
                    <a:pt x="1224026" y="0"/>
                  </a:moveTo>
                  <a:lnTo>
                    <a:pt x="0" y="0"/>
                  </a:lnTo>
                  <a:lnTo>
                    <a:pt x="0" y="309625"/>
                  </a:lnTo>
                  <a:lnTo>
                    <a:pt x="1224026" y="309625"/>
                  </a:lnTo>
                  <a:lnTo>
                    <a:pt x="1224026" y="0"/>
                  </a:lnTo>
                  <a:close/>
                </a:path>
              </a:pathLst>
            </a:custGeom>
            <a:solidFill>
              <a:srgbClr val="C00000">
                <a:alpha val="34901"/>
              </a:srgbClr>
            </a:solidFill>
          </p:spPr>
          <p:txBody>
            <a:bodyPr wrap="square" lIns="0" tIns="0" rIns="0" bIns="0" rtlCol="0"/>
            <a:lstStyle/>
            <a:p>
              <a:endParaRPr/>
            </a:p>
          </p:txBody>
        </p:sp>
        <p:sp>
          <p:nvSpPr>
            <p:cNvPr id="6" name="object 6"/>
            <p:cNvSpPr/>
            <p:nvPr/>
          </p:nvSpPr>
          <p:spPr>
            <a:xfrm>
              <a:off x="2052320" y="5877560"/>
              <a:ext cx="1224280" cy="309880"/>
            </a:xfrm>
            <a:custGeom>
              <a:avLst/>
              <a:gdLst/>
              <a:ahLst/>
              <a:cxnLst/>
              <a:rect l="l" t="t" r="r" b="b"/>
              <a:pathLst>
                <a:path w="1224279" h="309879">
                  <a:moveTo>
                    <a:pt x="0" y="309625"/>
                  </a:moveTo>
                  <a:lnTo>
                    <a:pt x="1224026" y="309625"/>
                  </a:lnTo>
                  <a:lnTo>
                    <a:pt x="1224026" y="0"/>
                  </a:lnTo>
                  <a:lnTo>
                    <a:pt x="0" y="0"/>
                  </a:lnTo>
                  <a:lnTo>
                    <a:pt x="0" y="309625"/>
                  </a:lnTo>
                  <a:close/>
                </a:path>
              </a:pathLst>
            </a:custGeom>
            <a:ln w="9144">
              <a:solidFill>
                <a:srgbClr val="B9DFE1"/>
              </a:solidFill>
            </a:ln>
          </p:spPr>
          <p:txBody>
            <a:bodyPr wrap="square" lIns="0" tIns="0" rIns="0" bIns="0" rtlCol="0"/>
            <a:lstStyle/>
            <a:p>
              <a:endParaRPr/>
            </a:p>
          </p:txBody>
        </p:sp>
        <p:sp>
          <p:nvSpPr>
            <p:cNvPr id="7" name="object 7"/>
            <p:cNvSpPr/>
            <p:nvPr/>
          </p:nvSpPr>
          <p:spPr>
            <a:xfrm>
              <a:off x="5364480" y="5847079"/>
              <a:ext cx="1153160" cy="309880"/>
            </a:xfrm>
            <a:custGeom>
              <a:avLst/>
              <a:gdLst/>
              <a:ahLst/>
              <a:cxnLst/>
              <a:rect l="l" t="t" r="r" b="b"/>
              <a:pathLst>
                <a:path w="1153159" h="309879">
                  <a:moveTo>
                    <a:pt x="1152778" y="0"/>
                  </a:moveTo>
                  <a:lnTo>
                    <a:pt x="0" y="0"/>
                  </a:lnTo>
                  <a:lnTo>
                    <a:pt x="0" y="309372"/>
                  </a:lnTo>
                  <a:lnTo>
                    <a:pt x="1152778" y="309372"/>
                  </a:lnTo>
                  <a:lnTo>
                    <a:pt x="1152778" y="0"/>
                  </a:lnTo>
                  <a:close/>
                </a:path>
              </a:pathLst>
            </a:custGeom>
            <a:solidFill>
              <a:srgbClr val="C00000">
                <a:alpha val="34901"/>
              </a:srgbClr>
            </a:solidFill>
          </p:spPr>
          <p:txBody>
            <a:bodyPr wrap="square" lIns="0" tIns="0" rIns="0" bIns="0" rtlCol="0"/>
            <a:lstStyle/>
            <a:p>
              <a:endParaRPr/>
            </a:p>
          </p:txBody>
        </p:sp>
        <p:sp>
          <p:nvSpPr>
            <p:cNvPr id="8" name="object 8"/>
            <p:cNvSpPr/>
            <p:nvPr/>
          </p:nvSpPr>
          <p:spPr>
            <a:xfrm>
              <a:off x="5364480" y="5847079"/>
              <a:ext cx="1153160" cy="309880"/>
            </a:xfrm>
            <a:custGeom>
              <a:avLst/>
              <a:gdLst/>
              <a:ahLst/>
              <a:cxnLst/>
              <a:rect l="l" t="t" r="r" b="b"/>
              <a:pathLst>
                <a:path w="1153159" h="309879">
                  <a:moveTo>
                    <a:pt x="0" y="309372"/>
                  </a:moveTo>
                  <a:lnTo>
                    <a:pt x="1152778" y="309372"/>
                  </a:lnTo>
                  <a:lnTo>
                    <a:pt x="1152778" y="0"/>
                  </a:lnTo>
                  <a:lnTo>
                    <a:pt x="0" y="0"/>
                  </a:lnTo>
                  <a:lnTo>
                    <a:pt x="0" y="309372"/>
                  </a:lnTo>
                  <a:close/>
                </a:path>
              </a:pathLst>
            </a:custGeom>
            <a:ln w="9142">
              <a:solidFill>
                <a:srgbClr val="B9DFE1"/>
              </a:solidFill>
            </a:ln>
          </p:spPr>
          <p:txBody>
            <a:bodyPr wrap="square" lIns="0" tIns="0" rIns="0" bIns="0" rtlCol="0"/>
            <a:lstStyle/>
            <a:p>
              <a:endParaRPr/>
            </a:p>
          </p:txBody>
        </p:sp>
      </p:grpSp>
      <p:sp>
        <p:nvSpPr>
          <p:cNvPr id="9" name="object 9"/>
          <p:cNvSpPr txBox="1"/>
          <p:nvPr/>
        </p:nvSpPr>
        <p:spPr>
          <a:xfrm>
            <a:off x="9630156" y="6483984"/>
            <a:ext cx="811530" cy="166712"/>
          </a:xfrm>
          <a:prstGeom prst="rect">
            <a:avLst/>
          </a:prstGeom>
        </p:spPr>
        <p:txBody>
          <a:bodyPr vert="horz" wrap="square" lIns="0" tIns="12700" rIns="0" bIns="0" rtlCol="0">
            <a:spAutoFit/>
          </a:bodyPr>
          <a:lstStyle/>
          <a:p>
            <a:pPr marL="12700">
              <a:spcBef>
                <a:spcPts val="100"/>
              </a:spcBef>
            </a:pPr>
            <a:r>
              <a:rPr sz="1000" dirty="0">
                <a:latin typeface="Arial"/>
                <a:cs typeface="Arial"/>
              </a:rPr>
              <a:t>Renals</a:t>
            </a:r>
            <a:r>
              <a:rPr sz="1000" spc="-130" dirty="0">
                <a:latin typeface="Arial"/>
                <a:cs typeface="Arial"/>
              </a:rPr>
              <a:t> </a:t>
            </a:r>
            <a:r>
              <a:rPr sz="1000" spc="-10" dirty="0">
                <a:latin typeface="Arial"/>
                <a:cs typeface="Arial"/>
              </a:rPr>
              <a:t>(2016)</a:t>
            </a:r>
            <a:endParaRPr sz="1000">
              <a:latin typeface="Arial"/>
              <a:cs typeface="Arial"/>
            </a:endParaRPr>
          </a:p>
        </p:txBody>
      </p:sp>
      <p:sp>
        <p:nvSpPr>
          <p:cNvPr id="10" name="object 10"/>
          <p:cNvSpPr txBox="1"/>
          <p:nvPr/>
        </p:nvSpPr>
        <p:spPr>
          <a:xfrm>
            <a:off x="1854200" y="6155690"/>
            <a:ext cx="7868920" cy="299720"/>
          </a:xfrm>
          <a:prstGeom prst="rect">
            <a:avLst/>
          </a:prstGeom>
        </p:spPr>
        <p:txBody>
          <a:bodyPr vert="horz" wrap="square" lIns="0" tIns="12700" rIns="0" bIns="0" rtlCol="0">
            <a:spAutoFit/>
          </a:bodyPr>
          <a:lstStyle/>
          <a:p>
            <a:pPr marL="12700">
              <a:spcBef>
                <a:spcPts val="100"/>
              </a:spcBef>
            </a:pPr>
            <a:r>
              <a:rPr dirty="0">
                <a:latin typeface="Arial"/>
                <a:cs typeface="Arial"/>
              </a:rPr>
              <a:t>When</a:t>
            </a:r>
            <a:r>
              <a:rPr spc="-90" dirty="0">
                <a:latin typeface="Arial"/>
                <a:cs typeface="Arial"/>
              </a:rPr>
              <a:t> </a:t>
            </a:r>
            <a:r>
              <a:rPr dirty="0">
                <a:latin typeface="Arial"/>
                <a:cs typeface="Arial"/>
              </a:rPr>
              <a:t>dealing</a:t>
            </a:r>
            <a:r>
              <a:rPr spc="-40" dirty="0">
                <a:latin typeface="Arial"/>
                <a:cs typeface="Arial"/>
              </a:rPr>
              <a:t> </a:t>
            </a:r>
            <a:r>
              <a:rPr dirty="0">
                <a:latin typeface="Arial"/>
                <a:cs typeface="Arial"/>
              </a:rPr>
              <a:t>with</a:t>
            </a:r>
            <a:r>
              <a:rPr spc="65" dirty="0">
                <a:latin typeface="Arial"/>
                <a:cs typeface="Arial"/>
              </a:rPr>
              <a:t> </a:t>
            </a:r>
            <a:r>
              <a:rPr spc="-10" dirty="0">
                <a:latin typeface="Arial"/>
                <a:cs typeface="Arial"/>
              </a:rPr>
              <a:t>high-</a:t>
            </a:r>
            <a:r>
              <a:rPr dirty="0">
                <a:latin typeface="Arial"/>
                <a:cs typeface="Arial"/>
              </a:rPr>
              <a:t>dimensional</a:t>
            </a:r>
            <a:r>
              <a:rPr spc="-25" dirty="0">
                <a:latin typeface="Arial"/>
                <a:cs typeface="Arial"/>
              </a:rPr>
              <a:t> </a:t>
            </a:r>
            <a:r>
              <a:rPr dirty="0">
                <a:latin typeface="Arial"/>
                <a:cs typeface="Arial"/>
              </a:rPr>
              <a:t>inputs</a:t>
            </a:r>
            <a:r>
              <a:rPr spc="-45" dirty="0">
                <a:latin typeface="Arial"/>
                <a:cs typeface="Arial"/>
              </a:rPr>
              <a:t> </a:t>
            </a:r>
            <a:r>
              <a:rPr dirty="0">
                <a:latin typeface="Arial"/>
                <a:cs typeface="Arial"/>
              </a:rPr>
              <a:t>such</a:t>
            </a:r>
            <a:r>
              <a:rPr spc="-45" dirty="0">
                <a:latin typeface="Arial"/>
                <a:cs typeface="Arial"/>
              </a:rPr>
              <a:t> </a:t>
            </a:r>
            <a:r>
              <a:rPr dirty="0">
                <a:latin typeface="Arial"/>
                <a:cs typeface="Arial"/>
              </a:rPr>
              <a:t>as</a:t>
            </a:r>
            <a:r>
              <a:rPr spc="-25" dirty="0">
                <a:latin typeface="Arial"/>
                <a:cs typeface="Arial"/>
              </a:rPr>
              <a:t> </a:t>
            </a:r>
            <a:r>
              <a:rPr dirty="0">
                <a:latin typeface="Arial"/>
                <a:cs typeface="Arial"/>
              </a:rPr>
              <a:t>images,</a:t>
            </a:r>
            <a:r>
              <a:rPr spc="-70" dirty="0">
                <a:latin typeface="Arial"/>
                <a:cs typeface="Arial"/>
              </a:rPr>
              <a:t> </a:t>
            </a:r>
            <a:r>
              <a:rPr dirty="0">
                <a:latin typeface="Arial"/>
                <a:cs typeface="Arial"/>
              </a:rPr>
              <a:t>it</a:t>
            </a:r>
            <a:r>
              <a:rPr spc="-25" dirty="0">
                <a:latin typeface="Arial"/>
                <a:cs typeface="Arial"/>
              </a:rPr>
              <a:t> </a:t>
            </a:r>
            <a:r>
              <a:rPr dirty="0">
                <a:latin typeface="Arial"/>
                <a:cs typeface="Arial"/>
              </a:rPr>
              <a:t>is</a:t>
            </a:r>
            <a:r>
              <a:rPr spc="-30" dirty="0">
                <a:latin typeface="Arial"/>
                <a:cs typeface="Arial"/>
              </a:rPr>
              <a:t> </a:t>
            </a:r>
            <a:r>
              <a:rPr dirty="0">
                <a:latin typeface="Arial"/>
                <a:cs typeface="Arial"/>
              </a:rPr>
              <a:t>impractical</a:t>
            </a:r>
            <a:r>
              <a:rPr spc="-60" dirty="0">
                <a:latin typeface="Arial"/>
                <a:cs typeface="Arial"/>
              </a:rPr>
              <a:t> </a:t>
            </a:r>
            <a:r>
              <a:rPr spc="-25" dirty="0">
                <a:latin typeface="Arial"/>
                <a:cs typeface="Arial"/>
              </a:rPr>
              <a:t>to</a:t>
            </a:r>
            <a:endParaRPr>
              <a:latin typeface="Arial"/>
              <a:cs typeface="Arial"/>
            </a:endParaRPr>
          </a:p>
        </p:txBody>
      </p:sp>
      <p:sp>
        <p:nvSpPr>
          <p:cNvPr id="11" name="object 11"/>
          <p:cNvSpPr txBox="1"/>
          <p:nvPr/>
        </p:nvSpPr>
        <p:spPr>
          <a:xfrm>
            <a:off x="1854201" y="6430327"/>
            <a:ext cx="5485765" cy="299720"/>
          </a:xfrm>
          <a:prstGeom prst="rect">
            <a:avLst/>
          </a:prstGeom>
        </p:spPr>
        <p:txBody>
          <a:bodyPr vert="horz" wrap="square" lIns="0" tIns="12700" rIns="0" bIns="0" rtlCol="0">
            <a:spAutoFit/>
          </a:bodyPr>
          <a:lstStyle/>
          <a:p>
            <a:pPr marL="12700">
              <a:spcBef>
                <a:spcPts val="100"/>
              </a:spcBef>
            </a:pPr>
            <a:r>
              <a:rPr dirty="0">
                <a:latin typeface="Arial"/>
                <a:cs typeface="Arial"/>
              </a:rPr>
              <a:t>connect</a:t>
            </a:r>
            <a:r>
              <a:rPr spc="-30" dirty="0">
                <a:latin typeface="Arial"/>
                <a:cs typeface="Arial"/>
              </a:rPr>
              <a:t> </a:t>
            </a:r>
            <a:r>
              <a:rPr dirty="0">
                <a:latin typeface="Arial"/>
                <a:cs typeface="Arial"/>
              </a:rPr>
              <a:t>neurons</a:t>
            </a:r>
            <a:r>
              <a:rPr spc="-50" dirty="0">
                <a:latin typeface="Arial"/>
                <a:cs typeface="Arial"/>
              </a:rPr>
              <a:t> </a:t>
            </a:r>
            <a:r>
              <a:rPr dirty="0">
                <a:latin typeface="Arial"/>
                <a:cs typeface="Arial"/>
              </a:rPr>
              <a:t>to</a:t>
            </a:r>
            <a:r>
              <a:rPr spc="-5" dirty="0">
                <a:latin typeface="Arial"/>
                <a:cs typeface="Arial"/>
              </a:rPr>
              <a:t> </a:t>
            </a:r>
            <a:r>
              <a:rPr dirty="0">
                <a:latin typeface="Arial"/>
                <a:cs typeface="Arial"/>
              </a:rPr>
              <a:t>all</a:t>
            </a:r>
            <a:r>
              <a:rPr spc="-10" dirty="0">
                <a:latin typeface="Arial"/>
                <a:cs typeface="Arial"/>
              </a:rPr>
              <a:t> </a:t>
            </a:r>
            <a:r>
              <a:rPr dirty="0">
                <a:latin typeface="Arial"/>
                <a:cs typeface="Arial"/>
              </a:rPr>
              <a:t>neurons</a:t>
            </a:r>
            <a:r>
              <a:rPr spc="-35" dirty="0">
                <a:latin typeface="Arial"/>
                <a:cs typeface="Arial"/>
              </a:rPr>
              <a:t> </a:t>
            </a:r>
            <a:r>
              <a:rPr dirty="0">
                <a:latin typeface="Arial"/>
                <a:cs typeface="Arial"/>
              </a:rPr>
              <a:t>in</a:t>
            </a:r>
            <a:r>
              <a:rPr spc="-25" dirty="0">
                <a:latin typeface="Arial"/>
                <a:cs typeface="Arial"/>
              </a:rPr>
              <a:t> </a:t>
            </a:r>
            <a:r>
              <a:rPr dirty="0">
                <a:latin typeface="Arial"/>
                <a:cs typeface="Arial"/>
              </a:rPr>
              <a:t>the</a:t>
            </a:r>
            <a:r>
              <a:rPr spc="-25" dirty="0">
                <a:latin typeface="Arial"/>
                <a:cs typeface="Arial"/>
              </a:rPr>
              <a:t> </a:t>
            </a:r>
            <a:r>
              <a:rPr dirty="0">
                <a:latin typeface="Arial"/>
                <a:cs typeface="Arial"/>
              </a:rPr>
              <a:t>previous</a:t>
            </a:r>
            <a:r>
              <a:rPr spc="-25" dirty="0">
                <a:latin typeface="Arial"/>
                <a:cs typeface="Arial"/>
              </a:rPr>
              <a:t> </a:t>
            </a:r>
            <a:r>
              <a:rPr spc="-10" dirty="0">
                <a:latin typeface="Arial"/>
                <a:cs typeface="Arial"/>
              </a:rPr>
              <a:t>volume</a:t>
            </a:r>
            <a:endParaRPr>
              <a:latin typeface="Arial"/>
              <a:cs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906270" y="245357"/>
            <a:ext cx="5772612" cy="1367041"/>
          </a:xfrm>
          <a:prstGeom prst="rect">
            <a:avLst/>
          </a:prstGeom>
        </p:spPr>
        <p:txBody>
          <a:bodyPr vert="horz" wrap="square" lIns="0" tIns="12700" rIns="0" bIns="0" rtlCol="0" anchor="ctr">
            <a:spAutoFit/>
          </a:bodyPr>
          <a:lstStyle/>
          <a:p>
            <a:pPr marL="12700" marR="5080">
              <a:lnSpc>
                <a:spcPct val="100000"/>
              </a:lnSpc>
              <a:spcBef>
                <a:spcPts val="100"/>
              </a:spcBef>
            </a:pPr>
            <a:r>
              <a:rPr dirty="0"/>
              <a:t>Local</a:t>
            </a:r>
            <a:r>
              <a:rPr spc="-155" dirty="0"/>
              <a:t> </a:t>
            </a:r>
            <a:r>
              <a:rPr dirty="0"/>
              <a:t>receptive</a:t>
            </a:r>
            <a:r>
              <a:rPr spc="-150" dirty="0"/>
              <a:t> </a:t>
            </a:r>
            <a:r>
              <a:rPr spc="-10" dirty="0"/>
              <a:t>fields </a:t>
            </a:r>
            <a:r>
              <a:rPr dirty="0"/>
              <a:t>(</a:t>
            </a:r>
            <a:r>
              <a:rPr sz="2800" dirty="0"/>
              <a:t>24x24</a:t>
            </a:r>
            <a:r>
              <a:rPr sz="2800" spc="-60" dirty="0"/>
              <a:t> </a:t>
            </a:r>
            <a:r>
              <a:rPr sz="2800" dirty="0"/>
              <a:t>hidden</a:t>
            </a:r>
            <a:r>
              <a:rPr sz="2800" spc="-40" dirty="0"/>
              <a:t> </a:t>
            </a:r>
            <a:r>
              <a:rPr sz="2800" spc="-10" dirty="0"/>
              <a:t>units</a:t>
            </a:r>
            <a:r>
              <a:rPr spc="-10" dirty="0"/>
              <a:t>)</a:t>
            </a:r>
            <a:endParaRPr sz="2800" dirty="0"/>
          </a:p>
        </p:txBody>
      </p:sp>
      <p:pic>
        <p:nvPicPr>
          <p:cNvPr id="3" name="object 3"/>
          <p:cNvPicPr/>
          <p:nvPr/>
        </p:nvPicPr>
        <p:blipFill>
          <a:blip r:embed="rId2" cstate="print"/>
          <a:stretch>
            <a:fillRect/>
          </a:stretch>
        </p:blipFill>
        <p:spPr>
          <a:xfrm>
            <a:off x="9579155" y="6466333"/>
            <a:ext cx="796932" cy="125475"/>
          </a:xfrm>
          <a:prstGeom prst="rect">
            <a:avLst/>
          </a:prstGeom>
        </p:spPr>
      </p:pic>
      <p:grpSp>
        <p:nvGrpSpPr>
          <p:cNvPr id="4" name="object 4"/>
          <p:cNvGrpSpPr/>
          <p:nvPr/>
        </p:nvGrpSpPr>
        <p:grpSpPr>
          <a:xfrm>
            <a:off x="2390140" y="2283461"/>
            <a:ext cx="7223759" cy="3738879"/>
            <a:chOff x="866139" y="2283460"/>
            <a:chExt cx="7223759" cy="3738879"/>
          </a:xfrm>
        </p:grpSpPr>
        <p:pic>
          <p:nvPicPr>
            <p:cNvPr id="5" name="object 5"/>
            <p:cNvPicPr/>
            <p:nvPr/>
          </p:nvPicPr>
          <p:blipFill>
            <a:blip r:embed="rId3" cstate="print"/>
            <a:stretch>
              <a:fillRect/>
            </a:stretch>
          </p:blipFill>
          <p:spPr>
            <a:xfrm>
              <a:off x="1000816" y="2308374"/>
              <a:ext cx="6990980" cy="3495496"/>
            </a:xfrm>
            <a:prstGeom prst="rect">
              <a:avLst/>
            </a:prstGeom>
          </p:spPr>
        </p:pic>
        <p:pic>
          <p:nvPicPr>
            <p:cNvPr id="6" name="object 6"/>
            <p:cNvPicPr/>
            <p:nvPr/>
          </p:nvPicPr>
          <p:blipFill>
            <a:blip r:embed="rId4" cstate="print"/>
            <a:stretch>
              <a:fillRect/>
            </a:stretch>
          </p:blipFill>
          <p:spPr>
            <a:xfrm>
              <a:off x="866139" y="2283460"/>
              <a:ext cx="7223759" cy="3738879"/>
            </a:xfrm>
            <a:prstGeom prst="rect">
              <a:avLst/>
            </a:prstGeom>
          </p:spPr>
        </p:pic>
      </p:grpSp>
      <p:sp>
        <p:nvSpPr>
          <p:cNvPr id="7" name="object 7"/>
          <p:cNvSpPr txBox="1"/>
          <p:nvPr/>
        </p:nvSpPr>
        <p:spPr>
          <a:xfrm>
            <a:off x="9355709" y="6249988"/>
            <a:ext cx="1194435" cy="182101"/>
          </a:xfrm>
          <a:prstGeom prst="rect">
            <a:avLst/>
          </a:prstGeom>
        </p:spPr>
        <p:txBody>
          <a:bodyPr vert="horz" wrap="square" lIns="0" tIns="12700" rIns="0" bIns="0" rtlCol="0">
            <a:spAutoFit/>
          </a:bodyPr>
          <a:lstStyle/>
          <a:p>
            <a:pPr marL="12700">
              <a:spcBef>
                <a:spcPts val="100"/>
              </a:spcBef>
            </a:pPr>
            <a:r>
              <a:rPr sz="1100" spc="-10" dirty="0">
                <a:latin typeface="Arial"/>
                <a:cs typeface="Arial"/>
              </a:rPr>
              <a:t>Nielsen</a:t>
            </a:r>
            <a:r>
              <a:rPr sz="1100" spc="15" dirty="0">
                <a:latin typeface="Arial"/>
                <a:cs typeface="Arial"/>
              </a:rPr>
              <a:t> </a:t>
            </a:r>
            <a:r>
              <a:rPr sz="1100" spc="-10" dirty="0">
                <a:latin typeface="Arial"/>
                <a:cs typeface="Arial"/>
              </a:rPr>
              <a:t>(2017)</a:t>
            </a:r>
            <a:r>
              <a:rPr sz="1100" spc="-100" dirty="0">
                <a:latin typeface="Arial"/>
                <a:cs typeface="Arial"/>
              </a:rPr>
              <a:t> </a:t>
            </a:r>
            <a:r>
              <a:rPr sz="1100" spc="-25" dirty="0">
                <a:latin typeface="Arial"/>
                <a:cs typeface="Arial"/>
              </a:rPr>
              <a:t>and</a:t>
            </a:r>
            <a:endParaRPr sz="1100">
              <a:latin typeface="Arial"/>
              <a:cs typeface="Arial"/>
            </a:endParaRPr>
          </a:p>
        </p:txBody>
      </p:sp>
      <p:sp>
        <p:nvSpPr>
          <p:cNvPr id="8" name="object 8"/>
          <p:cNvSpPr txBox="1"/>
          <p:nvPr/>
        </p:nvSpPr>
        <p:spPr>
          <a:xfrm>
            <a:off x="2167255" y="5970904"/>
            <a:ext cx="6290310" cy="756920"/>
          </a:xfrm>
          <a:prstGeom prst="rect">
            <a:avLst/>
          </a:prstGeom>
        </p:spPr>
        <p:txBody>
          <a:bodyPr vert="horz" wrap="square" lIns="0" tIns="12700" rIns="0" bIns="0" rtlCol="0">
            <a:spAutoFit/>
          </a:bodyPr>
          <a:lstStyle/>
          <a:p>
            <a:pPr marL="12700" marR="5080">
              <a:spcBef>
                <a:spcPts val="100"/>
              </a:spcBef>
            </a:pPr>
            <a:r>
              <a:rPr sz="2400" dirty="0">
                <a:latin typeface="Arial"/>
                <a:cs typeface="Arial"/>
              </a:rPr>
              <a:t>There</a:t>
            </a:r>
            <a:r>
              <a:rPr sz="2400" spc="-100" dirty="0">
                <a:latin typeface="Arial"/>
                <a:cs typeface="Arial"/>
              </a:rPr>
              <a:t> </a:t>
            </a:r>
            <a:r>
              <a:rPr sz="2400" dirty="0">
                <a:latin typeface="Arial"/>
                <a:cs typeface="Arial"/>
              </a:rPr>
              <a:t>is</a:t>
            </a:r>
            <a:r>
              <a:rPr sz="2400" spc="-100" dirty="0">
                <a:latin typeface="Arial"/>
                <a:cs typeface="Arial"/>
              </a:rPr>
              <a:t> </a:t>
            </a:r>
            <a:r>
              <a:rPr sz="2400" dirty="0">
                <a:latin typeface="Arial"/>
                <a:cs typeface="Arial"/>
              </a:rPr>
              <a:t>overlap</a:t>
            </a:r>
            <a:r>
              <a:rPr sz="2400" spc="-70" dirty="0">
                <a:latin typeface="Arial"/>
                <a:cs typeface="Arial"/>
              </a:rPr>
              <a:t> </a:t>
            </a:r>
            <a:r>
              <a:rPr sz="2400" dirty="0">
                <a:latin typeface="Arial"/>
                <a:cs typeface="Arial"/>
              </a:rPr>
              <a:t>between</a:t>
            </a:r>
            <a:r>
              <a:rPr sz="2400" spc="-75" dirty="0">
                <a:latin typeface="Arial"/>
                <a:cs typeface="Arial"/>
              </a:rPr>
              <a:t> </a:t>
            </a:r>
            <a:r>
              <a:rPr sz="2400" dirty="0">
                <a:latin typeface="Arial"/>
                <a:cs typeface="Arial"/>
              </a:rPr>
              <a:t>the</a:t>
            </a:r>
            <a:r>
              <a:rPr sz="2400" spc="-80" dirty="0">
                <a:latin typeface="Arial"/>
                <a:cs typeface="Arial"/>
              </a:rPr>
              <a:t> </a:t>
            </a:r>
            <a:r>
              <a:rPr sz="2400" dirty="0">
                <a:latin typeface="Arial"/>
                <a:cs typeface="Arial"/>
              </a:rPr>
              <a:t>Receptive</a:t>
            </a:r>
            <a:r>
              <a:rPr sz="2400" spc="-75" dirty="0">
                <a:latin typeface="Arial"/>
                <a:cs typeface="Arial"/>
              </a:rPr>
              <a:t> </a:t>
            </a:r>
            <a:r>
              <a:rPr sz="2400" spc="-10" dirty="0">
                <a:latin typeface="Arial"/>
                <a:cs typeface="Arial"/>
              </a:rPr>
              <a:t>Fields </a:t>
            </a:r>
            <a:r>
              <a:rPr sz="2400" dirty="0">
                <a:latin typeface="Arial"/>
                <a:cs typeface="Arial"/>
              </a:rPr>
              <a:t>of</a:t>
            </a:r>
            <a:r>
              <a:rPr sz="2400" spc="-40" dirty="0">
                <a:latin typeface="Arial"/>
                <a:cs typeface="Arial"/>
              </a:rPr>
              <a:t> </a:t>
            </a:r>
            <a:r>
              <a:rPr sz="2400" dirty="0">
                <a:latin typeface="Arial"/>
                <a:cs typeface="Arial"/>
              </a:rPr>
              <a:t>the</a:t>
            </a:r>
            <a:r>
              <a:rPr sz="2400" spc="-70" dirty="0">
                <a:latin typeface="Arial"/>
                <a:cs typeface="Arial"/>
              </a:rPr>
              <a:t> </a:t>
            </a:r>
            <a:r>
              <a:rPr sz="2400" dirty="0">
                <a:latin typeface="Arial"/>
                <a:cs typeface="Arial"/>
              </a:rPr>
              <a:t>input</a:t>
            </a:r>
            <a:r>
              <a:rPr sz="2400" spc="-50" dirty="0">
                <a:latin typeface="Arial"/>
                <a:cs typeface="Arial"/>
              </a:rPr>
              <a:t> </a:t>
            </a:r>
            <a:r>
              <a:rPr sz="2400" spc="-10" dirty="0">
                <a:latin typeface="Arial"/>
                <a:cs typeface="Arial"/>
              </a:rPr>
              <a:t>matrix.</a:t>
            </a:r>
            <a:endParaRPr sz="2400">
              <a:latin typeface="Arial"/>
              <a:cs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362200" y="435566"/>
            <a:ext cx="10515600" cy="1184683"/>
          </a:xfrm>
          <a:prstGeom prst="rect">
            <a:avLst/>
          </a:prstGeom>
        </p:spPr>
        <p:txBody>
          <a:bodyPr vert="horz" wrap="square" lIns="0" tIns="502666" rIns="0" bIns="0" rtlCol="0" anchor="ctr">
            <a:spAutoFit/>
          </a:bodyPr>
          <a:lstStyle/>
          <a:p>
            <a:pPr marL="83820">
              <a:lnSpc>
                <a:spcPct val="100000"/>
              </a:lnSpc>
              <a:spcBef>
                <a:spcPts val="100"/>
              </a:spcBef>
            </a:pPr>
            <a:r>
              <a:rPr dirty="0"/>
              <a:t>Local</a:t>
            </a:r>
            <a:r>
              <a:rPr spc="-160" dirty="0"/>
              <a:t> </a:t>
            </a:r>
            <a:r>
              <a:rPr dirty="0"/>
              <a:t>receptive</a:t>
            </a:r>
            <a:r>
              <a:rPr spc="-145" dirty="0"/>
              <a:t> </a:t>
            </a:r>
            <a:r>
              <a:rPr spc="-10" dirty="0"/>
              <a:t>fields</a:t>
            </a:r>
          </a:p>
        </p:txBody>
      </p:sp>
      <p:sp>
        <p:nvSpPr>
          <p:cNvPr id="3" name="object 3"/>
          <p:cNvSpPr txBox="1"/>
          <p:nvPr/>
        </p:nvSpPr>
        <p:spPr>
          <a:xfrm>
            <a:off x="2263458" y="1974215"/>
            <a:ext cx="7571105" cy="4180204"/>
          </a:xfrm>
          <a:prstGeom prst="rect">
            <a:avLst/>
          </a:prstGeom>
        </p:spPr>
        <p:txBody>
          <a:bodyPr vert="horz" wrap="square" lIns="0" tIns="13970" rIns="0" bIns="0" rtlCol="0">
            <a:spAutoFit/>
          </a:bodyPr>
          <a:lstStyle/>
          <a:p>
            <a:pPr marL="380365" marR="102235" indent="-342900">
              <a:lnSpc>
                <a:spcPct val="99700"/>
              </a:lnSpc>
              <a:spcBef>
                <a:spcPts val="110"/>
              </a:spcBef>
              <a:buChar char="•"/>
              <a:tabLst>
                <a:tab pos="380365" algn="l"/>
              </a:tabLst>
            </a:pPr>
            <a:r>
              <a:rPr sz="2800" dirty="0">
                <a:latin typeface="Calibri"/>
                <a:cs typeface="Calibri"/>
              </a:rPr>
              <a:t>Each</a:t>
            </a:r>
            <a:r>
              <a:rPr sz="2800" spc="-85" dirty="0">
                <a:latin typeface="Calibri"/>
                <a:cs typeface="Calibri"/>
              </a:rPr>
              <a:t> </a:t>
            </a:r>
            <a:r>
              <a:rPr sz="2800" dirty="0">
                <a:latin typeface="Calibri"/>
                <a:cs typeface="Calibri"/>
              </a:rPr>
              <a:t>hidden</a:t>
            </a:r>
            <a:r>
              <a:rPr sz="2800" spc="-5" dirty="0">
                <a:latin typeface="Calibri"/>
                <a:cs typeface="Calibri"/>
              </a:rPr>
              <a:t> </a:t>
            </a:r>
            <a:r>
              <a:rPr sz="2800" dirty="0">
                <a:latin typeface="Calibri"/>
                <a:cs typeface="Calibri"/>
              </a:rPr>
              <a:t>unit</a:t>
            </a:r>
            <a:r>
              <a:rPr sz="2800" spc="-35" dirty="0">
                <a:latin typeface="Calibri"/>
                <a:cs typeface="Calibri"/>
              </a:rPr>
              <a:t> </a:t>
            </a:r>
            <a:r>
              <a:rPr sz="2800" dirty="0">
                <a:latin typeface="Calibri"/>
                <a:cs typeface="Calibri"/>
              </a:rPr>
              <a:t>is</a:t>
            </a:r>
            <a:r>
              <a:rPr sz="2800" spc="-65" dirty="0">
                <a:latin typeface="Calibri"/>
                <a:cs typeface="Calibri"/>
              </a:rPr>
              <a:t> </a:t>
            </a:r>
            <a:r>
              <a:rPr sz="2800" dirty="0">
                <a:latin typeface="Calibri"/>
                <a:cs typeface="Calibri"/>
              </a:rPr>
              <a:t>connected</a:t>
            </a:r>
            <a:r>
              <a:rPr sz="2800" spc="-90" dirty="0">
                <a:latin typeface="Calibri"/>
                <a:cs typeface="Calibri"/>
              </a:rPr>
              <a:t> </a:t>
            </a:r>
            <a:r>
              <a:rPr sz="2800" dirty="0">
                <a:latin typeface="Calibri"/>
                <a:cs typeface="Calibri"/>
              </a:rPr>
              <a:t>to</a:t>
            </a:r>
            <a:r>
              <a:rPr sz="2800" spc="-85" dirty="0">
                <a:latin typeface="Calibri"/>
                <a:cs typeface="Calibri"/>
              </a:rPr>
              <a:t> </a:t>
            </a:r>
            <a:r>
              <a:rPr sz="2800" dirty="0">
                <a:latin typeface="Calibri"/>
                <a:cs typeface="Calibri"/>
              </a:rPr>
              <a:t>a</a:t>
            </a:r>
            <a:r>
              <a:rPr sz="2800" spc="-60" dirty="0">
                <a:latin typeface="Calibri"/>
                <a:cs typeface="Calibri"/>
              </a:rPr>
              <a:t> </a:t>
            </a:r>
            <a:r>
              <a:rPr sz="2800" dirty="0">
                <a:latin typeface="Calibri"/>
                <a:cs typeface="Calibri"/>
              </a:rPr>
              <a:t>small</a:t>
            </a:r>
            <a:r>
              <a:rPr sz="2800" spc="-55" dirty="0">
                <a:latin typeface="Calibri"/>
                <a:cs typeface="Calibri"/>
              </a:rPr>
              <a:t> </a:t>
            </a:r>
            <a:r>
              <a:rPr sz="2800" dirty="0">
                <a:latin typeface="Calibri"/>
                <a:cs typeface="Calibri"/>
              </a:rPr>
              <a:t>(</a:t>
            </a:r>
            <a:r>
              <a:rPr sz="2800" dirty="0">
                <a:latin typeface="Cambria Math"/>
                <a:cs typeface="Cambria Math"/>
              </a:rPr>
              <a:t>𝑚</a:t>
            </a:r>
            <a:r>
              <a:rPr sz="2800" spc="30" dirty="0">
                <a:latin typeface="Cambria Math"/>
                <a:cs typeface="Cambria Math"/>
              </a:rPr>
              <a:t> </a:t>
            </a:r>
            <a:r>
              <a:rPr sz="2800" dirty="0">
                <a:latin typeface="Cambria Math"/>
                <a:cs typeface="Cambria Math"/>
              </a:rPr>
              <a:t>×</a:t>
            </a:r>
            <a:r>
              <a:rPr sz="2800" spc="-75" dirty="0">
                <a:latin typeface="Cambria Math"/>
                <a:cs typeface="Cambria Math"/>
              </a:rPr>
              <a:t> </a:t>
            </a:r>
            <a:r>
              <a:rPr sz="2800" spc="-25" dirty="0">
                <a:latin typeface="Cambria Math"/>
                <a:cs typeface="Cambria Math"/>
              </a:rPr>
              <a:t>𝑚</a:t>
            </a:r>
            <a:r>
              <a:rPr sz="2800" spc="-25" dirty="0">
                <a:latin typeface="Calibri"/>
                <a:cs typeface="Calibri"/>
              </a:rPr>
              <a:t>) </a:t>
            </a:r>
            <a:r>
              <a:rPr sz="2800" dirty="0">
                <a:latin typeface="Calibri"/>
                <a:cs typeface="Calibri"/>
              </a:rPr>
              <a:t>region</a:t>
            </a:r>
            <a:r>
              <a:rPr sz="2800" spc="-114" dirty="0">
                <a:latin typeface="Calibri"/>
                <a:cs typeface="Calibri"/>
              </a:rPr>
              <a:t> </a:t>
            </a:r>
            <a:r>
              <a:rPr sz="2800" dirty="0">
                <a:latin typeface="Calibri"/>
                <a:cs typeface="Calibri"/>
              </a:rPr>
              <a:t>of</a:t>
            </a:r>
            <a:r>
              <a:rPr sz="2800" spc="-70" dirty="0">
                <a:latin typeface="Calibri"/>
                <a:cs typeface="Calibri"/>
              </a:rPr>
              <a:t> </a:t>
            </a:r>
            <a:r>
              <a:rPr sz="2800" dirty="0">
                <a:latin typeface="Calibri"/>
                <a:cs typeface="Calibri"/>
              </a:rPr>
              <a:t>the</a:t>
            </a:r>
            <a:r>
              <a:rPr sz="2800" spc="-65" dirty="0">
                <a:latin typeface="Calibri"/>
                <a:cs typeface="Calibri"/>
              </a:rPr>
              <a:t> </a:t>
            </a:r>
            <a:r>
              <a:rPr sz="2800" dirty="0">
                <a:latin typeface="Calibri"/>
                <a:cs typeface="Calibri"/>
              </a:rPr>
              <a:t>input</a:t>
            </a:r>
            <a:r>
              <a:rPr sz="2800" spc="-35" dirty="0">
                <a:latin typeface="Calibri"/>
                <a:cs typeface="Calibri"/>
              </a:rPr>
              <a:t> </a:t>
            </a:r>
            <a:r>
              <a:rPr sz="2800" dirty="0">
                <a:latin typeface="Calibri"/>
                <a:cs typeface="Calibri"/>
              </a:rPr>
              <a:t>space,</a:t>
            </a:r>
            <a:r>
              <a:rPr sz="2800" spc="-20" dirty="0">
                <a:latin typeface="Calibri"/>
                <a:cs typeface="Calibri"/>
              </a:rPr>
              <a:t> </a:t>
            </a:r>
            <a:r>
              <a:rPr sz="2800" spc="-10" dirty="0">
                <a:latin typeface="Calibri"/>
                <a:cs typeface="Calibri"/>
              </a:rPr>
              <a:t>so-</a:t>
            </a:r>
            <a:r>
              <a:rPr sz="2800" dirty="0">
                <a:latin typeface="Calibri"/>
                <a:cs typeface="Calibri"/>
              </a:rPr>
              <a:t>called</a:t>
            </a:r>
            <a:r>
              <a:rPr sz="2800" spc="-75" dirty="0">
                <a:latin typeface="Calibri"/>
                <a:cs typeface="Calibri"/>
              </a:rPr>
              <a:t> </a:t>
            </a:r>
            <a:r>
              <a:rPr sz="2800" dirty="0">
                <a:latin typeface="Calibri"/>
                <a:cs typeface="Calibri"/>
              </a:rPr>
              <a:t>the</a:t>
            </a:r>
            <a:r>
              <a:rPr sz="2800" spc="-85" dirty="0">
                <a:latin typeface="Calibri"/>
                <a:cs typeface="Calibri"/>
              </a:rPr>
              <a:t> </a:t>
            </a:r>
            <a:r>
              <a:rPr sz="2800" spc="-10" dirty="0">
                <a:solidFill>
                  <a:srgbClr val="FF0000"/>
                </a:solidFill>
                <a:latin typeface="Calibri"/>
                <a:cs typeface="Calibri"/>
              </a:rPr>
              <a:t>local </a:t>
            </a:r>
            <a:r>
              <a:rPr sz="2800" dirty="0">
                <a:solidFill>
                  <a:srgbClr val="FF0000"/>
                </a:solidFill>
                <a:latin typeface="Calibri"/>
                <a:cs typeface="Calibri"/>
              </a:rPr>
              <a:t>receptive</a:t>
            </a:r>
            <a:r>
              <a:rPr sz="2800" spc="-150" dirty="0">
                <a:solidFill>
                  <a:srgbClr val="FF0000"/>
                </a:solidFill>
                <a:latin typeface="Calibri"/>
                <a:cs typeface="Calibri"/>
              </a:rPr>
              <a:t> </a:t>
            </a:r>
            <a:r>
              <a:rPr sz="2800" dirty="0">
                <a:solidFill>
                  <a:srgbClr val="FF0000"/>
                </a:solidFill>
                <a:latin typeface="Calibri"/>
                <a:cs typeface="Calibri"/>
              </a:rPr>
              <a:t>field</a:t>
            </a:r>
            <a:r>
              <a:rPr sz="2800" spc="-90" dirty="0">
                <a:solidFill>
                  <a:srgbClr val="FF0000"/>
                </a:solidFill>
                <a:latin typeface="Calibri"/>
                <a:cs typeface="Calibri"/>
              </a:rPr>
              <a:t> </a:t>
            </a:r>
            <a:r>
              <a:rPr sz="2800" spc="-10" dirty="0">
                <a:solidFill>
                  <a:srgbClr val="FF0000"/>
                </a:solidFill>
                <a:latin typeface="Calibri"/>
                <a:cs typeface="Calibri"/>
              </a:rPr>
              <a:t>(LRF)</a:t>
            </a:r>
            <a:endParaRPr sz="2800">
              <a:latin typeface="Calibri"/>
              <a:cs typeface="Calibri"/>
            </a:endParaRPr>
          </a:p>
          <a:p>
            <a:pPr marL="380365" indent="-342265">
              <a:spcBef>
                <a:spcPts val="720"/>
              </a:spcBef>
              <a:buChar char="•"/>
              <a:tabLst>
                <a:tab pos="380365" algn="l"/>
              </a:tabLst>
            </a:pPr>
            <a:r>
              <a:rPr sz="2800" dirty="0">
                <a:latin typeface="Calibri"/>
                <a:cs typeface="Calibri"/>
              </a:rPr>
              <a:t>If</a:t>
            </a:r>
            <a:r>
              <a:rPr sz="2800" spc="-70" dirty="0">
                <a:latin typeface="Calibri"/>
                <a:cs typeface="Calibri"/>
              </a:rPr>
              <a:t> </a:t>
            </a:r>
            <a:r>
              <a:rPr sz="2800" dirty="0">
                <a:latin typeface="Calibri"/>
                <a:cs typeface="Calibri"/>
              </a:rPr>
              <a:t>the</a:t>
            </a:r>
            <a:r>
              <a:rPr sz="2800" spc="-60" dirty="0">
                <a:latin typeface="Calibri"/>
                <a:cs typeface="Calibri"/>
              </a:rPr>
              <a:t> </a:t>
            </a:r>
            <a:r>
              <a:rPr sz="2800" dirty="0">
                <a:latin typeface="Calibri"/>
                <a:cs typeface="Calibri"/>
              </a:rPr>
              <a:t>input</a:t>
            </a:r>
            <a:r>
              <a:rPr sz="2800" spc="-10" dirty="0">
                <a:latin typeface="Calibri"/>
                <a:cs typeface="Calibri"/>
              </a:rPr>
              <a:t> </a:t>
            </a:r>
            <a:r>
              <a:rPr sz="2800" dirty="0">
                <a:latin typeface="Calibri"/>
                <a:cs typeface="Calibri"/>
              </a:rPr>
              <a:t>space</a:t>
            </a:r>
            <a:r>
              <a:rPr sz="2800" spc="-55" dirty="0">
                <a:latin typeface="Calibri"/>
                <a:cs typeface="Calibri"/>
              </a:rPr>
              <a:t> </a:t>
            </a:r>
            <a:r>
              <a:rPr sz="2800" spc="50" dirty="0">
                <a:latin typeface="Cambria Math"/>
                <a:cs typeface="Cambria Math"/>
              </a:rPr>
              <a:t>𝑋</a:t>
            </a:r>
            <a:r>
              <a:rPr sz="3075" spc="75" baseline="-13550" dirty="0">
                <a:latin typeface="Cambria Math"/>
                <a:cs typeface="Cambria Math"/>
              </a:rPr>
              <a:t>𝑑×𝑑</a:t>
            </a:r>
            <a:r>
              <a:rPr sz="2800" spc="50" dirty="0">
                <a:latin typeface="Calibri"/>
                <a:cs typeface="Calibri"/>
              </a:rPr>
              <a:t>,</a:t>
            </a:r>
            <a:r>
              <a:rPr sz="2800" spc="-10" dirty="0">
                <a:latin typeface="Calibri"/>
                <a:cs typeface="Calibri"/>
              </a:rPr>
              <a:t> </a:t>
            </a:r>
            <a:r>
              <a:rPr sz="2800" dirty="0">
                <a:latin typeface="Calibri"/>
                <a:cs typeface="Calibri"/>
              </a:rPr>
              <a:t>the</a:t>
            </a:r>
            <a:r>
              <a:rPr sz="2800" spc="-80" dirty="0">
                <a:latin typeface="Calibri"/>
                <a:cs typeface="Calibri"/>
              </a:rPr>
              <a:t> </a:t>
            </a:r>
            <a:r>
              <a:rPr sz="2800" dirty="0">
                <a:latin typeface="Calibri"/>
                <a:cs typeface="Calibri"/>
              </a:rPr>
              <a:t>hidden unit</a:t>
            </a:r>
            <a:r>
              <a:rPr sz="2800" spc="-50" dirty="0">
                <a:latin typeface="Calibri"/>
                <a:cs typeface="Calibri"/>
              </a:rPr>
              <a:t> </a:t>
            </a:r>
            <a:r>
              <a:rPr sz="2800" spc="-10" dirty="0">
                <a:latin typeface="Calibri"/>
                <a:cs typeface="Calibri"/>
              </a:rPr>
              <a:t>space</a:t>
            </a:r>
            <a:endParaRPr sz="2800">
              <a:latin typeface="Calibri"/>
              <a:cs typeface="Calibri"/>
            </a:endParaRPr>
          </a:p>
          <a:p>
            <a:pPr marL="380365">
              <a:spcBef>
                <a:spcPts val="80"/>
              </a:spcBef>
            </a:pPr>
            <a:r>
              <a:rPr sz="2800" spc="10" dirty="0">
                <a:latin typeface="Cambria Math"/>
                <a:cs typeface="Cambria Math"/>
              </a:rPr>
              <a:t>ℎ</a:t>
            </a:r>
            <a:r>
              <a:rPr sz="3075" spc="15" baseline="-13550" dirty="0">
                <a:latin typeface="Cambria Math"/>
                <a:cs typeface="Cambria Math"/>
              </a:rPr>
              <a:t>(𝑑−𝑚+1)×(𝑑−𝑚+1)</a:t>
            </a:r>
            <a:r>
              <a:rPr sz="2800" spc="10" dirty="0">
                <a:latin typeface="Cambria Math"/>
                <a:cs typeface="Cambria Math"/>
              </a:rPr>
              <a:t>.</a:t>
            </a:r>
            <a:r>
              <a:rPr sz="2800" spc="70" dirty="0">
                <a:latin typeface="Cambria Math"/>
                <a:cs typeface="Cambria Math"/>
              </a:rPr>
              <a:t> </a:t>
            </a:r>
            <a:r>
              <a:rPr sz="2000" spc="10" dirty="0">
                <a:latin typeface="Calibri"/>
                <a:cs typeface="Calibri"/>
              </a:rPr>
              <a:t>(in</a:t>
            </a:r>
            <a:r>
              <a:rPr sz="2000" spc="55" dirty="0">
                <a:latin typeface="Calibri"/>
                <a:cs typeface="Calibri"/>
              </a:rPr>
              <a:t> </a:t>
            </a:r>
            <a:r>
              <a:rPr sz="2000" spc="10" dirty="0">
                <a:latin typeface="Calibri"/>
                <a:cs typeface="Calibri"/>
              </a:rPr>
              <a:t>the</a:t>
            </a:r>
            <a:r>
              <a:rPr sz="2000" spc="15" dirty="0">
                <a:latin typeface="Calibri"/>
                <a:cs typeface="Calibri"/>
              </a:rPr>
              <a:t> </a:t>
            </a:r>
            <a:r>
              <a:rPr sz="2000" spc="10" dirty="0">
                <a:latin typeface="Calibri"/>
                <a:cs typeface="Calibri"/>
              </a:rPr>
              <a:t>case</a:t>
            </a:r>
            <a:r>
              <a:rPr sz="2000" spc="100" dirty="0">
                <a:latin typeface="Calibri"/>
                <a:cs typeface="Calibri"/>
              </a:rPr>
              <a:t> </a:t>
            </a:r>
            <a:r>
              <a:rPr sz="2000" spc="10" dirty="0">
                <a:latin typeface="Calibri"/>
                <a:cs typeface="Calibri"/>
              </a:rPr>
              <a:t>of</a:t>
            </a:r>
            <a:r>
              <a:rPr sz="2000" spc="15" dirty="0">
                <a:latin typeface="Calibri"/>
                <a:cs typeface="Calibri"/>
              </a:rPr>
              <a:t> </a:t>
            </a:r>
            <a:r>
              <a:rPr sz="2000" spc="-10" dirty="0">
                <a:latin typeface="Calibri"/>
                <a:cs typeface="Calibri"/>
              </a:rPr>
              <a:t>stride=1)</a:t>
            </a:r>
            <a:endParaRPr sz="2000">
              <a:latin typeface="Calibri"/>
              <a:cs typeface="Calibri"/>
            </a:endParaRPr>
          </a:p>
          <a:p>
            <a:pPr marL="380365" marR="385445" indent="-342900">
              <a:lnSpc>
                <a:spcPct val="101299"/>
              </a:lnSpc>
              <a:spcBef>
                <a:spcPts val="894"/>
              </a:spcBef>
              <a:buChar char="•"/>
              <a:tabLst>
                <a:tab pos="380365" algn="l"/>
              </a:tabLst>
            </a:pPr>
            <a:r>
              <a:rPr sz="2800" dirty="0">
                <a:latin typeface="Calibri"/>
                <a:cs typeface="Calibri"/>
              </a:rPr>
              <a:t>Each</a:t>
            </a:r>
            <a:r>
              <a:rPr sz="2800" spc="-95" dirty="0">
                <a:latin typeface="Calibri"/>
                <a:cs typeface="Calibri"/>
              </a:rPr>
              <a:t> </a:t>
            </a:r>
            <a:r>
              <a:rPr sz="2800" dirty="0">
                <a:latin typeface="Cambria Math"/>
                <a:cs typeface="Cambria Math"/>
              </a:rPr>
              <a:t>ℎ</a:t>
            </a:r>
            <a:r>
              <a:rPr sz="3075" baseline="-13550" dirty="0">
                <a:latin typeface="Cambria Math"/>
                <a:cs typeface="Cambria Math"/>
              </a:rPr>
              <a:t>𝑖</a:t>
            </a:r>
            <a:r>
              <a:rPr sz="3075" spc="405" baseline="-13550" dirty="0">
                <a:latin typeface="Cambria Math"/>
                <a:cs typeface="Cambria Math"/>
              </a:rPr>
              <a:t> </a:t>
            </a:r>
            <a:r>
              <a:rPr sz="2800" dirty="0">
                <a:latin typeface="Calibri"/>
                <a:cs typeface="Calibri"/>
              </a:rPr>
              <a:t>(hidden</a:t>
            </a:r>
            <a:r>
              <a:rPr sz="2800" spc="5" dirty="0">
                <a:latin typeface="Calibri"/>
                <a:cs typeface="Calibri"/>
              </a:rPr>
              <a:t> </a:t>
            </a:r>
            <a:r>
              <a:rPr sz="2800" dirty="0">
                <a:latin typeface="Calibri"/>
                <a:cs typeface="Calibri"/>
              </a:rPr>
              <a:t>unit)</a:t>
            </a:r>
            <a:r>
              <a:rPr sz="2800" spc="-45" dirty="0">
                <a:latin typeface="Calibri"/>
                <a:cs typeface="Calibri"/>
              </a:rPr>
              <a:t> </a:t>
            </a:r>
            <a:r>
              <a:rPr sz="2800" spc="-10" dirty="0">
                <a:latin typeface="Calibri"/>
                <a:cs typeface="Calibri"/>
              </a:rPr>
              <a:t>extracts</a:t>
            </a:r>
            <a:r>
              <a:rPr sz="2800" spc="-135" dirty="0">
                <a:latin typeface="Calibri"/>
                <a:cs typeface="Calibri"/>
              </a:rPr>
              <a:t> </a:t>
            </a:r>
            <a:r>
              <a:rPr sz="2800" dirty="0">
                <a:latin typeface="Calibri"/>
                <a:cs typeface="Calibri"/>
              </a:rPr>
              <a:t>a</a:t>
            </a:r>
            <a:r>
              <a:rPr sz="2800" spc="-70" dirty="0">
                <a:latin typeface="Calibri"/>
                <a:cs typeface="Calibri"/>
              </a:rPr>
              <a:t> </a:t>
            </a:r>
            <a:r>
              <a:rPr sz="2800" spc="-20" dirty="0">
                <a:latin typeface="Calibri"/>
                <a:cs typeface="Calibri"/>
              </a:rPr>
              <a:t>feature</a:t>
            </a:r>
            <a:r>
              <a:rPr sz="2800" spc="-80" dirty="0">
                <a:latin typeface="Calibri"/>
                <a:cs typeface="Calibri"/>
              </a:rPr>
              <a:t> </a:t>
            </a:r>
            <a:r>
              <a:rPr sz="2800" dirty="0">
                <a:latin typeface="Calibri"/>
                <a:cs typeface="Calibri"/>
              </a:rPr>
              <a:t>from</a:t>
            </a:r>
            <a:r>
              <a:rPr sz="2800" spc="-70" dirty="0">
                <a:latin typeface="Calibri"/>
                <a:cs typeface="Calibri"/>
              </a:rPr>
              <a:t> </a:t>
            </a:r>
            <a:r>
              <a:rPr sz="2800" spc="-25" dirty="0">
                <a:latin typeface="Calibri"/>
                <a:cs typeface="Calibri"/>
              </a:rPr>
              <a:t>its </a:t>
            </a:r>
            <a:r>
              <a:rPr sz="2800" dirty="0">
                <a:latin typeface="Calibri"/>
                <a:cs typeface="Calibri"/>
              </a:rPr>
              <a:t>region</a:t>
            </a:r>
            <a:r>
              <a:rPr sz="2800" spc="-110" dirty="0">
                <a:latin typeface="Calibri"/>
                <a:cs typeface="Calibri"/>
              </a:rPr>
              <a:t> </a:t>
            </a:r>
            <a:r>
              <a:rPr sz="2800" dirty="0">
                <a:latin typeface="Calibri"/>
                <a:cs typeface="Calibri"/>
              </a:rPr>
              <a:t>of</a:t>
            </a:r>
            <a:r>
              <a:rPr sz="2800" spc="-60" dirty="0">
                <a:latin typeface="Calibri"/>
                <a:cs typeface="Calibri"/>
              </a:rPr>
              <a:t> </a:t>
            </a:r>
            <a:r>
              <a:rPr sz="2800" dirty="0">
                <a:latin typeface="Calibri"/>
                <a:cs typeface="Calibri"/>
              </a:rPr>
              <a:t>input</a:t>
            </a:r>
            <a:r>
              <a:rPr sz="2800" spc="-10" dirty="0">
                <a:latin typeface="Calibri"/>
                <a:cs typeface="Calibri"/>
              </a:rPr>
              <a:t> </a:t>
            </a:r>
            <a:r>
              <a:rPr sz="2800" spc="-20" dirty="0">
                <a:latin typeface="Calibri"/>
                <a:cs typeface="Calibri"/>
              </a:rPr>
              <a:t>space</a:t>
            </a:r>
            <a:endParaRPr sz="2800">
              <a:latin typeface="Calibri"/>
              <a:cs typeface="Calibri"/>
            </a:endParaRPr>
          </a:p>
          <a:p>
            <a:pPr marL="380365" marR="30480" indent="-342900">
              <a:spcBef>
                <a:spcPts val="705"/>
              </a:spcBef>
              <a:buChar char="•"/>
              <a:tabLst>
                <a:tab pos="380365" algn="l"/>
              </a:tabLst>
            </a:pPr>
            <a:r>
              <a:rPr sz="2800" dirty="0">
                <a:latin typeface="Calibri"/>
                <a:cs typeface="Calibri"/>
              </a:rPr>
              <a:t>In</a:t>
            </a:r>
            <a:r>
              <a:rPr sz="2800" spc="-85" dirty="0">
                <a:latin typeface="Calibri"/>
                <a:cs typeface="Calibri"/>
              </a:rPr>
              <a:t> </a:t>
            </a:r>
            <a:r>
              <a:rPr sz="2800" dirty="0">
                <a:latin typeface="Calibri"/>
                <a:cs typeface="Calibri"/>
              </a:rPr>
              <a:t>the</a:t>
            </a:r>
            <a:r>
              <a:rPr sz="2800" spc="-85" dirty="0">
                <a:latin typeface="Calibri"/>
                <a:cs typeface="Calibri"/>
              </a:rPr>
              <a:t> </a:t>
            </a:r>
            <a:r>
              <a:rPr sz="2800" dirty="0">
                <a:latin typeface="Calibri"/>
                <a:cs typeface="Calibri"/>
              </a:rPr>
              <a:t>previous</a:t>
            </a:r>
            <a:r>
              <a:rPr sz="2800" spc="-15" dirty="0">
                <a:latin typeface="Calibri"/>
                <a:cs typeface="Calibri"/>
              </a:rPr>
              <a:t> </a:t>
            </a:r>
            <a:r>
              <a:rPr sz="2800" dirty="0">
                <a:latin typeface="Calibri"/>
                <a:cs typeface="Calibri"/>
              </a:rPr>
              <a:t>slide,</a:t>
            </a:r>
            <a:r>
              <a:rPr sz="2800" spc="-50" dirty="0">
                <a:latin typeface="Calibri"/>
                <a:cs typeface="Calibri"/>
              </a:rPr>
              <a:t> </a:t>
            </a:r>
            <a:r>
              <a:rPr sz="2800" dirty="0">
                <a:latin typeface="Calibri"/>
                <a:cs typeface="Calibri"/>
              </a:rPr>
              <a:t>the</a:t>
            </a:r>
            <a:r>
              <a:rPr sz="2800" spc="-85" dirty="0">
                <a:latin typeface="Calibri"/>
                <a:cs typeface="Calibri"/>
              </a:rPr>
              <a:t> </a:t>
            </a:r>
            <a:r>
              <a:rPr sz="2800" dirty="0">
                <a:latin typeface="Calibri"/>
                <a:cs typeface="Calibri"/>
              </a:rPr>
              <a:t>RF</a:t>
            </a:r>
            <a:r>
              <a:rPr sz="2800" spc="-80" dirty="0">
                <a:latin typeface="Calibri"/>
                <a:cs typeface="Calibri"/>
              </a:rPr>
              <a:t> </a:t>
            </a:r>
            <a:r>
              <a:rPr sz="2800" dirty="0">
                <a:latin typeface="Calibri"/>
                <a:cs typeface="Calibri"/>
              </a:rPr>
              <a:t>field</a:t>
            </a:r>
            <a:r>
              <a:rPr sz="2800" spc="-45" dirty="0">
                <a:latin typeface="Calibri"/>
                <a:cs typeface="Calibri"/>
              </a:rPr>
              <a:t> </a:t>
            </a:r>
            <a:r>
              <a:rPr sz="2800" dirty="0">
                <a:latin typeface="Calibri"/>
                <a:cs typeface="Calibri"/>
              </a:rPr>
              <a:t>(</a:t>
            </a:r>
            <a:r>
              <a:rPr sz="2800" b="1" dirty="0">
                <a:latin typeface="Calibri"/>
                <a:cs typeface="Calibri"/>
              </a:rPr>
              <a:t>stride</a:t>
            </a:r>
            <a:r>
              <a:rPr sz="2800" b="1" spc="-70" dirty="0">
                <a:latin typeface="Calibri"/>
                <a:cs typeface="Calibri"/>
              </a:rPr>
              <a:t> </a:t>
            </a:r>
            <a:r>
              <a:rPr sz="2800" b="1" dirty="0">
                <a:latin typeface="Calibri"/>
                <a:cs typeface="Calibri"/>
              </a:rPr>
              <a:t>length</a:t>
            </a:r>
            <a:r>
              <a:rPr sz="2800" dirty="0">
                <a:latin typeface="Calibri"/>
                <a:cs typeface="Calibri"/>
              </a:rPr>
              <a:t>)</a:t>
            </a:r>
            <a:r>
              <a:rPr sz="2800" spc="-65" dirty="0">
                <a:latin typeface="Calibri"/>
                <a:cs typeface="Calibri"/>
              </a:rPr>
              <a:t> </a:t>
            </a:r>
            <a:r>
              <a:rPr sz="2800" spc="-25" dirty="0">
                <a:latin typeface="Calibri"/>
                <a:cs typeface="Calibri"/>
              </a:rPr>
              <a:t>is </a:t>
            </a:r>
            <a:r>
              <a:rPr sz="2800" dirty="0">
                <a:latin typeface="Calibri"/>
                <a:cs typeface="Calibri"/>
              </a:rPr>
              <a:t>1,</a:t>
            </a:r>
            <a:r>
              <a:rPr sz="2800" spc="-25" dirty="0">
                <a:latin typeface="Calibri"/>
                <a:cs typeface="Calibri"/>
              </a:rPr>
              <a:t> </a:t>
            </a:r>
            <a:r>
              <a:rPr sz="2800" dirty="0">
                <a:latin typeface="Calibri"/>
                <a:cs typeface="Calibri"/>
              </a:rPr>
              <a:t>but</a:t>
            </a:r>
            <a:r>
              <a:rPr sz="2800" spc="-30" dirty="0">
                <a:latin typeface="Calibri"/>
                <a:cs typeface="Calibri"/>
              </a:rPr>
              <a:t> </a:t>
            </a:r>
            <a:r>
              <a:rPr sz="2800" dirty="0">
                <a:latin typeface="Calibri"/>
                <a:cs typeface="Calibri"/>
              </a:rPr>
              <a:t>could</a:t>
            </a:r>
            <a:r>
              <a:rPr sz="2800" spc="-35" dirty="0">
                <a:latin typeface="Calibri"/>
                <a:cs typeface="Calibri"/>
              </a:rPr>
              <a:t> </a:t>
            </a:r>
            <a:r>
              <a:rPr sz="2800" dirty="0">
                <a:latin typeface="Calibri"/>
                <a:cs typeface="Calibri"/>
              </a:rPr>
              <a:t>be</a:t>
            </a:r>
            <a:r>
              <a:rPr sz="2800" spc="-65" dirty="0">
                <a:latin typeface="Calibri"/>
                <a:cs typeface="Calibri"/>
              </a:rPr>
              <a:t> </a:t>
            </a:r>
            <a:r>
              <a:rPr sz="2800" spc="-10" dirty="0">
                <a:latin typeface="Calibri"/>
                <a:cs typeface="Calibri"/>
              </a:rPr>
              <a:t>larger</a:t>
            </a:r>
            <a:endParaRPr sz="2800">
              <a:latin typeface="Calibri"/>
              <a:cs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676400" y="256795"/>
            <a:ext cx="10515600" cy="604010"/>
          </a:xfrm>
          <a:prstGeom prst="rect">
            <a:avLst/>
          </a:prstGeom>
        </p:spPr>
        <p:txBody>
          <a:bodyPr vert="horz" wrap="square" lIns="0" tIns="95249" rIns="0" bIns="0" rtlCol="0" anchor="ctr">
            <a:spAutoFit/>
          </a:bodyPr>
          <a:lstStyle/>
          <a:p>
            <a:pPr marL="740410">
              <a:lnSpc>
                <a:spcPct val="100000"/>
              </a:lnSpc>
              <a:spcBef>
                <a:spcPts val="100"/>
              </a:spcBef>
            </a:pPr>
            <a:r>
              <a:rPr sz="3300" dirty="0">
                <a:latin typeface="Segoe UI Symbol"/>
                <a:cs typeface="Segoe UI Symbol"/>
              </a:rPr>
              <a:t>🞄</a:t>
            </a:r>
            <a:r>
              <a:rPr sz="3300" spc="-90" dirty="0">
                <a:latin typeface="Segoe UI Symbol"/>
                <a:cs typeface="Segoe UI Symbol"/>
              </a:rPr>
              <a:t> </a:t>
            </a:r>
            <a:r>
              <a:rPr sz="2000" dirty="0">
                <a:latin typeface="Calibri"/>
                <a:cs typeface="Calibri"/>
              </a:rPr>
              <a:t>In</a:t>
            </a:r>
            <a:r>
              <a:rPr sz="2000" spc="-75" dirty="0">
                <a:latin typeface="Calibri"/>
                <a:cs typeface="Calibri"/>
              </a:rPr>
              <a:t> </a:t>
            </a:r>
            <a:r>
              <a:rPr sz="2000" dirty="0">
                <a:latin typeface="Calibri"/>
                <a:cs typeface="Calibri"/>
              </a:rPr>
              <a:t>CNNs,</a:t>
            </a:r>
            <a:r>
              <a:rPr sz="2000" spc="-105" dirty="0">
                <a:latin typeface="Calibri"/>
                <a:cs typeface="Calibri"/>
              </a:rPr>
              <a:t> </a:t>
            </a:r>
            <a:r>
              <a:rPr sz="2000" dirty="0">
                <a:latin typeface="Calibri"/>
                <a:cs typeface="Calibri"/>
              </a:rPr>
              <a:t>hidden</a:t>
            </a:r>
            <a:r>
              <a:rPr sz="2000" spc="-95" dirty="0">
                <a:latin typeface="Calibri"/>
                <a:cs typeface="Calibri"/>
              </a:rPr>
              <a:t> </a:t>
            </a:r>
            <a:r>
              <a:rPr sz="2000" dirty="0">
                <a:latin typeface="Calibri"/>
                <a:cs typeface="Calibri"/>
              </a:rPr>
              <a:t>units</a:t>
            </a:r>
            <a:r>
              <a:rPr sz="2000" spc="-65" dirty="0">
                <a:latin typeface="Calibri"/>
                <a:cs typeface="Calibri"/>
              </a:rPr>
              <a:t> </a:t>
            </a:r>
            <a:r>
              <a:rPr sz="2000" dirty="0">
                <a:latin typeface="Calibri"/>
                <a:cs typeface="Calibri"/>
              </a:rPr>
              <a:t>are</a:t>
            </a:r>
            <a:r>
              <a:rPr sz="2000" spc="-45" dirty="0">
                <a:latin typeface="Calibri"/>
                <a:cs typeface="Calibri"/>
              </a:rPr>
              <a:t> </a:t>
            </a:r>
            <a:r>
              <a:rPr sz="2000" dirty="0">
                <a:latin typeface="Calibri"/>
                <a:cs typeface="Calibri"/>
              </a:rPr>
              <a:t>only</a:t>
            </a:r>
            <a:r>
              <a:rPr sz="2000" spc="-105" dirty="0">
                <a:latin typeface="Calibri"/>
                <a:cs typeface="Calibri"/>
              </a:rPr>
              <a:t> </a:t>
            </a:r>
            <a:r>
              <a:rPr sz="2000" spc="-10" dirty="0">
                <a:latin typeface="Calibri"/>
                <a:cs typeface="Calibri"/>
              </a:rPr>
              <a:t>connected</a:t>
            </a:r>
            <a:r>
              <a:rPr sz="2000" spc="-100" dirty="0">
                <a:latin typeface="Calibri"/>
                <a:cs typeface="Calibri"/>
              </a:rPr>
              <a:t> </a:t>
            </a:r>
            <a:r>
              <a:rPr sz="2000" dirty="0">
                <a:latin typeface="Calibri"/>
                <a:cs typeface="Calibri"/>
              </a:rPr>
              <a:t>to</a:t>
            </a:r>
            <a:r>
              <a:rPr sz="2000" spc="-80" dirty="0">
                <a:latin typeface="Calibri"/>
                <a:cs typeface="Calibri"/>
              </a:rPr>
              <a:t> </a:t>
            </a:r>
            <a:r>
              <a:rPr sz="2000" dirty="0">
                <a:latin typeface="Calibri"/>
                <a:cs typeface="Calibri"/>
              </a:rPr>
              <a:t>local</a:t>
            </a:r>
            <a:r>
              <a:rPr sz="2000" spc="-60" dirty="0">
                <a:latin typeface="Calibri"/>
                <a:cs typeface="Calibri"/>
              </a:rPr>
              <a:t> </a:t>
            </a:r>
            <a:r>
              <a:rPr sz="2000" spc="-10" dirty="0">
                <a:latin typeface="Calibri"/>
                <a:cs typeface="Calibri"/>
              </a:rPr>
              <a:t>receptive</a:t>
            </a:r>
            <a:r>
              <a:rPr sz="2000" spc="25" dirty="0">
                <a:latin typeface="Calibri"/>
                <a:cs typeface="Calibri"/>
              </a:rPr>
              <a:t> </a:t>
            </a:r>
            <a:r>
              <a:rPr sz="2000" spc="-10" dirty="0">
                <a:latin typeface="Calibri"/>
                <a:cs typeface="Calibri"/>
              </a:rPr>
              <a:t>field.</a:t>
            </a:r>
            <a:endParaRPr sz="2000" dirty="0">
              <a:latin typeface="Calibri"/>
              <a:cs typeface="Calibri"/>
            </a:endParaRPr>
          </a:p>
        </p:txBody>
      </p:sp>
      <p:pic>
        <p:nvPicPr>
          <p:cNvPr id="3" name="object 3"/>
          <p:cNvPicPr/>
          <p:nvPr/>
        </p:nvPicPr>
        <p:blipFill>
          <a:blip r:embed="rId2" cstate="print"/>
          <a:stretch>
            <a:fillRect/>
          </a:stretch>
        </p:blipFill>
        <p:spPr>
          <a:xfrm>
            <a:off x="2672698" y="3774440"/>
            <a:ext cx="4036489" cy="2390140"/>
          </a:xfrm>
          <a:prstGeom prst="rect">
            <a:avLst/>
          </a:prstGeom>
        </p:spPr>
      </p:pic>
      <p:pic>
        <p:nvPicPr>
          <p:cNvPr id="4" name="object 4"/>
          <p:cNvPicPr/>
          <p:nvPr/>
        </p:nvPicPr>
        <p:blipFill>
          <a:blip r:embed="rId3" cstate="print"/>
          <a:stretch>
            <a:fillRect/>
          </a:stretch>
        </p:blipFill>
        <p:spPr>
          <a:xfrm>
            <a:off x="2819400" y="980440"/>
            <a:ext cx="4216400" cy="1950719"/>
          </a:xfrm>
          <a:prstGeom prst="rect">
            <a:avLst/>
          </a:prstGeom>
        </p:spPr>
      </p:pic>
      <p:sp>
        <p:nvSpPr>
          <p:cNvPr id="5" name="object 5"/>
          <p:cNvSpPr txBox="1"/>
          <p:nvPr/>
        </p:nvSpPr>
        <p:spPr>
          <a:xfrm>
            <a:off x="7147306" y="3593083"/>
            <a:ext cx="3037205" cy="2769870"/>
          </a:xfrm>
          <a:prstGeom prst="rect">
            <a:avLst/>
          </a:prstGeom>
        </p:spPr>
        <p:txBody>
          <a:bodyPr vert="horz" wrap="square" lIns="0" tIns="12700" rIns="0" bIns="0" rtlCol="0">
            <a:spAutoFit/>
          </a:bodyPr>
          <a:lstStyle/>
          <a:p>
            <a:pPr marL="12700">
              <a:spcBef>
                <a:spcPts val="100"/>
              </a:spcBef>
            </a:pPr>
            <a:r>
              <a:rPr sz="2000" dirty="0">
                <a:latin typeface="Arial"/>
                <a:cs typeface="Arial"/>
              </a:rPr>
              <a:t>Example:</a:t>
            </a:r>
            <a:r>
              <a:rPr sz="2000" spc="-105" dirty="0">
                <a:latin typeface="Arial"/>
                <a:cs typeface="Arial"/>
              </a:rPr>
              <a:t> </a:t>
            </a:r>
            <a:r>
              <a:rPr sz="2000" dirty="0">
                <a:latin typeface="Arial"/>
                <a:cs typeface="Arial"/>
              </a:rPr>
              <a:t>200x200</a:t>
            </a:r>
            <a:r>
              <a:rPr sz="2000" spc="-114" dirty="0">
                <a:latin typeface="Arial"/>
                <a:cs typeface="Arial"/>
              </a:rPr>
              <a:t> </a:t>
            </a:r>
            <a:r>
              <a:rPr sz="2000" spc="-20" dirty="0">
                <a:latin typeface="Arial"/>
                <a:cs typeface="Arial"/>
              </a:rPr>
              <a:t>image</a:t>
            </a:r>
            <a:endParaRPr sz="2000">
              <a:latin typeface="Arial"/>
              <a:cs typeface="Arial"/>
            </a:endParaRPr>
          </a:p>
          <a:p>
            <a:pPr marL="12700"/>
            <a:r>
              <a:rPr sz="2000" dirty="0">
                <a:latin typeface="Arial"/>
                <a:cs typeface="Arial"/>
              </a:rPr>
              <a:t>a)</a:t>
            </a:r>
            <a:r>
              <a:rPr sz="2000" spc="295" dirty="0">
                <a:latin typeface="Arial"/>
                <a:cs typeface="Arial"/>
              </a:rPr>
              <a:t> </a:t>
            </a:r>
            <a:r>
              <a:rPr sz="2000" dirty="0">
                <a:latin typeface="Arial"/>
                <a:cs typeface="Arial"/>
              </a:rPr>
              <a:t>fully</a:t>
            </a:r>
            <a:r>
              <a:rPr sz="2000" spc="-65" dirty="0">
                <a:latin typeface="Arial"/>
                <a:cs typeface="Arial"/>
              </a:rPr>
              <a:t> </a:t>
            </a:r>
            <a:r>
              <a:rPr sz="2000" dirty="0">
                <a:latin typeface="Arial"/>
                <a:cs typeface="Arial"/>
              </a:rPr>
              <a:t>connected:</a:t>
            </a:r>
            <a:r>
              <a:rPr sz="2000" spc="-105" dirty="0">
                <a:latin typeface="Arial"/>
                <a:cs typeface="Arial"/>
              </a:rPr>
              <a:t> </a:t>
            </a:r>
            <a:r>
              <a:rPr sz="2000" spc="-20" dirty="0">
                <a:latin typeface="Arial"/>
                <a:cs typeface="Arial"/>
              </a:rPr>
              <a:t>with</a:t>
            </a:r>
            <a:endParaRPr sz="2000">
              <a:latin typeface="Arial"/>
              <a:cs typeface="Arial"/>
            </a:endParaRPr>
          </a:p>
          <a:p>
            <a:pPr marL="355600"/>
            <a:r>
              <a:rPr sz="2000" dirty="0">
                <a:latin typeface="Arial"/>
                <a:cs typeface="Arial"/>
              </a:rPr>
              <a:t>40,000</a:t>
            </a:r>
            <a:r>
              <a:rPr sz="2000" spc="-90" dirty="0">
                <a:latin typeface="Arial"/>
                <a:cs typeface="Arial"/>
              </a:rPr>
              <a:t> </a:t>
            </a:r>
            <a:r>
              <a:rPr sz="2000" dirty="0">
                <a:latin typeface="Arial"/>
                <a:cs typeface="Arial"/>
              </a:rPr>
              <a:t>hidden</a:t>
            </a:r>
            <a:r>
              <a:rPr sz="2000" spc="-55" dirty="0">
                <a:latin typeface="Arial"/>
                <a:cs typeface="Arial"/>
              </a:rPr>
              <a:t> </a:t>
            </a:r>
            <a:r>
              <a:rPr sz="2000" dirty="0">
                <a:latin typeface="Arial"/>
                <a:cs typeface="Arial"/>
              </a:rPr>
              <a:t>units</a:t>
            </a:r>
            <a:r>
              <a:rPr sz="2000" spc="-60" dirty="0">
                <a:latin typeface="Arial"/>
                <a:cs typeface="Arial"/>
              </a:rPr>
              <a:t> </a:t>
            </a:r>
            <a:r>
              <a:rPr sz="2000" spc="-25" dirty="0">
                <a:latin typeface="Arial"/>
                <a:cs typeface="Arial"/>
              </a:rPr>
              <a:t>=&gt;</a:t>
            </a:r>
            <a:endParaRPr sz="2000">
              <a:latin typeface="Arial"/>
              <a:cs typeface="Arial"/>
            </a:endParaRPr>
          </a:p>
          <a:p>
            <a:pPr marL="355600"/>
            <a:r>
              <a:rPr sz="2000" dirty="0">
                <a:latin typeface="Arial"/>
                <a:cs typeface="Arial"/>
              </a:rPr>
              <a:t>1.6</a:t>
            </a:r>
            <a:r>
              <a:rPr sz="2000" spc="-110" dirty="0">
                <a:latin typeface="Arial"/>
                <a:cs typeface="Arial"/>
              </a:rPr>
              <a:t> </a:t>
            </a:r>
            <a:r>
              <a:rPr sz="2000" dirty="0">
                <a:latin typeface="Arial"/>
                <a:cs typeface="Arial"/>
              </a:rPr>
              <a:t>billion</a:t>
            </a:r>
            <a:r>
              <a:rPr sz="2000" spc="-60" dirty="0">
                <a:latin typeface="Arial"/>
                <a:cs typeface="Arial"/>
              </a:rPr>
              <a:t> </a:t>
            </a:r>
            <a:r>
              <a:rPr sz="2000" spc="-10" dirty="0">
                <a:latin typeface="Arial"/>
                <a:cs typeface="Arial"/>
              </a:rPr>
              <a:t>parameters</a:t>
            </a:r>
            <a:endParaRPr sz="2000">
              <a:latin typeface="Arial"/>
              <a:cs typeface="Arial"/>
            </a:endParaRPr>
          </a:p>
          <a:p>
            <a:pPr marL="355600" marR="5080" indent="-343535"/>
            <a:r>
              <a:rPr sz="2000" dirty="0">
                <a:latin typeface="Arial"/>
                <a:cs typeface="Arial"/>
              </a:rPr>
              <a:t>b)</a:t>
            </a:r>
            <a:r>
              <a:rPr sz="2000" spc="-25" dirty="0">
                <a:latin typeface="Arial"/>
                <a:cs typeface="Arial"/>
              </a:rPr>
              <a:t> </a:t>
            </a:r>
            <a:r>
              <a:rPr sz="2000" dirty="0">
                <a:latin typeface="Arial"/>
                <a:cs typeface="Arial"/>
              </a:rPr>
              <a:t>CNN:</a:t>
            </a:r>
            <a:r>
              <a:rPr sz="2000" spc="-20" dirty="0">
                <a:latin typeface="Arial"/>
                <a:cs typeface="Arial"/>
              </a:rPr>
              <a:t> </a:t>
            </a:r>
            <a:r>
              <a:rPr sz="2000" dirty="0">
                <a:latin typeface="Arial"/>
                <a:cs typeface="Arial"/>
              </a:rPr>
              <a:t>5x5</a:t>
            </a:r>
            <a:r>
              <a:rPr sz="2000" spc="-5" dirty="0">
                <a:latin typeface="Arial"/>
                <a:cs typeface="Arial"/>
              </a:rPr>
              <a:t> </a:t>
            </a:r>
            <a:r>
              <a:rPr sz="2000" dirty="0">
                <a:latin typeface="Arial"/>
                <a:cs typeface="Arial"/>
              </a:rPr>
              <a:t>kernel,</a:t>
            </a:r>
            <a:r>
              <a:rPr sz="2000" spc="-50" dirty="0">
                <a:latin typeface="Arial"/>
                <a:cs typeface="Arial"/>
              </a:rPr>
              <a:t> </a:t>
            </a:r>
            <a:r>
              <a:rPr sz="2000" spc="-25" dirty="0">
                <a:latin typeface="Arial"/>
                <a:cs typeface="Arial"/>
              </a:rPr>
              <a:t>100 </a:t>
            </a:r>
            <a:r>
              <a:rPr sz="2000" dirty="0">
                <a:latin typeface="Arial"/>
                <a:cs typeface="Arial"/>
              </a:rPr>
              <a:t>feature</a:t>
            </a:r>
            <a:r>
              <a:rPr sz="2000" spc="-80" dirty="0">
                <a:latin typeface="Arial"/>
                <a:cs typeface="Arial"/>
              </a:rPr>
              <a:t> </a:t>
            </a:r>
            <a:r>
              <a:rPr sz="2000" dirty="0">
                <a:latin typeface="Arial"/>
                <a:cs typeface="Arial"/>
              </a:rPr>
              <a:t>maps</a:t>
            </a:r>
            <a:r>
              <a:rPr sz="2000" spc="-40" dirty="0">
                <a:latin typeface="Arial"/>
                <a:cs typeface="Arial"/>
              </a:rPr>
              <a:t> </a:t>
            </a:r>
            <a:r>
              <a:rPr sz="2000" dirty="0">
                <a:latin typeface="Arial"/>
                <a:cs typeface="Arial"/>
              </a:rPr>
              <a:t>=&gt;</a:t>
            </a:r>
            <a:r>
              <a:rPr sz="2000" spc="10" dirty="0">
                <a:latin typeface="Arial"/>
                <a:cs typeface="Arial"/>
              </a:rPr>
              <a:t> </a:t>
            </a:r>
            <a:r>
              <a:rPr sz="2000" spc="-20" dirty="0">
                <a:latin typeface="Arial"/>
                <a:cs typeface="Arial"/>
              </a:rPr>
              <a:t>2,500 </a:t>
            </a:r>
            <a:r>
              <a:rPr sz="2000" dirty="0">
                <a:latin typeface="Arial"/>
                <a:cs typeface="Arial"/>
              </a:rPr>
              <a:t>parameters.</a:t>
            </a:r>
            <a:r>
              <a:rPr sz="2000" spc="-95" dirty="0">
                <a:latin typeface="Arial"/>
                <a:cs typeface="Arial"/>
              </a:rPr>
              <a:t> </a:t>
            </a:r>
            <a:r>
              <a:rPr sz="2000" dirty="0">
                <a:latin typeface="Arial"/>
                <a:cs typeface="Arial"/>
              </a:rPr>
              <a:t>(the</a:t>
            </a:r>
            <a:r>
              <a:rPr sz="2000" spc="-45" dirty="0">
                <a:latin typeface="Arial"/>
                <a:cs typeface="Arial"/>
              </a:rPr>
              <a:t> </a:t>
            </a:r>
            <a:r>
              <a:rPr sz="2000" spc="-20" dirty="0">
                <a:latin typeface="Arial"/>
                <a:cs typeface="Arial"/>
              </a:rPr>
              <a:t>same </a:t>
            </a:r>
            <a:r>
              <a:rPr sz="2000" dirty="0">
                <a:latin typeface="Arial"/>
                <a:cs typeface="Arial"/>
              </a:rPr>
              <a:t>kernel</a:t>
            </a:r>
            <a:r>
              <a:rPr sz="2000" spc="-95" dirty="0">
                <a:latin typeface="Arial"/>
                <a:cs typeface="Arial"/>
              </a:rPr>
              <a:t> </a:t>
            </a:r>
            <a:r>
              <a:rPr sz="2000" dirty="0">
                <a:latin typeface="Arial"/>
                <a:cs typeface="Arial"/>
              </a:rPr>
              <a:t>weights</a:t>
            </a:r>
            <a:r>
              <a:rPr sz="2000" spc="-60" dirty="0">
                <a:latin typeface="Arial"/>
                <a:cs typeface="Arial"/>
              </a:rPr>
              <a:t> </a:t>
            </a:r>
            <a:r>
              <a:rPr sz="2000" dirty="0">
                <a:latin typeface="Arial"/>
                <a:cs typeface="Arial"/>
              </a:rPr>
              <a:t>are</a:t>
            </a:r>
            <a:r>
              <a:rPr sz="2000" spc="-80" dirty="0">
                <a:latin typeface="Arial"/>
                <a:cs typeface="Arial"/>
              </a:rPr>
              <a:t> </a:t>
            </a:r>
            <a:r>
              <a:rPr sz="2000" spc="-20" dirty="0">
                <a:latin typeface="Arial"/>
                <a:cs typeface="Arial"/>
              </a:rPr>
              <a:t>used </a:t>
            </a:r>
            <a:r>
              <a:rPr sz="2000" dirty="0">
                <a:latin typeface="Arial"/>
                <a:cs typeface="Arial"/>
              </a:rPr>
              <a:t>for</a:t>
            </a:r>
            <a:r>
              <a:rPr sz="2000" spc="-85" dirty="0">
                <a:latin typeface="Arial"/>
                <a:cs typeface="Arial"/>
              </a:rPr>
              <a:t> </a:t>
            </a:r>
            <a:r>
              <a:rPr sz="2000" dirty="0">
                <a:latin typeface="Arial"/>
                <a:cs typeface="Arial"/>
              </a:rPr>
              <a:t>the</a:t>
            </a:r>
            <a:r>
              <a:rPr sz="2000" spc="-90" dirty="0">
                <a:latin typeface="Arial"/>
                <a:cs typeface="Arial"/>
              </a:rPr>
              <a:t> </a:t>
            </a:r>
            <a:r>
              <a:rPr sz="2000" dirty="0">
                <a:latin typeface="Arial"/>
                <a:cs typeface="Arial"/>
              </a:rPr>
              <a:t>whole</a:t>
            </a:r>
            <a:r>
              <a:rPr sz="2000" spc="-15" dirty="0">
                <a:latin typeface="Arial"/>
                <a:cs typeface="Arial"/>
              </a:rPr>
              <a:t> </a:t>
            </a:r>
            <a:r>
              <a:rPr sz="2000" spc="-10" dirty="0">
                <a:latin typeface="Arial"/>
                <a:cs typeface="Arial"/>
              </a:rPr>
              <a:t>image)</a:t>
            </a:r>
            <a:endParaRPr sz="2000">
              <a:latin typeface="Arial"/>
              <a:cs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362200" y="435566"/>
            <a:ext cx="10515600" cy="1184683"/>
          </a:xfrm>
          <a:prstGeom prst="rect">
            <a:avLst/>
          </a:prstGeom>
        </p:spPr>
        <p:txBody>
          <a:bodyPr vert="horz" wrap="square" lIns="0" tIns="502666" rIns="0" bIns="0" rtlCol="0" anchor="ctr">
            <a:spAutoFit/>
          </a:bodyPr>
          <a:lstStyle/>
          <a:p>
            <a:pPr marL="83820">
              <a:lnSpc>
                <a:spcPct val="100000"/>
              </a:lnSpc>
              <a:spcBef>
                <a:spcPts val="100"/>
              </a:spcBef>
            </a:pPr>
            <a:r>
              <a:rPr spc="-30" dirty="0"/>
              <a:t>Weight</a:t>
            </a:r>
            <a:r>
              <a:rPr spc="-160" dirty="0"/>
              <a:t> </a:t>
            </a:r>
            <a:r>
              <a:rPr spc="-10" dirty="0"/>
              <a:t>sharing</a:t>
            </a:r>
          </a:p>
        </p:txBody>
      </p:sp>
      <p:sp>
        <p:nvSpPr>
          <p:cNvPr id="3" name="object 3"/>
          <p:cNvSpPr txBox="1"/>
          <p:nvPr/>
        </p:nvSpPr>
        <p:spPr>
          <a:xfrm>
            <a:off x="1901191" y="1917383"/>
            <a:ext cx="8252459" cy="391795"/>
          </a:xfrm>
          <a:prstGeom prst="rect">
            <a:avLst/>
          </a:prstGeom>
        </p:spPr>
        <p:txBody>
          <a:bodyPr vert="horz" wrap="square" lIns="0" tIns="12700" rIns="0" bIns="0" rtlCol="0">
            <a:spAutoFit/>
          </a:bodyPr>
          <a:lstStyle/>
          <a:p>
            <a:pPr marL="380365" indent="-342265">
              <a:spcBef>
                <a:spcPts val="100"/>
              </a:spcBef>
              <a:buChar char="•"/>
              <a:tabLst>
                <a:tab pos="380365" algn="l"/>
              </a:tabLst>
            </a:pPr>
            <a:r>
              <a:rPr sz="2400" dirty="0">
                <a:latin typeface="Calibri"/>
                <a:cs typeface="Calibri"/>
              </a:rPr>
              <a:t>Each</a:t>
            </a:r>
            <a:r>
              <a:rPr sz="2400" spc="-60" dirty="0">
                <a:latin typeface="Calibri"/>
                <a:cs typeface="Calibri"/>
              </a:rPr>
              <a:t> </a:t>
            </a:r>
            <a:r>
              <a:rPr sz="2400" dirty="0">
                <a:latin typeface="Calibri"/>
                <a:cs typeface="Calibri"/>
              </a:rPr>
              <a:t>hidden</a:t>
            </a:r>
            <a:r>
              <a:rPr sz="2400" spc="-55" dirty="0">
                <a:latin typeface="Calibri"/>
                <a:cs typeface="Calibri"/>
              </a:rPr>
              <a:t> </a:t>
            </a:r>
            <a:r>
              <a:rPr sz="2400" dirty="0">
                <a:latin typeface="Calibri"/>
                <a:cs typeface="Calibri"/>
              </a:rPr>
              <a:t>unit,</a:t>
            </a:r>
            <a:r>
              <a:rPr sz="2400" spc="-40" dirty="0">
                <a:latin typeface="Calibri"/>
                <a:cs typeface="Calibri"/>
              </a:rPr>
              <a:t> </a:t>
            </a:r>
            <a:r>
              <a:rPr sz="2400" spc="55" dirty="0">
                <a:latin typeface="Cambria Math"/>
                <a:cs typeface="Cambria Math"/>
              </a:rPr>
              <a:t>ℎ</a:t>
            </a:r>
            <a:r>
              <a:rPr sz="2625" spc="82" baseline="-12698" dirty="0">
                <a:latin typeface="Cambria Math"/>
                <a:cs typeface="Cambria Math"/>
              </a:rPr>
              <a:t>𝑖,𝑗</a:t>
            </a:r>
            <a:r>
              <a:rPr sz="2625" spc="509" baseline="-12698" dirty="0">
                <a:latin typeface="Cambria Math"/>
                <a:cs typeface="Cambria Math"/>
              </a:rPr>
              <a:t> </a:t>
            </a:r>
            <a:r>
              <a:rPr sz="2400" dirty="0">
                <a:latin typeface="Calibri"/>
                <a:cs typeface="Calibri"/>
              </a:rPr>
              <a:t>is</a:t>
            </a:r>
            <a:r>
              <a:rPr sz="2400" spc="-35" dirty="0">
                <a:latin typeface="Calibri"/>
                <a:cs typeface="Calibri"/>
              </a:rPr>
              <a:t> </a:t>
            </a:r>
            <a:r>
              <a:rPr sz="2400" spc="-20" dirty="0">
                <a:latin typeface="Calibri"/>
                <a:cs typeface="Calibri"/>
              </a:rPr>
              <a:t>constrained</a:t>
            </a:r>
            <a:r>
              <a:rPr sz="2400" spc="-100" dirty="0">
                <a:latin typeface="Calibri"/>
                <a:cs typeface="Calibri"/>
              </a:rPr>
              <a:t> </a:t>
            </a:r>
            <a:r>
              <a:rPr sz="2400" dirty="0">
                <a:latin typeface="Calibri"/>
                <a:cs typeface="Calibri"/>
              </a:rPr>
              <a:t>to</a:t>
            </a:r>
            <a:r>
              <a:rPr sz="2400" spc="-25" dirty="0">
                <a:latin typeface="Calibri"/>
                <a:cs typeface="Calibri"/>
              </a:rPr>
              <a:t> </a:t>
            </a:r>
            <a:r>
              <a:rPr sz="2400" spc="-10" dirty="0">
                <a:latin typeface="Calibri"/>
                <a:cs typeface="Calibri"/>
              </a:rPr>
              <a:t>extract</a:t>
            </a:r>
            <a:r>
              <a:rPr sz="2400" spc="-65" dirty="0">
                <a:latin typeface="Calibri"/>
                <a:cs typeface="Calibri"/>
              </a:rPr>
              <a:t> </a:t>
            </a:r>
            <a:r>
              <a:rPr sz="2400" dirty="0">
                <a:latin typeface="Calibri"/>
                <a:cs typeface="Calibri"/>
              </a:rPr>
              <a:t>the</a:t>
            </a:r>
            <a:r>
              <a:rPr sz="2400" spc="-20" dirty="0">
                <a:latin typeface="Calibri"/>
                <a:cs typeface="Calibri"/>
              </a:rPr>
              <a:t> </a:t>
            </a:r>
            <a:r>
              <a:rPr sz="2400" dirty="0">
                <a:latin typeface="Calibri"/>
                <a:cs typeface="Calibri"/>
              </a:rPr>
              <a:t>same</a:t>
            </a:r>
            <a:r>
              <a:rPr sz="2400" spc="-50" dirty="0">
                <a:latin typeface="Calibri"/>
                <a:cs typeface="Calibri"/>
              </a:rPr>
              <a:t> </a:t>
            </a:r>
            <a:r>
              <a:rPr sz="2400" spc="-10" dirty="0">
                <a:latin typeface="Calibri"/>
                <a:cs typeface="Calibri"/>
              </a:rPr>
              <a:t>feature</a:t>
            </a:r>
            <a:endParaRPr sz="2400">
              <a:latin typeface="Calibri"/>
              <a:cs typeface="Calibri"/>
            </a:endParaRPr>
          </a:p>
        </p:txBody>
      </p:sp>
      <p:sp>
        <p:nvSpPr>
          <p:cNvPr id="4" name="object 4"/>
          <p:cNvSpPr txBox="1"/>
          <p:nvPr/>
        </p:nvSpPr>
        <p:spPr>
          <a:xfrm>
            <a:off x="1871345" y="2238152"/>
            <a:ext cx="4573270" cy="939800"/>
          </a:xfrm>
          <a:prstGeom prst="rect">
            <a:avLst/>
          </a:prstGeom>
        </p:spPr>
        <p:txBody>
          <a:bodyPr vert="horz" wrap="square" lIns="0" tIns="103505" rIns="0" bIns="0" rtlCol="0">
            <a:spAutoFit/>
          </a:bodyPr>
          <a:lstStyle/>
          <a:p>
            <a:pPr marL="381000">
              <a:spcBef>
                <a:spcPts val="815"/>
              </a:spcBef>
            </a:pPr>
            <a:r>
              <a:rPr sz="2400" dirty="0">
                <a:latin typeface="Calibri"/>
                <a:cs typeface="Calibri"/>
              </a:rPr>
              <a:t>by</a:t>
            </a:r>
            <a:r>
              <a:rPr sz="2400" spc="-65" dirty="0">
                <a:latin typeface="Calibri"/>
                <a:cs typeface="Calibri"/>
              </a:rPr>
              <a:t> </a:t>
            </a:r>
            <a:r>
              <a:rPr sz="2400" b="1" dirty="0">
                <a:latin typeface="Calibri"/>
                <a:cs typeface="Calibri"/>
              </a:rPr>
              <a:t>sharing</a:t>
            </a:r>
            <a:r>
              <a:rPr sz="2400" b="1" spc="-50" dirty="0">
                <a:latin typeface="Calibri"/>
                <a:cs typeface="Calibri"/>
              </a:rPr>
              <a:t> </a:t>
            </a:r>
            <a:r>
              <a:rPr sz="2400" b="1" spc="-10" dirty="0">
                <a:latin typeface="Calibri"/>
                <a:cs typeface="Calibri"/>
              </a:rPr>
              <a:t>weights</a:t>
            </a:r>
            <a:r>
              <a:rPr sz="2400" b="1" spc="-80" dirty="0">
                <a:latin typeface="Calibri"/>
                <a:cs typeface="Calibri"/>
              </a:rPr>
              <a:t> </a:t>
            </a:r>
            <a:r>
              <a:rPr sz="2400" dirty="0">
                <a:latin typeface="Calibri"/>
                <a:cs typeface="Calibri"/>
              </a:rPr>
              <a:t>across</a:t>
            </a:r>
            <a:r>
              <a:rPr sz="2400" spc="-110" dirty="0">
                <a:latin typeface="Calibri"/>
                <a:cs typeface="Calibri"/>
              </a:rPr>
              <a:t> </a:t>
            </a:r>
            <a:r>
              <a:rPr sz="2400" dirty="0">
                <a:latin typeface="Calibri"/>
                <a:cs typeface="Calibri"/>
              </a:rPr>
              <a:t>the</a:t>
            </a:r>
            <a:r>
              <a:rPr sz="2400" spc="-75" dirty="0">
                <a:latin typeface="Calibri"/>
                <a:cs typeface="Calibri"/>
              </a:rPr>
              <a:t> </a:t>
            </a:r>
            <a:r>
              <a:rPr sz="2400" spc="-25" dirty="0">
                <a:latin typeface="Calibri"/>
                <a:cs typeface="Calibri"/>
              </a:rPr>
              <a:t>RFs</a:t>
            </a:r>
            <a:endParaRPr sz="2400">
              <a:latin typeface="Calibri"/>
              <a:cs typeface="Calibri"/>
            </a:endParaRPr>
          </a:p>
          <a:p>
            <a:pPr marL="380365" indent="-342265">
              <a:spcBef>
                <a:spcPts val="720"/>
              </a:spcBef>
              <a:buChar char="•"/>
              <a:tabLst>
                <a:tab pos="380365" algn="l"/>
              </a:tabLst>
            </a:pPr>
            <a:r>
              <a:rPr sz="2400" dirty="0">
                <a:latin typeface="Calibri"/>
                <a:cs typeface="Calibri"/>
              </a:rPr>
              <a:t>For</a:t>
            </a:r>
            <a:r>
              <a:rPr sz="2400" spc="-110" dirty="0">
                <a:latin typeface="Calibri"/>
                <a:cs typeface="Calibri"/>
              </a:rPr>
              <a:t> </a:t>
            </a:r>
            <a:r>
              <a:rPr sz="2400" dirty="0">
                <a:latin typeface="Calibri"/>
                <a:cs typeface="Calibri"/>
              </a:rPr>
              <a:t>hidden</a:t>
            </a:r>
            <a:r>
              <a:rPr sz="2400" spc="-80" dirty="0">
                <a:latin typeface="Calibri"/>
                <a:cs typeface="Calibri"/>
              </a:rPr>
              <a:t> </a:t>
            </a:r>
            <a:r>
              <a:rPr sz="2400" dirty="0">
                <a:latin typeface="Calibri"/>
                <a:cs typeface="Calibri"/>
              </a:rPr>
              <a:t>unit</a:t>
            </a:r>
            <a:r>
              <a:rPr sz="2400" spc="-80" dirty="0">
                <a:latin typeface="Calibri"/>
                <a:cs typeface="Calibri"/>
              </a:rPr>
              <a:t> </a:t>
            </a:r>
            <a:r>
              <a:rPr sz="2400" spc="35" dirty="0">
                <a:latin typeface="Cambria Math"/>
                <a:cs typeface="Cambria Math"/>
              </a:rPr>
              <a:t>ℎ</a:t>
            </a:r>
            <a:r>
              <a:rPr sz="2625" spc="52" baseline="-12698" dirty="0">
                <a:latin typeface="Cambria Math"/>
                <a:cs typeface="Cambria Math"/>
              </a:rPr>
              <a:t>𝑖,𝑗</a:t>
            </a:r>
            <a:endParaRPr sz="2625" baseline="-12698">
              <a:latin typeface="Cambria Math"/>
              <a:cs typeface="Cambria Math"/>
            </a:endParaRPr>
          </a:p>
        </p:txBody>
      </p:sp>
      <p:graphicFrame>
        <p:nvGraphicFramePr>
          <p:cNvPr id="5" name="object 5"/>
          <p:cNvGraphicFramePr>
            <a:graphicFrameLocks noGrp="1"/>
          </p:cNvGraphicFramePr>
          <p:nvPr/>
        </p:nvGraphicFramePr>
        <p:xfrm>
          <a:off x="8964677" y="2624201"/>
          <a:ext cx="1546223" cy="1827530"/>
        </p:xfrm>
        <a:graphic>
          <a:graphicData uri="http://schemas.openxmlformats.org/drawingml/2006/table">
            <a:tbl>
              <a:tblPr firstRow="1" bandRow="1">
                <a:tableStyleId>{2D5ABB26-0587-4C30-8999-92F81FD0307C}</a:tableStyleId>
              </a:tblPr>
              <a:tblGrid>
                <a:gridCol w="309245">
                  <a:extLst>
                    <a:ext uri="{9D8B030D-6E8A-4147-A177-3AD203B41FA5}">
                      <a16:colId xmlns:a16="http://schemas.microsoft.com/office/drawing/2014/main" val="20000"/>
                    </a:ext>
                  </a:extLst>
                </a:gridCol>
                <a:gridCol w="309245">
                  <a:extLst>
                    <a:ext uri="{9D8B030D-6E8A-4147-A177-3AD203B41FA5}">
                      <a16:colId xmlns:a16="http://schemas.microsoft.com/office/drawing/2014/main" val="20001"/>
                    </a:ext>
                  </a:extLst>
                </a:gridCol>
                <a:gridCol w="309245">
                  <a:extLst>
                    <a:ext uri="{9D8B030D-6E8A-4147-A177-3AD203B41FA5}">
                      <a16:colId xmlns:a16="http://schemas.microsoft.com/office/drawing/2014/main" val="20002"/>
                    </a:ext>
                  </a:extLst>
                </a:gridCol>
                <a:gridCol w="309244">
                  <a:extLst>
                    <a:ext uri="{9D8B030D-6E8A-4147-A177-3AD203B41FA5}">
                      <a16:colId xmlns:a16="http://schemas.microsoft.com/office/drawing/2014/main" val="20003"/>
                    </a:ext>
                  </a:extLst>
                </a:gridCol>
                <a:gridCol w="309244">
                  <a:extLst>
                    <a:ext uri="{9D8B030D-6E8A-4147-A177-3AD203B41FA5}">
                      <a16:colId xmlns:a16="http://schemas.microsoft.com/office/drawing/2014/main" val="20004"/>
                    </a:ext>
                  </a:extLst>
                </a:gridCol>
              </a:tblGrid>
              <a:tr h="365760">
                <a:tc>
                  <a:txBody>
                    <a:bodyPr/>
                    <a:lstStyle/>
                    <a:p>
                      <a:pPr marL="93345">
                        <a:lnSpc>
                          <a:spcPct val="100000"/>
                        </a:lnSpc>
                        <a:spcBef>
                          <a:spcPts val="335"/>
                        </a:spcBef>
                      </a:pPr>
                      <a:r>
                        <a:rPr sz="700" b="1" spc="-25" dirty="0">
                          <a:latin typeface="Arial"/>
                          <a:cs typeface="Arial"/>
                        </a:rPr>
                        <a:t>00</a:t>
                      </a:r>
                      <a:endParaRPr sz="700">
                        <a:latin typeface="Arial"/>
                        <a:cs typeface="Arial"/>
                      </a:endParaRPr>
                    </a:p>
                  </a:txBody>
                  <a:tcPr marL="0" marR="0" marT="425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D9D9D9"/>
                    </a:solidFill>
                  </a:tcPr>
                </a:tc>
                <a:tc>
                  <a:txBody>
                    <a:bodyPr/>
                    <a:lstStyle/>
                    <a:p>
                      <a:pPr>
                        <a:lnSpc>
                          <a:spcPct val="100000"/>
                        </a:lnSpc>
                      </a:pPr>
                      <a:endParaRPr sz="17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7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7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7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0"/>
                  </a:ext>
                </a:extLst>
              </a:tr>
              <a:tr h="365760">
                <a:tc>
                  <a:txBody>
                    <a:bodyPr/>
                    <a:lstStyle/>
                    <a:p>
                      <a:pPr>
                        <a:lnSpc>
                          <a:spcPct val="100000"/>
                        </a:lnSpc>
                      </a:pPr>
                      <a:endParaRPr sz="17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7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7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7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7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1"/>
                  </a:ext>
                </a:extLst>
              </a:tr>
              <a:tr h="365125">
                <a:tc>
                  <a:txBody>
                    <a:bodyPr/>
                    <a:lstStyle/>
                    <a:p>
                      <a:pPr>
                        <a:lnSpc>
                          <a:spcPct val="100000"/>
                        </a:lnSpc>
                      </a:pPr>
                      <a:endParaRPr sz="17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7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7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7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7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2"/>
                  </a:ext>
                </a:extLst>
              </a:tr>
              <a:tr h="365760">
                <a:tc>
                  <a:txBody>
                    <a:bodyPr/>
                    <a:lstStyle/>
                    <a:p>
                      <a:pPr>
                        <a:lnSpc>
                          <a:spcPct val="100000"/>
                        </a:lnSpc>
                      </a:pPr>
                      <a:endParaRPr sz="17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7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7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7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7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3"/>
                  </a:ext>
                </a:extLst>
              </a:tr>
              <a:tr h="365125">
                <a:tc>
                  <a:txBody>
                    <a:bodyPr/>
                    <a:lstStyle/>
                    <a:p>
                      <a:pPr>
                        <a:lnSpc>
                          <a:spcPct val="100000"/>
                        </a:lnSpc>
                      </a:pPr>
                      <a:endParaRPr sz="17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7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7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7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7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4"/>
                  </a:ext>
                </a:extLst>
              </a:tr>
            </a:tbl>
          </a:graphicData>
        </a:graphic>
      </p:graphicFrame>
      <p:sp>
        <p:nvSpPr>
          <p:cNvPr id="6" name="object 6"/>
          <p:cNvSpPr txBox="1"/>
          <p:nvPr/>
        </p:nvSpPr>
        <p:spPr>
          <a:xfrm>
            <a:off x="9346566" y="2307209"/>
            <a:ext cx="753745" cy="299720"/>
          </a:xfrm>
          <a:prstGeom prst="rect">
            <a:avLst/>
          </a:prstGeom>
        </p:spPr>
        <p:txBody>
          <a:bodyPr vert="horz" wrap="square" lIns="0" tIns="12700" rIns="0" bIns="0" rtlCol="0">
            <a:spAutoFit/>
          </a:bodyPr>
          <a:lstStyle/>
          <a:p>
            <a:pPr marL="12700">
              <a:spcBef>
                <a:spcPts val="100"/>
              </a:spcBef>
            </a:pPr>
            <a:r>
              <a:rPr b="1" dirty="0">
                <a:latin typeface="Arial"/>
                <a:cs typeface="Arial"/>
              </a:rPr>
              <a:t>W</a:t>
            </a:r>
            <a:r>
              <a:rPr b="1" spc="-100" dirty="0">
                <a:latin typeface="Arial"/>
                <a:cs typeface="Arial"/>
              </a:rPr>
              <a:t> </a:t>
            </a:r>
            <a:r>
              <a:rPr b="1" spc="-20" dirty="0">
                <a:latin typeface="Arial"/>
                <a:cs typeface="Arial"/>
              </a:rPr>
              <a:t>(RF)</a:t>
            </a:r>
            <a:endParaRPr>
              <a:latin typeface="Arial"/>
              <a:cs typeface="Arial"/>
            </a:endParaRPr>
          </a:p>
        </p:txBody>
      </p:sp>
      <p:pic>
        <p:nvPicPr>
          <p:cNvPr id="7" name="object 7"/>
          <p:cNvPicPr/>
          <p:nvPr/>
        </p:nvPicPr>
        <p:blipFill>
          <a:blip r:embed="rId2" cstate="print"/>
          <a:stretch>
            <a:fillRect/>
          </a:stretch>
        </p:blipFill>
        <p:spPr>
          <a:xfrm>
            <a:off x="3312160" y="3810001"/>
            <a:ext cx="3934460" cy="1628139"/>
          </a:xfrm>
          <a:prstGeom prst="rect">
            <a:avLst/>
          </a:prstGeom>
        </p:spPr>
      </p:pic>
      <p:sp>
        <p:nvSpPr>
          <p:cNvPr id="8" name="object 8"/>
          <p:cNvSpPr txBox="1"/>
          <p:nvPr/>
        </p:nvSpPr>
        <p:spPr>
          <a:xfrm>
            <a:off x="7248526" y="6463029"/>
            <a:ext cx="2367915" cy="269240"/>
          </a:xfrm>
          <a:prstGeom prst="rect">
            <a:avLst/>
          </a:prstGeom>
        </p:spPr>
        <p:txBody>
          <a:bodyPr vert="horz" wrap="square" lIns="0" tIns="12700" rIns="0" bIns="0" rtlCol="0">
            <a:spAutoFit/>
          </a:bodyPr>
          <a:lstStyle/>
          <a:p>
            <a:pPr marL="12700" marR="5080">
              <a:spcBef>
                <a:spcPts val="100"/>
              </a:spcBef>
            </a:pPr>
            <a:r>
              <a:rPr sz="800" u="sng" spc="-20" dirty="0">
                <a:solidFill>
                  <a:srgbClr val="0462C1"/>
                </a:solidFill>
                <a:uFill>
                  <a:solidFill>
                    <a:srgbClr val="009999"/>
                  </a:solidFill>
                </a:uFill>
                <a:latin typeface="Arial"/>
                <a:cs typeface="Arial"/>
                <a:hlinkClick r:id="rId3"/>
              </a:rPr>
              <a:t>https://medium.com/apache-mxnet/multi-</a:t>
            </a:r>
            <a:r>
              <a:rPr sz="800" u="sng" spc="-10" dirty="0">
                <a:solidFill>
                  <a:srgbClr val="0462C1"/>
                </a:solidFill>
                <a:uFill>
                  <a:solidFill>
                    <a:srgbClr val="009999"/>
                  </a:solidFill>
                </a:uFill>
                <a:latin typeface="Arial"/>
                <a:cs typeface="Arial"/>
                <a:hlinkClick r:id="rId3"/>
              </a:rPr>
              <a:t>channel-</a:t>
            </a:r>
            <a:r>
              <a:rPr sz="800" spc="-10" dirty="0">
                <a:solidFill>
                  <a:srgbClr val="0462C1"/>
                </a:solidFill>
                <a:latin typeface="Arial"/>
                <a:cs typeface="Arial"/>
                <a:hlinkClick r:id="rId3"/>
              </a:rPr>
              <a:t> </a:t>
            </a:r>
            <a:r>
              <a:rPr sz="800" u="sng" spc="-25" dirty="0">
                <a:solidFill>
                  <a:srgbClr val="0462C1"/>
                </a:solidFill>
                <a:uFill>
                  <a:solidFill>
                    <a:srgbClr val="009999"/>
                  </a:solidFill>
                </a:uFill>
                <a:latin typeface="Arial"/>
                <a:cs typeface="Arial"/>
                <a:hlinkClick r:id="rId3"/>
              </a:rPr>
              <a:t>convolutions-</a:t>
            </a:r>
            <a:r>
              <a:rPr sz="800" u="sng" spc="-10" dirty="0">
                <a:solidFill>
                  <a:srgbClr val="0462C1"/>
                </a:solidFill>
                <a:uFill>
                  <a:solidFill>
                    <a:srgbClr val="009999"/>
                  </a:solidFill>
                </a:uFill>
                <a:latin typeface="Arial"/>
                <a:cs typeface="Arial"/>
                <a:hlinkClick r:id="rId3"/>
              </a:rPr>
              <a:t>explained-with-ms-</a:t>
            </a:r>
            <a:r>
              <a:rPr sz="800" u="sng" spc="-20" dirty="0">
                <a:solidFill>
                  <a:srgbClr val="0462C1"/>
                </a:solidFill>
                <a:uFill>
                  <a:solidFill>
                    <a:srgbClr val="009999"/>
                  </a:solidFill>
                </a:uFill>
                <a:latin typeface="Arial"/>
                <a:cs typeface="Arial"/>
                <a:hlinkClick r:id="rId3"/>
              </a:rPr>
              <a:t>excel-</a:t>
            </a:r>
            <a:r>
              <a:rPr sz="800" u="sng" spc="-10" dirty="0">
                <a:solidFill>
                  <a:srgbClr val="0462C1"/>
                </a:solidFill>
                <a:uFill>
                  <a:solidFill>
                    <a:srgbClr val="009999"/>
                  </a:solidFill>
                </a:uFill>
                <a:latin typeface="Arial"/>
                <a:cs typeface="Arial"/>
                <a:hlinkClick r:id="rId3"/>
              </a:rPr>
              <a:t>9bbf8eb77108</a:t>
            </a:r>
            <a:endParaRPr sz="800">
              <a:latin typeface="Arial"/>
              <a:cs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362200" y="509623"/>
            <a:ext cx="10515600" cy="1036566"/>
          </a:xfrm>
          <a:prstGeom prst="rect">
            <a:avLst/>
          </a:prstGeom>
        </p:spPr>
        <p:txBody>
          <a:bodyPr vert="horz" wrap="square" lIns="0" tIns="538861" rIns="0" bIns="0" rtlCol="0" anchor="ctr">
            <a:spAutoFit/>
          </a:bodyPr>
          <a:lstStyle/>
          <a:p>
            <a:pPr marL="83820">
              <a:lnSpc>
                <a:spcPct val="100000"/>
              </a:lnSpc>
              <a:spcBef>
                <a:spcPts val="100"/>
              </a:spcBef>
            </a:pPr>
            <a:r>
              <a:rPr sz="3200" spc="-10" dirty="0"/>
              <a:t>Shared</a:t>
            </a:r>
            <a:r>
              <a:rPr sz="3200" spc="-140" dirty="0"/>
              <a:t> </a:t>
            </a:r>
            <a:r>
              <a:rPr sz="3200" dirty="0"/>
              <a:t>weights</a:t>
            </a:r>
            <a:r>
              <a:rPr sz="3200" spc="-110" dirty="0"/>
              <a:t> </a:t>
            </a:r>
            <a:r>
              <a:rPr sz="3200" dirty="0"/>
              <a:t>in</a:t>
            </a:r>
            <a:r>
              <a:rPr sz="3200" spc="-90" dirty="0"/>
              <a:t> </a:t>
            </a:r>
            <a:r>
              <a:rPr sz="3200" spc="-25" dirty="0"/>
              <a:t>RFs</a:t>
            </a:r>
            <a:r>
              <a:rPr lang="en-GB" sz="3200" spc="-25" dirty="0"/>
              <a:t> (Receptive Fields)</a:t>
            </a:r>
            <a:endParaRPr sz="3200" dirty="0"/>
          </a:p>
        </p:txBody>
      </p:sp>
      <p:pic>
        <p:nvPicPr>
          <p:cNvPr id="3" name="object 3"/>
          <p:cNvPicPr/>
          <p:nvPr/>
        </p:nvPicPr>
        <p:blipFill>
          <a:blip r:embed="rId2" cstate="print"/>
          <a:stretch>
            <a:fillRect/>
          </a:stretch>
        </p:blipFill>
        <p:spPr>
          <a:xfrm>
            <a:off x="1883260" y="2066587"/>
            <a:ext cx="4374534" cy="2955180"/>
          </a:xfrm>
          <a:prstGeom prst="rect">
            <a:avLst/>
          </a:prstGeom>
        </p:spPr>
      </p:pic>
      <p:pic>
        <p:nvPicPr>
          <p:cNvPr id="4" name="object 4"/>
          <p:cNvPicPr/>
          <p:nvPr/>
        </p:nvPicPr>
        <p:blipFill>
          <a:blip r:embed="rId3" cstate="print"/>
          <a:stretch>
            <a:fillRect/>
          </a:stretch>
        </p:blipFill>
        <p:spPr>
          <a:xfrm>
            <a:off x="9645446" y="6459591"/>
            <a:ext cx="798986" cy="133879"/>
          </a:xfrm>
          <a:prstGeom prst="rect">
            <a:avLst/>
          </a:prstGeom>
        </p:spPr>
      </p:pic>
      <p:pic>
        <p:nvPicPr>
          <p:cNvPr id="5" name="object 5"/>
          <p:cNvPicPr/>
          <p:nvPr/>
        </p:nvPicPr>
        <p:blipFill>
          <a:blip r:embed="rId4" cstate="print"/>
          <a:stretch>
            <a:fillRect/>
          </a:stretch>
        </p:blipFill>
        <p:spPr>
          <a:xfrm>
            <a:off x="7069263" y="1772921"/>
            <a:ext cx="3180203" cy="3508271"/>
          </a:xfrm>
          <a:prstGeom prst="rect">
            <a:avLst/>
          </a:prstGeom>
        </p:spPr>
      </p:pic>
      <p:sp>
        <p:nvSpPr>
          <p:cNvPr id="6" name="object 6"/>
          <p:cNvSpPr txBox="1"/>
          <p:nvPr/>
        </p:nvSpPr>
        <p:spPr>
          <a:xfrm>
            <a:off x="5438140" y="5266627"/>
            <a:ext cx="1071880" cy="294005"/>
          </a:xfrm>
          <a:prstGeom prst="rect">
            <a:avLst/>
          </a:prstGeom>
        </p:spPr>
        <p:txBody>
          <a:bodyPr vert="horz" wrap="square" lIns="0" tIns="13970" rIns="0" bIns="0" rtlCol="0">
            <a:spAutoFit/>
          </a:bodyPr>
          <a:lstStyle/>
          <a:p>
            <a:pPr marL="12700">
              <a:spcBef>
                <a:spcPts val="110"/>
              </a:spcBef>
            </a:pPr>
            <a:r>
              <a:rPr sz="1750" dirty="0">
                <a:latin typeface="Cambria Math"/>
                <a:cs typeface="Cambria Math"/>
              </a:rPr>
              <a:t>𝑚−1</a:t>
            </a:r>
            <a:r>
              <a:rPr sz="1750" spc="145" dirty="0">
                <a:latin typeface="Cambria Math"/>
                <a:cs typeface="Cambria Math"/>
              </a:rPr>
              <a:t> </a:t>
            </a:r>
            <a:r>
              <a:rPr sz="1750" spc="30" dirty="0">
                <a:latin typeface="Cambria Math"/>
                <a:cs typeface="Cambria Math"/>
              </a:rPr>
              <a:t>𝑚−1</a:t>
            </a:r>
            <a:endParaRPr sz="1750">
              <a:latin typeface="Cambria Math"/>
              <a:cs typeface="Cambria Math"/>
            </a:endParaRPr>
          </a:p>
        </p:txBody>
      </p:sp>
      <p:sp>
        <p:nvSpPr>
          <p:cNvPr id="7" name="object 7"/>
          <p:cNvSpPr txBox="1"/>
          <p:nvPr/>
        </p:nvSpPr>
        <p:spPr>
          <a:xfrm>
            <a:off x="6405880" y="5699125"/>
            <a:ext cx="1517015" cy="391160"/>
          </a:xfrm>
          <a:prstGeom prst="rect">
            <a:avLst/>
          </a:prstGeom>
        </p:spPr>
        <p:txBody>
          <a:bodyPr vert="horz" wrap="square" lIns="0" tIns="12700" rIns="0" bIns="0" rtlCol="0">
            <a:spAutoFit/>
          </a:bodyPr>
          <a:lstStyle/>
          <a:p>
            <a:pPr marL="38100">
              <a:spcBef>
                <a:spcPts val="100"/>
              </a:spcBef>
            </a:pPr>
            <a:r>
              <a:rPr sz="3600" spc="67" baseline="10416" dirty="0">
                <a:latin typeface="Cambria Math"/>
                <a:cs typeface="Cambria Math"/>
              </a:rPr>
              <a:t>𝑤</a:t>
            </a:r>
            <a:r>
              <a:rPr sz="1750" spc="45" dirty="0">
                <a:latin typeface="Cambria Math"/>
                <a:cs typeface="Cambria Math"/>
              </a:rPr>
              <a:t>𝑘,𝑙</a:t>
            </a:r>
            <a:r>
              <a:rPr sz="3600" spc="67" baseline="10416" dirty="0">
                <a:latin typeface="Cambria Math"/>
                <a:cs typeface="Cambria Math"/>
              </a:rPr>
              <a:t>𝑥</a:t>
            </a:r>
            <a:r>
              <a:rPr sz="1750" spc="45" dirty="0">
                <a:latin typeface="Cambria Math"/>
                <a:cs typeface="Cambria Math"/>
              </a:rPr>
              <a:t>𝑖+𝑘,𝑗+𝑙</a:t>
            </a:r>
            <a:endParaRPr sz="1750">
              <a:latin typeface="Cambria Math"/>
              <a:cs typeface="Cambria Math"/>
            </a:endParaRPr>
          </a:p>
        </p:txBody>
      </p:sp>
      <p:sp>
        <p:nvSpPr>
          <p:cNvPr id="8" name="object 8"/>
          <p:cNvSpPr txBox="1"/>
          <p:nvPr/>
        </p:nvSpPr>
        <p:spPr>
          <a:xfrm>
            <a:off x="4564126" y="5515704"/>
            <a:ext cx="1912620" cy="881380"/>
          </a:xfrm>
          <a:prstGeom prst="rect">
            <a:avLst/>
          </a:prstGeom>
        </p:spPr>
        <p:txBody>
          <a:bodyPr vert="horz" wrap="square" lIns="0" tIns="140335" rIns="0" bIns="0" rtlCol="0">
            <a:spAutoFit/>
          </a:bodyPr>
          <a:lstStyle/>
          <a:p>
            <a:pPr marL="63500">
              <a:spcBef>
                <a:spcPts val="1105"/>
              </a:spcBef>
              <a:tabLst>
                <a:tab pos="934719" algn="l"/>
                <a:tab pos="1485900" algn="l"/>
              </a:tabLst>
            </a:pPr>
            <a:r>
              <a:rPr sz="2400" spc="55" dirty="0">
                <a:latin typeface="Cambria Math"/>
                <a:cs typeface="Cambria Math"/>
              </a:rPr>
              <a:t>ℎ</a:t>
            </a:r>
            <a:r>
              <a:rPr sz="2625" spc="82" baseline="-14285" dirty="0">
                <a:latin typeface="Cambria Math"/>
                <a:cs typeface="Cambria Math"/>
              </a:rPr>
              <a:t>𝑖,𝑗</a:t>
            </a:r>
            <a:r>
              <a:rPr sz="2625" spc="735" baseline="-14285" dirty="0">
                <a:latin typeface="Cambria Math"/>
                <a:cs typeface="Cambria Math"/>
              </a:rPr>
              <a:t> </a:t>
            </a:r>
            <a:r>
              <a:rPr sz="2400" spc="-50" dirty="0">
                <a:latin typeface="Cambria Math"/>
                <a:cs typeface="Cambria Math"/>
              </a:rPr>
              <a:t>=</a:t>
            </a:r>
            <a:r>
              <a:rPr sz="2400" dirty="0">
                <a:latin typeface="Cambria Math"/>
                <a:cs typeface="Cambria Math"/>
              </a:rPr>
              <a:t>	</a:t>
            </a:r>
            <a:r>
              <a:rPr sz="2400" spc="-50" dirty="0">
                <a:latin typeface="Cambria Math"/>
                <a:cs typeface="Cambria Math"/>
              </a:rPr>
              <a:t>෍</a:t>
            </a:r>
            <a:r>
              <a:rPr sz="2400" dirty="0">
                <a:latin typeface="Cambria Math"/>
                <a:cs typeface="Cambria Math"/>
              </a:rPr>
              <a:t>	</a:t>
            </a:r>
            <a:r>
              <a:rPr sz="2400" spc="-50" dirty="0">
                <a:latin typeface="Cambria Math"/>
                <a:cs typeface="Cambria Math"/>
              </a:rPr>
              <a:t>෍</a:t>
            </a:r>
            <a:endParaRPr sz="2400">
              <a:latin typeface="Cambria Math"/>
              <a:cs typeface="Cambria Math"/>
            </a:endParaRPr>
          </a:p>
          <a:p>
            <a:pPr marL="922019">
              <a:spcBef>
                <a:spcPts val="750"/>
              </a:spcBef>
              <a:tabLst>
                <a:tab pos="1501140" algn="l"/>
              </a:tabLst>
            </a:pPr>
            <a:r>
              <a:rPr sz="1750" spc="-25" dirty="0">
                <a:latin typeface="Cambria Math"/>
                <a:cs typeface="Cambria Math"/>
              </a:rPr>
              <a:t>𝑘=0</a:t>
            </a:r>
            <a:r>
              <a:rPr sz="1750" dirty="0">
                <a:latin typeface="Cambria Math"/>
                <a:cs typeface="Cambria Math"/>
              </a:rPr>
              <a:t>	</a:t>
            </a:r>
            <a:r>
              <a:rPr sz="1750" spc="-25" dirty="0">
                <a:latin typeface="Cambria Math"/>
                <a:cs typeface="Cambria Math"/>
              </a:rPr>
              <a:t>𝑙=0</a:t>
            </a:r>
            <a:endParaRPr sz="1750">
              <a:latin typeface="Cambria Math"/>
              <a:cs typeface="Cambria Math"/>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41888" y="197320"/>
            <a:ext cx="10515600" cy="1196225"/>
          </a:xfrm>
          <a:prstGeom prst="rect">
            <a:avLst/>
          </a:prstGeom>
        </p:spPr>
        <p:txBody>
          <a:bodyPr vert="horz" wrap="square" lIns="0" tIns="514096" rIns="0" bIns="0" rtlCol="0" anchor="ctr">
            <a:spAutoFit/>
          </a:bodyPr>
          <a:lstStyle/>
          <a:p>
            <a:pPr marL="83820">
              <a:lnSpc>
                <a:spcPct val="100000"/>
              </a:lnSpc>
              <a:spcBef>
                <a:spcPts val="100"/>
              </a:spcBef>
            </a:pPr>
            <a:r>
              <a:rPr b="0" dirty="0">
                <a:latin typeface="Arial"/>
                <a:cs typeface="Arial"/>
              </a:rPr>
              <a:t>Multiple</a:t>
            </a:r>
            <a:r>
              <a:rPr spc="-55" dirty="0">
                <a:latin typeface="Arial"/>
                <a:cs typeface="Arial"/>
              </a:rPr>
              <a:t> </a:t>
            </a:r>
            <a:r>
              <a:rPr b="0" dirty="0">
                <a:latin typeface="Arial"/>
                <a:cs typeface="Arial"/>
              </a:rPr>
              <a:t>feature</a:t>
            </a:r>
            <a:r>
              <a:rPr spc="-85" dirty="0">
                <a:latin typeface="Arial"/>
                <a:cs typeface="Arial"/>
              </a:rPr>
              <a:t> </a:t>
            </a:r>
            <a:r>
              <a:rPr b="0" dirty="0">
                <a:latin typeface="Arial"/>
                <a:cs typeface="Arial"/>
              </a:rPr>
              <a:t>maps</a:t>
            </a:r>
            <a:r>
              <a:rPr spc="-70" dirty="0">
                <a:latin typeface="Arial"/>
                <a:cs typeface="Arial"/>
              </a:rPr>
              <a:t> </a:t>
            </a:r>
            <a:r>
              <a:rPr spc="-10" dirty="0">
                <a:latin typeface="Arial"/>
                <a:cs typeface="Arial"/>
              </a:rPr>
              <a:t>illustration</a:t>
            </a:r>
          </a:p>
        </p:txBody>
      </p:sp>
      <p:pic>
        <p:nvPicPr>
          <p:cNvPr id="3" name="object 3"/>
          <p:cNvPicPr/>
          <p:nvPr/>
        </p:nvPicPr>
        <p:blipFill>
          <a:blip r:embed="rId2" cstate="print"/>
          <a:stretch>
            <a:fillRect/>
          </a:stretch>
        </p:blipFill>
        <p:spPr>
          <a:xfrm>
            <a:off x="3238203" y="2792542"/>
            <a:ext cx="6180132" cy="3459244"/>
          </a:xfrm>
          <a:prstGeom prst="rect">
            <a:avLst/>
          </a:prstGeom>
        </p:spPr>
      </p:pic>
      <p:sp>
        <p:nvSpPr>
          <p:cNvPr id="4" name="object 4"/>
          <p:cNvSpPr txBox="1"/>
          <p:nvPr/>
        </p:nvSpPr>
        <p:spPr>
          <a:xfrm>
            <a:off x="2214562" y="1791971"/>
            <a:ext cx="6438900" cy="757555"/>
          </a:xfrm>
          <a:prstGeom prst="rect">
            <a:avLst/>
          </a:prstGeom>
        </p:spPr>
        <p:txBody>
          <a:bodyPr vert="horz" wrap="square" lIns="0" tIns="12700" rIns="0" bIns="0" rtlCol="0">
            <a:spAutoFit/>
          </a:bodyPr>
          <a:lstStyle/>
          <a:p>
            <a:pPr marL="12700">
              <a:spcBef>
                <a:spcPts val="100"/>
              </a:spcBef>
            </a:pPr>
            <a:r>
              <a:rPr sz="2400" dirty="0">
                <a:latin typeface="Arial"/>
                <a:cs typeface="Arial"/>
              </a:rPr>
              <a:t>Usually</a:t>
            </a:r>
            <a:r>
              <a:rPr sz="2400" spc="-90" dirty="0">
                <a:latin typeface="Arial"/>
                <a:cs typeface="Arial"/>
              </a:rPr>
              <a:t> </a:t>
            </a:r>
            <a:r>
              <a:rPr sz="2400" dirty="0">
                <a:latin typeface="Arial"/>
                <a:cs typeface="Arial"/>
              </a:rPr>
              <a:t>there</a:t>
            </a:r>
            <a:r>
              <a:rPr sz="2400" spc="-80" dirty="0">
                <a:latin typeface="Arial"/>
                <a:cs typeface="Arial"/>
              </a:rPr>
              <a:t> </a:t>
            </a:r>
            <a:r>
              <a:rPr sz="2400" dirty="0">
                <a:latin typeface="Arial"/>
                <a:cs typeface="Arial"/>
              </a:rPr>
              <a:t>are</a:t>
            </a:r>
            <a:r>
              <a:rPr sz="2400" spc="-60" dirty="0">
                <a:latin typeface="Arial"/>
                <a:cs typeface="Arial"/>
              </a:rPr>
              <a:t> </a:t>
            </a:r>
            <a:r>
              <a:rPr sz="2400" dirty="0">
                <a:latin typeface="Arial"/>
                <a:cs typeface="Arial"/>
              </a:rPr>
              <a:t>multiple</a:t>
            </a:r>
            <a:r>
              <a:rPr sz="2400" spc="-100" dirty="0">
                <a:latin typeface="Arial"/>
                <a:cs typeface="Arial"/>
              </a:rPr>
              <a:t> </a:t>
            </a:r>
            <a:r>
              <a:rPr sz="2400" dirty="0">
                <a:latin typeface="Arial"/>
                <a:cs typeface="Arial"/>
              </a:rPr>
              <a:t>feature</a:t>
            </a:r>
            <a:r>
              <a:rPr sz="2400" spc="-105" dirty="0">
                <a:latin typeface="Arial"/>
                <a:cs typeface="Arial"/>
              </a:rPr>
              <a:t> </a:t>
            </a:r>
            <a:r>
              <a:rPr sz="2400" dirty="0">
                <a:latin typeface="Arial"/>
                <a:cs typeface="Arial"/>
              </a:rPr>
              <a:t>maps,</a:t>
            </a:r>
            <a:r>
              <a:rPr sz="2400" spc="-80" dirty="0">
                <a:latin typeface="Arial"/>
                <a:cs typeface="Arial"/>
              </a:rPr>
              <a:t> </a:t>
            </a:r>
            <a:r>
              <a:rPr sz="2400" dirty="0">
                <a:latin typeface="Arial"/>
                <a:cs typeface="Arial"/>
              </a:rPr>
              <a:t>one</a:t>
            </a:r>
            <a:r>
              <a:rPr sz="2400" spc="-85" dirty="0">
                <a:latin typeface="Arial"/>
                <a:cs typeface="Arial"/>
              </a:rPr>
              <a:t> </a:t>
            </a:r>
            <a:r>
              <a:rPr sz="2400" spc="-25" dirty="0">
                <a:latin typeface="Arial"/>
                <a:cs typeface="Arial"/>
              </a:rPr>
              <a:t>for</a:t>
            </a:r>
            <a:endParaRPr sz="2400">
              <a:latin typeface="Arial"/>
              <a:cs typeface="Arial"/>
            </a:endParaRPr>
          </a:p>
          <a:p>
            <a:pPr marL="12700"/>
            <a:r>
              <a:rPr sz="2400" dirty="0">
                <a:latin typeface="Arial"/>
                <a:cs typeface="Arial"/>
              </a:rPr>
              <a:t>each</a:t>
            </a:r>
            <a:r>
              <a:rPr sz="2400" spc="-85" dirty="0">
                <a:latin typeface="Arial"/>
                <a:cs typeface="Arial"/>
              </a:rPr>
              <a:t> </a:t>
            </a:r>
            <a:r>
              <a:rPr sz="2400" spc="-10" dirty="0">
                <a:latin typeface="Arial"/>
                <a:cs typeface="Arial"/>
              </a:rPr>
              <a:t>convolution</a:t>
            </a:r>
            <a:r>
              <a:rPr sz="2400" spc="-85" dirty="0">
                <a:latin typeface="Arial"/>
                <a:cs typeface="Arial"/>
              </a:rPr>
              <a:t> </a:t>
            </a:r>
            <a:r>
              <a:rPr sz="2400" spc="-10" dirty="0">
                <a:latin typeface="Arial"/>
                <a:cs typeface="Arial"/>
              </a:rPr>
              <a:t>operator.</a:t>
            </a:r>
            <a:endParaRPr sz="2400">
              <a:latin typeface="Arial"/>
              <a:cs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362200" y="469997"/>
            <a:ext cx="10515600" cy="1115818"/>
          </a:xfrm>
          <a:prstGeom prst="rect">
            <a:avLst/>
          </a:prstGeom>
        </p:spPr>
        <p:txBody>
          <a:bodyPr vert="horz" wrap="square" lIns="0" tIns="434467" rIns="0" bIns="0" rtlCol="0" anchor="ctr">
            <a:spAutoFit/>
          </a:bodyPr>
          <a:lstStyle/>
          <a:p>
            <a:pPr marL="12700">
              <a:lnSpc>
                <a:spcPct val="100000"/>
              </a:lnSpc>
              <a:spcBef>
                <a:spcPts val="100"/>
              </a:spcBef>
            </a:pPr>
            <a:r>
              <a:rPr dirty="0"/>
              <a:t>Learning</a:t>
            </a:r>
            <a:r>
              <a:rPr spc="-60" dirty="0"/>
              <a:t> </a:t>
            </a:r>
            <a:r>
              <a:rPr dirty="0"/>
              <a:t>image</a:t>
            </a:r>
            <a:r>
              <a:rPr spc="-45" dirty="0"/>
              <a:t> </a:t>
            </a:r>
            <a:r>
              <a:rPr spc="-20" dirty="0"/>
              <a:t>kernels</a:t>
            </a:r>
            <a:endParaRPr/>
          </a:p>
        </p:txBody>
      </p:sp>
      <p:pic>
        <p:nvPicPr>
          <p:cNvPr id="3" name="object 3"/>
          <p:cNvPicPr/>
          <p:nvPr/>
        </p:nvPicPr>
        <p:blipFill>
          <a:blip r:embed="rId2" cstate="print"/>
          <a:stretch>
            <a:fillRect/>
          </a:stretch>
        </p:blipFill>
        <p:spPr>
          <a:xfrm>
            <a:off x="1825497" y="1855971"/>
            <a:ext cx="4034282" cy="4415288"/>
          </a:xfrm>
          <a:prstGeom prst="rect">
            <a:avLst/>
          </a:prstGeom>
        </p:spPr>
      </p:pic>
      <p:sp>
        <p:nvSpPr>
          <p:cNvPr id="4" name="object 4"/>
          <p:cNvSpPr txBox="1"/>
          <p:nvPr/>
        </p:nvSpPr>
        <p:spPr>
          <a:xfrm>
            <a:off x="6032880" y="2001266"/>
            <a:ext cx="4053840" cy="4474845"/>
          </a:xfrm>
          <a:prstGeom prst="rect">
            <a:avLst/>
          </a:prstGeom>
        </p:spPr>
        <p:txBody>
          <a:bodyPr vert="horz" wrap="square" lIns="0" tIns="12700" rIns="0" bIns="0" rtlCol="0">
            <a:spAutoFit/>
          </a:bodyPr>
          <a:lstStyle/>
          <a:p>
            <a:pPr marL="575945" marR="322580" indent="-345440">
              <a:spcBef>
                <a:spcPts val="100"/>
              </a:spcBef>
              <a:buChar char="•"/>
              <a:tabLst>
                <a:tab pos="575945" algn="l"/>
              </a:tabLst>
            </a:pPr>
            <a:r>
              <a:rPr sz="2000" dirty="0">
                <a:latin typeface="Arial"/>
                <a:cs typeface="Arial"/>
              </a:rPr>
              <a:t>Image</a:t>
            </a:r>
            <a:r>
              <a:rPr sz="2000" spc="-70" dirty="0">
                <a:latin typeface="Arial"/>
                <a:cs typeface="Arial"/>
              </a:rPr>
              <a:t> </a:t>
            </a:r>
            <a:r>
              <a:rPr sz="2000" b="1" dirty="0">
                <a:latin typeface="Arial"/>
                <a:cs typeface="Arial"/>
              </a:rPr>
              <a:t>kernels</a:t>
            </a:r>
            <a:r>
              <a:rPr sz="2000" b="1" spc="-55" dirty="0">
                <a:latin typeface="Arial"/>
                <a:cs typeface="Arial"/>
              </a:rPr>
              <a:t> </a:t>
            </a:r>
            <a:r>
              <a:rPr sz="2000" dirty="0">
                <a:latin typeface="Arial"/>
                <a:cs typeface="Arial"/>
              </a:rPr>
              <a:t>have</a:t>
            </a:r>
            <a:r>
              <a:rPr sz="2000" spc="-55" dirty="0">
                <a:latin typeface="Arial"/>
                <a:cs typeface="Arial"/>
              </a:rPr>
              <a:t> </a:t>
            </a:r>
            <a:r>
              <a:rPr sz="2000" spc="-20" dirty="0">
                <a:latin typeface="Arial"/>
                <a:cs typeface="Arial"/>
              </a:rPr>
              <a:t>been </a:t>
            </a:r>
            <a:r>
              <a:rPr sz="2000" dirty="0">
                <a:latin typeface="Arial"/>
                <a:cs typeface="Arial"/>
              </a:rPr>
              <a:t>designed</a:t>
            </a:r>
            <a:r>
              <a:rPr sz="2000" spc="-65" dirty="0">
                <a:latin typeface="Arial"/>
                <a:cs typeface="Arial"/>
              </a:rPr>
              <a:t> </a:t>
            </a:r>
            <a:r>
              <a:rPr sz="2000" dirty="0">
                <a:latin typeface="Arial"/>
                <a:cs typeface="Arial"/>
              </a:rPr>
              <a:t>and</a:t>
            </a:r>
            <a:r>
              <a:rPr sz="2000" spc="-80" dirty="0">
                <a:latin typeface="Arial"/>
                <a:cs typeface="Arial"/>
              </a:rPr>
              <a:t> </a:t>
            </a:r>
            <a:r>
              <a:rPr sz="2000" dirty="0">
                <a:latin typeface="Arial"/>
                <a:cs typeface="Arial"/>
              </a:rPr>
              <a:t>used</a:t>
            </a:r>
            <a:r>
              <a:rPr sz="2000" spc="-60" dirty="0">
                <a:latin typeface="Arial"/>
                <a:cs typeface="Arial"/>
              </a:rPr>
              <a:t> </a:t>
            </a:r>
            <a:r>
              <a:rPr sz="2000" spc="-25" dirty="0">
                <a:latin typeface="Arial"/>
                <a:cs typeface="Arial"/>
              </a:rPr>
              <a:t>for </a:t>
            </a:r>
            <a:r>
              <a:rPr sz="2000" b="1" dirty="0">
                <a:latin typeface="Arial"/>
                <a:cs typeface="Arial"/>
              </a:rPr>
              <a:t>feature</a:t>
            </a:r>
            <a:r>
              <a:rPr sz="2000" b="1" spc="-90" dirty="0">
                <a:latin typeface="Arial"/>
                <a:cs typeface="Arial"/>
              </a:rPr>
              <a:t> </a:t>
            </a:r>
            <a:r>
              <a:rPr sz="2000" b="1" dirty="0">
                <a:latin typeface="Arial"/>
                <a:cs typeface="Arial"/>
              </a:rPr>
              <a:t>extraction</a:t>
            </a:r>
            <a:r>
              <a:rPr sz="2000" b="1" spc="-95" dirty="0">
                <a:latin typeface="Arial"/>
                <a:cs typeface="Arial"/>
              </a:rPr>
              <a:t> </a:t>
            </a:r>
            <a:r>
              <a:rPr sz="2000" dirty="0">
                <a:latin typeface="Arial"/>
                <a:cs typeface="Arial"/>
              </a:rPr>
              <a:t>in</a:t>
            </a:r>
            <a:r>
              <a:rPr sz="2000" spc="-35" dirty="0">
                <a:latin typeface="Arial"/>
                <a:cs typeface="Arial"/>
              </a:rPr>
              <a:t> </a:t>
            </a:r>
            <a:r>
              <a:rPr sz="2000" spc="-20" dirty="0">
                <a:latin typeface="Arial"/>
                <a:cs typeface="Arial"/>
              </a:rPr>
              <a:t>image </a:t>
            </a:r>
            <a:r>
              <a:rPr sz="2000" dirty="0">
                <a:latin typeface="Arial"/>
                <a:cs typeface="Arial"/>
              </a:rPr>
              <a:t>processing</a:t>
            </a:r>
            <a:r>
              <a:rPr sz="2000" spc="-80" dirty="0">
                <a:latin typeface="Arial"/>
                <a:cs typeface="Arial"/>
              </a:rPr>
              <a:t> </a:t>
            </a:r>
            <a:r>
              <a:rPr sz="2000" dirty="0">
                <a:latin typeface="Arial"/>
                <a:cs typeface="Arial"/>
              </a:rPr>
              <a:t>(e.g.</a:t>
            </a:r>
            <a:r>
              <a:rPr sz="2000" spc="-65" dirty="0">
                <a:latin typeface="Arial"/>
                <a:cs typeface="Arial"/>
              </a:rPr>
              <a:t> </a:t>
            </a:r>
            <a:r>
              <a:rPr sz="2000" spc="-20" dirty="0">
                <a:latin typeface="Arial"/>
                <a:cs typeface="Arial"/>
              </a:rPr>
              <a:t>edge </a:t>
            </a:r>
            <a:r>
              <a:rPr sz="2000" spc="-10" dirty="0">
                <a:latin typeface="Arial"/>
                <a:cs typeface="Arial"/>
              </a:rPr>
              <a:t>detection)</a:t>
            </a:r>
            <a:endParaRPr sz="2000">
              <a:latin typeface="Arial"/>
              <a:cs typeface="Arial"/>
            </a:endParaRPr>
          </a:p>
          <a:p>
            <a:pPr marL="575945" marR="285750" indent="-345440">
              <a:spcBef>
                <a:spcPts val="505"/>
              </a:spcBef>
              <a:buChar char="•"/>
              <a:tabLst>
                <a:tab pos="575945" algn="l"/>
              </a:tabLst>
            </a:pPr>
            <a:r>
              <a:rPr sz="2000" spc="-10" dirty="0">
                <a:latin typeface="Arial"/>
                <a:cs typeface="Arial"/>
              </a:rPr>
              <a:t>However,</a:t>
            </a:r>
            <a:r>
              <a:rPr sz="2000" spc="-50" dirty="0">
                <a:latin typeface="Arial"/>
                <a:cs typeface="Arial"/>
              </a:rPr>
              <a:t> </a:t>
            </a:r>
            <a:r>
              <a:rPr sz="2000" dirty="0">
                <a:latin typeface="Arial"/>
                <a:cs typeface="Arial"/>
              </a:rPr>
              <a:t>we</a:t>
            </a:r>
            <a:r>
              <a:rPr sz="2000" spc="-45" dirty="0">
                <a:latin typeface="Arial"/>
                <a:cs typeface="Arial"/>
              </a:rPr>
              <a:t> </a:t>
            </a:r>
            <a:r>
              <a:rPr sz="2000" dirty="0">
                <a:latin typeface="Arial"/>
                <a:cs typeface="Arial"/>
              </a:rPr>
              <a:t>can</a:t>
            </a:r>
            <a:r>
              <a:rPr sz="2000" spc="-75" dirty="0">
                <a:latin typeface="Arial"/>
                <a:cs typeface="Arial"/>
              </a:rPr>
              <a:t> </a:t>
            </a:r>
            <a:r>
              <a:rPr sz="2000" spc="-20" dirty="0">
                <a:latin typeface="Arial"/>
                <a:cs typeface="Arial"/>
              </a:rPr>
              <a:t>learn </a:t>
            </a:r>
            <a:r>
              <a:rPr sz="2000" dirty="0">
                <a:latin typeface="Arial"/>
                <a:cs typeface="Arial"/>
              </a:rPr>
              <a:t>multiple</a:t>
            </a:r>
            <a:r>
              <a:rPr sz="2000" spc="-50" dirty="0">
                <a:latin typeface="Arial"/>
                <a:cs typeface="Arial"/>
              </a:rPr>
              <a:t> </a:t>
            </a:r>
            <a:r>
              <a:rPr sz="2000" dirty="0">
                <a:latin typeface="Arial"/>
                <a:cs typeface="Arial"/>
              </a:rPr>
              <a:t>kernel</a:t>
            </a:r>
            <a:r>
              <a:rPr sz="2000" spc="-60" dirty="0">
                <a:latin typeface="Arial"/>
                <a:cs typeface="Arial"/>
              </a:rPr>
              <a:t> </a:t>
            </a:r>
            <a:r>
              <a:rPr sz="2000" spc="-10" dirty="0">
                <a:latin typeface="Arial"/>
                <a:cs typeface="Arial"/>
              </a:rPr>
              <a:t>functions </a:t>
            </a:r>
            <a:r>
              <a:rPr sz="2000" dirty="0">
                <a:latin typeface="Arial"/>
                <a:cs typeface="Arial"/>
              </a:rPr>
              <a:t>(feature</a:t>
            </a:r>
            <a:r>
              <a:rPr sz="2000" spc="-114" dirty="0">
                <a:latin typeface="Arial"/>
                <a:cs typeface="Arial"/>
              </a:rPr>
              <a:t> </a:t>
            </a:r>
            <a:r>
              <a:rPr sz="2000" dirty="0">
                <a:latin typeface="Arial"/>
                <a:cs typeface="Arial"/>
              </a:rPr>
              <a:t>maps)</a:t>
            </a:r>
            <a:r>
              <a:rPr sz="2000" spc="-70" dirty="0">
                <a:latin typeface="Arial"/>
                <a:cs typeface="Arial"/>
              </a:rPr>
              <a:t> </a:t>
            </a:r>
            <a:r>
              <a:rPr sz="2000" dirty="0">
                <a:latin typeface="Arial"/>
                <a:cs typeface="Arial"/>
              </a:rPr>
              <a:t>by</a:t>
            </a:r>
            <a:r>
              <a:rPr sz="2000" spc="-50" dirty="0">
                <a:latin typeface="Arial"/>
                <a:cs typeface="Arial"/>
              </a:rPr>
              <a:t> </a:t>
            </a:r>
            <a:r>
              <a:rPr sz="2000" spc="-10" dirty="0">
                <a:latin typeface="Arial"/>
                <a:cs typeface="Arial"/>
              </a:rPr>
              <a:t>optimising </a:t>
            </a:r>
            <a:r>
              <a:rPr sz="2000" dirty="0">
                <a:latin typeface="Arial"/>
                <a:cs typeface="Arial"/>
              </a:rPr>
              <a:t>the</a:t>
            </a:r>
            <a:r>
              <a:rPr sz="2000" spc="-65" dirty="0">
                <a:latin typeface="Arial"/>
                <a:cs typeface="Arial"/>
              </a:rPr>
              <a:t> </a:t>
            </a:r>
            <a:r>
              <a:rPr sz="2000" dirty="0">
                <a:latin typeface="Arial"/>
                <a:cs typeface="Arial"/>
              </a:rPr>
              <a:t>network</a:t>
            </a:r>
            <a:r>
              <a:rPr sz="2000" spc="-75" dirty="0">
                <a:latin typeface="Arial"/>
                <a:cs typeface="Arial"/>
              </a:rPr>
              <a:t> </a:t>
            </a:r>
            <a:r>
              <a:rPr sz="2000" dirty="0">
                <a:latin typeface="Arial"/>
                <a:cs typeface="Arial"/>
              </a:rPr>
              <a:t>cost</a:t>
            </a:r>
            <a:r>
              <a:rPr sz="2000" spc="-70" dirty="0">
                <a:latin typeface="Arial"/>
                <a:cs typeface="Arial"/>
              </a:rPr>
              <a:t> </a:t>
            </a:r>
            <a:r>
              <a:rPr sz="2000" spc="-10" dirty="0">
                <a:latin typeface="Arial"/>
                <a:cs typeface="Arial"/>
              </a:rPr>
              <a:t>function</a:t>
            </a:r>
            <a:endParaRPr sz="2000">
              <a:latin typeface="Arial"/>
              <a:cs typeface="Arial"/>
            </a:endParaRPr>
          </a:p>
          <a:p>
            <a:pPr marL="575945" indent="-342900">
              <a:spcBef>
                <a:spcPts val="500"/>
              </a:spcBef>
              <a:buChar char="•"/>
              <a:tabLst>
                <a:tab pos="575945" algn="l"/>
              </a:tabLst>
            </a:pPr>
            <a:r>
              <a:rPr sz="2000" spc="-10" dirty="0">
                <a:latin typeface="Arial"/>
                <a:cs typeface="Arial"/>
              </a:rPr>
              <a:t>Automating</a:t>
            </a:r>
            <a:r>
              <a:rPr sz="2000" spc="-40" dirty="0">
                <a:latin typeface="Arial"/>
                <a:cs typeface="Arial"/>
              </a:rPr>
              <a:t> </a:t>
            </a:r>
            <a:r>
              <a:rPr sz="2000" spc="-10" dirty="0">
                <a:latin typeface="Arial"/>
                <a:cs typeface="Arial"/>
              </a:rPr>
              <a:t>feature</a:t>
            </a:r>
            <a:endParaRPr sz="2000">
              <a:latin typeface="Arial"/>
              <a:cs typeface="Arial"/>
            </a:endParaRPr>
          </a:p>
          <a:p>
            <a:pPr marL="575945">
              <a:spcBef>
                <a:spcPts val="5"/>
              </a:spcBef>
            </a:pPr>
            <a:r>
              <a:rPr sz="2000" spc="-10" dirty="0">
                <a:latin typeface="Arial"/>
                <a:cs typeface="Arial"/>
              </a:rPr>
              <a:t>engineering</a:t>
            </a:r>
            <a:endParaRPr sz="2000">
              <a:latin typeface="Arial"/>
              <a:cs typeface="Arial"/>
            </a:endParaRPr>
          </a:p>
          <a:p>
            <a:pPr>
              <a:spcBef>
                <a:spcPts val="515"/>
              </a:spcBef>
            </a:pPr>
            <a:endParaRPr sz="2000">
              <a:latin typeface="Arial"/>
              <a:cs typeface="Arial"/>
            </a:endParaRPr>
          </a:p>
          <a:p>
            <a:pPr marL="12700">
              <a:spcBef>
                <a:spcPts val="5"/>
              </a:spcBef>
            </a:pPr>
            <a:r>
              <a:rPr sz="2000" u="sng" spc="-10" dirty="0">
                <a:solidFill>
                  <a:srgbClr val="0462C1"/>
                </a:solidFill>
                <a:uFill>
                  <a:solidFill>
                    <a:srgbClr val="009999"/>
                  </a:solidFill>
                </a:uFill>
                <a:latin typeface="Arial"/>
                <a:cs typeface="Arial"/>
                <a:hlinkClick r:id="rId3"/>
              </a:rPr>
              <a:t>https://en.wikipedia.org/wiki/Kernel_</a:t>
            </a:r>
            <a:endParaRPr sz="2000">
              <a:latin typeface="Arial"/>
              <a:cs typeface="Arial"/>
            </a:endParaRPr>
          </a:p>
          <a:p>
            <a:pPr marL="12700"/>
            <a:r>
              <a:rPr sz="2000" spc="-10" dirty="0">
                <a:solidFill>
                  <a:srgbClr val="00AEEE"/>
                </a:solidFill>
                <a:latin typeface="Arial"/>
                <a:cs typeface="Arial"/>
              </a:rPr>
              <a:t>(image_processing)</a:t>
            </a:r>
            <a:endParaRPr sz="2000">
              <a:latin typeface="Arial"/>
              <a:cs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362200" y="435566"/>
            <a:ext cx="10515600" cy="1184683"/>
          </a:xfrm>
          <a:prstGeom prst="rect">
            <a:avLst/>
          </a:prstGeom>
        </p:spPr>
        <p:txBody>
          <a:bodyPr vert="horz" wrap="square" lIns="0" tIns="502666" rIns="0" bIns="0" rtlCol="0" anchor="ctr">
            <a:spAutoFit/>
          </a:bodyPr>
          <a:lstStyle/>
          <a:p>
            <a:pPr marL="83820">
              <a:lnSpc>
                <a:spcPct val="100000"/>
              </a:lnSpc>
              <a:spcBef>
                <a:spcPts val="100"/>
              </a:spcBef>
            </a:pPr>
            <a:r>
              <a:rPr spc="-20" dirty="0"/>
              <a:t>Convolution</a:t>
            </a:r>
            <a:r>
              <a:rPr spc="-85" dirty="0"/>
              <a:t> </a:t>
            </a:r>
            <a:r>
              <a:rPr spc="-10" dirty="0"/>
              <a:t>Layer</a:t>
            </a:r>
          </a:p>
        </p:txBody>
      </p:sp>
      <p:grpSp>
        <p:nvGrpSpPr>
          <p:cNvPr id="3" name="object 3"/>
          <p:cNvGrpSpPr/>
          <p:nvPr/>
        </p:nvGrpSpPr>
        <p:grpSpPr>
          <a:xfrm>
            <a:off x="1884679" y="3540759"/>
            <a:ext cx="788670" cy="670560"/>
            <a:chOff x="360679" y="3540759"/>
            <a:chExt cx="788670" cy="670560"/>
          </a:xfrm>
        </p:grpSpPr>
        <p:pic>
          <p:nvPicPr>
            <p:cNvPr id="4" name="object 4"/>
            <p:cNvPicPr/>
            <p:nvPr/>
          </p:nvPicPr>
          <p:blipFill>
            <a:blip r:embed="rId2" cstate="print"/>
            <a:stretch>
              <a:fillRect/>
            </a:stretch>
          </p:blipFill>
          <p:spPr>
            <a:xfrm>
              <a:off x="762000" y="3622039"/>
              <a:ext cx="99059" cy="121919"/>
            </a:xfrm>
            <a:prstGeom prst="rect">
              <a:avLst/>
            </a:prstGeom>
          </p:spPr>
        </p:pic>
        <p:sp>
          <p:nvSpPr>
            <p:cNvPr id="5" name="object 5"/>
            <p:cNvSpPr/>
            <p:nvPr/>
          </p:nvSpPr>
          <p:spPr>
            <a:xfrm>
              <a:off x="899160" y="3540759"/>
              <a:ext cx="60960" cy="266700"/>
            </a:xfrm>
            <a:custGeom>
              <a:avLst/>
              <a:gdLst/>
              <a:ahLst/>
              <a:cxnLst/>
              <a:rect l="l" t="t" r="r" b="b"/>
              <a:pathLst>
                <a:path w="60959" h="266700">
                  <a:moveTo>
                    <a:pt x="60223" y="0"/>
                  </a:moveTo>
                  <a:lnTo>
                    <a:pt x="58813" y="0"/>
                  </a:lnTo>
                  <a:lnTo>
                    <a:pt x="53276" y="3428"/>
                  </a:lnTo>
                  <a:lnTo>
                    <a:pt x="17005" y="52450"/>
                  </a:lnTo>
                  <a:lnTo>
                    <a:pt x="3454" y="95503"/>
                  </a:lnTo>
                  <a:lnTo>
                    <a:pt x="0" y="133603"/>
                  </a:lnTo>
                  <a:lnTo>
                    <a:pt x="673" y="151256"/>
                  </a:lnTo>
                  <a:lnTo>
                    <a:pt x="8661" y="194182"/>
                  </a:lnTo>
                  <a:lnTo>
                    <a:pt x="30302" y="238378"/>
                  </a:lnTo>
                  <a:lnTo>
                    <a:pt x="58813" y="266572"/>
                  </a:lnTo>
                  <a:lnTo>
                    <a:pt x="60223" y="266572"/>
                  </a:lnTo>
                  <a:lnTo>
                    <a:pt x="60934" y="265810"/>
                  </a:lnTo>
                  <a:lnTo>
                    <a:pt x="60934" y="262889"/>
                  </a:lnTo>
                  <a:lnTo>
                    <a:pt x="56680" y="257937"/>
                  </a:lnTo>
                  <a:lnTo>
                    <a:pt x="36512" y="230377"/>
                  </a:lnTo>
                  <a:lnTo>
                    <a:pt x="23914" y="198754"/>
                  </a:lnTo>
                  <a:lnTo>
                    <a:pt x="17424" y="165734"/>
                  </a:lnTo>
                  <a:lnTo>
                    <a:pt x="15582" y="133603"/>
                  </a:lnTo>
                  <a:lnTo>
                    <a:pt x="17640" y="98932"/>
                  </a:lnTo>
                  <a:lnTo>
                    <a:pt x="24612" y="65531"/>
                  </a:lnTo>
                  <a:lnTo>
                    <a:pt x="37706" y="34670"/>
                  </a:lnTo>
                  <a:lnTo>
                    <a:pt x="58102" y="7238"/>
                  </a:lnTo>
                  <a:lnTo>
                    <a:pt x="60934" y="4317"/>
                  </a:lnTo>
                  <a:lnTo>
                    <a:pt x="60934" y="762"/>
                  </a:lnTo>
                  <a:lnTo>
                    <a:pt x="60223" y="0"/>
                  </a:lnTo>
                  <a:close/>
                </a:path>
              </a:pathLst>
            </a:custGeom>
            <a:solidFill>
              <a:srgbClr val="000000"/>
            </a:solidFill>
          </p:spPr>
          <p:txBody>
            <a:bodyPr wrap="square" lIns="0" tIns="0" rIns="0" bIns="0" rtlCol="0"/>
            <a:lstStyle/>
            <a:p>
              <a:endParaRPr/>
            </a:p>
          </p:txBody>
        </p:sp>
        <p:pic>
          <p:nvPicPr>
            <p:cNvPr id="6" name="object 6"/>
            <p:cNvPicPr/>
            <p:nvPr/>
          </p:nvPicPr>
          <p:blipFill>
            <a:blip r:embed="rId3" cstate="print"/>
            <a:stretch>
              <a:fillRect/>
            </a:stretch>
          </p:blipFill>
          <p:spPr>
            <a:xfrm>
              <a:off x="982979" y="3573779"/>
              <a:ext cx="81280" cy="170179"/>
            </a:xfrm>
            <a:prstGeom prst="rect">
              <a:avLst/>
            </a:prstGeom>
          </p:spPr>
        </p:pic>
        <p:sp>
          <p:nvSpPr>
            <p:cNvPr id="7" name="object 7"/>
            <p:cNvSpPr/>
            <p:nvPr/>
          </p:nvSpPr>
          <p:spPr>
            <a:xfrm>
              <a:off x="1087120" y="3540759"/>
              <a:ext cx="62230" cy="266700"/>
            </a:xfrm>
            <a:custGeom>
              <a:avLst/>
              <a:gdLst/>
              <a:ahLst/>
              <a:cxnLst/>
              <a:rect l="l" t="t" r="r" b="b"/>
              <a:pathLst>
                <a:path w="62230" h="266700">
                  <a:moveTo>
                    <a:pt x="2159" y="0"/>
                  </a:moveTo>
                  <a:lnTo>
                    <a:pt x="711" y="0"/>
                  </a:lnTo>
                  <a:lnTo>
                    <a:pt x="0" y="1397"/>
                  </a:lnTo>
                  <a:lnTo>
                    <a:pt x="0" y="4317"/>
                  </a:lnTo>
                  <a:lnTo>
                    <a:pt x="5029" y="9398"/>
                  </a:lnTo>
                  <a:lnTo>
                    <a:pt x="22339" y="31750"/>
                  </a:lnTo>
                  <a:lnTo>
                    <a:pt x="35204" y="60198"/>
                  </a:lnTo>
                  <a:lnTo>
                    <a:pt x="43218" y="94233"/>
                  </a:lnTo>
                  <a:lnTo>
                    <a:pt x="45986" y="133603"/>
                  </a:lnTo>
                  <a:lnTo>
                    <a:pt x="44005" y="167766"/>
                  </a:lnTo>
                  <a:lnTo>
                    <a:pt x="37172" y="201040"/>
                  </a:lnTo>
                  <a:lnTo>
                    <a:pt x="24168" y="232156"/>
                  </a:lnTo>
                  <a:lnTo>
                    <a:pt x="3594" y="259333"/>
                  </a:lnTo>
                  <a:lnTo>
                    <a:pt x="0" y="263016"/>
                  </a:lnTo>
                  <a:lnTo>
                    <a:pt x="0" y="265810"/>
                  </a:lnTo>
                  <a:lnTo>
                    <a:pt x="711" y="266572"/>
                  </a:lnTo>
                  <a:lnTo>
                    <a:pt x="2159" y="266572"/>
                  </a:lnTo>
                  <a:lnTo>
                    <a:pt x="31965" y="237108"/>
                  </a:lnTo>
                  <a:lnTo>
                    <a:pt x="52997" y="192785"/>
                  </a:lnTo>
                  <a:lnTo>
                    <a:pt x="61010" y="151510"/>
                  </a:lnTo>
                  <a:lnTo>
                    <a:pt x="61785" y="133603"/>
                  </a:lnTo>
                  <a:lnTo>
                    <a:pt x="58458" y="95503"/>
                  </a:lnTo>
                  <a:lnTo>
                    <a:pt x="43827" y="50291"/>
                  </a:lnTo>
                  <a:lnTo>
                    <a:pt x="18135" y="12700"/>
                  </a:lnTo>
                  <a:lnTo>
                    <a:pt x="2159" y="0"/>
                  </a:lnTo>
                  <a:close/>
                </a:path>
              </a:pathLst>
            </a:custGeom>
            <a:solidFill>
              <a:srgbClr val="000000"/>
            </a:solidFill>
          </p:spPr>
          <p:txBody>
            <a:bodyPr wrap="square" lIns="0" tIns="0" rIns="0" bIns="0" rtlCol="0"/>
            <a:lstStyle/>
            <a:p>
              <a:endParaRPr/>
            </a:p>
          </p:txBody>
        </p:sp>
        <p:sp>
          <p:nvSpPr>
            <p:cNvPr id="8" name="object 8"/>
            <p:cNvSpPr/>
            <p:nvPr/>
          </p:nvSpPr>
          <p:spPr>
            <a:xfrm>
              <a:off x="360679" y="3932427"/>
              <a:ext cx="320675" cy="278765"/>
            </a:xfrm>
            <a:custGeom>
              <a:avLst/>
              <a:gdLst/>
              <a:ahLst/>
              <a:cxnLst/>
              <a:rect l="l" t="t" r="r" b="b"/>
              <a:pathLst>
                <a:path w="320675" h="278764">
                  <a:moveTo>
                    <a:pt x="286219" y="0"/>
                  </a:moveTo>
                  <a:lnTo>
                    <a:pt x="0" y="237490"/>
                  </a:lnTo>
                  <a:lnTo>
                    <a:pt x="33959" y="278765"/>
                  </a:lnTo>
                  <a:lnTo>
                    <a:pt x="320116" y="41275"/>
                  </a:lnTo>
                  <a:lnTo>
                    <a:pt x="286219" y="0"/>
                  </a:lnTo>
                  <a:close/>
                </a:path>
              </a:pathLst>
            </a:custGeom>
            <a:solidFill>
              <a:srgbClr val="6B6BCF"/>
            </a:solidFill>
          </p:spPr>
          <p:txBody>
            <a:bodyPr wrap="square" lIns="0" tIns="0" rIns="0" bIns="0" rtlCol="0"/>
            <a:lstStyle/>
            <a:p>
              <a:endParaRPr/>
            </a:p>
          </p:txBody>
        </p:sp>
        <p:pic>
          <p:nvPicPr>
            <p:cNvPr id="9" name="object 9"/>
            <p:cNvPicPr/>
            <p:nvPr/>
          </p:nvPicPr>
          <p:blipFill>
            <a:blip r:embed="rId4" cstate="print"/>
            <a:stretch>
              <a:fillRect/>
            </a:stretch>
          </p:blipFill>
          <p:spPr>
            <a:xfrm>
              <a:off x="612902" y="3850639"/>
              <a:ext cx="174332" cy="164465"/>
            </a:xfrm>
            <a:prstGeom prst="rect">
              <a:avLst/>
            </a:prstGeom>
          </p:spPr>
        </p:pic>
      </p:grpSp>
      <p:sp>
        <p:nvSpPr>
          <p:cNvPr id="10" name="object 10"/>
          <p:cNvSpPr/>
          <p:nvPr/>
        </p:nvSpPr>
        <p:spPr>
          <a:xfrm>
            <a:off x="2788589" y="3642767"/>
            <a:ext cx="177800" cy="62865"/>
          </a:xfrm>
          <a:custGeom>
            <a:avLst/>
            <a:gdLst/>
            <a:ahLst/>
            <a:cxnLst/>
            <a:rect l="l" t="t" r="r" b="b"/>
            <a:pathLst>
              <a:path w="177800" h="62864">
                <a:moveTo>
                  <a:pt x="177457" y="51803"/>
                </a:moveTo>
                <a:lnTo>
                  <a:pt x="0" y="51803"/>
                </a:lnTo>
                <a:lnTo>
                  <a:pt x="0" y="62585"/>
                </a:lnTo>
                <a:lnTo>
                  <a:pt x="177457" y="62585"/>
                </a:lnTo>
                <a:lnTo>
                  <a:pt x="177457" y="51803"/>
                </a:lnTo>
                <a:close/>
              </a:path>
              <a:path w="177800" h="62864">
                <a:moveTo>
                  <a:pt x="177457" y="0"/>
                </a:moveTo>
                <a:lnTo>
                  <a:pt x="0" y="0"/>
                </a:lnTo>
                <a:lnTo>
                  <a:pt x="0" y="10769"/>
                </a:lnTo>
                <a:lnTo>
                  <a:pt x="177457" y="10769"/>
                </a:lnTo>
                <a:lnTo>
                  <a:pt x="177457" y="0"/>
                </a:lnTo>
                <a:close/>
              </a:path>
            </a:pathLst>
          </a:custGeom>
          <a:solidFill>
            <a:srgbClr val="000000"/>
          </a:solidFill>
        </p:spPr>
        <p:txBody>
          <a:bodyPr wrap="square" lIns="0" tIns="0" rIns="0" bIns="0" rtlCol="0"/>
          <a:lstStyle/>
          <a:p>
            <a:endParaRPr/>
          </a:p>
        </p:txBody>
      </p:sp>
      <p:grpSp>
        <p:nvGrpSpPr>
          <p:cNvPr id="11" name="object 11"/>
          <p:cNvGrpSpPr/>
          <p:nvPr/>
        </p:nvGrpSpPr>
        <p:grpSpPr>
          <a:xfrm>
            <a:off x="3082416" y="3540759"/>
            <a:ext cx="267970" cy="1094740"/>
            <a:chOff x="1558416" y="3540759"/>
            <a:chExt cx="267970" cy="1094740"/>
          </a:xfrm>
        </p:grpSpPr>
        <p:sp>
          <p:nvSpPr>
            <p:cNvPr id="12" name="object 12"/>
            <p:cNvSpPr/>
            <p:nvPr/>
          </p:nvSpPr>
          <p:spPr>
            <a:xfrm>
              <a:off x="1558416" y="3540759"/>
              <a:ext cx="62230" cy="266700"/>
            </a:xfrm>
            <a:custGeom>
              <a:avLst/>
              <a:gdLst/>
              <a:ahLst/>
              <a:cxnLst/>
              <a:rect l="l" t="t" r="r" b="b"/>
              <a:pathLst>
                <a:path w="62230" h="266700">
                  <a:moveTo>
                    <a:pt x="61087" y="0"/>
                  </a:moveTo>
                  <a:lnTo>
                    <a:pt x="58928" y="0"/>
                  </a:lnTo>
                  <a:lnTo>
                    <a:pt x="29591" y="29972"/>
                  </a:lnTo>
                  <a:lnTo>
                    <a:pt x="8509" y="74167"/>
                  </a:lnTo>
                  <a:lnTo>
                    <a:pt x="762" y="115569"/>
                  </a:lnTo>
                  <a:lnTo>
                    <a:pt x="0" y="133603"/>
                  </a:lnTo>
                  <a:lnTo>
                    <a:pt x="762" y="151256"/>
                  </a:lnTo>
                  <a:lnTo>
                    <a:pt x="8763" y="194182"/>
                  </a:lnTo>
                  <a:lnTo>
                    <a:pt x="30734" y="238378"/>
                  </a:lnTo>
                  <a:lnTo>
                    <a:pt x="58928" y="266572"/>
                  </a:lnTo>
                  <a:lnTo>
                    <a:pt x="61087" y="266572"/>
                  </a:lnTo>
                  <a:lnTo>
                    <a:pt x="61849" y="265810"/>
                  </a:lnTo>
                  <a:lnTo>
                    <a:pt x="61849" y="263016"/>
                  </a:lnTo>
                  <a:lnTo>
                    <a:pt x="57531" y="257937"/>
                  </a:lnTo>
                  <a:lnTo>
                    <a:pt x="36703" y="230377"/>
                  </a:lnTo>
                  <a:lnTo>
                    <a:pt x="24003" y="198754"/>
                  </a:lnTo>
                  <a:lnTo>
                    <a:pt x="17653" y="165734"/>
                  </a:lnTo>
                  <a:lnTo>
                    <a:pt x="15875" y="133603"/>
                  </a:lnTo>
                  <a:lnTo>
                    <a:pt x="17907" y="98932"/>
                  </a:lnTo>
                  <a:lnTo>
                    <a:pt x="24892" y="65531"/>
                  </a:lnTo>
                  <a:lnTo>
                    <a:pt x="37973" y="34670"/>
                  </a:lnTo>
                  <a:lnTo>
                    <a:pt x="58166" y="7238"/>
                  </a:lnTo>
                  <a:lnTo>
                    <a:pt x="61849" y="4317"/>
                  </a:lnTo>
                  <a:lnTo>
                    <a:pt x="61849" y="762"/>
                  </a:lnTo>
                  <a:lnTo>
                    <a:pt x="61087" y="0"/>
                  </a:lnTo>
                  <a:close/>
                </a:path>
              </a:pathLst>
            </a:custGeom>
            <a:solidFill>
              <a:srgbClr val="000000"/>
            </a:solidFill>
          </p:spPr>
          <p:txBody>
            <a:bodyPr wrap="square" lIns="0" tIns="0" rIns="0" bIns="0" rtlCol="0"/>
            <a:lstStyle/>
            <a:p>
              <a:endParaRPr/>
            </a:p>
          </p:txBody>
        </p:sp>
        <p:pic>
          <p:nvPicPr>
            <p:cNvPr id="13" name="object 13"/>
            <p:cNvPicPr/>
            <p:nvPr/>
          </p:nvPicPr>
          <p:blipFill>
            <a:blip r:embed="rId5" cstate="print"/>
            <a:stretch>
              <a:fillRect/>
            </a:stretch>
          </p:blipFill>
          <p:spPr>
            <a:xfrm>
              <a:off x="1643379" y="3622039"/>
              <a:ext cx="132080" cy="121919"/>
            </a:xfrm>
            <a:prstGeom prst="rect">
              <a:avLst/>
            </a:prstGeom>
          </p:spPr>
        </p:pic>
        <p:sp>
          <p:nvSpPr>
            <p:cNvPr id="14" name="object 14"/>
            <p:cNvSpPr/>
            <p:nvPr/>
          </p:nvSpPr>
          <p:spPr>
            <a:xfrm>
              <a:off x="1666239" y="3843019"/>
              <a:ext cx="160020" cy="792480"/>
            </a:xfrm>
            <a:custGeom>
              <a:avLst/>
              <a:gdLst/>
              <a:ahLst/>
              <a:cxnLst/>
              <a:rect l="l" t="t" r="r" b="b"/>
              <a:pathLst>
                <a:path w="160019" h="792479">
                  <a:moveTo>
                    <a:pt x="82550" y="0"/>
                  </a:moveTo>
                  <a:lnTo>
                    <a:pt x="0" y="158749"/>
                  </a:lnTo>
                  <a:lnTo>
                    <a:pt x="53212" y="159638"/>
                  </a:lnTo>
                  <a:lnTo>
                    <a:pt x="42799" y="791082"/>
                  </a:lnTo>
                  <a:lnTo>
                    <a:pt x="96139" y="791971"/>
                  </a:lnTo>
                  <a:lnTo>
                    <a:pt x="106426" y="160527"/>
                  </a:lnTo>
                  <a:lnTo>
                    <a:pt x="159766" y="161416"/>
                  </a:lnTo>
                  <a:lnTo>
                    <a:pt x="82550" y="0"/>
                  </a:lnTo>
                  <a:close/>
                </a:path>
              </a:pathLst>
            </a:custGeom>
            <a:solidFill>
              <a:srgbClr val="7575D1"/>
            </a:solidFill>
          </p:spPr>
          <p:txBody>
            <a:bodyPr wrap="square" lIns="0" tIns="0" rIns="0" bIns="0" rtlCol="0"/>
            <a:lstStyle/>
            <a:p>
              <a:endParaRPr/>
            </a:p>
          </p:txBody>
        </p:sp>
      </p:grpSp>
      <p:pic>
        <p:nvPicPr>
          <p:cNvPr id="15" name="object 15"/>
          <p:cNvPicPr/>
          <p:nvPr/>
        </p:nvPicPr>
        <p:blipFill>
          <a:blip r:embed="rId6" cstate="print"/>
          <a:stretch>
            <a:fillRect/>
          </a:stretch>
        </p:blipFill>
        <p:spPr>
          <a:xfrm>
            <a:off x="3388361" y="3616959"/>
            <a:ext cx="96519" cy="114300"/>
          </a:xfrm>
          <a:prstGeom prst="rect">
            <a:avLst/>
          </a:prstGeom>
        </p:spPr>
      </p:pic>
      <p:grpSp>
        <p:nvGrpSpPr>
          <p:cNvPr id="16" name="object 16"/>
          <p:cNvGrpSpPr/>
          <p:nvPr/>
        </p:nvGrpSpPr>
        <p:grpSpPr>
          <a:xfrm>
            <a:off x="3571239" y="3540759"/>
            <a:ext cx="698500" cy="751840"/>
            <a:chOff x="2047239" y="3540759"/>
            <a:chExt cx="698500" cy="751840"/>
          </a:xfrm>
        </p:grpSpPr>
        <p:pic>
          <p:nvPicPr>
            <p:cNvPr id="17" name="object 17"/>
            <p:cNvPicPr/>
            <p:nvPr/>
          </p:nvPicPr>
          <p:blipFill>
            <a:blip r:embed="rId7" cstate="print"/>
            <a:stretch>
              <a:fillRect/>
            </a:stretch>
          </p:blipFill>
          <p:spPr>
            <a:xfrm>
              <a:off x="2047239" y="3622039"/>
              <a:ext cx="175260" cy="121919"/>
            </a:xfrm>
            <a:prstGeom prst="rect">
              <a:avLst/>
            </a:prstGeom>
          </p:spPr>
        </p:pic>
        <p:sp>
          <p:nvSpPr>
            <p:cNvPr id="18" name="object 18"/>
            <p:cNvSpPr/>
            <p:nvPr/>
          </p:nvSpPr>
          <p:spPr>
            <a:xfrm>
              <a:off x="2250439" y="3540759"/>
              <a:ext cx="63500" cy="266700"/>
            </a:xfrm>
            <a:custGeom>
              <a:avLst/>
              <a:gdLst/>
              <a:ahLst/>
              <a:cxnLst/>
              <a:rect l="l" t="t" r="r" b="b"/>
              <a:pathLst>
                <a:path w="63500" h="266700">
                  <a:moveTo>
                    <a:pt x="2921" y="0"/>
                  </a:moveTo>
                  <a:lnTo>
                    <a:pt x="1524" y="0"/>
                  </a:lnTo>
                  <a:lnTo>
                    <a:pt x="0" y="1397"/>
                  </a:lnTo>
                  <a:lnTo>
                    <a:pt x="0" y="4317"/>
                  </a:lnTo>
                  <a:lnTo>
                    <a:pt x="5207" y="9270"/>
                  </a:lnTo>
                  <a:lnTo>
                    <a:pt x="23114" y="31750"/>
                  </a:lnTo>
                  <a:lnTo>
                    <a:pt x="36576" y="60198"/>
                  </a:lnTo>
                  <a:lnTo>
                    <a:pt x="45085" y="94233"/>
                  </a:lnTo>
                  <a:lnTo>
                    <a:pt x="48006" y="133603"/>
                  </a:lnTo>
                  <a:lnTo>
                    <a:pt x="45847" y="167766"/>
                  </a:lnTo>
                  <a:lnTo>
                    <a:pt x="38608" y="201040"/>
                  </a:lnTo>
                  <a:lnTo>
                    <a:pt x="25018" y="232156"/>
                  </a:lnTo>
                  <a:lnTo>
                    <a:pt x="3683" y="259333"/>
                  </a:lnTo>
                  <a:lnTo>
                    <a:pt x="0" y="262889"/>
                  </a:lnTo>
                  <a:lnTo>
                    <a:pt x="0" y="265810"/>
                  </a:lnTo>
                  <a:lnTo>
                    <a:pt x="1524" y="266572"/>
                  </a:lnTo>
                  <a:lnTo>
                    <a:pt x="2921" y="266572"/>
                  </a:lnTo>
                  <a:lnTo>
                    <a:pt x="33147" y="237108"/>
                  </a:lnTo>
                  <a:lnTo>
                    <a:pt x="55118" y="192785"/>
                  </a:lnTo>
                  <a:lnTo>
                    <a:pt x="62737" y="151510"/>
                  </a:lnTo>
                  <a:lnTo>
                    <a:pt x="63500" y="133603"/>
                  </a:lnTo>
                  <a:lnTo>
                    <a:pt x="62737" y="116077"/>
                  </a:lnTo>
                  <a:lnTo>
                    <a:pt x="54737" y="73151"/>
                  </a:lnTo>
                  <a:lnTo>
                    <a:pt x="32258" y="28448"/>
                  </a:lnTo>
                  <a:lnTo>
                    <a:pt x="8255" y="3175"/>
                  </a:lnTo>
                  <a:lnTo>
                    <a:pt x="2921" y="0"/>
                  </a:lnTo>
                  <a:close/>
                </a:path>
              </a:pathLst>
            </a:custGeom>
            <a:solidFill>
              <a:srgbClr val="000000"/>
            </a:solidFill>
          </p:spPr>
          <p:txBody>
            <a:bodyPr wrap="square" lIns="0" tIns="0" rIns="0" bIns="0" rtlCol="0"/>
            <a:lstStyle/>
            <a:p>
              <a:endParaRPr/>
            </a:p>
          </p:txBody>
        </p:sp>
        <p:pic>
          <p:nvPicPr>
            <p:cNvPr id="19" name="object 19"/>
            <p:cNvPicPr/>
            <p:nvPr/>
          </p:nvPicPr>
          <p:blipFill>
            <a:blip r:embed="rId8" cstate="print"/>
            <a:stretch>
              <a:fillRect/>
            </a:stretch>
          </p:blipFill>
          <p:spPr>
            <a:xfrm>
              <a:off x="2346959" y="3573779"/>
              <a:ext cx="81280" cy="170179"/>
            </a:xfrm>
            <a:prstGeom prst="rect">
              <a:avLst/>
            </a:prstGeom>
          </p:spPr>
        </p:pic>
        <p:sp>
          <p:nvSpPr>
            <p:cNvPr id="20" name="object 20"/>
            <p:cNvSpPr/>
            <p:nvPr/>
          </p:nvSpPr>
          <p:spPr>
            <a:xfrm>
              <a:off x="2140330" y="3849115"/>
              <a:ext cx="605155" cy="443865"/>
            </a:xfrm>
            <a:custGeom>
              <a:avLst/>
              <a:gdLst/>
              <a:ahLst/>
              <a:cxnLst/>
              <a:rect l="l" t="t" r="r" b="b"/>
              <a:pathLst>
                <a:path w="605155" h="443864">
                  <a:moveTo>
                    <a:pt x="0" y="0"/>
                  </a:moveTo>
                  <a:lnTo>
                    <a:pt x="83693" y="158241"/>
                  </a:lnTo>
                  <a:lnTo>
                    <a:pt x="114681" y="114807"/>
                  </a:lnTo>
                  <a:lnTo>
                    <a:pt x="574039" y="443483"/>
                  </a:lnTo>
                  <a:lnTo>
                    <a:pt x="605027" y="400049"/>
                  </a:lnTo>
                  <a:lnTo>
                    <a:pt x="145542" y="71373"/>
                  </a:lnTo>
                  <a:lnTo>
                    <a:pt x="176530" y="27812"/>
                  </a:lnTo>
                  <a:lnTo>
                    <a:pt x="0" y="0"/>
                  </a:lnTo>
                  <a:close/>
                </a:path>
              </a:pathLst>
            </a:custGeom>
            <a:solidFill>
              <a:srgbClr val="7575D1"/>
            </a:solidFill>
          </p:spPr>
          <p:txBody>
            <a:bodyPr wrap="square" lIns="0" tIns="0" rIns="0" bIns="0" rtlCol="0"/>
            <a:lstStyle/>
            <a:p>
              <a:endParaRPr/>
            </a:p>
          </p:txBody>
        </p:sp>
      </p:grpSp>
      <p:grpSp>
        <p:nvGrpSpPr>
          <p:cNvPr id="21" name="object 21"/>
          <p:cNvGrpSpPr/>
          <p:nvPr/>
        </p:nvGrpSpPr>
        <p:grpSpPr>
          <a:xfrm>
            <a:off x="1813559" y="2854961"/>
            <a:ext cx="387350" cy="267335"/>
            <a:chOff x="289559" y="2854960"/>
            <a:chExt cx="387350" cy="267335"/>
          </a:xfrm>
        </p:grpSpPr>
        <p:pic>
          <p:nvPicPr>
            <p:cNvPr id="22" name="object 22"/>
            <p:cNvPicPr/>
            <p:nvPr/>
          </p:nvPicPr>
          <p:blipFill>
            <a:blip r:embed="rId9" cstate="print"/>
            <a:stretch>
              <a:fillRect/>
            </a:stretch>
          </p:blipFill>
          <p:spPr>
            <a:xfrm>
              <a:off x="289559" y="2938780"/>
              <a:ext cx="96519" cy="119379"/>
            </a:xfrm>
            <a:prstGeom prst="rect">
              <a:avLst/>
            </a:prstGeom>
          </p:spPr>
        </p:pic>
        <p:sp>
          <p:nvSpPr>
            <p:cNvPr id="23" name="object 23"/>
            <p:cNvSpPr/>
            <p:nvPr/>
          </p:nvSpPr>
          <p:spPr>
            <a:xfrm>
              <a:off x="426719" y="2854960"/>
              <a:ext cx="60960" cy="266065"/>
            </a:xfrm>
            <a:custGeom>
              <a:avLst/>
              <a:gdLst/>
              <a:ahLst/>
              <a:cxnLst/>
              <a:rect l="l" t="t" r="r" b="b"/>
              <a:pathLst>
                <a:path w="60959" h="266064">
                  <a:moveTo>
                    <a:pt x="60172" y="0"/>
                  </a:moveTo>
                  <a:lnTo>
                    <a:pt x="58051" y="0"/>
                  </a:lnTo>
                  <a:lnTo>
                    <a:pt x="52819" y="3428"/>
                  </a:lnTo>
                  <a:lnTo>
                    <a:pt x="16281" y="52324"/>
                  </a:lnTo>
                  <a:lnTo>
                    <a:pt x="3365" y="95630"/>
                  </a:lnTo>
                  <a:lnTo>
                    <a:pt x="0" y="133350"/>
                  </a:lnTo>
                  <a:lnTo>
                    <a:pt x="673" y="151002"/>
                  </a:lnTo>
                  <a:lnTo>
                    <a:pt x="8661" y="193801"/>
                  </a:lnTo>
                  <a:lnTo>
                    <a:pt x="30276" y="237998"/>
                  </a:lnTo>
                  <a:lnTo>
                    <a:pt x="58051" y="266064"/>
                  </a:lnTo>
                  <a:lnTo>
                    <a:pt x="60172" y="266064"/>
                  </a:lnTo>
                  <a:lnTo>
                    <a:pt x="60883" y="265429"/>
                  </a:lnTo>
                  <a:lnTo>
                    <a:pt x="60883" y="262509"/>
                  </a:lnTo>
                  <a:lnTo>
                    <a:pt x="36182" y="230250"/>
                  </a:lnTo>
                  <a:lnTo>
                    <a:pt x="17310" y="165353"/>
                  </a:lnTo>
                  <a:lnTo>
                    <a:pt x="17614" y="98805"/>
                  </a:lnTo>
                  <a:lnTo>
                    <a:pt x="37363" y="34543"/>
                  </a:lnTo>
                  <a:lnTo>
                    <a:pt x="60883" y="4317"/>
                  </a:lnTo>
                  <a:lnTo>
                    <a:pt x="60883" y="1397"/>
                  </a:lnTo>
                  <a:lnTo>
                    <a:pt x="60172" y="0"/>
                  </a:lnTo>
                  <a:close/>
                </a:path>
              </a:pathLst>
            </a:custGeom>
            <a:solidFill>
              <a:srgbClr val="000000"/>
            </a:solidFill>
          </p:spPr>
          <p:txBody>
            <a:bodyPr wrap="square" lIns="0" tIns="0" rIns="0" bIns="0" rtlCol="0"/>
            <a:lstStyle/>
            <a:p>
              <a:endParaRPr/>
            </a:p>
          </p:txBody>
        </p:sp>
        <p:pic>
          <p:nvPicPr>
            <p:cNvPr id="24" name="object 24"/>
            <p:cNvPicPr/>
            <p:nvPr/>
          </p:nvPicPr>
          <p:blipFill>
            <a:blip r:embed="rId10" cstate="print"/>
            <a:stretch>
              <a:fillRect/>
            </a:stretch>
          </p:blipFill>
          <p:spPr>
            <a:xfrm>
              <a:off x="510539" y="2887980"/>
              <a:ext cx="81279" cy="170179"/>
            </a:xfrm>
            <a:prstGeom prst="rect">
              <a:avLst/>
            </a:prstGeom>
          </p:spPr>
        </p:pic>
        <p:sp>
          <p:nvSpPr>
            <p:cNvPr id="25" name="object 25"/>
            <p:cNvSpPr/>
            <p:nvPr/>
          </p:nvSpPr>
          <p:spPr>
            <a:xfrm>
              <a:off x="614679" y="2855976"/>
              <a:ext cx="62230" cy="266065"/>
            </a:xfrm>
            <a:custGeom>
              <a:avLst/>
              <a:gdLst/>
              <a:ahLst/>
              <a:cxnLst/>
              <a:rect l="l" t="t" r="r" b="b"/>
              <a:pathLst>
                <a:path w="62229" h="266064">
                  <a:moveTo>
                    <a:pt x="2857" y="0"/>
                  </a:moveTo>
                  <a:lnTo>
                    <a:pt x="1422" y="0"/>
                  </a:lnTo>
                  <a:lnTo>
                    <a:pt x="0" y="1397"/>
                  </a:lnTo>
                  <a:lnTo>
                    <a:pt x="0" y="4190"/>
                  </a:lnTo>
                  <a:lnTo>
                    <a:pt x="5715" y="9271"/>
                  </a:lnTo>
                  <a:lnTo>
                    <a:pt x="22923" y="31623"/>
                  </a:lnTo>
                  <a:lnTo>
                    <a:pt x="35725" y="60071"/>
                  </a:lnTo>
                  <a:lnTo>
                    <a:pt x="43700" y="93979"/>
                  </a:lnTo>
                  <a:lnTo>
                    <a:pt x="46443" y="133350"/>
                  </a:lnTo>
                  <a:lnTo>
                    <a:pt x="44373" y="167386"/>
                  </a:lnTo>
                  <a:lnTo>
                    <a:pt x="37325" y="200660"/>
                  </a:lnTo>
                  <a:lnTo>
                    <a:pt x="24129" y="231648"/>
                  </a:lnTo>
                  <a:lnTo>
                    <a:pt x="3568" y="258825"/>
                  </a:lnTo>
                  <a:lnTo>
                    <a:pt x="0" y="262509"/>
                  </a:lnTo>
                  <a:lnTo>
                    <a:pt x="0" y="265302"/>
                  </a:lnTo>
                  <a:lnTo>
                    <a:pt x="1422" y="266064"/>
                  </a:lnTo>
                  <a:lnTo>
                    <a:pt x="2857" y="266064"/>
                  </a:lnTo>
                  <a:lnTo>
                    <a:pt x="32207" y="236727"/>
                  </a:lnTo>
                  <a:lnTo>
                    <a:pt x="53416" y="192404"/>
                  </a:lnTo>
                  <a:lnTo>
                    <a:pt x="61404" y="151257"/>
                  </a:lnTo>
                  <a:lnTo>
                    <a:pt x="62179" y="133350"/>
                  </a:lnTo>
                  <a:lnTo>
                    <a:pt x="58597" y="95250"/>
                  </a:lnTo>
                  <a:lnTo>
                    <a:pt x="44310" y="50164"/>
                  </a:lnTo>
                  <a:lnTo>
                    <a:pt x="18757" y="12953"/>
                  </a:lnTo>
                  <a:lnTo>
                    <a:pt x="2857" y="0"/>
                  </a:lnTo>
                  <a:close/>
                </a:path>
              </a:pathLst>
            </a:custGeom>
            <a:solidFill>
              <a:srgbClr val="000000"/>
            </a:solidFill>
          </p:spPr>
          <p:txBody>
            <a:bodyPr wrap="square" lIns="0" tIns="0" rIns="0" bIns="0" rtlCol="0"/>
            <a:lstStyle/>
            <a:p>
              <a:endParaRPr/>
            </a:p>
          </p:txBody>
        </p:sp>
      </p:grpSp>
      <p:sp>
        <p:nvSpPr>
          <p:cNvPr id="26" name="object 26"/>
          <p:cNvSpPr/>
          <p:nvPr/>
        </p:nvSpPr>
        <p:spPr>
          <a:xfrm>
            <a:off x="2315908" y="2958452"/>
            <a:ext cx="176530" cy="62230"/>
          </a:xfrm>
          <a:custGeom>
            <a:avLst/>
            <a:gdLst/>
            <a:ahLst/>
            <a:cxnLst/>
            <a:rect l="l" t="t" r="r" b="b"/>
            <a:pathLst>
              <a:path w="176530" h="62230">
                <a:moveTo>
                  <a:pt x="176504" y="51701"/>
                </a:moveTo>
                <a:lnTo>
                  <a:pt x="0" y="51701"/>
                </a:lnTo>
                <a:lnTo>
                  <a:pt x="0" y="61734"/>
                </a:lnTo>
                <a:lnTo>
                  <a:pt x="176504" y="61734"/>
                </a:lnTo>
                <a:lnTo>
                  <a:pt x="176504" y="51701"/>
                </a:lnTo>
                <a:close/>
              </a:path>
              <a:path w="176530" h="62230">
                <a:moveTo>
                  <a:pt x="176504" y="0"/>
                </a:moveTo>
                <a:lnTo>
                  <a:pt x="0" y="0"/>
                </a:lnTo>
                <a:lnTo>
                  <a:pt x="0" y="10045"/>
                </a:lnTo>
                <a:lnTo>
                  <a:pt x="176504" y="10045"/>
                </a:lnTo>
                <a:lnTo>
                  <a:pt x="176504" y="0"/>
                </a:lnTo>
                <a:close/>
              </a:path>
            </a:pathLst>
          </a:custGeom>
          <a:solidFill>
            <a:srgbClr val="000000"/>
          </a:solidFill>
        </p:spPr>
        <p:txBody>
          <a:bodyPr wrap="square" lIns="0" tIns="0" rIns="0" bIns="0" rtlCol="0"/>
          <a:lstStyle/>
          <a:p>
            <a:endParaRPr/>
          </a:p>
        </p:txBody>
      </p:sp>
      <p:sp>
        <p:nvSpPr>
          <p:cNvPr id="27" name="object 27"/>
          <p:cNvSpPr/>
          <p:nvPr/>
        </p:nvSpPr>
        <p:spPr>
          <a:xfrm>
            <a:off x="2596782" y="2692400"/>
            <a:ext cx="235585" cy="591820"/>
          </a:xfrm>
          <a:custGeom>
            <a:avLst/>
            <a:gdLst/>
            <a:ahLst/>
            <a:cxnLst/>
            <a:rect l="l" t="t" r="r" b="b"/>
            <a:pathLst>
              <a:path w="235584" h="591820">
                <a:moveTo>
                  <a:pt x="205854" y="0"/>
                </a:moveTo>
                <a:lnTo>
                  <a:pt x="167449" y="47751"/>
                </a:lnTo>
                <a:lnTo>
                  <a:pt x="145465" y="127000"/>
                </a:lnTo>
                <a:lnTo>
                  <a:pt x="133997" y="174878"/>
                </a:lnTo>
                <a:lnTo>
                  <a:pt x="120141" y="237109"/>
                </a:lnTo>
                <a:lnTo>
                  <a:pt x="105092" y="311150"/>
                </a:lnTo>
                <a:lnTo>
                  <a:pt x="90043" y="394462"/>
                </a:lnTo>
                <a:lnTo>
                  <a:pt x="84962" y="425196"/>
                </a:lnTo>
                <a:lnTo>
                  <a:pt x="79413" y="456438"/>
                </a:lnTo>
                <a:lnTo>
                  <a:pt x="67170" y="516382"/>
                </a:lnTo>
                <a:lnTo>
                  <a:pt x="54038" y="558419"/>
                </a:lnTo>
                <a:lnTo>
                  <a:pt x="28587" y="585977"/>
                </a:lnTo>
                <a:lnTo>
                  <a:pt x="19303" y="585977"/>
                </a:lnTo>
                <a:lnTo>
                  <a:pt x="12865" y="579501"/>
                </a:lnTo>
                <a:lnTo>
                  <a:pt x="12153" y="579501"/>
                </a:lnTo>
                <a:lnTo>
                  <a:pt x="0" y="557276"/>
                </a:lnTo>
                <a:lnTo>
                  <a:pt x="0" y="566547"/>
                </a:lnTo>
                <a:lnTo>
                  <a:pt x="2260" y="576326"/>
                </a:lnTo>
                <a:lnTo>
                  <a:pt x="8483" y="584200"/>
                </a:lnTo>
                <a:lnTo>
                  <a:pt x="17792" y="589661"/>
                </a:lnTo>
                <a:lnTo>
                  <a:pt x="29298" y="591692"/>
                </a:lnTo>
                <a:lnTo>
                  <a:pt x="55079" y="580771"/>
                </a:lnTo>
                <a:lnTo>
                  <a:pt x="89496" y="506349"/>
                </a:lnTo>
                <a:lnTo>
                  <a:pt x="103619" y="451865"/>
                </a:lnTo>
                <a:lnTo>
                  <a:pt x="115290" y="401447"/>
                </a:lnTo>
                <a:lnTo>
                  <a:pt x="126263" y="350774"/>
                </a:lnTo>
                <a:lnTo>
                  <a:pt x="136563" y="299974"/>
                </a:lnTo>
                <a:lnTo>
                  <a:pt x="146151" y="249047"/>
                </a:lnTo>
                <a:lnTo>
                  <a:pt x="162585" y="156337"/>
                </a:lnTo>
                <a:lnTo>
                  <a:pt x="169951" y="117475"/>
                </a:lnTo>
                <a:lnTo>
                  <a:pt x="183705" y="53848"/>
                </a:lnTo>
                <a:lnTo>
                  <a:pt x="199250" y="11937"/>
                </a:lnTo>
                <a:lnTo>
                  <a:pt x="206616" y="6476"/>
                </a:lnTo>
                <a:lnTo>
                  <a:pt x="214363" y="6476"/>
                </a:lnTo>
                <a:lnTo>
                  <a:pt x="221475" y="11429"/>
                </a:lnTo>
                <a:lnTo>
                  <a:pt x="222237" y="12191"/>
                </a:lnTo>
                <a:lnTo>
                  <a:pt x="213728" y="12953"/>
                </a:lnTo>
                <a:lnTo>
                  <a:pt x="209410" y="18669"/>
                </a:lnTo>
                <a:lnTo>
                  <a:pt x="209410" y="34416"/>
                </a:lnTo>
                <a:lnTo>
                  <a:pt x="215760" y="37973"/>
                </a:lnTo>
                <a:lnTo>
                  <a:pt x="227952" y="37973"/>
                </a:lnTo>
                <a:lnTo>
                  <a:pt x="235191" y="34416"/>
                </a:lnTo>
                <a:lnTo>
                  <a:pt x="235191" y="25146"/>
                </a:lnTo>
                <a:lnTo>
                  <a:pt x="232651" y="15112"/>
                </a:lnTo>
                <a:lnTo>
                  <a:pt x="226174" y="7112"/>
                </a:lnTo>
                <a:lnTo>
                  <a:pt x="216776" y="1904"/>
                </a:lnTo>
                <a:lnTo>
                  <a:pt x="205854" y="0"/>
                </a:lnTo>
                <a:close/>
              </a:path>
            </a:pathLst>
          </a:custGeom>
          <a:solidFill>
            <a:srgbClr val="000000"/>
          </a:solidFill>
        </p:spPr>
        <p:txBody>
          <a:bodyPr wrap="square" lIns="0" tIns="0" rIns="0" bIns="0" rtlCol="0"/>
          <a:lstStyle/>
          <a:p>
            <a:endParaRPr/>
          </a:p>
        </p:txBody>
      </p:sp>
      <p:grpSp>
        <p:nvGrpSpPr>
          <p:cNvPr id="28" name="object 28"/>
          <p:cNvGrpSpPr/>
          <p:nvPr/>
        </p:nvGrpSpPr>
        <p:grpSpPr>
          <a:xfrm>
            <a:off x="2900680" y="2854961"/>
            <a:ext cx="881380" cy="266065"/>
            <a:chOff x="1376680" y="2854960"/>
            <a:chExt cx="881380" cy="266065"/>
          </a:xfrm>
        </p:grpSpPr>
        <p:pic>
          <p:nvPicPr>
            <p:cNvPr id="29" name="object 29"/>
            <p:cNvPicPr/>
            <p:nvPr/>
          </p:nvPicPr>
          <p:blipFill>
            <a:blip r:embed="rId11" cstate="print"/>
            <a:stretch>
              <a:fillRect/>
            </a:stretch>
          </p:blipFill>
          <p:spPr>
            <a:xfrm>
              <a:off x="1376680" y="2938780"/>
              <a:ext cx="132080" cy="119379"/>
            </a:xfrm>
            <a:prstGeom prst="rect">
              <a:avLst/>
            </a:prstGeom>
          </p:spPr>
        </p:pic>
        <p:sp>
          <p:nvSpPr>
            <p:cNvPr id="30" name="object 30"/>
            <p:cNvSpPr/>
            <p:nvPr/>
          </p:nvSpPr>
          <p:spPr>
            <a:xfrm>
              <a:off x="1546860" y="2854960"/>
              <a:ext cx="60960" cy="266065"/>
            </a:xfrm>
            <a:custGeom>
              <a:avLst/>
              <a:gdLst/>
              <a:ahLst/>
              <a:cxnLst/>
              <a:rect l="l" t="t" r="r" b="b"/>
              <a:pathLst>
                <a:path w="60959" h="266064">
                  <a:moveTo>
                    <a:pt x="60198" y="0"/>
                  </a:moveTo>
                  <a:lnTo>
                    <a:pt x="58039" y="0"/>
                  </a:lnTo>
                  <a:lnTo>
                    <a:pt x="52831" y="3428"/>
                  </a:lnTo>
                  <a:lnTo>
                    <a:pt x="16383" y="52324"/>
                  </a:lnTo>
                  <a:lnTo>
                    <a:pt x="3428" y="95630"/>
                  </a:lnTo>
                  <a:lnTo>
                    <a:pt x="0" y="133350"/>
                  </a:lnTo>
                  <a:lnTo>
                    <a:pt x="634" y="151002"/>
                  </a:lnTo>
                  <a:lnTo>
                    <a:pt x="8636" y="193801"/>
                  </a:lnTo>
                  <a:lnTo>
                    <a:pt x="30353" y="237998"/>
                  </a:lnTo>
                  <a:lnTo>
                    <a:pt x="58039" y="266064"/>
                  </a:lnTo>
                  <a:lnTo>
                    <a:pt x="60198" y="266064"/>
                  </a:lnTo>
                  <a:lnTo>
                    <a:pt x="60833" y="265429"/>
                  </a:lnTo>
                  <a:lnTo>
                    <a:pt x="60833" y="262509"/>
                  </a:lnTo>
                  <a:lnTo>
                    <a:pt x="36195" y="230250"/>
                  </a:lnTo>
                  <a:lnTo>
                    <a:pt x="17271" y="165353"/>
                  </a:lnTo>
                  <a:lnTo>
                    <a:pt x="17653" y="98805"/>
                  </a:lnTo>
                  <a:lnTo>
                    <a:pt x="37337" y="34543"/>
                  </a:lnTo>
                  <a:lnTo>
                    <a:pt x="60833" y="4317"/>
                  </a:lnTo>
                  <a:lnTo>
                    <a:pt x="60833" y="1397"/>
                  </a:lnTo>
                  <a:lnTo>
                    <a:pt x="60198" y="0"/>
                  </a:lnTo>
                  <a:close/>
                </a:path>
              </a:pathLst>
            </a:custGeom>
            <a:solidFill>
              <a:srgbClr val="000000"/>
            </a:solidFill>
          </p:spPr>
          <p:txBody>
            <a:bodyPr wrap="square" lIns="0" tIns="0" rIns="0" bIns="0" rtlCol="0"/>
            <a:lstStyle/>
            <a:p>
              <a:endParaRPr/>
            </a:p>
          </p:txBody>
        </p:sp>
        <p:pic>
          <p:nvPicPr>
            <p:cNvPr id="31" name="object 31"/>
            <p:cNvPicPr/>
            <p:nvPr/>
          </p:nvPicPr>
          <p:blipFill>
            <a:blip r:embed="rId12" cstate="print"/>
            <a:stretch>
              <a:fillRect/>
            </a:stretch>
          </p:blipFill>
          <p:spPr>
            <a:xfrm>
              <a:off x="1635760" y="2938780"/>
              <a:ext cx="119380" cy="119379"/>
            </a:xfrm>
            <a:prstGeom prst="rect">
              <a:avLst/>
            </a:prstGeom>
          </p:spPr>
        </p:pic>
        <p:sp>
          <p:nvSpPr>
            <p:cNvPr id="32" name="object 32"/>
            <p:cNvSpPr/>
            <p:nvPr/>
          </p:nvSpPr>
          <p:spPr>
            <a:xfrm>
              <a:off x="1780540" y="2854960"/>
              <a:ext cx="60960" cy="266065"/>
            </a:xfrm>
            <a:custGeom>
              <a:avLst/>
              <a:gdLst/>
              <a:ahLst/>
              <a:cxnLst/>
              <a:rect l="l" t="t" r="r" b="b"/>
              <a:pathLst>
                <a:path w="60960" h="266064">
                  <a:moveTo>
                    <a:pt x="2032" y="0"/>
                  </a:moveTo>
                  <a:lnTo>
                    <a:pt x="635" y="0"/>
                  </a:lnTo>
                  <a:lnTo>
                    <a:pt x="0" y="1397"/>
                  </a:lnTo>
                  <a:lnTo>
                    <a:pt x="0" y="4317"/>
                  </a:lnTo>
                  <a:lnTo>
                    <a:pt x="4953" y="9270"/>
                  </a:lnTo>
                  <a:lnTo>
                    <a:pt x="21971" y="31750"/>
                  </a:lnTo>
                  <a:lnTo>
                    <a:pt x="34671" y="60070"/>
                  </a:lnTo>
                  <a:lnTo>
                    <a:pt x="42545" y="94106"/>
                  </a:lnTo>
                  <a:lnTo>
                    <a:pt x="45339" y="133350"/>
                  </a:lnTo>
                  <a:lnTo>
                    <a:pt x="43307" y="167386"/>
                  </a:lnTo>
                  <a:lnTo>
                    <a:pt x="36576" y="200787"/>
                  </a:lnTo>
                  <a:lnTo>
                    <a:pt x="23749" y="231775"/>
                  </a:lnTo>
                  <a:lnTo>
                    <a:pt x="3429" y="258952"/>
                  </a:lnTo>
                  <a:lnTo>
                    <a:pt x="0" y="262509"/>
                  </a:lnTo>
                  <a:lnTo>
                    <a:pt x="0" y="265429"/>
                  </a:lnTo>
                  <a:lnTo>
                    <a:pt x="635" y="266064"/>
                  </a:lnTo>
                  <a:lnTo>
                    <a:pt x="2032" y="266064"/>
                  </a:lnTo>
                  <a:lnTo>
                    <a:pt x="31496" y="236727"/>
                  </a:lnTo>
                  <a:lnTo>
                    <a:pt x="52197" y="192531"/>
                  </a:lnTo>
                  <a:lnTo>
                    <a:pt x="60071" y="151256"/>
                  </a:lnTo>
                  <a:lnTo>
                    <a:pt x="60833" y="133350"/>
                  </a:lnTo>
                  <a:lnTo>
                    <a:pt x="60198" y="115824"/>
                  </a:lnTo>
                  <a:lnTo>
                    <a:pt x="52197" y="73025"/>
                  </a:lnTo>
                  <a:lnTo>
                    <a:pt x="30480" y="28701"/>
                  </a:lnTo>
                  <a:lnTo>
                    <a:pt x="7493" y="3301"/>
                  </a:lnTo>
                  <a:lnTo>
                    <a:pt x="2032" y="0"/>
                  </a:lnTo>
                  <a:close/>
                </a:path>
              </a:pathLst>
            </a:custGeom>
            <a:solidFill>
              <a:srgbClr val="000000"/>
            </a:solidFill>
          </p:spPr>
          <p:txBody>
            <a:bodyPr wrap="square" lIns="0" tIns="0" rIns="0" bIns="0" rtlCol="0"/>
            <a:lstStyle/>
            <a:p>
              <a:endParaRPr/>
            </a:p>
          </p:txBody>
        </p:sp>
        <p:pic>
          <p:nvPicPr>
            <p:cNvPr id="33" name="object 33"/>
            <p:cNvPicPr/>
            <p:nvPr/>
          </p:nvPicPr>
          <p:blipFill>
            <a:blip r:embed="rId13" cstate="print"/>
            <a:stretch>
              <a:fillRect/>
            </a:stretch>
          </p:blipFill>
          <p:spPr>
            <a:xfrm>
              <a:off x="1874520" y="2938780"/>
              <a:ext cx="177800" cy="119379"/>
            </a:xfrm>
            <a:prstGeom prst="rect">
              <a:avLst/>
            </a:prstGeom>
          </p:spPr>
        </p:pic>
        <p:sp>
          <p:nvSpPr>
            <p:cNvPr id="34" name="object 34"/>
            <p:cNvSpPr/>
            <p:nvPr/>
          </p:nvSpPr>
          <p:spPr>
            <a:xfrm>
              <a:off x="2090420" y="2854960"/>
              <a:ext cx="63500" cy="266065"/>
            </a:xfrm>
            <a:custGeom>
              <a:avLst/>
              <a:gdLst/>
              <a:ahLst/>
              <a:cxnLst/>
              <a:rect l="l" t="t" r="r" b="b"/>
              <a:pathLst>
                <a:path w="63500" h="266064">
                  <a:moveTo>
                    <a:pt x="62611" y="0"/>
                  </a:moveTo>
                  <a:lnTo>
                    <a:pt x="61087" y="0"/>
                  </a:lnTo>
                  <a:lnTo>
                    <a:pt x="55372" y="3428"/>
                  </a:lnTo>
                  <a:lnTo>
                    <a:pt x="17653" y="52324"/>
                  </a:lnTo>
                  <a:lnTo>
                    <a:pt x="3556" y="95630"/>
                  </a:lnTo>
                  <a:lnTo>
                    <a:pt x="0" y="133350"/>
                  </a:lnTo>
                  <a:lnTo>
                    <a:pt x="762" y="151002"/>
                  </a:lnTo>
                  <a:lnTo>
                    <a:pt x="9017" y="193801"/>
                  </a:lnTo>
                  <a:lnTo>
                    <a:pt x="31496" y="237998"/>
                  </a:lnTo>
                  <a:lnTo>
                    <a:pt x="61087" y="266064"/>
                  </a:lnTo>
                  <a:lnTo>
                    <a:pt x="62611" y="266064"/>
                  </a:lnTo>
                  <a:lnTo>
                    <a:pt x="63373" y="265429"/>
                  </a:lnTo>
                  <a:lnTo>
                    <a:pt x="63373" y="262509"/>
                  </a:lnTo>
                  <a:lnTo>
                    <a:pt x="37973" y="230250"/>
                  </a:lnTo>
                  <a:lnTo>
                    <a:pt x="18161" y="165353"/>
                  </a:lnTo>
                  <a:lnTo>
                    <a:pt x="18415" y="98805"/>
                  </a:lnTo>
                  <a:lnTo>
                    <a:pt x="39243" y="34543"/>
                  </a:lnTo>
                  <a:lnTo>
                    <a:pt x="63373" y="4317"/>
                  </a:lnTo>
                  <a:lnTo>
                    <a:pt x="63373" y="1397"/>
                  </a:lnTo>
                  <a:lnTo>
                    <a:pt x="62611" y="0"/>
                  </a:lnTo>
                  <a:close/>
                </a:path>
              </a:pathLst>
            </a:custGeom>
            <a:solidFill>
              <a:srgbClr val="000000"/>
            </a:solidFill>
          </p:spPr>
          <p:txBody>
            <a:bodyPr wrap="square" lIns="0" tIns="0" rIns="0" bIns="0" rtlCol="0"/>
            <a:lstStyle/>
            <a:p>
              <a:endParaRPr/>
            </a:p>
          </p:txBody>
        </p:sp>
        <p:pic>
          <p:nvPicPr>
            <p:cNvPr id="35" name="object 35"/>
            <p:cNvPicPr/>
            <p:nvPr/>
          </p:nvPicPr>
          <p:blipFill>
            <a:blip r:embed="rId14" cstate="print"/>
            <a:stretch>
              <a:fillRect/>
            </a:stretch>
          </p:blipFill>
          <p:spPr>
            <a:xfrm>
              <a:off x="2174240" y="2887980"/>
              <a:ext cx="83819" cy="170179"/>
            </a:xfrm>
            <a:prstGeom prst="rect">
              <a:avLst/>
            </a:prstGeom>
          </p:spPr>
        </p:pic>
      </p:grpSp>
      <p:sp>
        <p:nvSpPr>
          <p:cNvPr id="36" name="object 36"/>
          <p:cNvSpPr/>
          <p:nvPr/>
        </p:nvSpPr>
        <p:spPr>
          <a:xfrm>
            <a:off x="3870960" y="2984500"/>
            <a:ext cx="162560" cy="10160"/>
          </a:xfrm>
          <a:custGeom>
            <a:avLst/>
            <a:gdLst/>
            <a:ahLst/>
            <a:cxnLst/>
            <a:rect l="l" t="t" r="r" b="b"/>
            <a:pathLst>
              <a:path w="162560" h="10160">
                <a:moveTo>
                  <a:pt x="162432" y="0"/>
                </a:moveTo>
                <a:lnTo>
                  <a:pt x="0" y="0"/>
                </a:lnTo>
                <a:lnTo>
                  <a:pt x="0" y="10033"/>
                </a:lnTo>
                <a:lnTo>
                  <a:pt x="162432" y="10033"/>
                </a:lnTo>
                <a:lnTo>
                  <a:pt x="162432" y="0"/>
                </a:lnTo>
                <a:close/>
              </a:path>
            </a:pathLst>
          </a:custGeom>
          <a:solidFill>
            <a:srgbClr val="000000"/>
          </a:solidFill>
        </p:spPr>
        <p:txBody>
          <a:bodyPr wrap="square" lIns="0" tIns="0" rIns="0" bIns="0" rtlCol="0"/>
          <a:lstStyle/>
          <a:p>
            <a:endParaRPr/>
          </a:p>
        </p:txBody>
      </p:sp>
      <p:grpSp>
        <p:nvGrpSpPr>
          <p:cNvPr id="37" name="object 37"/>
          <p:cNvGrpSpPr/>
          <p:nvPr/>
        </p:nvGrpSpPr>
        <p:grpSpPr>
          <a:xfrm>
            <a:off x="4124961" y="2854961"/>
            <a:ext cx="505459" cy="266065"/>
            <a:chOff x="2600960" y="2854960"/>
            <a:chExt cx="505459" cy="266065"/>
          </a:xfrm>
        </p:grpSpPr>
        <p:pic>
          <p:nvPicPr>
            <p:cNvPr id="38" name="object 38"/>
            <p:cNvPicPr/>
            <p:nvPr/>
          </p:nvPicPr>
          <p:blipFill>
            <a:blip r:embed="rId15" cstate="print"/>
            <a:stretch>
              <a:fillRect/>
            </a:stretch>
          </p:blipFill>
          <p:spPr>
            <a:xfrm>
              <a:off x="2600960" y="2938780"/>
              <a:ext cx="121919" cy="119379"/>
            </a:xfrm>
            <a:prstGeom prst="rect">
              <a:avLst/>
            </a:prstGeom>
          </p:spPr>
        </p:pic>
        <p:sp>
          <p:nvSpPr>
            <p:cNvPr id="39" name="object 39"/>
            <p:cNvSpPr/>
            <p:nvPr/>
          </p:nvSpPr>
          <p:spPr>
            <a:xfrm>
              <a:off x="2745740" y="2854960"/>
              <a:ext cx="60960" cy="266065"/>
            </a:xfrm>
            <a:custGeom>
              <a:avLst/>
              <a:gdLst/>
              <a:ahLst/>
              <a:cxnLst/>
              <a:rect l="l" t="t" r="r" b="b"/>
              <a:pathLst>
                <a:path w="60960" h="266064">
                  <a:moveTo>
                    <a:pt x="2793" y="0"/>
                  </a:moveTo>
                  <a:lnTo>
                    <a:pt x="762" y="0"/>
                  </a:lnTo>
                  <a:lnTo>
                    <a:pt x="0" y="1397"/>
                  </a:lnTo>
                  <a:lnTo>
                    <a:pt x="0" y="4317"/>
                  </a:lnTo>
                  <a:lnTo>
                    <a:pt x="4953" y="9270"/>
                  </a:lnTo>
                  <a:lnTo>
                    <a:pt x="22098" y="31750"/>
                  </a:lnTo>
                  <a:lnTo>
                    <a:pt x="34671" y="60070"/>
                  </a:lnTo>
                  <a:lnTo>
                    <a:pt x="42545" y="94106"/>
                  </a:lnTo>
                  <a:lnTo>
                    <a:pt x="45339" y="133350"/>
                  </a:lnTo>
                  <a:lnTo>
                    <a:pt x="43307" y="167386"/>
                  </a:lnTo>
                  <a:lnTo>
                    <a:pt x="36703" y="200787"/>
                  </a:lnTo>
                  <a:lnTo>
                    <a:pt x="23876" y="231775"/>
                  </a:lnTo>
                  <a:lnTo>
                    <a:pt x="3556" y="258952"/>
                  </a:lnTo>
                  <a:lnTo>
                    <a:pt x="0" y="262509"/>
                  </a:lnTo>
                  <a:lnTo>
                    <a:pt x="0" y="265429"/>
                  </a:lnTo>
                  <a:lnTo>
                    <a:pt x="762" y="266064"/>
                  </a:lnTo>
                  <a:lnTo>
                    <a:pt x="2793" y="266064"/>
                  </a:lnTo>
                  <a:lnTo>
                    <a:pt x="31877" y="236727"/>
                  </a:lnTo>
                  <a:lnTo>
                    <a:pt x="52578" y="192531"/>
                  </a:lnTo>
                  <a:lnTo>
                    <a:pt x="60198" y="151256"/>
                  </a:lnTo>
                  <a:lnTo>
                    <a:pt x="60960" y="133350"/>
                  </a:lnTo>
                  <a:lnTo>
                    <a:pt x="60325" y="115824"/>
                  </a:lnTo>
                  <a:lnTo>
                    <a:pt x="52324" y="73025"/>
                  </a:lnTo>
                  <a:lnTo>
                    <a:pt x="30607" y="28701"/>
                  </a:lnTo>
                  <a:lnTo>
                    <a:pt x="7874" y="3301"/>
                  </a:lnTo>
                  <a:lnTo>
                    <a:pt x="2793" y="0"/>
                  </a:lnTo>
                  <a:close/>
                </a:path>
              </a:pathLst>
            </a:custGeom>
            <a:solidFill>
              <a:srgbClr val="000000"/>
            </a:solidFill>
          </p:spPr>
          <p:txBody>
            <a:bodyPr wrap="square" lIns="0" tIns="0" rIns="0" bIns="0" rtlCol="0"/>
            <a:lstStyle/>
            <a:p>
              <a:endParaRPr/>
            </a:p>
          </p:txBody>
        </p:sp>
        <p:pic>
          <p:nvPicPr>
            <p:cNvPr id="40" name="object 40"/>
            <p:cNvPicPr/>
            <p:nvPr/>
          </p:nvPicPr>
          <p:blipFill>
            <a:blip r:embed="rId16" cstate="print"/>
            <a:stretch>
              <a:fillRect/>
            </a:stretch>
          </p:blipFill>
          <p:spPr>
            <a:xfrm>
              <a:off x="2844800" y="2870200"/>
              <a:ext cx="261619" cy="187960"/>
            </a:xfrm>
            <a:prstGeom prst="rect">
              <a:avLst/>
            </a:prstGeom>
          </p:spPr>
        </p:pic>
      </p:grpSp>
      <p:sp>
        <p:nvSpPr>
          <p:cNvPr id="41" name="object 41"/>
          <p:cNvSpPr txBox="1"/>
          <p:nvPr/>
        </p:nvSpPr>
        <p:spPr>
          <a:xfrm>
            <a:off x="1582738" y="4051681"/>
            <a:ext cx="2921635" cy="1204595"/>
          </a:xfrm>
          <a:prstGeom prst="rect">
            <a:avLst/>
          </a:prstGeom>
        </p:spPr>
        <p:txBody>
          <a:bodyPr vert="horz" wrap="square" lIns="0" tIns="114300" rIns="0" bIns="0" rtlCol="0">
            <a:spAutoFit/>
          </a:bodyPr>
          <a:lstStyle/>
          <a:p>
            <a:pPr marL="12700">
              <a:spcBef>
                <a:spcPts val="900"/>
              </a:spcBef>
            </a:pPr>
            <a:r>
              <a:rPr dirty="0">
                <a:solidFill>
                  <a:srgbClr val="FF0000"/>
                </a:solidFill>
                <a:latin typeface="Arial"/>
                <a:cs typeface="Arial"/>
              </a:rPr>
              <a:t>Feature</a:t>
            </a:r>
            <a:r>
              <a:rPr spc="-95" dirty="0">
                <a:solidFill>
                  <a:srgbClr val="FF0000"/>
                </a:solidFill>
                <a:latin typeface="Arial"/>
                <a:cs typeface="Arial"/>
              </a:rPr>
              <a:t> </a:t>
            </a:r>
            <a:r>
              <a:rPr spc="-10" dirty="0">
                <a:solidFill>
                  <a:srgbClr val="FF0000"/>
                </a:solidFill>
                <a:latin typeface="Arial"/>
                <a:cs typeface="Arial"/>
              </a:rPr>
              <a:t>space</a:t>
            </a:r>
            <a:endParaRPr>
              <a:latin typeface="Arial"/>
              <a:cs typeface="Arial"/>
            </a:endParaRPr>
          </a:p>
          <a:p>
            <a:pPr marL="2253615">
              <a:spcBef>
                <a:spcPts val="800"/>
              </a:spcBef>
            </a:pPr>
            <a:r>
              <a:rPr spc="-10" dirty="0">
                <a:solidFill>
                  <a:srgbClr val="FF0000"/>
                </a:solidFill>
                <a:latin typeface="Arial"/>
                <a:cs typeface="Arial"/>
              </a:rPr>
              <a:t>Kernel</a:t>
            </a:r>
            <a:endParaRPr>
              <a:latin typeface="Arial"/>
              <a:cs typeface="Arial"/>
            </a:endParaRPr>
          </a:p>
          <a:p>
            <a:pPr marL="55880" algn="ctr">
              <a:spcBef>
                <a:spcPts val="1200"/>
              </a:spcBef>
            </a:pPr>
            <a:r>
              <a:rPr spc="-10" dirty="0">
                <a:solidFill>
                  <a:srgbClr val="FF0000"/>
                </a:solidFill>
                <a:latin typeface="Arial"/>
                <a:cs typeface="Arial"/>
              </a:rPr>
              <a:t>Input</a:t>
            </a:r>
            <a:endParaRPr>
              <a:latin typeface="Arial"/>
              <a:cs typeface="Arial"/>
            </a:endParaRPr>
          </a:p>
        </p:txBody>
      </p:sp>
      <p:sp>
        <p:nvSpPr>
          <p:cNvPr id="42" name="object 42"/>
          <p:cNvSpPr txBox="1"/>
          <p:nvPr/>
        </p:nvSpPr>
        <p:spPr>
          <a:xfrm>
            <a:off x="1836421" y="1929765"/>
            <a:ext cx="7215505" cy="299720"/>
          </a:xfrm>
          <a:prstGeom prst="rect">
            <a:avLst/>
          </a:prstGeom>
        </p:spPr>
        <p:txBody>
          <a:bodyPr vert="horz" wrap="square" lIns="0" tIns="12700" rIns="0" bIns="0" rtlCol="0">
            <a:spAutoFit/>
          </a:bodyPr>
          <a:lstStyle/>
          <a:p>
            <a:pPr marL="12700">
              <a:spcBef>
                <a:spcPts val="100"/>
              </a:spcBef>
            </a:pPr>
            <a:r>
              <a:rPr dirty="0">
                <a:solidFill>
                  <a:srgbClr val="FF0000"/>
                </a:solidFill>
                <a:latin typeface="Arial"/>
                <a:cs typeface="Arial"/>
              </a:rPr>
              <a:t>Convolution</a:t>
            </a:r>
            <a:r>
              <a:rPr spc="-65" dirty="0">
                <a:solidFill>
                  <a:srgbClr val="FF0000"/>
                </a:solidFill>
                <a:latin typeface="Arial"/>
                <a:cs typeface="Arial"/>
              </a:rPr>
              <a:t> </a:t>
            </a:r>
            <a:r>
              <a:rPr dirty="0">
                <a:latin typeface="Arial"/>
                <a:cs typeface="Arial"/>
              </a:rPr>
              <a:t>is</a:t>
            </a:r>
            <a:r>
              <a:rPr spc="-20" dirty="0">
                <a:latin typeface="Arial"/>
                <a:cs typeface="Arial"/>
              </a:rPr>
              <a:t> </a:t>
            </a:r>
            <a:r>
              <a:rPr dirty="0">
                <a:latin typeface="Arial"/>
                <a:cs typeface="Arial"/>
              </a:rPr>
              <a:t>an</a:t>
            </a:r>
            <a:r>
              <a:rPr spc="-40" dirty="0">
                <a:latin typeface="Arial"/>
                <a:cs typeface="Arial"/>
              </a:rPr>
              <a:t> </a:t>
            </a:r>
            <a:r>
              <a:rPr dirty="0">
                <a:latin typeface="Arial"/>
                <a:cs typeface="Arial"/>
              </a:rPr>
              <a:t>operation</a:t>
            </a:r>
            <a:r>
              <a:rPr spc="-65" dirty="0">
                <a:latin typeface="Arial"/>
                <a:cs typeface="Arial"/>
              </a:rPr>
              <a:t> </a:t>
            </a:r>
            <a:r>
              <a:rPr dirty="0">
                <a:latin typeface="Arial"/>
                <a:cs typeface="Arial"/>
              </a:rPr>
              <a:t>on</a:t>
            </a:r>
            <a:r>
              <a:rPr spc="-25" dirty="0">
                <a:latin typeface="Arial"/>
                <a:cs typeface="Arial"/>
              </a:rPr>
              <a:t> </a:t>
            </a:r>
            <a:r>
              <a:rPr dirty="0">
                <a:latin typeface="Arial"/>
                <a:cs typeface="Arial"/>
              </a:rPr>
              <a:t>two</a:t>
            </a:r>
            <a:r>
              <a:rPr spc="35" dirty="0">
                <a:latin typeface="Arial"/>
                <a:cs typeface="Arial"/>
              </a:rPr>
              <a:t> </a:t>
            </a:r>
            <a:r>
              <a:rPr dirty="0">
                <a:latin typeface="Arial"/>
                <a:cs typeface="Arial"/>
              </a:rPr>
              <a:t>functions</a:t>
            </a:r>
            <a:r>
              <a:rPr spc="-95" dirty="0">
                <a:latin typeface="Arial"/>
                <a:cs typeface="Arial"/>
              </a:rPr>
              <a:t> </a:t>
            </a:r>
            <a:r>
              <a:rPr dirty="0">
                <a:latin typeface="Arial"/>
                <a:cs typeface="Arial"/>
              </a:rPr>
              <a:t>of</a:t>
            </a:r>
            <a:r>
              <a:rPr spc="-25" dirty="0">
                <a:latin typeface="Arial"/>
                <a:cs typeface="Arial"/>
              </a:rPr>
              <a:t> </a:t>
            </a:r>
            <a:r>
              <a:rPr dirty="0">
                <a:latin typeface="Arial"/>
                <a:cs typeface="Arial"/>
              </a:rPr>
              <a:t>a</a:t>
            </a:r>
            <a:r>
              <a:rPr spc="-25" dirty="0">
                <a:latin typeface="Arial"/>
                <a:cs typeface="Arial"/>
              </a:rPr>
              <a:t> </a:t>
            </a:r>
            <a:r>
              <a:rPr spc="-10" dirty="0">
                <a:latin typeface="Arial"/>
                <a:cs typeface="Arial"/>
              </a:rPr>
              <a:t>real-</a:t>
            </a:r>
            <a:r>
              <a:rPr dirty="0">
                <a:latin typeface="Arial"/>
                <a:cs typeface="Arial"/>
              </a:rPr>
              <a:t>valued</a:t>
            </a:r>
            <a:r>
              <a:rPr spc="-60" dirty="0">
                <a:latin typeface="Arial"/>
                <a:cs typeface="Arial"/>
              </a:rPr>
              <a:t> </a:t>
            </a:r>
            <a:r>
              <a:rPr spc="-10" dirty="0">
                <a:latin typeface="Arial"/>
                <a:cs typeface="Arial"/>
              </a:rPr>
              <a:t>argument.</a:t>
            </a:r>
            <a:endParaRPr>
              <a:latin typeface="Arial"/>
              <a:cs typeface="Arial"/>
            </a:endParaRPr>
          </a:p>
        </p:txBody>
      </p:sp>
      <p:pic>
        <p:nvPicPr>
          <p:cNvPr id="43" name="object 43"/>
          <p:cNvPicPr/>
          <p:nvPr/>
        </p:nvPicPr>
        <p:blipFill>
          <a:blip r:embed="rId17" cstate="print"/>
          <a:stretch>
            <a:fillRect/>
          </a:stretch>
        </p:blipFill>
        <p:spPr>
          <a:xfrm>
            <a:off x="5591174" y="2395220"/>
            <a:ext cx="2938153" cy="1708784"/>
          </a:xfrm>
          <a:prstGeom prst="rect">
            <a:avLst/>
          </a:prstGeom>
        </p:spPr>
      </p:pic>
      <p:pic>
        <p:nvPicPr>
          <p:cNvPr id="44" name="object 44"/>
          <p:cNvPicPr/>
          <p:nvPr/>
        </p:nvPicPr>
        <p:blipFill>
          <a:blip r:embed="rId18" cstate="print"/>
          <a:stretch>
            <a:fillRect/>
          </a:stretch>
        </p:blipFill>
        <p:spPr>
          <a:xfrm>
            <a:off x="5041901" y="4688840"/>
            <a:ext cx="5015631" cy="1511300"/>
          </a:xfrm>
          <a:prstGeom prst="rect">
            <a:avLst/>
          </a:prstGeom>
        </p:spPr>
      </p:pic>
      <p:sp>
        <p:nvSpPr>
          <p:cNvPr id="45" name="object 45"/>
          <p:cNvSpPr txBox="1"/>
          <p:nvPr/>
        </p:nvSpPr>
        <p:spPr>
          <a:xfrm>
            <a:off x="9691752" y="6480809"/>
            <a:ext cx="876935" cy="197490"/>
          </a:xfrm>
          <a:prstGeom prst="rect">
            <a:avLst/>
          </a:prstGeom>
        </p:spPr>
        <p:txBody>
          <a:bodyPr vert="horz" wrap="square" lIns="0" tIns="12700" rIns="0" bIns="0" rtlCol="0">
            <a:spAutoFit/>
          </a:bodyPr>
          <a:lstStyle/>
          <a:p>
            <a:pPr marL="12700">
              <a:spcBef>
                <a:spcPts val="100"/>
              </a:spcBef>
            </a:pPr>
            <a:r>
              <a:rPr sz="1200" spc="-10" dirty="0">
                <a:latin typeface="Arial"/>
                <a:cs typeface="Arial"/>
              </a:rPr>
              <a:t>Raviv</a:t>
            </a:r>
            <a:r>
              <a:rPr sz="1200" spc="-40" dirty="0">
                <a:latin typeface="Arial"/>
                <a:cs typeface="Arial"/>
              </a:rPr>
              <a:t> </a:t>
            </a:r>
            <a:r>
              <a:rPr sz="1200" spc="-10" dirty="0">
                <a:latin typeface="Arial"/>
                <a:cs typeface="Arial"/>
              </a:rPr>
              <a:t>(2016)</a:t>
            </a:r>
            <a:endParaRPr sz="1200">
              <a:latin typeface="Arial"/>
              <a:cs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362200" y="139768"/>
            <a:ext cx="10515600" cy="1184683"/>
          </a:xfrm>
          <a:prstGeom prst="rect">
            <a:avLst/>
          </a:prstGeom>
        </p:spPr>
        <p:txBody>
          <a:bodyPr vert="horz" wrap="square" lIns="0" tIns="502666" rIns="0" bIns="0" rtlCol="0" anchor="ctr">
            <a:spAutoFit/>
          </a:bodyPr>
          <a:lstStyle/>
          <a:p>
            <a:pPr marL="83820">
              <a:lnSpc>
                <a:spcPct val="100000"/>
              </a:lnSpc>
              <a:spcBef>
                <a:spcPts val="100"/>
              </a:spcBef>
            </a:pPr>
            <a:r>
              <a:rPr dirty="0"/>
              <a:t>Matrix</a:t>
            </a:r>
            <a:r>
              <a:rPr spc="-180" dirty="0"/>
              <a:t> </a:t>
            </a:r>
            <a:r>
              <a:rPr spc="-10" dirty="0"/>
              <a:t>Convolution</a:t>
            </a:r>
          </a:p>
        </p:txBody>
      </p:sp>
      <p:grpSp>
        <p:nvGrpSpPr>
          <p:cNvPr id="3" name="object 3"/>
          <p:cNvGrpSpPr/>
          <p:nvPr/>
        </p:nvGrpSpPr>
        <p:grpSpPr>
          <a:xfrm>
            <a:off x="1633220" y="1440180"/>
            <a:ext cx="7340600" cy="5199380"/>
            <a:chOff x="109220" y="1440180"/>
            <a:chExt cx="7340600" cy="5199380"/>
          </a:xfrm>
        </p:grpSpPr>
        <p:pic>
          <p:nvPicPr>
            <p:cNvPr id="4" name="object 4"/>
            <p:cNvPicPr/>
            <p:nvPr/>
          </p:nvPicPr>
          <p:blipFill>
            <a:blip r:embed="rId2" cstate="print"/>
            <a:stretch>
              <a:fillRect/>
            </a:stretch>
          </p:blipFill>
          <p:spPr>
            <a:xfrm>
              <a:off x="109220" y="3774440"/>
              <a:ext cx="7322820" cy="2865120"/>
            </a:xfrm>
            <a:prstGeom prst="rect">
              <a:avLst/>
            </a:prstGeom>
          </p:spPr>
        </p:pic>
        <p:pic>
          <p:nvPicPr>
            <p:cNvPr id="5" name="object 5"/>
            <p:cNvPicPr/>
            <p:nvPr/>
          </p:nvPicPr>
          <p:blipFill>
            <a:blip r:embed="rId3" cstate="print"/>
            <a:stretch>
              <a:fillRect/>
            </a:stretch>
          </p:blipFill>
          <p:spPr>
            <a:xfrm>
              <a:off x="109220" y="1440180"/>
              <a:ext cx="7340600" cy="2334260"/>
            </a:xfrm>
            <a:prstGeom prst="rect">
              <a:avLst/>
            </a:prstGeom>
          </p:spPr>
        </p:pic>
      </p:grpSp>
      <p:sp>
        <p:nvSpPr>
          <p:cNvPr id="6" name="object 6"/>
          <p:cNvSpPr txBox="1"/>
          <p:nvPr/>
        </p:nvSpPr>
        <p:spPr>
          <a:xfrm>
            <a:off x="8842375" y="5202555"/>
            <a:ext cx="398780" cy="752475"/>
          </a:xfrm>
          <a:prstGeom prst="rect">
            <a:avLst/>
          </a:prstGeom>
        </p:spPr>
        <p:txBody>
          <a:bodyPr vert="horz" wrap="square" lIns="0" tIns="12700" rIns="0" bIns="0" rtlCol="0">
            <a:spAutoFit/>
          </a:bodyPr>
          <a:lstStyle/>
          <a:p>
            <a:pPr marL="67945">
              <a:lnSpc>
                <a:spcPts val="1910"/>
              </a:lnSpc>
              <a:spcBef>
                <a:spcPts val="100"/>
              </a:spcBef>
            </a:pPr>
            <a:r>
              <a:rPr sz="1600" spc="-25" dirty="0">
                <a:latin typeface="Cambria Math"/>
                <a:cs typeface="Cambria Math"/>
              </a:rPr>
              <a:t>𝑐11</a:t>
            </a:r>
            <a:endParaRPr sz="1600">
              <a:latin typeface="Cambria Math"/>
              <a:cs typeface="Cambria Math"/>
            </a:endParaRPr>
          </a:p>
          <a:p>
            <a:pPr marL="12700">
              <a:lnSpc>
                <a:spcPts val="1900"/>
              </a:lnSpc>
            </a:pPr>
            <a:r>
              <a:rPr sz="2400" spc="-30" baseline="1736" dirty="0">
                <a:latin typeface="Arial"/>
                <a:cs typeface="Arial"/>
              </a:rPr>
              <a:t>[</a:t>
            </a:r>
            <a:r>
              <a:rPr sz="1600" spc="-20" dirty="0">
                <a:latin typeface="Cambria Math"/>
                <a:cs typeface="Cambria Math"/>
              </a:rPr>
              <a:t>𝑐21</a:t>
            </a:r>
            <a:endParaRPr sz="1600">
              <a:latin typeface="Cambria Math"/>
              <a:cs typeface="Cambria Math"/>
            </a:endParaRPr>
          </a:p>
          <a:p>
            <a:pPr marL="67945">
              <a:lnSpc>
                <a:spcPts val="1910"/>
              </a:lnSpc>
            </a:pPr>
            <a:r>
              <a:rPr sz="1600" spc="-25" dirty="0">
                <a:latin typeface="Cambria Math"/>
                <a:cs typeface="Cambria Math"/>
              </a:rPr>
              <a:t>𝑐31</a:t>
            </a:r>
            <a:endParaRPr sz="1600">
              <a:latin typeface="Cambria Math"/>
              <a:cs typeface="Cambria Math"/>
            </a:endParaRPr>
          </a:p>
        </p:txBody>
      </p:sp>
      <p:sp>
        <p:nvSpPr>
          <p:cNvPr id="7" name="object 7"/>
          <p:cNvSpPr txBox="1"/>
          <p:nvPr/>
        </p:nvSpPr>
        <p:spPr>
          <a:xfrm>
            <a:off x="9419843" y="5202555"/>
            <a:ext cx="1172210" cy="752475"/>
          </a:xfrm>
          <a:prstGeom prst="rect">
            <a:avLst/>
          </a:prstGeom>
        </p:spPr>
        <p:txBody>
          <a:bodyPr vert="horz" wrap="square" lIns="0" tIns="12700" rIns="0" bIns="0" rtlCol="0">
            <a:spAutoFit/>
          </a:bodyPr>
          <a:lstStyle/>
          <a:p>
            <a:pPr marL="12700">
              <a:lnSpc>
                <a:spcPts val="1910"/>
              </a:lnSpc>
              <a:spcBef>
                <a:spcPts val="100"/>
              </a:spcBef>
              <a:tabLst>
                <a:tab pos="464820" algn="l"/>
                <a:tab pos="1005840" algn="l"/>
              </a:tabLst>
            </a:pPr>
            <a:r>
              <a:rPr sz="1600" spc="-25" dirty="0">
                <a:latin typeface="Cambria Math"/>
                <a:cs typeface="Cambria Math"/>
              </a:rPr>
              <a:t>𝑐12</a:t>
            </a:r>
            <a:r>
              <a:rPr sz="1600" dirty="0">
                <a:latin typeface="Cambria Math"/>
                <a:cs typeface="Cambria Math"/>
              </a:rPr>
              <a:t>	</a:t>
            </a:r>
            <a:r>
              <a:rPr sz="1600" spc="-25" dirty="0">
                <a:latin typeface="Cambria Math"/>
                <a:cs typeface="Cambria Math"/>
              </a:rPr>
              <a:t>𝑐13</a:t>
            </a:r>
            <a:r>
              <a:rPr sz="1600" dirty="0">
                <a:latin typeface="Cambria Math"/>
                <a:cs typeface="Cambria Math"/>
              </a:rPr>
              <a:t>	</a:t>
            </a:r>
            <a:r>
              <a:rPr sz="1600" spc="-60" dirty="0">
                <a:latin typeface="Cambria Math"/>
                <a:cs typeface="Cambria Math"/>
              </a:rPr>
              <a:t>…</a:t>
            </a:r>
            <a:endParaRPr sz="1600">
              <a:latin typeface="Cambria Math"/>
              <a:cs typeface="Cambria Math"/>
            </a:endParaRPr>
          </a:p>
          <a:p>
            <a:pPr marL="12700">
              <a:lnSpc>
                <a:spcPts val="1900"/>
              </a:lnSpc>
            </a:pPr>
            <a:r>
              <a:rPr sz="1600" dirty="0">
                <a:latin typeface="Cambria Math"/>
                <a:cs typeface="Cambria Math"/>
              </a:rPr>
              <a:t>𝑐22</a:t>
            </a:r>
            <a:r>
              <a:rPr sz="1600" spc="105" dirty="0">
                <a:latin typeface="Cambria Math"/>
                <a:cs typeface="Cambria Math"/>
              </a:rPr>
              <a:t> </a:t>
            </a:r>
            <a:r>
              <a:rPr sz="1600" spc="-25" dirty="0">
                <a:latin typeface="Cambria Math"/>
                <a:cs typeface="Cambria Math"/>
              </a:rPr>
              <a:t>𝑐23</a:t>
            </a:r>
            <a:endParaRPr sz="1600">
              <a:latin typeface="Cambria Math"/>
              <a:cs typeface="Cambria Math"/>
            </a:endParaRPr>
          </a:p>
          <a:p>
            <a:pPr marL="12700">
              <a:lnSpc>
                <a:spcPts val="1910"/>
              </a:lnSpc>
              <a:tabLst>
                <a:tab pos="1005840" algn="l"/>
              </a:tabLst>
            </a:pPr>
            <a:r>
              <a:rPr sz="1600" dirty="0">
                <a:latin typeface="Cambria Math"/>
                <a:cs typeface="Cambria Math"/>
              </a:rPr>
              <a:t>𝑐32</a:t>
            </a:r>
            <a:r>
              <a:rPr sz="1600" spc="480" dirty="0">
                <a:latin typeface="Cambria Math"/>
                <a:cs typeface="Cambria Math"/>
              </a:rPr>
              <a:t> </a:t>
            </a:r>
            <a:r>
              <a:rPr sz="1600" spc="-25" dirty="0">
                <a:solidFill>
                  <a:srgbClr val="FF0000"/>
                </a:solidFill>
                <a:latin typeface="Cambria Math"/>
                <a:cs typeface="Cambria Math"/>
              </a:rPr>
              <a:t>𝑐33</a:t>
            </a:r>
            <a:r>
              <a:rPr sz="1600" dirty="0">
                <a:solidFill>
                  <a:srgbClr val="FF0000"/>
                </a:solidFill>
                <a:latin typeface="Cambria Math"/>
                <a:cs typeface="Cambria Math"/>
              </a:rPr>
              <a:t>	</a:t>
            </a:r>
            <a:r>
              <a:rPr sz="1600" spc="-60" dirty="0">
                <a:latin typeface="Cambria Math"/>
                <a:cs typeface="Cambria Math"/>
              </a:rPr>
              <a:t>…</a:t>
            </a:r>
            <a:endParaRPr sz="1600">
              <a:latin typeface="Cambria Math"/>
              <a:cs typeface="Cambria Math"/>
            </a:endParaRPr>
          </a:p>
        </p:txBody>
      </p:sp>
      <p:sp>
        <p:nvSpPr>
          <p:cNvPr id="8" name="object 8"/>
          <p:cNvSpPr txBox="1"/>
          <p:nvPr/>
        </p:nvSpPr>
        <p:spPr>
          <a:xfrm>
            <a:off x="10583545" y="5434012"/>
            <a:ext cx="97155" cy="269240"/>
          </a:xfrm>
          <a:prstGeom prst="rect">
            <a:avLst/>
          </a:prstGeom>
        </p:spPr>
        <p:txBody>
          <a:bodyPr vert="horz" wrap="square" lIns="0" tIns="12700" rIns="0" bIns="0" rtlCol="0">
            <a:spAutoFit/>
          </a:bodyPr>
          <a:lstStyle/>
          <a:p>
            <a:pPr marL="12700">
              <a:spcBef>
                <a:spcPts val="100"/>
              </a:spcBef>
            </a:pPr>
            <a:r>
              <a:rPr sz="1600" spc="-50" dirty="0">
                <a:latin typeface="Cambria Math"/>
                <a:cs typeface="Cambria Math"/>
              </a:rPr>
              <a:t>]</a:t>
            </a:r>
            <a:endParaRPr sz="1600">
              <a:latin typeface="Cambria Math"/>
              <a:cs typeface="Cambria Math"/>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362200" y="435566"/>
            <a:ext cx="10515600" cy="1184683"/>
          </a:xfrm>
          <a:prstGeom prst="rect">
            <a:avLst/>
          </a:prstGeom>
        </p:spPr>
        <p:txBody>
          <a:bodyPr vert="horz" wrap="square" lIns="0" tIns="502666" rIns="0" bIns="0" rtlCol="0" anchor="ctr">
            <a:spAutoFit/>
          </a:bodyPr>
          <a:lstStyle/>
          <a:p>
            <a:pPr marL="83820">
              <a:lnSpc>
                <a:spcPct val="100000"/>
              </a:lnSpc>
              <a:spcBef>
                <a:spcPts val="100"/>
              </a:spcBef>
            </a:pPr>
            <a:r>
              <a:rPr dirty="0"/>
              <a:t>Pooling</a:t>
            </a:r>
            <a:r>
              <a:rPr spc="-125" dirty="0"/>
              <a:t> </a:t>
            </a:r>
            <a:r>
              <a:rPr dirty="0"/>
              <a:t>or</a:t>
            </a:r>
            <a:r>
              <a:rPr spc="-130" dirty="0"/>
              <a:t> </a:t>
            </a:r>
            <a:r>
              <a:rPr spc="-10" dirty="0"/>
              <a:t>subsampling</a:t>
            </a:r>
          </a:p>
        </p:txBody>
      </p:sp>
      <p:sp>
        <p:nvSpPr>
          <p:cNvPr id="3" name="object 3"/>
          <p:cNvSpPr txBox="1"/>
          <p:nvPr/>
        </p:nvSpPr>
        <p:spPr>
          <a:xfrm>
            <a:off x="1841501" y="1766506"/>
            <a:ext cx="8126095" cy="1953260"/>
          </a:xfrm>
          <a:prstGeom prst="rect">
            <a:avLst/>
          </a:prstGeom>
        </p:spPr>
        <p:txBody>
          <a:bodyPr vert="horz" wrap="square" lIns="0" tIns="12700" rIns="0" bIns="0" rtlCol="0">
            <a:spAutoFit/>
          </a:bodyPr>
          <a:lstStyle/>
          <a:p>
            <a:pPr marL="368300" indent="-342900">
              <a:spcBef>
                <a:spcPts val="100"/>
              </a:spcBef>
              <a:buChar char="•"/>
              <a:tabLst>
                <a:tab pos="368300" algn="l"/>
              </a:tabLst>
            </a:pPr>
            <a:r>
              <a:rPr sz="2400" dirty="0">
                <a:latin typeface="Calibri"/>
                <a:cs typeface="Calibri"/>
              </a:rPr>
              <a:t>Pooling</a:t>
            </a:r>
            <a:r>
              <a:rPr sz="2400" spc="-100" dirty="0">
                <a:latin typeface="Calibri"/>
                <a:cs typeface="Calibri"/>
              </a:rPr>
              <a:t> </a:t>
            </a:r>
            <a:r>
              <a:rPr sz="2400" spc="-10" dirty="0">
                <a:latin typeface="Calibri"/>
                <a:cs typeface="Calibri"/>
              </a:rPr>
              <a:t>takes</a:t>
            </a:r>
            <a:r>
              <a:rPr sz="2400" spc="-50" dirty="0">
                <a:latin typeface="Calibri"/>
                <a:cs typeface="Calibri"/>
              </a:rPr>
              <a:t> </a:t>
            </a:r>
            <a:r>
              <a:rPr sz="2400" dirty="0">
                <a:latin typeface="Calibri"/>
                <a:cs typeface="Calibri"/>
              </a:rPr>
              <a:t>a</a:t>
            </a:r>
            <a:r>
              <a:rPr sz="2400" spc="-25" dirty="0">
                <a:latin typeface="Calibri"/>
                <a:cs typeface="Calibri"/>
              </a:rPr>
              <a:t> </a:t>
            </a:r>
            <a:r>
              <a:rPr sz="2400" b="1" spc="-20" dirty="0">
                <a:latin typeface="Calibri"/>
                <a:cs typeface="Calibri"/>
              </a:rPr>
              <a:t>feature</a:t>
            </a:r>
            <a:r>
              <a:rPr sz="2400" b="1" spc="-85" dirty="0">
                <a:latin typeface="Calibri"/>
                <a:cs typeface="Calibri"/>
              </a:rPr>
              <a:t> </a:t>
            </a:r>
            <a:r>
              <a:rPr sz="2400" b="1" dirty="0">
                <a:latin typeface="Calibri"/>
                <a:cs typeface="Calibri"/>
              </a:rPr>
              <a:t>map</a:t>
            </a:r>
            <a:r>
              <a:rPr sz="2400" b="1" spc="-40" dirty="0">
                <a:latin typeface="Calibri"/>
                <a:cs typeface="Calibri"/>
              </a:rPr>
              <a:t> </a:t>
            </a:r>
            <a:r>
              <a:rPr sz="2400" dirty="0">
                <a:latin typeface="Calibri"/>
                <a:cs typeface="Calibri"/>
              </a:rPr>
              <a:t>and</a:t>
            </a:r>
            <a:r>
              <a:rPr sz="2400" spc="-40" dirty="0">
                <a:latin typeface="Calibri"/>
                <a:cs typeface="Calibri"/>
              </a:rPr>
              <a:t> </a:t>
            </a:r>
            <a:r>
              <a:rPr sz="2400" spc="-10" dirty="0">
                <a:latin typeface="Calibri"/>
                <a:cs typeface="Calibri"/>
              </a:rPr>
              <a:t>reduces</a:t>
            </a:r>
            <a:r>
              <a:rPr sz="2400" spc="-70" dirty="0">
                <a:latin typeface="Calibri"/>
                <a:cs typeface="Calibri"/>
              </a:rPr>
              <a:t> </a:t>
            </a:r>
            <a:r>
              <a:rPr sz="2400" dirty="0">
                <a:latin typeface="Calibri"/>
                <a:cs typeface="Calibri"/>
              </a:rPr>
              <a:t>it</a:t>
            </a:r>
            <a:r>
              <a:rPr sz="2400" spc="-60" dirty="0">
                <a:latin typeface="Calibri"/>
                <a:cs typeface="Calibri"/>
              </a:rPr>
              <a:t> </a:t>
            </a:r>
            <a:r>
              <a:rPr sz="2400" dirty="0">
                <a:latin typeface="Calibri"/>
                <a:cs typeface="Calibri"/>
              </a:rPr>
              <a:t>in</a:t>
            </a:r>
            <a:r>
              <a:rPr sz="2400" spc="-30" dirty="0">
                <a:latin typeface="Calibri"/>
                <a:cs typeface="Calibri"/>
              </a:rPr>
              <a:t> </a:t>
            </a:r>
            <a:r>
              <a:rPr sz="2400" dirty="0">
                <a:latin typeface="Calibri"/>
                <a:cs typeface="Calibri"/>
              </a:rPr>
              <a:t>size</a:t>
            </a:r>
            <a:r>
              <a:rPr sz="2400" spc="-50" dirty="0">
                <a:latin typeface="Calibri"/>
                <a:cs typeface="Calibri"/>
              </a:rPr>
              <a:t> </a:t>
            </a:r>
            <a:r>
              <a:rPr sz="2400" dirty="0">
                <a:solidFill>
                  <a:srgbClr val="6E2E9F"/>
                </a:solidFill>
                <a:latin typeface="Calibri"/>
                <a:cs typeface="Calibri"/>
              </a:rPr>
              <a:t>(e.g.,</a:t>
            </a:r>
            <a:r>
              <a:rPr sz="2400" spc="-55" dirty="0">
                <a:solidFill>
                  <a:srgbClr val="6E2E9F"/>
                </a:solidFill>
                <a:latin typeface="Calibri"/>
                <a:cs typeface="Calibri"/>
              </a:rPr>
              <a:t> </a:t>
            </a:r>
            <a:r>
              <a:rPr sz="2400" spc="-25" dirty="0">
                <a:solidFill>
                  <a:srgbClr val="6E2E9F"/>
                </a:solidFill>
                <a:latin typeface="Calibri"/>
                <a:cs typeface="Calibri"/>
              </a:rPr>
              <a:t>it</a:t>
            </a:r>
            <a:endParaRPr sz="2400">
              <a:latin typeface="Calibri"/>
              <a:cs typeface="Calibri"/>
            </a:endParaRPr>
          </a:p>
          <a:p>
            <a:pPr marL="368300">
              <a:spcBef>
                <a:spcPts val="5"/>
              </a:spcBef>
            </a:pPr>
            <a:r>
              <a:rPr sz="2400" spc="-10" dirty="0">
                <a:solidFill>
                  <a:srgbClr val="6E2E9F"/>
                </a:solidFill>
                <a:latin typeface="Calibri"/>
                <a:cs typeface="Calibri"/>
              </a:rPr>
              <a:t>transforms</a:t>
            </a:r>
            <a:r>
              <a:rPr sz="2400" spc="-55" dirty="0">
                <a:solidFill>
                  <a:srgbClr val="6E2E9F"/>
                </a:solidFill>
                <a:latin typeface="Calibri"/>
                <a:cs typeface="Calibri"/>
              </a:rPr>
              <a:t> </a:t>
            </a:r>
            <a:r>
              <a:rPr sz="2400" dirty="0">
                <a:solidFill>
                  <a:srgbClr val="6E2E9F"/>
                </a:solidFill>
                <a:latin typeface="Calibri"/>
                <a:cs typeface="Calibri"/>
              </a:rPr>
              <a:t>a</a:t>
            </a:r>
            <a:r>
              <a:rPr sz="2400" spc="-45" dirty="0">
                <a:solidFill>
                  <a:srgbClr val="6E2E9F"/>
                </a:solidFill>
                <a:latin typeface="Calibri"/>
                <a:cs typeface="Calibri"/>
              </a:rPr>
              <a:t> </a:t>
            </a:r>
            <a:r>
              <a:rPr sz="2400" dirty="0">
                <a:solidFill>
                  <a:srgbClr val="6E2E9F"/>
                </a:solidFill>
                <a:latin typeface="Calibri"/>
                <a:cs typeface="Calibri"/>
              </a:rPr>
              <a:t>set</a:t>
            </a:r>
            <a:r>
              <a:rPr sz="2400" spc="-65" dirty="0">
                <a:solidFill>
                  <a:srgbClr val="6E2E9F"/>
                </a:solidFill>
                <a:latin typeface="Calibri"/>
                <a:cs typeface="Calibri"/>
              </a:rPr>
              <a:t> </a:t>
            </a:r>
            <a:r>
              <a:rPr sz="2400" dirty="0">
                <a:solidFill>
                  <a:srgbClr val="6E2E9F"/>
                </a:solidFill>
                <a:latin typeface="Calibri"/>
                <a:cs typeface="Calibri"/>
              </a:rPr>
              <a:t>of</a:t>
            </a:r>
            <a:r>
              <a:rPr sz="2400" spc="-70" dirty="0">
                <a:solidFill>
                  <a:srgbClr val="6E2E9F"/>
                </a:solidFill>
                <a:latin typeface="Calibri"/>
                <a:cs typeface="Calibri"/>
              </a:rPr>
              <a:t> </a:t>
            </a:r>
            <a:r>
              <a:rPr sz="2400" dirty="0">
                <a:solidFill>
                  <a:srgbClr val="6E2E9F"/>
                </a:solidFill>
                <a:latin typeface="Calibri"/>
                <a:cs typeface="Calibri"/>
              </a:rPr>
              <a:t>2x2</a:t>
            </a:r>
            <a:r>
              <a:rPr sz="2400" spc="-70" dirty="0">
                <a:solidFill>
                  <a:srgbClr val="6E2E9F"/>
                </a:solidFill>
                <a:latin typeface="Calibri"/>
                <a:cs typeface="Calibri"/>
              </a:rPr>
              <a:t> </a:t>
            </a:r>
            <a:r>
              <a:rPr sz="2400" dirty="0">
                <a:solidFill>
                  <a:srgbClr val="6E2E9F"/>
                </a:solidFill>
                <a:latin typeface="Calibri"/>
                <a:cs typeface="Calibri"/>
              </a:rPr>
              <a:t>regions</a:t>
            </a:r>
            <a:r>
              <a:rPr sz="2400" spc="-70" dirty="0">
                <a:solidFill>
                  <a:srgbClr val="6E2E9F"/>
                </a:solidFill>
                <a:latin typeface="Calibri"/>
                <a:cs typeface="Calibri"/>
              </a:rPr>
              <a:t> </a:t>
            </a:r>
            <a:r>
              <a:rPr sz="2400" dirty="0">
                <a:solidFill>
                  <a:srgbClr val="6E2E9F"/>
                </a:solidFill>
                <a:latin typeface="Calibri"/>
                <a:cs typeface="Calibri"/>
              </a:rPr>
              <a:t>to</a:t>
            </a:r>
            <a:r>
              <a:rPr sz="2400" spc="-40" dirty="0">
                <a:solidFill>
                  <a:srgbClr val="6E2E9F"/>
                </a:solidFill>
                <a:latin typeface="Calibri"/>
                <a:cs typeface="Calibri"/>
              </a:rPr>
              <a:t> </a:t>
            </a:r>
            <a:r>
              <a:rPr sz="2400" dirty="0">
                <a:solidFill>
                  <a:srgbClr val="6E2E9F"/>
                </a:solidFill>
                <a:latin typeface="Calibri"/>
                <a:cs typeface="Calibri"/>
              </a:rPr>
              <a:t>a</a:t>
            </a:r>
            <a:r>
              <a:rPr sz="2400" spc="-70" dirty="0">
                <a:solidFill>
                  <a:srgbClr val="6E2E9F"/>
                </a:solidFill>
                <a:latin typeface="Calibri"/>
                <a:cs typeface="Calibri"/>
              </a:rPr>
              <a:t> </a:t>
            </a:r>
            <a:r>
              <a:rPr sz="2400" dirty="0">
                <a:solidFill>
                  <a:srgbClr val="6E2E9F"/>
                </a:solidFill>
                <a:latin typeface="Calibri"/>
                <a:cs typeface="Calibri"/>
              </a:rPr>
              <a:t>single</a:t>
            </a:r>
            <a:r>
              <a:rPr sz="2400" spc="-70" dirty="0">
                <a:solidFill>
                  <a:srgbClr val="6E2E9F"/>
                </a:solidFill>
                <a:latin typeface="Calibri"/>
                <a:cs typeface="Calibri"/>
              </a:rPr>
              <a:t> </a:t>
            </a:r>
            <a:r>
              <a:rPr sz="2400" spc="-10" dirty="0">
                <a:solidFill>
                  <a:srgbClr val="6E2E9F"/>
                </a:solidFill>
                <a:latin typeface="Calibri"/>
                <a:cs typeface="Calibri"/>
              </a:rPr>
              <a:t>unit)</a:t>
            </a:r>
            <a:r>
              <a:rPr sz="2400" spc="-10" dirty="0">
                <a:latin typeface="Calibri"/>
                <a:cs typeface="Calibri"/>
              </a:rPr>
              <a:t>.</a:t>
            </a:r>
            <a:endParaRPr sz="2400">
              <a:latin typeface="Calibri"/>
              <a:cs typeface="Calibri"/>
            </a:endParaRPr>
          </a:p>
          <a:p>
            <a:pPr marL="368300" indent="-342900">
              <a:spcBef>
                <a:spcPts val="600"/>
              </a:spcBef>
              <a:buChar char="•"/>
              <a:tabLst>
                <a:tab pos="368300" algn="l"/>
              </a:tabLst>
            </a:pPr>
            <a:r>
              <a:rPr sz="2400" spc="-10" dirty="0">
                <a:latin typeface="Calibri"/>
                <a:cs typeface="Calibri"/>
              </a:rPr>
              <a:t>Pooling</a:t>
            </a:r>
            <a:r>
              <a:rPr sz="2400" spc="-95" dirty="0">
                <a:latin typeface="Calibri"/>
                <a:cs typeface="Calibri"/>
              </a:rPr>
              <a:t> </a:t>
            </a:r>
            <a:r>
              <a:rPr sz="2400" spc="-10" dirty="0">
                <a:latin typeface="Calibri"/>
                <a:cs typeface="Calibri"/>
              </a:rPr>
              <a:t>functions</a:t>
            </a:r>
            <a:endParaRPr sz="2400">
              <a:latin typeface="Calibri"/>
              <a:cs typeface="Calibri"/>
            </a:endParaRPr>
          </a:p>
          <a:p>
            <a:pPr marL="769620" lvl="1" indent="-286385">
              <a:spcBef>
                <a:spcPts val="525"/>
              </a:spcBef>
              <a:buFont typeface="Calibri"/>
              <a:buChar char="–"/>
              <a:tabLst>
                <a:tab pos="769620" algn="l"/>
              </a:tabLst>
            </a:pPr>
            <a:r>
              <a:rPr sz="2000" b="1" spc="-25" dirty="0">
                <a:latin typeface="Calibri"/>
                <a:cs typeface="Calibri"/>
              </a:rPr>
              <a:t>Max-</a:t>
            </a:r>
            <a:r>
              <a:rPr sz="2000" b="1" dirty="0">
                <a:latin typeface="Calibri"/>
                <a:cs typeface="Calibri"/>
              </a:rPr>
              <a:t>pooling</a:t>
            </a:r>
            <a:r>
              <a:rPr sz="2000" b="1" spc="-80" dirty="0">
                <a:latin typeface="Calibri"/>
                <a:cs typeface="Calibri"/>
              </a:rPr>
              <a:t> </a:t>
            </a:r>
            <a:r>
              <a:rPr sz="2000" dirty="0">
                <a:latin typeface="Calibri"/>
                <a:cs typeface="Calibri"/>
              </a:rPr>
              <a:t>:</a:t>
            </a:r>
            <a:r>
              <a:rPr sz="2000" spc="405" dirty="0">
                <a:latin typeface="Calibri"/>
                <a:cs typeface="Calibri"/>
              </a:rPr>
              <a:t> </a:t>
            </a:r>
            <a:r>
              <a:rPr sz="2000" dirty="0">
                <a:latin typeface="Calibri"/>
                <a:cs typeface="Calibri"/>
              </a:rPr>
              <a:t>computes</a:t>
            </a:r>
            <a:r>
              <a:rPr sz="2000" spc="-25" dirty="0">
                <a:latin typeface="Calibri"/>
                <a:cs typeface="Calibri"/>
              </a:rPr>
              <a:t> </a:t>
            </a:r>
            <a:r>
              <a:rPr sz="2000" dirty="0">
                <a:latin typeface="Calibri"/>
                <a:cs typeface="Calibri"/>
              </a:rPr>
              <a:t>the</a:t>
            </a:r>
            <a:r>
              <a:rPr sz="2000" spc="-25" dirty="0">
                <a:latin typeface="Calibri"/>
                <a:cs typeface="Calibri"/>
              </a:rPr>
              <a:t> </a:t>
            </a:r>
            <a:r>
              <a:rPr sz="2000" spc="-10" dirty="0">
                <a:latin typeface="Calibri"/>
                <a:cs typeface="Calibri"/>
              </a:rPr>
              <a:t>maximum</a:t>
            </a:r>
            <a:r>
              <a:rPr sz="2000" spc="-45" dirty="0">
                <a:latin typeface="Calibri"/>
                <a:cs typeface="Calibri"/>
              </a:rPr>
              <a:t> </a:t>
            </a:r>
            <a:r>
              <a:rPr sz="2000" dirty="0">
                <a:latin typeface="Calibri"/>
                <a:cs typeface="Calibri"/>
              </a:rPr>
              <a:t>value</a:t>
            </a:r>
            <a:r>
              <a:rPr sz="2000" spc="-50" dirty="0">
                <a:latin typeface="Calibri"/>
                <a:cs typeface="Calibri"/>
              </a:rPr>
              <a:t> </a:t>
            </a:r>
            <a:r>
              <a:rPr sz="2000" dirty="0">
                <a:latin typeface="Calibri"/>
                <a:cs typeface="Calibri"/>
              </a:rPr>
              <a:t>of</a:t>
            </a:r>
            <a:r>
              <a:rPr sz="2000" spc="-45" dirty="0">
                <a:latin typeface="Calibri"/>
                <a:cs typeface="Calibri"/>
              </a:rPr>
              <a:t> </a:t>
            </a:r>
            <a:r>
              <a:rPr sz="2000" dirty="0">
                <a:latin typeface="Calibri"/>
                <a:cs typeface="Calibri"/>
              </a:rPr>
              <a:t>the</a:t>
            </a:r>
            <a:r>
              <a:rPr sz="2000" spc="-25" dirty="0">
                <a:latin typeface="Calibri"/>
                <a:cs typeface="Calibri"/>
              </a:rPr>
              <a:t> </a:t>
            </a:r>
            <a:r>
              <a:rPr sz="2000" dirty="0">
                <a:latin typeface="Calibri"/>
                <a:cs typeface="Calibri"/>
              </a:rPr>
              <a:t>units</a:t>
            </a:r>
            <a:r>
              <a:rPr sz="2000" spc="-30" dirty="0">
                <a:latin typeface="Calibri"/>
                <a:cs typeface="Calibri"/>
              </a:rPr>
              <a:t> </a:t>
            </a:r>
            <a:r>
              <a:rPr sz="2000" dirty="0">
                <a:latin typeface="Calibri"/>
                <a:cs typeface="Calibri"/>
              </a:rPr>
              <a:t>in</a:t>
            </a:r>
            <a:r>
              <a:rPr sz="2000" spc="-25" dirty="0">
                <a:latin typeface="Calibri"/>
                <a:cs typeface="Calibri"/>
              </a:rPr>
              <a:t> </a:t>
            </a:r>
            <a:r>
              <a:rPr sz="2000" dirty="0">
                <a:latin typeface="Calibri"/>
                <a:cs typeface="Calibri"/>
              </a:rPr>
              <a:t>the</a:t>
            </a:r>
            <a:r>
              <a:rPr sz="2000" spc="-25" dirty="0">
                <a:latin typeface="Calibri"/>
                <a:cs typeface="Calibri"/>
              </a:rPr>
              <a:t> </a:t>
            </a:r>
            <a:r>
              <a:rPr sz="2000" spc="-10" dirty="0">
                <a:latin typeface="Calibri"/>
                <a:cs typeface="Calibri"/>
              </a:rPr>
              <a:t>region</a:t>
            </a:r>
            <a:endParaRPr sz="2000">
              <a:latin typeface="Calibri"/>
              <a:cs typeface="Calibri"/>
            </a:endParaRPr>
          </a:p>
          <a:p>
            <a:pPr marL="769620" lvl="1" indent="-286385">
              <a:spcBef>
                <a:spcPts val="605"/>
              </a:spcBef>
              <a:buChar char="–"/>
              <a:tabLst>
                <a:tab pos="769620" algn="l"/>
              </a:tabLst>
            </a:pPr>
            <a:r>
              <a:rPr sz="2000" spc="-10" dirty="0">
                <a:latin typeface="Cambria Math"/>
                <a:cs typeface="Cambria Math"/>
              </a:rPr>
              <a:t>𝑳</a:t>
            </a:r>
            <a:r>
              <a:rPr sz="2175" spc="-15" baseline="-11494" dirty="0">
                <a:latin typeface="Cambria Math"/>
                <a:cs typeface="Cambria Math"/>
              </a:rPr>
              <a:t>𝒑</a:t>
            </a:r>
            <a:r>
              <a:rPr sz="2000" b="1" spc="-10" dirty="0">
                <a:latin typeface="Calibri"/>
                <a:cs typeface="Calibri"/>
              </a:rPr>
              <a:t>-</a:t>
            </a:r>
            <a:r>
              <a:rPr sz="2000" b="1" dirty="0">
                <a:latin typeface="Calibri"/>
                <a:cs typeface="Calibri"/>
              </a:rPr>
              <a:t>pooling</a:t>
            </a:r>
            <a:r>
              <a:rPr sz="2000" dirty="0">
                <a:latin typeface="Calibri"/>
                <a:cs typeface="Calibri"/>
              </a:rPr>
              <a:t>:</a:t>
            </a:r>
            <a:r>
              <a:rPr sz="2000" spc="-25" dirty="0">
                <a:latin typeface="Calibri"/>
                <a:cs typeface="Calibri"/>
              </a:rPr>
              <a:t> </a:t>
            </a:r>
            <a:r>
              <a:rPr sz="2000" dirty="0">
                <a:latin typeface="Calibri"/>
                <a:cs typeface="Calibri"/>
              </a:rPr>
              <a:t>uses</a:t>
            </a:r>
            <a:r>
              <a:rPr sz="2000" spc="20" dirty="0">
                <a:latin typeface="Calibri"/>
                <a:cs typeface="Calibri"/>
              </a:rPr>
              <a:t> </a:t>
            </a:r>
            <a:r>
              <a:rPr sz="2000" dirty="0">
                <a:latin typeface="Calibri"/>
                <a:cs typeface="Calibri"/>
              </a:rPr>
              <a:t>the</a:t>
            </a:r>
            <a:r>
              <a:rPr sz="2000" spc="-5" dirty="0">
                <a:latin typeface="Calibri"/>
                <a:cs typeface="Calibri"/>
              </a:rPr>
              <a:t> </a:t>
            </a:r>
            <a:r>
              <a:rPr sz="2000" dirty="0">
                <a:latin typeface="Cambria Math"/>
                <a:cs typeface="Cambria Math"/>
              </a:rPr>
              <a:t>𝐿</a:t>
            </a:r>
            <a:r>
              <a:rPr sz="2175" baseline="-11494" dirty="0">
                <a:latin typeface="Cambria Math"/>
                <a:cs typeface="Cambria Math"/>
              </a:rPr>
              <a:t>𝑝</a:t>
            </a:r>
            <a:r>
              <a:rPr sz="2000" dirty="0">
                <a:latin typeface="Calibri"/>
                <a:cs typeface="Calibri"/>
              </a:rPr>
              <a:t>norm</a:t>
            </a:r>
            <a:r>
              <a:rPr sz="2000" spc="-35" dirty="0">
                <a:latin typeface="Calibri"/>
                <a:cs typeface="Calibri"/>
              </a:rPr>
              <a:t> </a:t>
            </a:r>
            <a:r>
              <a:rPr sz="2000" dirty="0">
                <a:latin typeface="Calibri"/>
                <a:cs typeface="Calibri"/>
              </a:rPr>
              <a:t>of</a:t>
            </a:r>
            <a:r>
              <a:rPr sz="2000" spc="-20" dirty="0">
                <a:latin typeface="Calibri"/>
                <a:cs typeface="Calibri"/>
              </a:rPr>
              <a:t> </a:t>
            </a:r>
            <a:r>
              <a:rPr sz="2000" dirty="0">
                <a:latin typeface="Calibri"/>
                <a:cs typeface="Calibri"/>
              </a:rPr>
              <a:t>the units</a:t>
            </a:r>
            <a:r>
              <a:rPr sz="2000" spc="-45" dirty="0">
                <a:latin typeface="Calibri"/>
                <a:cs typeface="Calibri"/>
              </a:rPr>
              <a:t> </a:t>
            </a:r>
            <a:r>
              <a:rPr sz="2000" dirty="0">
                <a:latin typeface="Calibri"/>
                <a:cs typeface="Calibri"/>
              </a:rPr>
              <a:t>in</a:t>
            </a:r>
            <a:r>
              <a:rPr sz="2000" spc="20" dirty="0">
                <a:latin typeface="Calibri"/>
                <a:cs typeface="Calibri"/>
              </a:rPr>
              <a:t> </a:t>
            </a:r>
            <a:r>
              <a:rPr sz="2000" dirty="0">
                <a:latin typeface="Calibri"/>
                <a:cs typeface="Calibri"/>
              </a:rPr>
              <a:t>the</a:t>
            </a:r>
            <a:r>
              <a:rPr sz="2000" spc="10" dirty="0">
                <a:latin typeface="Calibri"/>
                <a:cs typeface="Calibri"/>
              </a:rPr>
              <a:t> </a:t>
            </a:r>
            <a:r>
              <a:rPr sz="2000" spc="-10" dirty="0">
                <a:latin typeface="Calibri"/>
                <a:cs typeface="Calibri"/>
              </a:rPr>
              <a:t>region:</a:t>
            </a:r>
            <a:endParaRPr sz="2000">
              <a:latin typeface="Calibri"/>
              <a:cs typeface="Calibri"/>
            </a:endParaRPr>
          </a:p>
        </p:txBody>
      </p:sp>
      <p:sp>
        <p:nvSpPr>
          <p:cNvPr id="4" name="object 4"/>
          <p:cNvSpPr txBox="1"/>
          <p:nvPr/>
        </p:nvSpPr>
        <p:spPr>
          <a:xfrm>
            <a:off x="1854201" y="4585079"/>
            <a:ext cx="7418705" cy="1610995"/>
          </a:xfrm>
          <a:prstGeom prst="rect">
            <a:avLst/>
          </a:prstGeom>
        </p:spPr>
        <p:txBody>
          <a:bodyPr vert="horz" wrap="square" lIns="0" tIns="60960" rIns="0" bIns="0" rtlCol="0">
            <a:spAutoFit/>
          </a:bodyPr>
          <a:lstStyle/>
          <a:p>
            <a:pPr marL="469900">
              <a:spcBef>
                <a:spcPts val="480"/>
              </a:spcBef>
              <a:tabLst>
                <a:tab pos="756920" algn="l"/>
              </a:tabLst>
            </a:pPr>
            <a:r>
              <a:rPr sz="2000" spc="-50" dirty="0">
                <a:latin typeface="Calibri"/>
                <a:cs typeface="Calibri"/>
              </a:rPr>
              <a:t>–</a:t>
            </a:r>
            <a:r>
              <a:rPr sz="2000" dirty="0">
                <a:latin typeface="Calibri"/>
                <a:cs typeface="Calibri"/>
              </a:rPr>
              <a:t>	</a:t>
            </a:r>
            <a:r>
              <a:rPr sz="2000" b="1" dirty="0">
                <a:latin typeface="Calibri"/>
                <a:cs typeface="Calibri"/>
              </a:rPr>
              <a:t>Average</a:t>
            </a:r>
            <a:r>
              <a:rPr sz="2000" b="1" spc="335" dirty="0">
                <a:latin typeface="Calibri"/>
                <a:cs typeface="Calibri"/>
              </a:rPr>
              <a:t> </a:t>
            </a:r>
            <a:r>
              <a:rPr sz="2000" dirty="0">
                <a:latin typeface="Calibri"/>
                <a:cs typeface="Calibri"/>
              </a:rPr>
              <a:t>(sum</a:t>
            </a:r>
            <a:r>
              <a:rPr sz="2000" spc="-80" dirty="0">
                <a:latin typeface="Calibri"/>
                <a:cs typeface="Calibri"/>
              </a:rPr>
              <a:t> </a:t>
            </a:r>
            <a:r>
              <a:rPr sz="2000" spc="-10" dirty="0">
                <a:latin typeface="Calibri"/>
                <a:cs typeface="Calibri"/>
              </a:rPr>
              <a:t>pooling):</a:t>
            </a:r>
            <a:r>
              <a:rPr sz="2000" spc="-100" dirty="0">
                <a:latin typeface="Calibri"/>
                <a:cs typeface="Calibri"/>
              </a:rPr>
              <a:t> </a:t>
            </a:r>
            <a:r>
              <a:rPr sz="2000" dirty="0">
                <a:latin typeface="Calibri"/>
                <a:cs typeface="Calibri"/>
              </a:rPr>
              <a:t>take</a:t>
            </a:r>
            <a:r>
              <a:rPr sz="2000" spc="-45" dirty="0">
                <a:latin typeface="Calibri"/>
                <a:cs typeface="Calibri"/>
              </a:rPr>
              <a:t> </a:t>
            </a:r>
            <a:r>
              <a:rPr sz="2000" dirty="0">
                <a:latin typeface="Calibri"/>
                <a:cs typeface="Calibri"/>
              </a:rPr>
              <a:t>the</a:t>
            </a:r>
            <a:r>
              <a:rPr sz="2000" spc="-60" dirty="0">
                <a:latin typeface="Calibri"/>
                <a:cs typeface="Calibri"/>
              </a:rPr>
              <a:t> </a:t>
            </a:r>
            <a:r>
              <a:rPr sz="2000" spc="-10" dirty="0">
                <a:latin typeface="Calibri"/>
                <a:cs typeface="Calibri"/>
              </a:rPr>
              <a:t>average</a:t>
            </a:r>
            <a:r>
              <a:rPr sz="2000" spc="-40" dirty="0">
                <a:latin typeface="Calibri"/>
                <a:cs typeface="Calibri"/>
              </a:rPr>
              <a:t> </a:t>
            </a:r>
            <a:r>
              <a:rPr sz="2000" dirty="0">
                <a:latin typeface="Calibri"/>
                <a:cs typeface="Calibri"/>
              </a:rPr>
              <a:t>(sum)</a:t>
            </a:r>
            <a:r>
              <a:rPr sz="2000" spc="-50" dirty="0">
                <a:latin typeface="Calibri"/>
                <a:cs typeface="Calibri"/>
              </a:rPr>
              <a:t> </a:t>
            </a:r>
            <a:r>
              <a:rPr sz="2000" dirty="0">
                <a:latin typeface="Calibri"/>
                <a:cs typeface="Calibri"/>
              </a:rPr>
              <a:t>value</a:t>
            </a:r>
            <a:r>
              <a:rPr sz="2000" spc="-95" dirty="0">
                <a:latin typeface="Calibri"/>
                <a:cs typeface="Calibri"/>
              </a:rPr>
              <a:t> </a:t>
            </a:r>
            <a:r>
              <a:rPr sz="2000" dirty="0">
                <a:latin typeface="Calibri"/>
                <a:cs typeface="Calibri"/>
              </a:rPr>
              <a:t>of</a:t>
            </a:r>
            <a:r>
              <a:rPr sz="2000" spc="-75" dirty="0">
                <a:latin typeface="Calibri"/>
                <a:cs typeface="Calibri"/>
              </a:rPr>
              <a:t> </a:t>
            </a:r>
            <a:r>
              <a:rPr sz="2000" dirty="0">
                <a:latin typeface="Calibri"/>
                <a:cs typeface="Calibri"/>
              </a:rPr>
              <a:t>the</a:t>
            </a:r>
            <a:r>
              <a:rPr sz="2000" spc="-65" dirty="0">
                <a:latin typeface="Calibri"/>
                <a:cs typeface="Calibri"/>
              </a:rPr>
              <a:t> </a:t>
            </a:r>
            <a:r>
              <a:rPr sz="2000" spc="-20" dirty="0">
                <a:latin typeface="Calibri"/>
                <a:cs typeface="Calibri"/>
              </a:rPr>
              <a:t>pool</a:t>
            </a:r>
            <a:endParaRPr sz="2000">
              <a:latin typeface="Calibri"/>
              <a:cs typeface="Calibri"/>
            </a:endParaRPr>
          </a:p>
          <a:p>
            <a:pPr marL="355600" indent="-342900">
              <a:spcBef>
                <a:spcPts val="459"/>
              </a:spcBef>
              <a:buFont typeface="Calibri"/>
              <a:buChar char="•"/>
              <a:tabLst>
                <a:tab pos="355600" algn="l"/>
              </a:tabLst>
            </a:pPr>
            <a:r>
              <a:rPr sz="2400" b="1" spc="-10" dirty="0">
                <a:latin typeface="Calibri"/>
                <a:cs typeface="Calibri"/>
              </a:rPr>
              <a:t>Information</a:t>
            </a:r>
            <a:r>
              <a:rPr sz="2400" b="1" spc="-125" dirty="0">
                <a:latin typeface="Calibri"/>
                <a:cs typeface="Calibri"/>
              </a:rPr>
              <a:t> </a:t>
            </a:r>
            <a:r>
              <a:rPr sz="2400" b="1" dirty="0">
                <a:latin typeface="Calibri"/>
                <a:cs typeface="Calibri"/>
              </a:rPr>
              <a:t>reduction</a:t>
            </a:r>
            <a:r>
              <a:rPr sz="2400" dirty="0">
                <a:latin typeface="Calibri"/>
                <a:cs typeface="Calibri"/>
              </a:rPr>
              <a:t>:</a:t>
            </a:r>
            <a:r>
              <a:rPr sz="2400" spc="-100" dirty="0">
                <a:latin typeface="Calibri"/>
                <a:cs typeface="Calibri"/>
              </a:rPr>
              <a:t> </a:t>
            </a:r>
            <a:r>
              <a:rPr sz="2400" dirty="0">
                <a:latin typeface="Calibri"/>
                <a:cs typeface="Calibri"/>
              </a:rPr>
              <a:t>pooling</a:t>
            </a:r>
            <a:r>
              <a:rPr sz="2400" spc="-105" dirty="0">
                <a:latin typeface="Calibri"/>
                <a:cs typeface="Calibri"/>
              </a:rPr>
              <a:t> </a:t>
            </a:r>
            <a:r>
              <a:rPr sz="2400" spc="-10" dirty="0">
                <a:latin typeface="Calibri"/>
                <a:cs typeface="Calibri"/>
              </a:rPr>
              <a:t>removes</a:t>
            </a:r>
            <a:r>
              <a:rPr sz="2400" spc="-50" dirty="0">
                <a:latin typeface="Calibri"/>
                <a:cs typeface="Calibri"/>
              </a:rPr>
              <a:t> </a:t>
            </a:r>
            <a:r>
              <a:rPr sz="2400" dirty="0">
                <a:latin typeface="Calibri"/>
                <a:cs typeface="Calibri"/>
              </a:rPr>
              <a:t>precise</a:t>
            </a:r>
            <a:r>
              <a:rPr sz="2400" spc="-100" dirty="0">
                <a:latin typeface="Calibri"/>
                <a:cs typeface="Calibri"/>
              </a:rPr>
              <a:t> </a:t>
            </a:r>
            <a:r>
              <a:rPr sz="2400" spc="-10" dirty="0">
                <a:latin typeface="Calibri"/>
                <a:cs typeface="Calibri"/>
              </a:rPr>
              <a:t>location</a:t>
            </a:r>
            <a:endParaRPr sz="2400">
              <a:latin typeface="Calibri"/>
              <a:cs typeface="Calibri"/>
            </a:endParaRPr>
          </a:p>
          <a:p>
            <a:pPr marL="355600"/>
            <a:r>
              <a:rPr sz="2400" spc="-10" dirty="0">
                <a:latin typeface="Calibri"/>
                <a:cs typeface="Calibri"/>
              </a:rPr>
              <a:t>information</a:t>
            </a:r>
            <a:r>
              <a:rPr sz="2400" spc="-55" dirty="0">
                <a:latin typeface="Calibri"/>
                <a:cs typeface="Calibri"/>
              </a:rPr>
              <a:t> </a:t>
            </a:r>
            <a:r>
              <a:rPr sz="2400" dirty="0">
                <a:latin typeface="Calibri"/>
                <a:cs typeface="Calibri"/>
              </a:rPr>
              <a:t>for</a:t>
            </a:r>
            <a:r>
              <a:rPr sz="2400" spc="-60" dirty="0">
                <a:latin typeface="Calibri"/>
                <a:cs typeface="Calibri"/>
              </a:rPr>
              <a:t> </a:t>
            </a:r>
            <a:r>
              <a:rPr sz="2400" dirty="0">
                <a:latin typeface="Calibri"/>
                <a:cs typeface="Calibri"/>
              </a:rPr>
              <a:t>a</a:t>
            </a:r>
            <a:r>
              <a:rPr sz="2400" spc="-45" dirty="0">
                <a:latin typeface="Calibri"/>
                <a:cs typeface="Calibri"/>
              </a:rPr>
              <a:t> </a:t>
            </a:r>
            <a:r>
              <a:rPr sz="2400" spc="-10" dirty="0">
                <a:latin typeface="Calibri"/>
                <a:cs typeface="Calibri"/>
              </a:rPr>
              <a:t>feature</a:t>
            </a:r>
            <a:endParaRPr sz="2400">
              <a:latin typeface="Calibri"/>
              <a:cs typeface="Calibri"/>
            </a:endParaRPr>
          </a:p>
          <a:p>
            <a:pPr marL="355600" indent="-342900">
              <a:spcBef>
                <a:spcPts val="600"/>
              </a:spcBef>
              <a:buChar char="•"/>
              <a:tabLst>
                <a:tab pos="355600" algn="l"/>
              </a:tabLst>
            </a:pPr>
            <a:r>
              <a:rPr sz="2400" dirty="0">
                <a:latin typeface="Calibri"/>
                <a:cs typeface="Calibri"/>
              </a:rPr>
              <a:t>Apply</a:t>
            </a:r>
            <a:r>
              <a:rPr sz="2400" spc="-65" dirty="0">
                <a:latin typeface="Calibri"/>
                <a:cs typeface="Calibri"/>
              </a:rPr>
              <a:t> </a:t>
            </a:r>
            <a:r>
              <a:rPr sz="2400" spc="-10" dirty="0">
                <a:latin typeface="Calibri"/>
                <a:cs typeface="Calibri"/>
              </a:rPr>
              <a:t>pooling</a:t>
            </a:r>
            <a:r>
              <a:rPr sz="2400" spc="-50" dirty="0">
                <a:latin typeface="Calibri"/>
                <a:cs typeface="Calibri"/>
              </a:rPr>
              <a:t> </a:t>
            </a:r>
            <a:r>
              <a:rPr sz="2400" b="1" dirty="0">
                <a:latin typeface="Calibri"/>
                <a:cs typeface="Calibri"/>
              </a:rPr>
              <a:t>to</a:t>
            </a:r>
            <a:r>
              <a:rPr sz="2400" b="1" spc="-65" dirty="0">
                <a:latin typeface="Calibri"/>
                <a:cs typeface="Calibri"/>
              </a:rPr>
              <a:t> </a:t>
            </a:r>
            <a:r>
              <a:rPr sz="2400" b="1" dirty="0">
                <a:latin typeface="Calibri"/>
                <a:cs typeface="Calibri"/>
              </a:rPr>
              <a:t>each</a:t>
            </a:r>
            <a:r>
              <a:rPr sz="2400" b="1" spc="-60" dirty="0">
                <a:latin typeface="Calibri"/>
                <a:cs typeface="Calibri"/>
              </a:rPr>
              <a:t> </a:t>
            </a:r>
            <a:r>
              <a:rPr sz="2400" b="1" spc="-20" dirty="0">
                <a:latin typeface="Calibri"/>
                <a:cs typeface="Calibri"/>
              </a:rPr>
              <a:t>feature</a:t>
            </a:r>
            <a:r>
              <a:rPr sz="2400" b="1" spc="5" dirty="0">
                <a:latin typeface="Calibri"/>
                <a:cs typeface="Calibri"/>
              </a:rPr>
              <a:t> </a:t>
            </a:r>
            <a:r>
              <a:rPr sz="2400" b="1" dirty="0">
                <a:latin typeface="Calibri"/>
                <a:cs typeface="Calibri"/>
              </a:rPr>
              <a:t>map</a:t>
            </a:r>
            <a:r>
              <a:rPr sz="2400" b="1" spc="-100" dirty="0">
                <a:latin typeface="Calibri"/>
                <a:cs typeface="Calibri"/>
              </a:rPr>
              <a:t> </a:t>
            </a:r>
            <a:r>
              <a:rPr sz="2400" b="1" spc="-10" dirty="0">
                <a:latin typeface="Calibri"/>
                <a:cs typeface="Calibri"/>
              </a:rPr>
              <a:t>separately</a:t>
            </a:r>
            <a:endParaRPr sz="2400">
              <a:latin typeface="Calibri"/>
              <a:cs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362200" y="435566"/>
            <a:ext cx="10515600" cy="1184683"/>
          </a:xfrm>
          <a:prstGeom prst="rect">
            <a:avLst/>
          </a:prstGeom>
        </p:spPr>
        <p:txBody>
          <a:bodyPr vert="horz" wrap="square" lIns="0" tIns="502666" rIns="0" bIns="0" rtlCol="0" anchor="ctr">
            <a:spAutoFit/>
          </a:bodyPr>
          <a:lstStyle/>
          <a:p>
            <a:pPr marL="83820">
              <a:lnSpc>
                <a:spcPct val="100000"/>
              </a:lnSpc>
              <a:spcBef>
                <a:spcPts val="100"/>
              </a:spcBef>
            </a:pPr>
            <a:r>
              <a:rPr dirty="0"/>
              <a:t>Pooling</a:t>
            </a:r>
            <a:r>
              <a:rPr spc="-125" dirty="0"/>
              <a:t> </a:t>
            </a:r>
            <a:r>
              <a:rPr dirty="0"/>
              <a:t>or</a:t>
            </a:r>
            <a:r>
              <a:rPr spc="-130" dirty="0"/>
              <a:t> </a:t>
            </a:r>
            <a:r>
              <a:rPr spc="-10" dirty="0"/>
              <a:t>subsampling</a:t>
            </a:r>
          </a:p>
        </p:txBody>
      </p:sp>
      <p:pic>
        <p:nvPicPr>
          <p:cNvPr id="3" name="object 3"/>
          <p:cNvPicPr/>
          <p:nvPr/>
        </p:nvPicPr>
        <p:blipFill>
          <a:blip r:embed="rId2" cstate="print"/>
          <a:stretch>
            <a:fillRect/>
          </a:stretch>
        </p:blipFill>
        <p:spPr>
          <a:xfrm>
            <a:off x="2407998" y="1917700"/>
            <a:ext cx="6749390" cy="4502606"/>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854200" y="60065"/>
            <a:ext cx="2358390" cy="1367041"/>
          </a:xfrm>
          <a:prstGeom prst="rect">
            <a:avLst/>
          </a:prstGeom>
        </p:spPr>
        <p:txBody>
          <a:bodyPr vert="horz" wrap="square" lIns="0" tIns="12700" rIns="0" bIns="0" rtlCol="0" anchor="ctr">
            <a:spAutoFit/>
          </a:bodyPr>
          <a:lstStyle/>
          <a:p>
            <a:pPr marL="12700">
              <a:lnSpc>
                <a:spcPct val="100000"/>
              </a:lnSpc>
              <a:spcBef>
                <a:spcPts val="100"/>
              </a:spcBef>
            </a:pPr>
            <a:r>
              <a:rPr spc="-10" dirty="0"/>
              <a:t>Pooling</a:t>
            </a:r>
            <a:r>
              <a:rPr spc="-145" dirty="0"/>
              <a:t> </a:t>
            </a:r>
            <a:r>
              <a:rPr spc="-10" dirty="0"/>
              <a:t>layer</a:t>
            </a:r>
          </a:p>
        </p:txBody>
      </p:sp>
      <p:sp>
        <p:nvSpPr>
          <p:cNvPr id="3" name="object 3"/>
          <p:cNvSpPr txBox="1"/>
          <p:nvPr/>
        </p:nvSpPr>
        <p:spPr>
          <a:xfrm>
            <a:off x="1727517" y="1756893"/>
            <a:ext cx="7552690" cy="2129790"/>
          </a:xfrm>
          <a:prstGeom prst="rect">
            <a:avLst/>
          </a:prstGeom>
        </p:spPr>
        <p:txBody>
          <a:bodyPr vert="horz" wrap="square" lIns="0" tIns="94615" rIns="0" bIns="0" rtlCol="0">
            <a:spAutoFit/>
          </a:bodyPr>
          <a:lstStyle/>
          <a:p>
            <a:pPr marL="354965" indent="-342265">
              <a:spcBef>
                <a:spcPts val="745"/>
              </a:spcBef>
              <a:buChar char="•"/>
              <a:tabLst>
                <a:tab pos="354965" algn="l"/>
              </a:tabLst>
            </a:pPr>
            <a:r>
              <a:rPr sz="2400" dirty="0">
                <a:latin typeface="Calibri"/>
                <a:cs typeface="Calibri"/>
              </a:rPr>
              <a:t>Common</a:t>
            </a:r>
            <a:r>
              <a:rPr sz="2400" spc="-135" dirty="0">
                <a:latin typeface="Calibri"/>
                <a:cs typeface="Calibri"/>
              </a:rPr>
              <a:t> </a:t>
            </a:r>
            <a:r>
              <a:rPr sz="2400" dirty="0">
                <a:latin typeface="Calibri"/>
                <a:cs typeface="Calibri"/>
              </a:rPr>
              <a:t>pooling</a:t>
            </a:r>
            <a:r>
              <a:rPr sz="2400" spc="-85" dirty="0">
                <a:latin typeface="Calibri"/>
                <a:cs typeface="Calibri"/>
              </a:rPr>
              <a:t> </a:t>
            </a:r>
            <a:r>
              <a:rPr sz="2400" spc="-10" dirty="0">
                <a:latin typeface="Calibri"/>
                <a:cs typeface="Calibri"/>
              </a:rPr>
              <a:t>operations:</a:t>
            </a:r>
            <a:endParaRPr sz="2400">
              <a:latin typeface="Calibri"/>
              <a:cs typeface="Calibri"/>
            </a:endParaRPr>
          </a:p>
          <a:p>
            <a:pPr marL="756920" lvl="1" indent="-287020">
              <a:spcBef>
                <a:spcPts val="540"/>
              </a:spcBef>
              <a:buChar char="–"/>
              <a:tabLst>
                <a:tab pos="756920" algn="l"/>
              </a:tabLst>
            </a:pPr>
            <a:r>
              <a:rPr sz="2000" dirty="0">
                <a:solidFill>
                  <a:srgbClr val="FF0000"/>
                </a:solidFill>
                <a:latin typeface="Calibri"/>
                <a:cs typeface="Calibri"/>
              </a:rPr>
              <a:t>Max</a:t>
            </a:r>
            <a:r>
              <a:rPr sz="2000" spc="-45" dirty="0">
                <a:solidFill>
                  <a:srgbClr val="FF0000"/>
                </a:solidFill>
                <a:latin typeface="Calibri"/>
                <a:cs typeface="Calibri"/>
              </a:rPr>
              <a:t> </a:t>
            </a:r>
            <a:r>
              <a:rPr sz="2000" spc="-10" dirty="0">
                <a:solidFill>
                  <a:srgbClr val="FF0000"/>
                </a:solidFill>
                <a:latin typeface="Calibri"/>
                <a:cs typeface="Calibri"/>
              </a:rPr>
              <a:t>pooling</a:t>
            </a:r>
            <a:r>
              <a:rPr sz="2000" spc="-10" dirty="0">
                <a:latin typeface="Calibri"/>
                <a:cs typeface="Calibri"/>
              </a:rPr>
              <a:t>:</a:t>
            </a:r>
            <a:r>
              <a:rPr sz="2000" spc="-100" dirty="0">
                <a:latin typeface="Calibri"/>
                <a:cs typeface="Calibri"/>
              </a:rPr>
              <a:t> </a:t>
            </a:r>
            <a:r>
              <a:rPr sz="2000" dirty="0">
                <a:latin typeface="Calibri"/>
                <a:cs typeface="Calibri"/>
              </a:rPr>
              <a:t>reports</a:t>
            </a:r>
            <a:r>
              <a:rPr sz="2000" spc="-55" dirty="0">
                <a:latin typeface="Calibri"/>
                <a:cs typeface="Calibri"/>
              </a:rPr>
              <a:t> </a:t>
            </a:r>
            <a:r>
              <a:rPr sz="2000" dirty="0">
                <a:latin typeface="Calibri"/>
                <a:cs typeface="Calibri"/>
              </a:rPr>
              <a:t>the</a:t>
            </a:r>
            <a:r>
              <a:rPr sz="2000" spc="-25" dirty="0">
                <a:latin typeface="Calibri"/>
                <a:cs typeface="Calibri"/>
              </a:rPr>
              <a:t> </a:t>
            </a:r>
            <a:r>
              <a:rPr sz="2000" spc="-10" dirty="0">
                <a:latin typeface="Calibri"/>
                <a:cs typeface="Calibri"/>
              </a:rPr>
              <a:t>maximum</a:t>
            </a:r>
            <a:r>
              <a:rPr sz="2000" spc="-45" dirty="0">
                <a:latin typeface="Calibri"/>
                <a:cs typeface="Calibri"/>
              </a:rPr>
              <a:t> </a:t>
            </a:r>
            <a:r>
              <a:rPr sz="2000" dirty="0">
                <a:latin typeface="Calibri"/>
                <a:cs typeface="Calibri"/>
              </a:rPr>
              <a:t>output</a:t>
            </a:r>
            <a:r>
              <a:rPr sz="2000" spc="-70" dirty="0">
                <a:latin typeface="Calibri"/>
                <a:cs typeface="Calibri"/>
              </a:rPr>
              <a:t> </a:t>
            </a:r>
            <a:r>
              <a:rPr sz="2000" dirty="0">
                <a:latin typeface="Calibri"/>
                <a:cs typeface="Calibri"/>
              </a:rPr>
              <a:t>within</a:t>
            </a:r>
            <a:r>
              <a:rPr sz="2000" spc="-40" dirty="0">
                <a:latin typeface="Calibri"/>
                <a:cs typeface="Calibri"/>
              </a:rPr>
              <a:t> </a:t>
            </a:r>
            <a:r>
              <a:rPr sz="2000" dirty="0">
                <a:latin typeface="Calibri"/>
                <a:cs typeface="Calibri"/>
              </a:rPr>
              <a:t>a</a:t>
            </a:r>
            <a:r>
              <a:rPr sz="2000" spc="-10" dirty="0">
                <a:latin typeface="Calibri"/>
                <a:cs typeface="Calibri"/>
              </a:rPr>
              <a:t> rectangular</a:t>
            </a:r>
            <a:endParaRPr sz="2000">
              <a:latin typeface="Calibri"/>
              <a:cs typeface="Calibri"/>
            </a:endParaRPr>
          </a:p>
          <a:p>
            <a:pPr marL="756920"/>
            <a:r>
              <a:rPr sz="2000" spc="-10" dirty="0">
                <a:latin typeface="Calibri"/>
                <a:cs typeface="Calibri"/>
              </a:rPr>
              <a:t>neighborhood.</a:t>
            </a:r>
            <a:endParaRPr sz="2000">
              <a:latin typeface="Calibri"/>
              <a:cs typeface="Calibri"/>
            </a:endParaRPr>
          </a:p>
          <a:p>
            <a:pPr marL="756920" marR="5080" lvl="1" indent="-287655">
              <a:spcBef>
                <a:spcPts val="500"/>
              </a:spcBef>
              <a:buChar char="–"/>
              <a:tabLst>
                <a:tab pos="756920" algn="l"/>
              </a:tabLst>
            </a:pPr>
            <a:r>
              <a:rPr sz="2000" spc="-10" dirty="0">
                <a:solidFill>
                  <a:srgbClr val="FF0000"/>
                </a:solidFill>
                <a:latin typeface="Calibri"/>
                <a:cs typeface="Calibri"/>
              </a:rPr>
              <a:t>Average</a:t>
            </a:r>
            <a:r>
              <a:rPr sz="2000" spc="-35" dirty="0">
                <a:solidFill>
                  <a:srgbClr val="FF0000"/>
                </a:solidFill>
                <a:latin typeface="Calibri"/>
                <a:cs typeface="Calibri"/>
              </a:rPr>
              <a:t> </a:t>
            </a:r>
            <a:r>
              <a:rPr sz="2000" dirty="0">
                <a:solidFill>
                  <a:srgbClr val="FF0000"/>
                </a:solidFill>
                <a:latin typeface="Calibri"/>
                <a:cs typeface="Calibri"/>
              </a:rPr>
              <a:t>pooling</a:t>
            </a:r>
            <a:r>
              <a:rPr sz="2000" dirty="0">
                <a:latin typeface="Calibri"/>
                <a:cs typeface="Calibri"/>
              </a:rPr>
              <a:t>:</a:t>
            </a:r>
            <a:r>
              <a:rPr sz="2000" spc="-105" dirty="0">
                <a:latin typeface="Calibri"/>
                <a:cs typeface="Calibri"/>
              </a:rPr>
              <a:t> </a:t>
            </a:r>
            <a:r>
              <a:rPr sz="2000" dirty="0">
                <a:latin typeface="Calibri"/>
                <a:cs typeface="Calibri"/>
              </a:rPr>
              <a:t>reports</a:t>
            </a:r>
            <a:r>
              <a:rPr sz="2000" spc="-75" dirty="0">
                <a:latin typeface="Calibri"/>
                <a:cs typeface="Calibri"/>
              </a:rPr>
              <a:t> </a:t>
            </a:r>
            <a:r>
              <a:rPr sz="2000" dirty="0">
                <a:latin typeface="Calibri"/>
                <a:cs typeface="Calibri"/>
              </a:rPr>
              <a:t>the</a:t>
            </a:r>
            <a:r>
              <a:rPr sz="2000" spc="-50" dirty="0">
                <a:latin typeface="Calibri"/>
                <a:cs typeface="Calibri"/>
              </a:rPr>
              <a:t> </a:t>
            </a:r>
            <a:r>
              <a:rPr sz="2000" spc="-10" dirty="0">
                <a:latin typeface="Calibri"/>
                <a:cs typeface="Calibri"/>
              </a:rPr>
              <a:t>average</a:t>
            </a:r>
            <a:r>
              <a:rPr sz="2000" spc="-30" dirty="0">
                <a:latin typeface="Calibri"/>
                <a:cs typeface="Calibri"/>
              </a:rPr>
              <a:t> </a:t>
            </a:r>
            <a:r>
              <a:rPr sz="2000" dirty="0">
                <a:latin typeface="Calibri"/>
                <a:cs typeface="Calibri"/>
              </a:rPr>
              <a:t>output</a:t>
            </a:r>
            <a:r>
              <a:rPr sz="2000" spc="-55" dirty="0">
                <a:latin typeface="Calibri"/>
                <a:cs typeface="Calibri"/>
              </a:rPr>
              <a:t> </a:t>
            </a:r>
            <a:r>
              <a:rPr sz="2000" dirty="0">
                <a:latin typeface="Calibri"/>
                <a:cs typeface="Calibri"/>
              </a:rPr>
              <a:t>of</a:t>
            </a:r>
            <a:r>
              <a:rPr sz="2000" spc="-65" dirty="0">
                <a:latin typeface="Calibri"/>
                <a:cs typeface="Calibri"/>
              </a:rPr>
              <a:t> </a:t>
            </a:r>
            <a:r>
              <a:rPr sz="2000" dirty="0">
                <a:latin typeface="Calibri"/>
                <a:cs typeface="Calibri"/>
              </a:rPr>
              <a:t>a</a:t>
            </a:r>
            <a:r>
              <a:rPr sz="2000" spc="-35" dirty="0">
                <a:latin typeface="Calibri"/>
                <a:cs typeface="Calibri"/>
              </a:rPr>
              <a:t> </a:t>
            </a:r>
            <a:r>
              <a:rPr sz="2000" spc="-10" dirty="0">
                <a:latin typeface="Calibri"/>
                <a:cs typeface="Calibri"/>
              </a:rPr>
              <a:t>rectangular neighborhood</a:t>
            </a:r>
            <a:r>
              <a:rPr sz="2000" spc="-105" dirty="0">
                <a:latin typeface="Calibri"/>
                <a:cs typeface="Calibri"/>
              </a:rPr>
              <a:t> </a:t>
            </a:r>
            <a:r>
              <a:rPr sz="2000" dirty="0">
                <a:latin typeface="Calibri"/>
                <a:cs typeface="Calibri"/>
              </a:rPr>
              <a:t>(possibly</a:t>
            </a:r>
            <a:r>
              <a:rPr sz="2000" spc="-85" dirty="0">
                <a:latin typeface="Calibri"/>
                <a:cs typeface="Calibri"/>
              </a:rPr>
              <a:t> </a:t>
            </a:r>
            <a:r>
              <a:rPr sz="2000" dirty="0">
                <a:latin typeface="Calibri"/>
                <a:cs typeface="Calibri"/>
              </a:rPr>
              <a:t>weighted</a:t>
            </a:r>
            <a:r>
              <a:rPr sz="2000" spc="-35" dirty="0">
                <a:latin typeface="Calibri"/>
                <a:cs typeface="Calibri"/>
              </a:rPr>
              <a:t> </a:t>
            </a:r>
            <a:r>
              <a:rPr sz="2000" dirty="0">
                <a:latin typeface="Calibri"/>
                <a:cs typeface="Calibri"/>
              </a:rPr>
              <a:t>by</a:t>
            </a:r>
            <a:r>
              <a:rPr sz="2000" spc="-60" dirty="0">
                <a:latin typeface="Calibri"/>
                <a:cs typeface="Calibri"/>
              </a:rPr>
              <a:t> </a:t>
            </a:r>
            <a:r>
              <a:rPr sz="2000" dirty="0">
                <a:latin typeface="Calibri"/>
                <a:cs typeface="Calibri"/>
              </a:rPr>
              <a:t>the</a:t>
            </a:r>
            <a:r>
              <a:rPr sz="2000" spc="-45" dirty="0">
                <a:latin typeface="Calibri"/>
                <a:cs typeface="Calibri"/>
              </a:rPr>
              <a:t> </a:t>
            </a:r>
            <a:r>
              <a:rPr sz="2000" dirty="0">
                <a:latin typeface="Calibri"/>
                <a:cs typeface="Calibri"/>
              </a:rPr>
              <a:t>distance</a:t>
            </a:r>
            <a:r>
              <a:rPr sz="2000" spc="-35" dirty="0">
                <a:latin typeface="Calibri"/>
                <a:cs typeface="Calibri"/>
              </a:rPr>
              <a:t> </a:t>
            </a:r>
            <a:r>
              <a:rPr sz="2000" dirty="0">
                <a:latin typeface="Calibri"/>
                <a:cs typeface="Calibri"/>
              </a:rPr>
              <a:t>from</a:t>
            </a:r>
            <a:r>
              <a:rPr sz="2000" spc="-85" dirty="0">
                <a:latin typeface="Calibri"/>
                <a:cs typeface="Calibri"/>
              </a:rPr>
              <a:t> </a:t>
            </a:r>
            <a:r>
              <a:rPr sz="2000" dirty="0">
                <a:latin typeface="Calibri"/>
                <a:cs typeface="Calibri"/>
              </a:rPr>
              <a:t>the</a:t>
            </a:r>
            <a:r>
              <a:rPr sz="2000" spc="-45" dirty="0">
                <a:latin typeface="Calibri"/>
                <a:cs typeface="Calibri"/>
              </a:rPr>
              <a:t> </a:t>
            </a:r>
            <a:r>
              <a:rPr sz="2000" spc="-10" dirty="0">
                <a:latin typeface="Calibri"/>
                <a:cs typeface="Calibri"/>
              </a:rPr>
              <a:t>central pixel).</a:t>
            </a:r>
            <a:endParaRPr sz="2000">
              <a:latin typeface="Calibri"/>
              <a:cs typeface="Calibri"/>
            </a:endParaRPr>
          </a:p>
        </p:txBody>
      </p:sp>
      <p:pic>
        <p:nvPicPr>
          <p:cNvPr id="4" name="object 4"/>
          <p:cNvPicPr/>
          <p:nvPr/>
        </p:nvPicPr>
        <p:blipFill>
          <a:blip r:embed="rId2" cstate="print"/>
          <a:stretch>
            <a:fillRect/>
          </a:stretch>
        </p:blipFill>
        <p:spPr>
          <a:xfrm>
            <a:off x="5700814" y="3716020"/>
            <a:ext cx="4631548" cy="2969260"/>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854200" y="143865"/>
            <a:ext cx="7523480" cy="1305486"/>
          </a:xfrm>
          <a:prstGeom prst="rect">
            <a:avLst/>
          </a:prstGeom>
        </p:spPr>
        <p:txBody>
          <a:bodyPr vert="horz" wrap="square" lIns="0" tIns="12700" rIns="0" bIns="0" rtlCol="0" anchor="ctr">
            <a:spAutoFit/>
          </a:bodyPr>
          <a:lstStyle/>
          <a:p>
            <a:pPr marL="12700" marR="5080">
              <a:lnSpc>
                <a:spcPct val="100000"/>
              </a:lnSpc>
              <a:spcBef>
                <a:spcPts val="100"/>
              </a:spcBef>
            </a:pPr>
            <a:r>
              <a:rPr dirty="0"/>
              <a:t>Combining</a:t>
            </a:r>
            <a:r>
              <a:rPr spc="-140" dirty="0"/>
              <a:t> </a:t>
            </a:r>
            <a:r>
              <a:rPr spc="-20" dirty="0"/>
              <a:t>convolutional</a:t>
            </a:r>
            <a:r>
              <a:rPr spc="-145" dirty="0"/>
              <a:t> </a:t>
            </a:r>
            <a:r>
              <a:rPr spc="-10" dirty="0"/>
              <a:t>&amp;pooling </a:t>
            </a:r>
            <a:r>
              <a:rPr dirty="0"/>
              <a:t>layer</a:t>
            </a:r>
            <a:r>
              <a:rPr spc="-200" dirty="0"/>
              <a:t> </a:t>
            </a:r>
            <a:r>
              <a:rPr spc="-10" dirty="0"/>
              <a:t>together</a:t>
            </a:r>
          </a:p>
        </p:txBody>
      </p:sp>
      <p:grpSp>
        <p:nvGrpSpPr>
          <p:cNvPr id="3" name="object 3"/>
          <p:cNvGrpSpPr/>
          <p:nvPr/>
        </p:nvGrpSpPr>
        <p:grpSpPr>
          <a:xfrm>
            <a:off x="2527300" y="2059939"/>
            <a:ext cx="7157720" cy="4424680"/>
            <a:chOff x="1003300" y="2059939"/>
            <a:chExt cx="7157720" cy="4424680"/>
          </a:xfrm>
        </p:grpSpPr>
        <p:pic>
          <p:nvPicPr>
            <p:cNvPr id="4" name="object 4"/>
            <p:cNvPicPr/>
            <p:nvPr/>
          </p:nvPicPr>
          <p:blipFill>
            <a:blip r:embed="rId2" cstate="print"/>
            <a:stretch>
              <a:fillRect/>
            </a:stretch>
          </p:blipFill>
          <p:spPr>
            <a:xfrm>
              <a:off x="1428518" y="2302242"/>
              <a:ext cx="6243761" cy="3462049"/>
            </a:xfrm>
            <a:prstGeom prst="rect">
              <a:avLst/>
            </a:prstGeom>
          </p:spPr>
        </p:pic>
        <p:pic>
          <p:nvPicPr>
            <p:cNvPr id="5" name="object 5"/>
            <p:cNvPicPr/>
            <p:nvPr/>
          </p:nvPicPr>
          <p:blipFill>
            <a:blip r:embed="rId3" cstate="print"/>
            <a:stretch>
              <a:fillRect/>
            </a:stretch>
          </p:blipFill>
          <p:spPr>
            <a:xfrm>
              <a:off x="1115060" y="2059939"/>
              <a:ext cx="7045959" cy="4424680"/>
            </a:xfrm>
            <a:prstGeom prst="rect">
              <a:avLst/>
            </a:prstGeom>
          </p:spPr>
        </p:pic>
        <p:pic>
          <p:nvPicPr>
            <p:cNvPr id="6" name="object 6"/>
            <p:cNvPicPr/>
            <p:nvPr/>
          </p:nvPicPr>
          <p:blipFill>
            <a:blip r:embed="rId4" cstate="print"/>
            <a:stretch>
              <a:fillRect/>
            </a:stretch>
          </p:blipFill>
          <p:spPr>
            <a:xfrm>
              <a:off x="1003300" y="2059939"/>
              <a:ext cx="6850380" cy="4389120"/>
            </a:xfrm>
            <a:prstGeom prst="rect">
              <a:avLst/>
            </a:prstGeom>
          </p:spPr>
        </p:pic>
      </p:gr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2538213" y="1605670"/>
            <a:ext cx="7289800" cy="4998720"/>
            <a:chOff x="1014213" y="1605670"/>
            <a:chExt cx="7289800" cy="4998720"/>
          </a:xfrm>
        </p:grpSpPr>
        <p:pic>
          <p:nvPicPr>
            <p:cNvPr id="3" name="object 3"/>
            <p:cNvPicPr/>
            <p:nvPr/>
          </p:nvPicPr>
          <p:blipFill>
            <a:blip r:embed="rId2" cstate="print"/>
            <a:stretch>
              <a:fillRect/>
            </a:stretch>
          </p:blipFill>
          <p:spPr>
            <a:xfrm>
              <a:off x="1014213" y="1605670"/>
              <a:ext cx="7289456" cy="4221089"/>
            </a:xfrm>
            <a:prstGeom prst="rect">
              <a:avLst/>
            </a:prstGeom>
          </p:spPr>
        </p:pic>
        <p:sp>
          <p:nvSpPr>
            <p:cNvPr id="4" name="object 4"/>
            <p:cNvSpPr/>
            <p:nvPr/>
          </p:nvSpPr>
          <p:spPr>
            <a:xfrm>
              <a:off x="4621530" y="5662930"/>
              <a:ext cx="3192780" cy="919480"/>
            </a:xfrm>
            <a:custGeom>
              <a:avLst/>
              <a:gdLst/>
              <a:ahLst/>
              <a:cxnLst/>
              <a:rect l="l" t="t" r="r" b="b"/>
              <a:pathLst>
                <a:path w="3192779" h="919479">
                  <a:moveTo>
                    <a:pt x="119634" y="227076"/>
                  </a:moveTo>
                  <a:lnTo>
                    <a:pt x="168783" y="229374"/>
                  </a:lnTo>
                  <a:lnTo>
                    <a:pt x="216408" y="236131"/>
                  </a:lnTo>
                  <a:lnTo>
                    <a:pt x="262509" y="247116"/>
                  </a:lnTo>
                  <a:lnTo>
                    <a:pt x="306578" y="262102"/>
                  </a:lnTo>
                  <a:lnTo>
                    <a:pt x="348488" y="280873"/>
                  </a:lnTo>
                  <a:lnTo>
                    <a:pt x="388112" y="303212"/>
                  </a:lnTo>
                  <a:lnTo>
                    <a:pt x="425069" y="328866"/>
                  </a:lnTo>
                  <a:lnTo>
                    <a:pt x="459232" y="357644"/>
                  </a:lnTo>
                  <a:lnTo>
                    <a:pt x="490220" y="389293"/>
                  </a:lnTo>
                  <a:lnTo>
                    <a:pt x="517779" y="423608"/>
                  </a:lnTo>
                  <a:lnTo>
                    <a:pt x="541909" y="460362"/>
                  </a:lnTo>
                  <a:lnTo>
                    <a:pt x="562102" y="499338"/>
                  </a:lnTo>
                  <a:lnTo>
                    <a:pt x="578231" y="540283"/>
                  </a:lnTo>
                  <a:lnTo>
                    <a:pt x="590042" y="583006"/>
                  </a:lnTo>
                  <a:lnTo>
                    <a:pt x="597281" y="627265"/>
                  </a:lnTo>
                  <a:lnTo>
                    <a:pt x="599821" y="672846"/>
                  </a:lnTo>
                </a:path>
                <a:path w="3192779" h="919479">
                  <a:moveTo>
                    <a:pt x="0" y="304800"/>
                  </a:moveTo>
                  <a:lnTo>
                    <a:pt x="49022" y="307098"/>
                  </a:lnTo>
                  <a:lnTo>
                    <a:pt x="96647" y="313855"/>
                  </a:lnTo>
                  <a:lnTo>
                    <a:pt x="142494" y="324840"/>
                  </a:lnTo>
                  <a:lnTo>
                    <a:pt x="186562" y="339826"/>
                  </a:lnTo>
                  <a:lnTo>
                    <a:pt x="228473" y="358597"/>
                  </a:lnTo>
                  <a:lnTo>
                    <a:pt x="267970" y="380936"/>
                  </a:lnTo>
                  <a:lnTo>
                    <a:pt x="304927" y="406590"/>
                  </a:lnTo>
                  <a:lnTo>
                    <a:pt x="338963" y="435368"/>
                  </a:lnTo>
                  <a:lnTo>
                    <a:pt x="369950" y="467017"/>
                  </a:lnTo>
                  <a:lnTo>
                    <a:pt x="397510" y="501332"/>
                  </a:lnTo>
                  <a:lnTo>
                    <a:pt x="421513" y="538086"/>
                  </a:lnTo>
                  <a:lnTo>
                    <a:pt x="441706" y="577062"/>
                  </a:lnTo>
                  <a:lnTo>
                    <a:pt x="457835" y="618007"/>
                  </a:lnTo>
                  <a:lnTo>
                    <a:pt x="469646" y="660730"/>
                  </a:lnTo>
                  <a:lnTo>
                    <a:pt x="476885" y="704989"/>
                  </a:lnTo>
                  <a:lnTo>
                    <a:pt x="479425" y="750570"/>
                  </a:lnTo>
                </a:path>
                <a:path w="3192779" h="919479">
                  <a:moveTo>
                    <a:pt x="2473198" y="467106"/>
                  </a:moveTo>
                  <a:lnTo>
                    <a:pt x="2477262" y="421767"/>
                  </a:lnTo>
                  <a:lnTo>
                    <a:pt x="2488946" y="379095"/>
                  </a:lnTo>
                  <a:lnTo>
                    <a:pt x="2507488" y="339801"/>
                  </a:lnTo>
                  <a:lnTo>
                    <a:pt x="2532253" y="304609"/>
                  </a:lnTo>
                  <a:lnTo>
                    <a:pt x="2562605" y="274205"/>
                  </a:lnTo>
                  <a:lnTo>
                    <a:pt x="2597785" y="249313"/>
                  </a:lnTo>
                  <a:lnTo>
                    <a:pt x="2636901" y="230670"/>
                  </a:lnTo>
                  <a:lnTo>
                    <a:pt x="2679446" y="218948"/>
                  </a:lnTo>
                  <a:lnTo>
                    <a:pt x="2724658" y="214884"/>
                  </a:lnTo>
                  <a:lnTo>
                    <a:pt x="2769870" y="218948"/>
                  </a:lnTo>
                  <a:lnTo>
                    <a:pt x="2812415" y="230670"/>
                  </a:lnTo>
                  <a:lnTo>
                    <a:pt x="2851658" y="249313"/>
                  </a:lnTo>
                  <a:lnTo>
                    <a:pt x="2886710" y="274205"/>
                  </a:lnTo>
                  <a:lnTo>
                    <a:pt x="2917063" y="304609"/>
                  </a:lnTo>
                  <a:lnTo>
                    <a:pt x="2941828" y="339801"/>
                  </a:lnTo>
                  <a:lnTo>
                    <a:pt x="2960497" y="379095"/>
                  </a:lnTo>
                  <a:lnTo>
                    <a:pt x="2972180" y="421767"/>
                  </a:lnTo>
                  <a:lnTo>
                    <a:pt x="2976245" y="467106"/>
                  </a:lnTo>
                  <a:lnTo>
                    <a:pt x="2972180" y="512445"/>
                  </a:lnTo>
                  <a:lnTo>
                    <a:pt x="2960497" y="555117"/>
                  </a:lnTo>
                  <a:lnTo>
                    <a:pt x="2941828" y="594410"/>
                  </a:lnTo>
                  <a:lnTo>
                    <a:pt x="2917063" y="629602"/>
                  </a:lnTo>
                  <a:lnTo>
                    <a:pt x="2886710" y="660006"/>
                  </a:lnTo>
                  <a:lnTo>
                    <a:pt x="2851658" y="684885"/>
                  </a:lnTo>
                  <a:lnTo>
                    <a:pt x="2812415" y="703541"/>
                  </a:lnTo>
                  <a:lnTo>
                    <a:pt x="2769870" y="715264"/>
                  </a:lnTo>
                  <a:lnTo>
                    <a:pt x="2724658" y="719328"/>
                  </a:lnTo>
                  <a:lnTo>
                    <a:pt x="2679446" y="715264"/>
                  </a:lnTo>
                  <a:lnTo>
                    <a:pt x="2636901" y="703541"/>
                  </a:lnTo>
                  <a:lnTo>
                    <a:pt x="2597785" y="684885"/>
                  </a:lnTo>
                  <a:lnTo>
                    <a:pt x="2562605" y="660006"/>
                  </a:lnTo>
                  <a:lnTo>
                    <a:pt x="2532253" y="629602"/>
                  </a:lnTo>
                  <a:lnTo>
                    <a:pt x="2507488" y="594410"/>
                  </a:lnTo>
                  <a:lnTo>
                    <a:pt x="2488946" y="555117"/>
                  </a:lnTo>
                  <a:lnTo>
                    <a:pt x="2477262" y="512445"/>
                  </a:lnTo>
                  <a:lnTo>
                    <a:pt x="2473198" y="467106"/>
                  </a:lnTo>
                  <a:close/>
                </a:path>
                <a:path w="3192779" h="919479">
                  <a:moveTo>
                    <a:pt x="2256790" y="459486"/>
                  </a:moveTo>
                  <a:lnTo>
                    <a:pt x="2259203" y="412508"/>
                  </a:lnTo>
                  <a:lnTo>
                    <a:pt x="2266188" y="366877"/>
                  </a:lnTo>
                  <a:lnTo>
                    <a:pt x="2277745" y="322846"/>
                  </a:lnTo>
                  <a:lnTo>
                    <a:pt x="2293493" y="280631"/>
                  </a:lnTo>
                  <a:lnTo>
                    <a:pt x="2313178" y="240461"/>
                  </a:lnTo>
                  <a:lnTo>
                    <a:pt x="2336673" y="202577"/>
                  </a:lnTo>
                  <a:lnTo>
                    <a:pt x="2363597" y="167208"/>
                  </a:lnTo>
                  <a:lnTo>
                    <a:pt x="2393823" y="134581"/>
                  </a:lnTo>
                  <a:lnTo>
                    <a:pt x="2426970" y="104927"/>
                  </a:lnTo>
                  <a:lnTo>
                    <a:pt x="2463038" y="78473"/>
                  </a:lnTo>
                  <a:lnTo>
                    <a:pt x="2501646" y="55460"/>
                  </a:lnTo>
                  <a:lnTo>
                    <a:pt x="2542540" y="36106"/>
                  </a:lnTo>
                  <a:lnTo>
                    <a:pt x="2585466" y="20662"/>
                  </a:lnTo>
                  <a:lnTo>
                    <a:pt x="2630424" y="9334"/>
                  </a:lnTo>
                  <a:lnTo>
                    <a:pt x="2676779" y="2374"/>
                  </a:lnTo>
                  <a:lnTo>
                    <a:pt x="2724658" y="0"/>
                  </a:lnTo>
                  <a:lnTo>
                    <a:pt x="2772537" y="2374"/>
                  </a:lnTo>
                  <a:lnTo>
                    <a:pt x="2819019" y="9334"/>
                  </a:lnTo>
                  <a:lnTo>
                    <a:pt x="2863850" y="20662"/>
                  </a:lnTo>
                  <a:lnTo>
                    <a:pt x="2906903" y="36106"/>
                  </a:lnTo>
                  <a:lnTo>
                    <a:pt x="2947797" y="55460"/>
                  </a:lnTo>
                  <a:lnTo>
                    <a:pt x="2986404" y="78473"/>
                  </a:lnTo>
                  <a:lnTo>
                    <a:pt x="3022346" y="104927"/>
                  </a:lnTo>
                  <a:lnTo>
                    <a:pt x="3055620" y="134581"/>
                  </a:lnTo>
                  <a:lnTo>
                    <a:pt x="3085846" y="167208"/>
                  </a:lnTo>
                  <a:lnTo>
                    <a:pt x="3112770" y="202577"/>
                  </a:lnTo>
                  <a:lnTo>
                    <a:pt x="3136138" y="240461"/>
                  </a:lnTo>
                  <a:lnTo>
                    <a:pt x="3155823" y="280631"/>
                  </a:lnTo>
                  <a:lnTo>
                    <a:pt x="3171571" y="322846"/>
                  </a:lnTo>
                  <a:lnTo>
                    <a:pt x="3183128" y="366877"/>
                  </a:lnTo>
                  <a:lnTo>
                    <a:pt x="3190240" y="412508"/>
                  </a:lnTo>
                  <a:lnTo>
                    <a:pt x="3192653" y="459486"/>
                  </a:lnTo>
                  <a:lnTo>
                    <a:pt x="3190240" y="506463"/>
                  </a:lnTo>
                  <a:lnTo>
                    <a:pt x="3183128" y="552094"/>
                  </a:lnTo>
                  <a:lnTo>
                    <a:pt x="3171571" y="596125"/>
                  </a:lnTo>
                  <a:lnTo>
                    <a:pt x="3155823" y="638340"/>
                  </a:lnTo>
                  <a:lnTo>
                    <a:pt x="3136138" y="678510"/>
                  </a:lnTo>
                  <a:lnTo>
                    <a:pt x="3112770" y="716394"/>
                  </a:lnTo>
                  <a:lnTo>
                    <a:pt x="3085846" y="751763"/>
                  </a:lnTo>
                  <a:lnTo>
                    <a:pt x="3055620" y="784390"/>
                  </a:lnTo>
                  <a:lnTo>
                    <a:pt x="3022346" y="814044"/>
                  </a:lnTo>
                  <a:lnTo>
                    <a:pt x="2986404" y="840498"/>
                  </a:lnTo>
                  <a:lnTo>
                    <a:pt x="2947797" y="863511"/>
                  </a:lnTo>
                  <a:lnTo>
                    <a:pt x="2906903" y="882865"/>
                  </a:lnTo>
                  <a:lnTo>
                    <a:pt x="2863850" y="898309"/>
                  </a:lnTo>
                  <a:lnTo>
                    <a:pt x="2819019" y="909637"/>
                  </a:lnTo>
                  <a:lnTo>
                    <a:pt x="2772537" y="916597"/>
                  </a:lnTo>
                  <a:lnTo>
                    <a:pt x="2724658" y="918972"/>
                  </a:lnTo>
                  <a:lnTo>
                    <a:pt x="2676779" y="916597"/>
                  </a:lnTo>
                  <a:lnTo>
                    <a:pt x="2630424" y="909637"/>
                  </a:lnTo>
                  <a:lnTo>
                    <a:pt x="2585466" y="898309"/>
                  </a:lnTo>
                  <a:lnTo>
                    <a:pt x="2542540" y="882865"/>
                  </a:lnTo>
                  <a:lnTo>
                    <a:pt x="2501646" y="863511"/>
                  </a:lnTo>
                  <a:lnTo>
                    <a:pt x="2463038" y="840498"/>
                  </a:lnTo>
                  <a:lnTo>
                    <a:pt x="2426970" y="814044"/>
                  </a:lnTo>
                  <a:lnTo>
                    <a:pt x="2393823" y="784390"/>
                  </a:lnTo>
                  <a:lnTo>
                    <a:pt x="2363597" y="751763"/>
                  </a:lnTo>
                  <a:lnTo>
                    <a:pt x="2336673" y="716394"/>
                  </a:lnTo>
                  <a:lnTo>
                    <a:pt x="2313178" y="678510"/>
                  </a:lnTo>
                  <a:lnTo>
                    <a:pt x="2293493" y="638340"/>
                  </a:lnTo>
                  <a:lnTo>
                    <a:pt x="2277745" y="596125"/>
                  </a:lnTo>
                  <a:lnTo>
                    <a:pt x="2266188" y="552094"/>
                  </a:lnTo>
                  <a:lnTo>
                    <a:pt x="2259203" y="506463"/>
                  </a:lnTo>
                  <a:lnTo>
                    <a:pt x="2256790" y="459486"/>
                  </a:lnTo>
                  <a:close/>
                </a:path>
              </a:pathLst>
            </a:custGeom>
            <a:ln w="44196">
              <a:solidFill>
                <a:srgbClr val="C00000"/>
              </a:solidFill>
            </a:ln>
          </p:spPr>
          <p:txBody>
            <a:bodyPr wrap="square" lIns="0" tIns="0" rIns="0" bIns="0" rtlCol="0"/>
            <a:lstStyle/>
            <a:p>
              <a:endParaRPr/>
            </a:p>
          </p:txBody>
        </p:sp>
      </p:grpSp>
      <p:sp>
        <p:nvSpPr>
          <p:cNvPr id="5" name="object 5"/>
          <p:cNvSpPr txBox="1">
            <a:spLocks noGrp="1"/>
          </p:cNvSpPr>
          <p:nvPr>
            <p:ph type="title"/>
          </p:nvPr>
        </p:nvSpPr>
        <p:spPr>
          <a:xfrm>
            <a:off x="2574607" y="726121"/>
            <a:ext cx="6973570" cy="819150"/>
          </a:xfrm>
          <a:prstGeom prst="rect">
            <a:avLst/>
          </a:prstGeom>
        </p:spPr>
        <p:txBody>
          <a:bodyPr vert="horz" wrap="square" lIns="0" tIns="43815" rIns="0" bIns="0" rtlCol="0" anchor="ctr">
            <a:spAutoFit/>
          </a:bodyPr>
          <a:lstStyle/>
          <a:p>
            <a:pPr marL="12700">
              <a:lnSpc>
                <a:spcPct val="100000"/>
              </a:lnSpc>
              <a:spcBef>
                <a:spcPts val="345"/>
              </a:spcBef>
            </a:pPr>
            <a:r>
              <a:rPr sz="3300" spc="-10" dirty="0"/>
              <a:t>Interpretation:</a:t>
            </a:r>
            <a:endParaRPr sz="3300" dirty="0"/>
          </a:p>
          <a:p>
            <a:pPr marL="12700">
              <a:lnSpc>
                <a:spcPct val="100000"/>
              </a:lnSpc>
              <a:spcBef>
                <a:spcPts val="120"/>
              </a:spcBef>
            </a:pPr>
            <a:r>
              <a:rPr sz="1600" spc="-20" dirty="0"/>
              <a:t>Convolution/activation(F.map)+pooling=&gt;Convolution/activation</a:t>
            </a:r>
            <a:r>
              <a:rPr sz="1600" spc="10" dirty="0"/>
              <a:t> </a:t>
            </a:r>
            <a:r>
              <a:rPr sz="1600" spc="-35" dirty="0"/>
              <a:t>(F.map)+pooling=&gt;</a:t>
            </a:r>
            <a:r>
              <a:rPr sz="1600" spc="250" dirty="0"/>
              <a:t> </a:t>
            </a:r>
            <a:r>
              <a:rPr sz="1600" spc="-25" dirty="0"/>
              <a:t>….</a:t>
            </a:r>
            <a:endParaRPr sz="1600" dirty="0"/>
          </a:p>
        </p:txBody>
      </p:sp>
      <p:sp>
        <p:nvSpPr>
          <p:cNvPr id="6" name="object 6"/>
          <p:cNvSpPr/>
          <p:nvPr/>
        </p:nvSpPr>
        <p:spPr>
          <a:xfrm>
            <a:off x="4118610" y="5952490"/>
            <a:ext cx="180340" cy="106680"/>
          </a:xfrm>
          <a:custGeom>
            <a:avLst/>
            <a:gdLst/>
            <a:ahLst/>
            <a:cxnLst/>
            <a:rect l="l" t="t" r="r" b="b"/>
            <a:pathLst>
              <a:path w="180339" h="106679">
                <a:moveTo>
                  <a:pt x="0" y="0"/>
                </a:moveTo>
                <a:lnTo>
                  <a:pt x="56895" y="5410"/>
                </a:lnTo>
                <a:lnTo>
                  <a:pt x="106171" y="20485"/>
                </a:lnTo>
                <a:lnTo>
                  <a:pt x="145160" y="43472"/>
                </a:lnTo>
                <a:lnTo>
                  <a:pt x="170687" y="72618"/>
                </a:lnTo>
                <a:lnTo>
                  <a:pt x="179831" y="106172"/>
                </a:lnTo>
              </a:path>
            </a:pathLst>
          </a:custGeom>
          <a:ln w="47244">
            <a:solidFill>
              <a:srgbClr val="C00000"/>
            </a:solidFill>
          </a:ln>
        </p:spPr>
        <p:txBody>
          <a:bodyPr wrap="square" lIns="0" tIns="0" rIns="0" bIns="0" rtlCol="0"/>
          <a:lstStyle/>
          <a:p>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694622" y="786129"/>
            <a:ext cx="6941184" cy="574040"/>
          </a:xfrm>
          <a:prstGeom prst="rect">
            <a:avLst/>
          </a:prstGeom>
        </p:spPr>
        <p:txBody>
          <a:bodyPr vert="horz" wrap="square" lIns="0" tIns="12700" rIns="0" bIns="0" rtlCol="0">
            <a:spAutoFit/>
          </a:bodyPr>
          <a:lstStyle/>
          <a:p>
            <a:pPr marL="12700" marR="5080">
              <a:spcBef>
                <a:spcPts val="100"/>
              </a:spcBef>
            </a:pPr>
            <a:r>
              <a:rPr b="1" dirty="0">
                <a:solidFill>
                  <a:srgbClr val="6E2E9F"/>
                </a:solidFill>
                <a:latin typeface="Arial"/>
                <a:cs typeface="Arial"/>
              </a:rPr>
              <a:t>Example</a:t>
            </a:r>
            <a:r>
              <a:rPr b="1" spc="-65" dirty="0">
                <a:solidFill>
                  <a:srgbClr val="6E2E9F"/>
                </a:solidFill>
                <a:latin typeface="Arial"/>
                <a:cs typeface="Arial"/>
              </a:rPr>
              <a:t> </a:t>
            </a:r>
            <a:r>
              <a:rPr dirty="0">
                <a:latin typeface="Calibri Light"/>
                <a:cs typeface="Calibri Light"/>
              </a:rPr>
              <a:t>of</a:t>
            </a:r>
            <a:r>
              <a:rPr spc="-10" dirty="0">
                <a:latin typeface="Calibri Light"/>
                <a:cs typeface="Calibri Light"/>
              </a:rPr>
              <a:t> </a:t>
            </a:r>
            <a:r>
              <a:rPr dirty="0">
                <a:latin typeface="Calibri Light"/>
                <a:cs typeface="Calibri Light"/>
              </a:rPr>
              <a:t>the</a:t>
            </a:r>
            <a:r>
              <a:rPr spc="-50" dirty="0">
                <a:latin typeface="Calibri Light"/>
                <a:cs typeface="Calibri Light"/>
              </a:rPr>
              <a:t> </a:t>
            </a:r>
            <a:r>
              <a:rPr b="1" dirty="0">
                <a:latin typeface="Arial"/>
                <a:cs typeface="Arial"/>
              </a:rPr>
              <a:t>ImageNet</a:t>
            </a:r>
            <a:r>
              <a:rPr b="1" spc="-45" dirty="0">
                <a:latin typeface="Arial"/>
                <a:cs typeface="Arial"/>
              </a:rPr>
              <a:t> </a:t>
            </a:r>
            <a:r>
              <a:rPr b="1" dirty="0">
                <a:latin typeface="Arial"/>
                <a:cs typeface="Arial"/>
              </a:rPr>
              <a:t>patches</a:t>
            </a:r>
            <a:r>
              <a:rPr b="1" spc="-25" dirty="0">
                <a:latin typeface="Arial"/>
                <a:cs typeface="Arial"/>
              </a:rPr>
              <a:t> </a:t>
            </a:r>
            <a:r>
              <a:rPr dirty="0">
                <a:latin typeface="Calibri Light"/>
                <a:cs typeface="Calibri Light"/>
              </a:rPr>
              <a:t>that</a:t>
            </a:r>
            <a:r>
              <a:rPr spc="-40" dirty="0">
                <a:latin typeface="Calibri Light"/>
                <a:cs typeface="Calibri Light"/>
              </a:rPr>
              <a:t> </a:t>
            </a:r>
            <a:r>
              <a:rPr spc="-10" dirty="0">
                <a:latin typeface="Calibri Light"/>
                <a:cs typeface="Calibri Light"/>
              </a:rPr>
              <a:t>resulted</a:t>
            </a:r>
            <a:r>
              <a:rPr spc="-55" dirty="0">
                <a:latin typeface="Calibri Light"/>
                <a:cs typeface="Calibri Light"/>
              </a:rPr>
              <a:t> </a:t>
            </a:r>
            <a:r>
              <a:rPr dirty="0">
                <a:latin typeface="Calibri Light"/>
                <a:cs typeface="Calibri Light"/>
              </a:rPr>
              <a:t>in</a:t>
            </a:r>
            <a:r>
              <a:rPr spc="-20" dirty="0">
                <a:latin typeface="Calibri Light"/>
                <a:cs typeface="Calibri Light"/>
              </a:rPr>
              <a:t> </a:t>
            </a:r>
            <a:r>
              <a:rPr b="1" dirty="0">
                <a:latin typeface="Arial"/>
                <a:cs typeface="Arial"/>
              </a:rPr>
              <a:t>maximum</a:t>
            </a:r>
            <a:r>
              <a:rPr b="1" spc="-45" dirty="0">
                <a:latin typeface="Arial"/>
                <a:cs typeface="Arial"/>
              </a:rPr>
              <a:t> </a:t>
            </a:r>
            <a:r>
              <a:rPr b="1" spc="-10" dirty="0">
                <a:latin typeface="Arial"/>
                <a:cs typeface="Arial"/>
              </a:rPr>
              <a:t>weight </a:t>
            </a:r>
            <a:r>
              <a:rPr b="1" dirty="0">
                <a:latin typeface="Arial"/>
                <a:cs typeface="Arial"/>
              </a:rPr>
              <a:t>response</a:t>
            </a:r>
            <a:r>
              <a:rPr b="1" spc="-80" dirty="0">
                <a:latin typeface="Arial"/>
                <a:cs typeface="Arial"/>
              </a:rPr>
              <a:t> </a:t>
            </a:r>
            <a:r>
              <a:rPr dirty="0">
                <a:latin typeface="Calibri Light"/>
                <a:cs typeface="Calibri Light"/>
              </a:rPr>
              <a:t>to</a:t>
            </a:r>
            <a:r>
              <a:rPr spc="-40" dirty="0">
                <a:latin typeface="Calibri Light"/>
                <a:cs typeface="Calibri Light"/>
              </a:rPr>
              <a:t> </a:t>
            </a:r>
            <a:r>
              <a:rPr dirty="0">
                <a:latin typeface="Calibri Light"/>
                <a:cs typeface="Calibri Light"/>
              </a:rPr>
              <a:t>four</a:t>
            </a:r>
            <a:r>
              <a:rPr spc="-60" dirty="0">
                <a:latin typeface="Calibri Light"/>
                <a:cs typeface="Calibri Light"/>
              </a:rPr>
              <a:t> </a:t>
            </a:r>
            <a:r>
              <a:rPr spc="-10" dirty="0">
                <a:latin typeface="Calibri Light"/>
                <a:cs typeface="Calibri Light"/>
              </a:rPr>
              <a:t>kernels</a:t>
            </a:r>
            <a:r>
              <a:rPr spc="-35" dirty="0">
                <a:latin typeface="Calibri Light"/>
                <a:cs typeface="Calibri Light"/>
              </a:rPr>
              <a:t> </a:t>
            </a:r>
            <a:r>
              <a:rPr dirty="0">
                <a:latin typeface="Calibri Light"/>
                <a:cs typeface="Calibri Light"/>
              </a:rPr>
              <a:t>in</a:t>
            </a:r>
            <a:r>
              <a:rPr spc="-55" dirty="0">
                <a:latin typeface="Calibri Light"/>
                <a:cs typeface="Calibri Light"/>
              </a:rPr>
              <a:t> </a:t>
            </a:r>
            <a:r>
              <a:rPr spc="-10" dirty="0">
                <a:latin typeface="Calibri Light"/>
                <a:cs typeface="Calibri Light"/>
              </a:rPr>
              <a:t>convolution.</a:t>
            </a:r>
            <a:endParaRPr>
              <a:latin typeface="Calibri Light"/>
              <a:cs typeface="Calibri Light"/>
            </a:endParaRPr>
          </a:p>
        </p:txBody>
      </p:sp>
      <p:sp>
        <p:nvSpPr>
          <p:cNvPr id="3" name="object 3"/>
          <p:cNvSpPr txBox="1"/>
          <p:nvPr/>
        </p:nvSpPr>
        <p:spPr>
          <a:xfrm>
            <a:off x="2140268" y="2732024"/>
            <a:ext cx="7832725" cy="1725295"/>
          </a:xfrm>
          <a:prstGeom prst="rect">
            <a:avLst/>
          </a:prstGeom>
        </p:spPr>
        <p:txBody>
          <a:bodyPr vert="horz" wrap="square" lIns="0" tIns="12700" rIns="0" bIns="0" rtlCol="0">
            <a:spAutoFit/>
          </a:bodyPr>
          <a:lstStyle/>
          <a:p>
            <a:pPr marL="185420" indent="-172720">
              <a:lnSpc>
                <a:spcPts val="2510"/>
              </a:lnSpc>
              <a:spcBef>
                <a:spcPts val="100"/>
              </a:spcBef>
              <a:buFont typeface="Arial"/>
              <a:buChar char="•"/>
              <a:tabLst>
                <a:tab pos="185420" algn="l"/>
              </a:tabLst>
            </a:pPr>
            <a:r>
              <a:rPr sz="2100" dirty="0">
                <a:latin typeface="Calibri"/>
                <a:cs typeface="Calibri"/>
              </a:rPr>
              <a:t>Based</a:t>
            </a:r>
            <a:r>
              <a:rPr sz="2100" spc="-60" dirty="0">
                <a:latin typeface="Calibri"/>
                <a:cs typeface="Calibri"/>
              </a:rPr>
              <a:t> </a:t>
            </a:r>
            <a:r>
              <a:rPr sz="2100" dirty="0">
                <a:latin typeface="Calibri"/>
                <a:cs typeface="Calibri"/>
              </a:rPr>
              <a:t>on</a:t>
            </a:r>
            <a:r>
              <a:rPr sz="2100" spc="-40" dirty="0">
                <a:latin typeface="Calibri"/>
                <a:cs typeface="Calibri"/>
              </a:rPr>
              <a:t> </a:t>
            </a:r>
            <a:r>
              <a:rPr sz="2100" dirty="0">
                <a:latin typeface="Calibri"/>
                <a:cs typeface="Calibri"/>
              </a:rPr>
              <a:t>the</a:t>
            </a:r>
            <a:r>
              <a:rPr sz="2100" spc="-45" dirty="0">
                <a:latin typeface="Calibri"/>
                <a:cs typeface="Calibri"/>
              </a:rPr>
              <a:t> </a:t>
            </a:r>
            <a:r>
              <a:rPr sz="2100" b="1" dirty="0">
                <a:latin typeface="Arial"/>
                <a:cs typeface="Arial"/>
              </a:rPr>
              <a:t>type</a:t>
            </a:r>
            <a:r>
              <a:rPr sz="2100" b="1" spc="-20" dirty="0">
                <a:latin typeface="Arial"/>
                <a:cs typeface="Arial"/>
              </a:rPr>
              <a:t> </a:t>
            </a:r>
            <a:r>
              <a:rPr sz="2100" b="1" dirty="0">
                <a:latin typeface="Arial"/>
                <a:cs typeface="Arial"/>
              </a:rPr>
              <a:t>of</a:t>
            </a:r>
            <a:r>
              <a:rPr sz="2100" b="1" spc="-45" dirty="0">
                <a:latin typeface="Arial"/>
                <a:cs typeface="Arial"/>
              </a:rPr>
              <a:t> </a:t>
            </a:r>
            <a:r>
              <a:rPr sz="2100" b="1" dirty="0">
                <a:latin typeface="Arial"/>
                <a:cs typeface="Arial"/>
              </a:rPr>
              <a:t>kernel,</a:t>
            </a:r>
            <a:r>
              <a:rPr sz="2100" b="1" spc="-35" dirty="0">
                <a:latin typeface="Arial"/>
                <a:cs typeface="Arial"/>
              </a:rPr>
              <a:t> </a:t>
            </a:r>
            <a:r>
              <a:rPr sz="2100" b="1" dirty="0">
                <a:latin typeface="Arial"/>
                <a:cs typeface="Arial"/>
              </a:rPr>
              <a:t>different</a:t>
            </a:r>
            <a:r>
              <a:rPr sz="2100" b="1" spc="-30" dirty="0">
                <a:latin typeface="Arial"/>
                <a:cs typeface="Arial"/>
              </a:rPr>
              <a:t> </a:t>
            </a:r>
            <a:r>
              <a:rPr sz="2100" b="1" dirty="0">
                <a:latin typeface="Arial"/>
                <a:cs typeface="Arial"/>
              </a:rPr>
              <a:t>features</a:t>
            </a:r>
            <a:r>
              <a:rPr sz="2100" b="1" spc="-70" dirty="0">
                <a:latin typeface="Arial"/>
                <a:cs typeface="Arial"/>
              </a:rPr>
              <a:t> </a:t>
            </a:r>
            <a:r>
              <a:rPr sz="2100" dirty="0">
                <a:latin typeface="Calibri"/>
                <a:cs typeface="Calibri"/>
              </a:rPr>
              <a:t>can</a:t>
            </a:r>
            <a:r>
              <a:rPr sz="2100" spc="-45" dirty="0">
                <a:latin typeface="Calibri"/>
                <a:cs typeface="Calibri"/>
              </a:rPr>
              <a:t> </a:t>
            </a:r>
            <a:r>
              <a:rPr sz="2100" dirty="0">
                <a:latin typeface="Calibri"/>
                <a:cs typeface="Calibri"/>
              </a:rPr>
              <a:t>be</a:t>
            </a:r>
            <a:r>
              <a:rPr sz="2100" spc="-35" dirty="0">
                <a:latin typeface="Calibri"/>
                <a:cs typeface="Calibri"/>
              </a:rPr>
              <a:t> </a:t>
            </a:r>
            <a:r>
              <a:rPr sz="2100" spc="-10" dirty="0">
                <a:latin typeface="Calibri"/>
                <a:cs typeface="Calibri"/>
              </a:rPr>
              <a:t>detected.</a:t>
            </a:r>
            <a:r>
              <a:rPr sz="2100" spc="-55" dirty="0">
                <a:latin typeface="Calibri"/>
                <a:cs typeface="Calibri"/>
              </a:rPr>
              <a:t> </a:t>
            </a:r>
            <a:r>
              <a:rPr sz="2100" spc="-25" dirty="0">
                <a:latin typeface="Calibri"/>
                <a:cs typeface="Calibri"/>
              </a:rPr>
              <a:t>If</a:t>
            </a:r>
            <a:endParaRPr sz="2100">
              <a:latin typeface="Calibri"/>
              <a:cs typeface="Calibri"/>
            </a:endParaRPr>
          </a:p>
          <a:p>
            <a:pPr marL="50800">
              <a:lnSpc>
                <a:spcPts val="2510"/>
              </a:lnSpc>
            </a:pPr>
            <a:r>
              <a:rPr sz="2100" dirty="0">
                <a:latin typeface="Calibri"/>
                <a:cs typeface="Calibri"/>
              </a:rPr>
              <a:t>only</a:t>
            </a:r>
            <a:r>
              <a:rPr sz="2100" spc="-50" dirty="0">
                <a:latin typeface="Calibri"/>
                <a:cs typeface="Calibri"/>
              </a:rPr>
              <a:t> </a:t>
            </a:r>
            <a:r>
              <a:rPr sz="2100" dirty="0">
                <a:latin typeface="Calibri"/>
                <a:cs typeface="Calibri"/>
              </a:rPr>
              <a:t>one</a:t>
            </a:r>
            <a:r>
              <a:rPr sz="2100" spc="-40" dirty="0">
                <a:latin typeface="Calibri"/>
                <a:cs typeface="Calibri"/>
              </a:rPr>
              <a:t> </a:t>
            </a:r>
            <a:r>
              <a:rPr sz="2100" spc="-10" dirty="0">
                <a:latin typeface="Calibri"/>
                <a:cs typeface="Calibri"/>
              </a:rPr>
              <a:t>kernel</a:t>
            </a:r>
            <a:r>
              <a:rPr sz="2100" spc="-45" dirty="0">
                <a:latin typeface="Calibri"/>
                <a:cs typeface="Calibri"/>
              </a:rPr>
              <a:t> </a:t>
            </a:r>
            <a:r>
              <a:rPr sz="2100" dirty="0">
                <a:latin typeface="Calibri"/>
                <a:cs typeface="Calibri"/>
              </a:rPr>
              <a:t>be</a:t>
            </a:r>
            <a:r>
              <a:rPr sz="2100" spc="-60" dirty="0">
                <a:latin typeface="Calibri"/>
                <a:cs typeface="Calibri"/>
              </a:rPr>
              <a:t> </a:t>
            </a:r>
            <a:r>
              <a:rPr sz="2100" dirty="0">
                <a:latin typeface="Calibri"/>
                <a:cs typeface="Calibri"/>
              </a:rPr>
              <a:t>used,</a:t>
            </a:r>
            <a:r>
              <a:rPr sz="2100" spc="-45" dirty="0">
                <a:latin typeface="Calibri"/>
                <a:cs typeface="Calibri"/>
              </a:rPr>
              <a:t> </a:t>
            </a:r>
            <a:r>
              <a:rPr sz="2100" dirty="0">
                <a:latin typeface="Calibri"/>
                <a:cs typeface="Calibri"/>
              </a:rPr>
              <a:t>then</a:t>
            </a:r>
            <a:r>
              <a:rPr sz="2100" spc="-55" dirty="0">
                <a:latin typeface="Calibri"/>
                <a:cs typeface="Calibri"/>
              </a:rPr>
              <a:t> </a:t>
            </a:r>
            <a:r>
              <a:rPr sz="2100" dirty="0">
                <a:latin typeface="Calibri"/>
                <a:cs typeface="Calibri"/>
              </a:rPr>
              <a:t>only</a:t>
            </a:r>
            <a:r>
              <a:rPr sz="2100" spc="-50" dirty="0">
                <a:latin typeface="Calibri"/>
                <a:cs typeface="Calibri"/>
              </a:rPr>
              <a:t> </a:t>
            </a:r>
            <a:r>
              <a:rPr sz="2100" dirty="0">
                <a:latin typeface="Calibri"/>
                <a:cs typeface="Calibri"/>
              </a:rPr>
              <a:t>one</a:t>
            </a:r>
            <a:r>
              <a:rPr sz="2100" spc="-25" dirty="0">
                <a:latin typeface="Calibri"/>
                <a:cs typeface="Calibri"/>
              </a:rPr>
              <a:t> </a:t>
            </a:r>
            <a:r>
              <a:rPr sz="2100" dirty="0">
                <a:latin typeface="Calibri"/>
                <a:cs typeface="Calibri"/>
              </a:rPr>
              <a:t>type</a:t>
            </a:r>
            <a:r>
              <a:rPr sz="2100" spc="-25" dirty="0">
                <a:latin typeface="Calibri"/>
                <a:cs typeface="Calibri"/>
              </a:rPr>
              <a:t> </a:t>
            </a:r>
            <a:r>
              <a:rPr sz="2100" dirty="0">
                <a:latin typeface="Calibri"/>
                <a:cs typeface="Calibri"/>
              </a:rPr>
              <a:t>of</a:t>
            </a:r>
            <a:r>
              <a:rPr sz="2100" spc="-20" dirty="0">
                <a:latin typeface="Calibri"/>
                <a:cs typeface="Calibri"/>
              </a:rPr>
              <a:t> feature</a:t>
            </a:r>
            <a:r>
              <a:rPr sz="2100" spc="-75" dirty="0">
                <a:latin typeface="Calibri"/>
                <a:cs typeface="Calibri"/>
              </a:rPr>
              <a:t> </a:t>
            </a:r>
            <a:r>
              <a:rPr sz="2100" dirty="0">
                <a:latin typeface="Calibri"/>
                <a:cs typeface="Calibri"/>
              </a:rPr>
              <a:t>will</a:t>
            </a:r>
            <a:r>
              <a:rPr sz="2100" spc="20" dirty="0">
                <a:latin typeface="Calibri"/>
                <a:cs typeface="Calibri"/>
              </a:rPr>
              <a:t> </a:t>
            </a:r>
            <a:r>
              <a:rPr sz="2100" dirty="0">
                <a:latin typeface="Calibri"/>
                <a:cs typeface="Calibri"/>
              </a:rPr>
              <a:t>be</a:t>
            </a:r>
            <a:r>
              <a:rPr sz="2100" spc="-50" dirty="0">
                <a:latin typeface="Calibri"/>
                <a:cs typeface="Calibri"/>
              </a:rPr>
              <a:t> </a:t>
            </a:r>
            <a:r>
              <a:rPr sz="2100" spc="-10" dirty="0">
                <a:latin typeface="Calibri"/>
                <a:cs typeface="Calibri"/>
              </a:rPr>
              <a:t>extracted.</a:t>
            </a:r>
            <a:endParaRPr sz="2100">
              <a:latin typeface="Calibri"/>
              <a:cs typeface="Calibri"/>
            </a:endParaRPr>
          </a:p>
          <a:p>
            <a:pPr marL="50800" marR="328930" indent="-38100">
              <a:lnSpc>
                <a:spcPct val="100800"/>
              </a:lnSpc>
              <a:spcBef>
                <a:spcPts val="780"/>
              </a:spcBef>
              <a:buFont typeface="Arial"/>
              <a:buChar char="•"/>
              <a:tabLst>
                <a:tab pos="50800" algn="l"/>
                <a:tab pos="185420" algn="l"/>
              </a:tabLst>
            </a:pPr>
            <a:r>
              <a:rPr sz="2100" dirty="0">
                <a:latin typeface="Calibri"/>
                <a:cs typeface="Calibri"/>
              </a:rPr>
              <a:t>	Clearly</a:t>
            </a:r>
            <a:r>
              <a:rPr sz="2100" spc="-55" dirty="0">
                <a:latin typeface="Calibri"/>
                <a:cs typeface="Calibri"/>
              </a:rPr>
              <a:t> </a:t>
            </a:r>
            <a:r>
              <a:rPr sz="2100" dirty="0">
                <a:latin typeface="Calibri"/>
                <a:cs typeface="Calibri"/>
              </a:rPr>
              <a:t>for</a:t>
            </a:r>
            <a:r>
              <a:rPr sz="2100" spc="-30" dirty="0">
                <a:latin typeface="Calibri"/>
                <a:cs typeface="Calibri"/>
              </a:rPr>
              <a:t> </a:t>
            </a:r>
            <a:r>
              <a:rPr sz="2100" dirty="0">
                <a:latin typeface="Calibri"/>
                <a:cs typeface="Calibri"/>
              </a:rPr>
              <a:t>tasks</a:t>
            </a:r>
            <a:r>
              <a:rPr sz="2100" spc="-65" dirty="0">
                <a:latin typeface="Calibri"/>
                <a:cs typeface="Calibri"/>
              </a:rPr>
              <a:t> </a:t>
            </a:r>
            <a:r>
              <a:rPr sz="2100" dirty="0">
                <a:latin typeface="Calibri"/>
                <a:cs typeface="Calibri"/>
              </a:rPr>
              <a:t>as</a:t>
            </a:r>
            <a:r>
              <a:rPr sz="2100" spc="-20" dirty="0">
                <a:latin typeface="Calibri"/>
                <a:cs typeface="Calibri"/>
              </a:rPr>
              <a:t> </a:t>
            </a:r>
            <a:r>
              <a:rPr sz="2100" spc="-10" dirty="0">
                <a:latin typeface="Calibri"/>
                <a:cs typeface="Calibri"/>
              </a:rPr>
              <a:t>complex</a:t>
            </a:r>
            <a:r>
              <a:rPr sz="2100" spc="-40" dirty="0">
                <a:latin typeface="Calibri"/>
                <a:cs typeface="Calibri"/>
              </a:rPr>
              <a:t> </a:t>
            </a:r>
            <a:r>
              <a:rPr sz="2100" dirty="0">
                <a:latin typeface="Calibri"/>
                <a:cs typeface="Calibri"/>
              </a:rPr>
              <a:t>as</a:t>
            </a:r>
            <a:r>
              <a:rPr sz="2100" spc="-45" dirty="0">
                <a:latin typeface="Calibri"/>
                <a:cs typeface="Calibri"/>
              </a:rPr>
              <a:t> </a:t>
            </a:r>
            <a:r>
              <a:rPr sz="2100" dirty="0">
                <a:latin typeface="Calibri"/>
                <a:cs typeface="Calibri"/>
              </a:rPr>
              <a:t>image</a:t>
            </a:r>
            <a:r>
              <a:rPr sz="2100" spc="-45" dirty="0">
                <a:latin typeface="Calibri"/>
                <a:cs typeface="Calibri"/>
              </a:rPr>
              <a:t> </a:t>
            </a:r>
            <a:r>
              <a:rPr sz="2100" spc="-10" dirty="0">
                <a:latin typeface="Calibri"/>
                <a:cs typeface="Calibri"/>
              </a:rPr>
              <a:t>classification,</a:t>
            </a:r>
            <a:r>
              <a:rPr sz="2100" spc="-35" dirty="0">
                <a:latin typeface="Calibri"/>
                <a:cs typeface="Calibri"/>
              </a:rPr>
              <a:t> </a:t>
            </a:r>
            <a:r>
              <a:rPr sz="2100" dirty="0">
                <a:latin typeface="Calibri"/>
                <a:cs typeface="Calibri"/>
              </a:rPr>
              <a:t>object</a:t>
            </a:r>
            <a:r>
              <a:rPr sz="2100" spc="-50" dirty="0">
                <a:latin typeface="Calibri"/>
                <a:cs typeface="Calibri"/>
              </a:rPr>
              <a:t> </a:t>
            </a:r>
            <a:r>
              <a:rPr sz="2100" spc="-10" dirty="0">
                <a:latin typeface="Calibri"/>
                <a:cs typeface="Calibri"/>
              </a:rPr>
              <a:t>detection </a:t>
            </a:r>
            <a:r>
              <a:rPr sz="2100" spc="-25" dirty="0">
                <a:latin typeface="Calibri"/>
                <a:cs typeface="Calibri"/>
              </a:rPr>
              <a:t>and</a:t>
            </a:r>
            <a:endParaRPr sz="2100">
              <a:latin typeface="Calibri"/>
              <a:cs typeface="Calibri"/>
            </a:endParaRPr>
          </a:p>
          <a:p>
            <a:pPr marL="50800">
              <a:lnSpc>
                <a:spcPts val="2500"/>
              </a:lnSpc>
            </a:pPr>
            <a:r>
              <a:rPr sz="2100" spc="-25" dirty="0">
                <a:latin typeface="Calibri"/>
                <a:cs typeface="Calibri"/>
              </a:rPr>
              <a:t>the</a:t>
            </a:r>
            <a:endParaRPr sz="2100">
              <a:latin typeface="Calibri"/>
              <a:cs typeface="Calibri"/>
            </a:endParaRPr>
          </a:p>
        </p:txBody>
      </p:sp>
      <p:sp>
        <p:nvSpPr>
          <p:cNvPr id="4" name="object 4"/>
          <p:cNvSpPr txBox="1"/>
          <p:nvPr/>
        </p:nvSpPr>
        <p:spPr>
          <a:xfrm>
            <a:off x="2655887" y="3832088"/>
            <a:ext cx="7279640" cy="626110"/>
          </a:xfrm>
          <a:prstGeom prst="rect">
            <a:avLst/>
          </a:prstGeom>
        </p:spPr>
        <p:txBody>
          <a:bodyPr vert="horz" wrap="square" lIns="0" tIns="0" rIns="0" bIns="0" rtlCol="0">
            <a:spAutoFit/>
          </a:bodyPr>
          <a:lstStyle/>
          <a:p>
            <a:pPr>
              <a:lnSpc>
                <a:spcPts val="2310"/>
              </a:lnSpc>
            </a:pPr>
            <a:r>
              <a:rPr sz="2100" spc="-10" dirty="0">
                <a:latin typeface="Calibri"/>
                <a:cs typeface="Calibri"/>
              </a:rPr>
              <a:t>segmentation</a:t>
            </a:r>
            <a:r>
              <a:rPr sz="2100" spc="-50" dirty="0">
                <a:latin typeface="Calibri"/>
                <a:cs typeface="Calibri"/>
              </a:rPr>
              <a:t> </a:t>
            </a:r>
            <a:r>
              <a:rPr sz="2100" b="1" dirty="0">
                <a:latin typeface="Arial"/>
                <a:cs typeface="Arial"/>
              </a:rPr>
              <a:t>more</a:t>
            </a:r>
            <a:r>
              <a:rPr sz="2100" b="1" spc="-85" dirty="0">
                <a:latin typeface="Arial"/>
                <a:cs typeface="Arial"/>
              </a:rPr>
              <a:t> </a:t>
            </a:r>
            <a:r>
              <a:rPr sz="2100" b="1" dirty="0">
                <a:latin typeface="Arial"/>
                <a:cs typeface="Arial"/>
              </a:rPr>
              <a:t>than</a:t>
            </a:r>
            <a:r>
              <a:rPr sz="2100" b="1" spc="-25" dirty="0">
                <a:latin typeface="Arial"/>
                <a:cs typeface="Arial"/>
              </a:rPr>
              <a:t> </a:t>
            </a:r>
            <a:r>
              <a:rPr sz="2100" b="1" dirty="0">
                <a:latin typeface="Arial"/>
                <a:cs typeface="Arial"/>
              </a:rPr>
              <a:t>one</a:t>
            </a:r>
            <a:r>
              <a:rPr sz="2100" b="1" spc="-55" dirty="0">
                <a:latin typeface="Arial"/>
                <a:cs typeface="Arial"/>
              </a:rPr>
              <a:t> </a:t>
            </a:r>
            <a:r>
              <a:rPr sz="2100" b="1" dirty="0">
                <a:latin typeface="Arial"/>
                <a:cs typeface="Arial"/>
              </a:rPr>
              <a:t>feature</a:t>
            </a:r>
            <a:r>
              <a:rPr sz="2100" b="1" spc="-85" dirty="0">
                <a:latin typeface="Arial"/>
                <a:cs typeface="Arial"/>
              </a:rPr>
              <a:t> </a:t>
            </a:r>
            <a:r>
              <a:rPr sz="2100" dirty="0">
                <a:latin typeface="Calibri"/>
                <a:cs typeface="Calibri"/>
              </a:rPr>
              <a:t>is</a:t>
            </a:r>
            <a:r>
              <a:rPr sz="2100" spc="-45" dirty="0">
                <a:latin typeface="Calibri"/>
                <a:cs typeface="Calibri"/>
              </a:rPr>
              <a:t> </a:t>
            </a:r>
            <a:r>
              <a:rPr sz="2100" spc="-10" dirty="0">
                <a:latin typeface="Calibri"/>
                <a:cs typeface="Calibri"/>
              </a:rPr>
              <a:t>required</a:t>
            </a:r>
            <a:r>
              <a:rPr sz="2100" spc="-65" dirty="0">
                <a:latin typeface="Calibri"/>
                <a:cs typeface="Calibri"/>
              </a:rPr>
              <a:t> </a:t>
            </a:r>
            <a:r>
              <a:rPr sz="2100" dirty="0">
                <a:latin typeface="Calibri"/>
                <a:cs typeface="Calibri"/>
              </a:rPr>
              <a:t>at</a:t>
            </a:r>
            <a:r>
              <a:rPr sz="2100" spc="-45" dirty="0">
                <a:latin typeface="Calibri"/>
                <a:cs typeface="Calibri"/>
              </a:rPr>
              <a:t> </a:t>
            </a:r>
            <a:r>
              <a:rPr sz="2100" dirty="0">
                <a:latin typeface="Calibri"/>
                <a:cs typeface="Calibri"/>
              </a:rPr>
              <a:t>each</a:t>
            </a:r>
            <a:r>
              <a:rPr sz="2100" spc="-40" dirty="0">
                <a:latin typeface="Calibri"/>
                <a:cs typeface="Calibri"/>
              </a:rPr>
              <a:t> </a:t>
            </a:r>
            <a:r>
              <a:rPr sz="2100" dirty="0">
                <a:latin typeface="Calibri"/>
                <a:cs typeface="Calibri"/>
              </a:rPr>
              <a:t>layer</a:t>
            </a:r>
            <a:r>
              <a:rPr sz="2100" spc="15" dirty="0">
                <a:latin typeface="Calibri"/>
                <a:cs typeface="Calibri"/>
              </a:rPr>
              <a:t> </a:t>
            </a:r>
            <a:r>
              <a:rPr sz="2100" spc="-25" dirty="0">
                <a:latin typeface="Calibri"/>
                <a:cs typeface="Calibri"/>
              </a:rPr>
              <a:t>of</a:t>
            </a:r>
            <a:endParaRPr sz="2100">
              <a:latin typeface="Calibri"/>
              <a:cs typeface="Calibri"/>
            </a:endParaRPr>
          </a:p>
          <a:p>
            <a:pPr marL="15240">
              <a:lnSpc>
                <a:spcPts val="2510"/>
              </a:lnSpc>
            </a:pPr>
            <a:r>
              <a:rPr sz="2100" spc="-10" dirty="0">
                <a:latin typeface="Calibri"/>
                <a:cs typeface="Calibri"/>
              </a:rPr>
              <a:t>network.</a:t>
            </a:r>
            <a:endParaRPr sz="2100">
              <a:latin typeface="Calibri"/>
              <a:cs typeface="Calibri"/>
            </a:endParaRPr>
          </a:p>
        </p:txBody>
      </p:sp>
      <p:grpSp>
        <p:nvGrpSpPr>
          <p:cNvPr id="5" name="object 5"/>
          <p:cNvGrpSpPr/>
          <p:nvPr/>
        </p:nvGrpSpPr>
        <p:grpSpPr>
          <a:xfrm>
            <a:off x="2631440" y="1120146"/>
            <a:ext cx="7744459" cy="5443220"/>
            <a:chOff x="1107439" y="1120146"/>
            <a:chExt cx="7744459" cy="5443220"/>
          </a:xfrm>
        </p:grpSpPr>
        <p:pic>
          <p:nvPicPr>
            <p:cNvPr id="6" name="object 6"/>
            <p:cNvPicPr/>
            <p:nvPr/>
          </p:nvPicPr>
          <p:blipFill>
            <a:blip r:embed="rId2" cstate="print"/>
            <a:stretch>
              <a:fillRect/>
            </a:stretch>
          </p:blipFill>
          <p:spPr>
            <a:xfrm>
              <a:off x="5836990" y="1120146"/>
              <a:ext cx="2236609" cy="1145819"/>
            </a:xfrm>
            <a:prstGeom prst="rect">
              <a:avLst/>
            </a:prstGeom>
          </p:spPr>
        </p:pic>
        <p:pic>
          <p:nvPicPr>
            <p:cNvPr id="7" name="object 7"/>
            <p:cNvPicPr/>
            <p:nvPr/>
          </p:nvPicPr>
          <p:blipFill>
            <a:blip r:embed="rId3" cstate="print"/>
            <a:stretch>
              <a:fillRect/>
            </a:stretch>
          </p:blipFill>
          <p:spPr>
            <a:xfrm>
              <a:off x="1107439" y="3789680"/>
              <a:ext cx="7744459" cy="2773680"/>
            </a:xfrm>
            <a:prstGeom prst="rect">
              <a:avLst/>
            </a:prstGeom>
          </p:spPr>
        </p:pic>
        <p:pic>
          <p:nvPicPr>
            <p:cNvPr id="8" name="object 8"/>
            <p:cNvPicPr/>
            <p:nvPr/>
          </p:nvPicPr>
          <p:blipFill>
            <a:blip r:embed="rId4" cstate="print"/>
            <a:stretch>
              <a:fillRect/>
            </a:stretch>
          </p:blipFill>
          <p:spPr>
            <a:xfrm>
              <a:off x="1330959" y="4219194"/>
              <a:ext cx="84709" cy="73279"/>
            </a:xfrm>
            <a:prstGeom prst="rect">
              <a:avLst/>
            </a:prstGeom>
          </p:spPr>
        </p:pic>
        <p:sp>
          <p:nvSpPr>
            <p:cNvPr id="9" name="object 9"/>
            <p:cNvSpPr/>
            <p:nvPr/>
          </p:nvSpPr>
          <p:spPr>
            <a:xfrm>
              <a:off x="1391665" y="1336040"/>
              <a:ext cx="4552315" cy="2921000"/>
            </a:xfrm>
            <a:custGeom>
              <a:avLst/>
              <a:gdLst/>
              <a:ahLst/>
              <a:cxnLst/>
              <a:rect l="l" t="t" r="r" b="b"/>
              <a:pathLst>
                <a:path w="4552315" h="2921000">
                  <a:moveTo>
                    <a:pt x="4545076" y="0"/>
                  </a:moveTo>
                  <a:lnTo>
                    <a:pt x="0" y="2909951"/>
                  </a:lnTo>
                  <a:lnTo>
                    <a:pt x="6858" y="2920619"/>
                  </a:lnTo>
                  <a:lnTo>
                    <a:pt x="4551807" y="10668"/>
                  </a:lnTo>
                  <a:lnTo>
                    <a:pt x="4545076" y="0"/>
                  </a:lnTo>
                  <a:close/>
                </a:path>
              </a:pathLst>
            </a:custGeom>
            <a:solidFill>
              <a:srgbClr val="5B9BD3"/>
            </a:solidFill>
          </p:spPr>
          <p:txBody>
            <a:bodyPr wrap="square" lIns="0" tIns="0" rIns="0" bIns="0" rtlCol="0"/>
            <a:lstStyle/>
            <a:p>
              <a:endParaRPr/>
            </a:p>
          </p:txBody>
        </p:sp>
      </p:grpSp>
      <p:sp>
        <p:nvSpPr>
          <p:cNvPr id="10" name="object 10"/>
          <p:cNvSpPr txBox="1"/>
          <p:nvPr/>
        </p:nvSpPr>
        <p:spPr>
          <a:xfrm>
            <a:off x="3727451" y="6556693"/>
            <a:ext cx="4573905" cy="135935"/>
          </a:xfrm>
          <a:prstGeom prst="rect">
            <a:avLst/>
          </a:prstGeom>
        </p:spPr>
        <p:txBody>
          <a:bodyPr vert="horz" wrap="square" lIns="0" tIns="12700" rIns="0" bIns="0" rtlCol="0">
            <a:spAutoFit/>
          </a:bodyPr>
          <a:lstStyle/>
          <a:p>
            <a:pPr marL="12700">
              <a:spcBef>
                <a:spcPts val="100"/>
              </a:spcBef>
            </a:pPr>
            <a:r>
              <a:rPr sz="800" u="sng" spc="-20" dirty="0">
                <a:solidFill>
                  <a:srgbClr val="0462C1"/>
                </a:solidFill>
                <a:uFill>
                  <a:solidFill>
                    <a:srgbClr val="0461C1"/>
                  </a:solidFill>
                </a:uFill>
                <a:latin typeface="Arial"/>
                <a:cs typeface="Arial"/>
                <a:hlinkClick r:id="rId5"/>
              </a:rPr>
              <a:t>https://medium.com/apache-mxnet/multi-</a:t>
            </a:r>
            <a:r>
              <a:rPr sz="800" u="sng" spc="-10" dirty="0">
                <a:solidFill>
                  <a:srgbClr val="0462C1"/>
                </a:solidFill>
                <a:uFill>
                  <a:solidFill>
                    <a:srgbClr val="0461C1"/>
                  </a:solidFill>
                </a:uFill>
                <a:latin typeface="Arial"/>
                <a:cs typeface="Arial"/>
                <a:hlinkClick r:id="rId5"/>
              </a:rPr>
              <a:t>channel-convolutions-</a:t>
            </a:r>
            <a:r>
              <a:rPr sz="800" u="sng" spc="-20" dirty="0">
                <a:solidFill>
                  <a:srgbClr val="0462C1"/>
                </a:solidFill>
                <a:uFill>
                  <a:solidFill>
                    <a:srgbClr val="0461C1"/>
                  </a:solidFill>
                </a:uFill>
                <a:latin typeface="Arial"/>
                <a:cs typeface="Arial"/>
                <a:hlinkClick r:id="rId5"/>
              </a:rPr>
              <a:t>explained-</a:t>
            </a:r>
            <a:r>
              <a:rPr sz="800" u="sng" spc="-10" dirty="0">
                <a:solidFill>
                  <a:srgbClr val="0462C1"/>
                </a:solidFill>
                <a:uFill>
                  <a:solidFill>
                    <a:srgbClr val="0461C1"/>
                  </a:solidFill>
                </a:uFill>
                <a:latin typeface="Arial"/>
                <a:cs typeface="Arial"/>
                <a:hlinkClick r:id="rId5"/>
              </a:rPr>
              <a:t>with-ms-</a:t>
            </a:r>
            <a:r>
              <a:rPr sz="800" u="sng" spc="-20" dirty="0">
                <a:solidFill>
                  <a:srgbClr val="0462C1"/>
                </a:solidFill>
                <a:uFill>
                  <a:solidFill>
                    <a:srgbClr val="0461C1"/>
                  </a:solidFill>
                </a:uFill>
                <a:latin typeface="Arial"/>
                <a:cs typeface="Arial"/>
                <a:hlinkClick r:id="rId5"/>
              </a:rPr>
              <a:t>excel-</a:t>
            </a:r>
            <a:r>
              <a:rPr sz="800" u="sng" spc="-10" dirty="0">
                <a:solidFill>
                  <a:srgbClr val="0462C1"/>
                </a:solidFill>
                <a:uFill>
                  <a:solidFill>
                    <a:srgbClr val="0461C1"/>
                  </a:solidFill>
                </a:uFill>
                <a:latin typeface="Arial"/>
                <a:cs typeface="Arial"/>
                <a:hlinkClick r:id="rId5"/>
              </a:rPr>
              <a:t>9bbf8eb77108</a:t>
            </a:r>
            <a:endParaRPr sz="800">
              <a:latin typeface="Arial"/>
              <a:cs typeface="Arial"/>
            </a:endParaRPr>
          </a:p>
        </p:txBody>
      </p:sp>
      <p:sp>
        <p:nvSpPr>
          <p:cNvPr id="11" name="object 5">
            <a:extLst>
              <a:ext uri="{FF2B5EF4-FFF2-40B4-BE49-F238E27FC236}">
                <a16:creationId xmlns:a16="http://schemas.microsoft.com/office/drawing/2014/main" id="{E7D2D345-B46C-8492-8774-40C1FD0E65B2}"/>
              </a:ext>
            </a:extLst>
          </p:cNvPr>
          <p:cNvSpPr txBox="1">
            <a:spLocks/>
          </p:cNvSpPr>
          <p:nvPr/>
        </p:nvSpPr>
        <p:spPr>
          <a:xfrm>
            <a:off x="387421" y="184088"/>
            <a:ext cx="6973570" cy="552074"/>
          </a:xfrm>
          <a:prstGeom prst="rect">
            <a:avLst/>
          </a:prstGeom>
        </p:spPr>
        <p:txBody>
          <a:bodyPr vert="horz" wrap="square" lIns="0" tIns="43815" rIns="0" bIns="0" rtlCol="0" anchor="ctr">
            <a:spAutoFit/>
          </a:bodyPr>
          <a:lstStyle>
            <a:lvl1pPr algn="l" defTabSz="914400" rtl="0" eaLnBrk="1" latinLnBrk="0" hangingPunct="1">
              <a:lnSpc>
                <a:spcPts val="3200"/>
              </a:lnSpc>
              <a:spcBef>
                <a:spcPct val="0"/>
              </a:spcBef>
              <a:buNone/>
              <a:defRPr sz="4200" b="1" kern="1200" cap="all" spc="-50" baseline="0">
                <a:solidFill>
                  <a:srgbClr val="942F6D"/>
                </a:solidFill>
                <a:latin typeface="+mn-lt"/>
                <a:ea typeface="+mj-ea"/>
                <a:cs typeface="+mj-cs"/>
              </a:defRPr>
            </a:lvl1pPr>
          </a:lstStyle>
          <a:p>
            <a:pPr marL="12700">
              <a:lnSpc>
                <a:spcPct val="100000"/>
              </a:lnSpc>
              <a:spcBef>
                <a:spcPts val="345"/>
              </a:spcBef>
            </a:pPr>
            <a:r>
              <a:rPr lang="en-GB" sz="3300" spc="-10" dirty="0"/>
              <a:t>Examples</a:t>
            </a:r>
            <a:endParaRPr lang="en-GB" sz="16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362200" y="767580"/>
            <a:ext cx="10515600" cy="520655"/>
          </a:xfrm>
          <a:prstGeom prst="rect">
            <a:avLst/>
          </a:prstGeom>
        </p:spPr>
        <p:txBody>
          <a:bodyPr vert="horz" wrap="square" lIns="0" tIns="12700" rIns="0" bIns="0" rtlCol="0" anchor="ctr">
            <a:spAutoFit/>
          </a:bodyPr>
          <a:lstStyle/>
          <a:p>
            <a:pPr marL="748665">
              <a:lnSpc>
                <a:spcPct val="100000"/>
              </a:lnSpc>
              <a:spcBef>
                <a:spcPts val="100"/>
              </a:spcBef>
            </a:pPr>
            <a:r>
              <a:rPr sz="3300" spc="-25" dirty="0">
                <a:solidFill>
                  <a:srgbClr val="006EC0"/>
                </a:solidFill>
              </a:rPr>
              <a:t>Convolutional</a:t>
            </a:r>
            <a:r>
              <a:rPr sz="3300" spc="-105" dirty="0">
                <a:solidFill>
                  <a:srgbClr val="006EC0"/>
                </a:solidFill>
              </a:rPr>
              <a:t> </a:t>
            </a:r>
            <a:r>
              <a:rPr sz="3300" spc="-10" dirty="0">
                <a:solidFill>
                  <a:srgbClr val="006EC0"/>
                </a:solidFill>
              </a:rPr>
              <a:t>Network</a:t>
            </a:r>
            <a:r>
              <a:rPr sz="3300" spc="-120" dirty="0">
                <a:solidFill>
                  <a:srgbClr val="006EC0"/>
                </a:solidFill>
              </a:rPr>
              <a:t> </a:t>
            </a:r>
            <a:r>
              <a:rPr sz="3300" spc="-10" dirty="0">
                <a:solidFill>
                  <a:srgbClr val="006EC0"/>
                </a:solidFill>
              </a:rPr>
              <a:t>(ConvNet)</a:t>
            </a:r>
            <a:endParaRPr sz="3300"/>
          </a:p>
        </p:txBody>
      </p:sp>
      <p:grpSp>
        <p:nvGrpSpPr>
          <p:cNvPr id="3" name="object 3"/>
          <p:cNvGrpSpPr/>
          <p:nvPr/>
        </p:nvGrpSpPr>
        <p:grpSpPr>
          <a:xfrm>
            <a:off x="2621945" y="768387"/>
            <a:ext cx="7153909" cy="2543810"/>
            <a:chOff x="1097944" y="768387"/>
            <a:chExt cx="7153909" cy="2543810"/>
          </a:xfrm>
        </p:grpSpPr>
        <p:pic>
          <p:nvPicPr>
            <p:cNvPr id="4" name="object 4"/>
            <p:cNvPicPr/>
            <p:nvPr/>
          </p:nvPicPr>
          <p:blipFill>
            <a:blip r:embed="rId2" cstate="print"/>
            <a:stretch>
              <a:fillRect/>
            </a:stretch>
          </p:blipFill>
          <p:spPr>
            <a:xfrm>
              <a:off x="1097944" y="768387"/>
              <a:ext cx="7153566" cy="2469785"/>
            </a:xfrm>
            <a:prstGeom prst="rect">
              <a:avLst/>
            </a:prstGeom>
          </p:spPr>
        </p:pic>
        <p:sp>
          <p:nvSpPr>
            <p:cNvPr id="5" name="object 5"/>
            <p:cNvSpPr/>
            <p:nvPr/>
          </p:nvSpPr>
          <p:spPr>
            <a:xfrm>
              <a:off x="3774440" y="3035299"/>
              <a:ext cx="1729739" cy="276860"/>
            </a:xfrm>
            <a:custGeom>
              <a:avLst/>
              <a:gdLst/>
              <a:ahLst/>
              <a:cxnLst/>
              <a:rect l="l" t="t" r="r" b="b"/>
              <a:pathLst>
                <a:path w="1729739" h="276860">
                  <a:moveTo>
                    <a:pt x="1729739" y="0"/>
                  </a:moveTo>
                  <a:lnTo>
                    <a:pt x="0" y="0"/>
                  </a:lnTo>
                  <a:lnTo>
                    <a:pt x="0" y="276860"/>
                  </a:lnTo>
                  <a:lnTo>
                    <a:pt x="1729739" y="276860"/>
                  </a:lnTo>
                  <a:lnTo>
                    <a:pt x="1729739" y="0"/>
                  </a:lnTo>
                  <a:close/>
                </a:path>
              </a:pathLst>
            </a:custGeom>
            <a:solidFill>
              <a:srgbClr val="FFFFFF"/>
            </a:solidFill>
          </p:spPr>
          <p:txBody>
            <a:bodyPr wrap="square" lIns="0" tIns="0" rIns="0" bIns="0" rtlCol="0"/>
            <a:lstStyle/>
            <a:p>
              <a:endParaRPr/>
            </a:p>
          </p:txBody>
        </p:sp>
      </p:grpSp>
      <p:sp>
        <p:nvSpPr>
          <p:cNvPr id="6" name="object 6"/>
          <p:cNvSpPr txBox="1"/>
          <p:nvPr/>
        </p:nvSpPr>
        <p:spPr>
          <a:xfrm>
            <a:off x="5378830" y="2608199"/>
            <a:ext cx="3130550" cy="661035"/>
          </a:xfrm>
          <a:prstGeom prst="rect">
            <a:avLst/>
          </a:prstGeom>
        </p:spPr>
        <p:txBody>
          <a:bodyPr vert="horz" wrap="square" lIns="0" tIns="12700" rIns="0" bIns="0" rtlCol="0">
            <a:spAutoFit/>
          </a:bodyPr>
          <a:lstStyle/>
          <a:p>
            <a:pPr marL="1945639" marR="5080">
              <a:spcBef>
                <a:spcPts val="100"/>
              </a:spcBef>
            </a:pPr>
            <a:r>
              <a:rPr sz="1200" spc="-10" dirty="0">
                <a:latin typeface="Arial"/>
                <a:cs typeface="Arial"/>
              </a:rPr>
              <a:t>20x12x12</a:t>
            </a:r>
            <a:r>
              <a:rPr sz="1200" spc="-55" dirty="0">
                <a:latin typeface="Arial"/>
                <a:cs typeface="Arial"/>
              </a:rPr>
              <a:t> </a:t>
            </a:r>
            <a:r>
              <a:rPr sz="1200" spc="-10" dirty="0">
                <a:latin typeface="Arial"/>
                <a:cs typeface="Arial"/>
              </a:rPr>
              <a:t>pooling layer</a:t>
            </a:r>
            <a:endParaRPr sz="1200">
              <a:latin typeface="Arial"/>
              <a:cs typeface="Arial"/>
            </a:endParaRPr>
          </a:p>
          <a:p>
            <a:pPr marL="12700">
              <a:spcBef>
                <a:spcPts val="680"/>
              </a:spcBef>
            </a:pPr>
            <a:r>
              <a:rPr sz="1200" spc="-10" dirty="0">
                <a:latin typeface="Arial"/>
                <a:cs typeface="Arial"/>
              </a:rPr>
              <a:t>20x24x24</a:t>
            </a:r>
            <a:r>
              <a:rPr sz="1200" spc="-60" dirty="0">
                <a:latin typeface="Arial"/>
                <a:cs typeface="Arial"/>
              </a:rPr>
              <a:t> </a:t>
            </a:r>
            <a:r>
              <a:rPr sz="1200" spc="-10" dirty="0">
                <a:latin typeface="Arial"/>
                <a:cs typeface="Arial"/>
              </a:rPr>
              <a:t>feature</a:t>
            </a:r>
            <a:r>
              <a:rPr sz="1200" spc="-25" dirty="0">
                <a:latin typeface="Arial"/>
                <a:cs typeface="Arial"/>
              </a:rPr>
              <a:t> map</a:t>
            </a:r>
            <a:endParaRPr sz="1200">
              <a:latin typeface="Arial"/>
              <a:cs typeface="Arial"/>
            </a:endParaRPr>
          </a:p>
        </p:txBody>
      </p:sp>
      <p:sp>
        <p:nvSpPr>
          <p:cNvPr id="7" name="object 7"/>
          <p:cNvSpPr txBox="1"/>
          <p:nvPr/>
        </p:nvSpPr>
        <p:spPr>
          <a:xfrm>
            <a:off x="2429192" y="3517202"/>
            <a:ext cx="7679690" cy="3154045"/>
          </a:xfrm>
          <a:prstGeom prst="rect">
            <a:avLst/>
          </a:prstGeom>
        </p:spPr>
        <p:txBody>
          <a:bodyPr vert="horz" wrap="square" lIns="0" tIns="12700" rIns="0" bIns="0" rtlCol="0">
            <a:spAutoFit/>
          </a:bodyPr>
          <a:lstStyle/>
          <a:p>
            <a:pPr marL="12700">
              <a:spcBef>
                <a:spcPts val="100"/>
              </a:spcBef>
            </a:pPr>
            <a:r>
              <a:rPr sz="2400" dirty="0">
                <a:latin typeface="Arial"/>
                <a:cs typeface="Arial"/>
              </a:rPr>
              <a:t>Simple</a:t>
            </a:r>
            <a:r>
              <a:rPr sz="2400" spc="-75" dirty="0">
                <a:latin typeface="Arial"/>
                <a:cs typeface="Arial"/>
              </a:rPr>
              <a:t> </a:t>
            </a:r>
            <a:r>
              <a:rPr sz="2400" spc="-10" dirty="0">
                <a:latin typeface="Arial"/>
                <a:cs typeface="Arial"/>
              </a:rPr>
              <a:t>ConvNet:</a:t>
            </a:r>
            <a:endParaRPr sz="2400">
              <a:latin typeface="Arial"/>
              <a:cs typeface="Arial"/>
            </a:endParaRPr>
          </a:p>
          <a:p>
            <a:pPr marL="355600" indent="-342900">
              <a:spcBef>
                <a:spcPts val="5"/>
              </a:spcBef>
              <a:buChar char="•"/>
              <a:tabLst>
                <a:tab pos="355600" algn="l"/>
              </a:tabLst>
            </a:pPr>
            <a:r>
              <a:rPr sz="2400" spc="-10" dirty="0">
                <a:latin typeface="Arial"/>
                <a:cs typeface="Arial"/>
              </a:rPr>
              <a:t>Convolutional</a:t>
            </a:r>
            <a:r>
              <a:rPr sz="2400" spc="-65" dirty="0">
                <a:latin typeface="Arial"/>
                <a:cs typeface="Arial"/>
              </a:rPr>
              <a:t> </a:t>
            </a:r>
            <a:r>
              <a:rPr sz="2400" dirty="0">
                <a:latin typeface="Arial"/>
                <a:cs typeface="Arial"/>
              </a:rPr>
              <a:t>layer</a:t>
            </a:r>
            <a:r>
              <a:rPr sz="2400" spc="-40" dirty="0">
                <a:latin typeface="Arial"/>
                <a:cs typeface="Arial"/>
              </a:rPr>
              <a:t> </a:t>
            </a:r>
            <a:r>
              <a:rPr sz="2400" dirty="0">
                <a:latin typeface="Arial"/>
                <a:cs typeface="Arial"/>
              </a:rPr>
              <a:t>with</a:t>
            </a:r>
            <a:r>
              <a:rPr sz="2400" spc="-25" dirty="0">
                <a:latin typeface="Arial"/>
                <a:cs typeface="Arial"/>
              </a:rPr>
              <a:t> max-</a:t>
            </a:r>
            <a:r>
              <a:rPr sz="2400" spc="-10" dirty="0">
                <a:latin typeface="Arial"/>
                <a:cs typeface="Arial"/>
              </a:rPr>
              <a:t>pooling</a:t>
            </a:r>
            <a:endParaRPr sz="2400">
              <a:latin typeface="Arial"/>
              <a:cs typeface="Arial"/>
            </a:endParaRPr>
          </a:p>
          <a:p>
            <a:pPr marL="355600" indent="-342900">
              <a:buChar char="•"/>
              <a:tabLst>
                <a:tab pos="355600" algn="l"/>
              </a:tabLst>
            </a:pPr>
            <a:r>
              <a:rPr sz="2400" dirty="0">
                <a:latin typeface="Arial"/>
                <a:cs typeface="Arial"/>
              </a:rPr>
              <a:t>Final</a:t>
            </a:r>
            <a:r>
              <a:rPr sz="2400" spc="-75" dirty="0">
                <a:latin typeface="Arial"/>
                <a:cs typeface="Arial"/>
              </a:rPr>
              <a:t> </a:t>
            </a:r>
            <a:r>
              <a:rPr sz="2400" dirty="0">
                <a:latin typeface="Arial"/>
                <a:cs typeface="Arial"/>
              </a:rPr>
              <a:t>fully</a:t>
            </a:r>
            <a:r>
              <a:rPr sz="2400" spc="-110" dirty="0">
                <a:latin typeface="Arial"/>
                <a:cs typeface="Arial"/>
              </a:rPr>
              <a:t> </a:t>
            </a:r>
            <a:r>
              <a:rPr sz="2400" dirty="0">
                <a:latin typeface="Arial"/>
                <a:cs typeface="Arial"/>
              </a:rPr>
              <a:t>connected</a:t>
            </a:r>
            <a:r>
              <a:rPr sz="2400" spc="-110" dirty="0">
                <a:latin typeface="Arial"/>
                <a:cs typeface="Arial"/>
              </a:rPr>
              <a:t> </a:t>
            </a:r>
            <a:r>
              <a:rPr sz="2400" dirty="0">
                <a:latin typeface="Arial"/>
                <a:cs typeface="Arial"/>
              </a:rPr>
              <a:t>hidden</a:t>
            </a:r>
            <a:r>
              <a:rPr sz="2400" spc="-50" dirty="0">
                <a:latin typeface="Arial"/>
                <a:cs typeface="Arial"/>
              </a:rPr>
              <a:t> </a:t>
            </a:r>
            <a:r>
              <a:rPr sz="2400" dirty="0">
                <a:latin typeface="Arial"/>
                <a:cs typeface="Arial"/>
              </a:rPr>
              <a:t>layer</a:t>
            </a:r>
            <a:r>
              <a:rPr sz="2400" spc="-40" dirty="0">
                <a:latin typeface="Arial"/>
                <a:cs typeface="Arial"/>
              </a:rPr>
              <a:t> </a:t>
            </a:r>
            <a:r>
              <a:rPr sz="2400" dirty="0">
                <a:latin typeface="Arial"/>
                <a:cs typeface="Arial"/>
              </a:rPr>
              <a:t>(no</a:t>
            </a:r>
            <a:r>
              <a:rPr sz="2400" spc="-90" dirty="0">
                <a:latin typeface="Arial"/>
                <a:cs typeface="Arial"/>
              </a:rPr>
              <a:t> </a:t>
            </a:r>
            <a:r>
              <a:rPr sz="2400" dirty="0">
                <a:latin typeface="Arial"/>
                <a:cs typeface="Arial"/>
              </a:rPr>
              <a:t>sharing</a:t>
            </a:r>
            <a:r>
              <a:rPr sz="2400" spc="-85" dirty="0">
                <a:latin typeface="Arial"/>
                <a:cs typeface="Arial"/>
              </a:rPr>
              <a:t> </a:t>
            </a:r>
            <a:r>
              <a:rPr sz="2400" spc="-10" dirty="0">
                <a:latin typeface="Arial"/>
                <a:cs typeface="Arial"/>
              </a:rPr>
              <a:t>weight)</a:t>
            </a:r>
            <a:endParaRPr sz="2400">
              <a:latin typeface="Arial"/>
              <a:cs typeface="Arial"/>
            </a:endParaRPr>
          </a:p>
          <a:p>
            <a:pPr marL="355600" indent="-342900">
              <a:buFont typeface="Arial"/>
              <a:buChar char="•"/>
              <a:tabLst>
                <a:tab pos="355600" algn="l"/>
              </a:tabLst>
            </a:pPr>
            <a:r>
              <a:rPr sz="2400" b="1" dirty="0">
                <a:latin typeface="Arial"/>
                <a:cs typeface="Arial"/>
              </a:rPr>
              <a:t>Softmax</a:t>
            </a:r>
            <a:r>
              <a:rPr sz="2400" b="1" spc="-75" dirty="0">
                <a:latin typeface="Arial"/>
                <a:cs typeface="Arial"/>
              </a:rPr>
              <a:t> </a:t>
            </a:r>
            <a:r>
              <a:rPr sz="2400" dirty="0">
                <a:latin typeface="Arial"/>
                <a:cs typeface="Arial"/>
              </a:rPr>
              <a:t>output</a:t>
            </a:r>
            <a:r>
              <a:rPr sz="2400" spc="-90" dirty="0">
                <a:latin typeface="Arial"/>
                <a:cs typeface="Arial"/>
              </a:rPr>
              <a:t> </a:t>
            </a:r>
            <a:r>
              <a:rPr sz="2400" dirty="0">
                <a:latin typeface="Arial"/>
                <a:cs typeface="Arial"/>
              </a:rPr>
              <a:t>layer</a:t>
            </a:r>
            <a:r>
              <a:rPr sz="2400" spc="-45" dirty="0">
                <a:latin typeface="Arial"/>
                <a:cs typeface="Arial"/>
              </a:rPr>
              <a:t> </a:t>
            </a:r>
            <a:r>
              <a:rPr sz="2400" dirty="0">
                <a:latin typeface="Arial"/>
                <a:cs typeface="Arial"/>
              </a:rPr>
              <a:t>(converts</a:t>
            </a:r>
            <a:r>
              <a:rPr sz="2400" spc="-85" dirty="0">
                <a:latin typeface="Arial"/>
                <a:cs typeface="Arial"/>
              </a:rPr>
              <a:t> </a:t>
            </a:r>
            <a:r>
              <a:rPr sz="2400" dirty="0">
                <a:latin typeface="Arial"/>
                <a:cs typeface="Arial"/>
              </a:rPr>
              <a:t>numbers</a:t>
            </a:r>
            <a:r>
              <a:rPr sz="2400" spc="-114" dirty="0">
                <a:latin typeface="Arial"/>
                <a:cs typeface="Arial"/>
              </a:rPr>
              <a:t> </a:t>
            </a:r>
            <a:r>
              <a:rPr sz="2400" spc="-25" dirty="0">
                <a:latin typeface="Arial"/>
                <a:cs typeface="Arial"/>
              </a:rPr>
              <a:t>to</a:t>
            </a:r>
            <a:endParaRPr sz="2400">
              <a:latin typeface="Arial"/>
              <a:cs typeface="Arial"/>
            </a:endParaRPr>
          </a:p>
          <a:p>
            <a:pPr marL="355600"/>
            <a:r>
              <a:rPr sz="2400" spc="-10" dirty="0">
                <a:latin typeface="Arial"/>
                <a:cs typeface="Arial"/>
              </a:rPr>
              <a:t>probabilities),</a:t>
            </a:r>
            <a:r>
              <a:rPr sz="2400" spc="-50" dirty="0">
                <a:latin typeface="Arial"/>
                <a:cs typeface="Arial"/>
              </a:rPr>
              <a:t> </a:t>
            </a:r>
            <a:r>
              <a:rPr sz="2400" dirty="0">
                <a:latin typeface="Arial"/>
                <a:cs typeface="Arial"/>
              </a:rPr>
              <a:t>one</a:t>
            </a:r>
            <a:r>
              <a:rPr sz="2400" spc="-40" dirty="0">
                <a:latin typeface="Arial"/>
                <a:cs typeface="Arial"/>
              </a:rPr>
              <a:t> </a:t>
            </a:r>
            <a:r>
              <a:rPr sz="2400" dirty="0">
                <a:latin typeface="Arial"/>
                <a:cs typeface="Arial"/>
              </a:rPr>
              <a:t>probability</a:t>
            </a:r>
            <a:r>
              <a:rPr sz="2400" spc="-55" dirty="0">
                <a:latin typeface="Arial"/>
                <a:cs typeface="Arial"/>
              </a:rPr>
              <a:t> </a:t>
            </a:r>
            <a:r>
              <a:rPr sz="2400" dirty="0">
                <a:latin typeface="Arial"/>
                <a:cs typeface="Arial"/>
              </a:rPr>
              <a:t>per</a:t>
            </a:r>
            <a:r>
              <a:rPr sz="2400" spc="-25" dirty="0">
                <a:latin typeface="Arial"/>
                <a:cs typeface="Arial"/>
              </a:rPr>
              <a:t> </a:t>
            </a:r>
            <a:r>
              <a:rPr sz="2400" spc="-10" dirty="0">
                <a:latin typeface="Arial"/>
                <a:cs typeface="Arial"/>
              </a:rPr>
              <a:t>class</a:t>
            </a:r>
            <a:r>
              <a:rPr sz="1200" b="1" spc="-10" dirty="0">
                <a:solidFill>
                  <a:srgbClr val="2C75B6"/>
                </a:solidFill>
                <a:latin typeface="Arial"/>
                <a:cs typeface="Arial"/>
              </a:rPr>
              <a:t>.(totally</a:t>
            </a:r>
            <a:r>
              <a:rPr sz="1200" b="1" spc="-50" dirty="0">
                <a:solidFill>
                  <a:srgbClr val="2C75B6"/>
                </a:solidFill>
                <a:latin typeface="Arial"/>
                <a:cs typeface="Arial"/>
              </a:rPr>
              <a:t> </a:t>
            </a:r>
            <a:r>
              <a:rPr sz="1200" b="1" dirty="0">
                <a:solidFill>
                  <a:srgbClr val="2C75B6"/>
                </a:solidFill>
                <a:latin typeface="Arial"/>
                <a:cs typeface="Arial"/>
              </a:rPr>
              <a:t>10</a:t>
            </a:r>
            <a:r>
              <a:rPr sz="1200" b="1" spc="-25" dirty="0">
                <a:solidFill>
                  <a:srgbClr val="2C75B6"/>
                </a:solidFill>
                <a:latin typeface="Arial"/>
                <a:cs typeface="Arial"/>
              </a:rPr>
              <a:t> </a:t>
            </a:r>
            <a:r>
              <a:rPr sz="1200" b="1" dirty="0">
                <a:solidFill>
                  <a:srgbClr val="2C75B6"/>
                </a:solidFill>
                <a:latin typeface="Arial"/>
                <a:cs typeface="Arial"/>
              </a:rPr>
              <a:t>classes</a:t>
            </a:r>
            <a:r>
              <a:rPr sz="1200" b="1" spc="-40" dirty="0">
                <a:solidFill>
                  <a:srgbClr val="2C75B6"/>
                </a:solidFill>
                <a:latin typeface="Arial"/>
                <a:cs typeface="Arial"/>
              </a:rPr>
              <a:t> </a:t>
            </a:r>
            <a:r>
              <a:rPr sz="1200" b="1" dirty="0">
                <a:solidFill>
                  <a:srgbClr val="2C75B6"/>
                </a:solidFill>
                <a:latin typeface="Arial"/>
                <a:cs typeface="Arial"/>
              </a:rPr>
              <a:t>in</a:t>
            </a:r>
            <a:r>
              <a:rPr sz="1200" b="1" spc="-5" dirty="0">
                <a:solidFill>
                  <a:srgbClr val="2C75B6"/>
                </a:solidFill>
                <a:latin typeface="Arial"/>
                <a:cs typeface="Arial"/>
              </a:rPr>
              <a:t> </a:t>
            </a:r>
            <a:r>
              <a:rPr sz="1200" b="1" spc="-10" dirty="0">
                <a:solidFill>
                  <a:srgbClr val="2C75B6"/>
                </a:solidFill>
                <a:latin typeface="Arial"/>
                <a:cs typeface="Arial"/>
              </a:rPr>
              <a:t>MNIST)</a:t>
            </a:r>
            <a:endParaRPr sz="1200">
              <a:latin typeface="Arial"/>
              <a:cs typeface="Arial"/>
            </a:endParaRPr>
          </a:p>
          <a:p>
            <a:pPr marL="355600" indent="-342900">
              <a:spcBef>
                <a:spcPts val="5"/>
              </a:spcBef>
              <a:buChar char="•"/>
              <a:tabLst>
                <a:tab pos="355600" algn="l"/>
                <a:tab pos="4270375" algn="l"/>
              </a:tabLst>
            </a:pPr>
            <a:r>
              <a:rPr sz="2400" dirty="0">
                <a:latin typeface="Arial"/>
                <a:cs typeface="Arial"/>
              </a:rPr>
              <a:t>With</a:t>
            </a:r>
            <a:r>
              <a:rPr sz="2400" spc="-85" dirty="0">
                <a:latin typeface="Arial"/>
                <a:cs typeface="Arial"/>
              </a:rPr>
              <a:t> </a:t>
            </a:r>
            <a:r>
              <a:rPr sz="2400" dirty="0">
                <a:latin typeface="Arial"/>
                <a:cs typeface="Arial"/>
              </a:rPr>
              <a:t>20</a:t>
            </a:r>
            <a:r>
              <a:rPr sz="2400" spc="-35" dirty="0">
                <a:latin typeface="Arial"/>
                <a:cs typeface="Arial"/>
              </a:rPr>
              <a:t> </a:t>
            </a:r>
            <a:r>
              <a:rPr sz="2400" dirty="0">
                <a:latin typeface="Arial"/>
                <a:cs typeface="Arial"/>
              </a:rPr>
              <a:t>feature</a:t>
            </a:r>
            <a:r>
              <a:rPr sz="2400" spc="-55" dirty="0">
                <a:latin typeface="Arial"/>
                <a:cs typeface="Arial"/>
              </a:rPr>
              <a:t> </a:t>
            </a:r>
            <a:r>
              <a:rPr sz="2400" dirty="0">
                <a:latin typeface="Arial"/>
                <a:cs typeface="Arial"/>
              </a:rPr>
              <a:t>maps</a:t>
            </a:r>
            <a:r>
              <a:rPr sz="2400" spc="-60" dirty="0">
                <a:latin typeface="Arial"/>
                <a:cs typeface="Arial"/>
              </a:rPr>
              <a:t> </a:t>
            </a:r>
            <a:r>
              <a:rPr sz="2400" dirty="0">
                <a:latin typeface="Arial"/>
                <a:cs typeface="Arial"/>
              </a:rPr>
              <a:t>and</a:t>
            </a:r>
            <a:r>
              <a:rPr sz="2400" spc="-40" dirty="0">
                <a:latin typeface="Arial"/>
                <a:cs typeface="Arial"/>
              </a:rPr>
              <a:t> </a:t>
            </a:r>
            <a:r>
              <a:rPr sz="2400" spc="-50" dirty="0">
                <a:latin typeface="Arial"/>
                <a:cs typeface="Arial"/>
              </a:rPr>
              <a:t>a</a:t>
            </a:r>
            <a:r>
              <a:rPr sz="2400" dirty="0">
                <a:latin typeface="Arial"/>
                <a:cs typeface="Arial"/>
              </a:rPr>
              <a:t>	final</a:t>
            </a:r>
            <a:r>
              <a:rPr sz="2400" spc="-114" dirty="0">
                <a:latin typeface="Arial"/>
                <a:cs typeface="Arial"/>
              </a:rPr>
              <a:t> </a:t>
            </a:r>
            <a:r>
              <a:rPr sz="2400" dirty="0">
                <a:latin typeface="Arial"/>
                <a:cs typeface="Arial"/>
              </a:rPr>
              <a:t>hidden</a:t>
            </a:r>
            <a:r>
              <a:rPr sz="2400" spc="-110" dirty="0">
                <a:latin typeface="Arial"/>
                <a:cs typeface="Arial"/>
              </a:rPr>
              <a:t> </a:t>
            </a:r>
            <a:r>
              <a:rPr sz="2400" dirty="0">
                <a:latin typeface="Arial"/>
                <a:cs typeface="Arial"/>
              </a:rPr>
              <a:t>layer</a:t>
            </a:r>
            <a:r>
              <a:rPr sz="2400" spc="-45" dirty="0">
                <a:latin typeface="Arial"/>
                <a:cs typeface="Arial"/>
              </a:rPr>
              <a:t> </a:t>
            </a:r>
            <a:r>
              <a:rPr sz="2400" spc="-25" dirty="0">
                <a:latin typeface="Arial"/>
                <a:cs typeface="Arial"/>
              </a:rPr>
              <a:t>of</a:t>
            </a:r>
            <a:endParaRPr sz="2400">
              <a:latin typeface="Arial"/>
              <a:cs typeface="Arial"/>
            </a:endParaRPr>
          </a:p>
          <a:p>
            <a:pPr marL="350520"/>
            <a:r>
              <a:rPr sz="2400" dirty="0">
                <a:latin typeface="Arial"/>
                <a:cs typeface="Arial"/>
              </a:rPr>
              <a:t>100</a:t>
            </a:r>
            <a:r>
              <a:rPr sz="2400" spc="-75" dirty="0">
                <a:latin typeface="Arial"/>
                <a:cs typeface="Arial"/>
              </a:rPr>
              <a:t> </a:t>
            </a:r>
            <a:r>
              <a:rPr sz="2400" dirty="0">
                <a:latin typeface="Arial"/>
                <a:cs typeface="Arial"/>
              </a:rPr>
              <a:t>hidden</a:t>
            </a:r>
            <a:r>
              <a:rPr sz="2400" spc="-60" dirty="0">
                <a:latin typeface="Arial"/>
                <a:cs typeface="Arial"/>
              </a:rPr>
              <a:t> </a:t>
            </a:r>
            <a:r>
              <a:rPr sz="2400" dirty="0">
                <a:latin typeface="Arial"/>
                <a:cs typeface="Arial"/>
              </a:rPr>
              <a:t>unit,</a:t>
            </a:r>
            <a:r>
              <a:rPr sz="2400" spc="-80" dirty="0">
                <a:latin typeface="Arial"/>
                <a:cs typeface="Arial"/>
              </a:rPr>
              <a:t> </a:t>
            </a:r>
            <a:r>
              <a:rPr sz="2400" dirty="0">
                <a:latin typeface="Arial"/>
                <a:cs typeface="Arial"/>
              </a:rPr>
              <a:t>289630</a:t>
            </a:r>
            <a:r>
              <a:rPr sz="2400" spc="-65" dirty="0">
                <a:latin typeface="Arial"/>
                <a:cs typeface="Arial"/>
              </a:rPr>
              <a:t> </a:t>
            </a:r>
            <a:r>
              <a:rPr sz="2400" dirty="0">
                <a:latin typeface="Arial"/>
                <a:cs typeface="Arial"/>
              </a:rPr>
              <a:t>weights</a:t>
            </a:r>
            <a:r>
              <a:rPr sz="2400" spc="-40" dirty="0">
                <a:latin typeface="Arial"/>
                <a:cs typeface="Arial"/>
              </a:rPr>
              <a:t> </a:t>
            </a:r>
            <a:r>
              <a:rPr sz="2400" dirty="0">
                <a:latin typeface="Arial"/>
                <a:cs typeface="Arial"/>
              </a:rPr>
              <a:t>need</a:t>
            </a:r>
            <a:r>
              <a:rPr sz="2400" spc="-75" dirty="0">
                <a:latin typeface="Arial"/>
                <a:cs typeface="Arial"/>
              </a:rPr>
              <a:t> </a:t>
            </a:r>
            <a:r>
              <a:rPr sz="2400" dirty="0">
                <a:latin typeface="Arial"/>
                <a:cs typeface="Arial"/>
              </a:rPr>
              <a:t>to</a:t>
            </a:r>
            <a:r>
              <a:rPr sz="2400" spc="-45" dirty="0">
                <a:latin typeface="Arial"/>
                <a:cs typeface="Arial"/>
              </a:rPr>
              <a:t> </a:t>
            </a:r>
            <a:r>
              <a:rPr sz="2400" dirty="0">
                <a:latin typeface="Arial"/>
                <a:cs typeface="Arial"/>
              </a:rPr>
              <a:t>be</a:t>
            </a:r>
            <a:r>
              <a:rPr sz="2400" spc="-55" dirty="0">
                <a:latin typeface="Arial"/>
                <a:cs typeface="Arial"/>
              </a:rPr>
              <a:t> </a:t>
            </a:r>
            <a:r>
              <a:rPr sz="2400" spc="-10" dirty="0">
                <a:latin typeface="Arial"/>
                <a:cs typeface="Arial"/>
              </a:rPr>
              <a:t>estimated</a:t>
            </a:r>
            <a:endParaRPr sz="2400">
              <a:latin typeface="Arial"/>
              <a:cs typeface="Arial"/>
            </a:endParaRPr>
          </a:p>
          <a:p>
            <a:pPr marL="916940">
              <a:spcBef>
                <a:spcPts val="620"/>
              </a:spcBef>
            </a:pPr>
            <a:r>
              <a:rPr sz="1600" b="1" dirty="0">
                <a:solidFill>
                  <a:srgbClr val="C00000"/>
                </a:solidFill>
                <a:latin typeface="Arial"/>
                <a:cs typeface="Arial"/>
              </a:rPr>
              <a:t>20</a:t>
            </a:r>
            <a:r>
              <a:rPr sz="1600" b="1" spc="-20" dirty="0">
                <a:solidFill>
                  <a:srgbClr val="C00000"/>
                </a:solidFill>
                <a:latin typeface="Arial"/>
                <a:cs typeface="Arial"/>
              </a:rPr>
              <a:t> </a:t>
            </a:r>
            <a:r>
              <a:rPr sz="1600" dirty="0">
                <a:solidFill>
                  <a:srgbClr val="C00000"/>
                </a:solidFill>
                <a:latin typeface="Cambria Math"/>
                <a:cs typeface="Cambria Math"/>
              </a:rPr>
              <a:t>×</a:t>
            </a:r>
            <a:r>
              <a:rPr sz="1600" spc="75" dirty="0">
                <a:solidFill>
                  <a:srgbClr val="C00000"/>
                </a:solidFill>
                <a:latin typeface="Cambria Math"/>
                <a:cs typeface="Cambria Math"/>
              </a:rPr>
              <a:t> </a:t>
            </a:r>
            <a:r>
              <a:rPr sz="1600" b="1" dirty="0">
                <a:solidFill>
                  <a:srgbClr val="C00000"/>
                </a:solidFill>
                <a:latin typeface="Arial"/>
                <a:cs typeface="Arial"/>
              </a:rPr>
              <a:t>(5</a:t>
            </a:r>
            <a:r>
              <a:rPr sz="1600" dirty="0">
                <a:solidFill>
                  <a:srgbClr val="C00000"/>
                </a:solidFill>
                <a:latin typeface="Cambria Math"/>
                <a:cs typeface="Cambria Math"/>
              </a:rPr>
              <a:t>×</a:t>
            </a:r>
            <a:r>
              <a:rPr sz="1600" spc="-35" dirty="0">
                <a:solidFill>
                  <a:srgbClr val="C00000"/>
                </a:solidFill>
                <a:latin typeface="Cambria Math"/>
                <a:cs typeface="Cambria Math"/>
              </a:rPr>
              <a:t> </a:t>
            </a:r>
            <a:r>
              <a:rPr sz="1600" b="1" dirty="0">
                <a:solidFill>
                  <a:srgbClr val="C00000"/>
                </a:solidFill>
                <a:latin typeface="Arial"/>
                <a:cs typeface="Arial"/>
              </a:rPr>
              <a:t>5</a:t>
            </a:r>
            <a:r>
              <a:rPr sz="1600" b="1" spc="-10" dirty="0">
                <a:solidFill>
                  <a:srgbClr val="C00000"/>
                </a:solidFill>
                <a:latin typeface="Arial"/>
                <a:cs typeface="Arial"/>
              </a:rPr>
              <a:t> </a:t>
            </a:r>
            <a:r>
              <a:rPr sz="1600" b="1" dirty="0">
                <a:solidFill>
                  <a:srgbClr val="C00000"/>
                </a:solidFill>
                <a:latin typeface="Arial"/>
                <a:cs typeface="Arial"/>
              </a:rPr>
              <a:t>+</a:t>
            </a:r>
            <a:r>
              <a:rPr sz="1600" b="1" spc="-20" dirty="0">
                <a:solidFill>
                  <a:srgbClr val="C00000"/>
                </a:solidFill>
                <a:latin typeface="Arial"/>
                <a:cs typeface="Arial"/>
              </a:rPr>
              <a:t> </a:t>
            </a:r>
            <a:r>
              <a:rPr sz="1600" b="1" dirty="0">
                <a:solidFill>
                  <a:srgbClr val="C00000"/>
                </a:solidFill>
                <a:latin typeface="Arial"/>
                <a:cs typeface="Arial"/>
              </a:rPr>
              <a:t>1)</a:t>
            </a:r>
            <a:r>
              <a:rPr sz="1600" b="1" spc="5" dirty="0">
                <a:solidFill>
                  <a:srgbClr val="C00000"/>
                </a:solidFill>
                <a:latin typeface="Arial"/>
                <a:cs typeface="Arial"/>
              </a:rPr>
              <a:t> </a:t>
            </a:r>
            <a:r>
              <a:rPr sz="1600" b="1" dirty="0">
                <a:solidFill>
                  <a:srgbClr val="C00000"/>
                </a:solidFill>
                <a:latin typeface="Arial"/>
                <a:cs typeface="Arial"/>
              </a:rPr>
              <a:t>+</a:t>
            </a:r>
            <a:r>
              <a:rPr sz="1600" b="1" spc="5" dirty="0">
                <a:solidFill>
                  <a:srgbClr val="C00000"/>
                </a:solidFill>
                <a:latin typeface="Arial"/>
                <a:cs typeface="Arial"/>
              </a:rPr>
              <a:t> </a:t>
            </a:r>
            <a:r>
              <a:rPr sz="1600" b="1" spc="-10" dirty="0">
                <a:solidFill>
                  <a:srgbClr val="C00000"/>
                </a:solidFill>
                <a:latin typeface="Arial"/>
                <a:cs typeface="Arial"/>
              </a:rPr>
              <a:t>(20</a:t>
            </a:r>
            <a:r>
              <a:rPr sz="1600" spc="-10" dirty="0">
                <a:solidFill>
                  <a:srgbClr val="C00000"/>
                </a:solidFill>
                <a:latin typeface="Cambria Math"/>
                <a:cs typeface="Cambria Math"/>
              </a:rPr>
              <a:t>×</a:t>
            </a:r>
            <a:r>
              <a:rPr sz="1600" b="1" spc="-10" dirty="0">
                <a:solidFill>
                  <a:srgbClr val="C00000"/>
                </a:solidFill>
                <a:latin typeface="Arial"/>
                <a:cs typeface="Arial"/>
              </a:rPr>
              <a:t>12</a:t>
            </a:r>
            <a:r>
              <a:rPr sz="1600" spc="-10" dirty="0">
                <a:solidFill>
                  <a:srgbClr val="C00000"/>
                </a:solidFill>
                <a:latin typeface="Cambria Math"/>
                <a:cs typeface="Cambria Math"/>
              </a:rPr>
              <a:t>×</a:t>
            </a:r>
            <a:r>
              <a:rPr sz="1600" b="1" spc="-10" dirty="0">
                <a:solidFill>
                  <a:srgbClr val="C00000"/>
                </a:solidFill>
                <a:latin typeface="Arial"/>
                <a:cs typeface="Arial"/>
              </a:rPr>
              <a:t>12</a:t>
            </a:r>
            <a:r>
              <a:rPr sz="1600" spc="-10" dirty="0">
                <a:solidFill>
                  <a:srgbClr val="C00000"/>
                </a:solidFill>
                <a:latin typeface="Cambria Math"/>
                <a:cs typeface="Cambria Math"/>
              </a:rPr>
              <a:t>×</a:t>
            </a:r>
            <a:r>
              <a:rPr sz="1600" spc="-50" dirty="0">
                <a:solidFill>
                  <a:srgbClr val="C00000"/>
                </a:solidFill>
                <a:latin typeface="Cambria Math"/>
                <a:cs typeface="Cambria Math"/>
              </a:rPr>
              <a:t> </a:t>
            </a:r>
            <a:r>
              <a:rPr sz="1600" b="1" dirty="0">
                <a:solidFill>
                  <a:srgbClr val="C00000"/>
                </a:solidFill>
                <a:latin typeface="Arial"/>
                <a:cs typeface="Arial"/>
              </a:rPr>
              <a:t>100</a:t>
            </a:r>
            <a:r>
              <a:rPr sz="1600" b="1" spc="5" dirty="0">
                <a:solidFill>
                  <a:srgbClr val="C00000"/>
                </a:solidFill>
                <a:latin typeface="Arial"/>
                <a:cs typeface="Arial"/>
              </a:rPr>
              <a:t> </a:t>
            </a:r>
            <a:r>
              <a:rPr sz="1600" b="1" dirty="0">
                <a:solidFill>
                  <a:srgbClr val="C00000"/>
                </a:solidFill>
                <a:latin typeface="Arial"/>
                <a:cs typeface="Arial"/>
              </a:rPr>
              <a:t>+</a:t>
            </a:r>
            <a:r>
              <a:rPr sz="1600" b="1" spc="-20" dirty="0">
                <a:solidFill>
                  <a:srgbClr val="C00000"/>
                </a:solidFill>
                <a:latin typeface="Arial"/>
                <a:cs typeface="Arial"/>
              </a:rPr>
              <a:t> </a:t>
            </a:r>
            <a:r>
              <a:rPr sz="1600" b="1" dirty="0">
                <a:solidFill>
                  <a:srgbClr val="C00000"/>
                </a:solidFill>
                <a:latin typeface="Arial"/>
                <a:cs typeface="Arial"/>
              </a:rPr>
              <a:t>100)</a:t>
            </a:r>
            <a:r>
              <a:rPr sz="1600" b="1" spc="5" dirty="0">
                <a:solidFill>
                  <a:srgbClr val="C00000"/>
                </a:solidFill>
                <a:latin typeface="Arial"/>
                <a:cs typeface="Arial"/>
              </a:rPr>
              <a:t> </a:t>
            </a:r>
            <a:r>
              <a:rPr sz="1600" b="1" dirty="0">
                <a:solidFill>
                  <a:srgbClr val="C00000"/>
                </a:solidFill>
                <a:latin typeface="Arial"/>
                <a:cs typeface="Arial"/>
              </a:rPr>
              <a:t>+ (100</a:t>
            </a:r>
            <a:r>
              <a:rPr sz="1600" b="1" spc="-15" dirty="0">
                <a:solidFill>
                  <a:srgbClr val="C00000"/>
                </a:solidFill>
                <a:latin typeface="Arial"/>
                <a:cs typeface="Arial"/>
              </a:rPr>
              <a:t> </a:t>
            </a:r>
            <a:r>
              <a:rPr sz="1600" dirty="0">
                <a:solidFill>
                  <a:srgbClr val="C00000"/>
                </a:solidFill>
                <a:latin typeface="Cambria Math"/>
                <a:cs typeface="Cambria Math"/>
              </a:rPr>
              <a:t>×</a:t>
            </a:r>
            <a:r>
              <a:rPr sz="1600" b="1" dirty="0">
                <a:solidFill>
                  <a:srgbClr val="C00000"/>
                </a:solidFill>
                <a:latin typeface="Arial"/>
                <a:cs typeface="Arial"/>
              </a:rPr>
              <a:t>10</a:t>
            </a:r>
            <a:r>
              <a:rPr sz="1600" b="1" spc="-30" dirty="0">
                <a:solidFill>
                  <a:srgbClr val="C00000"/>
                </a:solidFill>
                <a:latin typeface="Arial"/>
                <a:cs typeface="Arial"/>
              </a:rPr>
              <a:t> </a:t>
            </a:r>
            <a:r>
              <a:rPr sz="1600" b="1" dirty="0">
                <a:solidFill>
                  <a:srgbClr val="C00000"/>
                </a:solidFill>
                <a:latin typeface="Arial"/>
                <a:cs typeface="Arial"/>
              </a:rPr>
              <a:t>+ 10)</a:t>
            </a:r>
            <a:r>
              <a:rPr sz="1600" b="1" spc="5" dirty="0">
                <a:solidFill>
                  <a:srgbClr val="C00000"/>
                </a:solidFill>
                <a:latin typeface="Arial"/>
                <a:cs typeface="Arial"/>
              </a:rPr>
              <a:t> </a:t>
            </a:r>
            <a:r>
              <a:rPr sz="1600" b="1" dirty="0">
                <a:solidFill>
                  <a:srgbClr val="C00000"/>
                </a:solidFill>
                <a:latin typeface="Arial"/>
                <a:cs typeface="Arial"/>
              </a:rPr>
              <a:t>=</a:t>
            </a:r>
            <a:r>
              <a:rPr sz="1600" b="1" spc="-20" dirty="0">
                <a:solidFill>
                  <a:srgbClr val="C00000"/>
                </a:solidFill>
                <a:latin typeface="Arial"/>
                <a:cs typeface="Arial"/>
              </a:rPr>
              <a:t> </a:t>
            </a:r>
            <a:r>
              <a:rPr sz="1600" b="1" spc="-10" dirty="0">
                <a:solidFill>
                  <a:srgbClr val="C00000"/>
                </a:solidFill>
                <a:latin typeface="Arial"/>
                <a:cs typeface="Arial"/>
              </a:rPr>
              <a:t>289630</a:t>
            </a:r>
            <a:endParaRPr sz="1600">
              <a:latin typeface="Arial"/>
              <a:cs typeface="Arial"/>
            </a:endParaRPr>
          </a:p>
          <a:p>
            <a:pPr marL="916940"/>
            <a:r>
              <a:rPr sz="1600" b="1" dirty="0">
                <a:solidFill>
                  <a:srgbClr val="C00000"/>
                </a:solidFill>
                <a:latin typeface="Arial"/>
                <a:cs typeface="Arial"/>
              </a:rPr>
              <a:t>number</a:t>
            </a:r>
            <a:r>
              <a:rPr sz="1600" b="1" spc="-25" dirty="0">
                <a:solidFill>
                  <a:srgbClr val="C00000"/>
                </a:solidFill>
                <a:latin typeface="Arial"/>
                <a:cs typeface="Arial"/>
              </a:rPr>
              <a:t> </a:t>
            </a:r>
            <a:r>
              <a:rPr sz="1600" b="1" dirty="0">
                <a:solidFill>
                  <a:srgbClr val="C00000"/>
                </a:solidFill>
                <a:latin typeface="Arial"/>
                <a:cs typeface="Arial"/>
              </a:rPr>
              <a:t>of</a:t>
            </a:r>
            <a:r>
              <a:rPr sz="1600" b="1" spc="-75" dirty="0">
                <a:solidFill>
                  <a:srgbClr val="C00000"/>
                </a:solidFill>
                <a:latin typeface="Arial"/>
                <a:cs typeface="Arial"/>
              </a:rPr>
              <a:t> </a:t>
            </a:r>
            <a:r>
              <a:rPr sz="1600" b="1" spc="-10" dirty="0">
                <a:solidFill>
                  <a:srgbClr val="C00000"/>
                </a:solidFill>
                <a:latin typeface="Arial"/>
                <a:cs typeface="Arial"/>
              </a:rPr>
              <a:t>weights</a:t>
            </a:r>
            <a:endParaRPr sz="1600">
              <a:latin typeface="Arial"/>
              <a:cs typeface="Arial"/>
            </a:endParaRPr>
          </a:p>
        </p:txBody>
      </p:sp>
      <p:sp>
        <p:nvSpPr>
          <p:cNvPr id="8" name="object 5">
            <a:extLst>
              <a:ext uri="{FF2B5EF4-FFF2-40B4-BE49-F238E27FC236}">
                <a16:creationId xmlns:a16="http://schemas.microsoft.com/office/drawing/2014/main" id="{EB0AEDC2-88A5-CC9C-EFCD-174BAAD14969}"/>
              </a:ext>
            </a:extLst>
          </p:cNvPr>
          <p:cNvSpPr txBox="1">
            <a:spLocks/>
          </p:cNvSpPr>
          <p:nvPr/>
        </p:nvSpPr>
        <p:spPr>
          <a:xfrm>
            <a:off x="249862" y="186753"/>
            <a:ext cx="6973570" cy="552074"/>
          </a:xfrm>
          <a:prstGeom prst="rect">
            <a:avLst/>
          </a:prstGeom>
        </p:spPr>
        <p:txBody>
          <a:bodyPr vert="horz" wrap="square" lIns="0" tIns="43815" rIns="0" bIns="0" rtlCol="0" anchor="ctr">
            <a:spAutoFit/>
          </a:bodyPr>
          <a:lstStyle>
            <a:lvl1pPr algn="l" defTabSz="914400" rtl="0" eaLnBrk="1" latinLnBrk="0" hangingPunct="1">
              <a:lnSpc>
                <a:spcPts val="3200"/>
              </a:lnSpc>
              <a:spcBef>
                <a:spcPct val="0"/>
              </a:spcBef>
              <a:buNone/>
              <a:defRPr sz="4200" b="1" kern="1200" cap="all" spc="-50" baseline="0">
                <a:solidFill>
                  <a:srgbClr val="942F6D"/>
                </a:solidFill>
                <a:latin typeface="+mn-lt"/>
                <a:ea typeface="+mj-ea"/>
                <a:cs typeface="+mj-cs"/>
              </a:defRPr>
            </a:lvl1pPr>
          </a:lstStyle>
          <a:p>
            <a:pPr marL="12700">
              <a:lnSpc>
                <a:spcPct val="100000"/>
              </a:lnSpc>
              <a:spcBef>
                <a:spcPts val="345"/>
              </a:spcBef>
            </a:pPr>
            <a:r>
              <a:rPr lang="en-GB" sz="3300" spc="-10" dirty="0" err="1"/>
              <a:t>ConvNet</a:t>
            </a:r>
            <a:r>
              <a:rPr lang="en-GB" sz="3300" spc="-10" dirty="0"/>
              <a:t>/CNN Architecture</a:t>
            </a:r>
            <a:endParaRPr lang="en-GB" sz="16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362200" y="435566"/>
            <a:ext cx="10515600" cy="1184683"/>
          </a:xfrm>
          <a:prstGeom prst="rect">
            <a:avLst/>
          </a:prstGeom>
        </p:spPr>
        <p:txBody>
          <a:bodyPr vert="horz" wrap="square" lIns="0" tIns="502666" rIns="0" bIns="0" rtlCol="0" anchor="ctr">
            <a:spAutoFit/>
          </a:bodyPr>
          <a:lstStyle/>
          <a:p>
            <a:pPr marL="83820">
              <a:lnSpc>
                <a:spcPct val="100000"/>
              </a:lnSpc>
              <a:spcBef>
                <a:spcPts val="100"/>
              </a:spcBef>
            </a:pPr>
            <a:r>
              <a:rPr dirty="0"/>
              <a:t>Stacking</a:t>
            </a:r>
            <a:r>
              <a:rPr spc="-195" dirty="0"/>
              <a:t> </a:t>
            </a:r>
            <a:r>
              <a:rPr spc="-10" dirty="0"/>
              <a:t>convolutional</a:t>
            </a:r>
            <a:r>
              <a:rPr spc="-175" dirty="0"/>
              <a:t> </a:t>
            </a:r>
            <a:r>
              <a:rPr spc="-10" dirty="0"/>
              <a:t>layers</a:t>
            </a:r>
          </a:p>
        </p:txBody>
      </p:sp>
      <p:pic>
        <p:nvPicPr>
          <p:cNvPr id="3" name="object 3"/>
          <p:cNvPicPr/>
          <p:nvPr/>
        </p:nvPicPr>
        <p:blipFill>
          <a:blip r:embed="rId2" cstate="print"/>
          <a:stretch>
            <a:fillRect/>
          </a:stretch>
        </p:blipFill>
        <p:spPr>
          <a:xfrm>
            <a:off x="1920240" y="2192573"/>
            <a:ext cx="8162604" cy="3183183"/>
          </a:xfrm>
          <a:prstGeom prst="rect">
            <a:avLst/>
          </a:prstGeom>
        </p:spPr>
      </p:pic>
      <p:sp>
        <p:nvSpPr>
          <p:cNvPr id="4" name="object 4"/>
          <p:cNvSpPr txBox="1"/>
          <p:nvPr/>
        </p:nvSpPr>
        <p:spPr>
          <a:xfrm>
            <a:off x="3993896" y="1915159"/>
            <a:ext cx="2129155" cy="269240"/>
          </a:xfrm>
          <a:prstGeom prst="rect">
            <a:avLst/>
          </a:prstGeom>
        </p:spPr>
        <p:txBody>
          <a:bodyPr vert="horz" wrap="square" lIns="0" tIns="12700" rIns="0" bIns="0" rtlCol="0">
            <a:spAutoFit/>
          </a:bodyPr>
          <a:lstStyle/>
          <a:p>
            <a:pPr marL="12700">
              <a:spcBef>
                <a:spcPts val="100"/>
              </a:spcBef>
            </a:pPr>
            <a:r>
              <a:rPr sz="1600" spc="-10" dirty="0">
                <a:latin typeface="Arial"/>
                <a:cs typeface="Arial"/>
              </a:rPr>
              <a:t>28-</a:t>
            </a:r>
            <a:r>
              <a:rPr sz="1600" dirty="0">
                <a:latin typeface="Arial"/>
                <a:cs typeface="Arial"/>
              </a:rPr>
              <a:t>5(kernel</a:t>
            </a:r>
            <a:r>
              <a:rPr sz="1600" spc="-80" dirty="0">
                <a:latin typeface="Arial"/>
                <a:cs typeface="Arial"/>
              </a:rPr>
              <a:t> </a:t>
            </a:r>
            <a:r>
              <a:rPr sz="1600" spc="-10" dirty="0">
                <a:latin typeface="Arial"/>
                <a:cs typeface="Arial"/>
              </a:rPr>
              <a:t>dim.)+1=24</a:t>
            </a:r>
            <a:endParaRPr sz="1600">
              <a:latin typeface="Arial"/>
              <a:cs typeface="Arial"/>
            </a:endParaRPr>
          </a:p>
        </p:txBody>
      </p:sp>
      <p:sp>
        <p:nvSpPr>
          <p:cNvPr id="5" name="object 5"/>
          <p:cNvSpPr txBox="1"/>
          <p:nvPr/>
        </p:nvSpPr>
        <p:spPr>
          <a:xfrm>
            <a:off x="7361810" y="1915159"/>
            <a:ext cx="2022475" cy="269240"/>
          </a:xfrm>
          <a:prstGeom prst="rect">
            <a:avLst/>
          </a:prstGeom>
        </p:spPr>
        <p:txBody>
          <a:bodyPr vert="horz" wrap="square" lIns="0" tIns="12700" rIns="0" bIns="0" rtlCol="0">
            <a:spAutoFit/>
          </a:bodyPr>
          <a:lstStyle/>
          <a:p>
            <a:pPr marL="12700">
              <a:spcBef>
                <a:spcPts val="100"/>
              </a:spcBef>
            </a:pPr>
            <a:r>
              <a:rPr sz="1600" spc="-10" dirty="0">
                <a:latin typeface="Arial"/>
                <a:cs typeface="Arial"/>
              </a:rPr>
              <a:t>12-</a:t>
            </a:r>
            <a:r>
              <a:rPr sz="1600" dirty="0">
                <a:latin typeface="Arial"/>
                <a:cs typeface="Arial"/>
              </a:rPr>
              <a:t>5(kernel</a:t>
            </a:r>
            <a:r>
              <a:rPr sz="1600" spc="-35" dirty="0">
                <a:latin typeface="Arial"/>
                <a:cs typeface="Arial"/>
              </a:rPr>
              <a:t> </a:t>
            </a:r>
            <a:r>
              <a:rPr sz="1600" spc="-10" dirty="0">
                <a:latin typeface="Arial"/>
                <a:cs typeface="Arial"/>
              </a:rPr>
              <a:t>dim.)+1=8</a:t>
            </a:r>
            <a:endParaRPr sz="1600">
              <a:latin typeface="Arial"/>
              <a:cs typeface="Arial"/>
            </a:endParaRPr>
          </a:p>
        </p:txBody>
      </p:sp>
      <p:sp>
        <p:nvSpPr>
          <p:cNvPr id="6" name="object 6"/>
          <p:cNvSpPr txBox="1"/>
          <p:nvPr/>
        </p:nvSpPr>
        <p:spPr>
          <a:xfrm>
            <a:off x="2070418" y="5189726"/>
            <a:ext cx="8381365" cy="1256030"/>
          </a:xfrm>
          <a:prstGeom prst="rect">
            <a:avLst/>
          </a:prstGeom>
        </p:spPr>
        <p:txBody>
          <a:bodyPr vert="horz" wrap="square" lIns="0" tIns="117475" rIns="0" bIns="0" rtlCol="0">
            <a:spAutoFit/>
          </a:bodyPr>
          <a:lstStyle/>
          <a:p>
            <a:pPr marL="2893695">
              <a:spcBef>
                <a:spcPts val="925"/>
              </a:spcBef>
              <a:tabLst>
                <a:tab pos="4399915" algn="l"/>
                <a:tab pos="6173470" algn="l"/>
                <a:tab pos="7190105" algn="l"/>
              </a:tabLst>
            </a:pPr>
            <a:r>
              <a:rPr sz="1400" dirty="0">
                <a:solidFill>
                  <a:srgbClr val="333399"/>
                </a:solidFill>
                <a:latin typeface="Arial"/>
                <a:cs typeface="Arial"/>
              </a:rPr>
              <a:t>3</a:t>
            </a:r>
            <a:r>
              <a:rPr sz="1400" spc="-10" dirty="0">
                <a:solidFill>
                  <a:srgbClr val="333399"/>
                </a:solidFill>
                <a:latin typeface="Arial"/>
                <a:cs typeface="Arial"/>
              </a:rPr>
              <a:t> kernels</a:t>
            </a:r>
            <a:r>
              <a:rPr sz="1400" dirty="0">
                <a:solidFill>
                  <a:srgbClr val="333399"/>
                </a:solidFill>
                <a:latin typeface="Arial"/>
                <a:cs typeface="Arial"/>
              </a:rPr>
              <a:t>	down</a:t>
            </a:r>
            <a:r>
              <a:rPr sz="1400" spc="-45" dirty="0">
                <a:solidFill>
                  <a:srgbClr val="333399"/>
                </a:solidFill>
                <a:latin typeface="Arial"/>
                <a:cs typeface="Arial"/>
              </a:rPr>
              <a:t> </a:t>
            </a:r>
            <a:r>
              <a:rPr sz="1400" spc="-10" dirty="0">
                <a:solidFill>
                  <a:srgbClr val="333399"/>
                </a:solidFill>
                <a:latin typeface="Arial"/>
                <a:cs typeface="Arial"/>
              </a:rPr>
              <a:t>sampling</a:t>
            </a:r>
            <a:r>
              <a:rPr sz="1400" dirty="0">
                <a:solidFill>
                  <a:srgbClr val="333399"/>
                </a:solidFill>
                <a:latin typeface="Arial"/>
                <a:cs typeface="Arial"/>
              </a:rPr>
              <a:t>	6</a:t>
            </a:r>
            <a:r>
              <a:rPr sz="1400" spc="-40" dirty="0">
                <a:solidFill>
                  <a:srgbClr val="333399"/>
                </a:solidFill>
                <a:latin typeface="Arial"/>
                <a:cs typeface="Arial"/>
              </a:rPr>
              <a:t> </a:t>
            </a:r>
            <a:r>
              <a:rPr sz="1400" spc="-10" dirty="0">
                <a:solidFill>
                  <a:srgbClr val="333399"/>
                </a:solidFill>
                <a:latin typeface="Arial"/>
                <a:cs typeface="Arial"/>
              </a:rPr>
              <a:t>kernels</a:t>
            </a:r>
            <a:r>
              <a:rPr sz="1400" dirty="0">
                <a:solidFill>
                  <a:srgbClr val="333399"/>
                </a:solidFill>
                <a:latin typeface="Arial"/>
                <a:cs typeface="Arial"/>
              </a:rPr>
              <a:t>	</a:t>
            </a:r>
            <a:r>
              <a:rPr sz="1400" spc="-10" dirty="0">
                <a:solidFill>
                  <a:srgbClr val="333399"/>
                </a:solidFill>
                <a:latin typeface="Arial"/>
                <a:cs typeface="Arial"/>
              </a:rPr>
              <a:t>down</a:t>
            </a:r>
            <a:r>
              <a:rPr sz="1400" spc="-80" dirty="0">
                <a:solidFill>
                  <a:srgbClr val="333399"/>
                </a:solidFill>
                <a:latin typeface="Arial"/>
                <a:cs typeface="Arial"/>
              </a:rPr>
              <a:t> </a:t>
            </a:r>
            <a:r>
              <a:rPr sz="1400" spc="-10" dirty="0">
                <a:solidFill>
                  <a:srgbClr val="333399"/>
                </a:solidFill>
                <a:latin typeface="Arial"/>
                <a:cs typeface="Arial"/>
              </a:rPr>
              <a:t>sampling</a:t>
            </a:r>
            <a:endParaRPr sz="1400">
              <a:latin typeface="Arial"/>
              <a:cs typeface="Arial"/>
            </a:endParaRPr>
          </a:p>
          <a:p>
            <a:pPr marL="12700">
              <a:spcBef>
                <a:spcPts val="1420"/>
              </a:spcBef>
            </a:pPr>
            <a:r>
              <a:rPr sz="2400" dirty="0">
                <a:latin typeface="Arial"/>
                <a:cs typeface="Arial"/>
              </a:rPr>
              <a:t>Stacking</a:t>
            </a:r>
            <a:r>
              <a:rPr sz="2400" spc="-114" dirty="0">
                <a:latin typeface="Arial"/>
                <a:cs typeface="Arial"/>
              </a:rPr>
              <a:t> </a:t>
            </a:r>
            <a:r>
              <a:rPr sz="2400" dirty="0">
                <a:latin typeface="Arial"/>
                <a:cs typeface="Arial"/>
              </a:rPr>
              <a:t>will</a:t>
            </a:r>
            <a:r>
              <a:rPr sz="2400" spc="-45" dirty="0">
                <a:latin typeface="Arial"/>
                <a:cs typeface="Arial"/>
              </a:rPr>
              <a:t> </a:t>
            </a:r>
            <a:r>
              <a:rPr sz="2400" dirty="0">
                <a:latin typeface="Arial"/>
                <a:cs typeface="Arial"/>
              </a:rPr>
              <a:t>generate</a:t>
            </a:r>
            <a:r>
              <a:rPr sz="2400" spc="-120" dirty="0">
                <a:latin typeface="Arial"/>
                <a:cs typeface="Arial"/>
              </a:rPr>
              <a:t> </a:t>
            </a:r>
            <a:r>
              <a:rPr sz="2400" spc="-10" dirty="0">
                <a:latin typeface="Arial"/>
                <a:cs typeface="Arial"/>
              </a:rPr>
              <a:t>different</a:t>
            </a:r>
            <a:r>
              <a:rPr sz="2400" spc="-20" dirty="0">
                <a:latin typeface="Arial"/>
                <a:cs typeface="Arial"/>
              </a:rPr>
              <a:t> </a:t>
            </a:r>
            <a:r>
              <a:rPr sz="2400" dirty="0">
                <a:latin typeface="Arial"/>
                <a:cs typeface="Arial"/>
              </a:rPr>
              <a:t>levels</a:t>
            </a:r>
            <a:r>
              <a:rPr sz="2400" spc="-85" dirty="0">
                <a:latin typeface="Arial"/>
                <a:cs typeface="Arial"/>
              </a:rPr>
              <a:t> </a:t>
            </a:r>
            <a:r>
              <a:rPr sz="2400" dirty="0">
                <a:latin typeface="Arial"/>
                <a:cs typeface="Arial"/>
              </a:rPr>
              <a:t>of</a:t>
            </a:r>
            <a:r>
              <a:rPr sz="2400" spc="-100" dirty="0">
                <a:latin typeface="Arial"/>
                <a:cs typeface="Arial"/>
              </a:rPr>
              <a:t> </a:t>
            </a:r>
            <a:r>
              <a:rPr sz="2400" dirty="0">
                <a:latin typeface="Arial"/>
                <a:cs typeface="Arial"/>
              </a:rPr>
              <a:t>features,</a:t>
            </a:r>
            <a:r>
              <a:rPr sz="2400" spc="-85" dirty="0">
                <a:latin typeface="Arial"/>
                <a:cs typeface="Arial"/>
              </a:rPr>
              <a:t> </a:t>
            </a:r>
            <a:r>
              <a:rPr sz="2400" spc="-55" dirty="0">
                <a:latin typeface="Arial"/>
                <a:cs typeface="Arial"/>
              </a:rPr>
              <a:t>low,</a:t>
            </a:r>
            <a:r>
              <a:rPr sz="2400" spc="-80" dirty="0">
                <a:latin typeface="Arial"/>
                <a:cs typeface="Arial"/>
              </a:rPr>
              <a:t> </a:t>
            </a:r>
            <a:r>
              <a:rPr sz="2400" dirty="0">
                <a:latin typeface="Arial"/>
                <a:cs typeface="Arial"/>
              </a:rPr>
              <a:t>mid</a:t>
            </a:r>
            <a:r>
              <a:rPr sz="2400" spc="-95" dirty="0">
                <a:latin typeface="Arial"/>
                <a:cs typeface="Arial"/>
              </a:rPr>
              <a:t> </a:t>
            </a:r>
            <a:r>
              <a:rPr sz="2400" spc="-50" dirty="0">
                <a:latin typeface="Arial"/>
                <a:cs typeface="Arial"/>
              </a:rPr>
              <a:t>,</a:t>
            </a:r>
            <a:endParaRPr sz="2400">
              <a:latin typeface="Arial"/>
              <a:cs typeface="Arial"/>
            </a:endParaRPr>
          </a:p>
          <a:p>
            <a:pPr marL="12700"/>
            <a:r>
              <a:rPr sz="2400" spc="-10" dirty="0">
                <a:latin typeface="Arial"/>
                <a:cs typeface="Arial"/>
              </a:rPr>
              <a:t>high.</a:t>
            </a:r>
            <a:endParaRPr sz="2400">
              <a:latin typeface="Arial"/>
              <a:cs typeface="Arial"/>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49E8BF-BB33-E243-E062-D85220FAAE0B}"/>
              </a:ext>
            </a:extLst>
          </p:cNvPr>
          <p:cNvSpPr>
            <a:spLocks noGrp="1"/>
          </p:cNvSpPr>
          <p:nvPr>
            <p:ph type="title"/>
          </p:nvPr>
        </p:nvSpPr>
        <p:spPr>
          <a:xfrm>
            <a:off x="6657715" y="467271"/>
            <a:ext cx="4195674" cy="2052522"/>
          </a:xfrm>
        </p:spPr>
        <p:txBody>
          <a:bodyPr anchor="b">
            <a:normAutofit/>
          </a:bodyPr>
          <a:lstStyle/>
          <a:p>
            <a:r>
              <a:rPr lang="en-US" sz="5600"/>
              <a:t>Let’s see CNN in practice</a:t>
            </a:r>
          </a:p>
        </p:txBody>
      </p:sp>
      <p:pic>
        <p:nvPicPr>
          <p:cNvPr id="7" name="Graphic 6" descr="Closed Book">
            <a:extLst>
              <a:ext uri="{FF2B5EF4-FFF2-40B4-BE49-F238E27FC236}">
                <a16:creationId xmlns:a16="http://schemas.microsoft.com/office/drawing/2014/main" id="{84CD75A3-4958-4EA8-4B2A-2EF586EA9B30}"/>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217770" y="1448957"/>
            <a:ext cx="3952579" cy="3952579"/>
          </a:xfrm>
          <a:prstGeom prst="rect">
            <a:avLst/>
          </a:prstGeom>
        </p:spPr>
      </p:pic>
      <p:sp>
        <p:nvSpPr>
          <p:cNvPr id="3" name="Content Placeholder 2">
            <a:extLst>
              <a:ext uri="{FF2B5EF4-FFF2-40B4-BE49-F238E27FC236}">
                <a16:creationId xmlns:a16="http://schemas.microsoft.com/office/drawing/2014/main" id="{96CE4A43-2248-9ECC-0F83-551A0FE2D34F}"/>
              </a:ext>
            </a:extLst>
          </p:cNvPr>
          <p:cNvSpPr>
            <a:spLocks noGrp="1"/>
          </p:cNvSpPr>
          <p:nvPr>
            <p:ph idx="1"/>
          </p:nvPr>
        </p:nvSpPr>
        <p:spPr>
          <a:xfrm>
            <a:off x="6695359" y="2990818"/>
            <a:ext cx="4158031" cy="2913872"/>
          </a:xfrm>
        </p:spPr>
        <p:txBody>
          <a:bodyPr anchor="t">
            <a:normAutofit/>
          </a:bodyPr>
          <a:lstStyle/>
          <a:p>
            <a:r>
              <a:rPr lang="en-US" sz="2000" dirty="0">
                <a:solidFill>
                  <a:schemeClr val="tx1">
                    <a:alpha val="80000"/>
                  </a:schemeClr>
                </a:solidFill>
              </a:rPr>
              <a:t>Access Google </a:t>
            </a:r>
            <a:r>
              <a:rPr lang="en-US" sz="2000" dirty="0" err="1">
                <a:solidFill>
                  <a:schemeClr val="tx1">
                    <a:alpha val="80000"/>
                  </a:schemeClr>
                </a:solidFill>
              </a:rPr>
              <a:t>Colab</a:t>
            </a:r>
            <a:r>
              <a:rPr lang="en-US" sz="2000" dirty="0">
                <a:solidFill>
                  <a:schemeClr val="tx1">
                    <a:alpha val="80000"/>
                  </a:schemeClr>
                </a:solidFill>
              </a:rPr>
              <a:t> Notebook:</a:t>
            </a:r>
          </a:p>
          <a:p>
            <a:pPr marL="0" indent="0">
              <a:buNone/>
            </a:pPr>
            <a:r>
              <a:rPr lang="en-US" sz="2000" dirty="0">
                <a:solidFill>
                  <a:schemeClr val="tx1">
                    <a:alpha val="80000"/>
                  </a:schemeClr>
                </a:solidFill>
                <a:hlinkClick r:id="rId4"/>
              </a:rPr>
              <a:t>https://colab.research.google.com/drive/1QKq26Z6DkH30QXEDRerE8V-csVxiwkBD?usp=sharing</a:t>
            </a:r>
            <a:r>
              <a:rPr lang="en-US" sz="2000" dirty="0">
                <a:solidFill>
                  <a:schemeClr val="tx1">
                    <a:alpha val="80000"/>
                  </a:schemeClr>
                </a:solidFill>
              </a:rPr>
              <a:t> </a:t>
            </a:r>
          </a:p>
          <a:p>
            <a:pPr marL="0" indent="0">
              <a:buNone/>
            </a:pPr>
            <a:r>
              <a:rPr lang="en-US" sz="2000" dirty="0">
                <a:solidFill>
                  <a:schemeClr val="tx1">
                    <a:alpha val="80000"/>
                  </a:schemeClr>
                </a:solidFill>
              </a:rPr>
              <a:t>Check out the code under “Using Simple Convolutional Neural Networks (CNNs)” section</a:t>
            </a:r>
          </a:p>
        </p:txBody>
      </p:sp>
    </p:spTree>
    <p:extLst>
      <p:ext uri="{BB962C8B-B14F-4D97-AF65-F5344CB8AC3E}">
        <p14:creationId xmlns:p14="http://schemas.microsoft.com/office/powerpoint/2010/main" val="20953920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362200" y="435566"/>
            <a:ext cx="10515600" cy="1184683"/>
          </a:xfrm>
          <a:prstGeom prst="rect">
            <a:avLst/>
          </a:prstGeom>
        </p:spPr>
        <p:txBody>
          <a:bodyPr vert="horz" wrap="square" lIns="0" tIns="502666" rIns="0" bIns="0" rtlCol="0" anchor="ctr">
            <a:spAutoFit/>
          </a:bodyPr>
          <a:lstStyle/>
          <a:p>
            <a:pPr marL="83820">
              <a:lnSpc>
                <a:spcPct val="100000"/>
              </a:lnSpc>
              <a:spcBef>
                <a:spcPts val="100"/>
              </a:spcBef>
            </a:pPr>
            <a:r>
              <a:rPr spc="-55" dirty="0"/>
              <a:t>Transfer</a:t>
            </a:r>
            <a:r>
              <a:rPr spc="-130" dirty="0"/>
              <a:t> </a:t>
            </a:r>
            <a:r>
              <a:rPr spc="-10" dirty="0"/>
              <a:t>Learning</a:t>
            </a:r>
          </a:p>
        </p:txBody>
      </p:sp>
      <p:sp>
        <p:nvSpPr>
          <p:cNvPr id="3" name="object 3"/>
          <p:cNvSpPr txBox="1"/>
          <p:nvPr/>
        </p:nvSpPr>
        <p:spPr>
          <a:xfrm>
            <a:off x="1822450" y="1712738"/>
            <a:ext cx="8420100" cy="3086735"/>
          </a:xfrm>
          <a:prstGeom prst="rect">
            <a:avLst/>
          </a:prstGeom>
        </p:spPr>
        <p:txBody>
          <a:bodyPr vert="horz" wrap="square" lIns="0" tIns="75565" rIns="0" bIns="0" rtlCol="0">
            <a:spAutoFit/>
          </a:bodyPr>
          <a:lstStyle/>
          <a:p>
            <a:pPr marL="354965" indent="-342265">
              <a:spcBef>
                <a:spcPts val="595"/>
              </a:spcBef>
              <a:buChar char="•"/>
              <a:tabLst>
                <a:tab pos="354965" algn="l"/>
              </a:tabLst>
            </a:pPr>
            <a:r>
              <a:rPr sz="2000" dirty="0">
                <a:latin typeface="Calibri"/>
                <a:cs typeface="Calibri"/>
              </a:rPr>
              <a:t>Reuse</a:t>
            </a:r>
            <a:r>
              <a:rPr sz="2000" spc="-40" dirty="0">
                <a:latin typeface="Calibri"/>
                <a:cs typeface="Calibri"/>
              </a:rPr>
              <a:t> </a:t>
            </a:r>
            <a:r>
              <a:rPr sz="2000" dirty="0">
                <a:latin typeface="Calibri"/>
                <a:cs typeface="Calibri"/>
              </a:rPr>
              <a:t>a</a:t>
            </a:r>
            <a:r>
              <a:rPr sz="2000" spc="-30" dirty="0">
                <a:latin typeface="Calibri"/>
                <a:cs typeface="Calibri"/>
              </a:rPr>
              <a:t> </a:t>
            </a:r>
            <a:r>
              <a:rPr sz="2000" spc="-10" dirty="0">
                <a:latin typeface="Calibri"/>
                <a:cs typeface="Calibri"/>
              </a:rPr>
              <a:t>pre-trained</a:t>
            </a:r>
            <a:r>
              <a:rPr sz="2000" spc="-95" dirty="0">
                <a:latin typeface="Calibri"/>
                <a:cs typeface="Calibri"/>
              </a:rPr>
              <a:t> </a:t>
            </a:r>
            <a:r>
              <a:rPr sz="2000" dirty="0">
                <a:latin typeface="Calibri"/>
                <a:cs typeface="Calibri"/>
              </a:rPr>
              <a:t>model</a:t>
            </a:r>
            <a:r>
              <a:rPr sz="2000" spc="-45" dirty="0">
                <a:latin typeface="Calibri"/>
                <a:cs typeface="Calibri"/>
              </a:rPr>
              <a:t> </a:t>
            </a:r>
            <a:r>
              <a:rPr sz="2000" dirty="0">
                <a:latin typeface="Calibri"/>
                <a:cs typeface="Calibri"/>
              </a:rPr>
              <a:t>(e.g.</a:t>
            </a:r>
            <a:r>
              <a:rPr sz="2000" spc="-60" dirty="0">
                <a:latin typeface="Calibri"/>
                <a:cs typeface="Calibri"/>
              </a:rPr>
              <a:t> </a:t>
            </a:r>
            <a:r>
              <a:rPr sz="2000" dirty="0">
                <a:latin typeface="Calibri"/>
                <a:cs typeface="Calibri"/>
              </a:rPr>
              <a:t>AlexNet,</a:t>
            </a:r>
            <a:r>
              <a:rPr sz="2000" spc="-30" dirty="0">
                <a:latin typeface="Calibri"/>
                <a:cs typeface="Calibri"/>
              </a:rPr>
              <a:t> </a:t>
            </a:r>
            <a:r>
              <a:rPr sz="2000" spc="-10" dirty="0">
                <a:latin typeface="Calibri"/>
                <a:cs typeface="Calibri"/>
              </a:rPr>
              <a:t>VGG16,etc.)</a:t>
            </a:r>
            <a:endParaRPr sz="2000">
              <a:latin typeface="Calibri"/>
              <a:cs typeface="Calibri"/>
            </a:endParaRPr>
          </a:p>
          <a:p>
            <a:pPr marL="354965" indent="-342265">
              <a:spcBef>
                <a:spcPts val="500"/>
              </a:spcBef>
              <a:buChar char="•"/>
              <a:tabLst>
                <a:tab pos="354965" algn="l"/>
              </a:tabLst>
            </a:pPr>
            <a:r>
              <a:rPr sz="2000" dirty="0">
                <a:latin typeface="Calibri"/>
                <a:cs typeface="Calibri"/>
              </a:rPr>
              <a:t>Millions</a:t>
            </a:r>
            <a:r>
              <a:rPr sz="2000" spc="-75" dirty="0">
                <a:latin typeface="Calibri"/>
                <a:cs typeface="Calibri"/>
              </a:rPr>
              <a:t> </a:t>
            </a:r>
            <a:r>
              <a:rPr sz="2000" dirty="0">
                <a:latin typeface="Calibri"/>
                <a:cs typeface="Calibri"/>
              </a:rPr>
              <a:t>of</a:t>
            </a:r>
            <a:r>
              <a:rPr sz="2000" spc="-70" dirty="0">
                <a:latin typeface="Calibri"/>
                <a:cs typeface="Calibri"/>
              </a:rPr>
              <a:t> </a:t>
            </a:r>
            <a:r>
              <a:rPr sz="2000" dirty="0">
                <a:latin typeface="Calibri"/>
                <a:cs typeface="Calibri"/>
              </a:rPr>
              <a:t>images</a:t>
            </a:r>
            <a:r>
              <a:rPr sz="2000" spc="-25" dirty="0">
                <a:latin typeface="Calibri"/>
                <a:cs typeface="Calibri"/>
              </a:rPr>
              <a:t> </a:t>
            </a:r>
            <a:r>
              <a:rPr sz="2000" dirty="0">
                <a:latin typeface="Calibri"/>
                <a:cs typeface="Calibri"/>
              </a:rPr>
              <a:t>were</a:t>
            </a:r>
            <a:r>
              <a:rPr sz="2000" spc="-60" dirty="0">
                <a:latin typeface="Calibri"/>
                <a:cs typeface="Calibri"/>
              </a:rPr>
              <a:t> </a:t>
            </a:r>
            <a:r>
              <a:rPr sz="2000" dirty="0">
                <a:latin typeface="Calibri"/>
                <a:cs typeface="Calibri"/>
              </a:rPr>
              <a:t>used</a:t>
            </a:r>
            <a:r>
              <a:rPr sz="2000" spc="-80" dirty="0">
                <a:latin typeface="Calibri"/>
                <a:cs typeface="Calibri"/>
              </a:rPr>
              <a:t> </a:t>
            </a:r>
            <a:r>
              <a:rPr sz="2000" dirty="0">
                <a:latin typeface="Calibri"/>
                <a:cs typeface="Calibri"/>
              </a:rPr>
              <a:t>to</a:t>
            </a:r>
            <a:r>
              <a:rPr sz="2000" spc="-40" dirty="0">
                <a:latin typeface="Calibri"/>
                <a:cs typeface="Calibri"/>
              </a:rPr>
              <a:t> </a:t>
            </a:r>
            <a:r>
              <a:rPr sz="2000" dirty="0">
                <a:latin typeface="Calibri"/>
                <a:cs typeface="Calibri"/>
              </a:rPr>
              <a:t>learn</a:t>
            </a:r>
            <a:r>
              <a:rPr sz="2000" spc="-45" dirty="0">
                <a:latin typeface="Calibri"/>
                <a:cs typeface="Calibri"/>
              </a:rPr>
              <a:t> </a:t>
            </a:r>
            <a:r>
              <a:rPr sz="2000" spc="-10" dirty="0">
                <a:latin typeface="Calibri"/>
                <a:cs typeface="Calibri"/>
              </a:rPr>
              <a:t>low-mid-</a:t>
            </a:r>
            <a:r>
              <a:rPr sz="2000" dirty="0">
                <a:latin typeface="Calibri"/>
                <a:cs typeface="Calibri"/>
              </a:rPr>
              <a:t>high</a:t>
            </a:r>
            <a:r>
              <a:rPr sz="2000" spc="-105" dirty="0">
                <a:latin typeface="Calibri"/>
                <a:cs typeface="Calibri"/>
              </a:rPr>
              <a:t> </a:t>
            </a:r>
            <a:r>
              <a:rPr sz="2000" dirty="0">
                <a:latin typeface="Calibri"/>
                <a:cs typeface="Calibri"/>
              </a:rPr>
              <a:t>level</a:t>
            </a:r>
            <a:r>
              <a:rPr sz="2000" spc="-35" dirty="0">
                <a:latin typeface="Calibri"/>
                <a:cs typeface="Calibri"/>
              </a:rPr>
              <a:t> </a:t>
            </a:r>
            <a:r>
              <a:rPr sz="2000" spc="-10" dirty="0">
                <a:latin typeface="Calibri"/>
                <a:cs typeface="Calibri"/>
              </a:rPr>
              <a:t>features</a:t>
            </a:r>
            <a:r>
              <a:rPr sz="2000" spc="-60" dirty="0">
                <a:latin typeface="Calibri"/>
                <a:cs typeface="Calibri"/>
              </a:rPr>
              <a:t> </a:t>
            </a:r>
            <a:r>
              <a:rPr sz="1600" dirty="0">
                <a:latin typeface="Calibri"/>
                <a:cs typeface="Calibri"/>
              </a:rPr>
              <a:t>(e.g.</a:t>
            </a:r>
            <a:r>
              <a:rPr sz="1600" spc="-60" dirty="0">
                <a:latin typeface="Calibri"/>
                <a:cs typeface="Calibri"/>
              </a:rPr>
              <a:t> </a:t>
            </a:r>
            <a:r>
              <a:rPr sz="1600" spc="-10" dirty="0">
                <a:latin typeface="Calibri"/>
                <a:cs typeface="Calibri"/>
              </a:rPr>
              <a:t>ImageNet)</a:t>
            </a:r>
            <a:endParaRPr sz="1600">
              <a:latin typeface="Calibri"/>
              <a:cs typeface="Calibri"/>
            </a:endParaRPr>
          </a:p>
          <a:p>
            <a:pPr marL="355600" marR="81280" indent="-342900">
              <a:spcBef>
                <a:spcPts val="500"/>
              </a:spcBef>
              <a:buChar char="•"/>
              <a:tabLst>
                <a:tab pos="355600" algn="l"/>
              </a:tabLst>
            </a:pPr>
            <a:r>
              <a:rPr sz="2000" dirty="0">
                <a:latin typeface="Calibri"/>
                <a:cs typeface="Calibri"/>
              </a:rPr>
              <a:t>Only</a:t>
            </a:r>
            <a:r>
              <a:rPr sz="2000" spc="-80" dirty="0">
                <a:latin typeface="Calibri"/>
                <a:cs typeface="Calibri"/>
              </a:rPr>
              <a:t> </a:t>
            </a:r>
            <a:r>
              <a:rPr sz="2000" dirty="0">
                <a:latin typeface="Calibri"/>
                <a:cs typeface="Calibri"/>
              </a:rPr>
              <a:t>in</a:t>
            </a:r>
            <a:r>
              <a:rPr sz="2000" spc="-45" dirty="0">
                <a:latin typeface="Calibri"/>
                <a:cs typeface="Calibri"/>
              </a:rPr>
              <a:t> </a:t>
            </a:r>
            <a:r>
              <a:rPr sz="2000" dirty="0">
                <a:latin typeface="Calibri"/>
                <a:cs typeface="Calibri"/>
              </a:rPr>
              <a:t>the</a:t>
            </a:r>
            <a:r>
              <a:rPr sz="2000" spc="-50" dirty="0">
                <a:latin typeface="Calibri"/>
                <a:cs typeface="Calibri"/>
              </a:rPr>
              <a:t> </a:t>
            </a:r>
            <a:r>
              <a:rPr sz="2000" dirty="0">
                <a:latin typeface="Calibri"/>
                <a:cs typeface="Calibri"/>
              </a:rPr>
              <a:t>last</a:t>
            </a:r>
            <a:r>
              <a:rPr sz="2000" spc="-25" dirty="0">
                <a:latin typeface="Calibri"/>
                <a:cs typeface="Calibri"/>
              </a:rPr>
              <a:t> </a:t>
            </a:r>
            <a:r>
              <a:rPr sz="2000" dirty="0">
                <a:latin typeface="Calibri"/>
                <a:cs typeface="Calibri"/>
              </a:rPr>
              <a:t>three</a:t>
            </a:r>
            <a:r>
              <a:rPr sz="2000" spc="-50" dirty="0">
                <a:latin typeface="Calibri"/>
                <a:cs typeface="Calibri"/>
              </a:rPr>
              <a:t> </a:t>
            </a:r>
            <a:r>
              <a:rPr sz="2000" spc="-10" dirty="0">
                <a:latin typeface="Calibri"/>
                <a:cs typeface="Calibri"/>
              </a:rPr>
              <a:t>layers</a:t>
            </a:r>
            <a:r>
              <a:rPr sz="2000" spc="-35" dirty="0">
                <a:latin typeface="Calibri"/>
                <a:cs typeface="Calibri"/>
              </a:rPr>
              <a:t> </a:t>
            </a:r>
            <a:r>
              <a:rPr sz="2000" dirty="0">
                <a:latin typeface="Calibri"/>
                <a:cs typeface="Calibri"/>
              </a:rPr>
              <a:t>the</a:t>
            </a:r>
            <a:r>
              <a:rPr sz="2000" spc="-50" dirty="0">
                <a:latin typeface="Calibri"/>
                <a:cs typeface="Calibri"/>
              </a:rPr>
              <a:t> </a:t>
            </a:r>
            <a:r>
              <a:rPr sz="2000" dirty="0">
                <a:latin typeface="Calibri"/>
                <a:cs typeface="Calibri"/>
              </a:rPr>
              <a:t>decision</a:t>
            </a:r>
            <a:r>
              <a:rPr sz="2000" spc="-30" dirty="0">
                <a:latin typeface="Calibri"/>
                <a:cs typeface="Calibri"/>
              </a:rPr>
              <a:t> </a:t>
            </a:r>
            <a:r>
              <a:rPr sz="2000" dirty="0">
                <a:latin typeface="Calibri"/>
                <a:cs typeface="Calibri"/>
              </a:rPr>
              <a:t>is</a:t>
            </a:r>
            <a:r>
              <a:rPr sz="2000" spc="-40" dirty="0">
                <a:latin typeface="Calibri"/>
                <a:cs typeface="Calibri"/>
              </a:rPr>
              <a:t> </a:t>
            </a:r>
            <a:r>
              <a:rPr sz="2000" dirty="0">
                <a:latin typeface="Calibri"/>
                <a:cs typeface="Calibri"/>
              </a:rPr>
              <a:t>made.</a:t>
            </a:r>
            <a:r>
              <a:rPr sz="2000" spc="-35" dirty="0">
                <a:latin typeface="Calibri"/>
                <a:cs typeface="Calibri"/>
              </a:rPr>
              <a:t> </a:t>
            </a:r>
            <a:r>
              <a:rPr sz="2000" dirty="0">
                <a:latin typeface="Calibri"/>
                <a:cs typeface="Calibri"/>
              </a:rPr>
              <a:t>It</a:t>
            </a:r>
            <a:r>
              <a:rPr sz="2000" spc="-60" dirty="0">
                <a:latin typeface="Calibri"/>
                <a:cs typeface="Calibri"/>
              </a:rPr>
              <a:t> </a:t>
            </a:r>
            <a:r>
              <a:rPr sz="2000" dirty="0">
                <a:latin typeface="Calibri"/>
                <a:cs typeface="Calibri"/>
              </a:rPr>
              <a:t>calculates</a:t>
            </a:r>
            <a:r>
              <a:rPr sz="2000" spc="5" dirty="0">
                <a:latin typeface="Calibri"/>
                <a:cs typeface="Calibri"/>
              </a:rPr>
              <a:t> </a:t>
            </a:r>
            <a:r>
              <a:rPr sz="2000" dirty="0">
                <a:latin typeface="Calibri"/>
                <a:cs typeface="Calibri"/>
              </a:rPr>
              <a:t>how</a:t>
            </a:r>
            <a:r>
              <a:rPr sz="2000" spc="-110" dirty="0">
                <a:latin typeface="Calibri"/>
                <a:cs typeface="Calibri"/>
              </a:rPr>
              <a:t> </a:t>
            </a:r>
            <a:r>
              <a:rPr sz="2000" dirty="0">
                <a:latin typeface="Calibri"/>
                <a:cs typeface="Calibri"/>
              </a:rPr>
              <a:t>similar</a:t>
            </a:r>
            <a:r>
              <a:rPr sz="2000" spc="-35" dirty="0">
                <a:latin typeface="Calibri"/>
                <a:cs typeface="Calibri"/>
              </a:rPr>
              <a:t> </a:t>
            </a:r>
            <a:r>
              <a:rPr sz="2000" spc="-25" dirty="0">
                <a:latin typeface="Calibri"/>
                <a:cs typeface="Calibri"/>
              </a:rPr>
              <a:t>are </a:t>
            </a:r>
            <a:r>
              <a:rPr sz="2000" dirty="0">
                <a:latin typeface="Calibri"/>
                <a:cs typeface="Calibri"/>
              </a:rPr>
              <a:t>those</a:t>
            </a:r>
            <a:r>
              <a:rPr sz="2000" spc="-60" dirty="0">
                <a:latin typeface="Calibri"/>
                <a:cs typeface="Calibri"/>
              </a:rPr>
              <a:t> </a:t>
            </a:r>
            <a:r>
              <a:rPr sz="2000" spc="-10" dirty="0">
                <a:latin typeface="Calibri"/>
                <a:cs typeface="Calibri"/>
              </a:rPr>
              <a:t>features</a:t>
            </a:r>
            <a:r>
              <a:rPr sz="2000" spc="-65" dirty="0">
                <a:latin typeface="Calibri"/>
                <a:cs typeface="Calibri"/>
              </a:rPr>
              <a:t> </a:t>
            </a:r>
            <a:r>
              <a:rPr sz="2000" dirty="0">
                <a:latin typeface="Calibri"/>
                <a:cs typeface="Calibri"/>
              </a:rPr>
              <a:t>to</a:t>
            </a:r>
            <a:r>
              <a:rPr sz="2000" spc="-60" dirty="0">
                <a:latin typeface="Calibri"/>
                <a:cs typeface="Calibri"/>
              </a:rPr>
              <a:t> </a:t>
            </a:r>
            <a:r>
              <a:rPr sz="2000" dirty="0">
                <a:latin typeface="Calibri"/>
                <a:cs typeface="Calibri"/>
              </a:rPr>
              <a:t>any</a:t>
            </a:r>
            <a:r>
              <a:rPr sz="2000" spc="-75" dirty="0">
                <a:latin typeface="Calibri"/>
                <a:cs typeface="Calibri"/>
              </a:rPr>
              <a:t> </a:t>
            </a:r>
            <a:r>
              <a:rPr sz="2000" dirty="0">
                <a:latin typeface="Calibri"/>
                <a:cs typeface="Calibri"/>
              </a:rPr>
              <a:t>of</a:t>
            </a:r>
            <a:r>
              <a:rPr sz="2000" spc="-55" dirty="0">
                <a:latin typeface="Calibri"/>
                <a:cs typeface="Calibri"/>
              </a:rPr>
              <a:t> </a:t>
            </a:r>
            <a:r>
              <a:rPr sz="2000" dirty="0">
                <a:latin typeface="Calibri"/>
                <a:cs typeface="Calibri"/>
              </a:rPr>
              <a:t>the</a:t>
            </a:r>
            <a:r>
              <a:rPr sz="2000" spc="-45" dirty="0">
                <a:latin typeface="Calibri"/>
                <a:cs typeface="Calibri"/>
              </a:rPr>
              <a:t> </a:t>
            </a:r>
            <a:r>
              <a:rPr sz="2000" dirty="0">
                <a:latin typeface="Calibri"/>
                <a:cs typeface="Calibri"/>
              </a:rPr>
              <a:t>classes</a:t>
            </a:r>
            <a:r>
              <a:rPr sz="2000" spc="20" dirty="0">
                <a:latin typeface="Calibri"/>
                <a:cs typeface="Calibri"/>
              </a:rPr>
              <a:t> </a:t>
            </a:r>
            <a:r>
              <a:rPr sz="2000" dirty="0">
                <a:latin typeface="Calibri"/>
                <a:cs typeface="Calibri"/>
              </a:rPr>
              <a:t>under</a:t>
            </a:r>
            <a:r>
              <a:rPr sz="2000" spc="-70" dirty="0">
                <a:latin typeface="Calibri"/>
                <a:cs typeface="Calibri"/>
              </a:rPr>
              <a:t> </a:t>
            </a:r>
            <a:r>
              <a:rPr sz="2000" spc="-10" dirty="0">
                <a:latin typeface="Calibri"/>
                <a:cs typeface="Calibri"/>
              </a:rPr>
              <a:t>study.</a:t>
            </a:r>
            <a:endParaRPr sz="2000">
              <a:latin typeface="Calibri"/>
              <a:cs typeface="Calibri"/>
            </a:endParaRPr>
          </a:p>
          <a:p>
            <a:pPr marL="355600" marR="172085" indent="-342900">
              <a:spcBef>
                <a:spcPts val="505"/>
              </a:spcBef>
              <a:buChar char="•"/>
              <a:tabLst>
                <a:tab pos="355600" algn="l"/>
              </a:tabLst>
            </a:pPr>
            <a:r>
              <a:rPr sz="2000" dirty="0">
                <a:latin typeface="Calibri"/>
                <a:cs typeface="Calibri"/>
              </a:rPr>
              <a:t>Then,</a:t>
            </a:r>
            <a:r>
              <a:rPr sz="2000" spc="-85" dirty="0">
                <a:latin typeface="Calibri"/>
                <a:cs typeface="Calibri"/>
              </a:rPr>
              <a:t> </a:t>
            </a:r>
            <a:r>
              <a:rPr sz="2000" dirty="0">
                <a:latin typeface="Calibri"/>
                <a:cs typeface="Calibri"/>
              </a:rPr>
              <a:t>I</a:t>
            </a:r>
            <a:r>
              <a:rPr sz="2000" spc="-55" dirty="0">
                <a:latin typeface="Calibri"/>
                <a:cs typeface="Calibri"/>
              </a:rPr>
              <a:t> </a:t>
            </a:r>
            <a:r>
              <a:rPr sz="2000" spc="-10" dirty="0">
                <a:latin typeface="Calibri"/>
                <a:cs typeface="Calibri"/>
              </a:rPr>
              <a:t>have</a:t>
            </a:r>
            <a:r>
              <a:rPr sz="2000" spc="-85" dirty="0">
                <a:latin typeface="Calibri"/>
                <a:cs typeface="Calibri"/>
              </a:rPr>
              <a:t> </a:t>
            </a:r>
            <a:r>
              <a:rPr sz="2000" dirty="0">
                <a:latin typeface="Calibri"/>
                <a:cs typeface="Calibri"/>
              </a:rPr>
              <a:t>a</a:t>
            </a:r>
            <a:r>
              <a:rPr sz="2000" spc="-35" dirty="0">
                <a:latin typeface="Calibri"/>
                <a:cs typeface="Calibri"/>
              </a:rPr>
              <a:t> </a:t>
            </a:r>
            <a:r>
              <a:rPr sz="2000" dirty="0">
                <a:latin typeface="Calibri"/>
                <a:cs typeface="Calibri"/>
              </a:rPr>
              <a:t>small</a:t>
            </a:r>
            <a:r>
              <a:rPr sz="2000" spc="-35" dirty="0">
                <a:latin typeface="Calibri"/>
                <a:cs typeface="Calibri"/>
              </a:rPr>
              <a:t> </a:t>
            </a:r>
            <a:r>
              <a:rPr sz="2000" dirty="0">
                <a:latin typeface="Calibri"/>
                <a:cs typeface="Calibri"/>
              </a:rPr>
              <a:t>data</a:t>
            </a:r>
            <a:r>
              <a:rPr sz="2000" spc="-65" dirty="0">
                <a:latin typeface="Calibri"/>
                <a:cs typeface="Calibri"/>
              </a:rPr>
              <a:t> </a:t>
            </a:r>
            <a:r>
              <a:rPr sz="2000" dirty="0">
                <a:latin typeface="Calibri"/>
                <a:cs typeface="Calibri"/>
              </a:rPr>
              <a:t>set</a:t>
            </a:r>
            <a:r>
              <a:rPr sz="2000" spc="-45" dirty="0">
                <a:latin typeface="Calibri"/>
                <a:cs typeface="Calibri"/>
              </a:rPr>
              <a:t> </a:t>
            </a:r>
            <a:r>
              <a:rPr sz="2000" dirty="0">
                <a:latin typeface="Calibri"/>
                <a:cs typeface="Calibri"/>
              </a:rPr>
              <a:t>with</a:t>
            </a:r>
            <a:r>
              <a:rPr sz="2000" spc="-60" dirty="0">
                <a:latin typeface="Calibri"/>
                <a:cs typeface="Calibri"/>
              </a:rPr>
              <a:t> </a:t>
            </a:r>
            <a:r>
              <a:rPr sz="2000" dirty="0">
                <a:latin typeface="Calibri"/>
                <a:cs typeface="Calibri"/>
              </a:rPr>
              <a:t>other</a:t>
            </a:r>
            <a:r>
              <a:rPr sz="2000" spc="-65" dirty="0">
                <a:latin typeface="Calibri"/>
                <a:cs typeface="Calibri"/>
              </a:rPr>
              <a:t> </a:t>
            </a:r>
            <a:r>
              <a:rPr sz="2000" dirty="0">
                <a:latin typeface="Calibri"/>
                <a:cs typeface="Calibri"/>
              </a:rPr>
              <a:t>images</a:t>
            </a:r>
            <a:r>
              <a:rPr sz="2000" spc="-20" dirty="0">
                <a:latin typeface="Calibri"/>
                <a:cs typeface="Calibri"/>
              </a:rPr>
              <a:t> </a:t>
            </a:r>
            <a:r>
              <a:rPr sz="2000" dirty="0">
                <a:latin typeface="Calibri"/>
                <a:cs typeface="Calibri"/>
              </a:rPr>
              <a:t>and</a:t>
            </a:r>
            <a:r>
              <a:rPr sz="2000" spc="-65" dirty="0">
                <a:latin typeface="Calibri"/>
                <a:cs typeface="Calibri"/>
              </a:rPr>
              <a:t> </a:t>
            </a:r>
            <a:r>
              <a:rPr sz="2000" dirty="0">
                <a:latin typeface="Calibri"/>
                <a:cs typeface="Calibri"/>
              </a:rPr>
              <a:t>classes,</a:t>
            </a:r>
            <a:r>
              <a:rPr sz="2000" spc="25" dirty="0">
                <a:latin typeface="Calibri"/>
                <a:cs typeface="Calibri"/>
              </a:rPr>
              <a:t> </a:t>
            </a:r>
            <a:r>
              <a:rPr sz="2000" dirty="0">
                <a:latin typeface="Calibri"/>
                <a:cs typeface="Calibri"/>
              </a:rPr>
              <a:t>e.g.(instead</a:t>
            </a:r>
            <a:r>
              <a:rPr sz="2000" spc="-35" dirty="0">
                <a:latin typeface="Calibri"/>
                <a:cs typeface="Calibri"/>
              </a:rPr>
              <a:t> </a:t>
            </a:r>
            <a:r>
              <a:rPr sz="2000" spc="-25" dirty="0">
                <a:latin typeface="Calibri"/>
                <a:cs typeface="Calibri"/>
              </a:rPr>
              <a:t>of </a:t>
            </a:r>
            <a:r>
              <a:rPr sz="2000" dirty="0">
                <a:latin typeface="Calibri"/>
                <a:cs typeface="Calibri"/>
              </a:rPr>
              <a:t>cars,</a:t>
            </a:r>
            <a:r>
              <a:rPr sz="2000" spc="-20" dirty="0">
                <a:latin typeface="Calibri"/>
                <a:cs typeface="Calibri"/>
              </a:rPr>
              <a:t> </a:t>
            </a:r>
            <a:r>
              <a:rPr sz="2000" dirty="0">
                <a:latin typeface="Calibri"/>
                <a:cs typeface="Calibri"/>
              </a:rPr>
              <a:t>I</a:t>
            </a:r>
            <a:r>
              <a:rPr sz="2000" spc="-55" dirty="0">
                <a:latin typeface="Calibri"/>
                <a:cs typeface="Calibri"/>
              </a:rPr>
              <a:t> </a:t>
            </a:r>
            <a:r>
              <a:rPr sz="2000" dirty="0">
                <a:latin typeface="Calibri"/>
                <a:cs typeface="Calibri"/>
              </a:rPr>
              <a:t>have</a:t>
            </a:r>
            <a:r>
              <a:rPr sz="2000" spc="-40" dirty="0">
                <a:latin typeface="Calibri"/>
                <a:cs typeface="Calibri"/>
              </a:rPr>
              <a:t> </a:t>
            </a:r>
            <a:r>
              <a:rPr sz="2000" dirty="0">
                <a:latin typeface="Calibri"/>
                <a:cs typeface="Calibri"/>
              </a:rPr>
              <a:t>animals),</a:t>
            </a:r>
            <a:r>
              <a:rPr sz="2000" spc="-50" dirty="0">
                <a:latin typeface="Calibri"/>
                <a:cs typeface="Calibri"/>
              </a:rPr>
              <a:t> </a:t>
            </a:r>
            <a:r>
              <a:rPr sz="2000" dirty="0">
                <a:latin typeface="Calibri"/>
                <a:cs typeface="Calibri"/>
              </a:rPr>
              <a:t>I</a:t>
            </a:r>
            <a:r>
              <a:rPr sz="2000" spc="-35" dirty="0">
                <a:latin typeface="Calibri"/>
                <a:cs typeface="Calibri"/>
              </a:rPr>
              <a:t> </a:t>
            </a:r>
            <a:r>
              <a:rPr sz="2000" dirty="0">
                <a:latin typeface="Calibri"/>
                <a:cs typeface="Calibri"/>
              </a:rPr>
              <a:t>still</a:t>
            </a:r>
            <a:r>
              <a:rPr sz="2000" spc="-45" dirty="0">
                <a:latin typeface="Calibri"/>
                <a:cs typeface="Calibri"/>
              </a:rPr>
              <a:t> </a:t>
            </a:r>
            <a:r>
              <a:rPr sz="2000" dirty="0">
                <a:latin typeface="Calibri"/>
                <a:cs typeface="Calibri"/>
              </a:rPr>
              <a:t>can </a:t>
            </a:r>
            <a:r>
              <a:rPr sz="2000" b="1" dirty="0">
                <a:latin typeface="Calibri"/>
                <a:cs typeface="Calibri"/>
              </a:rPr>
              <a:t>use</a:t>
            </a:r>
            <a:r>
              <a:rPr sz="2000" b="1" spc="-30" dirty="0">
                <a:latin typeface="Calibri"/>
                <a:cs typeface="Calibri"/>
              </a:rPr>
              <a:t> </a:t>
            </a:r>
            <a:r>
              <a:rPr sz="2000" b="1" dirty="0">
                <a:latin typeface="Calibri"/>
                <a:cs typeface="Calibri"/>
              </a:rPr>
              <a:t>those</a:t>
            </a:r>
            <a:r>
              <a:rPr sz="2000" b="1" spc="-70" dirty="0">
                <a:latin typeface="Calibri"/>
                <a:cs typeface="Calibri"/>
              </a:rPr>
              <a:t> </a:t>
            </a:r>
            <a:r>
              <a:rPr sz="2000" b="1" spc="-10" dirty="0">
                <a:latin typeface="Calibri"/>
                <a:cs typeface="Calibri"/>
              </a:rPr>
              <a:t>learnt</a:t>
            </a:r>
            <a:r>
              <a:rPr sz="2000" b="1" spc="-80" dirty="0">
                <a:latin typeface="Calibri"/>
                <a:cs typeface="Calibri"/>
              </a:rPr>
              <a:t> </a:t>
            </a:r>
            <a:r>
              <a:rPr sz="2000" b="1" spc="-10" dirty="0">
                <a:latin typeface="Calibri"/>
                <a:cs typeface="Calibri"/>
              </a:rPr>
              <a:t>feature</a:t>
            </a:r>
            <a:r>
              <a:rPr sz="2000" b="1" spc="-65" dirty="0">
                <a:latin typeface="Calibri"/>
                <a:cs typeface="Calibri"/>
              </a:rPr>
              <a:t> </a:t>
            </a:r>
            <a:r>
              <a:rPr sz="2000" b="1" spc="-10" dirty="0">
                <a:latin typeface="Calibri"/>
                <a:cs typeface="Calibri"/>
              </a:rPr>
              <a:t>weights</a:t>
            </a:r>
            <a:r>
              <a:rPr sz="2000" b="1" spc="-75" dirty="0">
                <a:latin typeface="Calibri"/>
                <a:cs typeface="Calibri"/>
              </a:rPr>
              <a:t> </a:t>
            </a:r>
            <a:r>
              <a:rPr sz="2000" b="1" dirty="0">
                <a:latin typeface="Calibri"/>
                <a:cs typeface="Calibri"/>
              </a:rPr>
              <a:t>,</a:t>
            </a:r>
            <a:r>
              <a:rPr sz="2000" b="1" spc="-45" dirty="0">
                <a:latin typeface="Calibri"/>
                <a:cs typeface="Calibri"/>
              </a:rPr>
              <a:t> </a:t>
            </a:r>
            <a:r>
              <a:rPr sz="2000" b="1" dirty="0">
                <a:latin typeface="Calibri"/>
                <a:cs typeface="Calibri"/>
              </a:rPr>
              <a:t>but</a:t>
            </a:r>
            <a:r>
              <a:rPr sz="2000" b="1" spc="-60" dirty="0">
                <a:latin typeface="Calibri"/>
                <a:cs typeface="Calibri"/>
              </a:rPr>
              <a:t> </a:t>
            </a:r>
            <a:r>
              <a:rPr sz="2000" b="1" spc="-10" dirty="0">
                <a:latin typeface="Calibri"/>
                <a:cs typeface="Calibri"/>
              </a:rPr>
              <a:t>change </a:t>
            </a:r>
            <a:r>
              <a:rPr sz="2000" b="1" dirty="0">
                <a:latin typeface="Calibri"/>
                <a:cs typeface="Calibri"/>
              </a:rPr>
              <a:t>the</a:t>
            </a:r>
            <a:r>
              <a:rPr sz="2000" b="1" spc="-50" dirty="0">
                <a:latin typeface="Calibri"/>
                <a:cs typeface="Calibri"/>
              </a:rPr>
              <a:t> </a:t>
            </a:r>
            <a:r>
              <a:rPr sz="2000" b="1" dirty="0">
                <a:latin typeface="Calibri"/>
                <a:cs typeface="Calibri"/>
              </a:rPr>
              <a:t>last</a:t>
            </a:r>
            <a:r>
              <a:rPr sz="2000" b="1" spc="-70" dirty="0">
                <a:latin typeface="Calibri"/>
                <a:cs typeface="Calibri"/>
              </a:rPr>
              <a:t> </a:t>
            </a:r>
            <a:r>
              <a:rPr sz="2000" b="1" dirty="0">
                <a:latin typeface="Calibri"/>
                <a:cs typeface="Calibri"/>
              </a:rPr>
              <a:t>three</a:t>
            </a:r>
            <a:r>
              <a:rPr sz="2000" b="1" spc="-50" dirty="0">
                <a:latin typeface="Calibri"/>
                <a:cs typeface="Calibri"/>
              </a:rPr>
              <a:t> </a:t>
            </a:r>
            <a:r>
              <a:rPr sz="2000" b="1" spc="-10" dirty="0">
                <a:latin typeface="Calibri"/>
                <a:cs typeface="Calibri"/>
              </a:rPr>
              <a:t>layers</a:t>
            </a:r>
            <a:r>
              <a:rPr sz="2000" spc="-10" dirty="0">
                <a:latin typeface="Calibri"/>
                <a:cs typeface="Calibri"/>
              </a:rPr>
              <a:t>.</a:t>
            </a:r>
            <a:endParaRPr sz="2000">
              <a:latin typeface="Calibri"/>
              <a:cs typeface="Calibri"/>
            </a:endParaRPr>
          </a:p>
          <a:p>
            <a:pPr marL="355600" marR="41275" indent="-342900">
              <a:spcBef>
                <a:spcPts val="500"/>
              </a:spcBef>
              <a:buChar char="•"/>
              <a:tabLst>
                <a:tab pos="355600" algn="l"/>
              </a:tabLst>
            </a:pPr>
            <a:r>
              <a:rPr sz="2000" dirty="0">
                <a:latin typeface="Calibri"/>
                <a:cs typeface="Calibri"/>
              </a:rPr>
              <a:t>I</a:t>
            </a:r>
            <a:r>
              <a:rPr sz="2000" spc="-65" dirty="0">
                <a:latin typeface="Calibri"/>
                <a:cs typeface="Calibri"/>
              </a:rPr>
              <a:t> </a:t>
            </a:r>
            <a:r>
              <a:rPr sz="2000" dirty="0">
                <a:latin typeface="Calibri"/>
                <a:cs typeface="Calibri"/>
              </a:rPr>
              <a:t>use</a:t>
            </a:r>
            <a:r>
              <a:rPr sz="2000" spc="-75" dirty="0">
                <a:latin typeface="Calibri"/>
                <a:cs typeface="Calibri"/>
              </a:rPr>
              <a:t> </a:t>
            </a:r>
            <a:r>
              <a:rPr sz="2000" dirty="0">
                <a:latin typeface="Calibri"/>
                <a:cs typeface="Calibri"/>
              </a:rPr>
              <a:t>my</a:t>
            </a:r>
            <a:r>
              <a:rPr sz="2000" spc="-45" dirty="0">
                <a:latin typeface="Calibri"/>
                <a:cs typeface="Calibri"/>
              </a:rPr>
              <a:t> </a:t>
            </a:r>
            <a:r>
              <a:rPr sz="2000" dirty="0">
                <a:latin typeface="Calibri"/>
                <a:cs typeface="Calibri"/>
              </a:rPr>
              <a:t>small</a:t>
            </a:r>
            <a:r>
              <a:rPr sz="2000" spc="-40" dirty="0">
                <a:latin typeface="Calibri"/>
                <a:cs typeface="Calibri"/>
              </a:rPr>
              <a:t> </a:t>
            </a:r>
            <a:r>
              <a:rPr sz="2000" dirty="0">
                <a:latin typeface="Calibri"/>
                <a:cs typeface="Calibri"/>
              </a:rPr>
              <a:t>data</a:t>
            </a:r>
            <a:r>
              <a:rPr sz="2000" spc="-95" dirty="0">
                <a:latin typeface="Calibri"/>
                <a:cs typeface="Calibri"/>
              </a:rPr>
              <a:t> </a:t>
            </a:r>
            <a:r>
              <a:rPr sz="2000" dirty="0">
                <a:latin typeface="Calibri"/>
                <a:cs typeface="Calibri"/>
              </a:rPr>
              <a:t>set</a:t>
            </a:r>
            <a:r>
              <a:rPr sz="2000" spc="-25" dirty="0">
                <a:latin typeface="Calibri"/>
                <a:cs typeface="Calibri"/>
              </a:rPr>
              <a:t> </a:t>
            </a:r>
            <a:r>
              <a:rPr sz="2000" dirty="0">
                <a:latin typeface="Calibri"/>
                <a:cs typeface="Calibri"/>
              </a:rPr>
              <a:t>of</a:t>
            </a:r>
            <a:r>
              <a:rPr sz="2000" spc="-70" dirty="0">
                <a:latin typeface="Calibri"/>
                <a:cs typeface="Calibri"/>
              </a:rPr>
              <a:t> </a:t>
            </a:r>
            <a:r>
              <a:rPr sz="2000" dirty="0">
                <a:latin typeface="Calibri"/>
                <a:cs typeface="Calibri"/>
              </a:rPr>
              <a:t>animals</a:t>
            </a:r>
            <a:r>
              <a:rPr sz="2000" spc="-30" dirty="0">
                <a:latin typeface="Calibri"/>
                <a:cs typeface="Calibri"/>
              </a:rPr>
              <a:t> </a:t>
            </a:r>
            <a:r>
              <a:rPr sz="2000" dirty="0">
                <a:latin typeface="Calibri"/>
                <a:cs typeface="Calibri"/>
              </a:rPr>
              <a:t>to</a:t>
            </a:r>
            <a:r>
              <a:rPr sz="2000" spc="-55" dirty="0">
                <a:latin typeface="Calibri"/>
                <a:cs typeface="Calibri"/>
              </a:rPr>
              <a:t> </a:t>
            </a:r>
            <a:r>
              <a:rPr sz="2000" spc="-10" dirty="0">
                <a:latin typeface="Calibri"/>
                <a:cs typeface="Calibri"/>
              </a:rPr>
              <a:t>retrain</a:t>
            </a:r>
            <a:r>
              <a:rPr sz="2000" spc="-40" dirty="0">
                <a:latin typeface="Calibri"/>
                <a:cs typeface="Calibri"/>
              </a:rPr>
              <a:t> </a:t>
            </a:r>
            <a:r>
              <a:rPr sz="2000" dirty="0">
                <a:latin typeface="Calibri"/>
                <a:cs typeface="Calibri"/>
              </a:rPr>
              <a:t>the</a:t>
            </a:r>
            <a:r>
              <a:rPr sz="2000" spc="-55" dirty="0">
                <a:latin typeface="Calibri"/>
                <a:cs typeface="Calibri"/>
              </a:rPr>
              <a:t> </a:t>
            </a:r>
            <a:r>
              <a:rPr sz="2000" dirty="0">
                <a:latin typeface="Calibri"/>
                <a:cs typeface="Calibri"/>
              </a:rPr>
              <a:t>last</a:t>
            </a:r>
            <a:r>
              <a:rPr sz="2000" spc="-25" dirty="0">
                <a:latin typeface="Calibri"/>
                <a:cs typeface="Calibri"/>
              </a:rPr>
              <a:t> </a:t>
            </a:r>
            <a:r>
              <a:rPr sz="2000" dirty="0">
                <a:latin typeface="Calibri"/>
                <a:cs typeface="Calibri"/>
              </a:rPr>
              <a:t>three</a:t>
            </a:r>
            <a:r>
              <a:rPr sz="2000" spc="-75" dirty="0">
                <a:latin typeface="Calibri"/>
                <a:cs typeface="Calibri"/>
              </a:rPr>
              <a:t> </a:t>
            </a:r>
            <a:r>
              <a:rPr sz="2000" spc="-10" dirty="0">
                <a:latin typeface="Calibri"/>
                <a:cs typeface="Calibri"/>
              </a:rPr>
              <a:t>layers.</a:t>
            </a:r>
            <a:r>
              <a:rPr sz="2000" spc="-30" dirty="0">
                <a:latin typeface="Calibri"/>
                <a:cs typeface="Calibri"/>
              </a:rPr>
              <a:t> </a:t>
            </a:r>
            <a:r>
              <a:rPr sz="2000" dirty="0">
                <a:latin typeface="Calibri"/>
                <a:cs typeface="Calibri"/>
              </a:rPr>
              <a:t>Measure</a:t>
            </a:r>
            <a:r>
              <a:rPr sz="2000" spc="-30" dirty="0">
                <a:latin typeface="Calibri"/>
                <a:cs typeface="Calibri"/>
              </a:rPr>
              <a:t> </a:t>
            </a:r>
            <a:r>
              <a:rPr sz="2000" spc="-25" dirty="0">
                <a:latin typeface="Calibri"/>
                <a:cs typeface="Calibri"/>
              </a:rPr>
              <a:t>the </a:t>
            </a:r>
            <a:r>
              <a:rPr sz="2000" dirty="0">
                <a:latin typeface="Calibri"/>
                <a:cs typeface="Calibri"/>
              </a:rPr>
              <a:t>similarity</a:t>
            </a:r>
            <a:r>
              <a:rPr sz="2000" spc="-55" dirty="0">
                <a:latin typeface="Calibri"/>
                <a:cs typeface="Calibri"/>
              </a:rPr>
              <a:t> </a:t>
            </a:r>
            <a:r>
              <a:rPr sz="2000" dirty="0">
                <a:latin typeface="Calibri"/>
                <a:cs typeface="Calibri"/>
              </a:rPr>
              <a:t>of</a:t>
            </a:r>
            <a:r>
              <a:rPr sz="2000" spc="-70" dirty="0">
                <a:latin typeface="Calibri"/>
                <a:cs typeface="Calibri"/>
              </a:rPr>
              <a:t> </a:t>
            </a:r>
            <a:r>
              <a:rPr sz="2000" spc="-10" dirty="0">
                <a:latin typeface="Calibri"/>
                <a:cs typeface="Calibri"/>
              </a:rPr>
              <a:t>features</a:t>
            </a:r>
            <a:r>
              <a:rPr sz="2000" spc="-65" dirty="0">
                <a:latin typeface="Calibri"/>
                <a:cs typeface="Calibri"/>
              </a:rPr>
              <a:t> </a:t>
            </a:r>
            <a:r>
              <a:rPr sz="2000" dirty="0">
                <a:latin typeface="Calibri"/>
                <a:cs typeface="Calibri"/>
              </a:rPr>
              <a:t>to</a:t>
            </a:r>
            <a:r>
              <a:rPr sz="2000" spc="-70" dirty="0">
                <a:latin typeface="Calibri"/>
                <a:cs typeface="Calibri"/>
              </a:rPr>
              <a:t> </a:t>
            </a:r>
            <a:r>
              <a:rPr sz="2000" dirty="0">
                <a:latin typeface="Calibri"/>
                <a:cs typeface="Calibri"/>
              </a:rPr>
              <a:t>animal</a:t>
            </a:r>
            <a:r>
              <a:rPr sz="2000" spc="-30" dirty="0">
                <a:latin typeface="Calibri"/>
                <a:cs typeface="Calibri"/>
              </a:rPr>
              <a:t> </a:t>
            </a:r>
            <a:r>
              <a:rPr sz="2000" dirty="0">
                <a:latin typeface="Calibri"/>
                <a:cs typeface="Calibri"/>
              </a:rPr>
              <a:t>types</a:t>
            </a:r>
            <a:r>
              <a:rPr sz="2000" spc="-75" dirty="0">
                <a:latin typeface="Calibri"/>
                <a:cs typeface="Calibri"/>
              </a:rPr>
              <a:t> </a:t>
            </a:r>
            <a:r>
              <a:rPr sz="2000" dirty="0">
                <a:latin typeface="Calibri"/>
                <a:cs typeface="Calibri"/>
              </a:rPr>
              <a:t>rather</a:t>
            </a:r>
            <a:r>
              <a:rPr sz="2000" spc="-40" dirty="0">
                <a:latin typeface="Calibri"/>
                <a:cs typeface="Calibri"/>
              </a:rPr>
              <a:t> </a:t>
            </a:r>
            <a:r>
              <a:rPr sz="2000" dirty="0">
                <a:latin typeface="Calibri"/>
                <a:cs typeface="Calibri"/>
              </a:rPr>
              <a:t>than</a:t>
            </a:r>
            <a:r>
              <a:rPr sz="2000" spc="-65" dirty="0">
                <a:latin typeface="Calibri"/>
                <a:cs typeface="Calibri"/>
              </a:rPr>
              <a:t> </a:t>
            </a:r>
            <a:r>
              <a:rPr sz="2000" spc="-10" dirty="0">
                <a:latin typeface="Calibri"/>
                <a:cs typeface="Calibri"/>
              </a:rPr>
              <a:t>cars!</a:t>
            </a:r>
            <a:endParaRPr sz="2000">
              <a:latin typeface="Calibri"/>
              <a:cs typeface="Calibri"/>
            </a:endParaRPr>
          </a:p>
        </p:txBody>
      </p:sp>
      <p:pic>
        <p:nvPicPr>
          <p:cNvPr id="4" name="object 4"/>
          <p:cNvPicPr/>
          <p:nvPr/>
        </p:nvPicPr>
        <p:blipFill>
          <a:blip r:embed="rId2" cstate="print"/>
          <a:stretch>
            <a:fillRect/>
          </a:stretch>
        </p:blipFill>
        <p:spPr>
          <a:xfrm>
            <a:off x="1811021" y="4914439"/>
            <a:ext cx="8187479" cy="1697181"/>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CF7945-7D55-D470-6DBE-93922F8F8FC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10FD031-BA74-E3A2-E1B5-04D469C18E00}"/>
              </a:ext>
            </a:extLst>
          </p:cNvPr>
          <p:cNvSpPr txBox="1"/>
          <p:nvPr/>
        </p:nvSpPr>
        <p:spPr>
          <a:xfrm>
            <a:off x="1591827" y="2985581"/>
            <a:ext cx="10515600" cy="1186075"/>
          </a:xfrm>
          <a:prstGeom prst="rect">
            <a:avLst/>
          </a:prstGeom>
        </p:spPr>
        <p:txBody>
          <a:bodyPr/>
          <a:lstStyle>
            <a:lvl1pPr algn="l" defTabSz="914400" rtl="0" eaLnBrk="1" latinLnBrk="0" hangingPunct="1">
              <a:lnSpc>
                <a:spcPts val="3200"/>
              </a:lnSpc>
              <a:spcBef>
                <a:spcPct val="0"/>
              </a:spcBef>
              <a:buNone/>
              <a:defRPr sz="4200" b="1" kern="1200" cap="all" spc="-50" baseline="0">
                <a:solidFill>
                  <a:srgbClr val="942F6D"/>
                </a:solidFill>
                <a:latin typeface="+mn-lt"/>
                <a:ea typeface="+mj-ea"/>
                <a:cs typeface="+mj-cs"/>
              </a:defRPr>
            </a:lvl1pPr>
          </a:lstStyle>
          <a:p>
            <a:r>
              <a:rPr lang="en-GB" dirty="0"/>
              <a:t>Module 2 – RNN</a:t>
            </a:r>
          </a:p>
        </p:txBody>
      </p:sp>
    </p:spTree>
    <p:extLst>
      <p:ext uri="{BB962C8B-B14F-4D97-AF65-F5344CB8AC3E}">
        <p14:creationId xmlns:p14="http://schemas.microsoft.com/office/powerpoint/2010/main" val="326424362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50864" y="414658"/>
            <a:ext cx="9475061" cy="566822"/>
          </a:xfrm>
          <a:prstGeom prst="rect">
            <a:avLst/>
          </a:prstGeom>
        </p:spPr>
        <p:txBody>
          <a:bodyPr vert="horz" wrap="square" lIns="0" tIns="12700" rIns="0" bIns="0" rtlCol="0" anchor="ctr">
            <a:spAutoFit/>
          </a:bodyPr>
          <a:lstStyle/>
          <a:p>
            <a:pPr marL="12700">
              <a:lnSpc>
                <a:spcPct val="100000"/>
              </a:lnSpc>
              <a:spcBef>
                <a:spcPts val="100"/>
              </a:spcBef>
            </a:pPr>
            <a:r>
              <a:rPr sz="3600" dirty="0">
                <a:latin typeface="Arial MT"/>
                <a:cs typeface="Arial MT"/>
              </a:rPr>
              <a:t>Recurrent</a:t>
            </a:r>
            <a:r>
              <a:rPr sz="3600" spc="-45" dirty="0">
                <a:latin typeface="Arial MT"/>
                <a:cs typeface="Arial MT"/>
              </a:rPr>
              <a:t> </a:t>
            </a:r>
            <a:r>
              <a:rPr sz="3600" dirty="0">
                <a:latin typeface="Arial MT"/>
                <a:cs typeface="Arial MT"/>
              </a:rPr>
              <a:t>Neural</a:t>
            </a:r>
            <a:r>
              <a:rPr sz="3600" spc="-30" dirty="0">
                <a:latin typeface="Arial MT"/>
                <a:cs typeface="Arial MT"/>
              </a:rPr>
              <a:t> </a:t>
            </a:r>
            <a:r>
              <a:rPr sz="3600" dirty="0">
                <a:latin typeface="Arial MT"/>
                <a:cs typeface="Arial MT"/>
              </a:rPr>
              <a:t>Networks</a:t>
            </a:r>
            <a:r>
              <a:rPr sz="3600" spc="-50" dirty="0">
                <a:latin typeface="Arial MT"/>
                <a:cs typeface="Arial MT"/>
              </a:rPr>
              <a:t> </a:t>
            </a:r>
            <a:r>
              <a:rPr sz="3600" dirty="0">
                <a:latin typeface="Arial MT"/>
                <a:cs typeface="Arial MT"/>
              </a:rPr>
              <a:t>(RNNs)</a:t>
            </a:r>
          </a:p>
        </p:txBody>
      </p:sp>
      <p:sp>
        <p:nvSpPr>
          <p:cNvPr id="3" name="object 3"/>
          <p:cNvSpPr txBox="1"/>
          <p:nvPr/>
        </p:nvSpPr>
        <p:spPr>
          <a:xfrm>
            <a:off x="1405137" y="1666861"/>
            <a:ext cx="8885738" cy="2728952"/>
          </a:xfrm>
          <a:prstGeom prst="rect">
            <a:avLst/>
          </a:prstGeom>
        </p:spPr>
        <p:txBody>
          <a:bodyPr vert="horz" wrap="square" lIns="0" tIns="142240" rIns="0" bIns="0" rtlCol="0">
            <a:spAutoFit/>
          </a:bodyPr>
          <a:lstStyle/>
          <a:p>
            <a:pPr marL="12700">
              <a:spcBef>
                <a:spcPts val="1120"/>
              </a:spcBef>
            </a:pPr>
            <a:r>
              <a:rPr lang="en-US" sz="2400" dirty="0"/>
              <a:t>Recurrent Neural Networks (RNNs) are a class of artificial neural networks designed to process sequential data (like text, time-series, or audio) by implementing feedback loops, allowing information to persist. Unlike standard neural networks that treat inputs independently, RNNs use a "hidden state" (memory) to remember previous inputs, making them ideal for context-dependent tasks like language translation and speech recognition. </a:t>
            </a:r>
            <a:endParaRPr sz="2400" dirty="0">
              <a:latin typeface="Calibri"/>
              <a:cs typeface="Calibri"/>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854201" y="533146"/>
            <a:ext cx="3277235" cy="574040"/>
          </a:xfrm>
          <a:prstGeom prst="rect">
            <a:avLst/>
          </a:prstGeom>
        </p:spPr>
        <p:txBody>
          <a:bodyPr vert="horz" wrap="square" lIns="0" tIns="12700" rIns="0" bIns="0" rtlCol="0" anchor="ctr">
            <a:spAutoFit/>
          </a:bodyPr>
          <a:lstStyle/>
          <a:p>
            <a:pPr marL="12700">
              <a:lnSpc>
                <a:spcPct val="100000"/>
              </a:lnSpc>
              <a:spcBef>
                <a:spcPts val="100"/>
              </a:spcBef>
            </a:pPr>
            <a:r>
              <a:rPr sz="3600" dirty="0">
                <a:latin typeface="Arial MT"/>
                <a:cs typeface="Arial MT"/>
              </a:rPr>
              <a:t>Sequential</a:t>
            </a:r>
            <a:r>
              <a:rPr sz="3600" spc="-95" dirty="0">
                <a:latin typeface="Arial MT"/>
                <a:cs typeface="Arial MT"/>
              </a:rPr>
              <a:t> </a:t>
            </a:r>
            <a:r>
              <a:rPr sz="3600" spc="-5" dirty="0">
                <a:latin typeface="Arial MT"/>
                <a:cs typeface="Arial MT"/>
              </a:rPr>
              <a:t>Data</a:t>
            </a:r>
            <a:endParaRPr sz="3600" dirty="0">
              <a:latin typeface="Arial MT"/>
              <a:cs typeface="Arial MT"/>
            </a:endParaRPr>
          </a:p>
        </p:txBody>
      </p:sp>
      <p:sp>
        <p:nvSpPr>
          <p:cNvPr id="3" name="object 3"/>
          <p:cNvSpPr txBox="1"/>
          <p:nvPr/>
        </p:nvSpPr>
        <p:spPr>
          <a:xfrm>
            <a:off x="1998371" y="1713941"/>
            <a:ext cx="7892415" cy="1123950"/>
          </a:xfrm>
          <a:prstGeom prst="rect">
            <a:avLst/>
          </a:prstGeom>
        </p:spPr>
        <p:txBody>
          <a:bodyPr vert="horz" wrap="square" lIns="0" tIns="12700" rIns="0" bIns="0" rtlCol="0">
            <a:spAutoFit/>
          </a:bodyPr>
          <a:lstStyle/>
          <a:p>
            <a:pPr marL="355600" marR="5080" indent="-342900" algn="just">
              <a:spcBef>
                <a:spcPts val="100"/>
              </a:spcBef>
              <a:buChar char="•"/>
              <a:tabLst>
                <a:tab pos="355600" algn="l"/>
              </a:tabLst>
            </a:pPr>
            <a:r>
              <a:rPr sz="2400" dirty="0">
                <a:latin typeface="Calibri"/>
                <a:cs typeface="Calibri"/>
              </a:rPr>
              <a:t>We </a:t>
            </a:r>
            <a:r>
              <a:rPr sz="2400" spc="-5" dirty="0">
                <a:latin typeface="Calibri"/>
                <a:cs typeface="Calibri"/>
              </a:rPr>
              <a:t>often wish </a:t>
            </a:r>
            <a:r>
              <a:rPr sz="2400" dirty="0">
                <a:latin typeface="Calibri"/>
                <a:cs typeface="Calibri"/>
              </a:rPr>
              <a:t>to </a:t>
            </a:r>
            <a:r>
              <a:rPr sz="2400" spc="-5" dirty="0">
                <a:latin typeface="Calibri"/>
                <a:cs typeface="Calibri"/>
              </a:rPr>
              <a:t>model data </a:t>
            </a:r>
            <a:r>
              <a:rPr sz="2400" dirty="0">
                <a:latin typeface="Calibri"/>
                <a:cs typeface="Calibri"/>
              </a:rPr>
              <a:t>that is a </a:t>
            </a:r>
            <a:r>
              <a:rPr sz="2400" spc="-5" dirty="0">
                <a:latin typeface="Calibri"/>
                <a:cs typeface="Calibri"/>
              </a:rPr>
              <a:t>sequence or </a:t>
            </a:r>
            <a:r>
              <a:rPr sz="2400" dirty="0">
                <a:latin typeface="Calibri"/>
                <a:cs typeface="Calibri"/>
              </a:rPr>
              <a:t>trajectory </a:t>
            </a:r>
            <a:r>
              <a:rPr sz="2400" spc="-530" dirty="0">
                <a:latin typeface="Calibri"/>
                <a:cs typeface="Calibri"/>
              </a:rPr>
              <a:t> </a:t>
            </a:r>
            <a:r>
              <a:rPr sz="2400" dirty="0">
                <a:latin typeface="Calibri"/>
                <a:cs typeface="Calibri"/>
              </a:rPr>
              <a:t>through time, e.g., </a:t>
            </a:r>
            <a:r>
              <a:rPr sz="2400" spc="-5" dirty="0">
                <a:latin typeface="Calibri"/>
                <a:cs typeface="Calibri"/>
              </a:rPr>
              <a:t>sequences of characters/words, currency </a:t>
            </a:r>
            <a:r>
              <a:rPr sz="2400" dirty="0">
                <a:latin typeface="Calibri"/>
                <a:cs typeface="Calibri"/>
              </a:rPr>
              <a:t> exchange</a:t>
            </a:r>
            <a:r>
              <a:rPr sz="2400" spc="-20" dirty="0">
                <a:latin typeface="Calibri"/>
                <a:cs typeface="Calibri"/>
              </a:rPr>
              <a:t> </a:t>
            </a:r>
            <a:r>
              <a:rPr sz="2400" dirty="0">
                <a:latin typeface="Calibri"/>
                <a:cs typeface="Calibri"/>
              </a:rPr>
              <a:t>rates,</a:t>
            </a:r>
            <a:r>
              <a:rPr sz="2400" spc="-25" dirty="0">
                <a:latin typeface="Calibri"/>
                <a:cs typeface="Calibri"/>
              </a:rPr>
              <a:t> </a:t>
            </a:r>
            <a:r>
              <a:rPr sz="2400" spc="-5" dirty="0">
                <a:latin typeface="Calibri"/>
                <a:cs typeface="Calibri"/>
              </a:rPr>
              <a:t>motion</a:t>
            </a:r>
            <a:r>
              <a:rPr sz="2400" spc="-20" dirty="0">
                <a:latin typeface="Calibri"/>
                <a:cs typeface="Calibri"/>
              </a:rPr>
              <a:t> </a:t>
            </a:r>
            <a:r>
              <a:rPr sz="2400" spc="-5" dirty="0">
                <a:latin typeface="Calibri"/>
                <a:cs typeface="Calibri"/>
              </a:rPr>
              <a:t>of</a:t>
            </a:r>
            <a:r>
              <a:rPr sz="2400" spc="-10" dirty="0">
                <a:latin typeface="Calibri"/>
                <a:cs typeface="Calibri"/>
              </a:rPr>
              <a:t> </a:t>
            </a:r>
            <a:r>
              <a:rPr sz="2400" dirty="0">
                <a:latin typeface="Calibri"/>
                <a:cs typeface="Calibri"/>
              </a:rPr>
              <a:t>an </a:t>
            </a:r>
            <a:r>
              <a:rPr sz="2400" spc="-5" dirty="0">
                <a:latin typeface="Calibri"/>
                <a:cs typeface="Calibri"/>
              </a:rPr>
              <a:t>object,</a:t>
            </a:r>
            <a:r>
              <a:rPr sz="2400" spc="-10" dirty="0">
                <a:latin typeface="Calibri"/>
                <a:cs typeface="Calibri"/>
              </a:rPr>
              <a:t> </a:t>
            </a:r>
            <a:r>
              <a:rPr sz="2400" dirty="0">
                <a:latin typeface="Calibri"/>
                <a:cs typeface="Calibri"/>
              </a:rPr>
              <a:t>audio</a:t>
            </a:r>
            <a:r>
              <a:rPr sz="2400" spc="-5" dirty="0">
                <a:latin typeface="Calibri"/>
                <a:cs typeface="Calibri"/>
              </a:rPr>
              <a:t> signals</a:t>
            </a:r>
            <a:endParaRPr sz="2400">
              <a:latin typeface="Calibri"/>
              <a:cs typeface="Calibri"/>
            </a:endParaRPr>
          </a:p>
        </p:txBody>
      </p:sp>
      <p:pic>
        <p:nvPicPr>
          <p:cNvPr id="4" name="object 4"/>
          <p:cNvPicPr/>
          <p:nvPr/>
        </p:nvPicPr>
        <p:blipFill>
          <a:blip r:embed="rId2" cstate="print"/>
          <a:stretch>
            <a:fillRect/>
          </a:stretch>
        </p:blipFill>
        <p:spPr>
          <a:xfrm>
            <a:off x="8244840" y="4963667"/>
            <a:ext cx="2334768" cy="961644"/>
          </a:xfrm>
          <a:prstGeom prst="rect">
            <a:avLst/>
          </a:prstGeom>
        </p:spPr>
      </p:pic>
      <p:grpSp>
        <p:nvGrpSpPr>
          <p:cNvPr id="5" name="object 5"/>
          <p:cNvGrpSpPr/>
          <p:nvPr/>
        </p:nvGrpSpPr>
        <p:grpSpPr>
          <a:xfrm>
            <a:off x="1531620" y="2817877"/>
            <a:ext cx="8359140" cy="3880485"/>
            <a:chOff x="7620" y="2817876"/>
            <a:chExt cx="8359140" cy="3880485"/>
          </a:xfrm>
        </p:grpSpPr>
        <p:pic>
          <p:nvPicPr>
            <p:cNvPr id="6" name="object 6"/>
            <p:cNvPicPr/>
            <p:nvPr/>
          </p:nvPicPr>
          <p:blipFill>
            <a:blip r:embed="rId3" cstate="print"/>
            <a:stretch>
              <a:fillRect/>
            </a:stretch>
          </p:blipFill>
          <p:spPr>
            <a:xfrm>
              <a:off x="4479035" y="2904744"/>
              <a:ext cx="3887723" cy="1987295"/>
            </a:xfrm>
            <a:prstGeom prst="rect">
              <a:avLst/>
            </a:prstGeom>
          </p:spPr>
        </p:pic>
        <p:pic>
          <p:nvPicPr>
            <p:cNvPr id="7" name="object 7"/>
            <p:cNvPicPr/>
            <p:nvPr/>
          </p:nvPicPr>
          <p:blipFill>
            <a:blip r:embed="rId4" cstate="print"/>
            <a:stretch>
              <a:fillRect/>
            </a:stretch>
          </p:blipFill>
          <p:spPr>
            <a:xfrm>
              <a:off x="7620" y="2817876"/>
              <a:ext cx="3633216" cy="2839212"/>
            </a:xfrm>
            <a:prstGeom prst="rect">
              <a:avLst/>
            </a:prstGeom>
          </p:spPr>
        </p:pic>
        <p:pic>
          <p:nvPicPr>
            <p:cNvPr id="8" name="object 8"/>
            <p:cNvPicPr/>
            <p:nvPr/>
          </p:nvPicPr>
          <p:blipFill>
            <a:blip r:embed="rId5" cstate="print"/>
            <a:stretch>
              <a:fillRect/>
            </a:stretch>
          </p:blipFill>
          <p:spPr>
            <a:xfrm>
              <a:off x="3547872" y="4885944"/>
              <a:ext cx="3084576" cy="1812036"/>
            </a:xfrm>
            <a:prstGeom prst="rect">
              <a:avLst/>
            </a:prstGeom>
          </p:spPr>
        </p:pic>
      </p:gr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926438" y="469139"/>
            <a:ext cx="3009265" cy="696595"/>
          </a:xfrm>
          <a:prstGeom prst="rect">
            <a:avLst/>
          </a:prstGeom>
        </p:spPr>
        <p:txBody>
          <a:bodyPr vert="horz" wrap="square" lIns="0" tIns="13335" rIns="0" bIns="0" rtlCol="0" anchor="ctr">
            <a:spAutoFit/>
          </a:bodyPr>
          <a:lstStyle/>
          <a:p>
            <a:pPr marL="12700">
              <a:lnSpc>
                <a:spcPct val="100000"/>
              </a:lnSpc>
              <a:spcBef>
                <a:spcPts val="105"/>
              </a:spcBef>
            </a:pPr>
            <a:r>
              <a:rPr dirty="0">
                <a:latin typeface="Arial MT"/>
                <a:cs typeface="Arial MT"/>
              </a:rPr>
              <a:t>Time</a:t>
            </a:r>
            <a:r>
              <a:rPr spc="-80" dirty="0">
                <a:latin typeface="Arial MT"/>
                <a:cs typeface="Arial MT"/>
              </a:rPr>
              <a:t> </a:t>
            </a:r>
            <a:r>
              <a:rPr dirty="0">
                <a:latin typeface="Arial MT"/>
                <a:cs typeface="Arial MT"/>
              </a:rPr>
              <a:t>Series</a:t>
            </a:r>
          </a:p>
        </p:txBody>
      </p:sp>
      <p:sp>
        <p:nvSpPr>
          <p:cNvPr id="3" name="object 3"/>
          <p:cNvSpPr txBox="1"/>
          <p:nvPr/>
        </p:nvSpPr>
        <p:spPr>
          <a:xfrm>
            <a:off x="1782268" y="1777950"/>
            <a:ext cx="3556635" cy="4751705"/>
          </a:xfrm>
          <a:prstGeom prst="rect">
            <a:avLst/>
          </a:prstGeom>
        </p:spPr>
        <p:txBody>
          <a:bodyPr vert="horz" wrap="square" lIns="0" tIns="13335" rIns="0" bIns="0" rtlCol="0">
            <a:spAutoFit/>
          </a:bodyPr>
          <a:lstStyle/>
          <a:p>
            <a:pPr marL="355600" marR="5080" indent="-342900">
              <a:spcBef>
                <a:spcPts val="105"/>
              </a:spcBef>
              <a:buFont typeface="Wingdings"/>
              <a:buChar char=""/>
              <a:tabLst>
                <a:tab pos="355600" algn="l"/>
              </a:tabLst>
            </a:pPr>
            <a:r>
              <a:rPr sz="2000" dirty="0">
                <a:latin typeface="Arial MT"/>
                <a:cs typeface="Arial MT"/>
              </a:rPr>
              <a:t>Time series: sequence of </a:t>
            </a:r>
            <a:r>
              <a:rPr sz="2000" spc="5" dirty="0">
                <a:latin typeface="Arial MT"/>
                <a:cs typeface="Arial MT"/>
              </a:rPr>
              <a:t> </a:t>
            </a:r>
            <a:r>
              <a:rPr sz="2000" dirty="0">
                <a:latin typeface="Arial MT"/>
                <a:cs typeface="Arial MT"/>
              </a:rPr>
              <a:t>values measured at </a:t>
            </a:r>
            <a:r>
              <a:rPr sz="2000" spc="5" dirty="0">
                <a:latin typeface="Arial MT"/>
                <a:cs typeface="Arial MT"/>
              </a:rPr>
              <a:t> </a:t>
            </a:r>
            <a:r>
              <a:rPr sz="2000" dirty="0">
                <a:latin typeface="Arial MT"/>
                <a:cs typeface="Arial MT"/>
              </a:rPr>
              <a:t>successive</a:t>
            </a:r>
            <a:r>
              <a:rPr sz="2000" spc="-60" dirty="0">
                <a:latin typeface="Arial MT"/>
                <a:cs typeface="Arial MT"/>
              </a:rPr>
              <a:t> </a:t>
            </a:r>
            <a:r>
              <a:rPr sz="2000" dirty="0">
                <a:latin typeface="Arial MT"/>
                <a:cs typeface="Arial MT"/>
              </a:rPr>
              <a:t>moments</a:t>
            </a:r>
            <a:r>
              <a:rPr sz="2000" spc="-35" dirty="0">
                <a:latin typeface="Arial MT"/>
                <a:cs typeface="Arial MT"/>
              </a:rPr>
              <a:t> </a:t>
            </a:r>
            <a:r>
              <a:rPr sz="2000" dirty="0">
                <a:latin typeface="Arial MT"/>
                <a:cs typeface="Arial MT"/>
              </a:rPr>
              <a:t>of</a:t>
            </a:r>
            <a:r>
              <a:rPr sz="2000" spc="-35" dirty="0">
                <a:latin typeface="Arial MT"/>
                <a:cs typeface="Arial MT"/>
              </a:rPr>
              <a:t> </a:t>
            </a:r>
            <a:r>
              <a:rPr sz="2000" dirty="0">
                <a:latin typeface="Arial MT"/>
                <a:cs typeface="Arial MT"/>
              </a:rPr>
              <a:t>time</a:t>
            </a:r>
            <a:endParaRPr sz="2000">
              <a:latin typeface="Arial MT"/>
              <a:cs typeface="Arial MT"/>
            </a:endParaRPr>
          </a:p>
          <a:p>
            <a:pPr marL="355600" indent="-342900">
              <a:spcBef>
                <a:spcPts val="484"/>
              </a:spcBef>
              <a:buFont typeface="Wingdings"/>
              <a:buChar char=""/>
              <a:tabLst>
                <a:tab pos="355600" algn="l"/>
              </a:tabLst>
            </a:pPr>
            <a:r>
              <a:rPr sz="2000" dirty="0">
                <a:latin typeface="Arial MT"/>
                <a:cs typeface="Arial MT"/>
              </a:rPr>
              <a:t>Applications:</a:t>
            </a:r>
            <a:endParaRPr sz="2000">
              <a:latin typeface="Arial MT"/>
              <a:cs typeface="Arial MT"/>
            </a:endParaRPr>
          </a:p>
          <a:p>
            <a:pPr marL="603885" lvl="1" indent="-191135">
              <a:spcBef>
                <a:spcPts val="439"/>
              </a:spcBef>
              <a:buChar char="–"/>
              <a:tabLst>
                <a:tab pos="604520" algn="l"/>
              </a:tabLst>
            </a:pPr>
            <a:r>
              <a:rPr spc="-5" dirty="0">
                <a:latin typeface="Arial MT"/>
                <a:cs typeface="Arial MT"/>
              </a:rPr>
              <a:t>Prediction</a:t>
            </a:r>
            <a:r>
              <a:rPr spc="-15" dirty="0">
                <a:latin typeface="Arial MT"/>
                <a:cs typeface="Arial MT"/>
              </a:rPr>
              <a:t> </a:t>
            </a:r>
            <a:r>
              <a:rPr dirty="0">
                <a:latin typeface="Arial MT"/>
                <a:cs typeface="Arial MT"/>
              </a:rPr>
              <a:t>of</a:t>
            </a:r>
            <a:r>
              <a:rPr spc="-15" dirty="0">
                <a:latin typeface="Arial MT"/>
                <a:cs typeface="Arial MT"/>
              </a:rPr>
              <a:t> </a:t>
            </a:r>
            <a:r>
              <a:rPr spc="-5" dirty="0">
                <a:latin typeface="Arial MT"/>
                <a:cs typeface="Arial MT"/>
              </a:rPr>
              <a:t>Currency</a:t>
            </a:r>
            <a:endParaRPr>
              <a:latin typeface="Arial MT"/>
              <a:cs typeface="Arial MT"/>
            </a:endParaRPr>
          </a:p>
          <a:p>
            <a:pPr marL="413384"/>
            <a:r>
              <a:rPr spc="-10" dirty="0">
                <a:latin typeface="Arial MT"/>
                <a:cs typeface="Arial MT"/>
              </a:rPr>
              <a:t>exchange</a:t>
            </a:r>
            <a:r>
              <a:rPr spc="10" dirty="0">
                <a:latin typeface="Arial MT"/>
                <a:cs typeface="Arial MT"/>
              </a:rPr>
              <a:t> </a:t>
            </a:r>
            <a:r>
              <a:rPr spc="-5" dirty="0">
                <a:latin typeface="Arial MT"/>
                <a:cs typeface="Arial MT"/>
              </a:rPr>
              <a:t>rate</a:t>
            </a:r>
            <a:r>
              <a:rPr spc="-15" dirty="0">
                <a:latin typeface="Arial MT"/>
                <a:cs typeface="Arial MT"/>
              </a:rPr>
              <a:t> </a:t>
            </a:r>
            <a:r>
              <a:rPr spc="-5" dirty="0">
                <a:latin typeface="Arial MT"/>
                <a:cs typeface="Arial MT"/>
              </a:rPr>
              <a:t>evolution</a:t>
            </a:r>
            <a:endParaRPr>
              <a:latin typeface="Arial MT"/>
              <a:cs typeface="Arial MT"/>
            </a:endParaRPr>
          </a:p>
          <a:p>
            <a:pPr marL="413384" marR="480695" lvl="1">
              <a:spcBef>
                <a:spcPts val="430"/>
              </a:spcBef>
              <a:buChar char="–"/>
              <a:tabLst>
                <a:tab pos="604520" algn="l"/>
              </a:tabLst>
            </a:pPr>
            <a:r>
              <a:rPr spc="-5" dirty="0">
                <a:latin typeface="Arial MT"/>
                <a:cs typeface="Arial MT"/>
              </a:rPr>
              <a:t>Prediction</a:t>
            </a:r>
            <a:r>
              <a:rPr spc="-15" dirty="0">
                <a:latin typeface="Arial MT"/>
                <a:cs typeface="Arial MT"/>
              </a:rPr>
              <a:t> </a:t>
            </a:r>
            <a:r>
              <a:rPr dirty="0">
                <a:latin typeface="Arial MT"/>
                <a:cs typeface="Arial MT"/>
              </a:rPr>
              <a:t>of</a:t>
            </a:r>
            <a:r>
              <a:rPr spc="-15" dirty="0">
                <a:latin typeface="Arial MT"/>
                <a:cs typeface="Arial MT"/>
              </a:rPr>
              <a:t> </a:t>
            </a:r>
            <a:r>
              <a:rPr dirty="0">
                <a:latin typeface="Arial MT"/>
                <a:cs typeface="Arial MT"/>
              </a:rPr>
              <a:t>Stock</a:t>
            </a:r>
            <a:r>
              <a:rPr spc="-15" dirty="0">
                <a:latin typeface="Arial MT"/>
                <a:cs typeface="Arial MT"/>
              </a:rPr>
              <a:t> </a:t>
            </a:r>
            <a:r>
              <a:rPr spc="-5" dirty="0">
                <a:latin typeface="Arial MT"/>
                <a:cs typeface="Arial MT"/>
              </a:rPr>
              <a:t>price </a:t>
            </a:r>
            <a:r>
              <a:rPr spc="-484" dirty="0">
                <a:latin typeface="Arial MT"/>
                <a:cs typeface="Arial MT"/>
              </a:rPr>
              <a:t> </a:t>
            </a:r>
            <a:r>
              <a:rPr spc="-5" dirty="0">
                <a:latin typeface="Arial MT"/>
                <a:cs typeface="Arial MT"/>
              </a:rPr>
              <a:t>evolution</a:t>
            </a:r>
            <a:endParaRPr>
              <a:latin typeface="Arial MT"/>
              <a:cs typeface="Arial MT"/>
            </a:endParaRPr>
          </a:p>
          <a:p>
            <a:pPr marL="413384" marR="493395" lvl="1">
              <a:spcBef>
                <a:spcPts val="434"/>
              </a:spcBef>
              <a:buChar char="–"/>
              <a:tabLst>
                <a:tab pos="604520" algn="l"/>
              </a:tabLst>
            </a:pPr>
            <a:r>
              <a:rPr spc="-5" dirty="0">
                <a:latin typeface="Arial MT"/>
                <a:cs typeface="Arial MT"/>
              </a:rPr>
              <a:t>Biological</a:t>
            </a:r>
            <a:r>
              <a:rPr spc="-20" dirty="0">
                <a:latin typeface="Arial MT"/>
                <a:cs typeface="Arial MT"/>
              </a:rPr>
              <a:t> </a:t>
            </a:r>
            <a:r>
              <a:rPr spc="-5" dirty="0">
                <a:latin typeface="Arial MT"/>
                <a:cs typeface="Arial MT"/>
              </a:rPr>
              <a:t>signals</a:t>
            </a:r>
            <a:r>
              <a:rPr spc="-15" dirty="0">
                <a:latin typeface="Arial MT"/>
                <a:cs typeface="Arial MT"/>
              </a:rPr>
              <a:t> </a:t>
            </a:r>
            <a:r>
              <a:rPr dirty="0">
                <a:latin typeface="Arial MT"/>
                <a:cs typeface="Arial MT"/>
              </a:rPr>
              <a:t>(EEG) </a:t>
            </a:r>
            <a:r>
              <a:rPr spc="-484" dirty="0">
                <a:latin typeface="Arial MT"/>
                <a:cs typeface="Arial MT"/>
              </a:rPr>
              <a:t> </a:t>
            </a:r>
            <a:r>
              <a:rPr spc="-5" dirty="0">
                <a:latin typeface="Arial MT"/>
                <a:cs typeface="Arial MT"/>
              </a:rPr>
              <a:t>Processing</a:t>
            </a:r>
            <a:endParaRPr>
              <a:latin typeface="Arial MT"/>
              <a:cs typeface="Arial MT"/>
            </a:endParaRPr>
          </a:p>
          <a:p>
            <a:pPr marL="603885" lvl="1" indent="-191135">
              <a:spcBef>
                <a:spcPts val="430"/>
              </a:spcBef>
              <a:buChar char="–"/>
              <a:tabLst>
                <a:tab pos="604520" algn="l"/>
              </a:tabLst>
            </a:pPr>
            <a:r>
              <a:rPr spc="-5" dirty="0">
                <a:latin typeface="Arial MT"/>
                <a:cs typeface="Arial MT"/>
              </a:rPr>
              <a:t>Wireless sensor</a:t>
            </a:r>
            <a:r>
              <a:rPr spc="-15" dirty="0">
                <a:latin typeface="Arial MT"/>
                <a:cs typeface="Arial MT"/>
              </a:rPr>
              <a:t> </a:t>
            </a:r>
            <a:r>
              <a:rPr spc="-10" dirty="0">
                <a:latin typeface="Arial MT"/>
                <a:cs typeface="Arial MT"/>
              </a:rPr>
              <a:t>networks</a:t>
            </a:r>
            <a:endParaRPr>
              <a:latin typeface="Arial MT"/>
              <a:cs typeface="Arial MT"/>
            </a:endParaRPr>
          </a:p>
          <a:p>
            <a:pPr marL="603885" lvl="1" indent="-191135">
              <a:spcBef>
                <a:spcPts val="434"/>
              </a:spcBef>
              <a:buChar char="–"/>
              <a:tabLst>
                <a:tab pos="604520" algn="l"/>
              </a:tabLst>
            </a:pPr>
            <a:r>
              <a:rPr dirty="0">
                <a:latin typeface="Arial MT"/>
                <a:cs typeface="Arial MT"/>
              </a:rPr>
              <a:t>etc.</a:t>
            </a:r>
            <a:endParaRPr>
              <a:latin typeface="Arial MT"/>
              <a:cs typeface="Arial MT"/>
            </a:endParaRPr>
          </a:p>
          <a:p>
            <a:pPr marL="355600" marR="88265" indent="-342900">
              <a:spcBef>
                <a:spcPts val="475"/>
              </a:spcBef>
              <a:buFont typeface="Wingdings"/>
              <a:buChar char=""/>
              <a:tabLst>
                <a:tab pos="355600" algn="l"/>
              </a:tabLst>
            </a:pPr>
            <a:r>
              <a:rPr sz="2000" spc="-5" dirty="0">
                <a:latin typeface="Arial MT"/>
                <a:cs typeface="Arial MT"/>
              </a:rPr>
              <a:t>Aim: </a:t>
            </a:r>
            <a:r>
              <a:rPr sz="2000" dirty="0">
                <a:latin typeface="Arial MT"/>
                <a:cs typeface="Arial MT"/>
              </a:rPr>
              <a:t>predict the future </a:t>
            </a:r>
            <a:r>
              <a:rPr sz="2000" spc="5" dirty="0">
                <a:latin typeface="Arial MT"/>
                <a:cs typeface="Arial MT"/>
              </a:rPr>
              <a:t> </a:t>
            </a:r>
            <a:r>
              <a:rPr sz="2000" dirty="0">
                <a:latin typeface="Arial MT"/>
                <a:cs typeface="Arial MT"/>
              </a:rPr>
              <a:t>value(s)</a:t>
            </a:r>
            <a:r>
              <a:rPr sz="2000" spc="-35" dirty="0">
                <a:latin typeface="Arial MT"/>
                <a:cs typeface="Arial MT"/>
              </a:rPr>
              <a:t> </a:t>
            </a:r>
            <a:r>
              <a:rPr sz="2000" dirty="0">
                <a:latin typeface="Arial MT"/>
                <a:cs typeface="Arial MT"/>
              </a:rPr>
              <a:t>in</a:t>
            </a:r>
            <a:r>
              <a:rPr sz="2000" spc="-10" dirty="0">
                <a:latin typeface="Arial MT"/>
                <a:cs typeface="Arial MT"/>
              </a:rPr>
              <a:t> </a:t>
            </a:r>
            <a:r>
              <a:rPr sz="2000" spc="-5" dirty="0">
                <a:latin typeface="Arial MT"/>
                <a:cs typeface="Arial MT"/>
              </a:rPr>
              <a:t>the</a:t>
            </a:r>
            <a:r>
              <a:rPr sz="2000" spc="-25" dirty="0">
                <a:latin typeface="Arial MT"/>
                <a:cs typeface="Arial MT"/>
              </a:rPr>
              <a:t> </a:t>
            </a:r>
            <a:r>
              <a:rPr sz="2000" dirty="0">
                <a:latin typeface="Arial MT"/>
                <a:cs typeface="Arial MT"/>
              </a:rPr>
              <a:t>series</a:t>
            </a:r>
            <a:r>
              <a:rPr sz="2000" spc="-45" dirty="0">
                <a:latin typeface="Arial MT"/>
                <a:cs typeface="Arial MT"/>
              </a:rPr>
              <a:t> </a:t>
            </a:r>
            <a:r>
              <a:rPr sz="2000" dirty="0">
                <a:latin typeface="Arial MT"/>
                <a:cs typeface="Arial MT"/>
              </a:rPr>
              <a:t>based </a:t>
            </a:r>
            <a:r>
              <a:rPr sz="2000" spc="-540" dirty="0">
                <a:latin typeface="Arial MT"/>
                <a:cs typeface="Arial MT"/>
              </a:rPr>
              <a:t> </a:t>
            </a:r>
            <a:r>
              <a:rPr sz="2000" dirty="0">
                <a:latin typeface="Arial MT"/>
                <a:cs typeface="Arial MT"/>
              </a:rPr>
              <a:t>on</a:t>
            </a:r>
            <a:r>
              <a:rPr sz="2000" spc="-20" dirty="0">
                <a:latin typeface="Arial MT"/>
                <a:cs typeface="Arial MT"/>
              </a:rPr>
              <a:t> </a:t>
            </a:r>
            <a:r>
              <a:rPr sz="2000" dirty="0">
                <a:latin typeface="Arial MT"/>
                <a:cs typeface="Arial MT"/>
              </a:rPr>
              <a:t>past</a:t>
            </a:r>
            <a:r>
              <a:rPr sz="2000" spc="-30" dirty="0">
                <a:latin typeface="Arial MT"/>
                <a:cs typeface="Arial MT"/>
              </a:rPr>
              <a:t> </a:t>
            </a:r>
            <a:r>
              <a:rPr sz="2000" dirty="0">
                <a:latin typeface="Arial MT"/>
                <a:cs typeface="Arial MT"/>
              </a:rPr>
              <a:t>values</a:t>
            </a:r>
            <a:endParaRPr sz="2000">
              <a:latin typeface="Arial MT"/>
              <a:cs typeface="Arial MT"/>
            </a:endParaRPr>
          </a:p>
        </p:txBody>
      </p:sp>
      <p:grpSp>
        <p:nvGrpSpPr>
          <p:cNvPr id="4" name="object 4"/>
          <p:cNvGrpSpPr/>
          <p:nvPr/>
        </p:nvGrpSpPr>
        <p:grpSpPr>
          <a:xfrm>
            <a:off x="5955948" y="1200605"/>
            <a:ext cx="4037329" cy="4768850"/>
            <a:chOff x="4788408" y="1891283"/>
            <a:chExt cx="4037329" cy="4768850"/>
          </a:xfrm>
        </p:grpSpPr>
        <p:pic>
          <p:nvPicPr>
            <p:cNvPr id="5" name="object 5"/>
            <p:cNvPicPr/>
            <p:nvPr/>
          </p:nvPicPr>
          <p:blipFill>
            <a:blip r:embed="rId2" cstate="print"/>
            <a:stretch>
              <a:fillRect/>
            </a:stretch>
          </p:blipFill>
          <p:spPr>
            <a:xfrm>
              <a:off x="5436108" y="1891283"/>
              <a:ext cx="3238499" cy="2363724"/>
            </a:xfrm>
            <a:prstGeom prst="rect">
              <a:avLst/>
            </a:prstGeom>
          </p:spPr>
        </p:pic>
        <p:pic>
          <p:nvPicPr>
            <p:cNvPr id="6" name="object 6"/>
            <p:cNvPicPr/>
            <p:nvPr/>
          </p:nvPicPr>
          <p:blipFill>
            <a:blip r:embed="rId3" cstate="print"/>
            <a:stretch>
              <a:fillRect/>
            </a:stretch>
          </p:blipFill>
          <p:spPr>
            <a:xfrm>
              <a:off x="4788408" y="4209288"/>
              <a:ext cx="4037076" cy="2450592"/>
            </a:xfrm>
            <a:prstGeom prst="rect">
              <a:avLst/>
            </a:prstGeom>
          </p:spPr>
        </p:pic>
      </p:gr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854200" y="533146"/>
            <a:ext cx="6554470" cy="574040"/>
          </a:xfrm>
          <a:prstGeom prst="rect">
            <a:avLst/>
          </a:prstGeom>
        </p:spPr>
        <p:txBody>
          <a:bodyPr vert="horz" wrap="square" lIns="0" tIns="12700" rIns="0" bIns="0" rtlCol="0" anchor="ctr">
            <a:spAutoFit/>
          </a:bodyPr>
          <a:lstStyle/>
          <a:p>
            <a:pPr marL="12700">
              <a:lnSpc>
                <a:spcPct val="100000"/>
              </a:lnSpc>
              <a:spcBef>
                <a:spcPts val="100"/>
              </a:spcBef>
            </a:pPr>
            <a:r>
              <a:rPr sz="3600" dirty="0">
                <a:latin typeface="Arial MT"/>
                <a:cs typeface="Arial MT"/>
              </a:rPr>
              <a:t>Neural</a:t>
            </a:r>
            <a:r>
              <a:rPr sz="3600" spc="-10" dirty="0">
                <a:latin typeface="Arial MT"/>
                <a:cs typeface="Arial MT"/>
              </a:rPr>
              <a:t> </a:t>
            </a:r>
            <a:r>
              <a:rPr sz="3600" spc="-5" dirty="0">
                <a:latin typeface="Arial MT"/>
                <a:cs typeface="Arial MT"/>
              </a:rPr>
              <a:t>networks</a:t>
            </a:r>
            <a:r>
              <a:rPr sz="3600" spc="-25" dirty="0">
                <a:latin typeface="Arial MT"/>
                <a:cs typeface="Arial MT"/>
              </a:rPr>
              <a:t> </a:t>
            </a:r>
            <a:r>
              <a:rPr sz="3600" dirty="0">
                <a:latin typeface="Arial MT"/>
                <a:cs typeface="Arial MT"/>
              </a:rPr>
              <a:t>for</a:t>
            </a:r>
            <a:r>
              <a:rPr sz="3600" spc="-5" dirty="0">
                <a:latin typeface="Arial MT"/>
                <a:cs typeface="Arial MT"/>
              </a:rPr>
              <a:t> </a:t>
            </a:r>
            <a:r>
              <a:rPr sz="3600" dirty="0">
                <a:latin typeface="Arial MT"/>
                <a:cs typeface="Arial MT"/>
              </a:rPr>
              <a:t>Time</a:t>
            </a:r>
            <a:r>
              <a:rPr sz="3600" spc="-10" dirty="0">
                <a:latin typeface="Arial MT"/>
                <a:cs typeface="Arial MT"/>
              </a:rPr>
              <a:t> </a:t>
            </a:r>
            <a:r>
              <a:rPr sz="3600" spc="-5" dirty="0">
                <a:latin typeface="Arial MT"/>
                <a:cs typeface="Arial MT"/>
              </a:rPr>
              <a:t>Series</a:t>
            </a:r>
            <a:endParaRPr sz="3600" dirty="0">
              <a:latin typeface="Arial MT"/>
              <a:cs typeface="Arial MT"/>
            </a:endParaRPr>
          </a:p>
        </p:txBody>
      </p:sp>
      <p:sp>
        <p:nvSpPr>
          <p:cNvPr id="3" name="object 3"/>
          <p:cNvSpPr txBox="1"/>
          <p:nvPr/>
        </p:nvSpPr>
        <p:spPr>
          <a:xfrm>
            <a:off x="2057401" y="1965007"/>
            <a:ext cx="7414895" cy="2417970"/>
          </a:xfrm>
          <a:prstGeom prst="rect">
            <a:avLst/>
          </a:prstGeom>
        </p:spPr>
        <p:txBody>
          <a:bodyPr vert="horz" wrap="square" lIns="0" tIns="12065" rIns="0" bIns="0" rtlCol="0">
            <a:spAutoFit/>
          </a:bodyPr>
          <a:lstStyle/>
          <a:p>
            <a:pPr marL="12700">
              <a:spcBef>
                <a:spcPts val="95"/>
              </a:spcBef>
            </a:pPr>
            <a:r>
              <a:rPr sz="2800" spc="-10" dirty="0">
                <a:latin typeface="Calibri"/>
                <a:cs typeface="Calibri"/>
              </a:rPr>
              <a:t>Neural</a:t>
            </a:r>
            <a:r>
              <a:rPr sz="2800" spc="15" dirty="0">
                <a:latin typeface="Calibri"/>
                <a:cs typeface="Calibri"/>
              </a:rPr>
              <a:t> </a:t>
            </a:r>
            <a:r>
              <a:rPr sz="2800" spc="-10" dirty="0">
                <a:latin typeface="Calibri"/>
                <a:cs typeface="Calibri"/>
              </a:rPr>
              <a:t>networks</a:t>
            </a:r>
            <a:r>
              <a:rPr sz="2800" spc="15" dirty="0">
                <a:latin typeface="Calibri"/>
                <a:cs typeface="Calibri"/>
              </a:rPr>
              <a:t> </a:t>
            </a:r>
            <a:r>
              <a:rPr sz="2800" spc="-5" dirty="0">
                <a:latin typeface="Calibri"/>
                <a:cs typeface="Calibri"/>
              </a:rPr>
              <a:t>for</a:t>
            </a:r>
            <a:r>
              <a:rPr sz="2800" dirty="0">
                <a:latin typeface="Calibri"/>
                <a:cs typeface="Calibri"/>
              </a:rPr>
              <a:t> </a:t>
            </a:r>
            <a:r>
              <a:rPr sz="2800" spc="-5" dirty="0">
                <a:latin typeface="Calibri"/>
                <a:cs typeface="Calibri"/>
              </a:rPr>
              <a:t>time</a:t>
            </a:r>
            <a:r>
              <a:rPr sz="2800" spc="5" dirty="0">
                <a:latin typeface="Calibri"/>
                <a:cs typeface="Calibri"/>
              </a:rPr>
              <a:t> </a:t>
            </a:r>
            <a:r>
              <a:rPr sz="2800" spc="-10" dirty="0">
                <a:latin typeface="Calibri"/>
                <a:cs typeface="Calibri"/>
              </a:rPr>
              <a:t>series</a:t>
            </a:r>
            <a:r>
              <a:rPr sz="2800" spc="15" dirty="0">
                <a:latin typeface="Calibri"/>
                <a:cs typeface="Calibri"/>
              </a:rPr>
              <a:t> </a:t>
            </a:r>
            <a:r>
              <a:rPr sz="2800" spc="-5" dirty="0">
                <a:latin typeface="Calibri"/>
                <a:cs typeface="Calibri"/>
              </a:rPr>
              <a:t>processing:</a:t>
            </a:r>
            <a:endParaRPr sz="2800" dirty="0">
              <a:latin typeface="Calibri"/>
              <a:cs typeface="Calibri"/>
            </a:endParaRPr>
          </a:p>
          <a:p>
            <a:pPr>
              <a:spcBef>
                <a:spcPts val="5"/>
              </a:spcBef>
            </a:pPr>
            <a:endParaRPr sz="3850" dirty="0">
              <a:latin typeface="Calibri"/>
              <a:cs typeface="Calibri"/>
            </a:endParaRPr>
          </a:p>
          <a:p>
            <a:pPr marL="355600" marR="5080" indent="-342900">
              <a:spcBef>
                <a:spcPts val="5"/>
              </a:spcBef>
              <a:buChar char="•"/>
              <a:tabLst>
                <a:tab pos="354965" algn="l"/>
                <a:tab pos="355600" algn="l"/>
              </a:tabLst>
            </a:pPr>
            <a:r>
              <a:rPr sz="2800" spc="-10" dirty="0">
                <a:latin typeface="Calibri"/>
                <a:cs typeface="Calibri"/>
              </a:rPr>
              <a:t>Feed-forward</a:t>
            </a:r>
            <a:r>
              <a:rPr sz="2800" spc="40" dirty="0">
                <a:latin typeface="Calibri"/>
                <a:cs typeface="Calibri"/>
              </a:rPr>
              <a:t> </a:t>
            </a:r>
            <a:r>
              <a:rPr sz="2800" spc="-10" dirty="0">
                <a:latin typeface="Calibri"/>
                <a:cs typeface="Calibri"/>
              </a:rPr>
              <a:t>neural</a:t>
            </a:r>
            <a:r>
              <a:rPr sz="2800" spc="20" dirty="0">
                <a:latin typeface="Calibri"/>
                <a:cs typeface="Calibri"/>
              </a:rPr>
              <a:t> </a:t>
            </a:r>
            <a:r>
              <a:rPr sz="2800" spc="-10" dirty="0">
                <a:latin typeface="Calibri"/>
                <a:cs typeface="Calibri"/>
              </a:rPr>
              <a:t>network</a:t>
            </a:r>
            <a:r>
              <a:rPr sz="2800" spc="15" dirty="0">
                <a:latin typeface="Calibri"/>
                <a:cs typeface="Calibri"/>
              </a:rPr>
              <a:t> </a:t>
            </a:r>
            <a:r>
              <a:rPr sz="2800" spc="-5" dirty="0">
                <a:latin typeface="Calibri"/>
                <a:cs typeface="Calibri"/>
              </a:rPr>
              <a:t>with</a:t>
            </a:r>
            <a:r>
              <a:rPr sz="2800" spc="15" dirty="0">
                <a:latin typeface="Calibri"/>
                <a:cs typeface="Calibri"/>
              </a:rPr>
              <a:t> </a:t>
            </a:r>
            <a:r>
              <a:rPr sz="2800" spc="-10" dirty="0">
                <a:latin typeface="Calibri"/>
                <a:cs typeface="Calibri"/>
              </a:rPr>
              <a:t>delayed</a:t>
            </a:r>
            <a:r>
              <a:rPr sz="2800" spc="55" dirty="0">
                <a:latin typeface="Calibri"/>
                <a:cs typeface="Calibri"/>
              </a:rPr>
              <a:t> </a:t>
            </a:r>
            <a:r>
              <a:rPr sz="2800" spc="-10" dirty="0">
                <a:latin typeface="Calibri"/>
                <a:cs typeface="Calibri"/>
              </a:rPr>
              <a:t>input </a:t>
            </a:r>
            <a:r>
              <a:rPr sz="2800" spc="-615" dirty="0">
                <a:latin typeface="Calibri"/>
                <a:cs typeface="Calibri"/>
              </a:rPr>
              <a:t> </a:t>
            </a:r>
            <a:r>
              <a:rPr sz="2800" spc="-5" dirty="0">
                <a:latin typeface="Calibri"/>
                <a:cs typeface="Calibri"/>
              </a:rPr>
              <a:t>layer</a:t>
            </a:r>
            <a:endParaRPr sz="2800" dirty="0">
              <a:latin typeface="Calibri"/>
              <a:cs typeface="Calibri"/>
            </a:endParaRPr>
          </a:p>
          <a:p>
            <a:pPr marL="355600" indent="-342900">
              <a:spcBef>
                <a:spcPts val="670"/>
              </a:spcBef>
              <a:buChar char="•"/>
              <a:tabLst>
                <a:tab pos="354965" algn="l"/>
                <a:tab pos="355600" algn="l"/>
              </a:tabLst>
            </a:pPr>
            <a:r>
              <a:rPr lang="en-US" sz="2800" spc="-5" dirty="0">
                <a:latin typeface="Calibri"/>
                <a:cs typeface="Calibri"/>
              </a:rPr>
              <a:t>Recurrent </a:t>
            </a:r>
            <a:r>
              <a:rPr sz="2800" spc="-5" dirty="0">
                <a:latin typeface="Calibri"/>
                <a:cs typeface="Calibri"/>
              </a:rPr>
              <a:t>Neural</a:t>
            </a:r>
            <a:r>
              <a:rPr sz="2800" spc="15" dirty="0">
                <a:latin typeface="Calibri"/>
                <a:cs typeface="Calibri"/>
              </a:rPr>
              <a:t> </a:t>
            </a:r>
            <a:r>
              <a:rPr sz="2800" spc="-10" dirty="0">
                <a:latin typeface="Calibri"/>
                <a:cs typeface="Calibri"/>
              </a:rPr>
              <a:t>networks</a:t>
            </a:r>
            <a:endParaRPr sz="2800" dirty="0">
              <a:latin typeface="Calibri"/>
              <a:cs typeface="Calibri"/>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854201" y="533146"/>
            <a:ext cx="6552565" cy="574040"/>
          </a:xfrm>
          <a:prstGeom prst="rect">
            <a:avLst/>
          </a:prstGeom>
        </p:spPr>
        <p:txBody>
          <a:bodyPr vert="horz" wrap="square" lIns="0" tIns="12700" rIns="0" bIns="0" rtlCol="0" anchor="ctr">
            <a:spAutoFit/>
          </a:bodyPr>
          <a:lstStyle/>
          <a:p>
            <a:pPr marL="12700">
              <a:lnSpc>
                <a:spcPct val="100000"/>
              </a:lnSpc>
              <a:spcBef>
                <a:spcPts val="100"/>
              </a:spcBef>
            </a:pPr>
            <a:r>
              <a:rPr sz="3600" dirty="0">
                <a:latin typeface="Arial MT"/>
                <a:cs typeface="Arial MT"/>
              </a:rPr>
              <a:t>Modelling</a:t>
            </a:r>
            <a:r>
              <a:rPr sz="3600" spc="-40" dirty="0">
                <a:latin typeface="Arial MT"/>
                <a:cs typeface="Arial MT"/>
              </a:rPr>
              <a:t> </a:t>
            </a:r>
            <a:r>
              <a:rPr sz="3600" dirty="0">
                <a:latin typeface="Arial MT"/>
                <a:cs typeface="Arial MT"/>
              </a:rPr>
              <a:t>time</a:t>
            </a:r>
            <a:r>
              <a:rPr sz="3600" spc="-15" dirty="0">
                <a:latin typeface="Arial MT"/>
                <a:cs typeface="Arial MT"/>
              </a:rPr>
              <a:t> </a:t>
            </a:r>
            <a:r>
              <a:rPr sz="3600" dirty="0">
                <a:latin typeface="Arial MT"/>
                <a:cs typeface="Arial MT"/>
              </a:rPr>
              <a:t>series</a:t>
            </a:r>
            <a:r>
              <a:rPr sz="3600" spc="-30" dirty="0">
                <a:latin typeface="Arial MT"/>
                <a:cs typeface="Arial MT"/>
              </a:rPr>
              <a:t> </a:t>
            </a:r>
            <a:r>
              <a:rPr sz="3600" spc="-5" dirty="0">
                <a:latin typeface="Arial MT"/>
                <a:cs typeface="Arial MT"/>
              </a:rPr>
              <a:t>using</a:t>
            </a:r>
            <a:r>
              <a:rPr sz="3600" spc="-30" dirty="0">
                <a:latin typeface="Arial MT"/>
                <a:cs typeface="Arial MT"/>
              </a:rPr>
              <a:t> </a:t>
            </a:r>
            <a:r>
              <a:rPr sz="3600" dirty="0">
                <a:latin typeface="Arial MT"/>
                <a:cs typeface="Arial MT"/>
              </a:rPr>
              <a:t>NNs</a:t>
            </a:r>
          </a:p>
        </p:txBody>
      </p:sp>
      <p:sp>
        <p:nvSpPr>
          <p:cNvPr id="3" name="object 3"/>
          <p:cNvSpPr txBox="1"/>
          <p:nvPr/>
        </p:nvSpPr>
        <p:spPr>
          <a:xfrm>
            <a:off x="2288541" y="1988947"/>
            <a:ext cx="7312659" cy="1001394"/>
          </a:xfrm>
          <a:prstGeom prst="rect">
            <a:avLst/>
          </a:prstGeom>
        </p:spPr>
        <p:txBody>
          <a:bodyPr vert="horz" wrap="square" lIns="0" tIns="13335" rIns="0" bIns="0" rtlCol="0">
            <a:spAutoFit/>
          </a:bodyPr>
          <a:lstStyle/>
          <a:p>
            <a:pPr marL="355600" marR="5080" indent="-343535">
              <a:spcBef>
                <a:spcPts val="105"/>
              </a:spcBef>
              <a:buChar char="•"/>
              <a:tabLst>
                <a:tab pos="355600" algn="l"/>
                <a:tab pos="356235" algn="l"/>
              </a:tabLst>
            </a:pPr>
            <a:r>
              <a:rPr sz="3200" spc="-5" dirty="0">
                <a:latin typeface="Calibri"/>
                <a:cs typeface="Calibri"/>
              </a:rPr>
              <a:t>How </a:t>
            </a:r>
            <a:r>
              <a:rPr sz="3200" dirty="0">
                <a:latin typeface="Calibri"/>
                <a:cs typeface="Calibri"/>
              </a:rPr>
              <a:t>can we model a </a:t>
            </a:r>
            <a:r>
              <a:rPr sz="3200" spc="-5" dirty="0">
                <a:latin typeface="Calibri"/>
                <a:cs typeface="Calibri"/>
              </a:rPr>
              <a:t>time sequence of </a:t>
            </a:r>
            <a:r>
              <a:rPr sz="3200" dirty="0">
                <a:latin typeface="Calibri"/>
                <a:cs typeface="Calibri"/>
              </a:rPr>
              <a:t>3D </a:t>
            </a:r>
            <a:r>
              <a:rPr sz="3200" spc="-710" dirty="0">
                <a:latin typeface="Calibri"/>
                <a:cs typeface="Calibri"/>
              </a:rPr>
              <a:t> </a:t>
            </a:r>
            <a:r>
              <a:rPr sz="3200" dirty="0">
                <a:latin typeface="Calibri"/>
                <a:cs typeface="Calibri"/>
              </a:rPr>
              <a:t>vectors?</a:t>
            </a:r>
            <a:endParaRPr sz="3200">
              <a:latin typeface="Calibri"/>
              <a:cs typeface="Calibri"/>
            </a:endParaRPr>
          </a:p>
        </p:txBody>
      </p:sp>
      <p:pic>
        <p:nvPicPr>
          <p:cNvPr id="4" name="object 4"/>
          <p:cNvPicPr/>
          <p:nvPr/>
        </p:nvPicPr>
        <p:blipFill>
          <a:blip r:embed="rId2" cstate="print"/>
          <a:stretch>
            <a:fillRect/>
          </a:stretch>
        </p:blipFill>
        <p:spPr>
          <a:xfrm>
            <a:off x="5015484" y="2924555"/>
            <a:ext cx="3252216" cy="3494532"/>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854200" y="259756"/>
            <a:ext cx="5232400" cy="1120820"/>
          </a:xfrm>
          <a:prstGeom prst="rect">
            <a:avLst/>
          </a:prstGeom>
        </p:spPr>
        <p:txBody>
          <a:bodyPr vert="horz" wrap="square" lIns="0" tIns="12700" rIns="0" bIns="0" rtlCol="0" anchor="ctr">
            <a:spAutoFit/>
          </a:bodyPr>
          <a:lstStyle/>
          <a:p>
            <a:pPr marL="12700">
              <a:lnSpc>
                <a:spcPct val="100000"/>
              </a:lnSpc>
              <a:spcBef>
                <a:spcPts val="100"/>
              </a:spcBef>
              <a:tabLst>
                <a:tab pos="2221865" algn="l"/>
              </a:tabLst>
            </a:pPr>
            <a:r>
              <a:rPr sz="3600" dirty="0">
                <a:latin typeface="Arial MT"/>
                <a:cs typeface="Arial MT"/>
              </a:rPr>
              <a:t>Modelling	</a:t>
            </a:r>
            <a:r>
              <a:rPr lang="en-GB" sz="3600" dirty="0">
                <a:latin typeface="Arial MT"/>
                <a:cs typeface="Arial MT"/>
              </a:rPr>
              <a:t> </a:t>
            </a:r>
            <a:r>
              <a:rPr lang="en-GB" sz="3600" spc="-5" dirty="0">
                <a:latin typeface="Arial MT"/>
                <a:cs typeface="Arial MT"/>
              </a:rPr>
              <a:t>sequence</a:t>
            </a:r>
            <a:r>
              <a:rPr sz="3600" spc="-60" dirty="0">
                <a:latin typeface="Arial MT"/>
                <a:cs typeface="Arial MT"/>
              </a:rPr>
              <a:t> </a:t>
            </a:r>
            <a:r>
              <a:rPr sz="3600" spc="-5" dirty="0">
                <a:latin typeface="Arial MT"/>
                <a:cs typeface="Arial MT"/>
              </a:rPr>
              <a:t>data</a:t>
            </a:r>
            <a:endParaRPr sz="3600" dirty="0">
              <a:latin typeface="Arial MT"/>
              <a:cs typeface="Arial MT"/>
            </a:endParaRPr>
          </a:p>
        </p:txBody>
      </p:sp>
      <p:sp>
        <p:nvSpPr>
          <p:cNvPr id="3" name="object 3"/>
          <p:cNvSpPr txBox="1"/>
          <p:nvPr/>
        </p:nvSpPr>
        <p:spPr>
          <a:xfrm>
            <a:off x="1998371" y="1786509"/>
            <a:ext cx="7870825" cy="756920"/>
          </a:xfrm>
          <a:prstGeom prst="rect">
            <a:avLst/>
          </a:prstGeom>
        </p:spPr>
        <p:txBody>
          <a:bodyPr vert="horz" wrap="square" lIns="0" tIns="12700" rIns="0" bIns="0" rtlCol="0">
            <a:spAutoFit/>
          </a:bodyPr>
          <a:lstStyle/>
          <a:p>
            <a:pPr marL="355600" marR="5080" indent="-342900">
              <a:spcBef>
                <a:spcPts val="100"/>
              </a:spcBef>
              <a:buChar char="•"/>
              <a:tabLst>
                <a:tab pos="354965" algn="l"/>
                <a:tab pos="355600" algn="l"/>
              </a:tabLst>
            </a:pPr>
            <a:r>
              <a:rPr sz="2400" dirty="0">
                <a:latin typeface="Calibri"/>
                <a:cs typeface="Calibri"/>
              </a:rPr>
              <a:t>We </a:t>
            </a:r>
            <a:r>
              <a:rPr sz="2400" spc="-5" dirty="0">
                <a:latin typeface="Calibri"/>
                <a:cs typeface="Calibri"/>
              </a:rPr>
              <a:t>could </a:t>
            </a:r>
            <a:r>
              <a:rPr sz="2400" dirty="0">
                <a:latin typeface="Calibri"/>
                <a:cs typeface="Calibri"/>
              </a:rPr>
              <a:t>model </a:t>
            </a:r>
            <a:r>
              <a:rPr sz="2400" spc="-5" dirty="0">
                <a:latin typeface="Calibri"/>
                <a:cs typeface="Calibri"/>
              </a:rPr>
              <a:t>fixed </a:t>
            </a:r>
            <a:r>
              <a:rPr sz="2400" dirty="0">
                <a:latin typeface="Calibri"/>
                <a:cs typeface="Calibri"/>
              </a:rPr>
              <a:t>context with a </a:t>
            </a:r>
            <a:r>
              <a:rPr sz="2400" spc="-5" dirty="0">
                <a:latin typeface="Calibri"/>
                <a:cs typeface="Calibri"/>
              </a:rPr>
              <a:t>feed-forward network </a:t>
            </a:r>
            <a:r>
              <a:rPr sz="2400" dirty="0">
                <a:latin typeface="Calibri"/>
                <a:cs typeface="Calibri"/>
              </a:rPr>
              <a:t> with</a:t>
            </a:r>
            <a:r>
              <a:rPr sz="2400" spc="-25" dirty="0">
                <a:latin typeface="Calibri"/>
                <a:cs typeface="Calibri"/>
              </a:rPr>
              <a:t> </a:t>
            </a:r>
            <a:r>
              <a:rPr sz="2400" spc="-5" dirty="0">
                <a:latin typeface="Calibri"/>
                <a:cs typeface="Calibri"/>
              </a:rPr>
              <a:t>previous </a:t>
            </a:r>
            <a:r>
              <a:rPr sz="2400" dirty="0">
                <a:latin typeface="Calibri"/>
                <a:cs typeface="Calibri"/>
              </a:rPr>
              <a:t>time</a:t>
            </a:r>
            <a:r>
              <a:rPr sz="2400" spc="5" dirty="0">
                <a:latin typeface="Calibri"/>
                <a:cs typeface="Calibri"/>
              </a:rPr>
              <a:t> </a:t>
            </a:r>
            <a:r>
              <a:rPr sz="2400" dirty="0">
                <a:latin typeface="Calibri"/>
                <a:cs typeface="Calibri"/>
              </a:rPr>
              <a:t>input</a:t>
            </a:r>
            <a:r>
              <a:rPr sz="2400" spc="-5" dirty="0">
                <a:latin typeface="Calibri"/>
                <a:cs typeface="Calibri"/>
              </a:rPr>
              <a:t> vectors</a:t>
            </a:r>
            <a:r>
              <a:rPr sz="2400" spc="-35" dirty="0">
                <a:latin typeface="Calibri"/>
                <a:cs typeface="Calibri"/>
              </a:rPr>
              <a:t> </a:t>
            </a:r>
            <a:r>
              <a:rPr sz="2400" dirty="0">
                <a:latin typeface="Calibri"/>
                <a:cs typeface="Calibri"/>
              </a:rPr>
              <a:t>added</a:t>
            </a:r>
            <a:r>
              <a:rPr sz="2400" spc="-10" dirty="0">
                <a:latin typeface="Calibri"/>
                <a:cs typeface="Calibri"/>
              </a:rPr>
              <a:t> </a:t>
            </a:r>
            <a:r>
              <a:rPr sz="2400" dirty="0">
                <a:latin typeface="Calibri"/>
                <a:cs typeface="Calibri"/>
              </a:rPr>
              <a:t>to</a:t>
            </a:r>
            <a:r>
              <a:rPr sz="2400" spc="-10" dirty="0">
                <a:latin typeface="Calibri"/>
                <a:cs typeface="Calibri"/>
              </a:rPr>
              <a:t> </a:t>
            </a:r>
            <a:r>
              <a:rPr sz="2400" dirty="0">
                <a:latin typeface="Calibri"/>
                <a:cs typeface="Calibri"/>
              </a:rPr>
              <a:t>the</a:t>
            </a:r>
            <a:r>
              <a:rPr sz="2400" spc="-5" dirty="0">
                <a:latin typeface="Calibri"/>
                <a:cs typeface="Calibri"/>
              </a:rPr>
              <a:t> network</a:t>
            </a:r>
            <a:r>
              <a:rPr sz="2400" spc="-20" dirty="0">
                <a:latin typeface="Calibri"/>
                <a:cs typeface="Calibri"/>
              </a:rPr>
              <a:t> </a:t>
            </a:r>
            <a:r>
              <a:rPr sz="2400" dirty="0">
                <a:latin typeface="Calibri"/>
                <a:cs typeface="Calibri"/>
              </a:rPr>
              <a:t>input</a:t>
            </a:r>
            <a:endParaRPr sz="2400">
              <a:latin typeface="Calibri"/>
              <a:cs typeface="Calibri"/>
            </a:endParaRPr>
          </a:p>
        </p:txBody>
      </p:sp>
      <p:pic>
        <p:nvPicPr>
          <p:cNvPr id="4" name="object 4"/>
          <p:cNvPicPr/>
          <p:nvPr/>
        </p:nvPicPr>
        <p:blipFill>
          <a:blip r:embed="rId2" cstate="print"/>
          <a:stretch>
            <a:fillRect/>
          </a:stretch>
        </p:blipFill>
        <p:spPr>
          <a:xfrm>
            <a:off x="3144011" y="2781300"/>
            <a:ext cx="5402580" cy="3645408"/>
          </a:xfrm>
          <a:prstGeom prst="rect">
            <a:avLst/>
          </a:prstGeo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object 7"/>
          <p:cNvSpPr txBox="1">
            <a:spLocks noGrp="1"/>
          </p:cNvSpPr>
          <p:nvPr>
            <p:ph type="title"/>
          </p:nvPr>
        </p:nvSpPr>
        <p:spPr>
          <a:xfrm>
            <a:off x="2558592" y="71399"/>
            <a:ext cx="7189842" cy="574040"/>
          </a:xfrm>
          <a:prstGeom prst="rect">
            <a:avLst/>
          </a:prstGeom>
        </p:spPr>
        <p:txBody>
          <a:bodyPr vert="horz" wrap="square" lIns="0" tIns="12700" rIns="0" bIns="0" rtlCol="0" anchor="ctr">
            <a:spAutoFit/>
          </a:bodyPr>
          <a:lstStyle/>
          <a:p>
            <a:pPr marL="12700">
              <a:lnSpc>
                <a:spcPct val="100000"/>
              </a:lnSpc>
              <a:spcBef>
                <a:spcPts val="100"/>
              </a:spcBef>
            </a:pPr>
            <a:r>
              <a:rPr sz="3600" spc="-15" dirty="0">
                <a:solidFill>
                  <a:srgbClr val="001F5F"/>
                </a:solidFill>
                <a:latin typeface="Calibri Light"/>
                <a:cs typeface="Calibri Light"/>
              </a:rPr>
              <a:t>Time-delay</a:t>
            </a:r>
            <a:r>
              <a:rPr sz="3600" spc="-5" dirty="0">
                <a:solidFill>
                  <a:srgbClr val="001F5F"/>
                </a:solidFill>
                <a:latin typeface="Calibri Light"/>
                <a:cs typeface="Calibri Light"/>
              </a:rPr>
              <a:t> </a:t>
            </a:r>
            <a:r>
              <a:rPr sz="3600" spc="-15" dirty="0">
                <a:solidFill>
                  <a:srgbClr val="001F5F"/>
                </a:solidFill>
                <a:latin typeface="Calibri Light"/>
                <a:cs typeface="Calibri Light"/>
              </a:rPr>
              <a:t>neural</a:t>
            </a:r>
            <a:r>
              <a:rPr sz="3600" dirty="0">
                <a:solidFill>
                  <a:srgbClr val="001F5F"/>
                </a:solidFill>
                <a:latin typeface="Calibri Light"/>
                <a:cs typeface="Calibri Light"/>
              </a:rPr>
              <a:t> </a:t>
            </a:r>
            <a:r>
              <a:rPr sz="3600" spc="-10" dirty="0">
                <a:solidFill>
                  <a:srgbClr val="001F5F"/>
                </a:solidFill>
                <a:latin typeface="Calibri Light"/>
                <a:cs typeface="Calibri Light"/>
              </a:rPr>
              <a:t>network</a:t>
            </a:r>
            <a:endParaRPr sz="3600" dirty="0">
              <a:latin typeface="Calibri Light"/>
              <a:cs typeface="Calibri Light"/>
            </a:endParaRPr>
          </a:p>
        </p:txBody>
      </p:sp>
      <p:sp>
        <p:nvSpPr>
          <p:cNvPr id="9" name="object 9"/>
          <p:cNvSpPr txBox="1"/>
          <p:nvPr/>
        </p:nvSpPr>
        <p:spPr>
          <a:xfrm>
            <a:off x="555803" y="3996172"/>
            <a:ext cx="4005579" cy="1123315"/>
          </a:xfrm>
          <a:prstGeom prst="rect">
            <a:avLst/>
          </a:prstGeom>
        </p:spPr>
        <p:txBody>
          <a:bodyPr vert="horz" wrap="square" lIns="0" tIns="12700" rIns="0" bIns="0" rtlCol="0">
            <a:spAutoFit/>
          </a:bodyPr>
          <a:lstStyle/>
          <a:p>
            <a:pPr marL="12700" marR="5080">
              <a:spcBef>
                <a:spcPts val="100"/>
              </a:spcBef>
            </a:pPr>
            <a:r>
              <a:rPr sz="2400" dirty="0">
                <a:latin typeface="Arial MT"/>
                <a:cs typeface="Arial MT"/>
              </a:rPr>
              <a:t>Output</a:t>
            </a:r>
            <a:r>
              <a:rPr sz="2400" spc="-35" dirty="0">
                <a:latin typeface="Arial MT"/>
                <a:cs typeface="Arial MT"/>
              </a:rPr>
              <a:t> </a:t>
            </a:r>
            <a:r>
              <a:rPr sz="2400" spc="-5" dirty="0">
                <a:latin typeface="Arial MT"/>
                <a:cs typeface="Arial MT"/>
              </a:rPr>
              <a:t>layer</a:t>
            </a:r>
            <a:r>
              <a:rPr sz="2400" dirty="0">
                <a:latin typeface="Arial MT"/>
                <a:cs typeface="Arial MT"/>
              </a:rPr>
              <a:t> from</a:t>
            </a:r>
            <a:r>
              <a:rPr sz="2400" spc="-30" dirty="0">
                <a:latin typeface="Arial MT"/>
                <a:cs typeface="Arial MT"/>
              </a:rPr>
              <a:t> </a:t>
            </a:r>
            <a:r>
              <a:rPr sz="2400" dirty="0">
                <a:latin typeface="Arial MT"/>
                <a:cs typeface="Arial MT"/>
              </a:rPr>
              <a:t>time</a:t>
            </a:r>
            <a:r>
              <a:rPr sz="2400" spc="-10" dirty="0">
                <a:latin typeface="Arial MT"/>
                <a:cs typeface="Arial MT"/>
              </a:rPr>
              <a:t> </a:t>
            </a:r>
            <a:r>
              <a:rPr sz="2400" dirty="0">
                <a:latin typeface="Arial MT"/>
                <a:cs typeface="Arial MT"/>
              </a:rPr>
              <a:t>t-1</a:t>
            </a:r>
            <a:r>
              <a:rPr sz="2400" spc="-25" dirty="0">
                <a:latin typeface="Arial MT"/>
                <a:cs typeface="Arial MT"/>
              </a:rPr>
              <a:t> </a:t>
            </a:r>
            <a:r>
              <a:rPr sz="2400" spc="-5" dirty="0">
                <a:latin typeface="Arial MT"/>
                <a:cs typeface="Arial MT"/>
              </a:rPr>
              <a:t>are </a:t>
            </a:r>
            <a:r>
              <a:rPr sz="2400" spc="-650" dirty="0">
                <a:latin typeface="Arial MT"/>
                <a:cs typeface="Arial MT"/>
              </a:rPr>
              <a:t> </a:t>
            </a:r>
            <a:r>
              <a:rPr sz="2400" spc="-5" dirty="0">
                <a:latin typeface="Arial MT"/>
                <a:cs typeface="Arial MT"/>
              </a:rPr>
              <a:t>used </a:t>
            </a:r>
            <a:r>
              <a:rPr sz="2400" dirty="0">
                <a:latin typeface="Arial MT"/>
                <a:cs typeface="Arial MT"/>
              </a:rPr>
              <a:t>as </a:t>
            </a:r>
            <a:r>
              <a:rPr sz="2400" spc="-5" dirty="0">
                <a:latin typeface="Arial MT"/>
                <a:cs typeface="Arial MT"/>
              </a:rPr>
              <a:t>inputs </a:t>
            </a:r>
            <a:r>
              <a:rPr sz="2400" dirty="0">
                <a:latin typeface="Arial MT"/>
                <a:cs typeface="Arial MT"/>
              </a:rPr>
              <a:t>to the </a:t>
            </a:r>
            <a:r>
              <a:rPr sz="2400" spc="-5" dirty="0">
                <a:latin typeface="Arial MT"/>
                <a:cs typeface="Arial MT"/>
              </a:rPr>
              <a:t>hidden </a:t>
            </a:r>
            <a:r>
              <a:rPr sz="2400" dirty="0">
                <a:latin typeface="Arial MT"/>
                <a:cs typeface="Arial MT"/>
              </a:rPr>
              <a:t> </a:t>
            </a:r>
            <a:r>
              <a:rPr sz="2400" spc="-5" dirty="0">
                <a:latin typeface="Arial MT"/>
                <a:cs typeface="Arial MT"/>
              </a:rPr>
              <a:t>layer</a:t>
            </a:r>
            <a:r>
              <a:rPr sz="2400" spc="10" dirty="0">
                <a:latin typeface="Arial MT"/>
                <a:cs typeface="Arial MT"/>
              </a:rPr>
              <a:t> </a:t>
            </a:r>
            <a:r>
              <a:rPr sz="2400" dirty="0">
                <a:latin typeface="Arial MT"/>
                <a:cs typeface="Arial MT"/>
              </a:rPr>
              <a:t>at</a:t>
            </a:r>
            <a:r>
              <a:rPr sz="2400" spc="-25" dirty="0">
                <a:latin typeface="Arial MT"/>
                <a:cs typeface="Arial MT"/>
              </a:rPr>
              <a:t> </a:t>
            </a:r>
            <a:r>
              <a:rPr sz="2400" dirty="0">
                <a:latin typeface="Arial MT"/>
                <a:cs typeface="Arial MT"/>
              </a:rPr>
              <a:t>time</a:t>
            </a:r>
            <a:r>
              <a:rPr sz="2400" spc="10" dirty="0">
                <a:latin typeface="Arial MT"/>
                <a:cs typeface="Arial MT"/>
              </a:rPr>
              <a:t> </a:t>
            </a:r>
            <a:r>
              <a:rPr sz="2400" dirty="0">
                <a:latin typeface="Arial MT"/>
                <a:cs typeface="Arial MT"/>
              </a:rPr>
              <a:t>t</a:t>
            </a:r>
          </a:p>
        </p:txBody>
      </p:sp>
      <p:grpSp>
        <p:nvGrpSpPr>
          <p:cNvPr id="10" name="object 10"/>
          <p:cNvGrpSpPr/>
          <p:nvPr/>
        </p:nvGrpSpPr>
        <p:grpSpPr>
          <a:xfrm>
            <a:off x="3166110" y="2438400"/>
            <a:ext cx="5859780" cy="3480816"/>
            <a:chOff x="2991612" y="1674876"/>
            <a:chExt cx="5859780" cy="3480816"/>
          </a:xfrm>
        </p:grpSpPr>
        <p:pic>
          <p:nvPicPr>
            <p:cNvPr id="12" name="object 12"/>
            <p:cNvPicPr/>
            <p:nvPr/>
          </p:nvPicPr>
          <p:blipFill>
            <a:blip r:embed="rId2" cstate="print"/>
            <a:stretch>
              <a:fillRect/>
            </a:stretch>
          </p:blipFill>
          <p:spPr>
            <a:xfrm>
              <a:off x="4788407" y="3115056"/>
              <a:ext cx="3963924" cy="2040636"/>
            </a:xfrm>
            <a:prstGeom prst="rect">
              <a:avLst/>
            </a:prstGeom>
          </p:spPr>
        </p:pic>
        <p:pic>
          <p:nvPicPr>
            <p:cNvPr id="13" name="object 13"/>
            <p:cNvPicPr/>
            <p:nvPr/>
          </p:nvPicPr>
          <p:blipFill>
            <a:blip r:embed="rId3" cstate="print"/>
            <a:stretch>
              <a:fillRect/>
            </a:stretch>
          </p:blipFill>
          <p:spPr>
            <a:xfrm>
              <a:off x="2991612" y="1674876"/>
              <a:ext cx="5859780" cy="1207008"/>
            </a:xfrm>
            <a:prstGeom prst="rect">
              <a:avLst/>
            </a:prstGeom>
          </p:spPr>
        </p:pic>
      </p:grpSp>
      <p:sp>
        <p:nvSpPr>
          <p:cNvPr id="2" name="TextBox 1">
            <a:extLst>
              <a:ext uri="{FF2B5EF4-FFF2-40B4-BE49-F238E27FC236}">
                <a16:creationId xmlns:a16="http://schemas.microsoft.com/office/drawing/2014/main" id="{88640C91-F902-F9F2-0685-9A77E9EB6748}"/>
              </a:ext>
            </a:extLst>
          </p:cNvPr>
          <p:cNvSpPr txBox="1"/>
          <p:nvPr/>
        </p:nvSpPr>
        <p:spPr>
          <a:xfrm>
            <a:off x="658902" y="996203"/>
            <a:ext cx="10874196" cy="1323439"/>
          </a:xfrm>
          <a:prstGeom prst="rect">
            <a:avLst/>
          </a:prstGeom>
          <a:noFill/>
        </p:spPr>
        <p:txBody>
          <a:bodyPr wrap="square" rtlCol="0">
            <a:spAutoFit/>
          </a:bodyPr>
          <a:lstStyle/>
          <a:p>
            <a:r>
              <a:rPr lang="en-GB" sz="2000" b="0" i="0" u="none" strike="noStrike" dirty="0">
                <a:solidFill>
                  <a:srgbClr val="1F1F1F"/>
                </a:solidFill>
                <a:effectLst/>
                <a:latin typeface="Google Sans"/>
              </a:rPr>
              <a:t>A time delay neural network (TDNN) is a type of artificial neural network that is specifically designed to process sequential data, such as time series data. TDNNs work by introducing time delays into the network architecture, which allows them to model the temporal relationships between the input data points.</a:t>
            </a:r>
            <a:endParaRPr lang="en-US" sz="20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B61CCB-593B-414A-8A9B-4931765994A1}"/>
              </a:ext>
            </a:extLst>
          </p:cNvPr>
          <p:cNvSpPr>
            <a:spLocks noGrp="1"/>
          </p:cNvSpPr>
          <p:nvPr>
            <p:ph type="title"/>
          </p:nvPr>
        </p:nvSpPr>
        <p:spPr/>
        <p:txBody>
          <a:bodyPr/>
          <a:lstStyle/>
          <a:p>
            <a:r>
              <a:rPr lang="en-US" sz="4400" dirty="0"/>
              <a:t>Time Delay Neural Network Architecture</a:t>
            </a:r>
            <a:br>
              <a:rPr lang="en-GB" sz="4400" dirty="0"/>
            </a:br>
            <a:endParaRPr lang="en-GB" dirty="0"/>
          </a:p>
        </p:txBody>
      </p:sp>
      <p:pic>
        <p:nvPicPr>
          <p:cNvPr id="6" name="Picture 5">
            <a:extLst>
              <a:ext uri="{FF2B5EF4-FFF2-40B4-BE49-F238E27FC236}">
                <a16:creationId xmlns:a16="http://schemas.microsoft.com/office/drawing/2014/main" id="{400A5585-1382-4512-8873-496E73600D58}"/>
              </a:ext>
            </a:extLst>
          </p:cNvPr>
          <p:cNvPicPr>
            <a:picLocks noChangeAspect="1"/>
          </p:cNvPicPr>
          <p:nvPr/>
        </p:nvPicPr>
        <p:blipFill>
          <a:blip r:embed="rId2"/>
          <a:stretch>
            <a:fillRect/>
          </a:stretch>
        </p:blipFill>
        <p:spPr>
          <a:xfrm rot="10800000">
            <a:off x="2340244" y="612183"/>
            <a:ext cx="7511512" cy="5633634"/>
          </a:xfrm>
          <a:prstGeom prst="rect">
            <a:avLst/>
          </a:prstGeom>
        </p:spPr>
      </p:pic>
    </p:spTree>
    <p:extLst>
      <p:ext uri="{BB962C8B-B14F-4D97-AF65-F5344CB8AC3E}">
        <p14:creationId xmlns:p14="http://schemas.microsoft.com/office/powerpoint/2010/main" val="338025030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936241" y="1728978"/>
            <a:ext cx="7612380" cy="1006045"/>
          </a:xfrm>
          <a:prstGeom prst="rect">
            <a:avLst/>
          </a:prstGeom>
          <a:solidFill>
            <a:srgbClr val="A2A2DF"/>
          </a:solidFill>
          <a:ln w="25907">
            <a:solidFill>
              <a:srgbClr val="DAECEE"/>
            </a:solidFill>
          </a:ln>
        </p:spPr>
        <p:txBody>
          <a:bodyPr vert="horz" wrap="square" lIns="0" tIns="36195" rIns="0" bIns="0" rtlCol="0">
            <a:spAutoFit/>
          </a:bodyPr>
          <a:lstStyle/>
          <a:p>
            <a:pPr marL="90805" marR="83185" algn="just">
              <a:spcBef>
                <a:spcPts val="285"/>
              </a:spcBef>
            </a:pPr>
            <a:r>
              <a:rPr sz="2100" spc="-5" dirty="0">
                <a:latin typeface="Times New Roman"/>
                <a:cs typeface="Times New Roman"/>
              </a:rPr>
              <a:t>RNNs </a:t>
            </a:r>
            <a:r>
              <a:rPr sz="2100" dirty="0">
                <a:latin typeface="Times New Roman"/>
                <a:cs typeface="Times New Roman"/>
              </a:rPr>
              <a:t>are (connectionist) </a:t>
            </a:r>
            <a:r>
              <a:rPr sz="2100" spc="-5" dirty="0">
                <a:latin typeface="Times New Roman"/>
                <a:cs typeface="Times New Roman"/>
              </a:rPr>
              <a:t>models </a:t>
            </a:r>
            <a:r>
              <a:rPr sz="2100" dirty="0">
                <a:latin typeface="Times New Roman"/>
                <a:cs typeface="Times New Roman"/>
              </a:rPr>
              <a:t>with the ability </a:t>
            </a:r>
            <a:r>
              <a:rPr sz="2100" spc="-5" dirty="0">
                <a:latin typeface="Times New Roman"/>
                <a:cs typeface="Times New Roman"/>
              </a:rPr>
              <a:t>to </a:t>
            </a:r>
            <a:r>
              <a:rPr sz="2100" dirty="0">
                <a:latin typeface="Times New Roman"/>
                <a:cs typeface="Times New Roman"/>
              </a:rPr>
              <a:t>selectively save </a:t>
            </a:r>
            <a:r>
              <a:rPr sz="2100" spc="5" dirty="0">
                <a:latin typeface="Times New Roman"/>
                <a:cs typeface="Times New Roman"/>
              </a:rPr>
              <a:t> </a:t>
            </a:r>
            <a:r>
              <a:rPr sz="2100" dirty="0">
                <a:latin typeface="Times New Roman"/>
                <a:cs typeface="Times New Roman"/>
              </a:rPr>
              <a:t>and</a:t>
            </a:r>
            <a:r>
              <a:rPr sz="2100" spc="5" dirty="0">
                <a:latin typeface="Times New Roman"/>
                <a:cs typeface="Times New Roman"/>
              </a:rPr>
              <a:t> </a:t>
            </a:r>
            <a:r>
              <a:rPr sz="2100" dirty="0">
                <a:latin typeface="Times New Roman"/>
                <a:cs typeface="Times New Roman"/>
              </a:rPr>
              <a:t>pass</a:t>
            </a:r>
            <a:r>
              <a:rPr sz="2100" spc="5" dirty="0">
                <a:latin typeface="Times New Roman"/>
                <a:cs typeface="Times New Roman"/>
              </a:rPr>
              <a:t> </a:t>
            </a:r>
            <a:r>
              <a:rPr sz="2100" spc="-5" dirty="0">
                <a:latin typeface="Times New Roman"/>
                <a:cs typeface="Times New Roman"/>
              </a:rPr>
              <a:t>information</a:t>
            </a:r>
            <a:r>
              <a:rPr sz="2100" dirty="0">
                <a:latin typeface="Times New Roman"/>
                <a:cs typeface="Times New Roman"/>
              </a:rPr>
              <a:t> </a:t>
            </a:r>
            <a:r>
              <a:rPr sz="2100" spc="-5" dirty="0">
                <a:latin typeface="Times New Roman"/>
                <a:cs typeface="Times New Roman"/>
              </a:rPr>
              <a:t>across</a:t>
            </a:r>
            <a:r>
              <a:rPr sz="2100" dirty="0">
                <a:latin typeface="Times New Roman"/>
                <a:cs typeface="Times New Roman"/>
              </a:rPr>
              <a:t> sequence</a:t>
            </a:r>
            <a:r>
              <a:rPr sz="2100" spc="5" dirty="0">
                <a:latin typeface="Times New Roman"/>
                <a:cs typeface="Times New Roman"/>
              </a:rPr>
              <a:t> </a:t>
            </a:r>
            <a:r>
              <a:rPr sz="2100" spc="-5" dirty="0">
                <a:latin typeface="Times New Roman"/>
                <a:cs typeface="Times New Roman"/>
              </a:rPr>
              <a:t>steps,</a:t>
            </a:r>
            <a:r>
              <a:rPr sz="2100" dirty="0">
                <a:latin typeface="Times New Roman"/>
                <a:cs typeface="Times New Roman"/>
              </a:rPr>
              <a:t> </a:t>
            </a:r>
            <a:r>
              <a:rPr sz="2100" spc="-10" dirty="0">
                <a:latin typeface="Times New Roman"/>
                <a:cs typeface="Times New Roman"/>
              </a:rPr>
              <a:t>while</a:t>
            </a:r>
            <a:r>
              <a:rPr sz="2100" spc="-5" dirty="0">
                <a:latin typeface="Times New Roman"/>
                <a:cs typeface="Times New Roman"/>
              </a:rPr>
              <a:t> processing </a:t>
            </a:r>
            <a:r>
              <a:rPr sz="2100" dirty="0">
                <a:latin typeface="Times New Roman"/>
                <a:cs typeface="Times New Roman"/>
              </a:rPr>
              <a:t> sequential</a:t>
            </a:r>
            <a:r>
              <a:rPr sz="2100" spc="-15" dirty="0">
                <a:latin typeface="Times New Roman"/>
                <a:cs typeface="Times New Roman"/>
              </a:rPr>
              <a:t> </a:t>
            </a:r>
            <a:r>
              <a:rPr sz="2100" dirty="0">
                <a:latin typeface="Times New Roman"/>
                <a:cs typeface="Times New Roman"/>
              </a:rPr>
              <a:t>data</a:t>
            </a:r>
            <a:r>
              <a:rPr sz="2100" spc="10" dirty="0">
                <a:latin typeface="Times New Roman"/>
                <a:cs typeface="Times New Roman"/>
              </a:rPr>
              <a:t> </a:t>
            </a:r>
            <a:r>
              <a:rPr sz="2100" dirty="0">
                <a:latin typeface="Times New Roman"/>
                <a:cs typeface="Times New Roman"/>
              </a:rPr>
              <a:t>one</a:t>
            </a:r>
            <a:r>
              <a:rPr sz="2100" spc="-10" dirty="0">
                <a:latin typeface="Times New Roman"/>
                <a:cs typeface="Times New Roman"/>
              </a:rPr>
              <a:t> </a:t>
            </a:r>
            <a:r>
              <a:rPr sz="2100" spc="-5" dirty="0">
                <a:latin typeface="Times New Roman"/>
                <a:cs typeface="Times New Roman"/>
              </a:rPr>
              <a:t>element</a:t>
            </a:r>
            <a:r>
              <a:rPr sz="2100" spc="35" dirty="0">
                <a:latin typeface="Times New Roman"/>
                <a:cs typeface="Times New Roman"/>
              </a:rPr>
              <a:t> </a:t>
            </a:r>
            <a:r>
              <a:rPr sz="2100" dirty="0">
                <a:latin typeface="Times New Roman"/>
                <a:cs typeface="Times New Roman"/>
              </a:rPr>
              <a:t>at</a:t>
            </a:r>
            <a:r>
              <a:rPr sz="2100" spc="-5" dirty="0">
                <a:latin typeface="Times New Roman"/>
                <a:cs typeface="Times New Roman"/>
              </a:rPr>
              <a:t> </a:t>
            </a:r>
            <a:r>
              <a:rPr sz="2100" dirty="0">
                <a:latin typeface="Times New Roman"/>
                <a:cs typeface="Times New Roman"/>
              </a:rPr>
              <a:t>a</a:t>
            </a:r>
            <a:r>
              <a:rPr sz="2100" spc="5" dirty="0">
                <a:latin typeface="Times New Roman"/>
                <a:cs typeface="Times New Roman"/>
              </a:rPr>
              <a:t> </a:t>
            </a:r>
            <a:r>
              <a:rPr sz="2100" spc="-5" dirty="0">
                <a:latin typeface="Times New Roman"/>
                <a:cs typeface="Times New Roman"/>
              </a:rPr>
              <a:t>time</a:t>
            </a:r>
            <a:r>
              <a:rPr sz="2100" spc="-5" dirty="0">
                <a:latin typeface="Arial MT"/>
                <a:cs typeface="Arial MT"/>
              </a:rPr>
              <a:t>.</a:t>
            </a:r>
            <a:endParaRPr sz="2100">
              <a:latin typeface="Arial MT"/>
              <a:cs typeface="Arial MT"/>
            </a:endParaRPr>
          </a:p>
        </p:txBody>
      </p:sp>
      <p:pic>
        <p:nvPicPr>
          <p:cNvPr id="3" name="object 3"/>
          <p:cNvPicPr/>
          <p:nvPr/>
        </p:nvPicPr>
        <p:blipFill>
          <a:blip r:embed="rId2" cstate="print"/>
          <a:stretch>
            <a:fillRect/>
          </a:stretch>
        </p:blipFill>
        <p:spPr>
          <a:xfrm>
            <a:off x="1912620" y="2906287"/>
            <a:ext cx="3139976" cy="2456668"/>
          </a:xfrm>
          <a:prstGeom prst="rect">
            <a:avLst/>
          </a:prstGeom>
        </p:spPr>
      </p:pic>
      <p:sp>
        <p:nvSpPr>
          <p:cNvPr id="4" name="object 4"/>
          <p:cNvSpPr txBox="1"/>
          <p:nvPr/>
        </p:nvSpPr>
        <p:spPr>
          <a:xfrm>
            <a:off x="2078227" y="5474309"/>
            <a:ext cx="3204210" cy="1168400"/>
          </a:xfrm>
          <a:prstGeom prst="rect">
            <a:avLst/>
          </a:prstGeom>
        </p:spPr>
        <p:txBody>
          <a:bodyPr vert="horz" wrap="square" lIns="0" tIns="12700" rIns="0" bIns="0" rtlCol="0">
            <a:spAutoFit/>
          </a:bodyPr>
          <a:lstStyle/>
          <a:p>
            <a:pPr marL="12700" marR="5080">
              <a:spcBef>
                <a:spcPts val="100"/>
              </a:spcBef>
            </a:pPr>
            <a:r>
              <a:rPr sz="1500" spc="-5" dirty="0">
                <a:latin typeface="Arial MT"/>
                <a:cs typeface="Arial MT"/>
              </a:rPr>
              <a:t>The </a:t>
            </a:r>
            <a:r>
              <a:rPr sz="1500" dirty="0">
                <a:latin typeface="Arial MT"/>
                <a:cs typeface="Arial MT"/>
              </a:rPr>
              <a:t>simplest form of </a:t>
            </a:r>
            <a:r>
              <a:rPr sz="1500" b="1" i="1" dirty="0">
                <a:solidFill>
                  <a:srgbClr val="0000FF"/>
                </a:solidFill>
                <a:latin typeface="Arial"/>
                <a:cs typeface="Arial"/>
              </a:rPr>
              <a:t>fully </a:t>
            </a:r>
            <a:r>
              <a:rPr sz="1500" b="1" i="1" spc="-5" dirty="0">
                <a:solidFill>
                  <a:srgbClr val="0000FF"/>
                </a:solidFill>
                <a:latin typeface="Arial"/>
                <a:cs typeface="Arial"/>
              </a:rPr>
              <a:t>recurrent </a:t>
            </a:r>
            <a:r>
              <a:rPr sz="1500" b="1" i="1" dirty="0">
                <a:solidFill>
                  <a:srgbClr val="0000FF"/>
                </a:solidFill>
                <a:latin typeface="Arial"/>
                <a:cs typeface="Arial"/>
              </a:rPr>
              <a:t> </a:t>
            </a:r>
            <a:r>
              <a:rPr sz="1500" b="1" i="1" spc="-5" dirty="0">
                <a:solidFill>
                  <a:srgbClr val="0000FF"/>
                </a:solidFill>
                <a:latin typeface="Arial"/>
                <a:cs typeface="Arial"/>
              </a:rPr>
              <a:t>neural network </a:t>
            </a:r>
            <a:r>
              <a:rPr sz="1500" spc="-5" dirty="0">
                <a:latin typeface="Arial MT"/>
                <a:cs typeface="Arial MT"/>
              </a:rPr>
              <a:t>is an MLP with </a:t>
            </a:r>
            <a:r>
              <a:rPr sz="1500" dirty="0">
                <a:latin typeface="Arial MT"/>
                <a:cs typeface="Arial MT"/>
              </a:rPr>
              <a:t>the </a:t>
            </a:r>
            <a:r>
              <a:rPr sz="1500" spc="5" dirty="0">
                <a:latin typeface="Arial MT"/>
                <a:cs typeface="Arial MT"/>
              </a:rPr>
              <a:t> </a:t>
            </a:r>
            <a:r>
              <a:rPr sz="1500" spc="-5" dirty="0">
                <a:latin typeface="Arial MT"/>
                <a:cs typeface="Arial MT"/>
              </a:rPr>
              <a:t>previous </a:t>
            </a:r>
            <a:r>
              <a:rPr sz="1500" dirty="0">
                <a:latin typeface="Arial MT"/>
                <a:cs typeface="Arial MT"/>
              </a:rPr>
              <a:t>set of hidden </a:t>
            </a:r>
            <a:r>
              <a:rPr sz="1500" spc="-5" dirty="0">
                <a:latin typeface="Arial MT"/>
                <a:cs typeface="Arial MT"/>
              </a:rPr>
              <a:t>unit activations </a:t>
            </a:r>
            <a:r>
              <a:rPr sz="1500" spc="-405" dirty="0">
                <a:latin typeface="Arial MT"/>
                <a:cs typeface="Arial MT"/>
              </a:rPr>
              <a:t> </a:t>
            </a:r>
            <a:r>
              <a:rPr sz="1500" dirty="0">
                <a:latin typeface="Arial MT"/>
                <a:cs typeface="Arial MT"/>
              </a:rPr>
              <a:t>feeding </a:t>
            </a:r>
            <a:r>
              <a:rPr sz="1500" spc="-5" dirty="0">
                <a:latin typeface="Arial MT"/>
                <a:cs typeface="Arial MT"/>
              </a:rPr>
              <a:t>back </a:t>
            </a:r>
            <a:r>
              <a:rPr sz="1500" dirty="0">
                <a:latin typeface="Arial MT"/>
                <a:cs typeface="Arial MT"/>
              </a:rPr>
              <a:t>into the </a:t>
            </a:r>
            <a:r>
              <a:rPr sz="1500" spc="-5" dirty="0">
                <a:latin typeface="Arial MT"/>
                <a:cs typeface="Arial MT"/>
              </a:rPr>
              <a:t>network </a:t>
            </a:r>
            <a:r>
              <a:rPr sz="1500" dirty="0">
                <a:latin typeface="Arial MT"/>
                <a:cs typeface="Arial MT"/>
              </a:rPr>
              <a:t>along </a:t>
            </a:r>
            <a:r>
              <a:rPr sz="1500" spc="5" dirty="0">
                <a:latin typeface="Arial MT"/>
                <a:cs typeface="Arial MT"/>
              </a:rPr>
              <a:t> </a:t>
            </a:r>
            <a:r>
              <a:rPr sz="1500" spc="-5" dirty="0">
                <a:latin typeface="Arial MT"/>
                <a:cs typeface="Arial MT"/>
              </a:rPr>
              <a:t>with the </a:t>
            </a:r>
            <a:r>
              <a:rPr sz="1500" dirty="0">
                <a:latin typeface="Arial MT"/>
                <a:cs typeface="Arial MT"/>
              </a:rPr>
              <a:t>inputs</a:t>
            </a:r>
            <a:endParaRPr sz="1500">
              <a:latin typeface="Arial MT"/>
              <a:cs typeface="Arial MT"/>
            </a:endParaRPr>
          </a:p>
        </p:txBody>
      </p:sp>
      <p:sp>
        <p:nvSpPr>
          <p:cNvPr id="5" name="object 5"/>
          <p:cNvSpPr/>
          <p:nvPr/>
        </p:nvSpPr>
        <p:spPr>
          <a:xfrm>
            <a:off x="6077965" y="4097402"/>
            <a:ext cx="327660" cy="282575"/>
          </a:xfrm>
          <a:custGeom>
            <a:avLst/>
            <a:gdLst/>
            <a:ahLst/>
            <a:cxnLst/>
            <a:rect l="l" t="t" r="r" b="b"/>
            <a:pathLst>
              <a:path w="327660" h="282575">
                <a:moveTo>
                  <a:pt x="237362" y="0"/>
                </a:moveTo>
                <a:lnTo>
                  <a:pt x="233425" y="11430"/>
                </a:lnTo>
                <a:lnTo>
                  <a:pt x="249733" y="18577"/>
                </a:lnTo>
                <a:lnTo>
                  <a:pt x="263779" y="28416"/>
                </a:lnTo>
                <a:lnTo>
                  <a:pt x="292322" y="73925"/>
                </a:lnTo>
                <a:lnTo>
                  <a:pt x="300704" y="115732"/>
                </a:lnTo>
                <a:lnTo>
                  <a:pt x="301751" y="139826"/>
                </a:lnTo>
                <a:lnTo>
                  <a:pt x="300704" y="164689"/>
                </a:lnTo>
                <a:lnTo>
                  <a:pt x="292322" y="207603"/>
                </a:lnTo>
                <a:lnTo>
                  <a:pt x="263826" y="253857"/>
                </a:lnTo>
                <a:lnTo>
                  <a:pt x="233807" y="270891"/>
                </a:lnTo>
                <a:lnTo>
                  <a:pt x="237362" y="282321"/>
                </a:lnTo>
                <a:lnTo>
                  <a:pt x="275923" y="264302"/>
                </a:lnTo>
                <a:lnTo>
                  <a:pt x="304292" y="233044"/>
                </a:lnTo>
                <a:lnTo>
                  <a:pt x="321611" y="191135"/>
                </a:lnTo>
                <a:lnTo>
                  <a:pt x="327406" y="141224"/>
                </a:lnTo>
                <a:lnTo>
                  <a:pt x="325953" y="115341"/>
                </a:lnTo>
                <a:lnTo>
                  <a:pt x="314332" y="69482"/>
                </a:lnTo>
                <a:lnTo>
                  <a:pt x="291280" y="32146"/>
                </a:lnTo>
                <a:lnTo>
                  <a:pt x="257891" y="7381"/>
                </a:lnTo>
                <a:lnTo>
                  <a:pt x="237362" y="0"/>
                </a:lnTo>
                <a:close/>
              </a:path>
              <a:path w="327660" h="282575">
                <a:moveTo>
                  <a:pt x="90043" y="0"/>
                </a:moveTo>
                <a:lnTo>
                  <a:pt x="51657" y="18097"/>
                </a:lnTo>
                <a:lnTo>
                  <a:pt x="23368" y="49530"/>
                </a:lnTo>
                <a:lnTo>
                  <a:pt x="5826" y="91424"/>
                </a:lnTo>
                <a:lnTo>
                  <a:pt x="0" y="141224"/>
                </a:lnTo>
                <a:lnTo>
                  <a:pt x="1452" y="167179"/>
                </a:lnTo>
                <a:lnTo>
                  <a:pt x="13073" y="213090"/>
                </a:lnTo>
                <a:lnTo>
                  <a:pt x="36125" y="250334"/>
                </a:lnTo>
                <a:lnTo>
                  <a:pt x="69514" y="274960"/>
                </a:lnTo>
                <a:lnTo>
                  <a:pt x="90043" y="282321"/>
                </a:lnTo>
                <a:lnTo>
                  <a:pt x="93599" y="270891"/>
                </a:lnTo>
                <a:lnTo>
                  <a:pt x="77549" y="263773"/>
                </a:lnTo>
                <a:lnTo>
                  <a:pt x="63690" y="253857"/>
                </a:lnTo>
                <a:lnTo>
                  <a:pt x="35210" y="207603"/>
                </a:lnTo>
                <a:lnTo>
                  <a:pt x="26828" y="164689"/>
                </a:lnTo>
                <a:lnTo>
                  <a:pt x="25781" y="139826"/>
                </a:lnTo>
                <a:lnTo>
                  <a:pt x="26828" y="115732"/>
                </a:lnTo>
                <a:lnTo>
                  <a:pt x="35210" y="73925"/>
                </a:lnTo>
                <a:lnTo>
                  <a:pt x="63801" y="28416"/>
                </a:lnTo>
                <a:lnTo>
                  <a:pt x="94107" y="11430"/>
                </a:lnTo>
                <a:lnTo>
                  <a:pt x="90043" y="0"/>
                </a:lnTo>
                <a:close/>
              </a:path>
            </a:pathLst>
          </a:custGeom>
          <a:solidFill>
            <a:srgbClr val="000000"/>
          </a:solidFill>
        </p:spPr>
        <p:txBody>
          <a:bodyPr wrap="square" lIns="0" tIns="0" rIns="0" bIns="0" rtlCol="0"/>
          <a:lstStyle/>
          <a:p>
            <a:endParaRPr/>
          </a:p>
        </p:txBody>
      </p:sp>
      <p:sp>
        <p:nvSpPr>
          <p:cNvPr id="6" name="object 6"/>
          <p:cNvSpPr/>
          <p:nvPr/>
        </p:nvSpPr>
        <p:spPr>
          <a:xfrm>
            <a:off x="7161531" y="4097402"/>
            <a:ext cx="3258185" cy="282575"/>
          </a:xfrm>
          <a:custGeom>
            <a:avLst/>
            <a:gdLst/>
            <a:ahLst/>
            <a:cxnLst/>
            <a:rect l="l" t="t" r="r" b="b"/>
            <a:pathLst>
              <a:path w="3258184" h="282575">
                <a:moveTo>
                  <a:pt x="94107" y="11430"/>
                </a:moveTo>
                <a:lnTo>
                  <a:pt x="90043" y="0"/>
                </a:lnTo>
                <a:lnTo>
                  <a:pt x="69583" y="7391"/>
                </a:lnTo>
                <a:lnTo>
                  <a:pt x="51650" y="18097"/>
                </a:lnTo>
                <a:lnTo>
                  <a:pt x="23368" y="49530"/>
                </a:lnTo>
                <a:lnTo>
                  <a:pt x="5816" y="91427"/>
                </a:lnTo>
                <a:lnTo>
                  <a:pt x="0" y="141224"/>
                </a:lnTo>
                <a:lnTo>
                  <a:pt x="1447" y="167182"/>
                </a:lnTo>
                <a:lnTo>
                  <a:pt x="13068" y="213093"/>
                </a:lnTo>
                <a:lnTo>
                  <a:pt x="36118" y="250342"/>
                </a:lnTo>
                <a:lnTo>
                  <a:pt x="69507" y="274967"/>
                </a:lnTo>
                <a:lnTo>
                  <a:pt x="90043" y="282321"/>
                </a:lnTo>
                <a:lnTo>
                  <a:pt x="93599" y="270891"/>
                </a:lnTo>
                <a:lnTo>
                  <a:pt x="77546" y="263779"/>
                </a:lnTo>
                <a:lnTo>
                  <a:pt x="63677" y="253860"/>
                </a:lnTo>
                <a:lnTo>
                  <a:pt x="35204" y="207606"/>
                </a:lnTo>
                <a:lnTo>
                  <a:pt x="26822" y="164693"/>
                </a:lnTo>
                <a:lnTo>
                  <a:pt x="25781" y="139827"/>
                </a:lnTo>
                <a:lnTo>
                  <a:pt x="26822" y="115735"/>
                </a:lnTo>
                <a:lnTo>
                  <a:pt x="35204" y="73926"/>
                </a:lnTo>
                <a:lnTo>
                  <a:pt x="63792" y="28422"/>
                </a:lnTo>
                <a:lnTo>
                  <a:pt x="77812" y="18580"/>
                </a:lnTo>
                <a:lnTo>
                  <a:pt x="94107" y="11430"/>
                </a:lnTo>
                <a:close/>
              </a:path>
              <a:path w="3258184" h="282575">
                <a:moveTo>
                  <a:pt x="878967" y="11430"/>
                </a:moveTo>
                <a:lnTo>
                  <a:pt x="874890" y="0"/>
                </a:lnTo>
                <a:lnTo>
                  <a:pt x="854443" y="7391"/>
                </a:lnTo>
                <a:lnTo>
                  <a:pt x="836510" y="18097"/>
                </a:lnTo>
                <a:lnTo>
                  <a:pt x="808228" y="49530"/>
                </a:lnTo>
                <a:lnTo>
                  <a:pt x="790676" y="91427"/>
                </a:lnTo>
                <a:lnTo>
                  <a:pt x="784860" y="141224"/>
                </a:lnTo>
                <a:lnTo>
                  <a:pt x="786307" y="167182"/>
                </a:lnTo>
                <a:lnTo>
                  <a:pt x="797928" y="213093"/>
                </a:lnTo>
                <a:lnTo>
                  <a:pt x="820978" y="250342"/>
                </a:lnTo>
                <a:lnTo>
                  <a:pt x="854367" y="274967"/>
                </a:lnTo>
                <a:lnTo>
                  <a:pt x="874890" y="282321"/>
                </a:lnTo>
                <a:lnTo>
                  <a:pt x="878459" y="270891"/>
                </a:lnTo>
                <a:lnTo>
                  <a:pt x="862406" y="263779"/>
                </a:lnTo>
                <a:lnTo>
                  <a:pt x="848550" y="253860"/>
                </a:lnTo>
                <a:lnTo>
                  <a:pt x="820064" y="207606"/>
                </a:lnTo>
                <a:lnTo>
                  <a:pt x="811682" y="164693"/>
                </a:lnTo>
                <a:lnTo>
                  <a:pt x="810641" y="139827"/>
                </a:lnTo>
                <a:lnTo>
                  <a:pt x="811682" y="115735"/>
                </a:lnTo>
                <a:lnTo>
                  <a:pt x="820064" y="73926"/>
                </a:lnTo>
                <a:lnTo>
                  <a:pt x="848652" y="28422"/>
                </a:lnTo>
                <a:lnTo>
                  <a:pt x="862672" y="18580"/>
                </a:lnTo>
                <a:lnTo>
                  <a:pt x="878967" y="11430"/>
                </a:lnTo>
                <a:close/>
              </a:path>
              <a:path w="3258184" h="282575">
                <a:moveTo>
                  <a:pt x="1112266" y="141224"/>
                </a:moveTo>
                <a:lnTo>
                  <a:pt x="1106449" y="91427"/>
                </a:lnTo>
                <a:lnTo>
                  <a:pt x="1089025" y="49530"/>
                </a:lnTo>
                <a:lnTo>
                  <a:pt x="1060716" y="18097"/>
                </a:lnTo>
                <a:lnTo>
                  <a:pt x="1022223" y="0"/>
                </a:lnTo>
                <a:lnTo>
                  <a:pt x="1018286" y="11430"/>
                </a:lnTo>
                <a:lnTo>
                  <a:pt x="1034592" y="18580"/>
                </a:lnTo>
                <a:lnTo>
                  <a:pt x="1048626" y="28422"/>
                </a:lnTo>
                <a:lnTo>
                  <a:pt x="1077175" y="73926"/>
                </a:lnTo>
                <a:lnTo>
                  <a:pt x="1085557" y="115735"/>
                </a:lnTo>
                <a:lnTo>
                  <a:pt x="1086612" y="139827"/>
                </a:lnTo>
                <a:lnTo>
                  <a:pt x="1085557" y="164693"/>
                </a:lnTo>
                <a:lnTo>
                  <a:pt x="1077175" y="207606"/>
                </a:lnTo>
                <a:lnTo>
                  <a:pt x="1048677" y="253860"/>
                </a:lnTo>
                <a:lnTo>
                  <a:pt x="1018667" y="270891"/>
                </a:lnTo>
                <a:lnTo>
                  <a:pt x="1022223" y="282321"/>
                </a:lnTo>
                <a:lnTo>
                  <a:pt x="1060780" y="264312"/>
                </a:lnTo>
                <a:lnTo>
                  <a:pt x="1089152" y="233045"/>
                </a:lnTo>
                <a:lnTo>
                  <a:pt x="1106462" y="191135"/>
                </a:lnTo>
                <a:lnTo>
                  <a:pt x="1110805" y="167182"/>
                </a:lnTo>
                <a:lnTo>
                  <a:pt x="1112266" y="141224"/>
                </a:lnTo>
                <a:close/>
              </a:path>
              <a:path w="3258184" h="282575">
                <a:moveTo>
                  <a:pt x="3258058" y="141224"/>
                </a:moveTo>
                <a:lnTo>
                  <a:pt x="3252241" y="91427"/>
                </a:lnTo>
                <a:lnTo>
                  <a:pt x="3234817" y="49530"/>
                </a:lnTo>
                <a:lnTo>
                  <a:pt x="3206508" y="18097"/>
                </a:lnTo>
                <a:lnTo>
                  <a:pt x="3168015" y="0"/>
                </a:lnTo>
                <a:lnTo>
                  <a:pt x="3164078" y="11430"/>
                </a:lnTo>
                <a:lnTo>
                  <a:pt x="3180384" y="18580"/>
                </a:lnTo>
                <a:lnTo>
                  <a:pt x="3194431" y="28422"/>
                </a:lnTo>
                <a:lnTo>
                  <a:pt x="3222968" y="73926"/>
                </a:lnTo>
                <a:lnTo>
                  <a:pt x="3231350" y="115735"/>
                </a:lnTo>
                <a:lnTo>
                  <a:pt x="3232404" y="139827"/>
                </a:lnTo>
                <a:lnTo>
                  <a:pt x="3231350" y="164693"/>
                </a:lnTo>
                <a:lnTo>
                  <a:pt x="3222968" y="207606"/>
                </a:lnTo>
                <a:lnTo>
                  <a:pt x="3194469" y="253860"/>
                </a:lnTo>
                <a:lnTo>
                  <a:pt x="3164459" y="270891"/>
                </a:lnTo>
                <a:lnTo>
                  <a:pt x="3168015" y="282321"/>
                </a:lnTo>
                <a:lnTo>
                  <a:pt x="3206572" y="264312"/>
                </a:lnTo>
                <a:lnTo>
                  <a:pt x="3234944" y="233045"/>
                </a:lnTo>
                <a:lnTo>
                  <a:pt x="3252254" y="191135"/>
                </a:lnTo>
                <a:lnTo>
                  <a:pt x="3256597" y="167182"/>
                </a:lnTo>
                <a:lnTo>
                  <a:pt x="3258058" y="141224"/>
                </a:lnTo>
                <a:close/>
              </a:path>
            </a:pathLst>
          </a:custGeom>
          <a:solidFill>
            <a:srgbClr val="000000"/>
          </a:solidFill>
        </p:spPr>
        <p:txBody>
          <a:bodyPr wrap="square" lIns="0" tIns="0" rIns="0" bIns="0" rtlCol="0"/>
          <a:lstStyle/>
          <a:p>
            <a:endParaRPr/>
          </a:p>
        </p:txBody>
      </p:sp>
      <p:sp>
        <p:nvSpPr>
          <p:cNvPr id="7" name="object 7"/>
          <p:cNvSpPr/>
          <p:nvPr/>
        </p:nvSpPr>
        <p:spPr>
          <a:xfrm>
            <a:off x="6091173" y="4465066"/>
            <a:ext cx="327660" cy="282575"/>
          </a:xfrm>
          <a:custGeom>
            <a:avLst/>
            <a:gdLst/>
            <a:ahLst/>
            <a:cxnLst/>
            <a:rect l="l" t="t" r="r" b="b"/>
            <a:pathLst>
              <a:path w="327660" h="282575">
                <a:moveTo>
                  <a:pt x="237362" y="0"/>
                </a:moveTo>
                <a:lnTo>
                  <a:pt x="233425" y="11429"/>
                </a:lnTo>
                <a:lnTo>
                  <a:pt x="249733" y="18522"/>
                </a:lnTo>
                <a:lnTo>
                  <a:pt x="263778" y="28352"/>
                </a:lnTo>
                <a:lnTo>
                  <a:pt x="292322" y="73852"/>
                </a:lnTo>
                <a:lnTo>
                  <a:pt x="300704" y="115623"/>
                </a:lnTo>
                <a:lnTo>
                  <a:pt x="301751" y="139699"/>
                </a:lnTo>
                <a:lnTo>
                  <a:pt x="300704" y="164633"/>
                </a:lnTo>
                <a:lnTo>
                  <a:pt x="292322" y="207547"/>
                </a:lnTo>
                <a:lnTo>
                  <a:pt x="263826" y="253841"/>
                </a:lnTo>
                <a:lnTo>
                  <a:pt x="233806" y="270890"/>
                </a:lnTo>
                <a:lnTo>
                  <a:pt x="237362" y="282320"/>
                </a:lnTo>
                <a:lnTo>
                  <a:pt x="275923" y="264239"/>
                </a:lnTo>
                <a:lnTo>
                  <a:pt x="304291" y="232917"/>
                </a:lnTo>
                <a:lnTo>
                  <a:pt x="321611" y="191119"/>
                </a:lnTo>
                <a:lnTo>
                  <a:pt x="327405" y="141223"/>
                </a:lnTo>
                <a:lnTo>
                  <a:pt x="325953" y="115341"/>
                </a:lnTo>
                <a:lnTo>
                  <a:pt x="314332" y="69482"/>
                </a:lnTo>
                <a:lnTo>
                  <a:pt x="291262" y="32146"/>
                </a:lnTo>
                <a:lnTo>
                  <a:pt x="257837" y="7381"/>
                </a:lnTo>
                <a:lnTo>
                  <a:pt x="237362" y="0"/>
                </a:lnTo>
                <a:close/>
              </a:path>
              <a:path w="327660" h="282575">
                <a:moveTo>
                  <a:pt x="90042" y="0"/>
                </a:moveTo>
                <a:lnTo>
                  <a:pt x="51657" y="18097"/>
                </a:lnTo>
                <a:lnTo>
                  <a:pt x="23367" y="49529"/>
                </a:lnTo>
                <a:lnTo>
                  <a:pt x="5826" y="91424"/>
                </a:lnTo>
                <a:lnTo>
                  <a:pt x="0" y="141223"/>
                </a:lnTo>
                <a:lnTo>
                  <a:pt x="1452" y="167177"/>
                </a:lnTo>
                <a:lnTo>
                  <a:pt x="13073" y="213036"/>
                </a:lnTo>
                <a:lnTo>
                  <a:pt x="36125" y="250227"/>
                </a:lnTo>
                <a:lnTo>
                  <a:pt x="69514" y="274941"/>
                </a:lnTo>
                <a:lnTo>
                  <a:pt x="90042" y="282320"/>
                </a:lnTo>
                <a:lnTo>
                  <a:pt x="93599" y="270890"/>
                </a:lnTo>
                <a:lnTo>
                  <a:pt x="77549" y="263771"/>
                </a:lnTo>
                <a:lnTo>
                  <a:pt x="63690" y="253841"/>
                </a:lnTo>
                <a:lnTo>
                  <a:pt x="35210" y="207547"/>
                </a:lnTo>
                <a:lnTo>
                  <a:pt x="26828" y="164633"/>
                </a:lnTo>
                <a:lnTo>
                  <a:pt x="25780" y="139699"/>
                </a:lnTo>
                <a:lnTo>
                  <a:pt x="26828" y="115623"/>
                </a:lnTo>
                <a:lnTo>
                  <a:pt x="35210" y="73852"/>
                </a:lnTo>
                <a:lnTo>
                  <a:pt x="63801" y="28352"/>
                </a:lnTo>
                <a:lnTo>
                  <a:pt x="94106" y="11429"/>
                </a:lnTo>
                <a:lnTo>
                  <a:pt x="90042" y="0"/>
                </a:lnTo>
                <a:close/>
              </a:path>
            </a:pathLst>
          </a:custGeom>
          <a:solidFill>
            <a:srgbClr val="000000"/>
          </a:solidFill>
        </p:spPr>
        <p:txBody>
          <a:bodyPr wrap="square" lIns="0" tIns="0" rIns="0" bIns="0" rtlCol="0"/>
          <a:lstStyle/>
          <a:p>
            <a:endParaRPr/>
          </a:p>
        </p:txBody>
      </p:sp>
      <p:sp>
        <p:nvSpPr>
          <p:cNvPr id="8" name="object 8"/>
          <p:cNvSpPr txBox="1"/>
          <p:nvPr/>
        </p:nvSpPr>
        <p:spPr>
          <a:xfrm>
            <a:off x="5800344" y="4007562"/>
            <a:ext cx="4597400" cy="1536065"/>
          </a:xfrm>
          <a:prstGeom prst="rect">
            <a:avLst/>
          </a:prstGeom>
        </p:spPr>
        <p:txBody>
          <a:bodyPr vert="horz" wrap="square" lIns="0" tIns="12700" rIns="0" bIns="0" rtlCol="0">
            <a:spAutoFit/>
          </a:bodyPr>
          <a:lstStyle/>
          <a:p>
            <a:pPr marL="76200">
              <a:spcBef>
                <a:spcPts val="100"/>
              </a:spcBef>
              <a:tabLst>
                <a:tab pos="377825" algn="l"/>
                <a:tab pos="717550" algn="l"/>
                <a:tab pos="1461135" algn="l"/>
                <a:tab pos="2245995" algn="l"/>
                <a:tab pos="2569210" algn="l"/>
              </a:tabLst>
            </a:pPr>
            <a:r>
              <a:rPr sz="2400" dirty="0">
                <a:latin typeface="Cambria Math"/>
                <a:cs typeface="Cambria Math"/>
              </a:rPr>
              <a:t>ℎ	𝑡	=</a:t>
            </a:r>
            <a:r>
              <a:rPr sz="2400" spc="120" dirty="0">
                <a:latin typeface="Cambria Math"/>
                <a:cs typeface="Cambria Math"/>
              </a:rPr>
              <a:t> </a:t>
            </a:r>
            <a:r>
              <a:rPr sz="2400" spc="-165" dirty="0">
                <a:latin typeface="Cambria Math"/>
                <a:cs typeface="Cambria Math"/>
              </a:rPr>
              <a:t>𝑓</a:t>
            </a:r>
            <a:r>
              <a:rPr sz="2625" spc="-247" baseline="-15873" dirty="0">
                <a:latin typeface="Cambria Math"/>
                <a:cs typeface="Cambria Math"/>
              </a:rPr>
              <a:t>𝐻	</a:t>
            </a:r>
            <a:r>
              <a:rPr sz="2400" spc="30" dirty="0">
                <a:latin typeface="Cambria Math"/>
                <a:cs typeface="Cambria Math"/>
              </a:rPr>
              <a:t>𝑤</a:t>
            </a:r>
            <a:r>
              <a:rPr sz="2625" spc="44" baseline="-15873" dirty="0">
                <a:latin typeface="Cambria Math"/>
                <a:cs typeface="Cambria Math"/>
              </a:rPr>
              <a:t>𝐼𝐻</a:t>
            </a:r>
            <a:r>
              <a:rPr sz="2400" spc="30" dirty="0">
                <a:latin typeface="Cambria Math"/>
                <a:cs typeface="Cambria Math"/>
              </a:rPr>
              <a:t>𝑥	</a:t>
            </a:r>
            <a:r>
              <a:rPr sz="2400" dirty="0">
                <a:latin typeface="Cambria Math"/>
                <a:cs typeface="Cambria Math"/>
              </a:rPr>
              <a:t>𝑡	+</a:t>
            </a:r>
            <a:r>
              <a:rPr sz="2400" spc="-25" dirty="0">
                <a:latin typeface="Cambria Math"/>
                <a:cs typeface="Cambria Math"/>
              </a:rPr>
              <a:t> </a:t>
            </a:r>
            <a:r>
              <a:rPr sz="2400" spc="30" dirty="0">
                <a:latin typeface="Cambria Math"/>
                <a:cs typeface="Cambria Math"/>
              </a:rPr>
              <a:t>𝑤</a:t>
            </a:r>
            <a:r>
              <a:rPr sz="2625" spc="44" baseline="-15873" dirty="0">
                <a:latin typeface="Cambria Math"/>
                <a:cs typeface="Cambria Math"/>
              </a:rPr>
              <a:t>𝐻𝐻</a:t>
            </a:r>
            <a:r>
              <a:rPr sz="2400" spc="30" dirty="0">
                <a:latin typeface="Cambria Math"/>
                <a:cs typeface="Cambria Math"/>
              </a:rPr>
              <a:t>ℎ(𝑡</a:t>
            </a:r>
            <a:r>
              <a:rPr sz="2400" spc="35" dirty="0">
                <a:latin typeface="Cambria Math"/>
                <a:cs typeface="Cambria Math"/>
              </a:rPr>
              <a:t> </a:t>
            </a:r>
            <a:r>
              <a:rPr sz="2400" dirty="0">
                <a:latin typeface="Cambria Math"/>
                <a:cs typeface="Cambria Math"/>
              </a:rPr>
              <a:t>−</a:t>
            </a:r>
            <a:r>
              <a:rPr sz="2400" spc="-20" dirty="0">
                <a:latin typeface="Cambria Math"/>
                <a:cs typeface="Cambria Math"/>
              </a:rPr>
              <a:t> </a:t>
            </a:r>
            <a:r>
              <a:rPr sz="2400" dirty="0">
                <a:latin typeface="Cambria Math"/>
                <a:cs typeface="Cambria Math"/>
              </a:rPr>
              <a:t>1)</a:t>
            </a:r>
            <a:endParaRPr sz="2400">
              <a:latin typeface="Cambria Math"/>
              <a:cs typeface="Cambria Math"/>
            </a:endParaRPr>
          </a:p>
          <a:p>
            <a:pPr marL="89535">
              <a:spcBef>
                <a:spcPts val="20"/>
              </a:spcBef>
              <a:tabLst>
                <a:tab pos="391160" algn="l"/>
                <a:tab pos="729615" algn="l"/>
              </a:tabLst>
            </a:pPr>
            <a:r>
              <a:rPr sz="2400" dirty="0">
                <a:latin typeface="Cambria Math"/>
                <a:cs typeface="Cambria Math"/>
              </a:rPr>
              <a:t>𝑦	𝑡	=</a:t>
            </a:r>
            <a:r>
              <a:rPr sz="2400" spc="105" dirty="0">
                <a:latin typeface="Cambria Math"/>
                <a:cs typeface="Cambria Math"/>
              </a:rPr>
              <a:t> </a:t>
            </a:r>
            <a:r>
              <a:rPr sz="2400" dirty="0">
                <a:latin typeface="Cambria Math"/>
                <a:cs typeface="Cambria Math"/>
              </a:rPr>
              <a:t>𝑓</a:t>
            </a:r>
            <a:r>
              <a:rPr sz="2625" baseline="-15873" dirty="0">
                <a:latin typeface="Cambria Math"/>
                <a:cs typeface="Cambria Math"/>
              </a:rPr>
              <a:t>𝑂</a:t>
            </a:r>
            <a:r>
              <a:rPr sz="2400" dirty="0">
                <a:latin typeface="Cambria Math"/>
                <a:cs typeface="Cambria Math"/>
              </a:rPr>
              <a:t>(𝑤</a:t>
            </a:r>
            <a:r>
              <a:rPr sz="2625" baseline="-15873" dirty="0">
                <a:latin typeface="Cambria Math"/>
                <a:cs typeface="Cambria Math"/>
              </a:rPr>
              <a:t>𝐻𝑂</a:t>
            </a:r>
            <a:r>
              <a:rPr sz="2400" dirty="0">
                <a:latin typeface="Cambria Math"/>
                <a:cs typeface="Cambria Math"/>
              </a:rPr>
              <a:t>ℎ(𝑡))</a:t>
            </a:r>
            <a:endParaRPr sz="2400">
              <a:latin typeface="Cambria Math"/>
              <a:cs typeface="Cambria Math"/>
            </a:endParaRPr>
          </a:p>
          <a:p>
            <a:pPr marL="259079" marR="607060">
              <a:spcBef>
                <a:spcPts val="350"/>
              </a:spcBef>
            </a:pPr>
            <a:r>
              <a:rPr sz="2400" spc="-170" dirty="0">
                <a:latin typeface="Cambria Math"/>
                <a:cs typeface="Cambria Math"/>
              </a:rPr>
              <a:t>𝑓</a:t>
            </a:r>
            <a:r>
              <a:rPr sz="2625" spc="-254" baseline="-15873" dirty="0">
                <a:latin typeface="Cambria Math"/>
                <a:cs typeface="Cambria Math"/>
              </a:rPr>
              <a:t>𝐻</a:t>
            </a:r>
            <a:r>
              <a:rPr sz="2625" spc="-247" baseline="-15873" dirty="0">
                <a:latin typeface="Cambria Math"/>
                <a:cs typeface="Cambria Math"/>
              </a:rPr>
              <a:t> </a:t>
            </a:r>
            <a:r>
              <a:rPr sz="2400" dirty="0">
                <a:latin typeface="Times New Roman"/>
                <a:cs typeface="Times New Roman"/>
              </a:rPr>
              <a:t>and </a:t>
            </a:r>
            <a:r>
              <a:rPr sz="2400" spc="-170" dirty="0">
                <a:latin typeface="Cambria Math"/>
                <a:cs typeface="Cambria Math"/>
              </a:rPr>
              <a:t>𝑓</a:t>
            </a:r>
            <a:r>
              <a:rPr sz="2625" spc="-254" baseline="-15873" dirty="0">
                <a:latin typeface="Cambria Math"/>
                <a:cs typeface="Cambria Math"/>
              </a:rPr>
              <a:t>𝑂</a:t>
            </a:r>
            <a:r>
              <a:rPr sz="2625" spc="-247" baseline="-15873" dirty="0">
                <a:latin typeface="Cambria Math"/>
                <a:cs typeface="Cambria Math"/>
              </a:rPr>
              <a:t> </a:t>
            </a:r>
            <a:r>
              <a:rPr sz="2400" dirty="0">
                <a:latin typeface="Times New Roman"/>
                <a:cs typeface="Times New Roman"/>
              </a:rPr>
              <a:t>are the activation </a:t>
            </a:r>
            <a:r>
              <a:rPr sz="2400" spc="5" dirty="0">
                <a:latin typeface="Times New Roman"/>
                <a:cs typeface="Times New Roman"/>
              </a:rPr>
              <a:t> </a:t>
            </a:r>
            <a:r>
              <a:rPr sz="2400" spc="-5" dirty="0">
                <a:latin typeface="Times New Roman"/>
                <a:cs typeface="Times New Roman"/>
              </a:rPr>
              <a:t>function</a:t>
            </a:r>
            <a:r>
              <a:rPr sz="2400" spc="-20" dirty="0">
                <a:latin typeface="Times New Roman"/>
                <a:cs typeface="Times New Roman"/>
              </a:rPr>
              <a:t> </a:t>
            </a:r>
            <a:r>
              <a:rPr sz="2400" spc="-5" dirty="0">
                <a:latin typeface="Times New Roman"/>
                <a:cs typeface="Times New Roman"/>
              </a:rPr>
              <a:t>for</a:t>
            </a:r>
            <a:r>
              <a:rPr sz="2400" spc="-10" dirty="0">
                <a:latin typeface="Times New Roman"/>
                <a:cs typeface="Times New Roman"/>
              </a:rPr>
              <a:t> </a:t>
            </a:r>
            <a:r>
              <a:rPr sz="2400" dirty="0">
                <a:latin typeface="Times New Roman"/>
                <a:cs typeface="Times New Roman"/>
              </a:rPr>
              <a:t>hidden</a:t>
            </a:r>
            <a:r>
              <a:rPr sz="2400" spc="-20" dirty="0">
                <a:latin typeface="Times New Roman"/>
                <a:cs typeface="Times New Roman"/>
              </a:rPr>
              <a:t> </a:t>
            </a:r>
            <a:r>
              <a:rPr sz="2400" dirty="0">
                <a:latin typeface="Times New Roman"/>
                <a:cs typeface="Times New Roman"/>
              </a:rPr>
              <a:t>and</a:t>
            </a:r>
            <a:r>
              <a:rPr sz="2400" spc="-25" dirty="0">
                <a:latin typeface="Times New Roman"/>
                <a:cs typeface="Times New Roman"/>
              </a:rPr>
              <a:t> </a:t>
            </a:r>
            <a:r>
              <a:rPr sz="2400" dirty="0">
                <a:latin typeface="Times New Roman"/>
                <a:cs typeface="Times New Roman"/>
              </a:rPr>
              <a:t>output</a:t>
            </a:r>
            <a:endParaRPr sz="2400">
              <a:latin typeface="Times New Roman"/>
              <a:cs typeface="Times New Roman"/>
            </a:endParaRPr>
          </a:p>
        </p:txBody>
      </p:sp>
      <p:sp>
        <p:nvSpPr>
          <p:cNvPr id="9" name="object 9"/>
          <p:cNvSpPr txBox="1"/>
          <p:nvPr/>
        </p:nvSpPr>
        <p:spPr>
          <a:xfrm>
            <a:off x="6046979" y="5517896"/>
            <a:ext cx="1590675" cy="391160"/>
          </a:xfrm>
          <a:prstGeom prst="rect">
            <a:avLst/>
          </a:prstGeom>
        </p:spPr>
        <p:txBody>
          <a:bodyPr vert="horz" wrap="square" lIns="0" tIns="12700" rIns="0" bIns="0" rtlCol="0">
            <a:spAutoFit/>
          </a:bodyPr>
          <a:lstStyle/>
          <a:p>
            <a:pPr marL="12700">
              <a:spcBef>
                <a:spcPts val="100"/>
              </a:spcBef>
              <a:tabLst>
                <a:tab pos="707390" algn="l"/>
                <a:tab pos="1195070" algn="l"/>
              </a:tabLst>
            </a:pPr>
            <a:r>
              <a:rPr sz="2400" dirty="0">
                <a:latin typeface="Times New Roman"/>
                <a:cs typeface="Times New Roman"/>
              </a:rPr>
              <a:t>unit;	</a:t>
            </a:r>
            <a:r>
              <a:rPr sz="2400" dirty="0">
                <a:latin typeface="Cambria Math"/>
                <a:cs typeface="Cambria Math"/>
              </a:rPr>
              <a:t>𝑤	</a:t>
            </a:r>
            <a:r>
              <a:rPr sz="2400" dirty="0">
                <a:latin typeface="Times New Roman"/>
                <a:cs typeface="Times New Roman"/>
              </a:rPr>
              <a:t>,</a:t>
            </a:r>
            <a:r>
              <a:rPr sz="2400" spc="-55" dirty="0">
                <a:latin typeface="Times New Roman"/>
                <a:cs typeface="Times New Roman"/>
              </a:rPr>
              <a:t> </a:t>
            </a:r>
            <a:r>
              <a:rPr sz="2400" dirty="0">
                <a:latin typeface="Cambria Math"/>
                <a:cs typeface="Cambria Math"/>
              </a:rPr>
              <a:t>𝑤</a:t>
            </a:r>
            <a:endParaRPr sz="2400">
              <a:latin typeface="Cambria Math"/>
              <a:cs typeface="Cambria Math"/>
            </a:endParaRPr>
          </a:p>
        </p:txBody>
      </p:sp>
      <p:sp>
        <p:nvSpPr>
          <p:cNvPr id="10" name="object 10"/>
          <p:cNvSpPr txBox="1"/>
          <p:nvPr/>
        </p:nvSpPr>
        <p:spPr>
          <a:xfrm>
            <a:off x="6956806" y="5662677"/>
            <a:ext cx="2228215" cy="292735"/>
          </a:xfrm>
          <a:prstGeom prst="rect">
            <a:avLst/>
          </a:prstGeom>
        </p:spPr>
        <p:txBody>
          <a:bodyPr vert="horz" wrap="square" lIns="0" tIns="12700" rIns="0" bIns="0" rtlCol="0">
            <a:spAutoFit/>
          </a:bodyPr>
          <a:lstStyle/>
          <a:p>
            <a:pPr marL="12700">
              <a:spcBef>
                <a:spcPts val="100"/>
              </a:spcBef>
              <a:tabLst>
                <a:tab pos="657225" algn="l"/>
                <a:tab pos="1891664" algn="l"/>
              </a:tabLst>
            </a:pPr>
            <a:r>
              <a:rPr sz="1750" spc="50" dirty="0">
                <a:latin typeface="Cambria Math"/>
                <a:cs typeface="Cambria Math"/>
              </a:rPr>
              <a:t>𝐼</a:t>
            </a:r>
            <a:r>
              <a:rPr sz="1750" spc="55" dirty="0">
                <a:latin typeface="Cambria Math"/>
                <a:cs typeface="Cambria Math"/>
              </a:rPr>
              <a:t>𝐻</a:t>
            </a:r>
            <a:r>
              <a:rPr sz="1750" dirty="0">
                <a:latin typeface="Cambria Math"/>
                <a:cs typeface="Cambria Math"/>
              </a:rPr>
              <a:t>	</a:t>
            </a:r>
            <a:r>
              <a:rPr sz="1750" spc="55" dirty="0">
                <a:latin typeface="Cambria Math"/>
                <a:cs typeface="Cambria Math"/>
              </a:rPr>
              <a:t>𝐻𝐻</a:t>
            </a:r>
            <a:r>
              <a:rPr sz="1750" dirty="0">
                <a:latin typeface="Cambria Math"/>
                <a:cs typeface="Cambria Math"/>
              </a:rPr>
              <a:t>	</a:t>
            </a:r>
            <a:r>
              <a:rPr sz="1750" spc="55" dirty="0">
                <a:latin typeface="Cambria Math"/>
                <a:cs typeface="Cambria Math"/>
              </a:rPr>
              <a:t>𝐻𝑂</a:t>
            </a:r>
            <a:endParaRPr sz="1750">
              <a:latin typeface="Cambria Math"/>
              <a:cs typeface="Cambria Math"/>
            </a:endParaRPr>
          </a:p>
        </p:txBody>
      </p:sp>
      <p:sp>
        <p:nvSpPr>
          <p:cNvPr id="11" name="object 11"/>
          <p:cNvSpPr txBox="1"/>
          <p:nvPr/>
        </p:nvSpPr>
        <p:spPr>
          <a:xfrm>
            <a:off x="7953884" y="5517896"/>
            <a:ext cx="1697989" cy="391160"/>
          </a:xfrm>
          <a:prstGeom prst="rect">
            <a:avLst/>
          </a:prstGeom>
        </p:spPr>
        <p:txBody>
          <a:bodyPr vert="horz" wrap="square" lIns="0" tIns="12700" rIns="0" bIns="0" rtlCol="0">
            <a:spAutoFit/>
          </a:bodyPr>
          <a:lstStyle/>
          <a:p>
            <a:pPr marL="12700">
              <a:spcBef>
                <a:spcPts val="100"/>
              </a:spcBef>
              <a:tabLst>
                <a:tab pos="1312545" algn="l"/>
              </a:tabLst>
            </a:pPr>
            <a:r>
              <a:rPr sz="2400" dirty="0">
                <a:latin typeface="Times New Roman"/>
                <a:cs typeface="Times New Roman"/>
              </a:rPr>
              <a:t>, and</a:t>
            </a:r>
            <a:r>
              <a:rPr sz="2400" spc="-10" dirty="0">
                <a:latin typeface="Times New Roman"/>
                <a:cs typeface="Times New Roman"/>
              </a:rPr>
              <a:t> </a:t>
            </a:r>
            <a:r>
              <a:rPr sz="2400" dirty="0">
                <a:latin typeface="Cambria Math"/>
                <a:cs typeface="Cambria Math"/>
              </a:rPr>
              <a:t>𝑤	</a:t>
            </a:r>
            <a:r>
              <a:rPr sz="2400" dirty="0">
                <a:latin typeface="Times New Roman"/>
                <a:cs typeface="Times New Roman"/>
              </a:rPr>
              <a:t>are</a:t>
            </a:r>
            <a:endParaRPr sz="2400">
              <a:latin typeface="Times New Roman"/>
              <a:cs typeface="Times New Roman"/>
            </a:endParaRPr>
          </a:p>
        </p:txBody>
      </p:sp>
      <p:sp>
        <p:nvSpPr>
          <p:cNvPr id="12" name="object 12"/>
          <p:cNvSpPr txBox="1"/>
          <p:nvPr/>
        </p:nvSpPr>
        <p:spPr>
          <a:xfrm>
            <a:off x="6046978" y="5883655"/>
            <a:ext cx="3392170" cy="756920"/>
          </a:xfrm>
          <a:prstGeom prst="rect">
            <a:avLst/>
          </a:prstGeom>
        </p:spPr>
        <p:txBody>
          <a:bodyPr vert="horz" wrap="square" lIns="0" tIns="12700" rIns="0" bIns="0" rtlCol="0">
            <a:spAutoFit/>
          </a:bodyPr>
          <a:lstStyle/>
          <a:p>
            <a:pPr marL="12700" marR="5080">
              <a:spcBef>
                <a:spcPts val="100"/>
              </a:spcBef>
            </a:pPr>
            <a:r>
              <a:rPr sz="2400" dirty="0">
                <a:latin typeface="Times New Roman"/>
                <a:cs typeface="Times New Roman"/>
              </a:rPr>
              <a:t>connection weight </a:t>
            </a:r>
            <a:r>
              <a:rPr sz="2400" spc="-5" dirty="0">
                <a:latin typeface="Times New Roman"/>
                <a:cs typeface="Times New Roman"/>
              </a:rPr>
              <a:t>matrices </a:t>
            </a:r>
            <a:r>
              <a:rPr sz="2400" spc="-585" dirty="0">
                <a:latin typeface="Times New Roman"/>
                <a:cs typeface="Times New Roman"/>
              </a:rPr>
              <a:t> </a:t>
            </a:r>
            <a:r>
              <a:rPr sz="2400" spc="-5" dirty="0">
                <a:latin typeface="Times New Roman"/>
                <a:cs typeface="Times New Roman"/>
              </a:rPr>
              <a:t>which</a:t>
            </a:r>
            <a:r>
              <a:rPr sz="2400" spc="-15" dirty="0">
                <a:latin typeface="Times New Roman"/>
                <a:cs typeface="Times New Roman"/>
              </a:rPr>
              <a:t> </a:t>
            </a:r>
            <a:r>
              <a:rPr sz="2400" dirty="0">
                <a:latin typeface="Times New Roman"/>
                <a:cs typeface="Times New Roman"/>
              </a:rPr>
              <a:t>are</a:t>
            </a:r>
            <a:r>
              <a:rPr sz="2400" spc="-35" dirty="0">
                <a:latin typeface="Times New Roman"/>
                <a:cs typeface="Times New Roman"/>
              </a:rPr>
              <a:t> </a:t>
            </a:r>
            <a:r>
              <a:rPr sz="2400" dirty="0">
                <a:latin typeface="Times New Roman"/>
                <a:cs typeface="Times New Roman"/>
              </a:rPr>
              <a:t>learnt</a:t>
            </a:r>
            <a:r>
              <a:rPr sz="2400" spc="-40" dirty="0">
                <a:latin typeface="Times New Roman"/>
                <a:cs typeface="Times New Roman"/>
              </a:rPr>
              <a:t> </a:t>
            </a:r>
            <a:r>
              <a:rPr sz="2400" spc="-5" dirty="0">
                <a:latin typeface="Times New Roman"/>
                <a:cs typeface="Times New Roman"/>
              </a:rPr>
              <a:t>by</a:t>
            </a:r>
            <a:r>
              <a:rPr sz="2400" spc="-15" dirty="0">
                <a:latin typeface="Times New Roman"/>
                <a:cs typeface="Times New Roman"/>
              </a:rPr>
              <a:t> </a:t>
            </a:r>
            <a:r>
              <a:rPr sz="2400" dirty="0">
                <a:latin typeface="Times New Roman"/>
                <a:cs typeface="Times New Roman"/>
              </a:rPr>
              <a:t>training</a:t>
            </a:r>
            <a:endParaRPr sz="2400">
              <a:latin typeface="Times New Roman"/>
              <a:cs typeface="Times New Roman"/>
            </a:endParaRPr>
          </a:p>
        </p:txBody>
      </p:sp>
      <p:sp>
        <p:nvSpPr>
          <p:cNvPr id="13" name="object 13"/>
          <p:cNvSpPr txBox="1"/>
          <p:nvPr/>
        </p:nvSpPr>
        <p:spPr>
          <a:xfrm>
            <a:off x="5821680" y="3011424"/>
            <a:ext cx="4520565" cy="784189"/>
          </a:xfrm>
          <a:prstGeom prst="rect">
            <a:avLst/>
          </a:prstGeom>
          <a:solidFill>
            <a:srgbClr val="006FC0"/>
          </a:solidFill>
        </p:spPr>
        <p:txBody>
          <a:bodyPr vert="horz" wrap="square" lIns="0" tIns="45085" rIns="0" bIns="0" rtlCol="0">
            <a:spAutoFit/>
          </a:bodyPr>
          <a:lstStyle/>
          <a:p>
            <a:pPr marL="95885" marR="145415">
              <a:spcBef>
                <a:spcPts val="355"/>
              </a:spcBef>
            </a:pPr>
            <a:r>
              <a:rPr sz="1600" spc="-5" dirty="0">
                <a:solidFill>
                  <a:srgbClr val="FFFFFF"/>
                </a:solidFill>
                <a:latin typeface="Arial MT"/>
                <a:cs typeface="Arial MT"/>
              </a:rPr>
              <a:t>Allow a </a:t>
            </a:r>
            <a:r>
              <a:rPr sz="1600" spc="-10" dirty="0">
                <a:solidFill>
                  <a:srgbClr val="FFFFFF"/>
                </a:solidFill>
                <a:latin typeface="Arial MT"/>
                <a:cs typeface="Arial MT"/>
              </a:rPr>
              <a:t>‘memory’ </a:t>
            </a:r>
            <a:r>
              <a:rPr sz="1600" spc="-5" dirty="0">
                <a:solidFill>
                  <a:srgbClr val="FFFFFF"/>
                </a:solidFill>
                <a:latin typeface="Arial MT"/>
                <a:cs typeface="Arial MT"/>
              </a:rPr>
              <a:t>of previous </a:t>
            </a:r>
            <a:r>
              <a:rPr sz="1600" spc="-10" dirty="0">
                <a:solidFill>
                  <a:srgbClr val="FFFFFF"/>
                </a:solidFill>
                <a:latin typeface="Arial MT"/>
                <a:cs typeface="Arial MT"/>
              </a:rPr>
              <a:t>inputs </a:t>
            </a:r>
            <a:r>
              <a:rPr sz="1600" spc="-5" dirty="0">
                <a:solidFill>
                  <a:srgbClr val="FFFFFF"/>
                </a:solidFill>
                <a:latin typeface="Arial MT"/>
                <a:cs typeface="Arial MT"/>
              </a:rPr>
              <a:t>to persist in </a:t>
            </a:r>
            <a:r>
              <a:rPr sz="1600" spc="-430" dirty="0">
                <a:solidFill>
                  <a:srgbClr val="FFFFFF"/>
                </a:solidFill>
                <a:latin typeface="Arial MT"/>
                <a:cs typeface="Arial MT"/>
              </a:rPr>
              <a:t> </a:t>
            </a:r>
            <a:r>
              <a:rPr sz="1600" spc="-5" dirty="0">
                <a:solidFill>
                  <a:srgbClr val="FFFFFF"/>
                </a:solidFill>
                <a:latin typeface="Arial MT"/>
                <a:cs typeface="Arial MT"/>
              </a:rPr>
              <a:t>the</a:t>
            </a:r>
            <a:r>
              <a:rPr sz="1600" spc="10" dirty="0">
                <a:solidFill>
                  <a:srgbClr val="FFFFFF"/>
                </a:solidFill>
                <a:latin typeface="Arial MT"/>
                <a:cs typeface="Arial MT"/>
              </a:rPr>
              <a:t> </a:t>
            </a:r>
            <a:r>
              <a:rPr sz="1600" spc="-10" dirty="0">
                <a:solidFill>
                  <a:srgbClr val="FFFFFF"/>
                </a:solidFill>
                <a:latin typeface="Arial MT"/>
                <a:cs typeface="Arial MT"/>
              </a:rPr>
              <a:t>network’s</a:t>
            </a:r>
            <a:r>
              <a:rPr sz="1600" dirty="0">
                <a:solidFill>
                  <a:srgbClr val="FFFFFF"/>
                </a:solidFill>
                <a:latin typeface="Arial MT"/>
                <a:cs typeface="Arial MT"/>
              </a:rPr>
              <a:t> </a:t>
            </a:r>
            <a:r>
              <a:rPr sz="1600" spc="-10" dirty="0">
                <a:solidFill>
                  <a:srgbClr val="FFFFFF"/>
                </a:solidFill>
                <a:latin typeface="Arial MT"/>
                <a:cs typeface="Arial MT"/>
              </a:rPr>
              <a:t>internal</a:t>
            </a:r>
            <a:r>
              <a:rPr sz="1600" dirty="0">
                <a:solidFill>
                  <a:srgbClr val="FFFFFF"/>
                </a:solidFill>
                <a:latin typeface="Arial MT"/>
                <a:cs typeface="Arial MT"/>
              </a:rPr>
              <a:t> </a:t>
            </a:r>
            <a:r>
              <a:rPr sz="1600" spc="-5" dirty="0">
                <a:solidFill>
                  <a:srgbClr val="FFFFFF"/>
                </a:solidFill>
                <a:latin typeface="Arial MT"/>
                <a:cs typeface="Arial MT"/>
              </a:rPr>
              <a:t>state,</a:t>
            </a:r>
            <a:r>
              <a:rPr sz="1600" spc="25" dirty="0">
                <a:solidFill>
                  <a:srgbClr val="FFFFFF"/>
                </a:solidFill>
                <a:latin typeface="Arial MT"/>
                <a:cs typeface="Arial MT"/>
              </a:rPr>
              <a:t> </a:t>
            </a:r>
            <a:r>
              <a:rPr sz="1600" spc="-10" dirty="0">
                <a:solidFill>
                  <a:srgbClr val="FFFFFF"/>
                </a:solidFill>
                <a:latin typeface="Arial MT"/>
                <a:cs typeface="Arial MT"/>
              </a:rPr>
              <a:t>and</a:t>
            </a:r>
            <a:r>
              <a:rPr sz="1600" spc="-5" dirty="0">
                <a:solidFill>
                  <a:srgbClr val="FFFFFF"/>
                </a:solidFill>
                <a:latin typeface="Arial MT"/>
                <a:cs typeface="Arial MT"/>
              </a:rPr>
              <a:t> thereby </a:t>
            </a:r>
            <a:r>
              <a:rPr sz="1600" dirty="0">
                <a:solidFill>
                  <a:srgbClr val="FFFFFF"/>
                </a:solidFill>
                <a:latin typeface="Arial MT"/>
                <a:cs typeface="Arial MT"/>
              </a:rPr>
              <a:t> </a:t>
            </a:r>
            <a:r>
              <a:rPr sz="1600" spc="-5" dirty="0">
                <a:solidFill>
                  <a:srgbClr val="FFFFFF"/>
                </a:solidFill>
                <a:latin typeface="Arial MT"/>
                <a:cs typeface="Arial MT"/>
              </a:rPr>
              <a:t>influence</a:t>
            </a:r>
            <a:r>
              <a:rPr sz="1600" spc="-20" dirty="0">
                <a:solidFill>
                  <a:srgbClr val="FFFFFF"/>
                </a:solidFill>
                <a:latin typeface="Arial MT"/>
                <a:cs typeface="Arial MT"/>
              </a:rPr>
              <a:t> </a:t>
            </a:r>
            <a:r>
              <a:rPr sz="1600" spc="-5" dirty="0">
                <a:solidFill>
                  <a:srgbClr val="FFFFFF"/>
                </a:solidFill>
                <a:latin typeface="Arial MT"/>
                <a:cs typeface="Arial MT"/>
              </a:rPr>
              <a:t>the</a:t>
            </a:r>
            <a:r>
              <a:rPr sz="1600" spc="10" dirty="0">
                <a:solidFill>
                  <a:srgbClr val="FFFFFF"/>
                </a:solidFill>
                <a:latin typeface="Arial MT"/>
                <a:cs typeface="Arial MT"/>
              </a:rPr>
              <a:t> </a:t>
            </a:r>
            <a:r>
              <a:rPr sz="1600" spc="-5" dirty="0">
                <a:solidFill>
                  <a:srgbClr val="FFFFFF"/>
                </a:solidFill>
                <a:latin typeface="Arial MT"/>
                <a:cs typeface="Arial MT"/>
              </a:rPr>
              <a:t>network</a:t>
            </a:r>
            <a:r>
              <a:rPr sz="1600" spc="20" dirty="0">
                <a:solidFill>
                  <a:srgbClr val="FFFFFF"/>
                </a:solidFill>
                <a:latin typeface="Arial MT"/>
                <a:cs typeface="Arial MT"/>
              </a:rPr>
              <a:t> </a:t>
            </a:r>
            <a:r>
              <a:rPr sz="1600" spc="-5" dirty="0">
                <a:solidFill>
                  <a:srgbClr val="FFFFFF"/>
                </a:solidFill>
                <a:latin typeface="Arial MT"/>
                <a:cs typeface="Arial MT"/>
              </a:rPr>
              <a:t>output</a:t>
            </a:r>
            <a:endParaRPr sz="1600">
              <a:latin typeface="Arial MT"/>
              <a:cs typeface="Arial MT"/>
            </a:endParaRPr>
          </a:p>
        </p:txBody>
      </p:sp>
      <p:sp>
        <p:nvSpPr>
          <p:cNvPr id="14" name="object 14"/>
          <p:cNvSpPr txBox="1">
            <a:spLocks noGrp="1"/>
          </p:cNvSpPr>
          <p:nvPr>
            <p:ph type="title"/>
          </p:nvPr>
        </p:nvSpPr>
        <p:spPr>
          <a:xfrm>
            <a:off x="1854200" y="533146"/>
            <a:ext cx="4550410" cy="574040"/>
          </a:xfrm>
          <a:prstGeom prst="rect">
            <a:avLst/>
          </a:prstGeom>
        </p:spPr>
        <p:txBody>
          <a:bodyPr vert="horz" wrap="square" lIns="0" tIns="12700" rIns="0" bIns="0" rtlCol="0" anchor="ctr">
            <a:spAutoFit/>
          </a:bodyPr>
          <a:lstStyle/>
          <a:p>
            <a:pPr marL="12700">
              <a:lnSpc>
                <a:spcPct val="100000"/>
              </a:lnSpc>
              <a:spcBef>
                <a:spcPts val="100"/>
              </a:spcBef>
            </a:pPr>
            <a:r>
              <a:rPr sz="3600" spc="-5" dirty="0">
                <a:latin typeface="Arial MT"/>
                <a:cs typeface="Arial MT"/>
              </a:rPr>
              <a:t>General</a:t>
            </a:r>
            <a:r>
              <a:rPr sz="3600" spc="-30" dirty="0">
                <a:latin typeface="Arial MT"/>
                <a:cs typeface="Arial MT"/>
              </a:rPr>
              <a:t> </a:t>
            </a:r>
            <a:r>
              <a:rPr sz="3600" dirty="0">
                <a:latin typeface="Arial MT"/>
                <a:cs typeface="Arial MT"/>
              </a:rPr>
              <a:t>form</a:t>
            </a:r>
            <a:r>
              <a:rPr sz="3600" spc="-15" dirty="0">
                <a:latin typeface="Arial MT"/>
                <a:cs typeface="Arial MT"/>
              </a:rPr>
              <a:t> </a:t>
            </a:r>
            <a:r>
              <a:rPr sz="3600" dirty="0">
                <a:latin typeface="Arial MT"/>
                <a:cs typeface="Arial MT"/>
              </a:rPr>
              <a:t>of</a:t>
            </a:r>
            <a:r>
              <a:rPr sz="3600" spc="-10" dirty="0">
                <a:latin typeface="Arial MT"/>
                <a:cs typeface="Arial MT"/>
              </a:rPr>
              <a:t> </a:t>
            </a:r>
            <a:r>
              <a:rPr sz="3600" spc="-5" dirty="0">
                <a:latin typeface="Arial MT"/>
                <a:cs typeface="Arial MT"/>
              </a:rPr>
              <a:t>RNNs</a:t>
            </a:r>
            <a:endParaRPr sz="3600" dirty="0">
              <a:latin typeface="Arial MT"/>
              <a:cs typeface="Arial MT"/>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854200" y="533146"/>
            <a:ext cx="5156200" cy="574040"/>
          </a:xfrm>
          <a:prstGeom prst="rect">
            <a:avLst/>
          </a:prstGeom>
        </p:spPr>
        <p:txBody>
          <a:bodyPr vert="horz" wrap="square" lIns="0" tIns="12700" rIns="0" bIns="0" rtlCol="0" anchor="ctr">
            <a:spAutoFit/>
          </a:bodyPr>
          <a:lstStyle/>
          <a:p>
            <a:pPr marL="12700">
              <a:lnSpc>
                <a:spcPct val="100000"/>
              </a:lnSpc>
              <a:spcBef>
                <a:spcPts val="100"/>
              </a:spcBef>
            </a:pPr>
            <a:r>
              <a:rPr sz="3600" dirty="0">
                <a:latin typeface="Arial MT"/>
                <a:cs typeface="Arial MT"/>
              </a:rPr>
              <a:t>What</a:t>
            </a:r>
            <a:r>
              <a:rPr sz="3600" spc="-15" dirty="0">
                <a:latin typeface="Arial MT"/>
                <a:cs typeface="Arial MT"/>
              </a:rPr>
              <a:t> </a:t>
            </a:r>
            <a:r>
              <a:rPr sz="3600" spc="-5" dirty="0">
                <a:latin typeface="Arial MT"/>
                <a:cs typeface="Arial MT"/>
              </a:rPr>
              <a:t>are</a:t>
            </a:r>
            <a:r>
              <a:rPr sz="3600" spc="-15" dirty="0">
                <a:latin typeface="Arial MT"/>
                <a:cs typeface="Arial MT"/>
              </a:rPr>
              <a:t> </a:t>
            </a:r>
            <a:r>
              <a:rPr sz="3600" dirty="0">
                <a:latin typeface="Arial MT"/>
                <a:cs typeface="Arial MT"/>
              </a:rPr>
              <a:t>RNNs</a:t>
            </a:r>
            <a:r>
              <a:rPr sz="3600" spc="-30" dirty="0">
                <a:latin typeface="Arial MT"/>
                <a:cs typeface="Arial MT"/>
              </a:rPr>
              <a:t> </a:t>
            </a:r>
            <a:r>
              <a:rPr sz="3600" spc="-5" dirty="0">
                <a:latin typeface="Arial MT"/>
                <a:cs typeface="Arial MT"/>
              </a:rPr>
              <a:t>good</a:t>
            </a:r>
            <a:r>
              <a:rPr sz="3600" spc="-15" dirty="0">
                <a:latin typeface="Arial MT"/>
                <a:cs typeface="Arial MT"/>
              </a:rPr>
              <a:t> </a:t>
            </a:r>
            <a:r>
              <a:rPr sz="3600" spc="-5" dirty="0">
                <a:latin typeface="Arial MT"/>
                <a:cs typeface="Arial MT"/>
              </a:rPr>
              <a:t>for:</a:t>
            </a:r>
            <a:endParaRPr sz="3600" dirty="0">
              <a:latin typeface="Arial MT"/>
              <a:cs typeface="Arial MT"/>
            </a:endParaRPr>
          </a:p>
        </p:txBody>
      </p:sp>
      <p:sp>
        <p:nvSpPr>
          <p:cNvPr id="3" name="object 3"/>
          <p:cNvSpPr txBox="1"/>
          <p:nvPr/>
        </p:nvSpPr>
        <p:spPr>
          <a:xfrm>
            <a:off x="1926438" y="1783462"/>
            <a:ext cx="8301355" cy="4266565"/>
          </a:xfrm>
          <a:prstGeom prst="rect">
            <a:avLst/>
          </a:prstGeom>
        </p:spPr>
        <p:txBody>
          <a:bodyPr vert="horz" wrap="square" lIns="0" tIns="12065" rIns="0" bIns="0" rtlCol="0">
            <a:spAutoFit/>
          </a:bodyPr>
          <a:lstStyle/>
          <a:p>
            <a:pPr marL="355600" marR="125730" indent="-342900">
              <a:spcBef>
                <a:spcPts val="95"/>
              </a:spcBef>
              <a:buFont typeface="Wingdings"/>
              <a:buChar char=""/>
              <a:tabLst>
                <a:tab pos="355600" algn="l"/>
              </a:tabLst>
            </a:pPr>
            <a:r>
              <a:rPr sz="2800" spc="-5" dirty="0">
                <a:latin typeface="Calibri"/>
                <a:cs typeface="Calibri"/>
              </a:rPr>
              <a:t>As</a:t>
            </a:r>
            <a:r>
              <a:rPr sz="2800" spc="15" dirty="0">
                <a:latin typeface="Calibri"/>
                <a:cs typeface="Calibri"/>
              </a:rPr>
              <a:t> </a:t>
            </a:r>
            <a:r>
              <a:rPr sz="2800" spc="-5" dirty="0">
                <a:latin typeface="Calibri"/>
                <a:cs typeface="Calibri"/>
              </a:rPr>
              <a:t>RNNs</a:t>
            </a:r>
            <a:r>
              <a:rPr sz="2800" spc="25" dirty="0">
                <a:latin typeface="Calibri"/>
                <a:cs typeface="Calibri"/>
              </a:rPr>
              <a:t> </a:t>
            </a:r>
            <a:r>
              <a:rPr sz="2800" spc="-10" dirty="0">
                <a:latin typeface="Calibri"/>
                <a:cs typeface="Calibri"/>
              </a:rPr>
              <a:t>have</a:t>
            </a:r>
            <a:r>
              <a:rPr sz="2800" spc="5" dirty="0">
                <a:latin typeface="Calibri"/>
                <a:cs typeface="Calibri"/>
              </a:rPr>
              <a:t> </a:t>
            </a:r>
            <a:r>
              <a:rPr sz="2800" spc="-5" dirty="0">
                <a:latin typeface="Calibri"/>
                <a:cs typeface="Calibri"/>
              </a:rPr>
              <a:t>internal</a:t>
            </a:r>
            <a:r>
              <a:rPr sz="2800" spc="15" dirty="0">
                <a:latin typeface="Calibri"/>
                <a:cs typeface="Calibri"/>
              </a:rPr>
              <a:t> </a:t>
            </a:r>
            <a:r>
              <a:rPr sz="2800" spc="-10" dirty="0">
                <a:latin typeface="Calibri"/>
                <a:cs typeface="Calibri"/>
              </a:rPr>
              <a:t>states,</a:t>
            </a:r>
            <a:r>
              <a:rPr sz="2800" spc="5" dirty="0">
                <a:latin typeface="Calibri"/>
                <a:cs typeface="Calibri"/>
              </a:rPr>
              <a:t> </a:t>
            </a:r>
            <a:r>
              <a:rPr sz="2800" spc="-5" dirty="0">
                <a:latin typeface="Calibri"/>
                <a:cs typeface="Calibri"/>
              </a:rPr>
              <a:t>RNNs</a:t>
            </a:r>
            <a:r>
              <a:rPr sz="2800" spc="60" dirty="0">
                <a:latin typeface="Calibri"/>
                <a:cs typeface="Calibri"/>
              </a:rPr>
              <a:t> </a:t>
            </a:r>
            <a:r>
              <a:rPr sz="2800" spc="-5" dirty="0">
                <a:latin typeface="Calibri"/>
                <a:cs typeface="Calibri"/>
              </a:rPr>
              <a:t>can</a:t>
            </a:r>
            <a:r>
              <a:rPr sz="2800" spc="10" dirty="0">
                <a:latin typeface="Calibri"/>
                <a:cs typeface="Calibri"/>
              </a:rPr>
              <a:t> </a:t>
            </a:r>
            <a:r>
              <a:rPr sz="2800" spc="-5" dirty="0">
                <a:latin typeface="Calibri"/>
                <a:cs typeface="Calibri"/>
              </a:rPr>
              <a:t>remember </a:t>
            </a:r>
            <a:r>
              <a:rPr sz="2800" dirty="0">
                <a:latin typeface="Calibri"/>
                <a:cs typeface="Calibri"/>
              </a:rPr>
              <a:t> </a:t>
            </a:r>
            <a:r>
              <a:rPr sz="2800" spc="-10" dirty="0">
                <a:latin typeface="Calibri"/>
                <a:cs typeface="Calibri"/>
              </a:rPr>
              <a:t>things</a:t>
            </a:r>
            <a:r>
              <a:rPr sz="2800" spc="15" dirty="0">
                <a:latin typeface="Calibri"/>
                <a:cs typeface="Calibri"/>
              </a:rPr>
              <a:t> </a:t>
            </a:r>
            <a:r>
              <a:rPr sz="2800" spc="-5" dirty="0">
                <a:latin typeface="Calibri"/>
                <a:cs typeface="Calibri"/>
              </a:rPr>
              <a:t>and</a:t>
            </a:r>
            <a:r>
              <a:rPr sz="2800" spc="20" dirty="0">
                <a:latin typeface="Calibri"/>
                <a:cs typeface="Calibri"/>
              </a:rPr>
              <a:t> </a:t>
            </a:r>
            <a:r>
              <a:rPr sz="2800" spc="-5" dirty="0">
                <a:latin typeface="Calibri"/>
                <a:cs typeface="Calibri"/>
              </a:rPr>
              <a:t>recall</a:t>
            </a:r>
            <a:r>
              <a:rPr sz="2800" spc="-20" dirty="0">
                <a:latin typeface="Calibri"/>
                <a:cs typeface="Calibri"/>
              </a:rPr>
              <a:t> </a:t>
            </a:r>
            <a:r>
              <a:rPr sz="2800" spc="-10" dirty="0">
                <a:latin typeface="Calibri"/>
                <a:cs typeface="Calibri"/>
              </a:rPr>
              <a:t>some</a:t>
            </a:r>
            <a:r>
              <a:rPr sz="2800" spc="5" dirty="0">
                <a:latin typeface="Calibri"/>
                <a:cs typeface="Calibri"/>
              </a:rPr>
              <a:t> </a:t>
            </a:r>
            <a:r>
              <a:rPr sz="2800" spc="-5" dirty="0">
                <a:latin typeface="Calibri"/>
                <a:cs typeface="Calibri"/>
              </a:rPr>
              <a:t>time</a:t>
            </a:r>
            <a:r>
              <a:rPr sz="2800" spc="35" dirty="0">
                <a:latin typeface="Calibri"/>
                <a:cs typeface="Calibri"/>
              </a:rPr>
              <a:t> </a:t>
            </a:r>
            <a:r>
              <a:rPr sz="2800" spc="-5" dirty="0">
                <a:latin typeface="Calibri"/>
                <a:cs typeface="Calibri"/>
              </a:rPr>
              <a:t>later</a:t>
            </a:r>
            <a:r>
              <a:rPr sz="2800" spc="-15" dirty="0">
                <a:latin typeface="Calibri"/>
                <a:cs typeface="Calibri"/>
              </a:rPr>
              <a:t> </a:t>
            </a:r>
            <a:r>
              <a:rPr sz="2800" spc="-5" dirty="0">
                <a:latin typeface="Calibri"/>
                <a:cs typeface="Calibri"/>
              </a:rPr>
              <a:t>(ignoring</a:t>
            </a:r>
            <a:r>
              <a:rPr sz="2800" spc="15" dirty="0">
                <a:latin typeface="Calibri"/>
                <a:cs typeface="Calibri"/>
              </a:rPr>
              <a:t> </a:t>
            </a:r>
            <a:r>
              <a:rPr sz="2800" spc="-5" dirty="0">
                <a:latin typeface="Calibri"/>
                <a:cs typeface="Calibri"/>
              </a:rPr>
              <a:t>the</a:t>
            </a:r>
            <a:r>
              <a:rPr sz="2800" spc="5" dirty="0">
                <a:latin typeface="Calibri"/>
                <a:cs typeface="Calibri"/>
              </a:rPr>
              <a:t> </a:t>
            </a:r>
            <a:r>
              <a:rPr sz="2800" spc="-5" dirty="0">
                <a:latin typeface="Calibri"/>
                <a:cs typeface="Calibri"/>
              </a:rPr>
              <a:t>current </a:t>
            </a:r>
            <a:r>
              <a:rPr sz="2800" spc="-615" dirty="0">
                <a:latin typeface="Calibri"/>
                <a:cs typeface="Calibri"/>
              </a:rPr>
              <a:t> </a:t>
            </a:r>
            <a:r>
              <a:rPr sz="2800" spc="-10" dirty="0">
                <a:latin typeface="Calibri"/>
                <a:cs typeface="Calibri"/>
              </a:rPr>
              <a:t>inputs).</a:t>
            </a:r>
            <a:endParaRPr sz="2800">
              <a:latin typeface="Calibri"/>
              <a:cs typeface="Calibri"/>
            </a:endParaRPr>
          </a:p>
          <a:p>
            <a:pPr>
              <a:spcBef>
                <a:spcPts val="5"/>
              </a:spcBef>
              <a:buChar char=""/>
            </a:pPr>
            <a:endParaRPr sz="3850">
              <a:latin typeface="Calibri"/>
              <a:cs typeface="Calibri"/>
            </a:endParaRPr>
          </a:p>
          <a:p>
            <a:pPr marL="355600" indent="-342900">
              <a:buFont typeface="Wingdings"/>
              <a:buChar char=""/>
              <a:tabLst>
                <a:tab pos="355600" algn="l"/>
              </a:tabLst>
            </a:pPr>
            <a:r>
              <a:rPr sz="2800" spc="-5" dirty="0">
                <a:latin typeface="Calibri"/>
                <a:cs typeface="Calibri"/>
              </a:rPr>
              <a:t>RNNs</a:t>
            </a:r>
            <a:r>
              <a:rPr sz="2800" spc="35" dirty="0">
                <a:latin typeface="Calibri"/>
                <a:cs typeface="Calibri"/>
              </a:rPr>
              <a:t> </a:t>
            </a:r>
            <a:r>
              <a:rPr sz="2800" spc="-5" dirty="0">
                <a:latin typeface="Calibri"/>
                <a:cs typeface="Calibri"/>
              </a:rPr>
              <a:t>can learn</a:t>
            </a:r>
            <a:r>
              <a:rPr sz="2800" spc="5" dirty="0">
                <a:latin typeface="Calibri"/>
                <a:cs typeface="Calibri"/>
              </a:rPr>
              <a:t> </a:t>
            </a:r>
            <a:r>
              <a:rPr sz="2800" spc="-10" dirty="0">
                <a:latin typeface="Calibri"/>
                <a:cs typeface="Calibri"/>
              </a:rPr>
              <a:t>sequential</a:t>
            </a:r>
            <a:r>
              <a:rPr sz="2800" spc="35" dirty="0">
                <a:latin typeface="Calibri"/>
                <a:cs typeface="Calibri"/>
              </a:rPr>
              <a:t> </a:t>
            </a:r>
            <a:r>
              <a:rPr sz="2800" spc="-5" dirty="0">
                <a:latin typeface="Calibri"/>
                <a:cs typeface="Calibri"/>
              </a:rPr>
              <a:t>(e.g.,</a:t>
            </a:r>
            <a:r>
              <a:rPr sz="2800" dirty="0">
                <a:latin typeface="Calibri"/>
                <a:cs typeface="Calibri"/>
              </a:rPr>
              <a:t> </a:t>
            </a:r>
            <a:r>
              <a:rPr sz="2800" spc="-5" dirty="0">
                <a:latin typeface="Calibri"/>
                <a:cs typeface="Calibri"/>
              </a:rPr>
              <a:t>time</a:t>
            </a:r>
            <a:r>
              <a:rPr sz="2800" dirty="0">
                <a:latin typeface="Calibri"/>
                <a:cs typeface="Calibri"/>
              </a:rPr>
              <a:t> </a:t>
            </a:r>
            <a:r>
              <a:rPr sz="2800" spc="-10" dirty="0">
                <a:latin typeface="Calibri"/>
                <a:cs typeface="Calibri"/>
              </a:rPr>
              <a:t>series)</a:t>
            </a:r>
            <a:r>
              <a:rPr sz="2800" spc="20" dirty="0">
                <a:latin typeface="Calibri"/>
                <a:cs typeface="Calibri"/>
              </a:rPr>
              <a:t> </a:t>
            </a:r>
            <a:r>
              <a:rPr sz="2800" dirty="0">
                <a:latin typeface="Calibri"/>
                <a:cs typeface="Calibri"/>
              </a:rPr>
              <a:t>data.</a:t>
            </a:r>
            <a:endParaRPr sz="2800">
              <a:latin typeface="Calibri"/>
              <a:cs typeface="Calibri"/>
            </a:endParaRPr>
          </a:p>
          <a:p>
            <a:pPr>
              <a:spcBef>
                <a:spcPts val="15"/>
              </a:spcBef>
              <a:buChar char=""/>
            </a:pPr>
            <a:endParaRPr sz="3850">
              <a:latin typeface="Calibri"/>
              <a:cs typeface="Calibri"/>
            </a:endParaRPr>
          </a:p>
          <a:p>
            <a:pPr marL="355600" marR="5080" indent="-342900">
              <a:lnSpc>
                <a:spcPct val="99800"/>
              </a:lnSpc>
              <a:buFont typeface="Wingdings"/>
              <a:buChar char=""/>
              <a:tabLst>
                <a:tab pos="355600" algn="l"/>
                <a:tab pos="3057525" algn="l"/>
              </a:tabLst>
            </a:pPr>
            <a:r>
              <a:rPr sz="2800" spc="-5" dirty="0">
                <a:solidFill>
                  <a:srgbClr val="006FC0"/>
                </a:solidFill>
                <a:latin typeface="Calibri"/>
                <a:cs typeface="Calibri"/>
              </a:rPr>
              <a:t>But,</a:t>
            </a:r>
            <a:r>
              <a:rPr sz="2800" spc="20" dirty="0">
                <a:solidFill>
                  <a:srgbClr val="006FC0"/>
                </a:solidFill>
                <a:latin typeface="Calibri"/>
                <a:cs typeface="Calibri"/>
              </a:rPr>
              <a:t> </a:t>
            </a:r>
            <a:r>
              <a:rPr sz="2800" spc="-5" dirty="0">
                <a:solidFill>
                  <a:srgbClr val="006FC0"/>
                </a:solidFill>
                <a:latin typeface="Calibri"/>
                <a:cs typeface="Calibri"/>
              </a:rPr>
              <a:t>it</a:t>
            </a:r>
            <a:r>
              <a:rPr sz="2800" spc="5" dirty="0">
                <a:solidFill>
                  <a:srgbClr val="006FC0"/>
                </a:solidFill>
                <a:latin typeface="Calibri"/>
                <a:cs typeface="Calibri"/>
              </a:rPr>
              <a:t> </a:t>
            </a:r>
            <a:r>
              <a:rPr sz="2800" spc="-10" dirty="0">
                <a:solidFill>
                  <a:srgbClr val="006FC0"/>
                </a:solidFill>
                <a:latin typeface="Calibri"/>
                <a:cs typeface="Calibri"/>
              </a:rPr>
              <a:t>is</a:t>
            </a:r>
            <a:r>
              <a:rPr sz="2800" spc="10" dirty="0">
                <a:solidFill>
                  <a:srgbClr val="006FC0"/>
                </a:solidFill>
                <a:latin typeface="Calibri"/>
                <a:cs typeface="Calibri"/>
              </a:rPr>
              <a:t> </a:t>
            </a:r>
            <a:r>
              <a:rPr sz="2800" spc="-10" dirty="0">
                <a:solidFill>
                  <a:srgbClr val="006FC0"/>
                </a:solidFill>
                <a:latin typeface="Calibri"/>
                <a:cs typeface="Calibri"/>
              </a:rPr>
              <a:t>hard</a:t>
            </a:r>
            <a:r>
              <a:rPr sz="2800" spc="20" dirty="0">
                <a:solidFill>
                  <a:srgbClr val="006FC0"/>
                </a:solidFill>
                <a:latin typeface="Calibri"/>
                <a:cs typeface="Calibri"/>
              </a:rPr>
              <a:t> </a:t>
            </a:r>
            <a:r>
              <a:rPr sz="2800" spc="-5" dirty="0">
                <a:solidFill>
                  <a:srgbClr val="006FC0"/>
                </a:solidFill>
                <a:latin typeface="Calibri"/>
                <a:cs typeface="Calibri"/>
              </a:rPr>
              <a:t>to</a:t>
            </a:r>
            <a:r>
              <a:rPr sz="2800" dirty="0">
                <a:solidFill>
                  <a:srgbClr val="006FC0"/>
                </a:solidFill>
                <a:latin typeface="Calibri"/>
                <a:cs typeface="Calibri"/>
              </a:rPr>
              <a:t> </a:t>
            </a:r>
            <a:r>
              <a:rPr sz="2800" spc="-5" dirty="0">
                <a:solidFill>
                  <a:srgbClr val="006FC0"/>
                </a:solidFill>
                <a:latin typeface="Calibri"/>
                <a:cs typeface="Calibri"/>
              </a:rPr>
              <a:t>train</a:t>
            </a:r>
            <a:r>
              <a:rPr sz="2800" spc="10" dirty="0">
                <a:solidFill>
                  <a:srgbClr val="006FC0"/>
                </a:solidFill>
                <a:latin typeface="Calibri"/>
                <a:cs typeface="Calibri"/>
              </a:rPr>
              <a:t> </a:t>
            </a:r>
            <a:r>
              <a:rPr sz="2800" spc="-5" dirty="0">
                <a:solidFill>
                  <a:srgbClr val="006FC0"/>
                </a:solidFill>
                <a:latin typeface="Calibri"/>
                <a:cs typeface="Calibri"/>
              </a:rPr>
              <a:t>a</a:t>
            </a:r>
            <a:r>
              <a:rPr sz="2800" dirty="0">
                <a:solidFill>
                  <a:srgbClr val="006FC0"/>
                </a:solidFill>
                <a:latin typeface="Calibri"/>
                <a:cs typeface="Calibri"/>
              </a:rPr>
              <a:t> </a:t>
            </a:r>
            <a:r>
              <a:rPr sz="2800" spc="-5" dirty="0">
                <a:solidFill>
                  <a:srgbClr val="006FC0"/>
                </a:solidFill>
                <a:latin typeface="Calibri"/>
                <a:cs typeface="Calibri"/>
              </a:rPr>
              <a:t>recurrent</a:t>
            </a:r>
            <a:r>
              <a:rPr sz="2800" spc="20" dirty="0">
                <a:solidFill>
                  <a:srgbClr val="006FC0"/>
                </a:solidFill>
                <a:latin typeface="Calibri"/>
                <a:cs typeface="Calibri"/>
              </a:rPr>
              <a:t> </a:t>
            </a:r>
            <a:r>
              <a:rPr sz="2800" spc="-10" dirty="0">
                <a:solidFill>
                  <a:srgbClr val="006FC0"/>
                </a:solidFill>
                <a:latin typeface="Calibri"/>
                <a:cs typeface="Calibri"/>
              </a:rPr>
              <a:t>network.</a:t>
            </a:r>
            <a:r>
              <a:rPr sz="2800" spc="25" dirty="0">
                <a:solidFill>
                  <a:srgbClr val="006FC0"/>
                </a:solidFill>
                <a:latin typeface="Calibri"/>
                <a:cs typeface="Calibri"/>
              </a:rPr>
              <a:t> </a:t>
            </a:r>
            <a:r>
              <a:rPr sz="2800" spc="-10" dirty="0">
                <a:solidFill>
                  <a:srgbClr val="006FC0"/>
                </a:solidFill>
                <a:latin typeface="Calibri"/>
                <a:cs typeface="Calibri"/>
              </a:rPr>
              <a:t>This</a:t>
            </a:r>
            <a:r>
              <a:rPr sz="2800" spc="55" dirty="0">
                <a:solidFill>
                  <a:srgbClr val="006FC0"/>
                </a:solidFill>
                <a:latin typeface="Calibri"/>
                <a:cs typeface="Calibri"/>
              </a:rPr>
              <a:t> </a:t>
            </a:r>
            <a:r>
              <a:rPr sz="2800" spc="-5" dirty="0">
                <a:solidFill>
                  <a:srgbClr val="006FC0"/>
                </a:solidFill>
                <a:latin typeface="Calibri"/>
                <a:cs typeface="Calibri"/>
              </a:rPr>
              <a:t>is</a:t>
            </a:r>
            <a:r>
              <a:rPr sz="2800" dirty="0">
                <a:solidFill>
                  <a:srgbClr val="006FC0"/>
                </a:solidFill>
                <a:latin typeface="Calibri"/>
                <a:cs typeface="Calibri"/>
              </a:rPr>
              <a:t> </a:t>
            </a:r>
            <a:r>
              <a:rPr sz="2800" spc="-10" dirty="0">
                <a:solidFill>
                  <a:srgbClr val="006FC0"/>
                </a:solidFill>
                <a:latin typeface="Calibri"/>
                <a:cs typeface="Calibri"/>
              </a:rPr>
              <a:t>done </a:t>
            </a:r>
            <a:r>
              <a:rPr sz="2800" spc="-615" dirty="0">
                <a:solidFill>
                  <a:srgbClr val="006FC0"/>
                </a:solidFill>
                <a:latin typeface="Calibri"/>
                <a:cs typeface="Calibri"/>
              </a:rPr>
              <a:t> </a:t>
            </a:r>
            <a:r>
              <a:rPr sz="2800" spc="-5" dirty="0">
                <a:solidFill>
                  <a:srgbClr val="006FC0"/>
                </a:solidFill>
                <a:latin typeface="Calibri"/>
                <a:cs typeface="Calibri"/>
              </a:rPr>
              <a:t>with</a:t>
            </a:r>
            <a:r>
              <a:rPr sz="2800" spc="10" dirty="0">
                <a:solidFill>
                  <a:srgbClr val="006FC0"/>
                </a:solidFill>
                <a:latin typeface="Calibri"/>
                <a:cs typeface="Calibri"/>
              </a:rPr>
              <a:t> </a:t>
            </a:r>
            <a:r>
              <a:rPr sz="2800" spc="-5" dirty="0">
                <a:solidFill>
                  <a:srgbClr val="006FC0"/>
                </a:solidFill>
                <a:latin typeface="Calibri"/>
                <a:cs typeface="Calibri"/>
              </a:rPr>
              <a:t>the</a:t>
            </a:r>
            <a:r>
              <a:rPr sz="2800" spc="15" dirty="0">
                <a:solidFill>
                  <a:srgbClr val="006FC0"/>
                </a:solidFill>
                <a:latin typeface="Calibri"/>
                <a:cs typeface="Calibri"/>
              </a:rPr>
              <a:t> </a:t>
            </a:r>
            <a:r>
              <a:rPr sz="2800" spc="-5" dirty="0">
                <a:solidFill>
                  <a:srgbClr val="006FC0"/>
                </a:solidFill>
                <a:latin typeface="Calibri"/>
                <a:cs typeface="Calibri"/>
              </a:rPr>
              <a:t>so</a:t>
            </a:r>
            <a:r>
              <a:rPr sz="2800" dirty="0">
                <a:solidFill>
                  <a:srgbClr val="006FC0"/>
                </a:solidFill>
                <a:latin typeface="Calibri"/>
                <a:cs typeface="Calibri"/>
              </a:rPr>
              <a:t> </a:t>
            </a:r>
            <a:r>
              <a:rPr sz="2800" spc="-5" dirty="0">
                <a:solidFill>
                  <a:srgbClr val="006FC0"/>
                </a:solidFill>
                <a:latin typeface="Calibri"/>
                <a:cs typeface="Calibri"/>
              </a:rPr>
              <a:t>called	“BackPropagation”</a:t>
            </a:r>
            <a:r>
              <a:rPr sz="2800" spc="15" dirty="0">
                <a:solidFill>
                  <a:srgbClr val="006FC0"/>
                </a:solidFill>
                <a:latin typeface="Calibri"/>
                <a:cs typeface="Calibri"/>
              </a:rPr>
              <a:t> </a:t>
            </a:r>
            <a:r>
              <a:rPr sz="2800" spc="-5" dirty="0">
                <a:solidFill>
                  <a:srgbClr val="006FC0"/>
                </a:solidFill>
                <a:latin typeface="Calibri"/>
                <a:cs typeface="Calibri"/>
              </a:rPr>
              <a:t>through</a:t>
            </a:r>
            <a:r>
              <a:rPr sz="2800" spc="20" dirty="0">
                <a:solidFill>
                  <a:srgbClr val="006FC0"/>
                </a:solidFill>
                <a:latin typeface="Calibri"/>
                <a:cs typeface="Calibri"/>
              </a:rPr>
              <a:t> </a:t>
            </a:r>
            <a:r>
              <a:rPr sz="2800" spc="-5" dirty="0">
                <a:solidFill>
                  <a:srgbClr val="006FC0"/>
                </a:solidFill>
                <a:latin typeface="Calibri"/>
                <a:cs typeface="Calibri"/>
              </a:rPr>
              <a:t>time </a:t>
            </a:r>
            <a:r>
              <a:rPr sz="2800" dirty="0">
                <a:solidFill>
                  <a:srgbClr val="006FC0"/>
                </a:solidFill>
                <a:latin typeface="Calibri"/>
                <a:cs typeface="Calibri"/>
              </a:rPr>
              <a:t> </a:t>
            </a:r>
            <a:r>
              <a:rPr sz="2800" spc="-5" dirty="0">
                <a:solidFill>
                  <a:srgbClr val="006FC0"/>
                </a:solidFill>
                <a:latin typeface="Calibri"/>
                <a:cs typeface="Calibri"/>
              </a:rPr>
              <a:t>algorithm</a:t>
            </a:r>
            <a:r>
              <a:rPr sz="3200" spc="-5" dirty="0">
                <a:solidFill>
                  <a:srgbClr val="006FC0"/>
                </a:solidFill>
                <a:latin typeface="Calibri"/>
                <a:cs typeface="Calibri"/>
              </a:rPr>
              <a:t>.</a:t>
            </a:r>
            <a:endParaRPr sz="3200">
              <a:latin typeface="Calibri"/>
              <a:cs typeface="Calibri"/>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descr="Diagram&#10;&#10;Description automatically generated">
            <a:extLst>
              <a:ext uri="{FF2B5EF4-FFF2-40B4-BE49-F238E27FC236}">
                <a16:creationId xmlns:a16="http://schemas.microsoft.com/office/drawing/2014/main" id="{C2B7C2EC-2526-4ECB-9C76-6F8D415B356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64231" y="902275"/>
            <a:ext cx="7263538" cy="5053450"/>
          </a:xfrm>
          <a:prstGeom prst="rect">
            <a:avLst/>
          </a:prstGeom>
        </p:spPr>
      </p:pic>
      <p:sp>
        <p:nvSpPr>
          <p:cNvPr id="2" name="object 2">
            <a:extLst>
              <a:ext uri="{FF2B5EF4-FFF2-40B4-BE49-F238E27FC236}">
                <a16:creationId xmlns:a16="http://schemas.microsoft.com/office/drawing/2014/main" id="{8DFAD38F-35EF-6F79-F7C5-58C5B7FCC01F}"/>
              </a:ext>
            </a:extLst>
          </p:cNvPr>
          <p:cNvSpPr txBox="1">
            <a:spLocks noGrp="1"/>
          </p:cNvSpPr>
          <p:nvPr>
            <p:ph type="title"/>
          </p:nvPr>
        </p:nvSpPr>
        <p:spPr>
          <a:xfrm>
            <a:off x="412857" y="138302"/>
            <a:ext cx="6964335" cy="566822"/>
          </a:xfrm>
          <a:prstGeom prst="rect">
            <a:avLst/>
          </a:prstGeom>
        </p:spPr>
        <p:txBody>
          <a:bodyPr vert="horz" wrap="square" lIns="0" tIns="12700" rIns="0" bIns="0" rtlCol="0" anchor="ctr">
            <a:spAutoFit/>
          </a:bodyPr>
          <a:lstStyle/>
          <a:p>
            <a:pPr marL="12700">
              <a:lnSpc>
                <a:spcPct val="100000"/>
              </a:lnSpc>
              <a:spcBef>
                <a:spcPts val="100"/>
              </a:spcBef>
            </a:pPr>
            <a:r>
              <a:rPr lang="en-GB" sz="3600" dirty="0">
                <a:latin typeface="Arial MT"/>
                <a:cs typeface="Arial MT"/>
              </a:rPr>
              <a:t>RNN Architecture</a:t>
            </a:r>
            <a:endParaRPr sz="3600" dirty="0">
              <a:latin typeface="Arial MT"/>
              <a:cs typeface="Arial MT"/>
            </a:endParaRPr>
          </a:p>
        </p:txBody>
      </p:sp>
    </p:spTree>
    <p:extLst>
      <p:ext uri="{BB962C8B-B14F-4D97-AF65-F5344CB8AC3E}">
        <p14:creationId xmlns:p14="http://schemas.microsoft.com/office/powerpoint/2010/main" val="227661563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286406" y="5613603"/>
            <a:ext cx="8056880" cy="1000760"/>
          </a:xfrm>
          <a:prstGeom prst="rect">
            <a:avLst/>
          </a:prstGeom>
        </p:spPr>
        <p:txBody>
          <a:bodyPr vert="horz" wrap="square" lIns="0" tIns="12065" rIns="0" bIns="0" rtlCol="0">
            <a:spAutoFit/>
          </a:bodyPr>
          <a:lstStyle/>
          <a:p>
            <a:pPr marL="12700" marR="5080">
              <a:spcBef>
                <a:spcPts val="95"/>
              </a:spcBef>
            </a:pPr>
            <a:r>
              <a:rPr sz="1600" b="1" spc="-10" dirty="0">
                <a:solidFill>
                  <a:srgbClr val="121312"/>
                </a:solidFill>
                <a:latin typeface="Times New Roman"/>
                <a:cs typeface="Times New Roman"/>
              </a:rPr>
              <a:t>An</a:t>
            </a:r>
            <a:r>
              <a:rPr sz="1600" b="1" dirty="0">
                <a:solidFill>
                  <a:srgbClr val="121312"/>
                </a:solidFill>
                <a:latin typeface="Times New Roman"/>
                <a:cs typeface="Times New Roman"/>
              </a:rPr>
              <a:t> </a:t>
            </a:r>
            <a:r>
              <a:rPr sz="1600" b="1" spc="-5" dirty="0">
                <a:solidFill>
                  <a:srgbClr val="121312"/>
                </a:solidFill>
                <a:latin typeface="Times New Roman"/>
                <a:cs typeface="Times New Roman"/>
              </a:rPr>
              <a:t>unfolded</a:t>
            </a:r>
            <a:r>
              <a:rPr sz="1600" b="1" spc="25" dirty="0">
                <a:solidFill>
                  <a:srgbClr val="121312"/>
                </a:solidFill>
                <a:latin typeface="Times New Roman"/>
                <a:cs typeface="Times New Roman"/>
              </a:rPr>
              <a:t> </a:t>
            </a:r>
            <a:r>
              <a:rPr sz="1600" b="1" spc="-10" dirty="0">
                <a:solidFill>
                  <a:srgbClr val="121312"/>
                </a:solidFill>
                <a:latin typeface="Times New Roman"/>
                <a:cs typeface="Times New Roman"/>
              </a:rPr>
              <a:t>recurrent</a:t>
            </a:r>
            <a:r>
              <a:rPr sz="1600" b="1" spc="25" dirty="0">
                <a:solidFill>
                  <a:srgbClr val="121312"/>
                </a:solidFill>
                <a:latin typeface="Times New Roman"/>
                <a:cs typeface="Times New Roman"/>
              </a:rPr>
              <a:t> </a:t>
            </a:r>
            <a:r>
              <a:rPr sz="1600" b="1" spc="-5" dirty="0">
                <a:solidFill>
                  <a:srgbClr val="121312"/>
                </a:solidFill>
                <a:latin typeface="Times New Roman"/>
                <a:cs typeface="Times New Roman"/>
              </a:rPr>
              <a:t>network.</a:t>
            </a:r>
            <a:r>
              <a:rPr sz="1600" b="1" spc="15" dirty="0">
                <a:solidFill>
                  <a:srgbClr val="121312"/>
                </a:solidFill>
                <a:latin typeface="Times New Roman"/>
                <a:cs typeface="Times New Roman"/>
              </a:rPr>
              <a:t> </a:t>
            </a:r>
            <a:r>
              <a:rPr sz="1600" spc="-5" dirty="0">
                <a:solidFill>
                  <a:srgbClr val="121312"/>
                </a:solidFill>
                <a:latin typeface="Times New Roman"/>
                <a:cs typeface="Times New Roman"/>
              </a:rPr>
              <a:t>Each</a:t>
            </a:r>
            <a:r>
              <a:rPr sz="1600" spc="10" dirty="0">
                <a:solidFill>
                  <a:srgbClr val="121312"/>
                </a:solidFill>
                <a:latin typeface="Times New Roman"/>
                <a:cs typeface="Times New Roman"/>
              </a:rPr>
              <a:t> </a:t>
            </a:r>
            <a:r>
              <a:rPr sz="1600" spc="-5" dirty="0">
                <a:solidFill>
                  <a:srgbClr val="121312"/>
                </a:solidFill>
                <a:latin typeface="Times New Roman"/>
                <a:cs typeface="Times New Roman"/>
              </a:rPr>
              <a:t>node</a:t>
            </a:r>
            <a:r>
              <a:rPr sz="1600" spc="-10" dirty="0">
                <a:solidFill>
                  <a:srgbClr val="121312"/>
                </a:solidFill>
                <a:latin typeface="Times New Roman"/>
                <a:cs typeface="Times New Roman"/>
              </a:rPr>
              <a:t> </a:t>
            </a:r>
            <a:r>
              <a:rPr sz="1600" spc="-5" dirty="0">
                <a:solidFill>
                  <a:srgbClr val="121312"/>
                </a:solidFill>
                <a:latin typeface="Times New Roman"/>
                <a:cs typeface="Times New Roman"/>
              </a:rPr>
              <a:t>represents</a:t>
            </a:r>
            <a:r>
              <a:rPr sz="1600" spc="35" dirty="0">
                <a:solidFill>
                  <a:srgbClr val="121312"/>
                </a:solidFill>
                <a:latin typeface="Times New Roman"/>
                <a:cs typeface="Times New Roman"/>
              </a:rPr>
              <a:t> </a:t>
            </a:r>
            <a:r>
              <a:rPr sz="1600" spc="-5" dirty="0">
                <a:solidFill>
                  <a:srgbClr val="121312"/>
                </a:solidFill>
                <a:latin typeface="Times New Roman"/>
                <a:cs typeface="Times New Roman"/>
              </a:rPr>
              <a:t>a</a:t>
            </a:r>
            <a:r>
              <a:rPr sz="1600" spc="15" dirty="0">
                <a:solidFill>
                  <a:srgbClr val="121312"/>
                </a:solidFill>
                <a:latin typeface="Times New Roman"/>
                <a:cs typeface="Times New Roman"/>
              </a:rPr>
              <a:t> </a:t>
            </a:r>
            <a:r>
              <a:rPr sz="1600" spc="-5" dirty="0">
                <a:solidFill>
                  <a:srgbClr val="121312"/>
                </a:solidFill>
                <a:latin typeface="Times New Roman"/>
                <a:cs typeface="Times New Roman"/>
              </a:rPr>
              <a:t>layer</a:t>
            </a:r>
            <a:r>
              <a:rPr sz="1600" spc="30" dirty="0">
                <a:solidFill>
                  <a:srgbClr val="121312"/>
                </a:solidFill>
                <a:latin typeface="Times New Roman"/>
                <a:cs typeface="Times New Roman"/>
              </a:rPr>
              <a:t> </a:t>
            </a:r>
            <a:r>
              <a:rPr sz="1600" spc="-5" dirty="0">
                <a:solidFill>
                  <a:srgbClr val="121312"/>
                </a:solidFill>
                <a:latin typeface="Times New Roman"/>
                <a:cs typeface="Times New Roman"/>
              </a:rPr>
              <a:t>of</a:t>
            </a:r>
            <a:r>
              <a:rPr sz="1600" spc="10" dirty="0">
                <a:solidFill>
                  <a:srgbClr val="121312"/>
                </a:solidFill>
                <a:latin typeface="Times New Roman"/>
                <a:cs typeface="Times New Roman"/>
              </a:rPr>
              <a:t> </a:t>
            </a:r>
            <a:r>
              <a:rPr sz="1600" spc="-5" dirty="0">
                <a:solidFill>
                  <a:srgbClr val="121312"/>
                </a:solidFill>
                <a:latin typeface="Times New Roman"/>
                <a:cs typeface="Times New Roman"/>
              </a:rPr>
              <a:t>network</a:t>
            </a:r>
            <a:r>
              <a:rPr sz="1600" spc="15" dirty="0">
                <a:solidFill>
                  <a:srgbClr val="121312"/>
                </a:solidFill>
                <a:latin typeface="Times New Roman"/>
                <a:cs typeface="Times New Roman"/>
              </a:rPr>
              <a:t> </a:t>
            </a:r>
            <a:r>
              <a:rPr sz="1600" spc="-5" dirty="0">
                <a:solidFill>
                  <a:srgbClr val="121312"/>
                </a:solidFill>
                <a:latin typeface="Times New Roman"/>
                <a:cs typeface="Times New Roman"/>
              </a:rPr>
              <a:t>units</a:t>
            </a:r>
            <a:r>
              <a:rPr sz="1600" spc="15" dirty="0">
                <a:solidFill>
                  <a:srgbClr val="121312"/>
                </a:solidFill>
                <a:latin typeface="Times New Roman"/>
                <a:cs typeface="Times New Roman"/>
              </a:rPr>
              <a:t> </a:t>
            </a:r>
            <a:r>
              <a:rPr sz="1600" spc="-5" dirty="0">
                <a:solidFill>
                  <a:srgbClr val="121312"/>
                </a:solidFill>
                <a:latin typeface="Times New Roman"/>
                <a:cs typeface="Times New Roman"/>
              </a:rPr>
              <a:t>at</a:t>
            </a:r>
            <a:r>
              <a:rPr sz="1600" spc="10" dirty="0">
                <a:solidFill>
                  <a:srgbClr val="121312"/>
                </a:solidFill>
                <a:latin typeface="Times New Roman"/>
                <a:cs typeface="Times New Roman"/>
              </a:rPr>
              <a:t> </a:t>
            </a:r>
            <a:r>
              <a:rPr sz="1600" spc="-5" dirty="0">
                <a:solidFill>
                  <a:srgbClr val="121312"/>
                </a:solidFill>
                <a:latin typeface="Times New Roman"/>
                <a:cs typeface="Times New Roman"/>
              </a:rPr>
              <a:t>a</a:t>
            </a:r>
            <a:r>
              <a:rPr sz="1600" spc="15" dirty="0">
                <a:solidFill>
                  <a:srgbClr val="121312"/>
                </a:solidFill>
                <a:latin typeface="Times New Roman"/>
                <a:cs typeface="Times New Roman"/>
              </a:rPr>
              <a:t> </a:t>
            </a:r>
            <a:r>
              <a:rPr sz="1600" spc="-5" dirty="0">
                <a:solidFill>
                  <a:srgbClr val="121312"/>
                </a:solidFill>
                <a:latin typeface="Times New Roman"/>
                <a:cs typeface="Times New Roman"/>
              </a:rPr>
              <a:t>single</a:t>
            </a:r>
            <a:r>
              <a:rPr sz="1600" spc="45" dirty="0">
                <a:solidFill>
                  <a:srgbClr val="121312"/>
                </a:solidFill>
                <a:latin typeface="Times New Roman"/>
                <a:cs typeface="Times New Roman"/>
              </a:rPr>
              <a:t> </a:t>
            </a:r>
            <a:r>
              <a:rPr sz="1600" spc="-10" dirty="0">
                <a:solidFill>
                  <a:srgbClr val="121312"/>
                </a:solidFill>
                <a:latin typeface="Times New Roman"/>
                <a:cs typeface="Times New Roman"/>
              </a:rPr>
              <a:t>time </a:t>
            </a:r>
            <a:r>
              <a:rPr sz="1600" spc="-5" dirty="0">
                <a:solidFill>
                  <a:srgbClr val="121312"/>
                </a:solidFill>
                <a:latin typeface="Times New Roman"/>
                <a:cs typeface="Times New Roman"/>
              </a:rPr>
              <a:t> step.</a:t>
            </a:r>
            <a:r>
              <a:rPr sz="1600" spc="-15" dirty="0">
                <a:solidFill>
                  <a:srgbClr val="121312"/>
                </a:solidFill>
                <a:latin typeface="Times New Roman"/>
                <a:cs typeface="Times New Roman"/>
              </a:rPr>
              <a:t> </a:t>
            </a:r>
            <a:r>
              <a:rPr sz="1600" spc="-5" dirty="0">
                <a:solidFill>
                  <a:srgbClr val="121312"/>
                </a:solidFill>
                <a:latin typeface="Times New Roman"/>
                <a:cs typeface="Times New Roman"/>
              </a:rPr>
              <a:t>The</a:t>
            </a:r>
            <a:r>
              <a:rPr sz="1600" spc="5" dirty="0">
                <a:solidFill>
                  <a:srgbClr val="121312"/>
                </a:solidFill>
                <a:latin typeface="Times New Roman"/>
                <a:cs typeface="Times New Roman"/>
              </a:rPr>
              <a:t> </a:t>
            </a:r>
            <a:r>
              <a:rPr sz="1600" spc="-5" dirty="0">
                <a:solidFill>
                  <a:srgbClr val="121312"/>
                </a:solidFill>
                <a:latin typeface="Times New Roman"/>
                <a:cs typeface="Times New Roman"/>
              </a:rPr>
              <a:t>weighted</a:t>
            </a:r>
            <a:r>
              <a:rPr sz="1600" spc="20" dirty="0">
                <a:solidFill>
                  <a:srgbClr val="121312"/>
                </a:solidFill>
                <a:latin typeface="Times New Roman"/>
                <a:cs typeface="Times New Roman"/>
              </a:rPr>
              <a:t> </a:t>
            </a:r>
            <a:r>
              <a:rPr sz="1600" spc="-5" dirty="0">
                <a:solidFill>
                  <a:srgbClr val="121312"/>
                </a:solidFill>
                <a:latin typeface="Times New Roman"/>
                <a:cs typeface="Times New Roman"/>
              </a:rPr>
              <a:t>connections</a:t>
            </a:r>
            <a:r>
              <a:rPr sz="1600" spc="15" dirty="0">
                <a:solidFill>
                  <a:srgbClr val="121312"/>
                </a:solidFill>
                <a:latin typeface="Times New Roman"/>
                <a:cs typeface="Times New Roman"/>
              </a:rPr>
              <a:t> </a:t>
            </a:r>
            <a:r>
              <a:rPr sz="1600" spc="-5" dirty="0">
                <a:solidFill>
                  <a:srgbClr val="121312"/>
                </a:solidFill>
                <a:latin typeface="Times New Roman"/>
                <a:cs typeface="Times New Roman"/>
              </a:rPr>
              <a:t>from</a:t>
            </a:r>
            <a:r>
              <a:rPr sz="1600" spc="25" dirty="0">
                <a:solidFill>
                  <a:srgbClr val="121312"/>
                </a:solidFill>
                <a:latin typeface="Times New Roman"/>
                <a:cs typeface="Times New Roman"/>
              </a:rPr>
              <a:t> </a:t>
            </a:r>
            <a:r>
              <a:rPr sz="1600" spc="-5" dirty="0">
                <a:solidFill>
                  <a:srgbClr val="121312"/>
                </a:solidFill>
                <a:latin typeface="Times New Roman"/>
                <a:cs typeface="Times New Roman"/>
              </a:rPr>
              <a:t>the</a:t>
            </a:r>
            <a:r>
              <a:rPr sz="1600" spc="15" dirty="0">
                <a:solidFill>
                  <a:srgbClr val="121312"/>
                </a:solidFill>
                <a:latin typeface="Times New Roman"/>
                <a:cs typeface="Times New Roman"/>
              </a:rPr>
              <a:t> </a:t>
            </a:r>
            <a:r>
              <a:rPr sz="1600" spc="-5" dirty="0">
                <a:solidFill>
                  <a:srgbClr val="121312"/>
                </a:solidFill>
                <a:latin typeface="Times New Roman"/>
                <a:cs typeface="Times New Roman"/>
              </a:rPr>
              <a:t>input</a:t>
            </a:r>
            <a:r>
              <a:rPr sz="1600" spc="35" dirty="0">
                <a:solidFill>
                  <a:srgbClr val="121312"/>
                </a:solidFill>
                <a:latin typeface="Times New Roman"/>
                <a:cs typeface="Times New Roman"/>
              </a:rPr>
              <a:t> </a:t>
            </a:r>
            <a:r>
              <a:rPr sz="1600" spc="-5" dirty="0">
                <a:solidFill>
                  <a:srgbClr val="121312"/>
                </a:solidFill>
                <a:latin typeface="Times New Roman"/>
                <a:cs typeface="Times New Roman"/>
              </a:rPr>
              <a:t>layer</a:t>
            </a:r>
            <a:r>
              <a:rPr sz="1600" spc="30" dirty="0">
                <a:solidFill>
                  <a:srgbClr val="121312"/>
                </a:solidFill>
                <a:latin typeface="Times New Roman"/>
                <a:cs typeface="Times New Roman"/>
              </a:rPr>
              <a:t> </a:t>
            </a:r>
            <a:r>
              <a:rPr sz="1600" spc="-5" dirty="0">
                <a:solidFill>
                  <a:srgbClr val="121312"/>
                </a:solidFill>
                <a:latin typeface="Times New Roman"/>
                <a:cs typeface="Times New Roman"/>
              </a:rPr>
              <a:t>(x)</a:t>
            </a:r>
            <a:r>
              <a:rPr sz="1600" spc="25" dirty="0">
                <a:solidFill>
                  <a:srgbClr val="121312"/>
                </a:solidFill>
                <a:latin typeface="Times New Roman"/>
                <a:cs typeface="Times New Roman"/>
              </a:rPr>
              <a:t> </a:t>
            </a:r>
            <a:r>
              <a:rPr sz="1600" spc="-5" dirty="0">
                <a:solidFill>
                  <a:srgbClr val="121312"/>
                </a:solidFill>
                <a:latin typeface="Times New Roman"/>
                <a:cs typeface="Times New Roman"/>
              </a:rPr>
              <a:t>to</a:t>
            </a:r>
            <a:r>
              <a:rPr sz="1600" spc="15" dirty="0">
                <a:solidFill>
                  <a:srgbClr val="121312"/>
                </a:solidFill>
                <a:latin typeface="Times New Roman"/>
                <a:cs typeface="Times New Roman"/>
              </a:rPr>
              <a:t> </a:t>
            </a:r>
            <a:r>
              <a:rPr sz="1600" spc="-5" dirty="0">
                <a:solidFill>
                  <a:srgbClr val="121312"/>
                </a:solidFill>
                <a:latin typeface="Times New Roman"/>
                <a:cs typeface="Times New Roman"/>
              </a:rPr>
              <a:t>hidden</a:t>
            </a:r>
            <a:r>
              <a:rPr sz="1600" spc="15" dirty="0">
                <a:solidFill>
                  <a:srgbClr val="121312"/>
                </a:solidFill>
                <a:latin typeface="Times New Roman"/>
                <a:cs typeface="Times New Roman"/>
              </a:rPr>
              <a:t> </a:t>
            </a:r>
            <a:r>
              <a:rPr sz="1600" spc="-5" dirty="0">
                <a:solidFill>
                  <a:srgbClr val="121312"/>
                </a:solidFill>
                <a:latin typeface="Times New Roman"/>
                <a:cs typeface="Times New Roman"/>
              </a:rPr>
              <a:t>layer</a:t>
            </a:r>
            <a:r>
              <a:rPr sz="1600" spc="30" dirty="0">
                <a:solidFill>
                  <a:srgbClr val="121312"/>
                </a:solidFill>
                <a:latin typeface="Times New Roman"/>
                <a:cs typeface="Times New Roman"/>
              </a:rPr>
              <a:t> </a:t>
            </a:r>
            <a:r>
              <a:rPr sz="1600" spc="-5" dirty="0">
                <a:solidFill>
                  <a:srgbClr val="121312"/>
                </a:solidFill>
                <a:latin typeface="Times New Roman"/>
                <a:cs typeface="Times New Roman"/>
              </a:rPr>
              <a:t>(s)</a:t>
            </a:r>
            <a:r>
              <a:rPr sz="1600" spc="25" dirty="0">
                <a:solidFill>
                  <a:srgbClr val="121312"/>
                </a:solidFill>
                <a:latin typeface="Times New Roman"/>
                <a:cs typeface="Times New Roman"/>
              </a:rPr>
              <a:t> </a:t>
            </a:r>
            <a:r>
              <a:rPr sz="1600" spc="-5" dirty="0">
                <a:solidFill>
                  <a:srgbClr val="121312"/>
                </a:solidFill>
                <a:latin typeface="Times New Roman"/>
                <a:cs typeface="Times New Roman"/>
              </a:rPr>
              <a:t>are</a:t>
            </a:r>
            <a:r>
              <a:rPr sz="1600" spc="20" dirty="0">
                <a:solidFill>
                  <a:srgbClr val="121312"/>
                </a:solidFill>
                <a:latin typeface="Times New Roman"/>
                <a:cs typeface="Times New Roman"/>
              </a:rPr>
              <a:t> </a:t>
            </a:r>
            <a:r>
              <a:rPr sz="1600" spc="-5" dirty="0">
                <a:solidFill>
                  <a:srgbClr val="121312"/>
                </a:solidFill>
                <a:latin typeface="Times New Roman"/>
                <a:cs typeface="Times New Roman"/>
              </a:rPr>
              <a:t>labelled</a:t>
            </a:r>
            <a:r>
              <a:rPr sz="1600" spc="40" dirty="0">
                <a:solidFill>
                  <a:srgbClr val="121312"/>
                </a:solidFill>
                <a:latin typeface="Times New Roman"/>
                <a:cs typeface="Times New Roman"/>
              </a:rPr>
              <a:t> </a:t>
            </a:r>
            <a:r>
              <a:rPr sz="1600" spc="-5" dirty="0">
                <a:solidFill>
                  <a:srgbClr val="121312"/>
                </a:solidFill>
                <a:latin typeface="Times New Roman"/>
                <a:cs typeface="Times New Roman"/>
              </a:rPr>
              <a:t>‘U’,</a:t>
            </a:r>
            <a:r>
              <a:rPr sz="1600" spc="30" dirty="0">
                <a:solidFill>
                  <a:srgbClr val="121312"/>
                </a:solidFill>
                <a:latin typeface="Times New Roman"/>
                <a:cs typeface="Times New Roman"/>
              </a:rPr>
              <a:t> </a:t>
            </a:r>
            <a:r>
              <a:rPr sz="1600" spc="-5" dirty="0">
                <a:solidFill>
                  <a:srgbClr val="121312"/>
                </a:solidFill>
                <a:latin typeface="Times New Roman"/>
                <a:cs typeface="Times New Roman"/>
              </a:rPr>
              <a:t>those </a:t>
            </a:r>
            <a:r>
              <a:rPr sz="1600" dirty="0">
                <a:solidFill>
                  <a:srgbClr val="121312"/>
                </a:solidFill>
                <a:latin typeface="Times New Roman"/>
                <a:cs typeface="Times New Roman"/>
              </a:rPr>
              <a:t> from</a:t>
            </a:r>
            <a:r>
              <a:rPr sz="1600" spc="15" dirty="0">
                <a:solidFill>
                  <a:srgbClr val="121312"/>
                </a:solidFill>
                <a:latin typeface="Times New Roman"/>
                <a:cs typeface="Times New Roman"/>
              </a:rPr>
              <a:t> </a:t>
            </a:r>
            <a:r>
              <a:rPr sz="1600" spc="-5" dirty="0">
                <a:solidFill>
                  <a:srgbClr val="121312"/>
                </a:solidFill>
                <a:latin typeface="Times New Roman"/>
                <a:cs typeface="Times New Roman"/>
              </a:rPr>
              <a:t>the</a:t>
            </a:r>
            <a:r>
              <a:rPr sz="1600" spc="15" dirty="0">
                <a:solidFill>
                  <a:srgbClr val="121312"/>
                </a:solidFill>
                <a:latin typeface="Times New Roman"/>
                <a:cs typeface="Times New Roman"/>
              </a:rPr>
              <a:t> </a:t>
            </a:r>
            <a:r>
              <a:rPr sz="1600" dirty="0">
                <a:solidFill>
                  <a:srgbClr val="121312"/>
                </a:solidFill>
                <a:latin typeface="Times New Roman"/>
                <a:cs typeface="Times New Roman"/>
              </a:rPr>
              <a:t>hidden</a:t>
            </a:r>
            <a:r>
              <a:rPr sz="1600" spc="-10" dirty="0">
                <a:solidFill>
                  <a:srgbClr val="121312"/>
                </a:solidFill>
                <a:latin typeface="Times New Roman"/>
                <a:cs typeface="Times New Roman"/>
              </a:rPr>
              <a:t> </a:t>
            </a:r>
            <a:r>
              <a:rPr sz="1600" spc="-5" dirty="0">
                <a:solidFill>
                  <a:srgbClr val="121312"/>
                </a:solidFill>
                <a:latin typeface="Times New Roman"/>
                <a:cs typeface="Times New Roman"/>
              </a:rPr>
              <a:t>layer</a:t>
            </a:r>
            <a:r>
              <a:rPr sz="1600" spc="45" dirty="0">
                <a:solidFill>
                  <a:srgbClr val="121312"/>
                </a:solidFill>
                <a:latin typeface="Times New Roman"/>
                <a:cs typeface="Times New Roman"/>
              </a:rPr>
              <a:t> </a:t>
            </a:r>
            <a:r>
              <a:rPr sz="1600" spc="-5" dirty="0">
                <a:solidFill>
                  <a:srgbClr val="121312"/>
                </a:solidFill>
                <a:latin typeface="Times New Roman"/>
                <a:cs typeface="Times New Roman"/>
              </a:rPr>
              <a:t>to</a:t>
            </a:r>
            <a:r>
              <a:rPr sz="1600" dirty="0">
                <a:solidFill>
                  <a:srgbClr val="121312"/>
                </a:solidFill>
                <a:latin typeface="Times New Roman"/>
                <a:cs typeface="Times New Roman"/>
              </a:rPr>
              <a:t> </a:t>
            </a:r>
            <a:r>
              <a:rPr sz="1600" spc="-5" dirty="0">
                <a:solidFill>
                  <a:srgbClr val="121312"/>
                </a:solidFill>
                <a:latin typeface="Times New Roman"/>
                <a:cs typeface="Times New Roman"/>
              </a:rPr>
              <a:t>itself</a:t>
            </a:r>
            <a:r>
              <a:rPr sz="1600" spc="35" dirty="0">
                <a:solidFill>
                  <a:srgbClr val="121312"/>
                </a:solidFill>
                <a:latin typeface="Times New Roman"/>
                <a:cs typeface="Times New Roman"/>
              </a:rPr>
              <a:t> </a:t>
            </a:r>
            <a:r>
              <a:rPr sz="1600" spc="-5" dirty="0">
                <a:solidFill>
                  <a:srgbClr val="121312"/>
                </a:solidFill>
                <a:latin typeface="Times New Roman"/>
                <a:cs typeface="Times New Roman"/>
              </a:rPr>
              <a:t>(i.e.</a:t>
            </a:r>
            <a:r>
              <a:rPr sz="1600" spc="30" dirty="0">
                <a:solidFill>
                  <a:srgbClr val="121312"/>
                </a:solidFill>
                <a:latin typeface="Times New Roman"/>
                <a:cs typeface="Times New Roman"/>
              </a:rPr>
              <a:t> </a:t>
            </a:r>
            <a:r>
              <a:rPr sz="1600" spc="-5" dirty="0">
                <a:solidFill>
                  <a:srgbClr val="121312"/>
                </a:solidFill>
                <a:latin typeface="Times New Roman"/>
                <a:cs typeface="Times New Roman"/>
              </a:rPr>
              <a:t>the</a:t>
            </a:r>
            <a:r>
              <a:rPr sz="1600" spc="15" dirty="0">
                <a:solidFill>
                  <a:srgbClr val="121312"/>
                </a:solidFill>
                <a:latin typeface="Times New Roman"/>
                <a:cs typeface="Times New Roman"/>
              </a:rPr>
              <a:t> </a:t>
            </a:r>
            <a:r>
              <a:rPr sz="1600" spc="-5" dirty="0">
                <a:solidFill>
                  <a:srgbClr val="121312"/>
                </a:solidFill>
                <a:latin typeface="Times New Roman"/>
                <a:cs typeface="Times New Roman"/>
              </a:rPr>
              <a:t>recurrent</a:t>
            </a:r>
            <a:r>
              <a:rPr sz="1600" spc="40" dirty="0">
                <a:solidFill>
                  <a:srgbClr val="121312"/>
                </a:solidFill>
                <a:latin typeface="Times New Roman"/>
                <a:cs typeface="Times New Roman"/>
              </a:rPr>
              <a:t> </a:t>
            </a:r>
            <a:r>
              <a:rPr sz="1600" spc="-5" dirty="0">
                <a:solidFill>
                  <a:srgbClr val="121312"/>
                </a:solidFill>
                <a:latin typeface="Times New Roman"/>
                <a:cs typeface="Times New Roman"/>
              </a:rPr>
              <a:t>weights)</a:t>
            </a:r>
            <a:r>
              <a:rPr sz="1600" spc="20" dirty="0">
                <a:solidFill>
                  <a:srgbClr val="121312"/>
                </a:solidFill>
                <a:latin typeface="Times New Roman"/>
                <a:cs typeface="Times New Roman"/>
              </a:rPr>
              <a:t> </a:t>
            </a:r>
            <a:r>
              <a:rPr sz="1600" spc="-5" dirty="0">
                <a:solidFill>
                  <a:srgbClr val="121312"/>
                </a:solidFill>
                <a:latin typeface="Times New Roman"/>
                <a:cs typeface="Times New Roman"/>
              </a:rPr>
              <a:t>are</a:t>
            </a:r>
            <a:r>
              <a:rPr sz="1600" spc="25" dirty="0">
                <a:solidFill>
                  <a:srgbClr val="121312"/>
                </a:solidFill>
                <a:latin typeface="Times New Roman"/>
                <a:cs typeface="Times New Roman"/>
              </a:rPr>
              <a:t> </a:t>
            </a:r>
            <a:r>
              <a:rPr sz="1600" spc="-5" dirty="0">
                <a:solidFill>
                  <a:srgbClr val="121312"/>
                </a:solidFill>
                <a:latin typeface="Times New Roman"/>
                <a:cs typeface="Times New Roman"/>
              </a:rPr>
              <a:t>labelled</a:t>
            </a:r>
            <a:r>
              <a:rPr sz="1600" spc="55" dirty="0">
                <a:solidFill>
                  <a:srgbClr val="121312"/>
                </a:solidFill>
                <a:latin typeface="Times New Roman"/>
                <a:cs typeface="Times New Roman"/>
              </a:rPr>
              <a:t> </a:t>
            </a:r>
            <a:r>
              <a:rPr sz="1600" spc="-10" dirty="0">
                <a:solidFill>
                  <a:srgbClr val="121312"/>
                </a:solidFill>
                <a:latin typeface="Times New Roman"/>
                <a:cs typeface="Times New Roman"/>
              </a:rPr>
              <a:t>‘W’</a:t>
            </a:r>
            <a:r>
              <a:rPr sz="1600" spc="-85" dirty="0">
                <a:solidFill>
                  <a:srgbClr val="121312"/>
                </a:solidFill>
                <a:latin typeface="Times New Roman"/>
                <a:cs typeface="Times New Roman"/>
              </a:rPr>
              <a:t> </a:t>
            </a:r>
            <a:r>
              <a:rPr sz="1600" spc="-5" dirty="0">
                <a:solidFill>
                  <a:srgbClr val="121312"/>
                </a:solidFill>
                <a:latin typeface="Times New Roman"/>
                <a:cs typeface="Times New Roman"/>
              </a:rPr>
              <a:t>and</a:t>
            </a:r>
            <a:r>
              <a:rPr sz="1600" spc="10" dirty="0">
                <a:solidFill>
                  <a:srgbClr val="121312"/>
                </a:solidFill>
                <a:latin typeface="Times New Roman"/>
                <a:cs typeface="Times New Roman"/>
              </a:rPr>
              <a:t> </a:t>
            </a:r>
            <a:r>
              <a:rPr sz="1600" spc="-5" dirty="0">
                <a:solidFill>
                  <a:srgbClr val="121312"/>
                </a:solidFill>
                <a:latin typeface="Times New Roman"/>
                <a:cs typeface="Times New Roman"/>
              </a:rPr>
              <a:t>the</a:t>
            </a:r>
            <a:r>
              <a:rPr sz="1600" spc="15" dirty="0">
                <a:solidFill>
                  <a:srgbClr val="121312"/>
                </a:solidFill>
                <a:latin typeface="Times New Roman"/>
                <a:cs typeface="Times New Roman"/>
              </a:rPr>
              <a:t> </a:t>
            </a:r>
            <a:r>
              <a:rPr sz="1600" dirty="0">
                <a:solidFill>
                  <a:srgbClr val="121312"/>
                </a:solidFill>
                <a:latin typeface="Times New Roman"/>
                <a:cs typeface="Times New Roman"/>
              </a:rPr>
              <a:t>hidden </a:t>
            </a:r>
            <a:r>
              <a:rPr sz="1600" spc="-5" dirty="0">
                <a:solidFill>
                  <a:srgbClr val="121312"/>
                </a:solidFill>
                <a:latin typeface="Times New Roman"/>
                <a:cs typeface="Times New Roman"/>
              </a:rPr>
              <a:t>to</a:t>
            </a:r>
            <a:r>
              <a:rPr sz="1600" spc="20" dirty="0">
                <a:solidFill>
                  <a:srgbClr val="121312"/>
                </a:solidFill>
                <a:latin typeface="Times New Roman"/>
                <a:cs typeface="Times New Roman"/>
              </a:rPr>
              <a:t> </a:t>
            </a:r>
            <a:r>
              <a:rPr sz="1600" dirty="0">
                <a:solidFill>
                  <a:srgbClr val="121312"/>
                </a:solidFill>
                <a:latin typeface="Times New Roman"/>
                <a:cs typeface="Times New Roman"/>
              </a:rPr>
              <a:t>output</a:t>
            </a:r>
            <a:endParaRPr sz="1600">
              <a:latin typeface="Times New Roman"/>
              <a:cs typeface="Times New Roman"/>
            </a:endParaRPr>
          </a:p>
          <a:p>
            <a:pPr marL="12700"/>
            <a:r>
              <a:rPr sz="1600" spc="-5" dirty="0">
                <a:solidFill>
                  <a:srgbClr val="121312"/>
                </a:solidFill>
                <a:latin typeface="Times New Roman"/>
                <a:cs typeface="Times New Roman"/>
              </a:rPr>
              <a:t>(o)</a:t>
            </a:r>
            <a:r>
              <a:rPr sz="1600" spc="20" dirty="0">
                <a:solidFill>
                  <a:srgbClr val="121312"/>
                </a:solidFill>
                <a:latin typeface="Times New Roman"/>
                <a:cs typeface="Times New Roman"/>
              </a:rPr>
              <a:t> </a:t>
            </a:r>
            <a:r>
              <a:rPr sz="1600" spc="-5" dirty="0">
                <a:solidFill>
                  <a:srgbClr val="121312"/>
                </a:solidFill>
                <a:latin typeface="Times New Roman"/>
                <a:cs typeface="Times New Roman"/>
              </a:rPr>
              <a:t>weights</a:t>
            </a:r>
            <a:r>
              <a:rPr sz="1600" spc="20" dirty="0">
                <a:solidFill>
                  <a:srgbClr val="121312"/>
                </a:solidFill>
                <a:latin typeface="Times New Roman"/>
                <a:cs typeface="Times New Roman"/>
              </a:rPr>
              <a:t> </a:t>
            </a:r>
            <a:r>
              <a:rPr sz="1600" spc="-5" dirty="0">
                <a:solidFill>
                  <a:srgbClr val="121312"/>
                </a:solidFill>
                <a:latin typeface="Times New Roman"/>
                <a:cs typeface="Times New Roman"/>
              </a:rPr>
              <a:t>are</a:t>
            </a:r>
            <a:r>
              <a:rPr sz="1600" spc="5" dirty="0">
                <a:solidFill>
                  <a:srgbClr val="121312"/>
                </a:solidFill>
                <a:latin typeface="Times New Roman"/>
                <a:cs typeface="Times New Roman"/>
              </a:rPr>
              <a:t> </a:t>
            </a:r>
            <a:r>
              <a:rPr sz="1600" spc="-5" dirty="0">
                <a:solidFill>
                  <a:srgbClr val="121312"/>
                </a:solidFill>
                <a:latin typeface="Times New Roman"/>
                <a:cs typeface="Times New Roman"/>
              </a:rPr>
              <a:t>labelled</a:t>
            </a:r>
            <a:r>
              <a:rPr sz="1600" spc="35" dirty="0">
                <a:solidFill>
                  <a:srgbClr val="121312"/>
                </a:solidFill>
                <a:latin typeface="Times New Roman"/>
                <a:cs typeface="Times New Roman"/>
              </a:rPr>
              <a:t> </a:t>
            </a:r>
            <a:r>
              <a:rPr sz="1600" spc="-5" dirty="0">
                <a:solidFill>
                  <a:srgbClr val="121312"/>
                </a:solidFill>
                <a:latin typeface="Times New Roman"/>
                <a:cs typeface="Times New Roman"/>
              </a:rPr>
              <a:t>‘V’.</a:t>
            </a:r>
            <a:r>
              <a:rPr sz="1600" spc="25" dirty="0">
                <a:solidFill>
                  <a:srgbClr val="121312"/>
                </a:solidFill>
                <a:latin typeface="Times New Roman"/>
                <a:cs typeface="Times New Roman"/>
              </a:rPr>
              <a:t> </a:t>
            </a:r>
            <a:r>
              <a:rPr sz="1600" spc="-5" dirty="0">
                <a:solidFill>
                  <a:srgbClr val="121312"/>
                </a:solidFill>
                <a:latin typeface="Times New Roman"/>
                <a:cs typeface="Times New Roman"/>
              </a:rPr>
              <a:t>Note</a:t>
            </a:r>
            <a:r>
              <a:rPr sz="1600" spc="10" dirty="0">
                <a:solidFill>
                  <a:srgbClr val="121312"/>
                </a:solidFill>
                <a:latin typeface="Times New Roman"/>
                <a:cs typeface="Times New Roman"/>
              </a:rPr>
              <a:t> </a:t>
            </a:r>
            <a:r>
              <a:rPr sz="1600" spc="-5" dirty="0">
                <a:solidFill>
                  <a:srgbClr val="121312"/>
                </a:solidFill>
                <a:latin typeface="Times New Roman"/>
                <a:cs typeface="Times New Roman"/>
              </a:rPr>
              <a:t>that</a:t>
            </a:r>
            <a:r>
              <a:rPr sz="1600" spc="15" dirty="0">
                <a:solidFill>
                  <a:srgbClr val="121312"/>
                </a:solidFill>
                <a:latin typeface="Times New Roman"/>
                <a:cs typeface="Times New Roman"/>
              </a:rPr>
              <a:t> </a:t>
            </a:r>
            <a:r>
              <a:rPr sz="1600" spc="-5" dirty="0">
                <a:solidFill>
                  <a:srgbClr val="121312"/>
                </a:solidFill>
                <a:latin typeface="Times New Roman"/>
                <a:cs typeface="Times New Roman"/>
              </a:rPr>
              <a:t>the</a:t>
            </a:r>
            <a:r>
              <a:rPr sz="1600" spc="10" dirty="0">
                <a:solidFill>
                  <a:srgbClr val="121312"/>
                </a:solidFill>
                <a:latin typeface="Times New Roman"/>
                <a:cs typeface="Times New Roman"/>
              </a:rPr>
              <a:t> </a:t>
            </a:r>
            <a:r>
              <a:rPr sz="1600" spc="-10" dirty="0">
                <a:solidFill>
                  <a:srgbClr val="121312"/>
                </a:solidFill>
                <a:latin typeface="Times New Roman"/>
                <a:cs typeface="Times New Roman"/>
              </a:rPr>
              <a:t>same</a:t>
            </a:r>
            <a:r>
              <a:rPr sz="1600" spc="45" dirty="0">
                <a:solidFill>
                  <a:srgbClr val="121312"/>
                </a:solidFill>
                <a:latin typeface="Times New Roman"/>
                <a:cs typeface="Times New Roman"/>
              </a:rPr>
              <a:t> </a:t>
            </a:r>
            <a:r>
              <a:rPr sz="1600" spc="-5" dirty="0">
                <a:solidFill>
                  <a:srgbClr val="121312"/>
                </a:solidFill>
                <a:latin typeface="Times New Roman"/>
                <a:cs typeface="Times New Roman"/>
              </a:rPr>
              <a:t>weights</a:t>
            </a:r>
            <a:r>
              <a:rPr sz="1600" spc="15" dirty="0">
                <a:solidFill>
                  <a:srgbClr val="121312"/>
                </a:solidFill>
                <a:latin typeface="Times New Roman"/>
                <a:cs typeface="Times New Roman"/>
              </a:rPr>
              <a:t> </a:t>
            </a:r>
            <a:r>
              <a:rPr sz="1600" spc="-5" dirty="0">
                <a:solidFill>
                  <a:srgbClr val="121312"/>
                </a:solidFill>
                <a:latin typeface="Times New Roman"/>
                <a:cs typeface="Times New Roman"/>
              </a:rPr>
              <a:t>are</a:t>
            </a:r>
            <a:r>
              <a:rPr sz="1600" spc="15" dirty="0">
                <a:solidFill>
                  <a:srgbClr val="121312"/>
                </a:solidFill>
                <a:latin typeface="Times New Roman"/>
                <a:cs typeface="Times New Roman"/>
              </a:rPr>
              <a:t> </a:t>
            </a:r>
            <a:r>
              <a:rPr sz="1600" spc="-5" dirty="0">
                <a:solidFill>
                  <a:srgbClr val="121312"/>
                </a:solidFill>
                <a:latin typeface="Times New Roman"/>
                <a:cs typeface="Times New Roman"/>
              </a:rPr>
              <a:t>reused</a:t>
            </a:r>
            <a:r>
              <a:rPr sz="1600" spc="15" dirty="0">
                <a:solidFill>
                  <a:srgbClr val="121312"/>
                </a:solidFill>
                <a:latin typeface="Times New Roman"/>
                <a:cs typeface="Times New Roman"/>
              </a:rPr>
              <a:t> </a:t>
            </a:r>
            <a:r>
              <a:rPr sz="1600" spc="-5" dirty="0">
                <a:solidFill>
                  <a:srgbClr val="121312"/>
                </a:solidFill>
                <a:latin typeface="Times New Roman"/>
                <a:cs typeface="Times New Roman"/>
              </a:rPr>
              <a:t>at</a:t>
            </a:r>
            <a:r>
              <a:rPr sz="1600" spc="15" dirty="0">
                <a:solidFill>
                  <a:srgbClr val="121312"/>
                </a:solidFill>
                <a:latin typeface="Times New Roman"/>
                <a:cs typeface="Times New Roman"/>
              </a:rPr>
              <a:t> </a:t>
            </a:r>
            <a:r>
              <a:rPr sz="1600" spc="-5" dirty="0">
                <a:solidFill>
                  <a:srgbClr val="121312"/>
                </a:solidFill>
                <a:latin typeface="Times New Roman"/>
                <a:cs typeface="Times New Roman"/>
              </a:rPr>
              <a:t>every</a:t>
            </a:r>
            <a:r>
              <a:rPr sz="1600" spc="55" dirty="0">
                <a:solidFill>
                  <a:srgbClr val="121312"/>
                </a:solidFill>
                <a:latin typeface="Times New Roman"/>
                <a:cs typeface="Times New Roman"/>
              </a:rPr>
              <a:t> </a:t>
            </a:r>
            <a:r>
              <a:rPr sz="1600" spc="-10" dirty="0">
                <a:solidFill>
                  <a:srgbClr val="121312"/>
                </a:solidFill>
                <a:latin typeface="Times New Roman"/>
                <a:cs typeface="Times New Roman"/>
              </a:rPr>
              <a:t>time</a:t>
            </a:r>
            <a:r>
              <a:rPr sz="1600" spc="55" dirty="0">
                <a:solidFill>
                  <a:srgbClr val="121312"/>
                </a:solidFill>
                <a:latin typeface="Times New Roman"/>
                <a:cs typeface="Times New Roman"/>
              </a:rPr>
              <a:t> </a:t>
            </a:r>
            <a:r>
              <a:rPr sz="1600" dirty="0">
                <a:solidFill>
                  <a:srgbClr val="121312"/>
                </a:solidFill>
                <a:latin typeface="Times New Roman"/>
                <a:cs typeface="Times New Roman"/>
              </a:rPr>
              <a:t>step.</a:t>
            </a:r>
            <a:endParaRPr sz="1600">
              <a:latin typeface="Times New Roman"/>
              <a:cs typeface="Times New Roman"/>
            </a:endParaRPr>
          </a:p>
        </p:txBody>
      </p:sp>
      <p:sp>
        <p:nvSpPr>
          <p:cNvPr id="3" name="object 3"/>
          <p:cNvSpPr txBox="1">
            <a:spLocks noGrp="1"/>
          </p:cNvSpPr>
          <p:nvPr>
            <p:ph type="title"/>
          </p:nvPr>
        </p:nvSpPr>
        <p:spPr>
          <a:xfrm>
            <a:off x="1782268" y="297561"/>
            <a:ext cx="7470775" cy="1001394"/>
          </a:xfrm>
          <a:prstGeom prst="rect">
            <a:avLst/>
          </a:prstGeom>
        </p:spPr>
        <p:txBody>
          <a:bodyPr vert="horz" wrap="square" lIns="0" tIns="12700" rIns="0" bIns="0" rtlCol="0" anchor="ctr">
            <a:spAutoFit/>
          </a:bodyPr>
          <a:lstStyle/>
          <a:p>
            <a:pPr marL="12700" marR="5080">
              <a:lnSpc>
                <a:spcPct val="100000"/>
              </a:lnSpc>
              <a:spcBef>
                <a:spcPts val="100"/>
              </a:spcBef>
            </a:pPr>
            <a:r>
              <a:rPr sz="3200" spc="-5" dirty="0">
                <a:latin typeface="Arial MT"/>
                <a:cs typeface="Arial MT"/>
              </a:rPr>
              <a:t>Transforming</a:t>
            </a:r>
            <a:r>
              <a:rPr sz="3200" spc="-35" dirty="0">
                <a:latin typeface="Arial MT"/>
                <a:cs typeface="Arial MT"/>
              </a:rPr>
              <a:t> </a:t>
            </a:r>
            <a:r>
              <a:rPr sz="3200" dirty="0">
                <a:latin typeface="Arial MT"/>
                <a:cs typeface="Arial MT"/>
              </a:rPr>
              <a:t>an</a:t>
            </a:r>
            <a:r>
              <a:rPr sz="3200" spc="-25" dirty="0">
                <a:latin typeface="Arial MT"/>
                <a:cs typeface="Arial MT"/>
              </a:rPr>
              <a:t> </a:t>
            </a:r>
            <a:r>
              <a:rPr sz="3200" dirty="0">
                <a:latin typeface="Arial MT"/>
                <a:cs typeface="Arial MT"/>
              </a:rPr>
              <a:t>RNN</a:t>
            </a:r>
            <a:r>
              <a:rPr sz="3200" spc="5" dirty="0">
                <a:latin typeface="Arial MT"/>
                <a:cs typeface="Arial MT"/>
              </a:rPr>
              <a:t> </a:t>
            </a:r>
            <a:r>
              <a:rPr sz="3200" dirty="0">
                <a:latin typeface="Arial MT"/>
                <a:cs typeface="Arial MT"/>
              </a:rPr>
              <a:t>into</a:t>
            </a:r>
            <a:r>
              <a:rPr sz="3200" spc="-15" dirty="0">
                <a:latin typeface="Arial MT"/>
                <a:cs typeface="Arial MT"/>
              </a:rPr>
              <a:t> </a:t>
            </a:r>
            <a:r>
              <a:rPr sz="3200" dirty="0">
                <a:latin typeface="Arial MT"/>
                <a:cs typeface="Arial MT"/>
              </a:rPr>
              <a:t>a</a:t>
            </a:r>
            <a:r>
              <a:rPr sz="3200" spc="-10" dirty="0">
                <a:latin typeface="Arial MT"/>
                <a:cs typeface="Arial MT"/>
              </a:rPr>
              <a:t> </a:t>
            </a:r>
            <a:r>
              <a:rPr sz="3200" spc="-5" dirty="0">
                <a:latin typeface="Arial MT"/>
                <a:cs typeface="Arial MT"/>
              </a:rPr>
              <a:t>Feedforward </a:t>
            </a:r>
            <a:r>
              <a:rPr sz="3200" spc="-869" dirty="0">
                <a:latin typeface="Arial MT"/>
                <a:cs typeface="Arial MT"/>
              </a:rPr>
              <a:t> </a:t>
            </a:r>
            <a:r>
              <a:rPr sz="3200" dirty="0">
                <a:latin typeface="Arial MT"/>
                <a:cs typeface="Arial MT"/>
              </a:rPr>
              <a:t>network</a:t>
            </a:r>
            <a:r>
              <a:rPr sz="3200" spc="-30" dirty="0">
                <a:latin typeface="Arial MT"/>
                <a:cs typeface="Arial MT"/>
              </a:rPr>
              <a:t> </a:t>
            </a:r>
            <a:r>
              <a:rPr sz="3200" spc="-5" dirty="0">
                <a:latin typeface="Arial MT"/>
                <a:cs typeface="Arial MT"/>
              </a:rPr>
              <a:t>(Unfolding</a:t>
            </a:r>
            <a:r>
              <a:rPr sz="3200" spc="-10" dirty="0">
                <a:latin typeface="Arial MT"/>
                <a:cs typeface="Arial MT"/>
              </a:rPr>
              <a:t> </a:t>
            </a:r>
            <a:r>
              <a:rPr sz="3200" spc="-5" dirty="0">
                <a:latin typeface="Arial MT"/>
                <a:cs typeface="Arial MT"/>
              </a:rPr>
              <a:t>through</a:t>
            </a:r>
            <a:r>
              <a:rPr sz="3200" spc="-25" dirty="0">
                <a:latin typeface="Arial MT"/>
                <a:cs typeface="Arial MT"/>
              </a:rPr>
              <a:t> </a:t>
            </a:r>
            <a:r>
              <a:rPr sz="3200" spc="-5" dirty="0">
                <a:latin typeface="Arial MT"/>
                <a:cs typeface="Arial MT"/>
              </a:rPr>
              <a:t>time)</a:t>
            </a:r>
            <a:endParaRPr sz="3200" dirty="0">
              <a:latin typeface="Arial MT"/>
              <a:cs typeface="Arial MT"/>
            </a:endParaRPr>
          </a:p>
        </p:txBody>
      </p:sp>
      <p:sp>
        <p:nvSpPr>
          <p:cNvPr id="4" name="object 4"/>
          <p:cNvSpPr txBox="1"/>
          <p:nvPr/>
        </p:nvSpPr>
        <p:spPr>
          <a:xfrm>
            <a:off x="2084629" y="1783461"/>
            <a:ext cx="7130415" cy="878840"/>
          </a:xfrm>
          <a:prstGeom prst="rect">
            <a:avLst/>
          </a:prstGeom>
        </p:spPr>
        <p:txBody>
          <a:bodyPr vert="horz" wrap="square" lIns="0" tIns="12065" rIns="0" bIns="0" rtlCol="0">
            <a:spAutoFit/>
          </a:bodyPr>
          <a:lstStyle/>
          <a:p>
            <a:pPr marL="355600" marR="5080" indent="-342900">
              <a:spcBef>
                <a:spcPts val="95"/>
              </a:spcBef>
              <a:buChar char="•"/>
              <a:tabLst>
                <a:tab pos="354965" algn="l"/>
                <a:tab pos="355600" algn="l"/>
              </a:tabLst>
            </a:pPr>
            <a:r>
              <a:rPr sz="2800" spc="-10" dirty="0">
                <a:latin typeface="Calibri"/>
                <a:cs typeface="Calibri"/>
              </a:rPr>
              <a:t>The</a:t>
            </a:r>
            <a:r>
              <a:rPr sz="2800" spc="-5" dirty="0">
                <a:latin typeface="Calibri"/>
                <a:cs typeface="Calibri"/>
              </a:rPr>
              <a:t> recurrent</a:t>
            </a:r>
            <a:r>
              <a:rPr sz="2800" spc="20" dirty="0">
                <a:latin typeface="Calibri"/>
                <a:cs typeface="Calibri"/>
              </a:rPr>
              <a:t> </a:t>
            </a:r>
            <a:r>
              <a:rPr sz="2800" spc="-10" dirty="0">
                <a:latin typeface="Calibri"/>
                <a:cs typeface="Calibri"/>
              </a:rPr>
              <a:t>network</a:t>
            </a:r>
            <a:r>
              <a:rPr sz="2800" spc="5" dirty="0">
                <a:latin typeface="Calibri"/>
                <a:cs typeface="Calibri"/>
              </a:rPr>
              <a:t> </a:t>
            </a:r>
            <a:r>
              <a:rPr sz="2800" spc="-5" dirty="0">
                <a:latin typeface="Calibri"/>
                <a:cs typeface="Calibri"/>
              </a:rPr>
              <a:t>can</a:t>
            </a:r>
            <a:r>
              <a:rPr sz="2800" spc="10" dirty="0">
                <a:latin typeface="Calibri"/>
                <a:cs typeface="Calibri"/>
              </a:rPr>
              <a:t> </a:t>
            </a:r>
            <a:r>
              <a:rPr sz="2800" spc="-5" dirty="0">
                <a:latin typeface="Calibri"/>
                <a:cs typeface="Calibri"/>
              </a:rPr>
              <a:t>be converted</a:t>
            </a:r>
            <a:r>
              <a:rPr sz="2800" spc="15" dirty="0">
                <a:latin typeface="Calibri"/>
                <a:cs typeface="Calibri"/>
              </a:rPr>
              <a:t> </a:t>
            </a:r>
            <a:r>
              <a:rPr sz="2800" spc="-5" dirty="0">
                <a:latin typeface="Calibri"/>
                <a:cs typeface="Calibri"/>
              </a:rPr>
              <a:t>into</a:t>
            </a:r>
            <a:r>
              <a:rPr sz="2800" spc="15" dirty="0">
                <a:latin typeface="Calibri"/>
                <a:cs typeface="Calibri"/>
              </a:rPr>
              <a:t> </a:t>
            </a:r>
            <a:r>
              <a:rPr sz="2800" spc="-5" dirty="0">
                <a:latin typeface="Calibri"/>
                <a:cs typeface="Calibri"/>
              </a:rPr>
              <a:t>a </a:t>
            </a:r>
            <a:r>
              <a:rPr sz="2800" spc="-620" dirty="0">
                <a:latin typeface="Calibri"/>
                <a:cs typeface="Calibri"/>
              </a:rPr>
              <a:t> </a:t>
            </a:r>
            <a:r>
              <a:rPr sz="2800" spc="-10" dirty="0">
                <a:latin typeface="Calibri"/>
                <a:cs typeface="Calibri"/>
              </a:rPr>
              <a:t>feed-forward</a:t>
            </a:r>
            <a:r>
              <a:rPr sz="2800" spc="15" dirty="0">
                <a:latin typeface="Calibri"/>
                <a:cs typeface="Calibri"/>
              </a:rPr>
              <a:t> </a:t>
            </a:r>
            <a:r>
              <a:rPr sz="2800" spc="-10" dirty="0">
                <a:latin typeface="Calibri"/>
                <a:cs typeface="Calibri"/>
              </a:rPr>
              <a:t>network</a:t>
            </a:r>
            <a:r>
              <a:rPr sz="2800" spc="10" dirty="0">
                <a:latin typeface="Calibri"/>
                <a:cs typeface="Calibri"/>
              </a:rPr>
              <a:t> </a:t>
            </a:r>
            <a:r>
              <a:rPr sz="2800" spc="-5" dirty="0">
                <a:latin typeface="Calibri"/>
                <a:cs typeface="Calibri"/>
              </a:rPr>
              <a:t>by</a:t>
            </a:r>
            <a:r>
              <a:rPr sz="2800" spc="40" dirty="0">
                <a:latin typeface="Calibri"/>
                <a:cs typeface="Calibri"/>
              </a:rPr>
              <a:t> </a:t>
            </a:r>
            <a:r>
              <a:rPr sz="2800" b="1" i="1" spc="-10" dirty="0">
                <a:solidFill>
                  <a:srgbClr val="0000FF"/>
                </a:solidFill>
                <a:latin typeface="Calibri"/>
                <a:cs typeface="Calibri"/>
              </a:rPr>
              <a:t>unfolding</a:t>
            </a:r>
            <a:r>
              <a:rPr sz="2800" b="1" i="1" spc="10" dirty="0">
                <a:solidFill>
                  <a:srgbClr val="0000FF"/>
                </a:solidFill>
                <a:latin typeface="Calibri"/>
                <a:cs typeface="Calibri"/>
              </a:rPr>
              <a:t> </a:t>
            </a:r>
            <a:r>
              <a:rPr sz="2800" b="1" i="1" spc="-10" dirty="0">
                <a:solidFill>
                  <a:srgbClr val="0000FF"/>
                </a:solidFill>
                <a:latin typeface="Calibri"/>
                <a:cs typeface="Calibri"/>
              </a:rPr>
              <a:t>over</a:t>
            </a:r>
            <a:r>
              <a:rPr sz="2800" b="1" i="1" spc="10" dirty="0">
                <a:solidFill>
                  <a:srgbClr val="0000FF"/>
                </a:solidFill>
                <a:latin typeface="Calibri"/>
                <a:cs typeface="Calibri"/>
              </a:rPr>
              <a:t> </a:t>
            </a:r>
            <a:r>
              <a:rPr sz="2800" b="1" i="1" spc="-5" dirty="0">
                <a:solidFill>
                  <a:srgbClr val="0000FF"/>
                </a:solidFill>
                <a:latin typeface="Calibri"/>
                <a:cs typeface="Calibri"/>
              </a:rPr>
              <a:t>time</a:t>
            </a:r>
            <a:endParaRPr sz="2800">
              <a:latin typeface="Calibri"/>
              <a:cs typeface="Calibri"/>
            </a:endParaRPr>
          </a:p>
        </p:txBody>
      </p:sp>
      <p:pic>
        <p:nvPicPr>
          <p:cNvPr id="1026" name="Picture 2">
            <a:extLst>
              <a:ext uri="{FF2B5EF4-FFF2-40B4-BE49-F238E27FC236}">
                <a16:creationId xmlns:a16="http://schemas.microsoft.com/office/drawing/2014/main" id="{2724D9C7-18F7-4CC6-BAD9-0F8C65683DFB}"/>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267200" y="2819400"/>
            <a:ext cx="3352800" cy="2487824"/>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854200" y="533146"/>
            <a:ext cx="5792470" cy="574040"/>
          </a:xfrm>
          <a:prstGeom prst="rect">
            <a:avLst/>
          </a:prstGeom>
        </p:spPr>
        <p:txBody>
          <a:bodyPr vert="horz" wrap="square" lIns="0" tIns="12700" rIns="0" bIns="0" rtlCol="0" anchor="ctr">
            <a:spAutoFit/>
          </a:bodyPr>
          <a:lstStyle/>
          <a:p>
            <a:pPr marL="12700">
              <a:lnSpc>
                <a:spcPct val="100000"/>
              </a:lnSpc>
              <a:spcBef>
                <a:spcPts val="100"/>
              </a:spcBef>
            </a:pPr>
            <a:r>
              <a:rPr sz="3600" dirty="0">
                <a:latin typeface="Arial MT"/>
                <a:cs typeface="Arial MT"/>
              </a:rPr>
              <a:t>Training</a:t>
            </a:r>
            <a:r>
              <a:rPr sz="3600" spc="-30" dirty="0">
                <a:latin typeface="Arial MT"/>
                <a:cs typeface="Arial MT"/>
              </a:rPr>
              <a:t> </a:t>
            </a:r>
            <a:r>
              <a:rPr sz="3600" dirty="0">
                <a:latin typeface="Arial MT"/>
                <a:cs typeface="Arial MT"/>
              </a:rPr>
              <a:t>RNNs</a:t>
            </a:r>
            <a:r>
              <a:rPr sz="3600" spc="-30" dirty="0">
                <a:latin typeface="Arial MT"/>
                <a:cs typeface="Arial MT"/>
              </a:rPr>
              <a:t> </a:t>
            </a:r>
            <a:r>
              <a:rPr sz="3600" dirty="0">
                <a:latin typeface="Arial MT"/>
                <a:cs typeface="Arial MT"/>
              </a:rPr>
              <a:t>–</a:t>
            </a:r>
            <a:r>
              <a:rPr sz="3600" spc="-25" dirty="0">
                <a:latin typeface="Arial MT"/>
                <a:cs typeface="Arial MT"/>
              </a:rPr>
              <a:t> </a:t>
            </a:r>
            <a:r>
              <a:rPr sz="3600" spc="-5" dirty="0">
                <a:latin typeface="Arial MT"/>
                <a:cs typeface="Arial MT"/>
              </a:rPr>
              <a:t>a</a:t>
            </a:r>
            <a:r>
              <a:rPr sz="3600" spc="-20" dirty="0">
                <a:latin typeface="Arial MT"/>
                <a:cs typeface="Arial MT"/>
              </a:rPr>
              <a:t> </a:t>
            </a:r>
            <a:r>
              <a:rPr sz="3600" dirty="0">
                <a:latin typeface="Arial MT"/>
                <a:cs typeface="Arial MT"/>
              </a:rPr>
              <a:t>summary</a:t>
            </a:r>
          </a:p>
        </p:txBody>
      </p:sp>
      <p:sp>
        <p:nvSpPr>
          <p:cNvPr id="3" name="object 3"/>
          <p:cNvSpPr txBox="1"/>
          <p:nvPr/>
        </p:nvSpPr>
        <p:spPr>
          <a:xfrm>
            <a:off x="1854200" y="1995043"/>
            <a:ext cx="8423910" cy="4269105"/>
          </a:xfrm>
          <a:prstGeom prst="rect">
            <a:avLst/>
          </a:prstGeom>
        </p:spPr>
        <p:txBody>
          <a:bodyPr vert="horz" wrap="square" lIns="0" tIns="12700" rIns="0" bIns="0" rtlCol="0">
            <a:spAutoFit/>
          </a:bodyPr>
          <a:lstStyle/>
          <a:p>
            <a:pPr marL="355600" marR="12065" indent="-343535" algn="just">
              <a:spcBef>
                <a:spcPts val="100"/>
              </a:spcBef>
              <a:buChar char="•"/>
              <a:tabLst>
                <a:tab pos="356235" algn="l"/>
              </a:tabLst>
            </a:pPr>
            <a:r>
              <a:rPr sz="2400" spc="-5" dirty="0">
                <a:latin typeface="Calibri"/>
                <a:cs typeface="Calibri"/>
              </a:rPr>
              <a:t>Training</a:t>
            </a:r>
            <a:r>
              <a:rPr sz="2400" spc="-15" dirty="0">
                <a:latin typeface="Calibri"/>
                <a:cs typeface="Calibri"/>
              </a:rPr>
              <a:t> </a:t>
            </a:r>
            <a:r>
              <a:rPr sz="2400" dirty="0">
                <a:latin typeface="Calibri"/>
                <a:cs typeface="Calibri"/>
              </a:rPr>
              <a:t>a</a:t>
            </a:r>
            <a:r>
              <a:rPr sz="2400" spc="-10" dirty="0">
                <a:latin typeface="Calibri"/>
                <a:cs typeface="Calibri"/>
              </a:rPr>
              <a:t> </a:t>
            </a:r>
            <a:r>
              <a:rPr sz="2400" dirty="0">
                <a:latin typeface="Calibri"/>
                <a:cs typeface="Calibri"/>
              </a:rPr>
              <a:t>RNN</a:t>
            </a:r>
            <a:r>
              <a:rPr sz="2400" spc="-30" dirty="0">
                <a:latin typeface="Calibri"/>
                <a:cs typeface="Calibri"/>
              </a:rPr>
              <a:t> </a:t>
            </a:r>
            <a:r>
              <a:rPr sz="2400" dirty="0">
                <a:latin typeface="Calibri"/>
                <a:cs typeface="Calibri"/>
              </a:rPr>
              <a:t>is</a:t>
            </a:r>
            <a:r>
              <a:rPr sz="2400" spc="-5" dirty="0">
                <a:latin typeface="Calibri"/>
                <a:cs typeface="Calibri"/>
              </a:rPr>
              <a:t> similar</a:t>
            </a:r>
            <a:r>
              <a:rPr sz="2400" spc="-25" dirty="0">
                <a:latin typeface="Calibri"/>
                <a:cs typeface="Calibri"/>
              </a:rPr>
              <a:t> </a:t>
            </a:r>
            <a:r>
              <a:rPr sz="2400" dirty="0">
                <a:latin typeface="Calibri"/>
                <a:cs typeface="Calibri"/>
              </a:rPr>
              <a:t>to</a:t>
            </a:r>
            <a:r>
              <a:rPr sz="2400" spc="-10" dirty="0">
                <a:latin typeface="Calibri"/>
                <a:cs typeface="Calibri"/>
              </a:rPr>
              <a:t> </a:t>
            </a:r>
            <a:r>
              <a:rPr sz="2400" dirty="0">
                <a:latin typeface="Calibri"/>
                <a:cs typeface="Calibri"/>
              </a:rPr>
              <a:t>training</a:t>
            </a:r>
            <a:r>
              <a:rPr sz="2400" spc="-25" dirty="0">
                <a:latin typeface="Calibri"/>
                <a:cs typeface="Calibri"/>
              </a:rPr>
              <a:t> </a:t>
            </a:r>
            <a:r>
              <a:rPr sz="2400" dirty="0">
                <a:latin typeface="Calibri"/>
                <a:cs typeface="Calibri"/>
              </a:rPr>
              <a:t>a</a:t>
            </a:r>
            <a:r>
              <a:rPr sz="2400" spc="-10" dirty="0">
                <a:latin typeface="Calibri"/>
                <a:cs typeface="Calibri"/>
              </a:rPr>
              <a:t> </a:t>
            </a:r>
            <a:r>
              <a:rPr sz="2400" dirty="0">
                <a:latin typeface="Calibri"/>
                <a:cs typeface="Calibri"/>
              </a:rPr>
              <a:t>traditional</a:t>
            </a:r>
            <a:r>
              <a:rPr sz="2400" spc="-35" dirty="0">
                <a:latin typeface="Calibri"/>
                <a:cs typeface="Calibri"/>
              </a:rPr>
              <a:t> </a:t>
            </a:r>
            <a:r>
              <a:rPr sz="2400" dirty="0">
                <a:latin typeface="Calibri"/>
                <a:cs typeface="Calibri"/>
              </a:rPr>
              <a:t>Neural</a:t>
            </a:r>
            <a:r>
              <a:rPr sz="2400" spc="-5" dirty="0">
                <a:latin typeface="Calibri"/>
                <a:cs typeface="Calibri"/>
              </a:rPr>
              <a:t> </a:t>
            </a:r>
            <a:r>
              <a:rPr sz="2400" dirty="0">
                <a:latin typeface="Calibri"/>
                <a:cs typeface="Calibri"/>
              </a:rPr>
              <a:t>Network, </a:t>
            </a:r>
            <a:r>
              <a:rPr sz="2400" spc="-530" dirty="0">
                <a:latin typeface="Calibri"/>
                <a:cs typeface="Calibri"/>
              </a:rPr>
              <a:t> </a:t>
            </a:r>
            <a:r>
              <a:rPr sz="2400" dirty="0">
                <a:latin typeface="Calibri"/>
                <a:cs typeface="Calibri"/>
              </a:rPr>
              <a:t>and</a:t>
            </a:r>
            <a:r>
              <a:rPr sz="2400" spc="-10" dirty="0">
                <a:latin typeface="Calibri"/>
                <a:cs typeface="Calibri"/>
              </a:rPr>
              <a:t> </a:t>
            </a:r>
            <a:r>
              <a:rPr sz="2400" dirty="0">
                <a:latin typeface="Calibri"/>
                <a:cs typeface="Calibri"/>
              </a:rPr>
              <a:t>the BP</a:t>
            </a:r>
            <a:r>
              <a:rPr sz="2400" spc="-15" dirty="0">
                <a:latin typeface="Calibri"/>
                <a:cs typeface="Calibri"/>
              </a:rPr>
              <a:t> </a:t>
            </a:r>
            <a:r>
              <a:rPr sz="2400" dirty="0">
                <a:latin typeface="Calibri"/>
                <a:cs typeface="Calibri"/>
              </a:rPr>
              <a:t>is </a:t>
            </a:r>
            <a:r>
              <a:rPr sz="2400" spc="-5" dirty="0">
                <a:latin typeface="Calibri"/>
                <a:cs typeface="Calibri"/>
              </a:rPr>
              <a:t>used </a:t>
            </a:r>
            <a:r>
              <a:rPr sz="2400" dirty="0">
                <a:latin typeface="Calibri"/>
                <a:cs typeface="Calibri"/>
              </a:rPr>
              <a:t>with</a:t>
            </a:r>
            <a:r>
              <a:rPr sz="2400" spc="-25" dirty="0">
                <a:latin typeface="Calibri"/>
                <a:cs typeface="Calibri"/>
              </a:rPr>
              <a:t> </a:t>
            </a:r>
            <a:r>
              <a:rPr sz="2400" dirty="0">
                <a:latin typeface="Calibri"/>
                <a:cs typeface="Calibri"/>
              </a:rPr>
              <a:t>a</a:t>
            </a:r>
            <a:r>
              <a:rPr sz="2400" spc="-5" dirty="0">
                <a:latin typeface="Calibri"/>
                <a:cs typeface="Calibri"/>
              </a:rPr>
              <a:t> </a:t>
            </a:r>
            <a:r>
              <a:rPr sz="2400" dirty="0">
                <a:latin typeface="Calibri"/>
                <a:cs typeface="Calibri"/>
              </a:rPr>
              <a:t>little</a:t>
            </a:r>
            <a:r>
              <a:rPr sz="2400" spc="-20" dirty="0">
                <a:latin typeface="Calibri"/>
                <a:cs typeface="Calibri"/>
              </a:rPr>
              <a:t> </a:t>
            </a:r>
            <a:r>
              <a:rPr sz="2400" spc="-5" dirty="0">
                <a:latin typeface="Calibri"/>
                <a:cs typeface="Calibri"/>
              </a:rPr>
              <a:t>adjustment.</a:t>
            </a:r>
            <a:endParaRPr sz="2400">
              <a:latin typeface="Calibri"/>
              <a:cs typeface="Calibri"/>
            </a:endParaRPr>
          </a:p>
          <a:p>
            <a:pPr marL="355600" marR="5080" indent="-343535" algn="just">
              <a:spcBef>
                <a:spcPts val="575"/>
              </a:spcBef>
              <a:buChar char="•"/>
              <a:tabLst>
                <a:tab pos="356235" algn="l"/>
              </a:tabLst>
            </a:pPr>
            <a:r>
              <a:rPr sz="2400" spc="-5" dirty="0">
                <a:latin typeface="Calibri"/>
                <a:cs typeface="Calibri"/>
              </a:rPr>
              <a:t>Since </a:t>
            </a:r>
            <a:r>
              <a:rPr sz="2400" dirty="0">
                <a:latin typeface="Calibri"/>
                <a:cs typeface="Calibri"/>
              </a:rPr>
              <a:t>the </a:t>
            </a:r>
            <a:r>
              <a:rPr sz="2400" spc="-5" dirty="0">
                <a:latin typeface="Calibri"/>
                <a:cs typeface="Calibri"/>
              </a:rPr>
              <a:t>parameters </a:t>
            </a:r>
            <a:r>
              <a:rPr sz="2400" dirty="0">
                <a:latin typeface="Calibri"/>
                <a:cs typeface="Calibri"/>
              </a:rPr>
              <a:t>are </a:t>
            </a:r>
            <a:r>
              <a:rPr sz="2400" spc="-5" dirty="0">
                <a:latin typeface="Calibri"/>
                <a:cs typeface="Calibri"/>
              </a:rPr>
              <a:t>shared by </a:t>
            </a:r>
            <a:r>
              <a:rPr sz="2400" dirty="0">
                <a:latin typeface="Calibri"/>
                <a:cs typeface="Calibri"/>
              </a:rPr>
              <a:t>all time </a:t>
            </a:r>
            <a:r>
              <a:rPr sz="2400" spc="-5" dirty="0">
                <a:latin typeface="Calibri"/>
                <a:cs typeface="Calibri"/>
              </a:rPr>
              <a:t>steps </a:t>
            </a:r>
            <a:r>
              <a:rPr sz="2400" dirty="0">
                <a:latin typeface="Calibri"/>
                <a:cs typeface="Calibri"/>
              </a:rPr>
              <a:t>in the </a:t>
            </a:r>
            <a:r>
              <a:rPr sz="2400" spc="-5" dirty="0">
                <a:latin typeface="Calibri"/>
                <a:cs typeface="Calibri"/>
              </a:rPr>
              <a:t>network, </a:t>
            </a:r>
            <a:r>
              <a:rPr sz="2400" spc="-530" dirty="0">
                <a:latin typeface="Calibri"/>
                <a:cs typeface="Calibri"/>
              </a:rPr>
              <a:t> </a:t>
            </a:r>
            <a:r>
              <a:rPr sz="2400" dirty="0">
                <a:latin typeface="Calibri"/>
                <a:cs typeface="Calibri"/>
              </a:rPr>
              <a:t>the gradient at each </a:t>
            </a:r>
            <a:r>
              <a:rPr sz="2400" spc="-5" dirty="0">
                <a:latin typeface="Calibri"/>
                <a:cs typeface="Calibri"/>
              </a:rPr>
              <a:t>output depends not </a:t>
            </a:r>
            <a:r>
              <a:rPr sz="2400" spc="-10" dirty="0">
                <a:latin typeface="Calibri"/>
                <a:cs typeface="Calibri"/>
              </a:rPr>
              <a:t>only </a:t>
            </a:r>
            <a:r>
              <a:rPr sz="2400" spc="-5" dirty="0">
                <a:latin typeface="Calibri"/>
                <a:cs typeface="Calibri"/>
              </a:rPr>
              <a:t>on </a:t>
            </a:r>
            <a:r>
              <a:rPr sz="2400" dirty="0">
                <a:latin typeface="Calibri"/>
                <a:cs typeface="Calibri"/>
              </a:rPr>
              <a:t>the </a:t>
            </a:r>
            <a:r>
              <a:rPr sz="2400" spc="-5" dirty="0">
                <a:latin typeface="Calibri"/>
                <a:cs typeface="Calibri"/>
              </a:rPr>
              <a:t>calculations </a:t>
            </a:r>
            <a:r>
              <a:rPr sz="2400" spc="-530" dirty="0">
                <a:latin typeface="Calibri"/>
                <a:cs typeface="Calibri"/>
              </a:rPr>
              <a:t> </a:t>
            </a:r>
            <a:r>
              <a:rPr sz="2400" spc="-5" dirty="0">
                <a:latin typeface="Calibri"/>
                <a:cs typeface="Calibri"/>
              </a:rPr>
              <a:t>of</a:t>
            </a:r>
            <a:r>
              <a:rPr sz="2400" spc="-15" dirty="0">
                <a:latin typeface="Calibri"/>
                <a:cs typeface="Calibri"/>
              </a:rPr>
              <a:t> </a:t>
            </a:r>
            <a:r>
              <a:rPr sz="2400" dirty="0">
                <a:latin typeface="Calibri"/>
                <a:cs typeface="Calibri"/>
              </a:rPr>
              <a:t>the </a:t>
            </a:r>
            <a:r>
              <a:rPr sz="2400" spc="-5" dirty="0">
                <a:latin typeface="Calibri"/>
                <a:cs typeface="Calibri"/>
              </a:rPr>
              <a:t>current</a:t>
            </a:r>
            <a:r>
              <a:rPr sz="2400" spc="-20" dirty="0">
                <a:latin typeface="Calibri"/>
                <a:cs typeface="Calibri"/>
              </a:rPr>
              <a:t> </a:t>
            </a:r>
            <a:r>
              <a:rPr sz="2400" dirty="0">
                <a:latin typeface="Calibri"/>
                <a:cs typeface="Calibri"/>
              </a:rPr>
              <a:t>time</a:t>
            </a:r>
            <a:r>
              <a:rPr sz="2400" spc="-15" dirty="0">
                <a:latin typeface="Calibri"/>
                <a:cs typeface="Calibri"/>
              </a:rPr>
              <a:t> </a:t>
            </a:r>
            <a:r>
              <a:rPr sz="2400" spc="-5" dirty="0">
                <a:latin typeface="Calibri"/>
                <a:cs typeface="Calibri"/>
              </a:rPr>
              <a:t>step,</a:t>
            </a:r>
            <a:r>
              <a:rPr sz="2400" spc="-15" dirty="0">
                <a:latin typeface="Calibri"/>
                <a:cs typeface="Calibri"/>
              </a:rPr>
              <a:t> </a:t>
            </a:r>
            <a:r>
              <a:rPr sz="2400" spc="-5" dirty="0">
                <a:latin typeface="Calibri"/>
                <a:cs typeface="Calibri"/>
              </a:rPr>
              <a:t>but</a:t>
            </a:r>
            <a:r>
              <a:rPr sz="2400" spc="-10" dirty="0">
                <a:latin typeface="Calibri"/>
                <a:cs typeface="Calibri"/>
              </a:rPr>
              <a:t> </a:t>
            </a:r>
            <a:r>
              <a:rPr sz="2400" dirty="0">
                <a:latin typeface="Calibri"/>
                <a:cs typeface="Calibri"/>
              </a:rPr>
              <a:t>also</a:t>
            </a:r>
            <a:r>
              <a:rPr sz="2400" spc="-10" dirty="0">
                <a:latin typeface="Calibri"/>
                <a:cs typeface="Calibri"/>
              </a:rPr>
              <a:t> </a:t>
            </a:r>
            <a:r>
              <a:rPr sz="2400" dirty="0">
                <a:latin typeface="Calibri"/>
                <a:cs typeface="Calibri"/>
              </a:rPr>
              <a:t>the </a:t>
            </a:r>
            <a:r>
              <a:rPr sz="2400" spc="-5" dirty="0">
                <a:latin typeface="Calibri"/>
                <a:cs typeface="Calibri"/>
              </a:rPr>
              <a:t>previous </a:t>
            </a:r>
            <a:r>
              <a:rPr sz="2400" dirty="0">
                <a:latin typeface="Calibri"/>
                <a:cs typeface="Calibri"/>
              </a:rPr>
              <a:t>time</a:t>
            </a:r>
            <a:r>
              <a:rPr sz="2400" spc="-20" dirty="0">
                <a:latin typeface="Calibri"/>
                <a:cs typeface="Calibri"/>
              </a:rPr>
              <a:t> </a:t>
            </a:r>
            <a:r>
              <a:rPr sz="2400" spc="-5" dirty="0">
                <a:latin typeface="Calibri"/>
                <a:cs typeface="Calibri"/>
              </a:rPr>
              <a:t>steps.</a:t>
            </a:r>
            <a:endParaRPr sz="2400">
              <a:latin typeface="Calibri"/>
              <a:cs typeface="Calibri"/>
            </a:endParaRPr>
          </a:p>
          <a:p>
            <a:pPr marL="355600" marR="646430" indent="-343535" algn="just">
              <a:spcBef>
                <a:spcPts val="580"/>
              </a:spcBef>
              <a:buChar char="•"/>
              <a:tabLst>
                <a:tab pos="356235" algn="l"/>
              </a:tabLst>
            </a:pPr>
            <a:r>
              <a:rPr sz="2400" dirty="0">
                <a:latin typeface="Calibri"/>
                <a:cs typeface="Calibri"/>
              </a:rPr>
              <a:t>In</a:t>
            </a:r>
            <a:r>
              <a:rPr sz="2400" spc="-15" dirty="0">
                <a:latin typeface="Calibri"/>
                <a:cs typeface="Calibri"/>
              </a:rPr>
              <a:t> </a:t>
            </a:r>
            <a:r>
              <a:rPr sz="2400" spc="-5" dirty="0">
                <a:latin typeface="Calibri"/>
                <a:cs typeface="Calibri"/>
              </a:rPr>
              <a:t>order</a:t>
            </a:r>
            <a:r>
              <a:rPr sz="2400" spc="-10" dirty="0">
                <a:latin typeface="Calibri"/>
                <a:cs typeface="Calibri"/>
              </a:rPr>
              <a:t> </a:t>
            </a:r>
            <a:r>
              <a:rPr sz="2400" dirty="0">
                <a:latin typeface="Calibri"/>
                <a:cs typeface="Calibri"/>
              </a:rPr>
              <a:t>to</a:t>
            </a:r>
            <a:r>
              <a:rPr sz="2400" spc="-25" dirty="0">
                <a:latin typeface="Calibri"/>
                <a:cs typeface="Calibri"/>
              </a:rPr>
              <a:t> </a:t>
            </a:r>
            <a:r>
              <a:rPr sz="2400" dirty="0">
                <a:latin typeface="Calibri"/>
                <a:cs typeface="Calibri"/>
              </a:rPr>
              <a:t>calculate</a:t>
            </a:r>
            <a:r>
              <a:rPr sz="2400" spc="-30" dirty="0">
                <a:latin typeface="Calibri"/>
                <a:cs typeface="Calibri"/>
              </a:rPr>
              <a:t> </a:t>
            </a:r>
            <a:r>
              <a:rPr sz="2400" dirty="0">
                <a:latin typeface="Calibri"/>
                <a:cs typeface="Calibri"/>
              </a:rPr>
              <a:t>the</a:t>
            </a:r>
            <a:r>
              <a:rPr sz="2400" spc="-5" dirty="0">
                <a:latin typeface="Calibri"/>
                <a:cs typeface="Calibri"/>
              </a:rPr>
              <a:t> </a:t>
            </a:r>
            <a:r>
              <a:rPr sz="2400" dirty="0">
                <a:latin typeface="Calibri"/>
                <a:cs typeface="Calibri"/>
              </a:rPr>
              <a:t>gradient</a:t>
            </a:r>
            <a:r>
              <a:rPr sz="2400" spc="-25" dirty="0">
                <a:latin typeface="Calibri"/>
                <a:cs typeface="Calibri"/>
              </a:rPr>
              <a:t> </a:t>
            </a:r>
            <a:r>
              <a:rPr sz="2400" dirty="0">
                <a:latin typeface="Calibri"/>
                <a:cs typeface="Calibri"/>
              </a:rPr>
              <a:t>at </a:t>
            </a:r>
            <a:r>
              <a:rPr sz="2400" spc="-5" dirty="0">
                <a:latin typeface="Calibri"/>
                <a:cs typeface="Calibri"/>
              </a:rPr>
              <a:t>“t=k”</a:t>
            </a:r>
            <a:r>
              <a:rPr sz="2400" spc="-25" dirty="0">
                <a:latin typeface="Calibri"/>
                <a:cs typeface="Calibri"/>
              </a:rPr>
              <a:t> </a:t>
            </a:r>
            <a:r>
              <a:rPr sz="2400" dirty="0">
                <a:latin typeface="Calibri"/>
                <a:cs typeface="Calibri"/>
              </a:rPr>
              <a:t>we</a:t>
            </a:r>
            <a:r>
              <a:rPr sz="2400" spc="-5" dirty="0">
                <a:latin typeface="Calibri"/>
                <a:cs typeface="Calibri"/>
              </a:rPr>
              <a:t> </a:t>
            </a:r>
            <a:r>
              <a:rPr sz="2400" dirty="0">
                <a:latin typeface="Calibri"/>
                <a:cs typeface="Calibri"/>
              </a:rPr>
              <a:t>would</a:t>
            </a:r>
            <a:r>
              <a:rPr sz="2400" spc="-20" dirty="0">
                <a:latin typeface="Calibri"/>
                <a:cs typeface="Calibri"/>
              </a:rPr>
              <a:t> </a:t>
            </a:r>
            <a:r>
              <a:rPr sz="2400" spc="-5" dirty="0">
                <a:latin typeface="Calibri"/>
                <a:cs typeface="Calibri"/>
              </a:rPr>
              <a:t>need</a:t>
            </a:r>
            <a:r>
              <a:rPr sz="2400" dirty="0">
                <a:latin typeface="Calibri"/>
                <a:cs typeface="Calibri"/>
              </a:rPr>
              <a:t> to </a:t>
            </a:r>
            <a:r>
              <a:rPr sz="2400" spc="-530" dirty="0">
                <a:latin typeface="Calibri"/>
                <a:cs typeface="Calibri"/>
              </a:rPr>
              <a:t> </a:t>
            </a:r>
            <a:r>
              <a:rPr sz="2400" spc="-5" dirty="0">
                <a:latin typeface="Calibri"/>
                <a:cs typeface="Calibri"/>
              </a:rPr>
              <a:t>backpropagate “k-1” steps </a:t>
            </a:r>
            <a:r>
              <a:rPr sz="2400" dirty="0">
                <a:latin typeface="Calibri"/>
                <a:cs typeface="Calibri"/>
              </a:rPr>
              <a:t>and </a:t>
            </a:r>
            <a:r>
              <a:rPr sz="2400" spc="-5" dirty="0">
                <a:latin typeface="Calibri"/>
                <a:cs typeface="Calibri"/>
              </a:rPr>
              <a:t>sum up </a:t>
            </a:r>
            <a:r>
              <a:rPr sz="2400" dirty="0">
                <a:latin typeface="Calibri"/>
                <a:cs typeface="Calibri"/>
              </a:rPr>
              <a:t>the </a:t>
            </a:r>
            <a:r>
              <a:rPr sz="2400" spc="-5" dirty="0">
                <a:latin typeface="Calibri"/>
                <a:cs typeface="Calibri"/>
              </a:rPr>
              <a:t>gradients. This </a:t>
            </a:r>
            <a:r>
              <a:rPr sz="2400" dirty="0">
                <a:latin typeface="Calibri"/>
                <a:cs typeface="Calibri"/>
              </a:rPr>
              <a:t>is </a:t>
            </a:r>
            <a:r>
              <a:rPr sz="2400" spc="-530" dirty="0">
                <a:latin typeface="Calibri"/>
                <a:cs typeface="Calibri"/>
              </a:rPr>
              <a:t> </a:t>
            </a:r>
            <a:r>
              <a:rPr sz="2400" dirty="0">
                <a:latin typeface="Calibri"/>
                <a:cs typeface="Calibri"/>
              </a:rPr>
              <a:t>called</a:t>
            </a:r>
            <a:r>
              <a:rPr sz="2400" spc="-25" dirty="0">
                <a:latin typeface="Calibri"/>
                <a:cs typeface="Calibri"/>
              </a:rPr>
              <a:t> </a:t>
            </a:r>
            <a:r>
              <a:rPr sz="2400" dirty="0">
                <a:latin typeface="Calibri"/>
                <a:cs typeface="Calibri"/>
              </a:rPr>
              <a:t>Backpropagation</a:t>
            </a:r>
            <a:r>
              <a:rPr sz="2400" spc="-35" dirty="0">
                <a:latin typeface="Calibri"/>
                <a:cs typeface="Calibri"/>
              </a:rPr>
              <a:t> </a:t>
            </a:r>
            <a:r>
              <a:rPr sz="2400" spc="-5" dirty="0">
                <a:latin typeface="Calibri"/>
                <a:cs typeface="Calibri"/>
              </a:rPr>
              <a:t>Through</a:t>
            </a:r>
            <a:r>
              <a:rPr sz="2400" dirty="0">
                <a:latin typeface="Calibri"/>
                <a:cs typeface="Calibri"/>
              </a:rPr>
              <a:t> </a:t>
            </a:r>
            <a:r>
              <a:rPr sz="2400" spc="-5" dirty="0">
                <a:latin typeface="Calibri"/>
                <a:cs typeface="Calibri"/>
              </a:rPr>
              <a:t>Time </a:t>
            </a:r>
            <a:r>
              <a:rPr sz="2400" spc="-10" dirty="0">
                <a:latin typeface="Calibri"/>
                <a:cs typeface="Calibri"/>
              </a:rPr>
              <a:t>(BPTT).</a:t>
            </a:r>
            <a:endParaRPr sz="2400">
              <a:latin typeface="Calibri"/>
              <a:cs typeface="Calibri"/>
            </a:endParaRPr>
          </a:p>
          <a:p>
            <a:pPr marL="355600" marR="30480" indent="-343535">
              <a:spcBef>
                <a:spcPts val="575"/>
              </a:spcBef>
              <a:buChar char="•"/>
              <a:tabLst>
                <a:tab pos="355600" algn="l"/>
                <a:tab pos="356235" algn="l"/>
              </a:tabLst>
            </a:pPr>
            <a:r>
              <a:rPr sz="2400" dirty="0">
                <a:latin typeface="Calibri"/>
                <a:cs typeface="Calibri"/>
              </a:rPr>
              <a:t>It is </a:t>
            </a:r>
            <a:r>
              <a:rPr sz="2400" spc="-5" dirty="0">
                <a:latin typeface="Calibri"/>
                <a:cs typeface="Calibri"/>
              </a:rPr>
              <a:t>recommended </a:t>
            </a:r>
            <a:r>
              <a:rPr sz="2400" dirty="0">
                <a:latin typeface="Calibri"/>
                <a:cs typeface="Calibri"/>
              </a:rPr>
              <a:t>to convert the RNN into a layered, </a:t>
            </a:r>
            <a:r>
              <a:rPr sz="2400" spc="5" dirty="0">
                <a:latin typeface="Calibri"/>
                <a:cs typeface="Calibri"/>
              </a:rPr>
              <a:t> </a:t>
            </a:r>
            <a:r>
              <a:rPr sz="2400" spc="-5" dirty="0">
                <a:latin typeface="Calibri"/>
                <a:cs typeface="Calibri"/>
              </a:rPr>
              <a:t>feedforward net </a:t>
            </a:r>
            <a:r>
              <a:rPr sz="2400" dirty="0">
                <a:latin typeface="Calibri"/>
                <a:cs typeface="Calibri"/>
              </a:rPr>
              <a:t>and then train the </a:t>
            </a:r>
            <a:r>
              <a:rPr sz="2400" spc="-5" dirty="0">
                <a:latin typeface="Calibri"/>
                <a:cs typeface="Calibri"/>
              </a:rPr>
              <a:t>feed-forward net </a:t>
            </a:r>
            <a:r>
              <a:rPr sz="2400" dirty="0">
                <a:latin typeface="Calibri"/>
                <a:cs typeface="Calibri"/>
              </a:rPr>
              <a:t>with the BP </a:t>
            </a:r>
            <a:r>
              <a:rPr sz="2400" spc="-530" dirty="0">
                <a:latin typeface="Calibri"/>
                <a:cs typeface="Calibri"/>
              </a:rPr>
              <a:t> </a:t>
            </a:r>
            <a:r>
              <a:rPr sz="2400" dirty="0">
                <a:latin typeface="Calibri"/>
                <a:cs typeface="Calibri"/>
              </a:rPr>
              <a:t>algorithm</a:t>
            </a:r>
            <a:endParaRPr sz="2400">
              <a:latin typeface="Calibri"/>
              <a:cs typeface="Calibri"/>
            </a:endParaRPr>
          </a:p>
        </p:txBody>
      </p:sp>
      <p:sp>
        <p:nvSpPr>
          <p:cNvPr id="4" name="object 4"/>
          <p:cNvSpPr txBox="1"/>
          <p:nvPr/>
        </p:nvSpPr>
        <p:spPr>
          <a:xfrm>
            <a:off x="1844142" y="6533184"/>
            <a:ext cx="8347709" cy="258404"/>
          </a:xfrm>
          <a:prstGeom prst="rect">
            <a:avLst/>
          </a:prstGeom>
        </p:spPr>
        <p:txBody>
          <a:bodyPr vert="horz" wrap="square" lIns="0" tIns="12065" rIns="0" bIns="0" rtlCol="0">
            <a:spAutoFit/>
          </a:bodyPr>
          <a:lstStyle/>
          <a:p>
            <a:pPr marL="12700">
              <a:spcBef>
                <a:spcPts val="95"/>
              </a:spcBef>
            </a:pPr>
            <a:r>
              <a:rPr sz="1600" u="sng" spc="-5" dirty="0">
                <a:solidFill>
                  <a:srgbClr val="009999"/>
                </a:solidFill>
                <a:uFill>
                  <a:solidFill>
                    <a:srgbClr val="009999"/>
                  </a:solidFill>
                </a:uFill>
                <a:latin typeface="Arial MT"/>
                <a:cs typeface="Arial MT"/>
                <a:hlinkClick r:id="rId2"/>
              </a:rPr>
              <a:t>http://www.wildml.com/2015/09/recurrent-neural-networks-tutorial-part-1-introduction-to-rnns/</a:t>
            </a:r>
            <a:endParaRPr sz="1600">
              <a:latin typeface="Arial MT"/>
              <a:cs typeface="Arial MT"/>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854201" y="533146"/>
            <a:ext cx="3353435" cy="574040"/>
          </a:xfrm>
          <a:prstGeom prst="rect">
            <a:avLst/>
          </a:prstGeom>
        </p:spPr>
        <p:txBody>
          <a:bodyPr vert="horz" wrap="square" lIns="0" tIns="12700" rIns="0" bIns="0" rtlCol="0" anchor="ctr">
            <a:spAutoFit/>
          </a:bodyPr>
          <a:lstStyle/>
          <a:p>
            <a:pPr marL="12700">
              <a:lnSpc>
                <a:spcPct val="100000"/>
              </a:lnSpc>
              <a:spcBef>
                <a:spcPts val="100"/>
              </a:spcBef>
            </a:pPr>
            <a:r>
              <a:rPr sz="3600" spc="-5" dirty="0">
                <a:latin typeface="Arial MT"/>
                <a:cs typeface="Arial MT"/>
              </a:rPr>
              <a:t>RNNs’</a:t>
            </a:r>
            <a:r>
              <a:rPr sz="3600" spc="-85" dirty="0">
                <a:latin typeface="Arial MT"/>
                <a:cs typeface="Arial MT"/>
              </a:rPr>
              <a:t> </a:t>
            </a:r>
            <a:r>
              <a:rPr sz="3600" dirty="0">
                <a:latin typeface="Arial MT"/>
                <a:cs typeface="Arial MT"/>
              </a:rPr>
              <a:t>summary</a:t>
            </a:r>
          </a:p>
        </p:txBody>
      </p:sp>
      <p:sp>
        <p:nvSpPr>
          <p:cNvPr id="3" name="object 3"/>
          <p:cNvSpPr txBox="1"/>
          <p:nvPr/>
        </p:nvSpPr>
        <p:spPr>
          <a:xfrm>
            <a:off x="1840485" y="1930096"/>
            <a:ext cx="8696325" cy="4342765"/>
          </a:xfrm>
          <a:prstGeom prst="rect">
            <a:avLst/>
          </a:prstGeom>
        </p:spPr>
        <p:txBody>
          <a:bodyPr vert="horz" wrap="square" lIns="0" tIns="12700" rIns="0" bIns="0" rtlCol="0">
            <a:spAutoFit/>
          </a:bodyPr>
          <a:lstStyle/>
          <a:p>
            <a:pPr marL="355600" marR="467995" indent="-343535">
              <a:spcBef>
                <a:spcPts val="100"/>
              </a:spcBef>
              <a:buFont typeface="Wingdings"/>
              <a:buChar char=""/>
              <a:tabLst>
                <a:tab pos="356235" algn="l"/>
              </a:tabLst>
            </a:pPr>
            <a:r>
              <a:rPr sz="2400" dirty="0">
                <a:latin typeface="Calibri"/>
                <a:cs typeface="Calibri"/>
              </a:rPr>
              <a:t>Be aware </a:t>
            </a:r>
            <a:r>
              <a:rPr sz="2400" spc="-5" dirty="0">
                <a:latin typeface="Calibri"/>
                <a:cs typeface="Calibri"/>
              </a:rPr>
              <a:t>of </a:t>
            </a:r>
            <a:r>
              <a:rPr sz="2400" dirty="0">
                <a:latin typeface="Calibri"/>
                <a:cs typeface="Calibri"/>
              </a:rPr>
              <a:t>the </a:t>
            </a:r>
            <a:r>
              <a:rPr sz="2400" spc="-5" dirty="0">
                <a:latin typeface="Calibri"/>
                <a:cs typeface="Calibri"/>
              </a:rPr>
              <a:t>fact </a:t>
            </a:r>
            <a:r>
              <a:rPr sz="2400" dirty="0">
                <a:latin typeface="Calibri"/>
                <a:cs typeface="Calibri"/>
              </a:rPr>
              <a:t>that the RNNs trained with BPTT </a:t>
            </a:r>
            <a:r>
              <a:rPr sz="2400" spc="-5" dirty="0">
                <a:latin typeface="Calibri"/>
                <a:cs typeface="Calibri"/>
              </a:rPr>
              <a:t>have </a:t>
            </a:r>
            <a:r>
              <a:rPr sz="2400" dirty="0">
                <a:latin typeface="Calibri"/>
                <a:cs typeface="Calibri"/>
              </a:rPr>
              <a:t> </a:t>
            </a:r>
            <a:r>
              <a:rPr sz="2400" spc="-5" dirty="0">
                <a:latin typeface="Calibri"/>
                <a:cs typeface="Calibri"/>
              </a:rPr>
              <a:t>difficulties </a:t>
            </a:r>
            <a:r>
              <a:rPr sz="2400" dirty="0">
                <a:latin typeface="Calibri"/>
                <a:cs typeface="Calibri"/>
              </a:rPr>
              <a:t>learning </a:t>
            </a:r>
            <a:r>
              <a:rPr sz="2400" spc="-5" dirty="0">
                <a:latin typeface="Calibri"/>
                <a:cs typeface="Calibri"/>
              </a:rPr>
              <a:t>long-term dependencies (e.g. dependencies </a:t>
            </a:r>
            <a:r>
              <a:rPr sz="2400" spc="-530" dirty="0">
                <a:latin typeface="Calibri"/>
                <a:cs typeface="Calibri"/>
              </a:rPr>
              <a:t> </a:t>
            </a:r>
            <a:r>
              <a:rPr sz="2400" spc="-5" dirty="0">
                <a:latin typeface="Calibri"/>
                <a:cs typeface="Calibri"/>
              </a:rPr>
              <a:t>between steps </a:t>
            </a:r>
            <a:r>
              <a:rPr sz="2400" dirty="0">
                <a:latin typeface="Calibri"/>
                <a:cs typeface="Calibri"/>
              </a:rPr>
              <a:t>that are </a:t>
            </a:r>
            <a:r>
              <a:rPr sz="2400" spc="-5" dirty="0">
                <a:latin typeface="Calibri"/>
                <a:cs typeface="Calibri"/>
              </a:rPr>
              <a:t>far </a:t>
            </a:r>
            <a:r>
              <a:rPr sz="2400" dirty="0">
                <a:latin typeface="Calibri"/>
                <a:cs typeface="Calibri"/>
              </a:rPr>
              <a:t>apart) </a:t>
            </a:r>
            <a:r>
              <a:rPr sz="2400" spc="-5" dirty="0">
                <a:latin typeface="Calibri"/>
                <a:cs typeface="Calibri"/>
              </a:rPr>
              <a:t>due </a:t>
            </a:r>
            <a:r>
              <a:rPr sz="2400" dirty="0">
                <a:latin typeface="Calibri"/>
                <a:cs typeface="Calibri"/>
              </a:rPr>
              <a:t>to what is called the </a:t>
            </a:r>
            <a:r>
              <a:rPr sz="2400" spc="5" dirty="0">
                <a:latin typeface="Calibri"/>
                <a:cs typeface="Calibri"/>
              </a:rPr>
              <a:t> </a:t>
            </a:r>
            <a:r>
              <a:rPr sz="2400" spc="-5" dirty="0">
                <a:latin typeface="Calibri"/>
                <a:cs typeface="Calibri"/>
              </a:rPr>
              <a:t>vanishing/exploding</a:t>
            </a:r>
            <a:r>
              <a:rPr sz="2400" spc="-20" dirty="0">
                <a:latin typeface="Calibri"/>
                <a:cs typeface="Calibri"/>
              </a:rPr>
              <a:t> </a:t>
            </a:r>
            <a:r>
              <a:rPr sz="2400" dirty="0">
                <a:latin typeface="Calibri"/>
                <a:cs typeface="Calibri"/>
              </a:rPr>
              <a:t>gradient</a:t>
            </a:r>
            <a:r>
              <a:rPr sz="2400" spc="-20" dirty="0">
                <a:latin typeface="Calibri"/>
                <a:cs typeface="Calibri"/>
              </a:rPr>
              <a:t> </a:t>
            </a:r>
            <a:r>
              <a:rPr sz="2400" spc="-5" dirty="0">
                <a:latin typeface="Calibri"/>
                <a:cs typeface="Calibri"/>
              </a:rPr>
              <a:t>problem.</a:t>
            </a:r>
            <a:endParaRPr sz="2400">
              <a:latin typeface="Calibri"/>
              <a:cs typeface="Calibri"/>
            </a:endParaRPr>
          </a:p>
          <a:p>
            <a:pPr>
              <a:spcBef>
                <a:spcPts val="10"/>
              </a:spcBef>
              <a:buFont typeface="Wingdings"/>
              <a:buChar char=""/>
            </a:pPr>
            <a:endParaRPr sz="3300">
              <a:latin typeface="Calibri"/>
              <a:cs typeface="Calibri"/>
            </a:endParaRPr>
          </a:p>
          <a:p>
            <a:pPr marL="355600" marR="163830" indent="-343535">
              <a:buFont typeface="Wingdings"/>
              <a:buChar char=""/>
              <a:tabLst>
                <a:tab pos="356235" algn="l"/>
              </a:tabLst>
            </a:pPr>
            <a:r>
              <a:rPr sz="2400" dirty="0">
                <a:latin typeface="Calibri"/>
                <a:cs typeface="Calibri"/>
              </a:rPr>
              <a:t>Backpropagation will </a:t>
            </a:r>
            <a:r>
              <a:rPr sz="2400" spc="-5" dirty="0">
                <a:latin typeface="Calibri"/>
                <a:cs typeface="Calibri"/>
              </a:rPr>
              <a:t>be </a:t>
            </a:r>
            <a:r>
              <a:rPr sz="2400" dirty="0">
                <a:latin typeface="Calibri"/>
                <a:cs typeface="Calibri"/>
              </a:rPr>
              <a:t>very </a:t>
            </a:r>
            <a:r>
              <a:rPr sz="2400" spc="-5" dirty="0">
                <a:latin typeface="Calibri"/>
                <a:cs typeface="Calibri"/>
              </a:rPr>
              <a:t>expensive for </a:t>
            </a:r>
            <a:r>
              <a:rPr sz="2400" dirty="0">
                <a:latin typeface="Calibri"/>
                <a:cs typeface="Calibri"/>
              </a:rPr>
              <a:t>a </a:t>
            </a:r>
            <a:r>
              <a:rPr sz="2400" spc="-5" dirty="0">
                <a:latin typeface="Calibri"/>
                <a:cs typeface="Calibri"/>
              </a:rPr>
              <a:t>1,000 </a:t>
            </a:r>
            <a:r>
              <a:rPr sz="2400" dirty="0">
                <a:latin typeface="Calibri"/>
                <a:cs typeface="Calibri"/>
              </a:rPr>
              <a:t>item </a:t>
            </a:r>
            <a:r>
              <a:rPr sz="2400" spc="-5" dirty="0">
                <a:latin typeface="Calibri"/>
                <a:cs typeface="Calibri"/>
              </a:rPr>
              <a:t>sequence </a:t>
            </a:r>
            <a:r>
              <a:rPr sz="2400" spc="-530" dirty="0">
                <a:latin typeface="Calibri"/>
                <a:cs typeface="Calibri"/>
              </a:rPr>
              <a:t> </a:t>
            </a:r>
            <a:r>
              <a:rPr sz="2400" dirty="0">
                <a:latin typeface="Calibri"/>
                <a:cs typeface="Calibri"/>
              </a:rPr>
              <a:t>equivalent to a </a:t>
            </a:r>
            <a:r>
              <a:rPr sz="2400" spc="-5" dirty="0">
                <a:latin typeface="Calibri"/>
                <a:cs typeface="Calibri"/>
              </a:rPr>
              <a:t>1,000-layerfeed-forward network (e.g., </a:t>
            </a:r>
            <a:r>
              <a:rPr sz="2400" dirty="0">
                <a:latin typeface="Calibri"/>
                <a:cs typeface="Calibri"/>
              </a:rPr>
              <a:t>video </a:t>
            </a:r>
            <a:r>
              <a:rPr sz="2400" spc="5" dirty="0">
                <a:latin typeface="Calibri"/>
                <a:cs typeface="Calibri"/>
              </a:rPr>
              <a:t> </a:t>
            </a:r>
            <a:r>
              <a:rPr sz="2400" spc="-5" dirty="0">
                <a:latin typeface="Calibri"/>
                <a:cs typeface="Calibri"/>
              </a:rPr>
              <a:t>segmentation</a:t>
            </a:r>
            <a:r>
              <a:rPr sz="2400" spc="-25" dirty="0">
                <a:latin typeface="Calibri"/>
                <a:cs typeface="Calibri"/>
              </a:rPr>
              <a:t> </a:t>
            </a:r>
            <a:r>
              <a:rPr sz="2400" dirty="0">
                <a:latin typeface="Calibri"/>
                <a:cs typeface="Calibri"/>
              </a:rPr>
              <a:t>cannot</a:t>
            </a:r>
            <a:r>
              <a:rPr sz="2400" spc="-15" dirty="0">
                <a:latin typeface="Calibri"/>
                <a:cs typeface="Calibri"/>
              </a:rPr>
              <a:t> </a:t>
            </a:r>
            <a:r>
              <a:rPr sz="2400" spc="-5" dirty="0">
                <a:latin typeface="Calibri"/>
                <a:cs typeface="Calibri"/>
              </a:rPr>
              <a:t>be done</a:t>
            </a:r>
            <a:r>
              <a:rPr sz="2400" spc="-10" dirty="0">
                <a:latin typeface="Calibri"/>
                <a:cs typeface="Calibri"/>
              </a:rPr>
              <a:t> </a:t>
            </a:r>
            <a:r>
              <a:rPr sz="2400" spc="-5" dirty="0">
                <a:latin typeface="Calibri"/>
                <a:cs typeface="Calibri"/>
              </a:rPr>
              <a:t>by </a:t>
            </a:r>
            <a:r>
              <a:rPr sz="2400" dirty="0">
                <a:latin typeface="Calibri"/>
                <a:cs typeface="Calibri"/>
              </a:rPr>
              <a:t>RNN).</a:t>
            </a:r>
            <a:endParaRPr sz="2400">
              <a:latin typeface="Calibri"/>
              <a:cs typeface="Calibri"/>
            </a:endParaRPr>
          </a:p>
          <a:p>
            <a:pPr>
              <a:spcBef>
                <a:spcPts val="5"/>
              </a:spcBef>
              <a:buFont typeface="Wingdings"/>
              <a:buChar char=""/>
            </a:pPr>
            <a:endParaRPr sz="3300">
              <a:latin typeface="Calibri"/>
              <a:cs typeface="Calibri"/>
            </a:endParaRPr>
          </a:p>
          <a:p>
            <a:pPr marL="355600" marR="5080" indent="-343535">
              <a:buFont typeface="Wingdings"/>
              <a:buChar char=""/>
              <a:tabLst>
                <a:tab pos="356235" algn="l"/>
              </a:tabLst>
            </a:pPr>
            <a:r>
              <a:rPr sz="2400" spc="-5" dirty="0">
                <a:latin typeface="Calibri"/>
                <a:cs typeface="Calibri"/>
              </a:rPr>
              <a:t>Truncated BPTT </a:t>
            </a:r>
            <a:r>
              <a:rPr sz="2400" dirty="0">
                <a:latin typeface="Calibri"/>
                <a:cs typeface="Calibri"/>
              </a:rPr>
              <a:t>- </a:t>
            </a:r>
            <a:r>
              <a:rPr sz="2400" spc="-5" dirty="0">
                <a:latin typeface="Calibri"/>
                <a:cs typeface="Calibri"/>
              </a:rPr>
              <a:t>backpropagate </a:t>
            </a:r>
            <a:r>
              <a:rPr sz="2400" dirty="0">
                <a:latin typeface="Calibri"/>
                <a:cs typeface="Calibri"/>
              </a:rPr>
              <a:t>through </a:t>
            </a:r>
            <a:r>
              <a:rPr sz="2400" spc="-5" dirty="0">
                <a:latin typeface="Calibri"/>
                <a:cs typeface="Calibri"/>
              </a:rPr>
              <a:t>just </a:t>
            </a:r>
            <a:r>
              <a:rPr sz="2400" dirty="0">
                <a:latin typeface="Calibri"/>
                <a:cs typeface="Calibri"/>
              </a:rPr>
              <a:t>a </a:t>
            </a:r>
            <a:r>
              <a:rPr sz="2400" spc="-5" dirty="0">
                <a:latin typeface="Calibri"/>
                <a:cs typeface="Calibri"/>
              </a:rPr>
              <a:t>few </a:t>
            </a:r>
            <a:r>
              <a:rPr sz="2400" dirty="0">
                <a:latin typeface="Calibri"/>
                <a:cs typeface="Calibri"/>
              </a:rPr>
              <a:t>time </a:t>
            </a:r>
            <a:r>
              <a:rPr sz="2400" spc="-5" dirty="0">
                <a:latin typeface="Calibri"/>
                <a:cs typeface="Calibri"/>
              </a:rPr>
              <a:t>steps (e.g. </a:t>
            </a:r>
            <a:r>
              <a:rPr sz="2400" spc="-530" dirty="0">
                <a:latin typeface="Calibri"/>
                <a:cs typeface="Calibri"/>
              </a:rPr>
              <a:t> </a:t>
            </a:r>
            <a:r>
              <a:rPr sz="2400" dirty="0">
                <a:latin typeface="Calibri"/>
                <a:cs typeface="Calibri"/>
              </a:rPr>
              <a:t>10</a:t>
            </a:r>
            <a:r>
              <a:rPr sz="2400" spc="-15" dirty="0">
                <a:latin typeface="Calibri"/>
                <a:cs typeface="Calibri"/>
              </a:rPr>
              <a:t> </a:t>
            </a:r>
            <a:r>
              <a:rPr sz="2400" dirty="0">
                <a:latin typeface="Calibri"/>
                <a:cs typeface="Calibri"/>
              </a:rPr>
              <a:t>to</a:t>
            </a:r>
            <a:r>
              <a:rPr sz="2400" spc="-10" dirty="0">
                <a:latin typeface="Calibri"/>
                <a:cs typeface="Calibri"/>
              </a:rPr>
              <a:t> </a:t>
            </a:r>
            <a:r>
              <a:rPr sz="2400" spc="-5" dirty="0">
                <a:latin typeface="Calibri"/>
                <a:cs typeface="Calibri"/>
              </a:rPr>
              <a:t>20</a:t>
            </a:r>
            <a:r>
              <a:rPr sz="2400" spc="-20" dirty="0">
                <a:latin typeface="Calibri"/>
                <a:cs typeface="Calibri"/>
              </a:rPr>
              <a:t> </a:t>
            </a:r>
            <a:r>
              <a:rPr sz="2400" dirty="0">
                <a:latin typeface="Calibri"/>
                <a:cs typeface="Calibri"/>
              </a:rPr>
              <a:t>time</a:t>
            </a:r>
            <a:r>
              <a:rPr sz="2400" spc="-10" dirty="0">
                <a:latin typeface="Calibri"/>
                <a:cs typeface="Calibri"/>
              </a:rPr>
              <a:t> </a:t>
            </a:r>
            <a:r>
              <a:rPr sz="2400" spc="-5" dirty="0">
                <a:latin typeface="Calibri"/>
                <a:cs typeface="Calibri"/>
              </a:rPr>
              <a:t>steps).</a:t>
            </a:r>
            <a:endParaRPr sz="2400">
              <a:latin typeface="Calibri"/>
              <a:cs typeface="Calibri"/>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831340" y="752263"/>
            <a:ext cx="7693660" cy="505908"/>
          </a:xfrm>
          <a:prstGeom prst="rect">
            <a:avLst/>
          </a:prstGeom>
        </p:spPr>
        <p:txBody>
          <a:bodyPr vert="horz" wrap="square" lIns="0" tIns="13335" rIns="0" bIns="0" rtlCol="0" anchor="ctr">
            <a:spAutoFit/>
          </a:bodyPr>
          <a:lstStyle/>
          <a:p>
            <a:pPr marL="12700" marR="5080">
              <a:lnSpc>
                <a:spcPct val="100000"/>
              </a:lnSpc>
              <a:spcBef>
                <a:spcPts val="105"/>
              </a:spcBef>
            </a:pPr>
            <a:r>
              <a:rPr sz="3200" dirty="0">
                <a:latin typeface="Arial MT"/>
                <a:cs typeface="Arial MT"/>
              </a:rPr>
              <a:t>LONG</a:t>
            </a:r>
            <a:r>
              <a:rPr sz="3200" spc="-75" dirty="0">
                <a:latin typeface="Arial MT"/>
                <a:cs typeface="Arial MT"/>
              </a:rPr>
              <a:t> </a:t>
            </a:r>
            <a:r>
              <a:rPr sz="3200" dirty="0">
                <a:latin typeface="Arial MT"/>
                <a:cs typeface="Arial MT"/>
              </a:rPr>
              <a:t>SHORT-TERM </a:t>
            </a:r>
            <a:r>
              <a:rPr sz="3200" spc="-875" dirty="0">
                <a:latin typeface="Arial MT"/>
                <a:cs typeface="Arial MT"/>
              </a:rPr>
              <a:t> </a:t>
            </a:r>
            <a:r>
              <a:rPr sz="3200" dirty="0">
                <a:latin typeface="Arial MT"/>
                <a:cs typeface="Arial MT"/>
              </a:rPr>
              <a:t>MEMORY</a:t>
            </a:r>
            <a:r>
              <a:rPr sz="3200" spc="-30" dirty="0">
                <a:latin typeface="Arial MT"/>
                <a:cs typeface="Arial MT"/>
              </a:rPr>
              <a:t> </a:t>
            </a:r>
            <a:r>
              <a:rPr sz="3200" spc="-5" dirty="0">
                <a:latin typeface="Arial MT"/>
                <a:cs typeface="Arial MT"/>
              </a:rPr>
              <a:t>(LSTM)</a:t>
            </a:r>
            <a:endParaRPr sz="3200" dirty="0">
              <a:latin typeface="Arial MT"/>
              <a:cs typeface="Arial MT"/>
            </a:endParaRPr>
          </a:p>
        </p:txBody>
      </p:sp>
      <p:sp>
        <p:nvSpPr>
          <p:cNvPr id="3" name="object 3"/>
          <p:cNvSpPr txBox="1"/>
          <p:nvPr/>
        </p:nvSpPr>
        <p:spPr>
          <a:xfrm>
            <a:off x="1834998" y="2002663"/>
            <a:ext cx="5379085" cy="3227070"/>
          </a:xfrm>
          <a:prstGeom prst="rect">
            <a:avLst/>
          </a:prstGeom>
        </p:spPr>
        <p:txBody>
          <a:bodyPr vert="horz" wrap="square" lIns="0" tIns="13335" rIns="0" bIns="0" rtlCol="0">
            <a:spAutoFit/>
          </a:bodyPr>
          <a:lstStyle/>
          <a:p>
            <a:pPr marL="355600" marR="176530" indent="-342900">
              <a:spcBef>
                <a:spcPts val="105"/>
              </a:spcBef>
              <a:buFont typeface="Wingdings"/>
              <a:buChar char=""/>
              <a:tabLst>
                <a:tab pos="355600" algn="l"/>
              </a:tabLst>
            </a:pPr>
            <a:r>
              <a:rPr sz="2000" b="1" dirty="0">
                <a:latin typeface="Calibri"/>
                <a:cs typeface="Calibri"/>
              </a:rPr>
              <a:t>An LSTM is a </a:t>
            </a:r>
            <a:r>
              <a:rPr sz="2000" b="1" spc="-5" dirty="0">
                <a:latin typeface="Calibri"/>
                <a:cs typeface="Calibri"/>
              </a:rPr>
              <a:t>special </a:t>
            </a:r>
            <a:r>
              <a:rPr sz="2000" b="1" dirty="0">
                <a:latin typeface="Calibri"/>
                <a:cs typeface="Calibri"/>
              </a:rPr>
              <a:t>kind of RNN </a:t>
            </a:r>
            <a:r>
              <a:rPr sz="2000" b="1" spc="-5" dirty="0">
                <a:latin typeface="Calibri"/>
                <a:cs typeface="Calibri"/>
              </a:rPr>
              <a:t>architecture, </a:t>
            </a:r>
            <a:r>
              <a:rPr sz="2000" b="1" spc="-440" dirty="0">
                <a:latin typeface="Calibri"/>
                <a:cs typeface="Calibri"/>
              </a:rPr>
              <a:t> </a:t>
            </a:r>
            <a:r>
              <a:rPr sz="2000" b="1" spc="-5" dirty="0">
                <a:latin typeface="Calibri"/>
                <a:cs typeface="Calibri"/>
              </a:rPr>
              <a:t>capable</a:t>
            </a:r>
            <a:r>
              <a:rPr sz="2000" b="1" spc="-20" dirty="0">
                <a:latin typeface="Calibri"/>
                <a:cs typeface="Calibri"/>
              </a:rPr>
              <a:t> </a:t>
            </a:r>
            <a:r>
              <a:rPr sz="2000" b="1" dirty="0">
                <a:latin typeface="Calibri"/>
                <a:cs typeface="Calibri"/>
              </a:rPr>
              <a:t>of </a:t>
            </a:r>
            <a:r>
              <a:rPr sz="2000" b="1" spc="-5" dirty="0">
                <a:latin typeface="Calibri"/>
                <a:cs typeface="Calibri"/>
              </a:rPr>
              <a:t>learning</a:t>
            </a:r>
            <a:r>
              <a:rPr sz="2000" b="1" spc="-10" dirty="0">
                <a:latin typeface="Calibri"/>
                <a:cs typeface="Calibri"/>
              </a:rPr>
              <a:t> </a:t>
            </a:r>
            <a:r>
              <a:rPr sz="2000" b="1" dirty="0">
                <a:latin typeface="Calibri"/>
                <a:cs typeface="Calibri"/>
              </a:rPr>
              <a:t>long-term</a:t>
            </a:r>
            <a:r>
              <a:rPr sz="2000" b="1" spc="-25" dirty="0">
                <a:latin typeface="Calibri"/>
                <a:cs typeface="Calibri"/>
              </a:rPr>
              <a:t> </a:t>
            </a:r>
            <a:r>
              <a:rPr sz="2000" b="1" dirty="0">
                <a:latin typeface="Calibri"/>
                <a:cs typeface="Calibri"/>
              </a:rPr>
              <a:t>dependencies.</a:t>
            </a:r>
            <a:endParaRPr sz="2000">
              <a:latin typeface="Calibri"/>
              <a:cs typeface="Calibri"/>
            </a:endParaRPr>
          </a:p>
          <a:p>
            <a:pPr marL="355600" indent="-342900">
              <a:spcBef>
                <a:spcPts val="900"/>
              </a:spcBef>
              <a:buFont typeface="Wingdings"/>
              <a:buChar char=""/>
              <a:tabLst>
                <a:tab pos="355600" algn="l"/>
              </a:tabLst>
            </a:pPr>
            <a:r>
              <a:rPr sz="2000" b="1" dirty="0">
                <a:latin typeface="Calibri"/>
                <a:cs typeface="Calibri"/>
              </a:rPr>
              <a:t>LSTMs</a:t>
            </a:r>
            <a:r>
              <a:rPr sz="2000" b="1" spc="-25" dirty="0">
                <a:latin typeface="Calibri"/>
                <a:cs typeface="Calibri"/>
              </a:rPr>
              <a:t> </a:t>
            </a:r>
            <a:r>
              <a:rPr sz="2000" b="1" spc="-5" dirty="0">
                <a:latin typeface="Calibri"/>
                <a:cs typeface="Calibri"/>
              </a:rPr>
              <a:t>are</a:t>
            </a:r>
            <a:r>
              <a:rPr sz="2000" b="1" spc="10" dirty="0">
                <a:latin typeface="Calibri"/>
                <a:cs typeface="Calibri"/>
              </a:rPr>
              <a:t> </a:t>
            </a:r>
            <a:r>
              <a:rPr sz="2000" b="1" dirty="0">
                <a:latin typeface="Calibri"/>
                <a:cs typeface="Calibri"/>
              </a:rPr>
              <a:t>explicitly</a:t>
            </a:r>
            <a:r>
              <a:rPr sz="2000" b="1" spc="-35" dirty="0">
                <a:latin typeface="Calibri"/>
                <a:cs typeface="Calibri"/>
              </a:rPr>
              <a:t> </a:t>
            </a:r>
            <a:r>
              <a:rPr sz="2000" b="1" dirty="0">
                <a:latin typeface="Calibri"/>
                <a:cs typeface="Calibri"/>
              </a:rPr>
              <a:t>designed to</a:t>
            </a:r>
            <a:r>
              <a:rPr sz="2000" b="1" spc="-25" dirty="0">
                <a:latin typeface="Calibri"/>
                <a:cs typeface="Calibri"/>
              </a:rPr>
              <a:t> </a:t>
            </a:r>
            <a:r>
              <a:rPr sz="2000" b="1" dirty="0">
                <a:latin typeface="Calibri"/>
                <a:cs typeface="Calibri"/>
              </a:rPr>
              <a:t>avoid</a:t>
            </a:r>
            <a:r>
              <a:rPr sz="2000" b="1" spc="-10" dirty="0">
                <a:latin typeface="Calibri"/>
                <a:cs typeface="Calibri"/>
              </a:rPr>
              <a:t> </a:t>
            </a:r>
            <a:r>
              <a:rPr sz="2000" b="1" dirty="0">
                <a:latin typeface="Calibri"/>
                <a:cs typeface="Calibri"/>
              </a:rPr>
              <a:t>the</a:t>
            </a:r>
            <a:r>
              <a:rPr sz="2000" b="1" spc="-15" dirty="0">
                <a:latin typeface="Calibri"/>
                <a:cs typeface="Calibri"/>
              </a:rPr>
              <a:t> </a:t>
            </a:r>
            <a:r>
              <a:rPr sz="2000" b="1" spc="-5" dirty="0">
                <a:latin typeface="Calibri"/>
                <a:cs typeface="Calibri"/>
              </a:rPr>
              <a:t>long-</a:t>
            </a:r>
            <a:endParaRPr sz="2000">
              <a:latin typeface="Calibri"/>
              <a:cs typeface="Calibri"/>
            </a:endParaRPr>
          </a:p>
          <a:p>
            <a:pPr marL="355600"/>
            <a:r>
              <a:rPr sz="2000" b="1" dirty="0">
                <a:latin typeface="Calibri"/>
                <a:cs typeface="Calibri"/>
              </a:rPr>
              <a:t>term</a:t>
            </a:r>
            <a:r>
              <a:rPr sz="2000" b="1" spc="-30" dirty="0">
                <a:latin typeface="Calibri"/>
                <a:cs typeface="Calibri"/>
              </a:rPr>
              <a:t> </a:t>
            </a:r>
            <a:r>
              <a:rPr sz="2000" b="1" dirty="0">
                <a:latin typeface="Calibri"/>
                <a:cs typeface="Calibri"/>
              </a:rPr>
              <a:t>dependency</a:t>
            </a:r>
            <a:r>
              <a:rPr sz="2000" b="1" spc="-35" dirty="0">
                <a:latin typeface="Calibri"/>
                <a:cs typeface="Calibri"/>
              </a:rPr>
              <a:t> </a:t>
            </a:r>
            <a:r>
              <a:rPr sz="2000" b="1" dirty="0">
                <a:latin typeface="Calibri"/>
                <a:cs typeface="Calibri"/>
              </a:rPr>
              <a:t>problem.</a:t>
            </a:r>
            <a:endParaRPr sz="2000">
              <a:latin typeface="Calibri"/>
              <a:cs typeface="Calibri"/>
            </a:endParaRPr>
          </a:p>
          <a:p>
            <a:pPr marL="355600" marR="280670" indent="-342900">
              <a:spcBef>
                <a:spcPts val="900"/>
              </a:spcBef>
              <a:buFont typeface="Wingdings"/>
              <a:buChar char=""/>
              <a:tabLst>
                <a:tab pos="355600" algn="l"/>
              </a:tabLst>
            </a:pPr>
            <a:r>
              <a:rPr sz="2000" b="1" dirty="0">
                <a:latin typeface="Calibri"/>
                <a:cs typeface="Calibri"/>
              </a:rPr>
              <a:t>An</a:t>
            </a:r>
            <a:r>
              <a:rPr sz="2000" b="1" spc="-15" dirty="0">
                <a:latin typeface="Calibri"/>
                <a:cs typeface="Calibri"/>
              </a:rPr>
              <a:t> </a:t>
            </a:r>
            <a:r>
              <a:rPr sz="2000" b="1" dirty="0">
                <a:latin typeface="Calibri"/>
                <a:cs typeface="Calibri"/>
              </a:rPr>
              <a:t>LSTM</a:t>
            </a:r>
            <a:r>
              <a:rPr sz="2000" b="1" spc="-15" dirty="0">
                <a:latin typeface="Calibri"/>
                <a:cs typeface="Calibri"/>
              </a:rPr>
              <a:t> </a:t>
            </a:r>
            <a:r>
              <a:rPr sz="2000" b="1" spc="-5" dirty="0">
                <a:latin typeface="Calibri"/>
                <a:cs typeface="Calibri"/>
              </a:rPr>
              <a:t>can</a:t>
            </a:r>
            <a:r>
              <a:rPr sz="2000" b="1" spc="-10" dirty="0">
                <a:latin typeface="Calibri"/>
                <a:cs typeface="Calibri"/>
              </a:rPr>
              <a:t> </a:t>
            </a:r>
            <a:r>
              <a:rPr sz="2000" b="1" spc="-5" dirty="0">
                <a:latin typeface="Calibri"/>
                <a:cs typeface="Calibri"/>
              </a:rPr>
              <a:t>learn</a:t>
            </a:r>
            <a:r>
              <a:rPr sz="2000" b="1" spc="-10" dirty="0">
                <a:latin typeface="Calibri"/>
                <a:cs typeface="Calibri"/>
              </a:rPr>
              <a:t> </a:t>
            </a:r>
            <a:r>
              <a:rPr sz="2000" b="1" dirty="0">
                <a:latin typeface="Calibri"/>
                <a:cs typeface="Calibri"/>
              </a:rPr>
              <a:t>to</a:t>
            </a:r>
            <a:r>
              <a:rPr sz="2000" b="1" spc="-15" dirty="0">
                <a:latin typeface="Calibri"/>
                <a:cs typeface="Calibri"/>
              </a:rPr>
              <a:t> </a:t>
            </a:r>
            <a:r>
              <a:rPr sz="2000" b="1" dirty="0">
                <a:latin typeface="Calibri"/>
                <a:cs typeface="Calibri"/>
              </a:rPr>
              <a:t>bridge</a:t>
            </a:r>
            <a:r>
              <a:rPr sz="2000" b="1" spc="-15" dirty="0">
                <a:latin typeface="Calibri"/>
                <a:cs typeface="Calibri"/>
              </a:rPr>
              <a:t> </a:t>
            </a:r>
            <a:r>
              <a:rPr sz="2000" b="1" dirty="0">
                <a:latin typeface="Calibri"/>
                <a:cs typeface="Calibri"/>
              </a:rPr>
              <a:t>time</a:t>
            </a:r>
            <a:r>
              <a:rPr sz="2000" b="1" spc="-20" dirty="0">
                <a:latin typeface="Calibri"/>
                <a:cs typeface="Calibri"/>
              </a:rPr>
              <a:t> </a:t>
            </a:r>
            <a:r>
              <a:rPr sz="2000" b="1" dirty="0">
                <a:latin typeface="Calibri"/>
                <a:cs typeface="Calibri"/>
              </a:rPr>
              <a:t>intervals</a:t>
            </a:r>
            <a:r>
              <a:rPr sz="2000" b="1" spc="-5" dirty="0">
                <a:latin typeface="Calibri"/>
                <a:cs typeface="Calibri"/>
              </a:rPr>
              <a:t> </a:t>
            </a:r>
            <a:r>
              <a:rPr sz="2000" b="1" dirty="0">
                <a:latin typeface="Calibri"/>
                <a:cs typeface="Calibri"/>
              </a:rPr>
              <a:t>in </a:t>
            </a:r>
            <a:r>
              <a:rPr sz="2000" b="1" spc="-434" dirty="0">
                <a:latin typeface="Calibri"/>
                <a:cs typeface="Calibri"/>
              </a:rPr>
              <a:t> </a:t>
            </a:r>
            <a:r>
              <a:rPr sz="2000" b="1" spc="-5" dirty="0">
                <a:latin typeface="Calibri"/>
                <a:cs typeface="Calibri"/>
              </a:rPr>
              <a:t>excess</a:t>
            </a:r>
            <a:r>
              <a:rPr sz="2000" b="1" spc="-10" dirty="0">
                <a:latin typeface="Calibri"/>
                <a:cs typeface="Calibri"/>
              </a:rPr>
              <a:t> </a:t>
            </a:r>
            <a:r>
              <a:rPr sz="2000" b="1" dirty="0">
                <a:latin typeface="Calibri"/>
                <a:cs typeface="Calibri"/>
              </a:rPr>
              <a:t>of</a:t>
            </a:r>
            <a:r>
              <a:rPr sz="2000" b="1" spc="5" dirty="0">
                <a:latin typeface="Calibri"/>
                <a:cs typeface="Calibri"/>
              </a:rPr>
              <a:t> </a:t>
            </a:r>
            <a:r>
              <a:rPr sz="2000" b="1" dirty="0">
                <a:latin typeface="Calibri"/>
                <a:cs typeface="Calibri"/>
              </a:rPr>
              <a:t>1000</a:t>
            </a:r>
            <a:r>
              <a:rPr sz="2000" b="1" spc="-25" dirty="0">
                <a:latin typeface="Calibri"/>
                <a:cs typeface="Calibri"/>
              </a:rPr>
              <a:t> </a:t>
            </a:r>
            <a:r>
              <a:rPr sz="2000" b="1" dirty="0">
                <a:latin typeface="Calibri"/>
                <a:cs typeface="Calibri"/>
              </a:rPr>
              <a:t>steps.</a:t>
            </a:r>
            <a:endParaRPr sz="2000">
              <a:latin typeface="Calibri"/>
              <a:cs typeface="Calibri"/>
            </a:endParaRPr>
          </a:p>
          <a:p>
            <a:pPr>
              <a:spcBef>
                <a:spcPts val="30"/>
              </a:spcBef>
              <a:buFont typeface="Wingdings"/>
              <a:buChar char=""/>
            </a:pPr>
            <a:endParaRPr sz="1450">
              <a:latin typeface="Calibri"/>
              <a:cs typeface="Calibri"/>
            </a:endParaRPr>
          </a:p>
          <a:p>
            <a:pPr marL="355600" marR="447675" indent="-342900">
              <a:buFont typeface="Wingdings"/>
              <a:buChar char=""/>
              <a:tabLst>
                <a:tab pos="355600" algn="l"/>
              </a:tabLst>
            </a:pPr>
            <a:r>
              <a:rPr sz="2000" b="1" dirty="0">
                <a:latin typeface="Calibri"/>
                <a:cs typeface="Calibri"/>
              </a:rPr>
              <a:t>This is achieved by </a:t>
            </a:r>
            <a:r>
              <a:rPr sz="2000" b="1" spc="-5" dirty="0">
                <a:latin typeface="Calibri"/>
                <a:cs typeface="Calibri"/>
              </a:rPr>
              <a:t>multiplicative gate </a:t>
            </a:r>
            <a:r>
              <a:rPr sz="2000" b="1" dirty="0">
                <a:latin typeface="Calibri"/>
                <a:cs typeface="Calibri"/>
              </a:rPr>
              <a:t>units </a:t>
            </a:r>
            <a:r>
              <a:rPr sz="2000" b="1" spc="-440" dirty="0">
                <a:latin typeface="Calibri"/>
                <a:cs typeface="Calibri"/>
              </a:rPr>
              <a:t> </a:t>
            </a:r>
            <a:r>
              <a:rPr sz="2000" b="1" dirty="0">
                <a:latin typeface="Calibri"/>
                <a:cs typeface="Calibri"/>
              </a:rPr>
              <a:t>that </a:t>
            </a:r>
            <a:r>
              <a:rPr sz="2000" b="1" spc="-5" dirty="0">
                <a:latin typeface="Calibri"/>
                <a:cs typeface="Calibri"/>
              </a:rPr>
              <a:t>learn </a:t>
            </a:r>
            <a:r>
              <a:rPr sz="2000" b="1" dirty="0">
                <a:latin typeface="Calibri"/>
                <a:cs typeface="Calibri"/>
              </a:rPr>
              <a:t>to open </a:t>
            </a:r>
            <a:r>
              <a:rPr sz="2000" b="1" spc="-5" dirty="0">
                <a:latin typeface="Calibri"/>
                <a:cs typeface="Calibri"/>
              </a:rPr>
              <a:t>and close access </a:t>
            </a:r>
            <a:r>
              <a:rPr sz="2000" b="1" dirty="0">
                <a:latin typeface="Calibri"/>
                <a:cs typeface="Calibri"/>
              </a:rPr>
              <a:t>to the </a:t>
            </a:r>
            <a:r>
              <a:rPr sz="2000" b="1" spc="5" dirty="0">
                <a:latin typeface="Calibri"/>
                <a:cs typeface="Calibri"/>
              </a:rPr>
              <a:t> </a:t>
            </a:r>
            <a:r>
              <a:rPr sz="2000" b="1" dirty="0">
                <a:latin typeface="Calibri"/>
                <a:cs typeface="Calibri"/>
              </a:rPr>
              <a:t>constant</a:t>
            </a:r>
            <a:r>
              <a:rPr sz="2000" b="1" spc="-35" dirty="0">
                <a:latin typeface="Calibri"/>
                <a:cs typeface="Calibri"/>
              </a:rPr>
              <a:t> </a:t>
            </a:r>
            <a:r>
              <a:rPr sz="2000" b="1" spc="-5" dirty="0">
                <a:latin typeface="Calibri"/>
                <a:cs typeface="Calibri"/>
              </a:rPr>
              <a:t>error</a:t>
            </a:r>
            <a:r>
              <a:rPr sz="2000" b="1" dirty="0">
                <a:latin typeface="Calibri"/>
                <a:cs typeface="Calibri"/>
              </a:rPr>
              <a:t> </a:t>
            </a:r>
            <a:r>
              <a:rPr sz="2000" b="1" spc="-5" dirty="0">
                <a:latin typeface="Calibri"/>
                <a:cs typeface="Calibri"/>
              </a:rPr>
              <a:t>flow.</a:t>
            </a:r>
            <a:endParaRPr sz="2000">
              <a:latin typeface="Calibri"/>
              <a:cs typeface="Calibri"/>
            </a:endParaRPr>
          </a:p>
        </p:txBody>
      </p:sp>
      <p:pic>
        <p:nvPicPr>
          <p:cNvPr id="4" name="object 4"/>
          <p:cNvPicPr/>
          <p:nvPr/>
        </p:nvPicPr>
        <p:blipFill>
          <a:blip r:embed="rId2" cstate="print"/>
          <a:stretch>
            <a:fillRect/>
          </a:stretch>
        </p:blipFill>
        <p:spPr>
          <a:xfrm>
            <a:off x="7331965" y="3788664"/>
            <a:ext cx="3305555" cy="2324100"/>
          </a:xfrm>
          <a:prstGeom prst="rect">
            <a:avLst/>
          </a:prstGeom>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091565" y="384760"/>
            <a:ext cx="5315839" cy="696595"/>
          </a:xfrm>
          <a:prstGeom prst="rect">
            <a:avLst/>
          </a:prstGeom>
        </p:spPr>
        <p:txBody>
          <a:bodyPr vert="horz" wrap="square" lIns="0" tIns="13335" rIns="0" bIns="0" rtlCol="0" anchor="ctr">
            <a:spAutoFit/>
          </a:bodyPr>
          <a:lstStyle/>
          <a:p>
            <a:pPr marL="12700">
              <a:lnSpc>
                <a:spcPct val="100000"/>
              </a:lnSpc>
              <a:spcBef>
                <a:spcPts val="105"/>
              </a:spcBef>
            </a:pPr>
            <a:r>
              <a:rPr sz="4400" dirty="0">
                <a:latin typeface="Arial MT"/>
                <a:cs typeface="Arial MT"/>
              </a:rPr>
              <a:t>RNN</a:t>
            </a:r>
            <a:r>
              <a:rPr sz="4400" spc="-40" dirty="0">
                <a:latin typeface="Arial MT"/>
                <a:cs typeface="Arial MT"/>
              </a:rPr>
              <a:t> </a:t>
            </a:r>
            <a:r>
              <a:rPr sz="4400" dirty="0">
                <a:latin typeface="Arial MT"/>
                <a:cs typeface="Arial MT"/>
              </a:rPr>
              <a:t>vs.</a:t>
            </a:r>
            <a:r>
              <a:rPr sz="4400" spc="-35" dirty="0">
                <a:latin typeface="Arial MT"/>
                <a:cs typeface="Arial MT"/>
              </a:rPr>
              <a:t> </a:t>
            </a:r>
            <a:r>
              <a:rPr sz="4400" dirty="0">
                <a:latin typeface="Arial MT"/>
                <a:cs typeface="Arial MT"/>
              </a:rPr>
              <a:t>LSTM</a:t>
            </a:r>
          </a:p>
        </p:txBody>
      </p:sp>
      <p:sp>
        <p:nvSpPr>
          <p:cNvPr id="3" name="object 3"/>
          <p:cNvSpPr txBox="1"/>
          <p:nvPr/>
        </p:nvSpPr>
        <p:spPr>
          <a:xfrm>
            <a:off x="1879498" y="1851788"/>
            <a:ext cx="3810000" cy="941069"/>
          </a:xfrm>
          <a:prstGeom prst="rect">
            <a:avLst/>
          </a:prstGeom>
        </p:spPr>
        <p:txBody>
          <a:bodyPr vert="horz" wrap="square" lIns="0" tIns="13335" rIns="0" bIns="0" rtlCol="0">
            <a:spAutoFit/>
          </a:bodyPr>
          <a:lstStyle/>
          <a:p>
            <a:pPr marL="12700" marR="5080">
              <a:spcBef>
                <a:spcPts val="105"/>
              </a:spcBef>
            </a:pPr>
            <a:r>
              <a:rPr sz="2000" b="1" dirty="0">
                <a:latin typeface="Arial"/>
                <a:cs typeface="Arial"/>
              </a:rPr>
              <a:t>Based</a:t>
            </a:r>
            <a:r>
              <a:rPr sz="2000" b="1" spc="-25" dirty="0">
                <a:latin typeface="Arial"/>
                <a:cs typeface="Arial"/>
              </a:rPr>
              <a:t> </a:t>
            </a:r>
            <a:r>
              <a:rPr sz="2000" b="1" dirty="0">
                <a:latin typeface="Arial"/>
                <a:cs typeface="Arial"/>
              </a:rPr>
              <a:t>on</a:t>
            </a:r>
            <a:r>
              <a:rPr sz="2000" b="1" spc="-10" dirty="0">
                <a:latin typeface="Arial"/>
                <a:cs typeface="Arial"/>
              </a:rPr>
              <a:t> </a:t>
            </a:r>
            <a:r>
              <a:rPr sz="2000" b="1" dirty="0">
                <a:latin typeface="Arial"/>
                <a:cs typeface="Arial"/>
              </a:rPr>
              <a:t>a</a:t>
            </a:r>
            <a:r>
              <a:rPr sz="2000" b="1" spc="-35" dirty="0">
                <a:latin typeface="Arial"/>
                <a:cs typeface="Arial"/>
              </a:rPr>
              <a:t> </a:t>
            </a:r>
            <a:r>
              <a:rPr sz="2000" b="1" dirty="0">
                <a:latin typeface="Arial"/>
                <a:cs typeface="Arial"/>
              </a:rPr>
              <a:t>standard</a:t>
            </a:r>
            <a:r>
              <a:rPr sz="2000" b="1" spc="-35" dirty="0">
                <a:latin typeface="Arial"/>
                <a:cs typeface="Arial"/>
              </a:rPr>
              <a:t> </a:t>
            </a:r>
            <a:r>
              <a:rPr sz="2000" b="1" dirty="0">
                <a:latin typeface="Arial"/>
                <a:cs typeface="Arial"/>
              </a:rPr>
              <a:t>RNN</a:t>
            </a:r>
            <a:r>
              <a:rPr sz="2000" b="1" spc="-10" dirty="0">
                <a:latin typeface="Arial"/>
                <a:cs typeface="Arial"/>
              </a:rPr>
              <a:t> </a:t>
            </a:r>
            <a:r>
              <a:rPr sz="2000" b="1" dirty="0">
                <a:latin typeface="Arial"/>
                <a:cs typeface="Arial"/>
              </a:rPr>
              <a:t>(with </a:t>
            </a:r>
            <a:r>
              <a:rPr sz="2000" b="1" spc="-540" dirty="0">
                <a:latin typeface="Arial"/>
                <a:cs typeface="Arial"/>
              </a:rPr>
              <a:t> </a:t>
            </a:r>
            <a:r>
              <a:rPr sz="2000" b="1" dirty="0">
                <a:latin typeface="Arial"/>
                <a:cs typeface="Arial"/>
              </a:rPr>
              <a:t>a </a:t>
            </a:r>
            <a:r>
              <a:rPr sz="2000" b="1" spc="-5" dirty="0">
                <a:latin typeface="Arial"/>
                <a:cs typeface="Arial"/>
              </a:rPr>
              <a:t>single layer) </a:t>
            </a:r>
            <a:r>
              <a:rPr sz="2000" b="1" spc="10" dirty="0">
                <a:latin typeface="Arial"/>
                <a:cs typeface="Arial"/>
              </a:rPr>
              <a:t>whose </a:t>
            </a:r>
            <a:r>
              <a:rPr sz="2000" b="1" dirty="0">
                <a:latin typeface="Arial"/>
                <a:cs typeface="Arial"/>
              </a:rPr>
              <a:t>neuron </a:t>
            </a:r>
            <a:r>
              <a:rPr sz="2000" b="1" spc="5" dirty="0">
                <a:latin typeface="Arial"/>
                <a:cs typeface="Arial"/>
              </a:rPr>
              <a:t> </a:t>
            </a:r>
            <a:r>
              <a:rPr sz="2000" b="1" spc="-5" dirty="0">
                <a:latin typeface="Arial"/>
                <a:cs typeface="Arial"/>
              </a:rPr>
              <a:t>activates</a:t>
            </a:r>
            <a:r>
              <a:rPr sz="2000" b="1" spc="-35" dirty="0">
                <a:latin typeface="Arial"/>
                <a:cs typeface="Arial"/>
              </a:rPr>
              <a:t> </a:t>
            </a:r>
            <a:r>
              <a:rPr sz="2000" b="1" spc="5" dirty="0">
                <a:latin typeface="Arial"/>
                <a:cs typeface="Arial"/>
              </a:rPr>
              <a:t>with</a:t>
            </a:r>
            <a:r>
              <a:rPr sz="2000" b="1" spc="-55" dirty="0">
                <a:latin typeface="Arial"/>
                <a:cs typeface="Arial"/>
              </a:rPr>
              <a:t> </a:t>
            </a:r>
            <a:r>
              <a:rPr sz="2000" b="1" spc="-5" dirty="0">
                <a:latin typeface="Arial"/>
                <a:cs typeface="Arial"/>
              </a:rPr>
              <a:t>“tanh”...</a:t>
            </a:r>
            <a:endParaRPr sz="2000">
              <a:latin typeface="Arial"/>
              <a:cs typeface="Arial"/>
            </a:endParaRPr>
          </a:p>
        </p:txBody>
      </p:sp>
      <p:sp>
        <p:nvSpPr>
          <p:cNvPr id="4" name="object 4"/>
          <p:cNvSpPr txBox="1"/>
          <p:nvPr/>
        </p:nvSpPr>
        <p:spPr>
          <a:xfrm>
            <a:off x="6644133" y="2160778"/>
            <a:ext cx="3326129" cy="941069"/>
          </a:xfrm>
          <a:prstGeom prst="rect">
            <a:avLst/>
          </a:prstGeom>
        </p:spPr>
        <p:txBody>
          <a:bodyPr vert="horz" wrap="square" lIns="0" tIns="13335" rIns="0" bIns="0" rtlCol="0">
            <a:spAutoFit/>
          </a:bodyPr>
          <a:lstStyle/>
          <a:p>
            <a:pPr marL="12700" marR="5080">
              <a:spcBef>
                <a:spcPts val="105"/>
              </a:spcBef>
            </a:pPr>
            <a:r>
              <a:rPr sz="2000" b="1" dirty="0">
                <a:latin typeface="Arial"/>
                <a:cs typeface="Arial"/>
              </a:rPr>
              <a:t>The</a:t>
            </a:r>
            <a:r>
              <a:rPr sz="2000" b="1" spc="-20" dirty="0">
                <a:latin typeface="Arial"/>
                <a:cs typeface="Arial"/>
              </a:rPr>
              <a:t> </a:t>
            </a:r>
            <a:r>
              <a:rPr sz="2000" b="1" dirty="0">
                <a:latin typeface="Arial"/>
                <a:cs typeface="Arial"/>
              </a:rPr>
              <a:t>repeating</a:t>
            </a:r>
            <a:r>
              <a:rPr sz="2000" b="1" spc="-50" dirty="0">
                <a:latin typeface="Arial"/>
                <a:cs typeface="Arial"/>
              </a:rPr>
              <a:t> </a:t>
            </a:r>
            <a:r>
              <a:rPr sz="2000" b="1" dirty="0">
                <a:latin typeface="Arial"/>
                <a:cs typeface="Arial"/>
              </a:rPr>
              <a:t>module</a:t>
            </a:r>
            <a:r>
              <a:rPr sz="2000" b="1" spc="-35" dirty="0">
                <a:latin typeface="Arial"/>
                <a:cs typeface="Arial"/>
              </a:rPr>
              <a:t> </a:t>
            </a:r>
            <a:r>
              <a:rPr sz="2000" b="1" dirty="0">
                <a:latin typeface="Arial"/>
                <a:cs typeface="Arial"/>
              </a:rPr>
              <a:t>in</a:t>
            </a:r>
            <a:r>
              <a:rPr sz="2000" b="1" spc="-25" dirty="0">
                <a:latin typeface="Arial"/>
                <a:cs typeface="Arial"/>
              </a:rPr>
              <a:t> </a:t>
            </a:r>
            <a:r>
              <a:rPr sz="2000" b="1" dirty="0">
                <a:latin typeface="Arial"/>
                <a:cs typeface="Arial"/>
              </a:rPr>
              <a:t>an </a:t>
            </a:r>
            <a:r>
              <a:rPr sz="2000" b="1" spc="-540" dirty="0">
                <a:latin typeface="Arial"/>
                <a:cs typeface="Arial"/>
              </a:rPr>
              <a:t> </a:t>
            </a:r>
            <a:r>
              <a:rPr sz="2000" b="1" dirty="0">
                <a:latin typeface="Arial"/>
                <a:cs typeface="Arial"/>
              </a:rPr>
              <a:t>LSTM contains four </a:t>
            </a:r>
            <a:r>
              <a:rPr sz="2000" b="1" spc="5" dirty="0">
                <a:latin typeface="Arial"/>
                <a:cs typeface="Arial"/>
              </a:rPr>
              <a:t> </a:t>
            </a:r>
            <a:r>
              <a:rPr sz="2000" b="1" dirty="0">
                <a:latin typeface="Arial"/>
                <a:cs typeface="Arial"/>
              </a:rPr>
              <a:t>interacting</a:t>
            </a:r>
            <a:r>
              <a:rPr sz="2000" b="1" spc="-55" dirty="0">
                <a:latin typeface="Arial"/>
                <a:cs typeface="Arial"/>
              </a:rPr>
              <a:t> </a:t>
            </a:r>
            <a:r>
              <a:rPr sz="2000" b="1" spc="-5" dirty="0">
                <a:latin typeface="Arial"/>
                <a:cs typeface="Arial"/>
              </a:rPr>
              <a:t>layers.</a:t>
            </a:r>
            <a:endParaRPr sz="2000">
              <a:latin typeface="Arial"/>
              <a:cs typeface="Arial"/>
            </a:endParaRPr>
          </a:p>
        </p:txBody>
      </p:sp>
      <p:pic>
        <p:nvPicPr>
          <p:cNvPr id="5" name="object 5"/>
          <p:cNvPicPr/>
          <p:nvPr/>
        </p:nvPicPr>
        <p:blipFill>
          <a:blip r:embed="rId2" cstate="print"/>
          <a:stretch>
            <a:fillRect/>
          </a:stretch>
        </p:blipFill>
        <p:spPr>
          <a:xfrm>
            <a:off x="1991868" y="3285745"/>
            <a:ext cx="4078224" cy="1656587"/>
          </a:xfrm>
          <a:prstGeom prst="rect">
            <a:avLst/>
          </a:prstGeom>
        </p:spPr>
      </p:pic>
      <p:pic>
        <p:nvPicPr>
          <p:cNvPr id="6" name="object 6"/>
          <p:cNvPicPr/>
          <p:nvPr/>
        </p:nvPicPr>
        <p:blipFill>
          <a:blip r:embed="rId3" cstate="print"/>
          <a:stretch>
            <a:fillRect/>
          </a:stretch>
        </p:blipFill>
        <p:spPr>
          <a:xfrm>
            <a:off x="6461759" y="3285745"/>
            <a:ext cx="3989832" cy="1498091"/>
          </a:xfrm>
          <a:prstGeom prst="rect">
            <a:avLst/>
          </a:prstGeom>
        </p:spPr>
      </p:pic>
      <p:sp>
        <p:nvSpPr>
          <p:cNvPr id="7" name="object 7"/>
          <p:cNvSpPr txBox="1"/>
          <p:nvPr/>
        </p:nvSpPr>
        <p:spPr>
          <a:xfrm>
            <a:off x="1820673" y="6483197"/>
            <a:ext cx="3857625" cy="175048"/>
          </a:xfrm>
          <a:prstGeom prst="rect">
            <a:avLst/>
          </a:prstGeom>
        </p:spPr>
        <p:txBody>
          <a:bodyPr vert="horz" wrap="square" lIns="0" tIns="13335" rIns="0" bIns="0" rtlCol="0">
            <a:spAutoFit/>
          </a:bodyPr>
          <a:lstStyle/>
          <a:p>
            <a:pPr marL="12700">
              <a:spcBef>
                <a:spcPts val="105"/>
              </a:spcBef>
            </a:pPr>
            <a:r>
              <a:rPr sz="1050" dirty="0">
                <a:latin typeface="Arial MT"/>
                <a:cs typeface="Arial MT"/>
              </a:rPr>
              <a:t>Figure:</a:t>
            </a:r>
            <a:r>
              <a:rPr sz="1050" spc="-25" dirty="0">
                <a:latin typeface="Arial MT"/>
                <a:cs typeface="Arial MT"/>
              </a:rPr>
              <a:t> </a:t>
            </a:r>
            <a:r>
              <a:rPr sz="1050" dirty="0">
                <a:latin typeface="Arial MT"/>
                <a:cs typeface="Arial MT"/>
              </a:rPr>
              <a:t>Cristopher</a:t>
            </a:r>
            <a:r>
              <a:rPr sz="1050" spc="-15" dirty="0">
                <a:latin typeface="Arial MT"/>
                <a:cs typeface="Arial MT"/>
              </a:rPr>
              <a:t> </a:t>
            </a:r>
            <a:r>
              <a:rPr sz="1050" dirty="0">
                <a:latin typeface="Arial MT"/>
                <a:cs typeface="Arial MT"/>
              </a:rPr>
              <a:t>Olah,</a:t>
            </a:r>
            <a:r>
              <a:rPr sz="1050" spc="-25" dirty="0">
                <a:latin typeface="Arial MT"/>
                <a:cs typeface="Arial MT"/>
              </a:rPr>
              <a:t> </a:t>
            </a:r>
            <a:r>
              <a:rPr sz="1050" spc="-5" dirty="0">
                <a:solidFill>
                  <a:srgbClr val="1154CD"/>
                </a:solidFill>
                <a:latin typeface="Arial MT"/>
                <a:cs typeface="Arial MT"/>
              </a:rPr>
              <a:t>“Understanding</a:t>
            </a:r>
            <a:r>
              <a:rPr sz="1050" spc="-10" dirty="0">
                <a:solidFill>
                  <a:srgbClr val="1154CD"/>
                </a:solidFill>
                <a:latin typeface="Arial MT"/>
                <a:cs typeface="Arial MT"/>
              </a:rPr>
              <a:t> </a:t>
            </a:r>
            <a:r>
              <a:rPr sz="1050" dirty="0">
                <a:solidFill>
                  <a:srgbClr val="1154CD"/>
                </a:solidFill>
                <a:latin typeface="Arial MT"/>
                <a:cs typeface="Arial MT"/>
              </a:rPr>
              <a:t>LSTM</a:t>
            </a:r>
            <a:r>
              <a:rPr sz="1050" spc="-20" dirty="0">
                <a:solidFill>
                  <a:srgbClr val="1154CD"/>
                </a:solidFill>
                <a:latin typeface="Arial MT"/>
                <a:cs typeface="Arial MT"/>
              </a:rPr>
              <a:t> </a:t>
            </a:r>
            <a:r>
              <a:rPr sz="1050" dirty="0">
                <a:solidFill>
                  <a:srgbClr val="1154CD"/>
                </a:solidFill>
                <a:latin typeface="Arial MT"/>
                <a:cs typeface="Arial MT"/>
              </a:rPr>
              <a:t>Networks”</a:t>
            </a:r>
            <a:r>
              <a:rPr sz="1050" spc="-20" dirty="0">
                <a:solidFill>
                  <a:srgbClr val="1154CD"/>
                </a:solidFill>
                <a:latin typeface="Arial MT"/>
                <a:cs typeface="Arial MT"/>
              </a:rPr>
              <a:t> </a:t>
            </a:r>
            <a:r>
              <a:rPr sz="1050" dirty="0">
                <a:latin typeface="Arial MT"/>
                <a:cs typeface="Arial MT"/>
              </a:rPr>
              <a:t>(2015)</a:t>
            </a:r>
            <a:endParaRPr sz="1050">
              <a:latin typeface="Arial MT"/>
              <a:cs typeface="Arial MT"/>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25D7C4-0F38-D469-7673-50FEC5E9F051}"/>
              </a:ext>
            </a:extLst>
          </p:cNvPr>
          <p:cNvSpPr>
            <a:spLocks noGrp="1"/>
          </p:cNvSpPr>
          <p:nvPr>
            <p:ph type="title"/>
          </p:nvPr>
        </p:nvSpPr>
        <p:spPr/>
        <p:txBody>
          <a:bodyPr/>
          <a:lstStyle/>
          <a:p>
            <a:r>
              <a:rPr lang="en-GB" dirty="0">
                <a:latin typeface="Arial MT"/>
                <a:cs typeface="Arial MT"/>
              </a:rPr>
              <a:t>RNN</a:t>
            </a:r>
            <a:r>
              <a:rPr lang="en-GB" spc="-40" dirty="0">
                <a:latin typeface="Arial MT"/>
                <a:cs typeface="Arial MT"/>
              </a:rPr>
              <a:t> </a:t>
            </a:r>
            <a:r>
              <a:rPr lang="en-GB" dirty="0">
                <a:latin typeface="Arial MT"/>
                <a:cs typeface="Arial MT"/>
              </a:rPr>
              <a:t>vs.</a:t>
            </a:r>
            <a:r>
              <a:rPr lang="en-GB" spc="-35" dirty="0">
                <a:latin typeface="Arial MT"/>
                <a:cs typeface="Arial MT"/>
              </a:rPr>
              <a:t> </a:t>
            </a:r>
            <a:r>
              <a:rPr lang="en-GB" dirty="0">
                <a:latin typeface="Arial MT"/>
                <a:cs typeface="Arial MT"/>
              </a:rPr>
              <a:t>LSTM</a:t>
            </a:r>
            <a:endParaRPr lang="en-US" dirty="0"/>
          </a:p>
        </p:txBody>
      </p:sp>
      <p:sp>
        <p:nvSpPr>
          <p:cNvPr id="3" name="Content Placeholder 2">
            <a:extLst>
              <a:ext uri="{FF2B5EF4-FFF2-40B4-BE49-F238E27FC236}">
                <a16:creationId xmlns:a16="http://schemas.microsoft.com/office/drawing/2014/main" id="{01F393B5-2423-6C6B-92EF-06230207C284}"/>
              </a:ext>
            </a:extLst>
          </p:cNvPr>
          <p:cNvSpPr>
            <a:spLocks noGrp="1"/>
          </p:cNvSpPr>
          <p:nvPr>
            <p:ph sz="half" idx="2"/>
          </p:nvPr>
        </p:nvSpPr>
        <p:spPr>
          <a:xfrm>
            <a:off x="838200" y="1556558"/>
            <a:ext cx="10515600" cy="5038302"/>
          </a:xfrm>
        </p:spPr>
        <p:txBody>
          <a:bodyPr/>
          <a:lstStyle/>
          <a:p>
            <a:r>
              <a:rPr lang="en-GB" b="0" i="0" u="none" strike="noStrike" dirty="0">
                <a:solidFill>
                  <a:srgbClr val="1F1F1F"/>
                </a:solidFill>
                <a:effectLst/>
                <a:latin typeface="Google Sans"/>
              </a:rPr>
              <a:t>LSTM models are designed to overcome the vanishing gradient problem, which is a common problem in RNNs.</a:t>
            </a:r>
          </a:p>
          <a:p>
            <a:pPr algn="l"/>
            <a:r>
              <a:rPr lang="en-GB" b="0" i="0" u="none" strike="noStrike" dirty="0">
                <a:solidFill>
                  <a:srgbClr val="1F1F1F"/>
                </a:solidFill>
                <a:effectLst/>
                <a:latin typeface="Google Sans"/>
              </a:rPr>
              <a:t>The vanishing gradient problem is a problem that occurs in training recurrent neural networks (RNNs). It occurs when the gradients used to update the weights of the network become very small, making it difficult for the network to learn.</a:t>
            </a:r>
          </a:p>
          <a:p>
            <a:pPr algn="l"/>
            <a:r>
              <a:rPr lang="en-GB" b="0" i="0" u="none" strike="noStrike" dirty="0">
                <a:solidFill>
                  <a:srgbClr val="1F1F1F"/>
                </a:solidFill>
                <a:effectLst/>
                <a:latin typeface="Google Sans"/>
              </a:rPr>
              <a:t>The vanishing gradient problem is caused by the fact that RNNs use recurrent connections. Recurrent connections allow the network to learn long-range dependencies in the data, but they also make the network more prone to the vanishing gradient problem.</a:t>
            </a:r>
          </a:p>
          <a:p>
            <a:endParaRPr lang="en-US" dirty="0"/>
          </a:p>
        </p:txBody>
      </p:sp>
    </p:spTree>
    <p:extLst>
      <p:ext uri="{BB962C8B-B14F-4D97-AF65-F5344CB8AC3E}">
        <p14:creationId xmlns:p14="http://schemas.microsoft.com/office/powerpoint/2010/main" val="62526196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49E8BF-BB33-E243-E062-D85220FAAE0B}"/>
              </a:ext>
            </a:extLst>
          </p:cNvPr>
          <p:cNvSpPr>
            <a:spLocks noGrp="1"/>
          </p:cNvSpPr>
          <p:nvPr>
            <p:ph type="title"/>
          </p:nvPr>
        </p:nvSpPr>
        <p:spPr>
          <a:xfrm>
            <a:off x="4875881" y="591257"/>
            <a:ext cx="6561868" cy="2151943"/>
          </a:xfrm>
        </p:spPr>
        <p:txBody>
          <a:bodyPr anchor="b">
            <a:normAutofit/>
          </a:bodyPr>
          <a:lstStyle/>
          <a:p>
            <a:r>
              <a:rPr lang="en-US" sz="5600" dirty="0"/>
              <a:t>Let’s build our</a:t>
            </a:r>
            <a:br>
              <a:rPr lang="en-US" sz="5600" dirty="0"/>
            </a:br>
            <a:br>
              <a:rPr lang="en-US" sz="5600" dirty="0"/>
            </a:br>
            <a:r>
              <a:rPr lang="en-US" sz="5600" dirty="0"/>
              <a:t>RNN/LSTM model</a:t>
            </a:r>
          </a:p>
        </p:txBody>
      </p:sp>
      <p:pic>
        <p:nvPicPr>
          <p:cNvPr id="7" name="Graphic 6" descr="Closed Book">
            <a:extLst>
              <a:ext uri="{FF2B5EF4-FFF2-40B4-BE49-F238E27FC236}">
                <a16:creationId xmlns:a16="http://schemas.microsoft.com/office/drawing/2014/main" id="{84CD75A3-4958-4EA8-4B2A-2EF586EA9B30}"/>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217770" y="1448957"/>
            <a:ext cx="3952579" cy="3952579"/>
          </a:xfrm>
          <a:prstGeom prst="rect">
            <a:avLst/>
          </a:prstGeom>
        </p:spPr>
      </p:pic>
      <p:sp>
        <p:nvSpPr>
          <p:cNvPr id="3" name="Content Placeholder 2">
            <a:extLst>
              <a:ext uri="{FF2B5EF4-FFF2-40B4-BE49-F238E27FC236}">
                <a16:creationId xmlns:a16="http://schemas.microsoft.com/office/drawing/2014/main" id="{96CE4A43-2248-9ECC-0F83-551A0FE2D34F}"/>
              </a:ext>
            </a:extLst>
          </p:cNvPr>
          <p:cNvSpPr>
            <a:spLocks noGrp="1"/>
          </p:cNvSpPr>
          <p:nvPr>
            <p:ph idx="1"/>
          </p:nvPr>
        </p:nvSpPr>
        <p:spPr>
          <a:xfrm>
            <a:off x="5170349" y="2959645"/>
            <a:ext cx="6446687" cy="2913872"/>
          </a:xfrm>
        </p:spPr>
        <p:txBody>
          <a:bodyPr anchor="t">
            <a:normAutofit/>
          </a:bodyPr>
          <a:lstStyle/>
          <a:p>
            <a:r>
              <a:rPr lang="en-US" sz="2000" dirty="0">
                <a:solidFill>
                  <a:schemeClr val="tx1">
                    <a:alpha val="80000"/>
                  </a:schemeClr>
                </a:solidFill>
              </a:rPr>
              <a:t>Access Google </a:t>
            </a:r>
            <a:r>
              <a:rPr lang="en-US" sz="2000" dirty="0" err="1">
                <a:solidFill>
                  <a:schemeClr val="tx1">
                    <a:alpha val="80000"/>
                  </a:schemeClr>
                </a:solidFill>
              </a:rPr>
              <a:t>Colab</a:t>
            </a:r>
            <a:r>
              <a:rPr lang="en-US" sz="2000" dirty="0">
                <a:solidFill>
                  <a:schemeClr val="tx1">
                    <a:alpha val="80000"/>
                  </a:schemeClr>
                </a:solidFill>
              </a:rPr>
              <a:t> Notebook:</a:t>
            </a:r>
          </a:p>
          <a:p>
            <a:pPr marL="0" indent="0">
              <a:buNone/>
            </a:pPr>
            <a:r>
              <a:rPr lang="en-US" sz="2000" dirty="0">
                <a:solidFill>
                  <a:schemeClr val="tx1">
                    <a:alpha val="80000"/>
                  </a:schemeClr>
                </a:solidFill>
                <a:hlinkClick r:id="rId4"/>
              </a:rPr>
              <a:t>https://colab.research.google.com/drive/10iYcP1wN1Kn-RwhJgzBcySXGBNR0uJM_?usp=sharing</a:t>
            </a:r>
            <a:r>
              <a:rPr lang="en-US" sz="2000" dirty="0">
                <a:solidFill>
                  <a:schemeClr val="tx1">
                    <a:alpha val="80000"/>
                  </a:schemeClr>
                </a:solidFill>
              </a:rPr>
              <a:t>  </a:t>
            </a:r>
          </a:p>
          <a:p>
            <a:pPr marL="0" indent="0">
              <a:buNone/>
            </a:pPr>
            <a:r>
              <a:rPr lang="en-US" sz="2000" dirty="0">
                <a:solidFill>
                  <a:schemeClr val="tx1">
                    <a:alpha val="80000"/>
                  </a:schemeClr>
                </a:solidFill>
              </a:rPr>
              <a:t>Check out the code under “Recurrent neural network (RNN) Example” section</a:t>
            </a:r>
          </a:p>
        </p:txBody>
      </p:sp>
    </p:spTree>
    <p:extLst>
      <p:ext uri="{BB962C8B-B14F-4D97-AF65-F5344CB8AC3E}">
        <p14:creationId xmlns:p14="http://schemas.microsoft.com/office/powerpoint/2010/main" val="130308800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060FC9-0D0F-504E-4AC3-6D1B986FA32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6379975-D78E-F063-A165-1AC576C16FF4}"/>
              </a:ext>
            </a:extLst>
          </p:cNvPr>
          <p:cNvSpPr txBox="1"/>
          <p:nvPr/>
        </p:nvSpPr>
        <p:spPr>
          <a:xfrm>
            <a:off x="1591827" y="2985581"/>
            <a:ext cx="10515600" cy="1186075"/>
          </a:xfrm>
          <a:prstGeom prst="rect">
            <a:avLst/>
          </a:prstGeom>
        </p:spPr>
        <p:txBody>
          <a:bodyPr/>
          <a:lstStyle>
            <a:lvl1pPr algn="l" defTabSz="914400" rtl="0" eaLnBrk="1" latinLnBrk="0" hangingPunct="1">
              <a:lnSpc>
                <a:spcPts val="3200"/>
              </a:lnSpc>
              <a:spcBef>
                <a:spcPct val="0"/>
              </a:spcBef>
              <a:buNone/>
              <a:defRPr sz="4200" b="1" kern="1200" cap="all" spc="-50" baseline="0">
                <a:solidFill>
                  <a:srgbClr val="942F6D"/>
                </a:solidFill>
                <a:latin typeface="+mn-lt"/>
                <a:ea typeface="+mj-ea"/>
                <a:cs typeface="+mj-cs"/>
              </a:defRPr>
            </a:lvl1pPr>
          </a:lstStyle>
          <a:p>
            <a:r>
              <a:rPr lang="en-GB" dirty="0"/>
              <a:t>Module 3 – Reinforcement Learning</a:t>
            </a:r>
          </a:p>
        </p:txBody>
      </p:sp>
    </p:spTree>
    <p:extLst>
      <p:ext uri="{BB962C8B-B14F-4D97-AF65-F5344CB8AC3E}">
        <p14:creationId xmlns:p14="http://schemas.microsoft.com/office/powerpoint/2010/main" val="324604029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E427AA-E1C1-ACB2-4B84-F6CDCE99C28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428DE74-839C-5E6E-B2A0-5AFF37C480EC}"/>
              </a:ext>
            </a:extLst>
          </p:cNvPr>
          <p:cNvSpPr txBox="1">
            <a:spLocks/>
          </p:cNvSpPr>
          <p:nvPr/>
        </p:nvSpPr>
        <p:spPr>
          <a:xfrm>
            <a:off x="601791" y="555478"/>
            <a:ext cx="9097686" cy="1068223"/>
          </a:xfrm>
          <a:prstGeom prst="rect">
            <a:avLst/>
          </a:prstGeom>
        </p:spPr>
        <p:txBody>
          <a:bodyPr/>
          <a:lstStyle>
            <a:lvl1pPr algn="l" defTabSz="914400" rtl="0" eaLnBrk="1" latinLnBrk="0" hangingPunct="1">
              <a:lnSpc>
                <a:spcPts val="3200"/>
              </a:lnSpc>
              <a:spcBef>
                <a:spcPct val="0"/>
              </a:spcBef>
              <a:buNone/>
              <a:defRPr sz="4200" b="1" kern="1200" cap="all" spc="-50" baseline="0">
                <a:solidFill>
                  <a:srgbClr val="942F6D"/>
                </a:solidFill>
                <a:latin typeface="+mn-lt"/>
                <a:ea typeface="+mj-ea"/>
                <a:cs typeface="+mj-cs"/>
              </a:defRPr>
            </a:lvl1pPr>
          </a:lstStyle>
          <a:p>
            <a:r>
              <a:rPr lang="en-GB" dirty="0">
                <a:solidFill>
                  <a:srgbClr val="942D6D"/>
                </a:solidFill>
              </a:rPr>
              <a:t>Reinforcement learning</a:t>
            </a:r>
            <a:endParaRPr lang="en-US" dirty="0">
              <a:solidFill>
                <a:srgbClr val="942D6D"/>
              </a:solidFill>
            </a:endParaRPr>
          </a:p>
        </p:txBody>
      </p:sp>
      <p:sp>
        <p:nvSpPr>
          <p:cNvPr id="3" name="Text Placeholder 2">
            <a:extLst>
              <a:ext uri="{FF2B5EF4-FFF2-40B4-BE49-F238E27FC236}">
                <a16:creationId xmlns:a16="http://schemas.microsoft.com/office/drawing/2014/main" id="{C25D35D5-2CF1-B9C7-AA66-01848337D93F}"/>
              </a:ext>
            </a:extLst>
          </p:cNvPr>
          <p:cNvSpPr txBox="1">
            <a:spLocks/>
          </p:cNvSpPr>
          <p:nvPr/>
        </p:nvSpPr>
        <p:spPr>
          <a:xfrm>
            <a:off x="877821" y="1521449"/>
            <a:ext cx="10712388" cy="3815101"/>
          </a:xfrm>
          <a:prstGeom prst="rect">
            <a:avLst/>
          </a:prstGeom>
        </p:spPr>
        <p:txBody>
          <a:bodyPr/>
          <a:lstStyle>
            <a:lvl1pPr marL="228600" indent="-228600" algn="l" defTabSz="914400" rtl="0" eaLnBrk="1" latinLnBrk="0" hangingPunct="1">
              <a:lnSpc>
                <a:spcPct val="90000"/>
              </a:lnSpc>
              <a:spcBef>
                <a:spcPts val="1000"/>
              </a:spcBef>
              <a:buClr>
                <a:srgbClr val="942F6D"/>
              </a:buClr>
              <a:buFont typeface="Arial" panose="020B0604020202020204" pitchFamily="34" charset="0"/>
              <a:buChar char="•"/>
              <a:defRPr sz="2800" kern="1200">
                <a:solidFill>
                  <a:srgbClr val="0D3E63"/>
                </a:solidFill>
                <a:latin typeface="+mn-lt"/>
                <a:ea typeface="+mn-ea"/>
                <a:cs typeface="+mn-cs"/>
              </a:defRPr>
            </a:lvl1pPr>
            <a:lvl2pPr marL="685800" indent="-228600" algn="l" defTabSz="914400" rtl="0" eaLnBrk="1" latinLnBrk="0" hangingPunct="1">
              <a:lnSpc>
                <a:spcPct val="90000"/>
              </a:lnSpc>
              <a:spcBef>
                <a:spcPts val="500"/>
              </a:spcBef>
              <a:buClr>
                <a:srgbClr val="942F6D"/>
              </a:buClr>
              <a:buFont typeface="Arial" panose="020B0604020202020204" pitchFamily="34" charset="0"/>
              <a:buChar char="•"/>
              <a:defRPr sz="2400" kern="1200">
                <a:solidFill>
                  <a:srgbClr val="0D3E63"/>
                </a:solidFill>
                <a:latin typeface="+mn-lt"/>
                <a:ea typeface="+mn-ea"/>
                <a:cs typeface="+mn-cs"/>
              </a:defRPr>
            </a:lvl2pPr>
            <a:lvl3pPr marL="1143000" indent="-228600" algn="l" defTabSz="914400" rtl="0" eaLnBrk="1" latinLnBrk="0" hangingPunct="1">
              <a:lnSpc>
                <a:spcPct val="90000"/>
              </a:lnSpc>
              <a:spcBef>
                <a:spcPts val="500"/>
              </a:spcBef>
              <a:buClr>
                <a:srgbClr val="942F6D"/>
              </a:buClr>
              <a:buFont typeface="Arial" panose="020B0604020202020204" pitchFamily="34" charset="0"/>
              <a:buChar char="•"/>
              <a:defRPr sz="2000" kern="1200">
                <a:solidFill>
                  <a:srgbClr val="0D3E63"/>
                </a:solidFill>
                <a:latin typeface="+mn-lt"/>
                <a:ea typeface="+mn-ea"/>
                <a:cs typeface="+mn-cs"/>
              </a:defRPr>
            </a:lvl3pPr>
            <a:lvl4pPr marL="1600200" indent="-228600" algn="l" defTabSz="914400" rtl="0" eaLnBrk="1" latinLnBrk="0" hangingPunct="1">
              <a:lnSpc>
                <a:spcPct val="90000"/>
              </a:lnSpc>
              <a:spcBef>
                <a:spcPts val="500"/>
              </a:spcBef>
              <a:buClr>
                <a:srgbClr val="942F6D"/>
              </a:buClr>
              <a:buFont typeface="Arial" panose="020B0604020202020204" pitchFamily="34" charset="0"/>
              <a:buChar char="•"/>
              <a:defRPr sz="1800" kern="1200">
                <a:solidFill>
                  <a:srgbClr val="0D3E63"/>
                </a:solidFill>
                <a:latin typeface="+mn-lt"/>
                <a:ea typeface="+mn-ea"/>
                <a:cs typeface="+mn-cs"/>
              </a:defRPr>
            </a:lvl4pPr>
            <a:lvl5pPr marL="2057400" indent="-228600" algn="l" defTabSz="914400" rtl="0" eaLnBrk="1" latinLnBrk="0" hangingPunct="1">
              <a:lnSpc>
                <a:spcPct val="90000"/>
              </a:lnSpc>
              <a:spcBef>
                <a:spcPts val="500"/>
              </a:spcBef>
              <a:buClr>
                <a:srgbClr val="942F6D"/>
              </a:buClr>
              <a:buFont typeface="Arial" panose="020B0604020202020204" pitchFamily="34" charset="0"/>
              <a:buChar char="•"/>
              <a:defRPr sz="1800" kern="1200">
                <a:solidFill>
                  <a:srgbClr val="0D3E63"/>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Reinforcement Learning (RL) is a type of machine learning where an agent learns to make decisions by interacting with an environment, taking actions, and receiving rewards or penalties (feedback) for those actions, aiming to discover a strategy (policy) that maximizes cumulative reward over time through trial and error, much like humans learn. </a:t>
            </a:r>
          </a:p>
          <a:p>
            <a:r>
              <a:rPr lang="en-US" dirty="0"/>
              <a:t>It's distinct from supervised learning because there's no pre-labeled data; the agent figures out what's right by exploring and exploiting its experiences, balancing trying new things (exploration) with using known good actions (exploitation).  </a:t>
            </a:r>
            <a:endParaRPr lang="en-US" dirty="0">
              <a:solidFill>
                <a:schemeClr val="bg2">
                  <a:lumMod val="25000"/>
                </a:schemeClr>
              </a:solidFill>
            </a:endParaRPr>
          </a:p>
        </p:txBody>
      </p:sp>
    </p:spTree>
    <p:extLst>
      <p:ext uri="{BB962C8B-B14F-4D97-AF65-F5344CB8AC3E}">
        <p14:creationId xmlns:p14="http://schemas.microsoft.com/office/powerpoint/2010/main" val="206371499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6F30A4-3F03-22B3-1AB3-138B005A89BF}"/>
              </a:ext>
            </a:extLst>
          </p:cNvPr>
          <p:cNvSpPr>
            <a:spLocks noGrp="1"/>
          </p:cNvSpPr>
          <p:nvPr>
            <p:ph type="title"/>
          </p:nvPr>
        </p:nvSpPr>
        <p:spPr/>
        <p:txBody>
          <a:bodyPr/>
          <a:lstStyle/>
          <a:p>
            <a:r>
              <a:rPr lang="en-US" dirty="0"/>
              <a:t>It was kickstarted with Atari games</a:t>
            </a:r>
          </a:p>
        </p:txBody>
      </p:sp>
      <p:pic>
        <p:nvPicPr>
          <p:cNvPr id="5" name="Content Placeholder 4" descr="A screen shot of a computer&#10;&#10;Description automatically generated">
            <a:extLst>
              <a:ext uri="{FF2B5EF4-FFF2-40B4-BE49-F238E27FC236}">
                <a16:creationId xmlns:a16="http://schemas.microsoft.com/office/drawing/2014/main" id="{6B786BBB-7C04-7F94-E31B-8ACEDD28A0DF}"/>
              </a:ext>
            </a:extLst>
          </p:cNvPr>
          <p:cNvPicPr>
            <a:picLocks noGrp="1" noChangeAspect="1"/>
          </p:cNvPicPr>
          <p:nvPr>
            <p:ph idx="1"/>
          </p:nvPr>
        </p:nvPicPr>
        <p:blipFill rotWithShape="1">
          <a:blip r:embed="rId2"/>
          <a:srcRect l="22545" t="319" r="23034"/>
          <a:stretch/>
        </p:blipFill>
        <p:spPr>
          <a:xfrm>
            <a:off x="7800109" y="2189019"/>
            <a:ext cx="3394364" cy="3497240"/>
          </a:xfrm>
        </p:spPr>
      </p:pic>
      <p:sp>
        <p:nvSpPr>
          <p:cNvPr id="6" name="Content Placeholder 2">
            <a:extLst>
              <a:ext uri="{FF2B5EF4-FFF2-40B4-BE49-F238E27FC236}">
                <a16:creationId xmlns:a16="http://schemas.microsoft.com/office/drawing/2014/main" id="{FB74559B-5BC0-DA73-DE2C-982C931707CE}"/>
              </a:ext>
            </a:extLst>
          </p:cNvPr>
          <p:cNvSpPr txBox="1">
            <a:spLocks/>
          </p:cNvSpPr>
          <p:nvPr/>
        </p:nvSpPr>
        <p:spPr>
          <a:xfrm>
            <a:off x="838200" y="1825625"/>
            <a:ext cx="67818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In 2015, DeepMind introduced and agent that learns to play Atari game directly from input pixel; published in Nature.</a:t>
            </a:r>
          </a:p>
          <a:p>
            <a:r>
              <a:rPr lang="en-US" dirty="0"/>
              <a:t>Paper link: </a:t>
            </a:r>
            <a:r>
              <a:rPr lang="en-US" dirty="0">
                <a:hlinkClick r:id="rId3"/>
              </a:rPr>
              <a:t>https://www.cs.toronto.edu/~vmnih/docs/dqn.pdf</a:t>
            </a:r>
            <a:r>
              <a:rPr lang="en-US" dirty="0"/>
              <a:t> </a:t>
            </a:r>
          </a:p>
        </p:txBody>
      </p:sp>
    </p:spTree>
    <p:extLst>
      <p:ext uri="{BB962C8B-B14F-4D97-AF65-F5344CB8AC3E}">
        <p14:creationId xmlns:p14="http://schemas.microsoft.com/office/powerpoint/2010/main" val="405431949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7D0DEE-8038-19E5-3FEE-7EDBDEBF85D6}"/>
              </a:ext>
            </a:extLst>
          </p:cNvPr>
          <p:cNvSpPr>
            <a:spLocks noGrp="1"/>
          </p:cNvSpPr>
          <p:nvPr>
            <p:ph type="title"/>
          </p:nvPr>
        </p:nvSpPr>
        <p:spPr/>
        <p:txBody>
          <a:bodyPr/>
          <a:lstStyle/>
          <a:p>
            <a:r>
              <a:rPr lang="en-US" dirty="0"/>
              <a:t>Other applications of RL (Robotics)</a:t>
            </a:r>
          </a:p>
        </p:txBody>
      </p:sp>
      <p:pic>
        <p:nvPicPr>
          <p:cNvPr id="5" name="Picture 4" descr="A robotic arm holding a pancake&#10;&#10;Description automatically generated">
            <a:extLst>
              <a:ext uri="{FF2B5EF4-FFF2-40B4-BE49-F238E27FC236}">
                <a16:creationId xmlns:a16="http://schemas.microsoft.com/office/drawing/2014/main" id="{0CBD1CE1-7C39-685C-BCA4-C8871C6DF456}"/>
              </a:ext>
            </a:extLst>
          </p:cNvPr>
          <p:cNvPicPr>
            <a:picLocks noChangeAspect="1"/>
          </p:cNvPicPr>
          <p:nvPr/>
        </p:nvPicPr>
        <p:blipFill>
          <a:blip r:embed="rId2"/>
          <a:stretch>
            <a:fillRect/>
          </a:stretch>
        </p:blipFill>
        <p:spPr>
          <a:xfrm>
            <a:off x="838200" y="2052059"/>
            <a:ext cx="4629775" cy="3080905"/>
          </a:xfrm>
          <a:prstGeom prst="rect">
            <a:avLst/>
          </a:prstGeom>
        </p:spPr>
      </p:pic>
      <p:pic>
        <p:nvPicPr>
          <p:cNvPr id="7" name="Picture 6">
            <a:extLst>
              <a:ext uri="{FF2B5EF4-FFF2-40B4-BE49-F238E27FC236}">
                <a16:creationId xmlns:a16="http://schemas.microsoft.com/office/drawing/2014/main" id="{AD348570-DD7B-0FEA-8506-C081A8D1AEEC}"/>
              </a:ext>
            </a:extLst>
          </p:cNvPr>
          <p:cNvPicPr>
            <a:picLocks noChangeAspect="1"/>
          </p:cNvPicPr>
          <p:nvPr/>
        </p:nvPicPr>
        <p:blipFill>
          <a:blip r:embed="rId3"/>
          <a:stretch>
            <a:fillRect/>
          </a:stretch>
        </p:blipFill>
        <p:spPr>
          <a:xfrm>
            <a:off x="6724027" y="2052060"/>
            <a:ext cx="4124082" cy="3093062"/>
          </a:xfrm>
          <a:prstGeom prst="rect">
            <a:avLst/>
          </a:prstGeom>
        </p:spPr>
      </p:pic>
      <p:sp>
        <p:nvSpPr>
          <p:cNvPr id="8" name="TextBox 7">
            <a:extLst>
              <a:ext uri="{FF2B5EF4-FFF2-40B4-BE49-F238E27FC236}">
                <a16:creationId xmlns:a16="http://schemas.microsoft.com/office/drawing/2014/main" id="{F97580FC-7E10-4CD3-4883-D9E7C248747B}"/>
              </a:ext>
            </a:extLst>
          </p:cNvPr>
          <p:cNvSpPr txBox="1"/>
          <p:nvPr/>
        </p:nvSpPr>
        <p:spPr>
          <a:xfrm>
            <a:off x="2687782" y="5494335"/>
            <a:ext cx="939681" cy="369332"/>
          </a:xfrm>
          <a:prstGeom prst="rect">
            <a:avLst/>
          </a:prstGeom>
          <a:noFill/>
        </p:spPr>
        <p:txBody>
          <a:bodyPr wrap="none" rtlCol="0">
            <a:spAutoFit/>
          </a:bodyPr>
          <a:lstStyle/>
          <a:p>
            <a:r>
              <a:rPr lang="en-US" dirty="0"/>
              <a:t>Cooking</a:t>
            </a:r>
          </a:p>
        </p:txBody>
      </p:sp>
      <p:sp>
        <p:nvSpPr>
          <p:cNvPr id="9" name="TextBox 8">
            <a:extLst>
              <a:ext uri="{FF2B5EF4-FFF2-40B4-BE49-F238E27FC236}">
                <a16:creationId xmlns:a16="http://schemas.microsoft.com/office/drawing/2014/main" id="{557BCD04-0F66-59CF-0A93-2ED1526009CA}"/>
              </a:ext>
            </a:extLst>
          </p:cNvPr>
          <p:cNvSpPr txBox="1"/>
          <p:nvPr/>
        </p:nvSpPr>
        <p:spPr>
          <a:xfrm>
            <a:off x="7996429" y="5494335"/>
            <a:ext cx="1579278" cy="369332"/>
          </a:xfrm>
          <a:prstGeom prst="rect">
            <a:avLst/>
          </a:prstGeom>
          <a:noFill/>
        </p:spPr>
        <p:txBody>
          <a:bodyPr wrap="none" rtlCol="0">
            <a:spAutoFit/>
          </a:bodyPr>
          <a:lstStyle/>
          <a:p>
            <a:r>
              <a:rPr lang="en-US" dirty="0"/>
              <a:t>Placing objects</a:t>
            </a:r>
          </a:p>
        </p:txBody>
      </p:sp>
    </p:spTree>
    <p:extLst>
      <p:ext uri="{BB962C8B-B14F-4D97-AF65-F5344CB8AC3E}">
        <p14:creationId xmlns:p14="http://schemas.microsoft.com/office/powerpoint/2010/main" val="97750116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3C9025-C0D1-D410-4FA4-9D43949F9224}"/>
              </a:ext>
            </a:extLst>
          </p:cNvPr>
          <p:cNvSpPr>
            <a:spLocks noGrp="1"/>
          </p:cNvSpPr>
          <p:nvPr>
            <p:ph type="title"/>
          </p:nvPr>
        </p:nvSpPr>
        <p:spPr/>
        <p:txBody>
          <a:bodyPr/>
          <a:lstStyle/>
          <a:p>
            <a:r>
              <a:rPr lang="en-US" dirty="0"/>
              <a:t>Other applications of RL (Supply Chain)</a:t>
            </a:r>
          </a:p>
        </p:txBody>
      </p:sp>
      <p:pic>
        <p:nvPicPr>
          <p:cNvPr id="5" name="Picture 4" descr="A diagram of a diagram&#10;&#10;Description automatically generated">
            <a:extLst>
              <a:ext uri="{FF2B5EF4-FFF2-40B4-BE49-F238E27FC236}">
                <a16:creationId xmlns:a16="http://schemas.microsoft.com/office/drawing/2014/main" id="{2A013600-BBE2-A960-6302-A9819E4904AC}"/>
              </a:ext>
            </a:extLst>
          </p:cNvPr>
          <p:cNvPicPr>
            <a:picLocks noChangeAspect="1"/>
          </p:cNvPicPr>
          <p:nvPr/>
        </p:nvPicPr>
        <p:blipFill>
          <a:blip r:embed="rId2"/>
          <a:stretch>
            <a:fillRect/>
          </a:stretch>
        </p:blipFill>
        <p:spPr>
          <a:xfrm>
            <a:off x="2209800" y="1690688"/>
            <a:ext cx="7772400" cy="4089111"/>
          </a:xfrm>
          <a:prstGeom prst="rect">
            <a:avLst/>
          </a:prstGeom>
        </p:spPr>
      </p:pic>
      <p:sp>
        <p:nvSpPr>
          <p:cNvPr id="6" name="TextBox 5">
            <a:extLst>
              <a:ext uri="{FF2B5EF4-FFF2-40B4-BE49-F238E27FC236}">
                <a16:creationId xmlns:a16="http://schemas.microsoft.com/office/drawing/2014/main" id="{EDD87A33-1447-0E9D-F73E-597E24C93219}"/>
              </a:ext>
            </a:extLst>
          </p:cNvPr>
          <p:cNvSpPr txBox="1"/>
          <p:nvPr/>
        </p:nvSpPr>
        <p:spPr>
          <a:xfrm>
            <a:off x="3577970" y="5955582"/>
            <a:ext cx="5036059" cy="646331"/>
          </a:xfrm>
          <a:prstGeom prst="rect">
            <a:avLst/>
          </a:prstGeom>
          <a:noFill/>
        </p:spPr>
        <p:txBody>
          <a:bodyPr wrap="none" rtlCol="0">
            <a:spAutoFit/>
          </a:bodyPr>
          <a:lstStyle/>
          <a:p>
            <a:r>
              <a:rPr lang="en-US" dirty="0"/>
              <a:t>Optimizing waste in Supply Chain: </a:t>
            </a:r>
            <a:r>
              <a:rPr lang="en-US" dirty="0" err="1"/>
              <a:t>SmartNoshWaste</a:t>
            </a:r>
            <a:endParaRPr lang="en-US" dirty="0"/>
          </a:p>
          <a:p>
            <a:r>
              <a:rPr lang="en-US" dirty="0"/>
              <a:t>Link: </a:t>
            </a:r>
            <a:r>
              <a:rPr lang="en-US" dirty="0">
                <a:hlinkClick r:id="rId3"/>
              </a:rPr>
              <a:t>https://www.mdpi.com/2624-6511/5/1/11</a:t>
            </a:r>
            <a:r>
              <a:rPr lang="en-US" dirty="0"/>
              <a:t> </a:t>
            </a:r>
          </a:p>
        </p:txBody>
      </p:sp>
    </p:spTree>
    <p:extLst>
      <p:ext uri="{BB962C8B-B14F-4D97-AF65-F5344CB8AC3E}">
        <p14:creationId xmlns:p14="http://schemas.microsoft.com/office/powerpoint/2010/main" val="431579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E1150-0F47-9058-32AE-A056B677A39C}"/>
              </a:ext>
            </a:extLst>
          </p:cNvPr>
          <p:cNvSpPr>
            <a:spLocks noGrp="1"/>
          </p:cNvSpPr>
          <p:nvPr>
            <p:ph type="title"/>
          </p:nvPr>
        </p:nvSpPr>
        <p:spPr>
          <a:xfrm>
            <a:off x="1028700" y="1967266"/>
            <a:ext cx="2628900" cy="2547257"/>
          </a:xfrm>
          <a:noFill/>
        </p:spPr>
        <p:txBody>
          <a:bodyPr vert="horz" lIns="91440" tIns="45720" rIns="91440" bIns="45720" rtlCol="0" anchor="ctr">
            <a:normAutofit/>
          </a:bodyPr>
          <a:lstStyle/>
          <a:p>
            <a:pPr algn="ctr"/>
            <a:r>
              <a:rPr lang="en-US" sz="3600" kern="1200" dirty="0">
                <a:latin typeface="+mj-lt"/>
                <a:ea typeface="+mj-ea"/>
                <a:cs typeface="+mj-cs"/>
              </a:rPr>
              <a:t>RL: The core concept</a:t>
            </a:r>
          </a:p>
        </p:txBody>
      </p:sp>
      <p:pic>
        <p:nvPicPr>
          <p:cNvPr id="5" name="Picture 4" descr="A diagram of a person's agent&#10;&#10;Description automatically generated">
            <a:extLst>
              <a:ext uri="{FF2B5EF4-FFF2-40B4-BE49-F238E27FC236}">
                <a16:creationId xmlns:a16="http://schemas.microsoft.com/office/drawing/2014/main" id="{02D98A69-7DF9-DE0B-C8AE-E367211FDEAB}"/>
              </a:ext>
            </a:extLst>
          </p:cNvPr>
          <p:cNvPicPr>
            <a:picLocks noChangeAspect="1"/>
          </p:cNvPicPr>
          <p:nvPr/>
        </p:nvPicPr>
        <p:blipFill>
          <a:blip r:embed="rId2"/>
          <a:stretch>
            <a:fillRect/>
          </a:stretch>
        </p:blipFill>
        <p:spPr>
          <a:xfrm>
            <a:off x="4777316" y="1529911"/>
            <a:ext cx="6780700" cy="3795848"/>
          </a:xfrm>
          <a:prstGeom prst="rect">
            <a:avLst/>
          </a:prstGeom>
        </p:spPr>
      </p:pic>
      <p:sp>
        <p:nvSpPr>
          <p:cNvPr id="6" name="TextBox 5">
            <a:extLst>
              <a:ext uri="{FF2B5EF4-FFF2-40B4-BE49-F238E27FC236}">
                <a16:creationId xmlns:a16="http://schemas.microsoft.com/office/drawing/2014/main" id="{53770D64-4998-C84A-B140-7E4CCBD1D7F2}"/>
              </a:ext>
            </a:extLst>
          </p:cNvPr>
          <p:cNvSpPr txBox="1"/>
          <p:nvPr/>
        </p:nvSpPr>
        <p:spPr>
          <a:xfrm>
            <a:off x="717422" y="5559136"/>
            <a:ext cx="10840595" cy="923330"/>
          </a:xfrm>
          <a:prstGeom prst="rect">
            <a:avLst/>
          </a:prstGeom>
          <a:noFill/>
        </p:spPr>
        <p:txBody>
          <a:bodyPr wrap="square" rtlCol="0">
            <a:spAutoFit/>
          </a:bodyPr>
          <a:lstStyle/>
          <a:p>
            <a:r>
              <a:rPr lang="en-US" dirty="0"/>
              <a:t>Reinforcement learning (RL) is a type of machine learning algorithm, where an intelligent agent, which is a computing system that perceives its environment to take actions autonomously in order to achieve cumulative rewards based on the knowledge gathered from the environment.</a:t>
            </a:r>
          </a:p>
        </p:txBody>
      </p:sp>
    </p:spTree>
    <p:extLst>
      <p:ext uri="{BB962C8B-B14F-4D97-AF65-F5344CB8AC3E}">
        <p14:creationId xmlns:p14="http://schemas.microsoft.com/office/powerpoint/2010/main" val="28858548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436425-2A43-A62D-21DD-9D116E031ECD}"/>
              </a:ext>
            </a:extLst>
          </p:cNvPr>
          <p:cNvSpPr>
            <a:spLocks noGrp="1"/>
          </p:cNvSpPr>
          <p:nvPr>
            <p:ph type="title"/>
          </p:nvPr>
        </p:nvSpPr>
        <p:spPr>
          <a:xfrm>
            <a:off x="1371597" y="348865"/>
            <a:ext cx="10044023" cy="877729"/>
          </a:xfrm>
        </p:spPr>
        <p:txBody>
          <a:bodyPr anchor="ctr">
            <a:normAutofit/>
          </a:bodyPr>
          <a:lstStyle/>
          <a:p>
            <a:r>
              <a:rPr lang="en-US" sz="4000" dirty="0"/>
              <a:t>Reinforcement learning involves</a:t>
            </a:r>
          </a:p>
        </p:txBody>
      </p:sp>
      <p:graphicFrame>
        <p:nvGraphicFramePr>
          <p:cNvPr id="5" name="Content Placeholder 2">
            <a:extLst>
              <a:ext uri="{FF2B5EF4-FFF2-40B4-BE49-F238E27FC236}">
                <a16:creationId xmlns:a16="http://schemas.microsoft.com/office/drawing/2014/main" id="{81C1127D-0CD8-F5BD-D12D-092F2FAF81F9}"/>
              </a:ext>
            </a:extLst>
          </p:cNvPr>
          <p:cNvGraphicFramePr>
            <a:graphicFrameLocks noGrp="1"/>
          </p:cNvGraphicFramePr>
          <p:nvPr>
            <p:ph idx="1"/>
          </p:nvPr>
        </p:nvGraphicFramePr>
        <p:xfrm>
          <a:off x="644056" y="2112579"/>
          <a:ext cx="10927829" cy="41928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868311156"/>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F17AA7-19FC-9D40-FA9A-238775D1FB57}"/>
              </a:ext>
            </a:extLst>
          </p:cNvPr>
          <p:cNvSpPr>
            <a:spLocks noGrp="1"/>
          </p:cNvSpPr>
          <p:nvPr>
            <p:ph type="title"/>
          </p:nvPr>
        </p:nvSpPr>
        <p:spPr/>
        <p:txBody>
          <a:bodyPr/>
          <a:lstStyle/>
          <a:p>
            <a:r>
              <a:rPr lang="en-US" dirty="0"/>
              <a:t>Differences between RL vs ML</a:t>
            </a:r>
          </a:p>
        </p:txBody>
      </p:sp>
      <p:graphicFrame>
        <p:nvGraphicFramePr>
          <p:cNvPr id="4" name="Table 3">
            <a:extLst>
              <a:ext uri="{FF2B5EF4-FFF2-40B4-BE49-F238E27FC236}">
                <a16:creationId xmlns:a16="http://schemas.microsoft.com/office/drawing/2014/main" id="{A861430F-18A1-359A-04F2-E0BAC50672E5}"/>
              </a:ext>
            </a:extLst>
          </p:cNvPr>
          <p:cNvGraphicFramePr>
            <a:graphicFrameLocks noGrp="1"/>
          </p:cNvGraphicFramePr>
          <p:nvPr/>
        </p:nvGraphicFramePr>
        <p:xfrm>
          <a:off x="2032000" y="1935402"/>
          <a:ext cx="8128000" cy="1854200"/>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1743493555"/>
                    </a:ext>
                  </a:extLst>
                </a:gridCol>
                <a:gridCol w="4064000">
                  <a:extLst>
                    <a:ext uri="{9D8B030D-6E8A-4147-A177-3AD203B41FA5}">
                      <a16:colId xmlns:a16="http://schemas.microsoft.com/office/drawing/2014/main" val="1021758738"/>
                    </a:ext>
                  </a:extLst>
                </a:gridCol>
              </a:tblGrid>
              <a:tr h="370840">
                <a:tc>
                  <a:txBody>
                    <a:bodyPr/>
                    <a:lstStyle/>
                    <a:p>
                      <a:r>
                        <a:rPr lang="en-US" dirty="0"/>
                        <a:t>RL</a:t>
                      </a:r>
                    </a:p>
                  </a:txBody>
                  <a:tcPr/>
                </a:tc>
                <a:tc>
                  <a:txBody>
                    <a:bodyPr/>
                    <a:lstStyle/>
                    <a:p>
                      <a:r>
                        <a:rPr lang="en-US" dirty="0"/>
                        <a:t>ML</a:t>
                      </a:r>
                    </a:p>
                  </a:txBody>
                  <a:tcPr/>
                </a:tc>
                <a:extLst>
                  <a:ext uri="{0D108BD9-81ED-4DB2-BD59-A6C34878D82A}">
                    <a16:rowId xmlns:a16="http://schemas.microsoft.com/office/drawing/2014/main" val="960774655"/>
                  </a:ext>
                </a:extLst>
              </a:tr>
              <a:tr h="370840">
                <a:tc>
                  <a:txBody>
                    <a:bodyPr/>
                    <a:lstStyle/>
                    <a:p>
                      <a:r>
                        <a:rPr lang="en-US" dirty="0"/>
                        <a:t>Optimization</a:t>
                      </a:r>
                    </a:p>
                  </a:txBody>
                  <a:tcPr/>
                </a:tc>
                <a:tc>
                  <a:txBody>
                    <a:bodyPr/>
                    <a:lstStyle/>
                    <a:p>
                      <a:r>
                        <a:rPr lang="en-US" dirty="0"/>
                        <a:t>Optimization</a:t>
                      </a:r>
                    </a:p>
                  </a:txBody>
                  <a:tcPr/>
                </a:tc>
                <a:extLst>
                  <a:ext uri="{0D108BD9-81ED-4DB2-BD59-A6C34878D82A}">
                    <a16:rowId xmlns:a16="http://schemas.microsoft.com/office/drawing/2014/main" val="3088819582"/>
                  </a:ext>
                </a:extLst>
              </a:tr>
              <a:tr h="370840">
                <a:tc>
                  <a:txBody>
                    <a:bodyPr/>
                    <a:lstStyle/>
                    <a:p>
                      <a:r>
                        <a:rPr lang="en-US" dirty="0"/>
                        <a:t>Generalization</a:t>
                      </a:r>
                    </a:p>
                  </a:txBody>
                  <a:tcPr/>
                </a:tc>
                <a:tc>
                  <a:txBody>
                    <a:bodyPr/>
                    <a:lstStyle/>
                    <a:p>
                      <a:r>
                        <a:rPr lang="en-US" dirty="0"/>
                        <a:t>Generalization</a:t>
                      </a:r>
                    </a:p>
                  </a:txBody>
                  <a:tcPr/>
                </a:tc>
                <a:extLst>
                  <a:ext uri="{0D108BD9-81ED-4DB2-BD59-A6C34878D82A}">
                    <a16:rowId xmlns:a16="http://schemas.microsoft.com/office/drawing/2014/main" val="3322712223"/>
                  </a:ext>
                </a:extLst>
              </a:tr>
              <a:tr h="370840">
                <a:tc>
                  <a:txBody>
                    <a:bodyPr/>
                    <a:lstStyle/>
                    <a:p>
                      <a:r>
                        <a:rPr lang="en-US" b="1" dirty="0"/>
                        <a:t>Exploration</a:t>
                      </a:r>
                    </a:p>
                  </a:txBody>
                  <a:tcPr/>
                </a:tc>
                <a:tc>
                  <a:txBody>
                    <a:bodyPr/>
                    <a:lstStyle/>
                    <a:p>
                      <a:r>
                        <a:rPr lang="en-US" b="1" dirty="0"/>
                        <a:t>Planning (may involve)</a:t>
                      </a:r>
                    </a:p>
                  </a:txBody>
                  <a:tcPr/>
                </a:tc>
                <a:extLst>
                  <a:ext uri="{0D108BD9-81ED-4DB2-BD59-A6C34878D82A}">
                    <a16:rowId xmlns:a16="http://schemas.microsoft.com/office/drawing/2014/main" val="1091793996"/>
                  </a:ext>
                </a:extLst>
              </a:tr>
              <a:tr h="370840">
                <a:tc>
                  <a:txBody>
                    <a:bodyPr/>
                    <a:lstStyle/>
                    <a:p>
                      <a:r>
                        <a:rPr lang="en-US" b="1" dirty="0"/>
                        <a:t>Delayed Consequences</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Delayed Consequences (may involve)</a:t>
                      </a:r>
                    </a:p>
                  </a:txBody>
                  <a:tcPr/>
                </a:tc>
                <a:extLst>
                  <a:ext uri="{0D108BD9-81ED-4DB2-BD59-A6C34878D82A}">
                    <a16:rowId xmlns:a16="http://schemas.microsoft.com/office/drawing/2014/main" val="1877248353"/>
                  </a:ext>
                </a:extLst>
              </a:tr>
            </a:tbl>
          </a:graphicData>
        </a:graphic>
      </p:graphicFrame>
    </p:spTree>
    <p:extLst>
      <p:ext uri="{BB962C8B-B14F-4D97-AF65-F5344CB8AC3E}">
        <p14:creationId xmlns:p14="http://schemas.microsoft.com/office/powerpoint/2010/main" val="2747757142"/>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079A4A-4039-7628-FA28-16F987F13917}"/>
              </a:ext>
            </a:extLst>
          </p:cNvPr>
          <p:cNvSpPr>
            <a:spLocks noGrp="1"/>
          </p:cNvSpPr>
          <p:nvPr>
            <p:ph type="title"/>
          </p:nvPr>
        </p:nvSpPr>
        <p:spPr/>
        <p:txBody>
          <a:bodyPr/>
          <a:lstStyle/>
          <a:p>
            <a:r>
              <a:rPr lang="en-US" dirty="0"/>
              <a:t>Sequential decision making</a:t>
            </a:r>
          </a:p>
        </p:txBody>
      </p:sp>
      <p:sp>
        <p:nvSpPr>
          <p:cNvPr id="3" name="Content Placeholder 2">
            <a:extLst>
              <a:ext uri="{FF2B5EF4-FFF2-40B4-BE49-F238E27FC236}">
                <a16:creationId xmlns:a16="http://schemas.microsoft.com/office/drawing/2014/main" id="{2E586577-F744-012C-6157-452B59DE40FF}"/>
              </a:ext>
            </a:extLst>
          </p:cNvPr>
          <p:cNvSpPr>
            <a:spLocks noGrp="1"/>
          </p:cNvSpPr>
          <p:nvPr>
            <p:ph idx="1"/>
          </p:nvPr>
        </p:nvSpPr>
        <p:spPr>
          <a:xfrm>
            <a:off x="838200" y="4683125"/>
            <a:ext cx="10515600" cy="1603375"/>
          </a:xfrm>
        </p:spPr>
        <p:txBody>
          <a:bodyPr/>
          <a:lstStyle/>
          <a:p>
            <a:r>
              <a:rPr lang="en-US" dirty="0"/>
              <a:t>Goal: Select action to maximize total expected future reward</a:t>
            </a:r>
          </a:p>
          <a:p>
            <a:r>
              <a:rPr lang="en-US" dirty="0"/>
              <a:t>May require balancing immediate and long-term reward</a:t>
            </a:r>
          </a:p>
          <a:p>
            <a:r>
              <a:rPr lang="en-US" dirty="0"/>
              <a:t>May require strategic </a:t>
            </a:r>
            <a:r>
              <a:rPr lang="en-US" dirty="0" err="1"/>
              <a:t>behaviour</a:t>
            </a:r>
            <a:r>
              <a:rPr lang="en-US" dirty="0"/>
              <a:t> to achieve high rewards</a:t>
            </a:r>
          </a:p>
        </p:txBody>
      </p:sp>
      <p:pic>
        <p:nvPicPr>
          <p:cNvPr id="5" name="Picture 4" descr="A diagram of a diagram&#10;&#10;Description automatically generated">
            <a:extLst>
              <a:ext uri="{FF2B5EF4-FFF2-40B4-BE49-F238E27FC236}">
                <a16:creationId xmlns:a16="http://schemas.microsoft.com/office/drawing/2014/main" id="{03068312-98E3-6F78-209E-8408F4A96A2A}"/>
              </a:ext>
            </a:extLst>
          </p:cNvPr>
          <p:cNvPicPr>
            <a:picLocks noChangeAspect="1"/>
          </p:cNvPicPr>
          <p:nvPr/>
        </p:nvPicPr>
        <p:blipFill>
          <a:blip r:embed="rId2"/>
          <a:stretch>
            <a:fillRect/>
          </a:stretch>
        </p:blipFill>
        <p:spPr>
          <a:xfrm>
            <a:off x="2854036" y="1690688"/>
            <a:ext cx="6483927" cy="2917767"/>
          </a:xfrm>
          <a:prstGeom prst="rect">
            <a:avLst/>
          </a:prstGeom>
        </p:spPr>
      </p:pic>
    </p:spTree>
    <p:extLst>
      <p:ext uri="{BB962C8B-B14F-4D97-AF65-F5344CB8AC3E}">
        <p14:creationId xmlns:p14="http://schemas.microsoft.com/office/powerpoint/2010/main" val="155012451"/>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95CDB3-DF74-5125-64BB-C60DD8D1BDA3}"/>
              </a:ext>
            </a:extLst>
          </p:cNvPr>
          <p:cNvSpPr>
            <a:spLocks noGrp="1"/>
          </p:cNvSpPr>
          <p:nvPr>
            <p:ph type="title"/>
          </p:nvPr>
        </p:nvSpPr>
        <p:spPr/>
        <p:txBody>
          <a:bodyPr/>
          <a:lstStyle/>
          <a:p>
            <a:r>
              <a:rPr lang="en-US" dirty="0"/>
              <a:t>Sequential decision making: </a:t>
            </a:r>
            <a:br>
              <a:rPr lang="en-US" dirty="0"/>
            </a:br>
            <a:r>
              <a:rPr lang="en-US" dirty="0"/>
              <a:t>How the world changes</a:t>
            </a:r>
          </a:p>
        </p:txBody>
      </p:sp>
      <p:sp>
        <p:nvSpPr>
          <p:cNvPr id="3" name="Content Placeholder 2">
            <a:extLst>
              <a:ext uri="{FF2B5EF4-FFF2-40B4-BE49-F238E27FC236}">
                <a16:creationId xmlns:a16="http://schemas.microsoft.com/office/drawing/2014/main" id="{BCFC827F-8BB4-B077-040A-5716913ABE7C}"/>
              </a:ext>
            </a:extLst>
          </p:cNvPr>
          <p:cNvSpPr>
            <a:spLocks noGrp="1"/>
          </p:cNvSpPr>
          <p:nvPr>
            <p:ph idx="1"/>
          </p:nvPr>
        </p:nvSpPr>
        <p:spPr>
          <a:xfrm>
            <a:off x="838200" y="4608455"/>
            <a:ext cx="10515600" cy="1568507"/>
          </a:xfrm>
        </p:spPr>
        <p:txBody>
          <a:bodyPr>
            <a:normAutofit fontScale="92500"/>
          </a:bodyPr>
          <a:lstStyle/>
          <a:p>
            <a:r>
              <a:rPr lang="en-US" b="1" dirty="0"/>
              <a:t>Deterministic</a:t>
            </a:r>
            <a:r>
              <a:rPr lang="en-US" dirty="0"/>
              <a:t>: Given a history &amp; action, single observation and reward</a:t>
            </a:r>
          </a:p>
          <a:p>
            <a:r>
              <a:rPr lang="en-US" b="1" dirty="0"/>
              <a:t>Stochastic</a:t>
            </a:r>
            <a:r>
              <a:rPr lang="en-US" dirty="0"/>
              <a:t>: Given a history and action, many potential observations &amp; rewards</a:t>
            </a:r>
          </a:p>
        </p:txBody>
      </p:sp>
      <p:pic>
        <p:nvPicPr>
          <p:cNvPr id="4" name="Picture 3" descr="A diagram of a diagram&#10;&#10;Description automatically generated">
            <a:extLst>
              <a:ext uri="{FF2B5EF4-FFF2-40B4-BE49-F238E27FC236}">
                <a16:creationId xmlns:a16="http://schemas.microsoft.com/office/drawing/2014/main" id="{5194FF2C-278A-E9A6-43BC-C4F69547981B}"/>
              </a:ext>
            </a:extLst>
          </p:cNvPr>
          <p:cNvPicPr>
            <a:picLocks noChangeAspect="1"/>
          </p:cNvPicPr>
          <p:nvPr/>
        </p:nvPicPr>
        <p:blipFill>
          <a:blip r:embed="rId2"/>
          <a:stretch>
            <a:fillRect/>
          </a:stretch>
        </p:blipFill>
        <p:spPr>
          <a:xfrm>
            <a:off x="2854036" y="1690688"/>
            <a:ext cx="6483927" cy="2917767"/>
          </a:xfrm>
          <a:prstGeom prst="rect">
            <a:avLst/>
          </a:prstGeom>
        </p:spPr>
      </p:pic>
    </p:spTree>
    <p:extLst>
      <p:ext uri="{BB962C8B-B14F-4D97-AF65-F5344CB8AC3E}">
        <p14:creationId xmlns:p14="http://schemas.microsoft.com/office/powerpoint/2010/main" val="145196169"/>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A4E87B-2138-B78B-8A5C-0653E38E9776}"/>
              </a:ext>
            </a:extLst>
          </p:cNvPr>
          <p:cNvSpPr>
            <a:spLocks noGrp="1"/>
          </p:cNvSpPr>
          <p:nvPr>
            <p:ph type="title"/>
          </p:nvPr>
        </p:nvSpPr>
        <p:spPr/>
        <p:txBody>
          <a:bodyPr/>
          <a:lstStyle/>
          <a:p>
            <a:r>
              <a:rPr lang="en-US" dirty="0"/>
              <a:t>Q Learning (RL)</a:t>
            </a:r>
          </a:p>
        </p:txBody>
      </p:sp>
      <p:sp>
        <p:nvSpPr>
          <p:cNvPr id="3" name="Content Placeholder 2">
            <a:extLst>
              <a:ext uri="{FF2B5EF4-FFF2-40B4-BE49-F238E27FC236}">
                <a16:creationId xmlns:a16="http://schemas.microsoft.com/office/drawing/2014/main" id="{E4630C25-9DF2-6BF7-352B-7DA6CE039710}"/>
              </a:ext>
            </a:extLst>
          </p:cNvPr>
          <p:cNvSpPr>
            <a:spLocks noGrp="1"/>
          </p:cNvSpPr>
          <p:nvPr>
            <p:ph idx="1"/>
          </p:nvPr>
        </p:nvSpPr>
        <p:spPr/>
        <p:txBody>
          <a:bodyPr>
            <a:normAutofit fontScale="25000" lnSpcReduction="20000"/>
          </a:bodyPr>
          <a:lstStyle/>
          <a:p>
            <a:endParaRPr lang="en-US" dirty="0"/>
          </a:p>
        </p:txBody>
      </p:sp>
      <p:sp>
        <p:nvSpPr>
          <p:cNvPr id="4" name="TextBox 3">
            <a:extLst>
              <a:ext uri="{FF2B5EF4-FFF2-40B4-BE49-F238E27FC236}">
                <a16:creationId xmlns:a16="http://schemas.microsoft.com/office/drawing/2014/main" id="{0094F845-4DA3-EA39-4D8D-E4DBB6A2F19D}"/>
              </a:ext>
            </a:extLst>
          </p:cNvPr>
          <p:cNvSpPr txBox="1"/>
          <p:nvPr/>
        </p:nvSpPr>
        <p:spPr>
          <a:xfrm>
            <a:off x="557939" y="1766807"/>
            <a:ext cx="10211661" cy="2677656"/>
          </a:xfrm>
          <a:prstGeom prst="rect">
            <a:avLst/>
          </a:prstGeom>
          <a:noFill/>
        </p:spPr>
        <p:txBody>
          <a:bodyPr wrap="square" rtlCol="0">
            <a:spAutoFit/>
          </a:bodyPr>
          <a:lstStyle/>
          <a:p>
            <a:pPr marL="342900" indent="-342900">
              <a:buFont typeface="Arial" panose="020B0604020202020204" pitchFamily="34" charset="0"/>
              <a:buChar char="•"/>
            </a:pPr>
            <a:r>
              <a:rPr lang="en-GB" sz="2400" dirty="0">
                <a:solidFill>
                  <a:srgbClr val="1F1F1F"/>
                </a:solidFill>
                <a:latin typeface="Google Sans"/>
              </a:rPr>
              <a:t>Q-learning is a popular reinforcement learning algorithm that can be used to train a Mars rover (intelligent agent) or similar agents to navigate its environment. </a:t>
            </a:r>
          </a:p>
          <a:p>
            <a:pPr marL="342900" indent="-342900">
              <a:buFont typeface="Arial" panose="020B0604020202020204" pitchFamily="34" charset="0"/>
              <a:buChar char="•"/>
            </a:pPr>
            <a:r>
              <a:rPr lang="en-GB" sz="2400" dirty="0">
                <a:solidFill>
                  <a:srgbClr val="1F1F1F"/>
                </a:solidFill>
                <a:latin typeface="Google Sans"/>
              </a:rPr>
              <a:t>The algorithm works by learning the value of each state and action pair. The value of a state-action pair is the expected reward that the rover will receive if it takes that action in that state.</a:t>
            </a:r>
            <a:endParaRPr lang="en-US" sz="2400" dirty="0"/>
          </a:p>
          <a:p>
            <a:pPr marL="342900" indent="-342900">
              <a:buFont typeface="Arial" panose="020B0604020202020204" pitchFamily="34" charset="0"/>
              <a:buChar char="•"/>
            </a:pPr>
            <a:endParaRPr lang="en-GB" sz="2400" dirty="0"/>
          </a:p>
        </p:txBody>
      </p:sp>
    </p:spTree>
    <p:extLst>
      <p:ext uri="{BB962C8B-B14F-4D97-AF65-F5344CB8AC3E}">
        <p14:creationId xmlns:p14="http://schemas.microsoft.com/office/powerpoint/2010/main" val="3555586082"/>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4ED1DE-0B06-C778-B085-568EB21569FF}"/>
              </a:ext>
            </a:extLst>
          </p:cNvPr>
          <p:cNvSpPr>
            <a:spLocks noGrp="1"/>
          </p:cNvSpPr>
          <p:nvPr>
            <p:ph type="title"/>
          </p:nvPr>
        </p:nvSpPr>
        <p:spPr/>
        <p:txBody>
          <a:bodyPr/>
          <a:lstStyle/>
          <a:p>
            <a:r>
              <a:rPr lang="en-US" dirty="0"/>
              <a:t>Q Learning in practice</a:t>
            </a:r>
          </a:p>
        </p:txBody>
      </p:sp>
      <p:sp>
        <p:nvSpPr>
          <p:cNvPr id="3" name="Content Placeholder 2">
            <a:extLst>
              <a:ext uri="{FF2B5EF4-FFF2-40B4-BE49-F238E27FC236}">
                <a16:creationId xmlns:a16="http://schemas.microsoft.com/office/drawing/2014/main" id="{C88253BE-7A46-FF55-0D01-F6E10C74827E}"/>
              </a:ext>
            </a:extLst>
          </p:cNvPr>
          <p:cNvSpPr>
            <a:spLocks noGrp="1"/>
          </p:cNvSpPr>
          <p:nvPr>
            <p:ph idx="1"/>
          </p:nvPr>
        </p:nvSpPr>
        <p:spPr/>
        <p:txBody>
          <a:bodyPr/>
          <a:lstStyle/>
          <a:p>
            <a:endParaRPr lang="en-US" dirty="0"/>
          </a:p>
        </p:txBody>
      </p:sp>
      <p:sp>
        <p:nvSpPr>
          <p:cNvPr id="4" name="TextBox 3">
            <a:extLst>
              <a:ext uri="{FF2B5EF4-FFF2-40B4-BE49-F238E27FC236}">
                <a16:creationId xmlns:a16="http://schemas.microsoft.com/office/drawing/2014/main" id="{76BEDBC9-D0F2-3771-6673-6EC219DC75A4}"/>
              </a:ext>
            </a:extLst>
          </p:cNvPr>
          <p:cNvSpPr txBox="1"/>
          <p:nvPr/>
        </p:nvSpPr>
        <p:spPr>
          <a:xfrm>
            <a:off x="480448" y="2076773"/>
            <a:ext cx="10213384" cy="923330"/>
          </a:xfrm>
          <a:prstGeom prst="rect">
            <a:avLst/>
          </a:prstGeom>
          <a:noFill/>
        </p:spPr>
        <p:txBody>
          <a:bodyPr wrap="square" rtlCol="0">
            <a:spAutoFit/>
          </a:bodyPr>
          <a:lstStyle/>
          <a:p>
            <a:r>
              <a:rPr lang="en-US" dirty="0"/>
              <a:t>Access the Google </a:t>
            </a:r>
            <a:r>
              <a:rPr lang="en-US" dirty="0" err="1"/>
              <a:t>Colab</a:t>
            </a:r>
            <a:r>
              <a:rPr lang="en-US" dirty="0"/>
              <a:t> notebook to try out Q Learning based RL example: </a:t>
            </a:r>
            <a:r>
              <a:rPr lang="en-US" dirty="0">
                <a:hlinkClick r:id="rId2"/>
              </a:rPr>
              <a:t>https://colab.research.google.com/drive/1YRwh7a7p_5TvpLO_HcyTnKNBSju_0yk3?usp=sharing</a:t>
            </a:r>
            <a:r>
              <a:rPr lang="en-US" dirty="0"/>
              <a:t> </a:t>
            </a:r>
          </a:p>
          <a:p>
            <a:endParaRPr lang="en-GB" dirty="0"/>
          </a:p>
        </p:txBody>
      </p:sp>
    </p:spTree>
    <p:extLst>
      <p:ext uri="{BB962C8B-B14F-4D97-AF65-F5344CB8AC3E}">
        <p14:creationId xmlns:p14="http://schemas.microsoft.com/office/powerpoint/2010/main" val="2029484012"/>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Light blue-Cover">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Pearson slid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Light blue-inside slid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With pictur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1_Back cover">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E386AD14CB602547BFCB7D842FEF14EE" ma:contentTypeVersion="12" ma:contentTypeDescription="Create a new document." ma:contentTypeScope="" ma:versionID="7eb5c53f2e1d37f62fa8f0bcfdfd5d6f">
  <xsd:schema xmlns:xsd="http://www.w3.org/2001/XMLSchema" xmlns:xs="http://www.w3.org/2001/XMLSchema" xmlns:p="http://schemas.microsoft.com/office/2006/metadata/properties" xmlns:ns2="6b1a28a2-5857-4321-9bd8-c602fba5c8bc" xmlns:ns3="5086911d-6e48-4cf3-b087-1eb55996afa6" targetNamespace="http://schemas.microsoft.com/office/2006/metadata/properties" ma:root="true" ma:fieldsID="8facba7d21f799de60139a8943772e56" ns2:_="" ns3:_="">
    <xsd:import namespace="6b1a28a2-5857-4321-9bd8-c602fba5c8bc"/>
    <xsd:import namespace="5086911d-6e48-4cf3-b087-1eb55996afa6"/>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GenerationTime" minOccurs="0"/>
                <xsd:element ref="ns2:MediaServiceEventHashCode" minOccurs="0"/>
                <xsd:element ref="ns2:MediaServiceAutoKeyPoints" minOccurs="0"/>
                <xsd:element ref="ns2:MediaServiceKeyPoints" minOccurs="0"/>
                <xsd:element ref="ns3:SharedWithUsers" minOccurs="0"/>
                <xsd:element ref="ns3:SharedWithDetails" minOccurs="0"/>
                <xsd:element ref="ns2:MediaServiceDateTaken"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b1a28a2-5857-4321-9bd8-c602fba5c8b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AutoKeyPoints" ma:index="14" nillable="true" ma:displayName="MediaServiceAutoKeyPoints" ma:hidden="true" ma:internalName="MediaServiceAutoKeyPoints" ma:readOnly="true">
      <xsd:simpleType>
        <xsd:restriction base="dms:Note"/>
      </xsd:simpleType>
    </xsd:element>
    <xsd:element name="MediaServiceKeyPoints" ma:index="15" nillable="true" ma:displayName="KeyPoints" ma:internalName="MediaServiceKeyPoints" ma:readOnly="tru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MediaLengthInSeconds" ma:index="19" nillable="true" ma:displayName="Length (seconds)"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5086911d-6e48-4cf3-b087-1eb55996afa6" elementFormDefault="qualified">
    <xsd:import namespace="http://schemas.microsoft.com/office/2006/documentManagement/types"/>
    <xsd:import namespace="http://schemas.microsoft.com/office/infopath/2007/PartnerControls"/>
    <xsd:element name="SharedWithUsers" ma:index="16"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7"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C390017C-53C4-44A0-8BE5-543810B81638}">
  <ds:schemaRefs/>
</ds:datastoreItem>
</file>

<file path=customXml/itemProps2.xml><?xml version="1.0" encoding="utf-8"?>
<ds:datastoreItem xmlns:ds="http://schemas.openxmlformats.org/officeDocument/2006/customXml" ds:itemID="{2F101326-A77F-4581-B852-F1BEEE836B56}">
  <ds:schemaRefs/>
</ds:datastoreItem>
</file>

<file path=customXml/itemProps3.xml><?xml version="1.0" encoding="utf-8"?>
<ds:datastoreItem xmlns:ds="http://schemas.openxmlformats.org/officeDocument/2006/customXml" ds:itemID="{00AC7CDC-C40E-4CAA-9A43-5045B362938C}">
  <ds:schemaRefs/>
</ds:datastoreItem>
</file>

<file path=docProps/app.xml><?xml version="1.0" encoding="utf-8"?>
<Properties xmlns="http://schemas.openxmlformats.org/officeDocument/2006/extended-properties" xmlns:vt="http://schemas.openxmlformats.org/officeDocument/2006/docPropsVTypes">
  <Template>Light blue-Cover</Template>
  <TotalTime>0</TotalTime>
  <Words>3018</Words>
  <Application>Microsoft Office PowerPoint</Application>
  <PresentationFormat>Widescreen</PresentationFormat>
  <Paragraphs>286</Paragraphs>
  <Slides>63</Slides>
  <Notes>0</Notes>
  <HiddenSlides>0</HiddenSlides>
  <MMClips>0</MMClips>
  <ScaleCrop>false</ScaleCrop>
  <HeadingPairs>
    <vt:vector size="6" baseType="variant">
      <vt:variant>
        <vt:lpstr>Fonts Used</vt:lpstr>
      </vt:variant>
      <vt:variant>
        <vt:i4>9</vt:i4>
      </vt:variant>
      <vt:variant>
        <vt:lpstr>Theme</vt:lpstr>
      </vt:variant>
      <vt:variant>
        <vt:i4>5</vt:i4>
      </vt:variant>
      <vt:variant>
        <vt:lpstr>Slide Titles</vt:lpstr>
      </vt:variant>
      <vt:variant>
        <vt:i4>63</vt:i4>
      </vt:variant>
    </vt:vector>
  </HeadingPairs>
  <TitlesOfParts>
    <vt:vector size="77" baseType="lpstr">
      <vt:lpstr>Arial</vt:lpstr>
      <vt:lpstr>Arial MT</vt:lpstr>
      <vt:lpstr>Calibri</vt:lpstr>
      <vt:lpstr>Calibri Light</vt:lpstr>
      <vt:lpstr>Cambria Math</vt:lpstr>
      <vt:lpstr>Google Sans</vt:lpstr>
      <vt:lpstr>Segoe UI Symbol</vt:lpstr>
      <vt:lpstr>Times New Roman</vt:lpstr>
      <vt:lpstr>Wingdings</vt:lpstr>
      <vt:lpstr>Light blue-Cover</vt:lpstr>
      <vt:lpstr>Pearson slide</vt:lpstr>
      <vt:lpstr>Light blue-inside slide</vt:lpstr>
      <vt:lpstr>With picture</vt:lpstr>
      <vt:lpstr>1_Back cover</vt:lpstr>
      <vt:lpstr>Applied Machine learning</vt:lpstr>
      <vt:lpstr>Applied Machine learning </vt:lpstr>
      <vt:lpstr>Machine learning</vt:lpstr>
      <vt:lpstr>PowerPoint Presentation</vt:lpstr>
      <vt:lpstr>Learning objectives</vt:lpstr>
      <vt:lpstr>Supervised Learning with Neural Networks</vt:lpstr>
      <vt:lpstr>PowerPoint Presentation</vt:lpstr>
      <vt:lpstr>Difference between MLPN &amp; CNN</vt:lpstr>
      <vt:lpstr>PowerPoint Presentation</vt:lpstr>
      <vt:lpstr>Pros and cons of NN\MLP</vt:lpstr>
      <vt:lpstr>CNNs can tackle these problem using</vt:lpstr>
      <vt:lpstr>Fully connected hidden layer (576 hidden units)</vt:lpstr>
      <vt:lpstr>Local receptive fields (24x24 hidden units)</vt:lpstr>
      <vt:lpstr>Local receptive fields</vt:lpstr>
      <vt:lpstr>🞄 In CNNs, hidden units are only connected to local receptive field.</vt:lpstr>
      <vt:lpstr>Weight sharing</vt:lpstr>
      <vt:lpstr>Shared weights in RFs (Receptive Fields)</vt:lpstr>
      <vt:lpstr>Multiple feature maps illustration</vt:lpstr>
      <vt:lpstr>Learning image kernels</vt:lpstr>
      <vt:lpstr>Convolution Layer</vt:lpstr>
      <vt:lpstr>Matrix Convolution</vt:lpstr>
      <vt:lpstr>Pooling or subsampling</vt:lpstr>
      <vt:lpstr>Pooling or subsampling</vt:lpstr>
      <vt:lpstr>Pooling layer</vt:lpstr>
      <vt:lpstr>Combining convolutional &amp;pooling layer together</vt:lpstr>
      <vt:lpstr>Interpretation: Convolution/activation(F.map)+pooling=&gt;Convolution/activation (F.map)+pooling=&gt; ….</vt:lpstr>
      <vt:lpstr>PowerPoint Presentation</vt:lpstr>
      <vt:lpstr>Convolutional Network (ConvNet)</vt:lpstr>
      <vt:lpstr>Stacking convolutional layers</vt:lpstr>
      <vt:lpstr>Let’s see CNN in practice</vt:lpstr>
      <vt:lpstr>Transfer Learning</vt:lpstr>
      <vt:lpstr>PowerPoint Presentation</vt:lpstr>
      <vt:lpstr>Recurrent Neural Networks (RNNs)</vt:lpstr>
      <vt:lpstr>Sequential Data</vt:lpstr>
      <vt:lpstr>Time Series</vt:lpstr>
      <vt:lpstr>Neural networks for Time Series</vt:lpstr>
      <vt:lpstr>Modelling time series using NNs</vt:lpstr>
      <vt:lpstr>Modelling  sequence data</vt:lpstr>
      <vt:lpstr>Time-delay neural network</vt:lpstr>
      <vt:lpstr>Time Delay Neural Network Architecture </vt:lpstr>
      <vt:lpstr>General form of RNNs</vt:lpstr>
      <vt:lpstr>What are RNNs good for:</vt:lpstr>
      <vt:lpstr>RNN Architecture</vt:lpstr>
      <vt:lpstr>Transforming an RNN into a Feedforward  network (Unfolding through time)</vt:lpstr>
      <vt:lpstr>Training RNNs – a summary</vt:lpstr>
      <vt:lpstr>RNNs’ summary</vt:lpstr>
      <vt:lpstr>LONG SHORT-TERM  MEMORY (LSTM)</vt:lpstr>
      <vt:lpstr>RNN vs. LSTM</vt:lpstr>
      <vt:lpstr>RNN vs. LSTM</vt:lpstr>
      <vt:lpstr>Let’s build our  RNN/LSTM model</vt:lpstr>
      <vt:lpstr>PowerPoint Presentation</vt:lpstr>
      <vt:lpstr>PowerPoint Presentation</vt:lpstr>
      <vt:lpstr>It was kickstarted with Atari games</vt:lpstr>
      <vt:lpstr>Other applications of RL (Robotics)</vt:lpstr>
      <vt:lpstr>Other applications of RL (Supply Chain)</vt:lpstr>
      <vt:lpstr>RL: The core concept</vt:lpstr>
      <vt:lpstr>Reinforcement learning involves</vt:lpstr>
      <vt:lpstr>Differences between RL vs ML</vt:lpstr>
      <vt:lpstr>Sequential decision making</vt:lpstr>
      <vt:lpstr>Sequential decision making:  How the world changes</vt:lpstr>
      <vt:lpstr>Q Learning (RL)</vt:lpstr>
      <vt:lpstr>Q Learning in practice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Bachelor’s degree</dc:title>
  <dc:creator>Nalinda Somasiri</dc:creator>
  <cp:lastModifiedBy>Somdip Dey</cp:lastModifiedBy>
  <cp:revision>59</cp:revision>
  <dcterms:created xsi:type="dcterms:W3CDTF">2021-07-24T10:34:00Z</dcterms:created>
  <dcterms:modified xsi:type="dcterms:W3CDTF">2026-01-30T12:37:00Z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0x010100E386AD14CB602547BFCB7D842FEF14EE</vt:lpwstr>
  </property>
  <property fmtid="{D5CDD505-2E9C-101B-9397-08002B2CF9AE}" pid="3" name="ICV">
    <vt:lpwstr>A2124D6C9CFA444A95FB9EE4EB1475A1_13</vt:lpwstr>
  </property>
  <property fmtid="{D5CDD505-2E9C-101B-9397-08002B2CF9AE}" pid="4" name="KSOProductBuildVer">
    <vt:lpwstr>1033-12.2.0.22549</vt:lpwstr>
  </property>
</Properties>
</file>