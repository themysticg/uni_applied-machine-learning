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diagrams/data1.xml" ContentType="application/vnd.openxmlformats-officedocument.drawingml.diagramData+xml"/>
  <Override PartName="/ppt/presentation.xml" ContentType="application/vnd.openxmlformats-officedocument.presentationml.presentation.main+xml"/>
  <Override PartName="/ppt/notesSlides/notesSlide1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Slides/notesSlide2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5.xml" ContentType="application/vnd.openxmlformats-officedocument.theme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diagrams/drawing1.xml" ContentType="application/vnd.ms-office.drawingml.diagramDrawing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diagrams/colors1.xml" ContentType="application/vnd.openxmlformats-officedocument.drawingml.diagramColors+xml"/>
  <Override PartName="/ppt/diagrams/quickStyle1.xml" ContentType="application/vnd.openxmlformats-officedocument.drawingml.diagramStyle+xml"/>
  <Override PartName="/ppt/diagrams/layout1.xml" ContentType="application/vnd.openxmlformats-officedocument.drawingml.diagramLayout+xml"/>
  <Override PartName="/ppt/theme/theme6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  <p:sldMasterId id="2147483732" r:id="rId2"/>
    <p:sldMasterId id="2147483658" r:id="rId3"/>
    <p:sldMasterId id="2147483710" r:id="rId4"/>
    <p:sldMasterId id="2147483706" r:id="rId5"/>
  </p:sldMasterIdLst>
  <p:notesMasterIdLst>
    <p:notesMasterId r:id="rId34"/>
  </p:notesMasterIdLst>
  <p:sldIdLst>
    <p:sldId id="261" r:id="rId6"/>
    <p:sldId id="257" r:id="rId7"/>
    <p:sldId id="265" r:id="rId8"/>
    <p:sldId id="306" r:id="rId9"/>
    <p:sldId id="311" r:id="rId10"/>
    <p:sldId id="313" r:id="rId11"/>
    <p:sldId id="314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15" r:id="rId22"/>
    <p:sldId id="316" r:id="rId23"/>
    <p:sldId id="317" r:id="rId24"/>
    <p:sldId id="318" r:id="rId25"/>
    <p:sldId id="319" r:id="rId26"/>
    <p:sldId id="320" r:id="rId27"/>
    <p:sldId id="331" r:id="rId28"/>
    <p:sldId id="312" r:id="rId29"/>
    <p:sldId id="330" r:id="rId30"/>
    <p:sldId id="332" r:id="rId31"/>
    <p:sldId id="333" r:id="rId32"/>
    <p:sldId id="263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rindu" initials="T" lastIdx="2" clrIdx="0">
    <p:extLst>
      <p:ext uri="{19B8F6BF-5375-455C-9EA6-DF929625EA0E}">
        <p15:presenceInfo xmlns:p15="http://schemas.microsoft.com/office/powerpoint/2012/main" userId="Tharindu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56768"/>
    <a:srgbClr val="0D3E63"/>
    <a:srgbClr val="942D6D"/>
    <a:srgbClr val="232C58"/>
    <a:srgbClr val="942F6D"/>
    <a:srgbClr val="6FC8F0"/>
    <a:srgbClr val="B0E1F7"/>
    <a:srgbClr val="71C5E8"/>
    <a:srgbClr val="093E62"/>
    <a:srgbClr val="1665A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954" autoAdjust="0"/>
    <p:restoredTop sz="73061" autoAdjust="0"/>
  </p:normalViewPr>
  <p:slideViewPr>
    <p:cSldViewPr snapToGrid="0">
      <p:cViewPr varScale="1">
        <p:scale>
          <a:sx n="92" d="100"/>
          <a:sy n="92" d="100"/>
        </p:scale>
        <p:origin x="320" y="1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tableStyles" Target="tableStyles.xml"/><Relationship Id="rId21" Type="http://schemas.openxmlformats.org/officeDocument/2006/relationships/slide" Target="slides/slide16.xml"/><Relationship Id="rId34" Type="http://schemas.openxmlformats.org/officeDocument/2006/relationships/notesMaster" Target="notesMasters/notesMaster1.xml"/><Relationship Id="rId42" Type="http://schemas.openxmlformats.org/officeDocument/2006/relationships/customXml" Target="../customXml/item3.xml"/><Relationship Id="rId7" Type="http://schemas.openxmlformats.org/officeDocument/2006/relationships/slide" Target="slides/slide2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viewProps" Target="viewProps.xml"/><Relationship Id="rId40" Type="http://schemas.openxmlformats.org/officeDocument/2006/relationships/customXml" Target="../customXml/item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presProps" Target="pres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commentAuthors" Target="commentAuthor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5083436-33F3-2547-9F6F-1E5EAC8F1F4F}" type="doc">
      <dgm:prSet loTypeId="urn:microsoft.com/office/officeart/2008/layout/AlternatingHexagons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3BB5DF66-EEBB-2E46-9656-42D9591B8E5D}">
      <dgm:prSet phldrT="[Text]" custT="1"/>
      <dgm:spPr/>
      <dgm:t>
        <a:bodyPr/>
        <a:lstStyle/>
        <a:p>
          <a:r>
            <a:rPr lang="en-GB" sz="1800" dirty="0"/>
            <a:t>Numerical</a:t>
          </a:r>
        </a:p>
      </dgm:t>
    </dgm:pt>
    <dgm:pt modelId="{998D5E60-4F8F-124F-A135-C66D410AC038}" type="parTrans" cxnId="{C3861286-51E6-9843-AF5C-ECB5BCD72023}">
      <dgm:prSet/>
      <dgm:spPr/>
      <dgm:t>
        <a:bodyPr/>
        <a:lstStyle/>
        <a:p>
          <a:endParaRPr lang="en-GB"/>
        </a:p>
      </dgm:t>
    </dgm:pt>
    <dgm:pt modelId="{AFC4F0A0-148E-184E-88DC-D6689FB938F8}" type="sibTrans" cxnId="{C3861286-51E6-9843-AF5C-ECB5BCD72023}">
      <dgm:prSet/>
      <dgm:spPr/>
      <dgm:t>
        <a:bodyPr/>
        <a:lstStyle/>
        <a:p>
          <a:endParaRPr lang="en-GB"/>
        </a:p>
      </dgm:t>
    </dgm:pt>
    <dgm:pt modelId="{48675225-F4D4-774E-806B-CCDD1A2B6F49}">
      <dgm:prSet phldrT="[Text]"/>
      <dgm:spPr/>
      <dgm:t>
        <a:bodyPr/>
        <a:lstStyle/>
        <a:p>
          <a:r>
            <a:rPr lang="en-GB" dirty="0"/>
            <a:t>Categorical</a:t>
          </a:r>
        </a:p>
      </dgm:t>
    </dgm:pt>
    <dgm:pt modelId="{35F9BB6E-D0D7-6646-8C70-791D6E10928E}" type="parTrans" cxnId="{1FF73F14-8D6D-314A-AE28-2B9796D1EA75}">
      <dgm:prSet/>
      <dgm:spPr/>
      <dgm:t>
        <a:bodyPr/>
        <a:lstStyle/>
        <a:p>
          <a:endParaRPr lang="en-GB"/>
        </a:p>
      </dgm:t>
    </dgm:pt>
    <dgm:pt modelId="{664DBA59-95C4-1649-9C9D-D04918AA41AE}" type="sibTrans" cxnId="{1FF73F14-8D6D-314A-AE28-2B9796D1EA75}">
      <dgm:prSet/>
      <dgm:spPr/>
      <dgm:t>
        <a:bodyPr/>
        <a:lstStyle/>
        <a:p>
          <a:endParaRPr lang="en-GB"/>
        </a:p>
      </dgm:t>
    </dgm:pt>
    <dgm:pt modelId="{939B99DC-410B-6F45-A34A-F2B5ECF1C710}">
      <dgm:prSet phldrT="[Text]"/>
      <dgm:spPr/>
      <dgm:t>
        <a:bodyPr/>
        <a:lstStyle/>
        <a:p>
          <a:r>
            <a:rPr lang="en-GB" dirty="0"/>
            <a:t>Ordinal</a:t>
          </a:r>
        </a:p>
      </dgm:t>
    </dgm:pt>
    <dgm:pt modelId="{4F67DB8A-A29E-9648-BE36-F6172B6A280E}" type="parTrans" cxnId="{3636EE2E-F75F-424A-B7B3-9324B76364E8}">
      <dgm:prSet/>
      <dgm:spPr/>
      <dgm:t>
        <a:bodyPr/>
        <a:lstStyle/>
        <a:p>
          <a:endParaRPr lang="en-GB"/>
        </a:p>
      </dgm:t>
    </dgm:pt>
    <dgm:pt modelId="{63662C0D-B1C4-1D47-B75C-53728840BF4E}" type="sibTrans" cxnId="{3636EE2E-F75F-424A-B7B3-9324B76364E8}">
      <dgm:prSet/>
      <dgm:spPr/>
      <dgm:t>
        <a:bodyPr/>
        <a:lstStyle/>
        <a:p>
          <a:endParaRPr lang="en-GB"/>
        </a:p>
      </dgm:t>
    </dgm:pt>
    <dgm:pt modelId="{C8EC1A74-54F9-7843-A62D-2E0C4FBEF1EE}" type="pres">
      <dgm:prSet presAssocID="{D5083436-33F3-2547-9F6F-1E5EAC8F1F4F}" presName="Name0" presStyleCnt="0">
        <dgm:presLayoutVars>
          <dgm:chMax/>
          <dgm:chPref/>
          <dgm:dir/>
          <dgm:animLvl val="lvl"/>
        </dgm:presLayoutVars>
      </dgm:prSet>
      <dgm:spPr/>
    </dgm:pt>
    <dgm:pt modelId="{485949E4-F26B-BA45-8470-9DF28A24E935}" type="pres">
      <dgm:prSet presAssocID="{3BB5DF66-EEBB-2E46-9656-42D9591B8E5D}" presName="composite" presStyleCnt="0"/>
      <dgm:spPr/>
    </dgm:pt>
    <dgm:pt modelId="{AC15E908-F51F-C94C-B6E9-81D01F31C8FC}" type="pres">
      <dgm:prSet presAssocID="{3BB5DF66-EEBB-2E46-9656-42D9591B8E5D}" presName="Parent1" presStyleLbl="node1" presStyleIdx="0" presStyleCnt="6">
        <dgm:presLayoutVars>
          <dgm:chMax val="1"/>
          <dgm:chPref val="1"/>
          <dgm:bulletEnabled val="1"/>
        </dgm:presLayoutVars>
      </dgm:prSet>
      <dgm:spPr/>
    </dgm:pt>
    <dgm:pt modelId="{AE27CC5B-0024-E04E-9499-0F786B5C10EC}" type="pres">
      <dgm:prSet presAssocID="{3BB5DF66-EEBB-2E46-9656-42D9591B8E5D}" presName="Childtext1" presStyleLbl="revTx" presStyleIdx="0" presStyleCnt="3">
        <dgm:presLayoutVars>
          <dgm:chMax val="0"/>
          <dgm:chPref val="0"/>
          <dgm:bulletEnabled val="1"/>
        </dgm:presLayoutVars>
      </dgm:prSet>
      <dgm:spPr/>
    </dgm:pt>
    <dgm:pt modelId="{FC2093C1-2942-4944-B77C-18A231586D5E}" type="pres">
      <dgm:prSet presAssocID="{3BB5DF66-EEBB-2E46-9656-42D9591B8E5D}" presName="BalanceSpacing" presStyleCnt="0"/>
      <dgm:spPr/>
    </dgm:pt>
    <dgm:pt modelId="{814DF83D-7571-0247-98DA-E82CD54EAC38}" type="pres">
      <dgm:prSet presAssocID="{3BB5DF66-EEBB-2E46-9656-42D9591B8E5D}" presName="BalanceSpacing1" presStyleCnt="0"/>
      <dgm:spPr/>
    </dgm:pt>
    <dgm:pt modelId="{66047157-BCC8-0243-A390-BC73913DE20E}" type="pres">
      <dgm:prSet presAssocID="{AFC4F0A0-148E-184E-88DC-D6689FB938F8}" presName="Accent1Text" presStyleLbl="node1" presStyleIdx="1" presStyleCnt="6"/>
      <dgm:spPr/>
    </dgm:pt>
    <dgm:pt modelId="{4BAEEA3D-78CA-2144-9A83-795D5A574C50}" type="pres">
      <dgm:prSet presAssocID="{AFC4F0A0-148E-184E-88DC-D6689FB938F8}" presName="spaceBetweenRectangles" presStyleCnt="0"/>
      <dgm:spPr/>
    </dgm:pt>
    <dgm:pt modelId="{A529CB8E-FBD2-C249-8C5B-5DCA9399AAA0}" type="pres">
      <dgm:prSet presAssocID="{48675225-F4D4-774E-806B-CCDD1A2B6F49}" presName="composite" presStyleCnt="0"/>
      <dgm:spPr/>
    </dgm:pt>
    <dgm:pt modelId="{DEED03A4-03D2-E149-938A-4A86541247C2}" type="pres">
      <dgm:prSet presAssocID="{48675225-F4D4-774E-806B-CCDD1A2B6F49}" presName="Parent1" presStyleLbl="node1" presStyleIdx="2" presStyleCnt="6">
        <dgm:presLayoutVars>
          <dgm:chMax val="1"/>
          <dgm:chPref val="1"/>
          <dgm:bulletEnabled val="1"/>
        </dgm:presLayoutVars>
      </dgm:prSet>
      <dgm:spPr/>
    </dgm:pt>
    <dgm:pt modelId="{0F95DF7B-92D8-F843-A24F-249669AFFBC4}" type="pres">
      <dgm:prSet presAssocID="{48675225-F4D4-774E-806B-CCDD1A2B6F49}" presName="Childtext1" presStyleLbl="revTx" presStyleIdx="1" presStyleCnt="3">
        <dgm:presLayoutVars>
          <dgm:chMax val="0"/>
          <dgm:chPref val="0"/>
          <dgm:bulletEnabled val="1"/>
        </dgm:presLayoutVars>
      </dgm:prSet>
      <dgm:spPr/>
    </dgm:pt>
    <dgm:pt modelId="{C81E2085-3E92-904D-9D09-D712DE192EA0}" type="pres">
      <dgm:prSet presAssocID="{48675225-F4D4-774E-806B-CCDD1A2B6F49}" presName="BalanceSpacing" presStyleCnt="0"/>
      <dgm:spPr/>
    </dgm:pt>
    <dgm:pt modelId="{DA0889EC-DFB9-CA4B-95DF-338E82103A18}" type="pres">
      <dgm:prSet presAssocID="{48675225-F4D4-774E-806B-CCDD1A2B6F49}" presName="BalanceSpacing1" presStyleCnt="0"/>
      <dgm:spPr/>
    </dgm:pt>
    <dgm:pt modelId="{297DDFB9-709A-284D-8F08-AC06AD6893E5}" type="pres">
      <dgm:prSet presAssocID="{664DBA59-95C4-1649-9C9D-D04918AA41AE}" presName="Accent1Text" presStyleLbl="node1" presStyleIdx="3" presStyleCnt="6" custLinFactNeighborX="-6343" custLinFactNeighborY="0"/>
      <dgm:spPr/>
    </dgm:pt>
    <dgm:pt modelId="{685487C4-68E5-F64A-82A0-15FE6C9B87C6}" type="pres">
      <dgm:prSet presAssocID="{664DBA59-95C4-1649-9C9D-D04918AA41AE}" presName="spaceBetweenRectangles" presStyleCnt="0"/>
      <dgm:spPr/>
    </dgm:pt>
    <dgm:pt modelId="{D82DA1ED-1CF1-194C-B79F-38E1208C470F}" type="pres">
      <dgm:prSet presAssocID="{939B99DC-410B-6F45-A34A-F2B5ECF1C710}" presName="composite" presStyleCnt="0"/>
      <dgm:spPr/>
    </dgm:pt>
    <dgm:pt modelId="{CC4468C1-3EED-F04C-9704-61B5DE14C359}" type="pres">
      <dgm:prSet presAssocID="{939B99DC-410B-6F45-A34A-F2B5ECF1C710}" presName="Parent1" presStyleLbl="node1" presStyleIdx="4" presStyleCnt="6">
        <dgm:presLayoutVars>
          <dgm:chMax val="1"/>
          <dgm:chPref val="1"/>
          <dgm:bulletEnabled val="1"/>
        </dgm:presLayoutVars>
      </dgm:prSet>
      <dgm:spPr/>
    </dgm:pt>
    <dgm:pt modelId="{323D4F33-77B1-6C42-AA05-C126AA8D2440}" type="pres">
      <dgm:prSet presAssocID="{939B99DC-410B-6F45-A34A-F2B5ECF1C710}" presName="Childtext1" presStyleLbl="revTx" presStyleIdx="2" presStyleCnt="3">
        <dgm:presLayoutVars>
          <dgm:chMax val="0"/>
          <dgm:chPref val="0"/>
          <dgm:bulletEnabled val="1"/>
        </dgm:presLayoutVars>
      </dgm:prSet>
      <dgm:spPr/>
    </dgm:pt>
    <dgm:pt modelId="{1DDCB897-6E65-794B-879C-520DC78AFAC3}" type="pres">
      <dgm:prSet presAssocID="{939B99DC-410B-6F45-A34A-F2B5ECF1C710}" presName="BalanceSpacing" presStyleCnt="0"/>
      <dgm:spPr/>
    </dgm:pt>
    <dgm:pt modelId="{3FD6EEB7-E70C-DB40-A66F-11BE1C4B914C}" type="pres">
      <dgm:prSet presAssocID="{939B99DC-410B-6F45-A34A-F2B5ECF1C710}" presName="BalanceSpacing1" presStyleCnt="0"/>
      <dgm:spPr/>
    </dgm:pt>
    <dgm:pt modelId="{7D2B51E0-ECBB-D942-B4E8-7A422829FCB6}" type="pres">
      <dgm:prSet presAssocID="{63662C0D-B1C4-1D47-B75C-53728840BF4E}" presName="Accent1Text" presStyleLbl="node1" presStyleIdx="5" presStyleCnt="6"/>
      <dgm:spPr/>
    </dgm:pt>
  </dgm:ptLst>
  <dgm:cxnLst>
    <dgm:cxn modelId="{B06FA800-056E-1348-B7C1-5CDF1367BF4A}" type="presOf" srcId="{3BB5DF66-EEBB-2E46-9656-42D9591B8E5D}" destId="{AC15E908-F51F-C94C-B6E9-81D01F31C8FC}" srcOrd="0" destOrd="0" presId="urn:microsoft.com/office/officeart/2008/layout/AlternatingHexagons"/>
    <dgm:cxn modelId="{1FF73F14-8D6D-314A-AE28-2B9796D1EA75}" srcId="{D5083436-33F3-2547-9F6F-1E5EAC8F1F4F}" destId="{48675225-F4D4-774E-806B-CCDD1A2B6F49}" srcOrd="1" destOrd="0" parTransId="{35F9BB6E-D0D7-6646-8C70-791D6E10928E}" sibTransId="{664DBA59-95C4-1649-9C9D-D04918AA41AE}"/>
    <dgm:cxn modelId="{3636EE2E-F75F-424A-B7B3-9324B76364E8}" srcId="{D5083436-33F3-2547-9F6F-1E5EAC8F1F4F}" destId="{939B99DC-410B-6F45-A34A-F2B5ECF1C710}" srcOrd="2" destOrd="0" parTransId="{4F67DB8A-A29E-9648-BE36-F6172B6A280E}" sibTransId="{63662C0D-B1C4-1D47-B75C-53728840BF4E}"/>
    <dgm:cxn modelId="{7FC0ED5D-E8E0-2341-AD29-7AD2CBFEAB38}" type="presOf" srcId="{939B99DC-410B-6F45-A34A-F2B5ECF1C710}" destId="{CC4468C1-3EED-F04C-9704-61B5DE14C359}" srcOrd="0" destOrd="0" presId="urn:microsoft.com/office/officeart/2008/layout/AlternatingHexagons"/>
    <dgm:cxn modelId="{C3861286-51E6-9843-AF5C-ECB5BCD72023}" srcId="{D5083436-33F3-2547-9F6F-1E5EAC8F1F4F}" destId="{3BB5DF66-EEBB-2E46-9656-42D9591B8E5D}" srcOrd="0" destOrd="0" parTransId="{998D5E60-4F8F-124F-A135-C66D410AC038}" sibTransId="{AFC4F0A0-148E-184E-88DC-D6689FB938F8}"/>
    <dgm:cxn modelId="{DE93F990-DA71-1F4E-9C54-37F4696139E4}" type="presOf" srcId="{63662C0D-B1C4-1D47-B75C-53728840BF4E}" destId="{7D2B51E0-ECBB-D942-B4E8-7A422829FCB6}" srcOrd="0" destOrd="0" presId="urn:microsoft.com/office/officeart/2008/layout/AlternatingHexagons"/>
    <dgm:cxn modelId="{1AAC29A1-44E9-B047-8733-AF0613CC44AF}" type="presOf" srcId="{D5083436-33F3-2547-9F6F-1E5EAC8F1F4F}" destId="{C8EC1A74-54F9-7843-A62D-2E0C4FBEF1EE}" srcOrd="0" destOrd="0" presId="urn:microsoft.com/office/officeart/2008/layout/AlternatingHexagons"/>
    <dgm:cxn modelId="{F5B14DDE-E616-A44D-B478-9D715EA08F97}" type="presOf" srcId="{664DBA59-95C4-1649-9C9D-D04918AA41AE}" destId="{297DDFB9-709A-284D-8F08-AC06AD6893E5}" srcOrd="0" destOrd="0" presId="urn:microsoft.com/office/officeart/2008/layout/AlternatingHexagons"/>
    <dgm:cxn modelId="{3612DEF8-F17E-3F4B-976D-96F8FB465D49}" type="presOf" srcId="{AFC4F0A0-148E-184E-88DC-D6689FB938F8}" destId="{66047157-BCC8-0243-A390-BC73913DE20E}" srcOrd="0" destOrd="0" presId="urn:microsoft.com/office/officeart/2008/layout/AlternatingHexagons"/>
    <dgm:cxn modelId="{019653FC-7F87-8747-8706-F2F4845130E1}" type="presOf" srcId="{48675225-F4D4-774E-806B-CCDD1A2B6F49}" destId="{DEED03A4-03D2-E149-938A-4A86541247C2}" srcOrd="0" destOrd="0" presId="urn:microsoft.com/office/officeart/2008/layout/AlternatingHexagons"/>
    <dgm:cxn modelId="{7A456A02-2DA0-D841-A200-A0E1F8BA9CAD}" type="presParOf" srcId="{C8EC1A74-54F9-7843-A62D-2E0C4FBEF1EE}" destId="{485949E4-F26B-BA45-8470-9DF28A24E935}" srcOrd="0" destOrd="0" presId="urn:microsoft.com/office/officeart/2008/layout/AlternatingHexagons"/>
    <dgm:cxn modelId="{CA210E91-0F62-1C4B-AB5E-58698C92B65B}" type="presParOf" srcId="{485949E4-F26B-BA45-8470-9DF28A24E935}" destId="{AC15E908-F51F-C94C-B6E9-81D01F31C8FC}" srcOrd="0" destOrd="0" presId="urn:microsoft.com/office/officeart/2008/layout/AlternatingHexagons"/>
    <dgm:cxn modelId="{C58C49B4-E521-5B47-B64B-563D22871309}" type="presParOf" srcId="{485949E4-F26B-BA45-8470-9DF28A24E935}" destId="{AE27CC5B-0024-E04E-9499-0F786B5C10EC}" srcOrd="1" destOrd="0" presId="urn:microsoft.com/office/officeart/2008/layout/AlternatingHexagons"/>
    <dgm:cxn modelId="{F793E216-2180-3441-90DE-5F7CBE36C222}" type="presParOf" srcId="{485949E4-F26B-BA45-8470-9DF28A24E935}" destId="{FC2093C1-2942-4944-B77C-18A231586D5E}" srcOrd="2" destOrd="0" presId="urn:microsoft.com/office/officeart/2008/layout/AlternatingHexagons"/>
    <dgm:cxn modelId="{466D8E09-1912-6843-A4FA-7B0204A5AD37}" type="presParOf" srcId="{485949E4-F26B-BA45-8470-9DF28A24E935}" destId="{814DF83D-7571-0247-98DA-E82CD54EAC38}" srcOrd="3" destOrd="0" presId="urn:microsoft.com/office/officeart/2008/layout/AlternatingHexagons"/>
    <dgm:cxn modelId="{451B2DFF-F194-2F4B-9FBA-4B7BE0BAB5DC}" type="presParOf" srcId="{485949E4-F26B-BA45-8470-9DF28A24E935}" destId="{66047157-BCC8-0243-A390-BC73913DE20E}" srcOrd="4" destOrd="0" presId="urn:microsoft.com/office/officeart/2008/layout/AlternatingHexagons"/>
    <dgm:cxn modelId="{8854B41D-BFB6-A548-B77F-CF44D3C29784}" type="presParOf" srcId="{C8EC1A74-54F9-7843-A62D-2E0C4FBEF1EE}" destId="{4BAEEA3D-78CA-2144-9A83-795D5A574C50}" srcOrd="1" destOrd="0" presId="urn:microsoft.com/office/officeart/2008/layout/AlternatingHexagons"/>
    <dgm:cxn modelId="{814EAE27-0394-B04D-AA7D-ED942F7D2FFC}" type="presParOf" srcId="{C8EC1A74-54F9-7843-A62D-2E0C4FBEF1EE}" destId="{A529CB8E-FBD2-C249-8C5B-5DCA9399AAA0}" srcOrd="2" destOrd="0" presId="urn:microsoft.com/office/officeart/2008/layout/AlternatingHexagons"/>
    <dgm:cxn modelId="{85129490-CDFB-C84F-8577-97823D9A0F61}" type="presParOf" srcId="{A529CB8E-FBD2-C249-8C5B-5DCA9399AAA0}" destId="{DEED03A4-03D2-E149-938A-4A86541247C2}" srcOrd="0" destOrd="0" presId="urn:microsoft.com/office/officeart/2008/layout/AlternatingHexagons"/>
    <dgm:cxn modelId="{5907AA71-F589-6B4F-802C-C7732E8314A0}" type="presParOf" srcId="{A529CB8E-FBD2-C249-8C5B-5DCA9399AAA0}" destId="{0F95DF7B-92D8-F843-A24F-249669AFFBC4}" srcOrd="1" destOrd="0" presId="urn:microsoft.com/office/officeart/2008/layout/AlternatingHexagons"/>
    <dgm:cxn modelId="{8862D22F-8A21-C840-8FEA-064725406719}" type="presParOf" srcId="{A529CB8E-FBD2-C249-8C5B-5DCA9399AAA0}" destId="{C81E2085-3E92-904D-9D09-D712DE192EA0}" srcOrd="2" destOrd="0" presId="urn:microsoft.com/office/officeart/2008/layout/AlternatingHexagons"/>
    <dgm:cxn modelId="{5A2D9579-534A-A647-A738-A65085462030}" type="presParOf" srcId="{A529CB8E-FBD2-C249-8C5B-5DCA9399AAA0}" destId="{DA0889EC-DFB9-CA4B-95DF-338E82103A18}" srcOrd="3" destOrd="0" presId="urn:microsoft.com/office/officeart/2008/layout/AlternatingHexagons"/>
    <dgm:cxn modelId="{F7548914-2D58-F145-AE55-4EF9B593AE3C}" type="presParOf" srcId="{A529CB8E-FBD2-C249-8C5B-5DCA9399AAA0}" destId="{297DDFB9-709A-284D-8F08-AC06AD6893E5}" srcOrd="4" destOrd="0" presId="urn:microsoft.com/office/officeart/2008/layout/AlternatingHexagons"/>
    <dgm:cxn modelId="{63919D07-F260-1342-8AE8-BEDB6E3E2519}" type="presParOf" srcId="{C8EC1A74-54F9-7843-A62D-2E0C4FBEF1EE}" destId="{685487C4-68E5-F64A-82A0-15FE6C9B87C6}" srcOrd="3" destOrd="0" presId="urn:microsoft.com/office/officeart/2008/layout/AlternatingHexagons"/>
    <dgm:cxn modelId="{DDE1E76A-A6A0-2A45-8490-6A9242AA0160}" type="presParOf" srcId="{C8EC1A74-54F9-7843-A62D-2E0C4FBEF1EE}" destId="{D82DA1ED-1CF1-194C-B79F-38E1208C470F}" srcOrd="4" destOrd="0" presId="urn:microsoft.com/office/officeart/2008/layout/AlternatingHexagons"/>
    <dgm:cxn modelId="{F2148FA7-561B-4B43-B9EF-8AF691DD191F}" type="presParOf" srcId="{D82DA1ED-1CF1-194C-B79F-38E1208C470F}" destId="{CC4468C1-3EED-F04C-9704-61B5DE14C359}" srcOrd="0" destOrd="0" presId="urn:microsoft.com/office/officeart/2008/layout/AlternatingHexagons"/>
    <dgm:cxn modelId="{9887CD62-7776-2042-BE60-00EC9A397FF0}" type="presParOf" srcId="{D82DA1ED-1CF1-194C-B79F-38E1208C470F}" destId="{323D4F33-77B1-6C42-AA05-C126AA8D2440}" srcOrd="1" destOrd="0" presId="urn:microsoft.com/office/officeart/2008/layout/AlternatingHexagons"/>
    <dgm:cxn modelId="{EC0F3DEF-78BE-C44A-97C6-B35BAA8D3E7C}" type="presParOf" srcId="{D82DA1ED-1CF1-194C-B79F-38E1208C470F}" destId="{1DDCB897-6E65-794B-879C-520DC78AFAC3}" srcOrd="2" destOrd="0" presId="urn:microsoft.com/office/officeart/2008/layout/AlternatingHexagons"/>
    <dgm:cxn modelId="{57546C5C-692B-AC44-A424-CA94C69E8813}" type="presParOf" srcId="{D82DA1ED-1CF1-194C-B79F-38E1208C470F}" destId="{3FD6EEB7-E70C-DB40-A66F-11BE1C4B914C}" srcOrd="3" destOrd="0" presId="urn:microsoft.com/office/officeart/2008/layout/AlternatingHexagons"/>
    <dgm:cxn modelId="{779321AD-ED05-CC46-9B83-E5084286F87E}" type="presParOf" srcId="{D82DA1ED-1CF1-194C-B79F-38E1208C470F}" destId="{7D2B51E0-ECBB-D942-B4E8-7A422829FCB6}" srcOrd="4" destOrd="0" presId="urn:microsoft.com/office/officeart/2008/layout/AlternatingHexagons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15E908-F51F-C94C-B6E9-81D01F31C8FC}">
      <dsp:nvSpPr>
        <dsp:cNvPr id="0" name=""/>
        <dsp:cNvSpPr/>
      </dsp:nvSpPr>
      <dsp:spPr>
        <a:xfrm rot="5400000">
          <a:off x="3506806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Numerical</a:t>
          </a:r>
        </a:p>
      </dsp:txBody>
      <dsp:txXfrm rot="-5400000">
        <a:off x="3909687" y="313106"/>
        <a:ext cx="1202866" cy="1382606"/>
      </dsp:txXfrm>
    </dsp:sp>
    <dsp:sp modelId="{AE27CC5B-0024-E04E-9499-0F786B5C10EC}">
      <dsp:nvSpPr>
        <dsp:cNvPr id="0" name=""/>
        <dsp:cNvSpPr/>
      </dsp:nvSpPr>
      <dsp:spPr>
        <a:xfrm>
          <a:off x="5437901" y="401821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047157-BCC8-0243-A390-BC73913DE20E}">
      <dsp:nvSpPr>
        <dsp:cNvPr id="0" name=""/>
        <dsp:cNvSpPr/>
      </dsp:nvSpPr>
      <dsp:spPr>
        <a:xfrm rot="5400000">
          <a:off x="1619499" y="130656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022380" y="313106"/>
        <a:ext cx="1202866" cy="1382606"/>
      </dsp:txXfrm>
    </dsp:sp>
    <dsp:sp modelId="{DEED03A4-03D2-E149-938A-4A86541247C2}">
      <dsp:nvSpPr>
        <dsp:cNvPr id="0" name=""/>
        <dsp:cNvSpPr/>
      </dsp:nvSpPr>
      <dsp:spPr>
        <a:xfrm rot="5400000">
          <a:off x="2559537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Categorical</a:t>
          </a:r>
        </a:p>
      </dsp:txBody>
      <dsp:txXfrm rot="-5400000">
        <a:off x="2962418" y="2018030"/>
        <a:ext cx="1202866" cy="1382606"/>
      </dsp:txXfrm>
    </dsp:sp>
    <dsp:sp modelId="{0F95DF7B-92D8-F843-A24F-249669AFFBC4}">
      <dsp:nvSpPr>
        <dsp:cNvPr id="0" name=""/>
        <dsp:cNvSpPr/>
      </dsp:nvSpPr>
      <dsp:spPr>
        <a:xfrm>
          <a:off x="448468" y="2106744"/>
          <a:ext cx="2169318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7DDFB9-709A-284D-8F08-AC06AD6893E5}">
      <dsp:nvSpPr>
        <dsp:cNvPr id="0" name=""/>
        <dsp:cNvSpPr/>
      </dsp:nvSpPr>
      <dsp:spPr>
        <a:xfrm rot="5400000">
          <a:off x="4336000" y="1835580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4738881" y="2018030"/>
        <a:ext cx="1202866" cy="1382606"/>
      </dsp:txXfrm>
    </dsp:sp>
    <dsp:sp modelId="{CC4468C1-3EED-F04C-9704-61B5DE14C359}">
      <dsp:nvSpPr>
        <dsp:cNvPr id="0" name=""/>
        <dsp:cNvSpPr/>
      </dsp:nvSpPr>
      <dsp:spPr>
        <a:xfrm rot="5400000">
          <a:off x="3506806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800" kern="1200" dirty="0"/>
            <a:t>Ordinal</a:t>
          </a:r>
        </a:p>
      </dsp:txBody>
      <dsp:txXfrm rot="-5400000">
        <a:off x="3909687" y="3722953"/>
        <a:ext cx="1202866" cy="1382606"/>
      </dsp:txXfrm>
    </dsp:sp>
    <dsp:sp modelId="{323D4F33-77B1-6C42-AA05-C126AA8D2440}">
      <dsp:nvSpPr>
        <dsp:cNvPr id="0" name=""/>
        <dsp:cNvSpPr/>
      </dsp:nvSpPr>
      <dsp:spPr>
        <a:xfrm>
          <a:off x="5437901" y="3811668"/>
          <a:ext cx="2241629" cy="120517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2B51E0-ECBB-D942-B4E8-7A422829FCB6}">
      <dsp:nvSpPr>
        <dsp:cNvPr id="0" name=""/>
        <dsp:cNvSpPr/>
      </dsp:nvSpPr>
      <dsp:spPr>
        <a:xfrm rot="5400000">
          <a:off x="1619499" y="3540503"/>
          <a:ext cx="2008628" cy="1747506"/>
        </a:xfrm>
        <a:prstGeom prst="hexagon">
          <a:avLst>
            <a:gd name="adj" fmla="val 25000"/>
            <a:gd name="vf" fmla="val 11547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3600" kern="1200"/>
        </a:p>
      </dsp:txBody>
      <dsp:txXfrm rot="-5400000">
        <a:off x="2022380" y="3722953"/>
        <a:ext cx="1202866" cy="138260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AlternatingHexagons">
  <dgm:title val=""/>
  <dgm:desc val=""/>
  <dgm:catLst>
    <dgm:cat type="list" pri="15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Name0">
    <dgm:varLst>
      <dgm:chMax/>
      <dgm:chPref/>
      <dgm:dir/>
      <dgm:animLvl val="lvl"/>
    </dgm:varLst>
    <dgm:alg type="lin">
      <dgm:param type="linDir" val="fromT"/>
    </dgm:alg>
    <dgm:shape xmlns:r="http://schemas.openxmlformats.org/officeDocument/2006/relationships" r:blip="">
      <dgm:adjLst/>
    </dgm:shape>
    <dgm:constrLst>
      <dgm:constr type="primFontSz" for="des" forName="Parent1" val="65"/>
      <dgm:constr type="primFontSz" for="des" forName="Childtext1" refType="primFontSz" refFor="des" refForName="Parent1" op="lte"/>
      <dgm:constr type="w" for="ch" forName="composite" refType="w"/>
      <dgm:constr type="h" for="ch" forName="composite" refType="h"/>
      <dgm:constr type="h" for="ch" forName="spaceBetweenRectangles" refType="w" refFor="ch" refForName="composite" fact="-0.042"/>
      <dgm:constr type="sp" refType="h" refFor="ch" refForName="composite" op="equ" fact="0.1"/>
    </dgm:constrLst>
    <dgm:forEach name="nodesForEach" axis="ch" ptType="node">
      <dgm:layoutNode name="composite">
        <dgm:alg type="composite">
          <dgm:param type="ar" val="3.6"/>
        </dgm:alg>
        <dgm:shape xmlns:r="http://schemas.openxmlformats.org/officeDocument/2006/relationships" r:blip="">
          <dgm:adjLst/>
        </dgm:shape>
        <dgm:choose name="Name1">
          <dgm:if name="Name2" func="var" arg="dir" op="equ" val="norm">
            <dgm:choose name="Name3">
              <dgm:if name="Name4" axis="self" ptType="node" func="posOdd" op="equ" val="1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/>
                  <dgm:constr type="h" for="ch" forName="BalanceSpacing" refType="h" fact="0.1"/>
                  <dgm:constr type="l" for="ch" forName="BalanceSpacing1" refType="w" fact="0.69"/>
                  <dgm:constr type="t" for="ch" forName="BalanceSpacing1" refType="h" fact="0.2"/>
                  <dgm:constr type="w" for="ch" forName="BalanceSpacing1" refType="w" fact="0.31"/>
                  <dgm:constr type="h" for="ch" forName="BalanceSpacing1" refType="h" fact="0.6"/>
                </dgm:constrLst>
              </dgm:if>
              <dgm:else name="Name5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  <dgm:constr type="l" for="ch" forName="BalanceSpacing1" refType="w" fact="0"/>
                  <dgm:constr type="t" for="ch" forName="BalanceSpacing1" refType="h" fact="0.2"/>
                  <dgm:constr type="w" for="ch" forName="BalanceSpacing1" refType="w" fact="0.3"/>
                  <dgm:constr type="h" for="ch" forName="BalanceSpacing1" refType="h" fact="0.6"/>
                </dgm:constrLst>
              </dgm:else>
            </dgm:choose>
          </dgm:if>
          <dgm:else name="Name6">
            <dgm:choose name="Name7">
              <dgm:if name="Name8" axis="self" ptType="node" func="posOdd" op="equ" val="1">
                <dgm:constrLst>
                  <dgm:constr type="l" for="ch" forName="Accent1" refType="w" fact="0.571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571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3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"/>
                  <dgm:constr type="t" for="ch" forName="Childtext1" refType="h" fact="0.2"/>
                  <dgm:constr type="w" for="ch" forName="Childtext1" refType="w" fact="0.3"/>
                  <dgm:constr type="h" for="ch" forName="Childtext1" refType="h" fact="0.6"/>
                  <dgm:constr type="l" for="ch" forName="BalanceSpacing" refType="w" fact="0.82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if>
              <dgm:else name="Name9">
                <dgm:constrLst>
                  <dgm:constr type="l" for="ch" forName="Accent1" refType="w" fact="0.18"/>
                  <dgm:constr type="t" for="ch" forName="Accent1" refType="h" fact="0"/>
                  <dgm:constr type="h" for="ch" forName="Accent1" refType="h"/>
                  <dgm:constr type="w" for="ch" forName="Accent1" refType="h" fact="0.87"/>
                  <dgm:constr type="l" for="ch" forName="Accent1Text" refType="w" fact="0.18"/>
                  <dgm:constr type="t" for="ch" forName="Accent1Text" refType="h" fact="0"/>
                  <dgm:constr type="h" for="ch" forName="Accent1Text" refType="h"/>
                  <dgm:constr type="w" for="ch" forName="Accent1Text" refType="h" fact="0.87"/>
                  <dgm:constr type="l" for="ch" forName="Parent1" refType="w" fact="0.441"/>
                  <dgm:constr type="t" for="ch" forName="Parent1" refType="h" fact="0"/>
                  <dgm:constr type="h" for="ch" forName="Parent1" refType="h"/>
                  <dgm:constr type="w" for="ch" forName="Parent1" refType="h" fact="0.87"/>
                  <dgm:constr type="l" for="ch" forName="Childtext1" refType="w" fact="0.69"/>
                  <dgm:constr type="t" for="ch" forName="Childtext1" refType="h" fact="0.2"/>
                  <dgm:constr type="w" for="ch" forName="Childtext1" refType="w" fact="0.31"/>
                  <dgm:constr type="h" for="ch" forName="Childtext1" refType="h" fact="0.6"/>
                  <dgm:constr type="l" for="ch" forName="BalanceSpacing" refType="w" fact="0"/>
                  <dgm:constr type="t" for="ch" forName="BalanceSpacing" refType="h" fact="0"/>
                  <dgm:constr type="w" for="ch" forName="BalanceSpacing" refType="w" fact="0.18"/>
                  <dgm:constr type="h" for="ch" forName="BalanceSpacing" refType="h"/>
                </dgm:constrLst>
              </dgm:else>
            </dgm:choose>
          </dgm:else>
        </dgm:choose>
        <dgm:layoutNode name="Parent1" styleLbl="node1">
          <dgm:varLst>
            <dgm:chMax val="1"/>
            <dgm:chPref val="1"/>
            <dgm:bulletEnabled val="1"/>
          </dgm:varLst>
          <dgm:alg type="tx"/>
          <dgm:shape xmlns:r="http://schemas.openxmlformats.org/officeDocument/2006/relationships" rot="90" type="hexagon" r:blip="">
            <dgm:adjLst>
              <dgm:adj idx="1" val="0.25"/>
              <dgm:adj idx="2" val="1.1547"/>
            </dgm:adjLst>
          </dgm:shape>
          <dgm:presOf axis="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hildtext1" styleLbl="revTx">
          <dgm:varLst>
            <dgm:chMax val="0"/>
            <dgm:chPref val="0"/>
            <dgm:bulletEnabled val="1"/>
          </dgm:varLst>
          <dgm:choose name="Name10">
            <dgm:if name="Name11" func="var" arg="dir" op="equ" val="norm">
              <dgm:choose name="Name12">
                <dgm:if name="Name13" axis="self" ptType="node" func="posOdd" op="equ" val="1">
                  <dgm:alg type="tx">
                    <dgm:param type="parTxLTRAlign" val="l"/>
                  </dgm:alg>
                </dgm:if>
                <dgm:else name="Name14">
                  <dgm:alg type="tx">
                    <dgm:param type="parTxLTRAlign" val="r"/>
                  </dgm:alg>
                </dgm:else>
              </dgm:choose>
            </dgm:if>
            <dgm:else name="Name15">
              <dgm:choose name="Name16">
                <dgm:if name="Name17" axis="self" ptType="node" func="posOdd" op="equ" val="1">
                  <dgm:alg type="tx">
                    <dgm:param type="parTxLTRAlign" val="r"/>
                  </dgm:alg>
                </dgm:if>
                <dgm:else name="Name18">
                  <dgm:alg type="tx">
                    <dgm:param type="parTxLTRAlign" val="l"/>
                  </dgm:alg>
                </dgm:else>
              </dgm:choose>
            </dgm:else>
          </dgm:choose>
          <dgm:shape xmlns:r="http://schemas.openxmlformats.org/officeDocument/2006/relationships" type="rect" r:blip="">
            <dgm:adjLst/>
          </dgm:shape>
          <dgm:presOf axis="des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BalanceSpacing">
          <dgm:alg type="sp"/>
          <dgm:shape xmlns:r="http://schemas.openxmlformats.org/officeDocument/2006/relationships" r:blip="">
            <dgm:adjLst/>
          </dgm:shape>
        </dgm:layoutNode>
        <dgm:layoutNode name="BalanceSpacing1">
          <dgm:alg type="sp"/>
          <dgm:shape xmlns:r="http://schemas.openxmlformats.org/officeDocument/2006/relationships" r:blip="">
            <dgm:adjLst/>
          </dgm:shape>
        </dgm:layoutNode>
        <dgm:forEach name="Name19" axis="followSib" ptType="sibTrans" hideLastTrans="0" cnt="1">
          <dgm:layoutNode name="Accent1Text" styleLbl="node1">
            <dgm:alg type="tx"/>
            <dgm:shape xmlns:r="http://schemas.openxmlformats.org/officeDocument/2006/relationships" rot="90" type="hexagon" r:blip="">
              <dgm:adjLst>
                <dgm:adj idx="1" val="0.25"/>
                <dgm:adj idx="2" val="1.1547"/>
              </dgm:adjLst>
            </dgm:shape>
            <dgm:presOf axis="self" ptType="sibTrans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forEach>
      </dgm:layoutNode>
      <dgm:forEach name="Name2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18DF-9495-47FB-843C-0D1FCB3E09C9}" type="datetimeFigureOut">
              <a:rPr lang="en-US" smtClean="0"/>
              <a:t>12/2/21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ACCC11-19A3-4E27-AB70-5FB3E1779C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12549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1759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ACCC11-19A3-4E27-AB70-5FB3E1779C6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11786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title  </a:t>
            </a:r>
            <a:endParaRPr lang="en-GB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5"/>
            <a:ext cx="10515600" cy="1290414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230882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arson slide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838200" y="3136307"/>
            <a:ext cx="10515600" cy="1186075"/>
          </a:xfrm>
          <a:prstGeom prst="rect">
            <a:avLst/>
          </a:prstGeom>
        </p:spPr>
        <p:txBody>
          <a:bodyPr anchor="b"/>
          <a:lstStyle>
            <a:lvl1pPr algn="ctr">
              <a:lnSpc>
                <a:spcPts val="4500"/>
              </a:lnSpc>
              <a:defRPr sz="5200" b="1" cap="all" spc="-50" baseline="0">
                <a:solidFill>
                  <a:srgbClr val="942F6D"/>
                </a:solidFill>
                <a:latin typeface="+mn-lt"/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838200" y="4495084"/>
            <a:ext cx="10515600" cy="18202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800" spc="-50" baseline="0">
                <a:solidFill>
                  <a:srgbClr val="656768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304560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blue-slid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1"/>
          <p:cNvSpPr>
            <a:spLocks noGrp="1"/>
          </p:cNvSpPr>
          <p:nvPr>
            <p:ph type="title" hasCustomPrompt="1"/>
          </p:nvPr>
        </p:nvSpPr>
        <p:spPr>
          <a:xfrm>
            <a:off x="601791" y="555478"/>
            <a:ext cx="9097686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 </a:t>
            </a:r>
            <a:endParaRPr lang="en-GB" dirty="0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601791" y="1811976"/>
            <a:ext cx="10994852" cy="4033348"/>
          </a:xfrm>
          <a:prstGeom prst="rect">
            <a:avLst/>
          </a:prstGeom>
        </p:spPr>
        <p:txBody>
          <a:bodyPr/>
          <a:lstStyle>
            <a:lvl1pPr>
              <a:buClr>
                <a:srgbClr val="942F6D"/>
              </a:buClr>
              <a:defRPr baseline="0">
                <a:solidFill>
                  <a:srgbClr val="656768"/>
                </a:solidFill>
              </a:defRPr>
            </a:lvl1pPr>
            <a:lvl2pPr>
              <a:buClr>
                <a:srgbClr val="942F6D"/>
              </a:buClr>
              <a:defRPr>
                <a:solidFill>
                  <a:srgbClr val="656768"/>
                </a:solidFill>
              </a:defRPr>
            </a:lvl2pPr>
            <a:lvl3pPr>
              <a:buClr>
                <a:srgbClr val="942F6D"/>
              </a:buClr>
              <a:defRPr>
                <a:solidFill>
                  <a:srgbClr val="656768"/>
                </a:solidFill>
              </a:defRPr>
            </a:lvl3pPr>
            <a:lvl4pPr>
              <a:buClr>
                <a:srgbClr val="942F6D"/>
              </a:buClr>
              <a:defRPr>
                <a:solidFill>
                  <a:srgbClr val="656768"/>
                </a:solidFill>
              </a:defRPr>
            </a:lvl4pPr>
            <a:lvl5pPr>
              <a:buClr>
                <a:srgbClr val="942F6D"/>
              </a:buClr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16109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75110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0" hasCustomPrompt="1"/>
          </p:nvPr>
        </p:nvSpPr>
        <p:spPr>
          <a:xfrm>
            <a:off x="6281159" y="0"/>
            <a:ext cx="5910840" cy="685800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lnSpc>
                <a:spcPct val="150000"/>
              </a:lnSpc>
              <a:buNone/>
              <a:defRPr sz="2800" baseline="0"/>
            </a:lvl1pPr>
          </a:lstStyle>
          <a:p>
            <a:r>
              <a:rPr lang="en-GB" dirty="0"/>
              <a:t>Click to add picture 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>
                <a:solidFill>
                  <a:srgbClr val="942F6D"/>
                </a:solidFill>
              </a:defRPr>
            </a:lvl1pPr>
          </a:lstStyle>
          <a:p>
            <a:r>
              <a:rPr lang="en-US" dirty="0"/>
              <a:t>Click to edit title</a:t>
            </a:r>
            <a:endParaRPr lang="en-GB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601791" y="1760537"/>
            <a:ext cx="5491361" cy="3845503"/>
          </a:xfrm>
          <a:prstGeom prst="rect">
            <a:avLst/>
          </a:prstGeom>
        </p:spPr>
        <p:txBody>
          <a:bodyPr/>
          <a:lstStyle>
            <a:lvl1pPr marL="0" indent="0">
              <a:buClr>
                <a:srgbClr val="6FC8F0"/>
              </a:buClr>
              <a:buNone/>
              <a:defRPr baseline="0">
                <a:solidFill>
                  <a:srgbClr val="656768"/>
                </a:solidFill>
              </a:defRPr>
            </a:lvl1pPr>
            <a:lvl2pPr marL="4572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2pPr>
            <a:lvl3pPr marL="9144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3pPr>
            <a:lvl4pPr marL="13716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4pPr>
            <a:lvl5pPr marL="1828800" indent="0">
              <a:buClr>
                <a:srgbClr val="6FC8F0"/>
              </a:buClr>
              <a:buNone/>
              <a:defRPr>
                <a:solidFill>
                  <a:srgbClr val="656768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343643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3306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7.png"/><Relationship Id="rId4" Type="http://schemas.openxmlformats.org/officeDocument/2006/relationships/image" Target="../media/image9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6FC8F0"/>
              </a:solidFill>
            </a:endParaRPr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43868" y="839558"/>
            <a:ext cx="2149506" cy="106596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5238" y="789413"/>
            <a:ext cx="3468947" cy="1619998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6000" y="5835495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46796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7702" y="788182"/>
            <a:ext cx="3466926" cy="1620000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260456" y="843742"/>
            <a:ext cx="2149506" cy="106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894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04230" y="536045"/>
            <a:ext cx="1605949" cy="720000"/>
          </a:xfrm>
          <a:prstGeom prst="rect">
            <a:avLst/>
          </a:prstGeom>
        </p:spPr>
      </p:pic>
      <p:sp>
        <p:nvSpPr>
          <p:cNvPr id="2" name="Rectangle 1"/>
          <p:cNvSpPr/>
          <p:nvPr userDrawn="1"/>
        </p:nvSpPr>
        <p:spPr>
          <a:xfrm>
            <a:off x="0" y="5982061"/>
            <a:ext cx="12192000" cy="875939"/>
          </a:xfrm>
          <a:prstGeom prst="rect">
            <a:avLst/>
          </a:prstGeom>
          <a:solidFill>
            <a:srgbClr val="942F6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5" name="Picture 4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53239" y="6092032"/>
            <a:ext cx="1253879" cy="621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90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04" r:id="rId2"/>
  </p:sldLayoutIdLst>
  <p:txStyles>
    <p:titleStyle>
      <a:lvl1pPr algn="l" defTabSz="914400" rtl="0" eaLnBrk="1" latinLnBrk="0" hangingPunct="1">
        <a:lnSpc>
          <a:spcPts val="3200"/>
        </a:lnSpc>
        <a:spcBef>
          <a:spcPct val="0"/>
        </a:spcBef>
        <a:buNone/>
        <a:defRPr sz="4200" b="1" kern="1200" cap="all" spc="-50" baseline="0">
          <a:solidFill>
            <a:srgbClr val="942F6D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43113" y="3228975"/>
            <a:ext cx="8105775" cy="3629025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1791" y="555478"/>
            <a:ext cx="5491361" cy="10682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title</a:t>
            </a:r>
            <a:endParaRPr lang="en-GB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880564" y="5569783"/>
            <a:ext cx="1433004" cy="71064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791" y="5568969"/>
            <a:ext cx="1605950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4626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</p:sldLayoutIdLst>
  <p:txStyles>
    <p:titleStyle>
      <a:lvl1pPr algn="l" defTabSz="914400" rtl="0" eaLnBrk="1" latinLnBrk="0" hangingPunct="1">
        <a:lnSpc>
          <a:spcPts val="3500"/>
        </a:lnSpc>
        <a:spcBef>
          <a:spcPct val="0"/>
        </a:spcBef>
        <a:buNone/>
        <a:defRPr sz="4200" b="1" kern="1200" cap="all" spc="-50" baseline="0">
          <a:solidFill>
            <a:srgbClr val="0D3E63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942F6D"/>
        </a:buClr>
        <a:buFont typeface="Arial" panose="020B0604020202020204" pitchFamily="34" charset="0"/>
        <a:buChar char="•"/>
        <a:defRPr sz="2800" kern="1200">
          <a:solidFill>
            <a:srgbClr val="0D3E63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400" kern="1200">
          <a:solidFill>
            <a:srgbClr val="0D3E63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2000" kern="1200">
          <a:solidFill>
            <a:srgbClr val="0D3E63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942F6D"/>
        </a:buClr>
        <a:buFont typeface="Arial" panose="020B0604020202020204" pitchFamily="34" charset="0"/>
        <a:buChar char="•"/>
        <a:defRPr sz="1800" kern="1200">
          <a:solidFill>
            <a:srgbClr val="0D3E63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D3E6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2334"/>
          <a:stretch/>
        </p:blipFill>
        <p:spPr>
          <a:xfrm>
            <a:off x="1814513" y="3016664"/>
            <a:ext cx="8562975" cy="384133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3160" y="1067668"/>
            <a:ext cx="3854386" cy="1800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979792" y="4898051"/>
            <a:ext cx="1433004" cy="71064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5707" y="5412938"/>
            <a:ext cx="1400000" cy="25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3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Regent College London</a:t>
            </a:r>
          </a:p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14580450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SWE6204</a:t>
            </a:r>
          </a:p>
        </p:txBody>
      </p:sp>
    </p:spTree>
    <p:extLst>
      <p:ext uri="{BB962C8B-B14F-4D97-AF65-F5344CB8AC3E}">
        <p14:creationId xmlns:p14="http://schemas.microsoft.com/office/powerpoint/2010/main" val="2365191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18D52EB-A3E0-3F4C-9EBC-AC778DE377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Machine learning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FEF0A4-9481-7245-BC4A-7DDD704352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 dirty="0"/>
          </a:p>
          <a:p>
            <a:r>
              <a:rPr lang="en-GB" dirty="0"/>
              <a:t>Introduction to Data Science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C6E8E5-BE8D-1A44-B2E2-3F645E098C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0768" y="1704061"/>
            <a:ext cx="6551188" cy="395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76277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A340-02CC-904F-8C88-B5AA849D9854}"/>
              </a:ext>
            </a:extLst>
          </p:cNvPr>
          <p:cNvSpPr txBox="1">
            <a:spLocks/>
          </p:cNvSpPr>
          <p:nvPr/>
        </p:nvSpPr>
        <p:spPr>
          <a:xfrm>
            <a:off x="1591827" y="2985581"/>
            <a:ext cx="10515600" cy="118607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ts val="3200"/>
              </a:lnSpc>
              <a:spcBef>
                <a:spcPct val="0"/>
              </a:spcBef>
              <a:buNone/>
              <a:defRPr sz="4200" b="1" kern="1200" cap="all" spc="-50" baseline="0">
                <a:solidFill>
                  <a:srgbClr val="942F6D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GB" dirty="0"/>
              <a:t>Module 1 – Introduction to Data Science </a:t>
            </a:r>
          </a:p>
        </p:txBody>
      </p:sp>
    </p:spTree>
    <p:extLst>
      <p:ext uri="{BB962C8B-B14F-4D97-AF65-F5344CB8AC3E}">
        <p14:creationId xmlns:p14="http://schemas.microsoft.com/office/powerpoint/2010/main" val="17418291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Learning objectives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US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type of data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the Mean, Medium &amp; Mode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Understand basic data science techniques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9939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Type of data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08B9BB18-9AC2-294E-99CA-EC754FE8C74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96410083"/>
              </p:ext>
            </p:extLst>
          </p:nvPr>
        </p:nvGraphicFramePr>
        <p:xfrm>
          <a:off x="2032000" y="1190720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6075578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Numerical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4962" y="1331069"/>
            <a:ext cx="10648544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Represents some sort of quantitative measurement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Heights of people, page load times, stock prices, etc.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Discrete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Integer based; of ten counts of some event.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 How many purchases did a customer make in a year? 			 How many times did I flip “heads”?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Continuous Data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Has an infinite number of possible values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How much time did it take for a user to check out? How much 	rain fell on a given day?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095125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Categorical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/>
              <a:t>Qualitative data that has no inherent mathematical meaning </a:t>
            </a:r>
          </a:p>
          <a:p>
            <a:pPr marL="0" indent="0">
              <a:buNone/>
            </a:pPr>
            <a:r>
              <a:rPr lang="en-GB" dirty="0"/>
              <a:t>	Gender, Yes/no (binary data), Race, State of Residence, Product 	Category, Political Party, etc. </a:t>
            </a:r>
          </a:p>
          <a:p>
            <a:r>
              <a:rPr lang="en-GB" dirty="0"/>
              <a:t>You can assign numbers to categories in order to represent them more compactly, but the numbers don’t have mathematical meaning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0292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ordinal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1" y="1647530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mixture of numerical and categorical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Categorical data that has mathematical meaning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movie ratings on a 1-5 scale.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Ratings must be 1, 2, 3, 4, or 5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But these values have mathematical meaning; 1 means it’s a 	worse movie than a 2.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A437B0F0-FA52-5143-8F16-21FDD1ADF3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9082" y="1395369"/>
            <a:ext cx="3975100" cy="214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1574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mean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275" y="1521449"/>
            <a:ext cx="1117372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AKA Average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Sum / number of samples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Number of children in each house on my street: 0, 2, 3, 2, 1, 0, 0, 2, 0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The MEAN is (0+2+3+2+1+0+0+2+0) / 9 =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1.11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3801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Median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B794C3D4-BE3E-D44B-B710-7EC580C36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16182" y="1585765"/>
            <a:ext cx="8181022" cy="307776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Sort the values, and take the value at the midpoint.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Example: 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endParaRPr lang="en-US" altLang="en-US" sz="2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942F6D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0, 2, 4, 2, 1, 0, 0, 2, 0 Sort it:</a:t>
            </a:r>
            <a:b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</a:b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0, 0, 0, 0, 1, 2, 2, 2, 4 </a:t>
            </a:r>
            <a:endParaRPr kumimoji="0" lang="en-US" altLang="en-US" sz="900" b="0" i="0" u="none" strike="noStrike" cap="none" normalizeH="0" baseline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 </a:t>
            </a:r>
            <a:r>
              <a:rPr kumimoji="0" lang="en-US" altLang="en-US" sz="37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   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pic>
        <p:nvPicPr>
          <p:cNvPr id="1026" name="Picture 2" descr="page15image2960640">
            <a:extLst>
              <a:ext uri="{FF2B5EF4-FFF2-40B4-BE49-F238E27FC236}">
                <a16:creationId xmlns:a16="http://schemas.microsoft.com/office/drawing/2014/main" id="{552028E4-8E6E-EB4A-B262-401EB0497D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7728" y="4066631"/>
            <a:ext cx="381000" cy="596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526509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median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 have an even number of samples, take the average of the two in the middle.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Median is less susceptible to outliers than the mean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Example: mean household income in the US is $72,891, but the 	median is only $51,234 – because the mean is skewed by a 	handful of billionaires</a:t>
            </a:r>
            <a:r>
              <a:rPr lang="en-GB" dirty="0"/>
              <a:t>. </a:t>
            </a:r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32762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Mode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most common value in a data set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Not relevant to continuous numerical data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Back to our number of kids in each house example: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0, 2, 3, 2, 1, 0, 0, 2, 0,0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How many of each value are there?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0: 5, 1: 1, 2: 3, 3: 1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	The MODE is 0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3548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Histogram-normal distribution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E0FBDE8-7B0A-6447-83B7-B6E2AC310E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900" y="1441450"/>
            <a:ext cx="69342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317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variance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Variance measures how “spread-out” the data is.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Variance (𝜎2) is simply the 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average of the squared differences from the mean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Example: What is the variance of the data set (1, 4, 5, 4, 8)?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First find the mean: (1+4+5+4+8)/5 = 4.4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Now find the differences from the mean: (-3.4, -0.4, 0.6, -0.4, 3.6) 	 Find the squared differences: (11.56, 0.16, 0.36, 0.16, 12.96)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  Find the average of the squared differences: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𝜎</a:t>
            </a:r>
            <a:r>
              <a:rPr lang="en-GB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(11.56 + 0.16 + 0.36 + 0.16 + 12.96) / 5 = 5.04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5322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Standard deviation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𝜎</a:t>
            </a:r>
            <a:r>
              <a:rPr lang="en-GB" baseline="300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2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= 5.04</a:t>
            </a:r>
            <a:b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𝜎 = 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Sq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(5.04) = 2.24 </a:t>
            </a:r>
          </a:p>
          <a:p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This is usually used as a way to identify outliers. Data points that lie more than one standard deviation from the mean can be considered unusual.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You can talk about how extreme a data point is by talking about “how many </a:t>
            </a:r>
            <a:r>
              <a:rPr lang="en-GB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sigmas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” away from the mean it is. </a:t>
            </a:r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baseline="30000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1049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Population vs sample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01790" y="1521449"/>
            <a:ext cx="11240552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you’re working with a sample of data instead of an entire data set (the entire 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population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)...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Then you want to use the “sample variance” instead of the “population variance”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N samples, you just divide the squared variances by N-1 instead of N.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So, in our example, we computed the population variance like this: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𝜎2= (11.56 + 0.16 + 0.36 + 0.16 + 12.96) / 5 = 5.04 ▫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the sample variance would be: 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𝑆2= (11.56 + 0.16 + 0.36 + 0.16 + 12.96) / 4 = 6.3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7812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Population vs sample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Rectangle 1">
            <a:extLst>
              <a:ext uri="{FF2B5EF4-FFF2-40B4-BE49-F238E27FC236}">
                <a16:creationId xmlns:a16="http://schemas.microsoft.com/office/drawing/2014/main" id="{E46A1A7C-9406-024A-A457-5FC77C01D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05123" y="2440770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F2DCA3A-40F7-3F47-8ADC-1B7D0B9CAC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9718" y="1623701"/>
            <a:ext cx="5664200" cy="337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3436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Probability density function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13749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probability that a random variable X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takes a value in the (open or closed) interval [</a:t>
            </a:r>
            <a:r>
              <a:rPr lang="en-GB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a,b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] is given by the integral of a function called the 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probability density function </a:t>
            </a:r>
            <a:r>
              <a:rPr lang="en-GB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f</a:t>
            </a:r>
            <a:r>
              <a:rPr lang="en-GB" b="1" baseline="-25000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x</a:t>
            </a:r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(x) :</a:t>
            </a:r>
          </a:p>
          <a:p>
            <a:endParaRPr lang="en-GB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4C4F6356-4DD9-0746-85F9-CB4FCEF7A2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954" y="2978149"/>
            <a:ext cx="3378200" cy="9017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3429543-F817-B44C-BAA4-30084D912B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374" y="2589672"/>
            <a:ext cx="7555713" cy="327559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8943ABC-6205-5647-AAFB-6E9E369DD7DD}"/>
              </a:ext>
            </a:extLst>
          </p:cNvPr>
          <p:cNvSpPr txBox="1"/>
          <p:nvPr/>
        </p:nvSpPr>
        <p:spPr>
          <a:xfrm>
            <a:off x="1161049" y="6081607"/>
            <a:ext cx="85384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Gives you the probability of a data point falling within some given range of a given value. </a:t>
            </a:r>
          </a:p>
          <a:p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5919129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percentile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percentile (or a centile) is a measure used in statistics indicating the value </a:t>
            </a:r>
            <a:r>
              <a:rPr lang="en-GB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below which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a given percentage of observations in a group of observations fall.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example, the 20th percentile is the value (or score) below which 20% of the observations may be found.</a:t>
            </a:r>
            <a:endParaRPr lang="en-US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500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791" y="166774"/>
            <a:ext cx="9097686" cy="1068223"/>
          </a:xfrm>
        </p:spPr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Percentile in a normal distribution</a:t>
            </a:r>
            <a:endParaRPr lang="en-US" dirty="0">
              <a:solidFill>
                <a:srgbClr val="942D6D"/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A0E5222-4CEE-1D4B-9D67-901B773E4B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7805" y="1136715"/>
            <a:ext cx="5759104" cy="53882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23262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moments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Quantitative measures of the shape of a probability density function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Mathematically they are a bit hard to wrap your head around: </a:t>
            </a: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But intuitively, it’s a lot simpler in statistics. </a:t>
            </a:r>
          </a:p>
          <a:p>
            <a:r>
              <a:rPr lang="en-GB" dirty="0"/>
              <a:t>The first moment is the mean. </a:t>
            </a:r>
          </a:p>
          <a:p>
            <a:r>
              <a:rPr lang="en-GB" dirty="0"/>
              <a:t>The second moment is the variance. </a:t>
            </a:r>
          </a:p>
          <a:p>
            <a:endParaRPr lang="en-GB" dirty="0"/>
          </a:p>
          <a:p>
            <a:endParaRPr lang="en-GB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16688C0A-E248-0940-A7A6-B4E57B16B8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2447756"/>
            <a:ext cx="10566400" cy="82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6860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Third Moment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39806" y="1150820"/>
            <a:ext cx="10712388" cy="1498842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How “lopsided” is the distribution?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distribution with a longer tail on the left will be skewed left, and have a negative skew.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7B486EE-F20F-994E-A8C9-F68CED4756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6804" y="2649662"/>
            <a:ext cx="7972673" cy="30187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06476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Fourth moment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123111"/>
            <a:ext cx="10712388" cy="1554260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The fourth moment is “kurtosis”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How thick is the tail, and how sharp is the peak, compared to a normal distribution?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Example: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      higher peaks have higher kurtosis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0250A9CF-0172-BF41-878D-E31F8201D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9076" y="2123974"/>
            <a:ext cx="5246871" cy="365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0236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Correlation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Correlation</a:t>
            </a: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 is a term that is a measure of the strength of a linear relationship between two quantitative variables (e.g., height, weight). 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Correlation of -1 means a perfect inverse correlation</a:t>
            </a:r>
          </a:p>
          <a:p>
            <a:pPr marL="0" indent="0">
              <a:buNone/>
            </a:pP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Correlation of 0: no correlation</a:t>
            </a:r>
            <a:b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	Correlation 1: perfect correlation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427846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Conditional </a:t>
            </a:r>
            <a:r>
              <a:rPr lang="en-GB" dirty="0" err="1">
                <a:solidFill>
                  <a:srgbClr val="942D6D"/>
                </a:solidFill>
              </a:rPr>
              <a:t>probabilty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If I have two events that depend on each other, what’s the probability that both will occur?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Notation: P(A,B) is the probability of A and B both occurring • P(B|A) : Probability of B given that A has occurred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We know: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25152F43-0C71-1245-A8D8-839E0F6279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2324" y="3768859"/>
            <a:ext cx="5583382" cy="1618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62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08F55-98AD-8544-9EDC-97F2BF248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solidFill>
                  <a:srgbClr val="942D6D"/>
                </a:solidFill>
              </a:rPr>
              <a:t>example</a:t>
            </a:r>
            <a:endParaRPr lang="en-US" dirty="0">
              <a:solidFill>
                <a:srgbClr val="942D6D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912611-42E7-6849-885B-99D97037DE6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77821" y="1521449"/>
            <a:ext cx="10712388" cy="3815101"/>
          </a:xfrm>
        </p:spPr>
        <p:txBody>
          <a:bodyPr/>
          <a:lstStyle/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I give my students two tests. 60% of my students passed both tests, but the first test was easier – 80% passed that one. What percentage of students who passed the first test also passed the second?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A = passing the first test, B = passing the second test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So we are asking for P(B|A) – the probability of B given A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P(B|A) = P(A,B) = 0.6 = 0.75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P(A) 0.8 </a:t>
            </a:r>
          </a:p>
          <a:p>
            <a:r>
              <a:rPr lang="en-GB" dirty="0">
                <a:solidFill>
                  <a:schemeClr val="tx1">
                    <a:lumMod val="75000"/>
                    <a:lumOff val="25000"/>
                  </a:schemeClr>
                </a:solidFill>
              </a:rPr>
              <a:t>75% of students who passed the first test passed the second. </a:t>
            </a:r>
          </a:p>
          <a:p>
            <a:endParaRPr lang="en-US" dirty="0">
              <a:solidFill>
                <a:schemeClr val="bg2">
                  <a:lumMod val="25000"/>
                </a:schemeClr>
              </a:solidFill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9D4463B-68D3-6346-A353-3FDE2BAA7999}"/>
              </a:ext>
            </a:extLst>
          </p:cNvPr>
          <p:cNvCxnSpPr>
            <a:cxnSpLocks/>
          </p:cNvCxnSpPr>
          <p:nvPr/>
        </p:nvCxnSpPr>
        <p:spPr>
          <a:xfrm flipH="1">
            <a:off x="601791" y="1070621"/>
            <a:ext cx="8161323" cy="0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4195D4-2AFD-5546-B93D-E8BB18FECD81}"/>
              </a:ext>
            </a:extLst>
          </p:cNvPr>
          <p:cNvCxnSpPr>
            <a:cxnSpLocks/>
          </p:cNvCxnSpPr>
          <p:nvPr/>
        </p:nvCxnSpPr>
        <p:spPr>
          <a:xfrm flipV="1">
            <a:off x="472083" y="423248"/>
            <a:ext cx="0" cy="555277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ABFCEE7-FEA4-734D-B602-47B04ECB3644}"/>
              </a:ext>
            </a:extLst>
          </p:cNvPr>
          <p:cNvCxnSpPr>
            <a:cxnSpLocks/>
          </p:cNvCxnSpPr>
          <p:nvPr/>
        </p:nvCxnSpPr>
        <p:spPr>
          <a:xfrm flipH="1" flipV="1">
            <a:off x="470171" y="1089589"/>
            <a:ext cx="1912" cy="4298063"/>
          </a:xfrm>
          <a:prstGeom prst="line">
            <a:avLst/>
          </a:prstGeom>
          <a:ln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533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262778" y="1121436"/>
            <a:ext cx="414067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+44 (0)207 016 8000</a:t>
            </a:r>
          </a:p>
          <a:p>
            <a:pPr algn="r"/>
            <a:r>
              <a:rPr lang="en-GB" sz="2400" b="1" spc="-50" dirty="0">
                <a:solidFill>
                  <a:schemeClr val="bg1"/>
                </a:solidFill>
              </a:rPr>
              <a:t>info@rcl.ac.uk</a:t>
            </a:r>
          </a:p>
        </p:txBody>
      </p:sp>
    </p:spTree>
    <p:extLst>
      <p:ext uri="{BB962C8B-B14F-4D97-AF65-F5344CB8AC3E}">
        <p14:creationId xmlns:p14="http://schemas.microsoft.com/office/powerpoint/2010/main" val="1381126769"/>
      </p:ext>
    </p:extLst>
  </p:cSld>
  <p:clrMapOvr>
    <a:masterClrMapping/>
  </p:clrMapOvr>
</p:sld>
</file>

<file path=ppt/theme/theme1.xml><?xml version="1.0" encoding="utf-8"?>
<a:theme xmlns:a="http://schemas.openxmlformats.org/drawingml/2006/main" name="Light blue-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626083B1-0830-460F-AA05-F809A184AD55}"/>
    </a:ext>
  </a:extLst>
</a:theme>
</file>

<file path=ppt/theme/theme2.xml><?xml version="1.0" encoding="utf-8"?>
<a:theme xmlns:a="http://schemas.openxmlformats.org/drawingml/2006/main" name="Pearson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2DF3C6F-D641-4496-AE49-B1B2B2E63DA0}"/>
    </a:ext>
  </a:extLst>
</a:theme>
</file>

<file path=ppt/theme/theme3.xml><?xml version="1.0" encoding="utf-8"?>
<a:theme xmlns:a="http://schemas.openxmlformats.org/drawingml/2006/main" name="Light blue-inside slid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74F60302-919A-40C2-AA8C-08C631E4BB03}"/>
    </a:ext>
  </a:extLst>
</a:theme>
</file>

<file path=ppt/theme/theme4.xml><?xml version="1.0" encoding="utf-8"?>
<a:theme xmlns:a="http://schemas.openxmlformats.org/drawingml/2006/main" name="With pictur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1A762B6E-1460-46E8-A288-DB6DA20E3E72}"/>
    </a:ext>
  </a:extLst>
</a:theme>
</file>

<file path=ppt/theme/theme5.xml><?xml version="1.0" encoding="utf-8"?>
<a:theme xmlns:a="http://schemas.openxmlformats.org/drawingml/2006/main" name="Back cover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6E142963-DA75-4759-9E51-7EC23E61E5F8}" vid="{848B4BB2-990F-4FF4-835D-66EEAC45A093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386AD14CB602547BFCB7D842FEF14EE" ma:contentTypeVersion="12" ma:contentTypeDescription="Create a new document." ma:contentTypeScope="" ma:versionID="7eb5c53f2e1d37f62fa8f0bcfdfd5d6f">
  <xsd:schema xmlns:xsd="http://www.w3.org/2001/XMLSchema" xmlns:xs="http://www.w3.org/2001/XMLSchema" xmlns:p="http://schemas.microsoft.com/office/2006/metadata/properties" xmlns:ns2="6b1a28a2-5857-4321-9bd8-c602fba5c8bc" xmlns:ns3="5086911d-6e48-4cf3-b087-1eb55996afa6" targetNamespace="http://schemas.microsoft.com/office/2006/metadata/properties" ma:root="true" ma:fieldsID="8facba7d21f799de60139a8943772e56" ns2:_="" ns3:_="">
    <xsd:import namespace="6b1a28a2-5857-4321-9bd8-c602fba5c8bc"/>
    <xsd:import namespace="5086911d-6e48-4cf3-b087-1eb55996afa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1a28a2-5857-4321-9bd8-c602fba5c8b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86911d-6e48-4cf3-b087-1eb55996afa6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4E392FB-A354-4CEF-A57D-15383ECFC309}"/>
</file>

<file path=customXml/itemProps2.xml><?xml version="1.0" encoding="utf-8"?>
<ds:datastoreItem xmlns:ds="http://schemas.openxmlformats.org/officeDocument/2006/customXml" ds:itemID="{762B2D3C-25D4-464F-BCA1-AFB62F16217E}"/>
</file>

<file path=customXml/itemProps3.xml><?xml version="1.0" encoding="utf-8"?>
<ds:datastoreItem xmlns:ds="http://schemas.openxmlformats.org/officeDocument/2006/customXml" ds:itemID="{5A2DD5A7-A4C3-4402-B37F-DD1845CD5537}"/>
</file>

<file path=docProps/app.xml><?xml version="1.0" encoding="utf-8"?>
<Properties xmlns="http://schemas.openxmlformats.org/officeDocument/2006/extended-properties" xmlns:vt="http://schemas.openxmlformats.org/officeDocument/2006/docPropsVTypes">
  <Template>Light blue-Cover</Template>
  <TotalTime>289</TotalTime>
  <Words>1297</Words>
  <Application>Microsoft Macintosh PowerPoint</Application>
  <PresentationFormat>Widescreen</PresentationFormat>
  <Paragraphs>118</Paragraphs>
  <Slides>28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28</vt:i4>
      </vt:variant>
    </vt:vector>
  </HeadingPairs>
  <TitlesOfParts>
    <vt:vector size="35" baseType="lpstr">
      <vt:lpstr>Arial</vt:lpstr>
      <vt:lpstr>Calibri</vt:lpstr>
      <vt:lpstr>Light blue-Cover</vt:lpstr>
      <vt:lpstr>Pearson slide</vt:lpstr>
      <vt:lpstr>Light blue-inside slide</vt:lpstr>
      <vt:lpstr>With picture</vt:lpstr>
      <vt:lpstr>Back cover</vt:lpstr>
      <vt:lpstr>Machine learning</vt:lpstr>
      <vt:lpstr>Machine learning </vt:lpstr>
      <vt:lpstr>Machine learning</vt:lpstr>
      <vt:lpstr>PowerPoint Presentation</vt:lpstr>
      <vt:lpstr>Learning objectives</vt:lpstr>
      <vt:lpstr>Type of data</vt:lpstr>
      <vt:lpstr>Numerical</vt:lpstr>
      <vt:lpstr>Categorical</vt:lpstr>
      <vt:lpstr>ordinal</vt:lpstr>
      <vt:lpstr>mean</vt:lpstr>
      <vt:lpstr>Median</vt:lpstr>
      <vt:lpstr>median</vt:lpstr>
      <vt:lpstr>Mode</vt:lpstr>
      <vt:lpstr>Histogram-normal distribution</vt:lpstr>
      <vt:lpstr>variance</vt:lpstr>
      <vt:lpstr>Standard deviation</vt:lpstr>
      <vt:lpstr>Population vs sample</vt:lpstr>
      <vt:lpstr>Population vs sample</vt:lpstr>
      <vt:lpstr>Probability density function</vt:lpstr>
      <vt:lpstr>percentile</vt:lpstr>
      <vt:lpstr>Percentile in a normal distribution</vt:lpstr>
      <vt:lpstr>moments</vt:lpstr>
      <vt:lpstr>Third Moment</vt:lpstr>
      <vt:lpstr>Fourth moment</vt:lpstr>
      <vt:lpstr>Correlation</vt:lpstr>
      <vt:lpstr>Conditional probabilty</vt:lpstr>
      <vt:lpstr>example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Bachelor’s degree</dc:title>
  <dc:creator>Nalinda Somasiri</dc:creator>
  <cp:lastModifiedBy>Nalinda Somasiri</cp:lastModifiedBy>
  <cp:revision>50</cp:revision>
  <dcterms:created xsi:type="dcterms:W3CDTF">2021-07-24T10:34:01Z</dcterms:created>
  <dcterms:modified xsi:type="dcterms:W3CDTF">2021-12-02T19:06:04Z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0x010100E386AD14CB602547BFCB7D842FEF14EE</vt:lpwstr>
  </property>
</Properties>
</file>